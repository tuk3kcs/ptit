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Open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regular.fntdata"/><Relationship Id="rId50" Type="http://schemas.openxmlformats.org/officeDocument/2006/relationships/slide" Target="slides/slide45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6.xml"/><Relationship Id="rId55" Type="http://schemas.openxmlformats.org/officeDocument/2006/relationships/font" Target="fonts/OpenSans-regular.fntdata"/><Relationship Id="rId10" Type="http://schemas.openxmlformats.org/officeDocument/2006/relationships/slide" Target="slides/slide5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8.xml"/><Relationship Id="rId57" Type="http://schemas.openxmlformats.org/officeDocument/2006/relationships/font" Target="fonts/OpenSans-italic.fntdata"/><Relationship Id="rId12" Type="http://schemas.openxmlformats.org/officeDocument/2006/relationships/slide" Target="slides/slide7.xml"/><Relationship Id="rId56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c95fc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c95fc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c95fc7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5c95fc7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c95fc7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5c95fc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5c95fc7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5c95fc7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5c95fc7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5c95fc7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5c95fc7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5c95fc7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5c95fc7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5c95fc7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5c95fc7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5c95fc7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5c95fc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f5c95fc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5c95fc7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f5c95fc7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5c95fc7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5c95fc7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5c95fc7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5c95fc7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5c95fc7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f5c95fc7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5c95fc7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5c95fc7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f5c95fc7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f5c95fc7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5c95fc7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5c95fc7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5c95fc7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f5c95fc7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f5c95fc7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f5c95fc7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5c95fc7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f5c95fc7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5c95fc7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f5c95fc7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5c95fc7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f5c95fc7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f5c95fc7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f5c95fc7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5c95fc7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f5c95fc7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5c95fc7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f5c95fc7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5c95fc7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f5c95fc7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5c95fc7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f5c95fc7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f5c95fc7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f5c95fc7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5c95fc7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5c95fc7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f5c95fc7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f5c95fc7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5c95fc7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f5c95fc7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f5c95fc7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f5c95fc7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f5c95fc7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f5c95fc7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f5c95fc7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f5c95fc7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f5c95fc7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f5c95fc7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5c95fc7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f5c95fc7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f5c95fc7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f5c95fc7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5c95fc7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f5c95fc7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f5c95fc7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f5c95fc7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5c95fc74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f5c95fc7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5c95fc7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f5c95fc7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f5c95fc74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f5c95fc7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5c95fc74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f5c95fc74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f5c95fc7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f5c95fc7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f5c95fc74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f5c95fc74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f5c95fc74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f5c95fc74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67613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67613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67613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67613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Display_lis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Display_lis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n.wikipedia.org/wiki/Graphics_pipelin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graphics/Canvas.html#clipRect(int,%20int,%20int,%20int)" TargetMode="External"/><Relationship Id="rId4" Type="http://schemas.openxmlformats.org/officeDocument/2006/relationships/hyperlink" Target="https://developer.android.com/reference/android/graphics/Canvas.html#quickReject(float,%20float,%20float,%20float,%20android.graphics.Canvas.EdgeType)" TargetMode="External"/><Relationship Id="rId5" Type="http://schemas.openxmlformats.org/officeDocument/2006/relationships/hyperlink" Target="https://google-developer-training.gitbooks.io/android-developer-advanced-course-concepts/content/unit-5-advanced-graphics-and-views/lesson-11-canvas/11-1-c-the-canvas-class/11-1-c-the-canvas-class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studio/run/index.html#instant-ru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android.com/training/constraint-layout/index.html" TargetMode="External"/><Relationship Id="rId4" Type="http://schemas.openxmlformats.org/officeDocument/2006/relationships/hyperlink" Target="https://developer.android.com/training/constraint-layout/index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studio/debug/layout-inspector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android.com/studio/write/lint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eveloper.android.com/reference/android/widget/TextView.html#setCompoundDrawables(android.graphics.drawable.Drawable,%20android.graphics.drawable.Drawable,%20android.graphics.drawable.Drawable,%20android.graphics.drawable.Drawable)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google-developer-training.gitbooks.io/android-developer-advanced-course-practicals/content/unit-2-make-your-apps-fast-and-small/lesson-4-performance/4-1c-p-systrace-and-dumpsys/4-1c-p-systrace-and-dumpsys.html" TargetMode="External"/><Relationship Id="rId4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source.android.com/devices/tech/debug/dumpsys.html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oogle-developer-training.gitbooks.io/android-developer-advanced-course-concepts/content/unit-2-make-your-apps-fast-and-small/lesson-4-performance/4-1-c-rendering-and-layout/4-1-c-rendering-and-layout.html" TargetMode="External"/><Relationship Id="rId4" Type="http://schemas.openxmlformats.org/officeDocument/2006/relationships/hyperlink" Target="https://google-developer-training.gitbooks.io/android-developer-advanced-course-practicals/content/unit-2-make-your-apps-fast-and-small/lesson-4-performance/4-1a-p-profile-gpu-rendering/4-1a-p-profile-gpu-rendering.html" TargetMode="External"/><Relationship Id="rId5" Type="http://schemas.openxmlformats.org/officeDocument/2006/relationships/hyperlink" Target="https://google-developer-training.gitbooks.io/android-developer-advanced-course-practicals/content/unit-2-make-your-apps-fast-and-small/lesson-4-performance/4-1b-p-debug-gpu-overdraw-and-layout-inspector/4-1b-p-debug-gpu-overdraw-and-layout-inspector.html" TargetMode="External"/><Relationship Id="rId6" Type="http://schemas.openxmlformats.org/officeDocument/2006/relationships/hyperlink" Target="https://google-developer-training.gitbooks.io/android-developer-advanced-course-practicals/content/unit-2-make-your-apps-fast-and-small/lesson-4-performance/4-1c-p-systrace-and-dumpsys/4-1c-p-systrace-and-dumpsys.html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4.1 Rendering and layout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324375"/>
            <a:ext cx="4173300" cy="32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Rendering basics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Minimize overdraw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Simplify complex view hierarchies</a:t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4506600" y="1299350"/>
            <a:ext cx="4426800" cy="32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Debug GPU Overdraw tool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Layout Inspector tool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Systrace tool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dumpsys</a:t>
            </a:r>
            <a:r>
              <a:rPr lang="en">
                <a:solidFill>
                  <a:srgbClr val="000000"/>
                </a:solidFill>
              </a:rPr>
              <a:t> tool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Note:</a:t>
            </a:r>
            <a:r>
              <a:rPr lang="en" sz="1800">
                <a:solidFill>
                  <a:srgbClr val="000000"/>
                </a:solidFill>
              </a:rPr>
              <a:t> Profile GPU Rendering is covered in the 4.2 Performance slide deck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Rendering basics</a:t>
            </a:r>
            <a:endParaRPr/>
          </a:p>
        </p:txBody>
      </p:sp>
      <p:sp>
        <p:nvSpPr>
          <p:cNvPr id="161" name="Google Shape;161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Rendering and hardware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33600" y="1217550"/>
            <a:ext cx="8476800" cy="30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CPU</a:t>
            </a:r>
            <a:r>
              <a:rPr lang="en">
                <a:solidFill>
                  <a:srgbClr val="000000"/>
                </a:solidFill>
              </a:rPr>
              <a:t> computes </a:t>
            </a:r>
            <a:r>
              <a:rPr lang="en" u="sng">
                <a:solidFill>
                  <a:schemeClr val="hlink"/>
                </a:solidFill>
                <a:hlinkClick r:id="rId3"/>
              </a:rPr>
              <a:t>display lists</a:t>
            </a:r>
            <a:r>
              <a:rPr lang="en">
                <a:solidFill>
                  <a:srgbClr val="000000"/>
                </a:solidFill>
              </a:rPr>
              <a:t>, graphics commands that define an output frame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GPU</a:t>
            </a:r>
            <a:r>
              <a:rPr lang="en">
                <a:solidFill>
                  <a:srgbClr val="000000"/>
                </a:solidFill>
              </a:rPr>
              <a:t> (graphics processing unit) renders to the display, lightens load on CPU for graphics-intensive apps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Memory</a:t>
            </a:r>
            <a:r>
              <a:rPr lang="en">
                <a:solidFill>
                  <a:srgbClr val="000000"/>
                </a:solidFill>
              </a:rPr>
              <a:t> stores images and 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Battery</a:t>
            </a:r>
            <a:r>
              <a:rPr lang="en">
                <a:solidFill>
                  <a:srgbClr val="000000"/>
                </a:solidFill>
              </a:rPr>
              <a:t> provides electrical power for hardware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Display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33600" y="1446150"/>
            <a:ext cx="8476800" cy="27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Display list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defines output image using primitives such as lines and basic shapes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Rendering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33600" y="1141350"/>
            <a:ext cx="8476800" cy="32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Rendering pipeline</a:t>
            </a:r>
            <a:r>
              <a:rPr lang="en">
                <a:solidFill>
                  <a:srgbClr val="000000"/>
                </a:solidFill>
              </a:rPr>
              <a:t> is a conceptual model that describes the steps for rendering graphical information on the screen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Creates display list from program instructions in CPU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Passes display list to GPU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GPU executes display list to draw screen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Hardware has constraints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33600" y="1141350"/>
            <a:ext cx="8476800" cy="3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Hardware is a major factor in performance.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Stressing or exceeding hardware constraints can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cause apps to be slow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cause bad display performance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exhaust battery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Measure, layout, invalidation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33600" y="988950"/>
            <a:ext cx="8476800" cy="3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To display views, Android system traverses view hierarchy, determining sizes (measuring) and positions (layouts) for all views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May require multiple passes through view hierarchy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Calling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invalidate()</a:t>
            </a:r>
            <a:r>
              <a:rPr lang="en">
                <a:solidFill>
                  <a:srgbClr val="000000"/>
                </a:solidFill>
              </a:rPr>
              <a:t> informs system that views have changed and need recalculation and redrawing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… (It's more complex, but this is what you need to know)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Minimize overdraw</a:t>
            </a:r>
            <a:endParaRPr/>
          </a:p>
        </p:txBody>
      </p:sp>
      <p:sp>
        <p:nvSpPr>
          <p:cNvPr id="204" name="Google Shape;204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overdraw? 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137475" y="1459700"/>
            <a:ext cx="6018000" cy="272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Overdraw</a:t>
            </a:r>
            <a:r>
              <a:rPr lang="en">
                <a:solidFill>
                  <a:schemeClr val="dk1"/>
                </a:solidFill>
              </a:rPr>
              <a:t> is drawing the same opaque pixel more than once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For example, drawing whole overlapping cards on top of each other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3" name="Google Shape;213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4625" y="1824845"/>
            <a:ext cx="260032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Overdraw hurts performance 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137475" y="1112625"/>
            <a:ext cx="8595000" cy="337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Wastes rendering time by drawing invisible pixels…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…which also wastes hardware resources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Can result in slow rendering and stuttering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Especially on less powerful devices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system optimizes drawing, however...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… if you override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onDraw()</a:t>
            </a:r>
            <a:r>
              <a:rPr lang="en">
                <a:solidFill>
                  <a:srgbClr val="000000"/>
                </a:solidFill>
              </a:rPr>
              <a:t>, you become responsible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unnecessary backgrounds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137475" y="1094562"/>
            <a:ext cx="8595000" cy="3297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Remove covered or invisible backgrounds: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&lt;ImageView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android:layout_width="match_parent"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android:layout_height="match_parent"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android:src="@drawable/beach"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android:background="@android:color/white"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8" name="Google Shape;228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Clip custom views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137475" y="1323025"/>
            <a:ext cx="6456300" cy="30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Only draw visible portions of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view or shape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Clipping also takes time ⇒ trade-offs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6" name="Google Shape;2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8800" y="2389177"/>
            <a:ext cx="3072350" cy="21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8500" y="165600"/>
            <a:ext cx="3675050" cy="22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for clipping</a:t>
            </a:r>
            <a:endParaRPr/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137475" y="1115100"/>
            <a:ext cx="8773800" cy="327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clipRect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r>
              <a:rPr lang="en">
                <a:solidFill>
                  <a:srgbClr val="000000"/>
                </a:solidFill>
              </a:rPr>
              <a:t>defines a clipping rectangle. Only what's inside the rectangle is drawn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canvas.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quickReject</a:t>
            </a:r>
            <a:r>
              <a:rPr lang="en">
                <a:solidFill>
                  <a:schemeClr val="dk1"/>
                </a:solidFill>
              </a:rPr>
              <a:t>—determines if the content to be drawn is inside a clipped region. If it is, you can skip it and save processing time for complex drawings.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See the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The Canvas class</a:t>
            </a:r>
            <a:r>
              <a:rPr lang="en" sz="1800">
                <a:solidFill>
                  <a:schemeClr val="dk1"/>
                </a:solidFill>
              </a:rPr>
              <a:t> for more on clipping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4" name="Google Shape;244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transparency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137475" y="1475425"/>
            <a:ext cx="8574000" cy="258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Alpha rendering</a:t>
            </a:r>
            <a:r>
              <a:rPr lang="en">
                <a:solidFill>
                  <a:srgbClr val="000000"/>
                </a:solidFill>
              </a:rPr>
              <a:t> is the process of combining an image with a background to create the appearance of partial or full transparency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Fade-outs, drop shadows, transparent animations use alpha rendering. Use carefully and consider alternative designs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40"/>
          <p:cNvSpPr/>
          <p:nvPr/>
        </p:nvSpPr>
        <p:spPr>
          <a:xfrm>
            <a:off x="5998875" y="360150"/>
            <a:ext cx="1125600" cy="1115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0"/>
          <p:cNvSpPr/>
          <p:nvPr/>
        </p:nvSpPr>
        <p:spPr>
          <a:xfrm>
            <a:off x="6792800" y="190200"/>
            <a:ext cx="1125600" cy="111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0"/>
          <p:cNvSpPr/>
          <p:nvPr/>
        </p:nvSpPr>
        <p:spPr>
          <a:xfrm>
            <a:off x="6792800" y="360150"/>
            <a:ext cx="331800" cy="945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 the right shape!</a:t>
            </a:r>
            <a:endParaRPr/>
          </a:p>
        </p:txBody>
      </p:sp>
      <p:sp>
        <p:nvSpPr>
          <p:cNvPr id="260" name="Google Shape;260;p41"/>
          <p:cNvSpPr txBox="1"/>
          <p:nvPr>
            <p:ph idx="1" type="body"/>
          </p:nvPr>
        </p:nvSpPr>
        <p:spPr>
          <a:xfrm>
            <a:off x="137475" y="1323025"/>
            <a:ext cx="8574000" cy="30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Consider how to compose a screen to minimize overlap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Correct drawing is much cheaper than clipping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GPU Overdraw tool</a:t>
            </a:r>
            <a:endParaRPr/>
          </a:p>
        </p:txBody>
      </p:sp>
      <p:sp>
        <p:nvSpPr>
          <p:cNvPr id="267" name="Google Shape;267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8" name="Google Shape;268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Disable Instant Run for profiling</a:t>
            </a:r>
            <a:endParaRPr/>
          </a:p>
        </p:txBody>
      </p:sp>
      <p:sp>
        <p:nvSpPr>
          <p:cNvPr id="275" name="Google Shape;275;p43"/>
          <p:cNvSpPr txBox="1"/>
          <p:nvPr>
            <p:ph idx="1" type="body"/>
          </p:nvPr>
        </p:nvSpPr>
        <p:spPr>
          <a:xfrm>
            <a:off x="116625" y="909803"/>
            <a:ext cx="85950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Small performance cost of </a:t>
            </a:r>
            <a:r>
              <a:rPr lang="en" u="sng">
                <a:solidFill>
                  <a:schemeClr val="hlink"/>
                </a:solidFill>
                <a:hlinkClick r:id="rId3"/>
              </a:rPr>
              <a:t>Instant Run</a:t>
            </a:r>
            <a:r>
              <a:rPr lang="en">
                <a:solidFill>
                  <a:srgbClr val="000000"/>
                </a:solidFill>
              </a:rPr>
              <a:t> can skew tool data.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Android Studio:</a:t>
            </a:r>
            <a:endParaRPr sz="1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Windows or Linux: </a:t>
            </a:r>
            <a:r>
              <a:rPr b="1" lang="en">
                <a:solidFill>
                  <a:srgbClr val="000000"/>
                </a:solidFill>
              </a:rPr>
              <a:t>File &gt; Settings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Mac OSX: </a:t>
            </a:r>
            <a:r>
              <a:rPr b="1" lang="en">
                <a:solidFill>
                  <a:srgbClr val="000000"/>
                </a:solidFill>
              </a:rPr>
              <a:t>Android Studio &gt; Preferences</a:t>
            </a:r>
            <a:endParaRPr b="1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Go to </a:t>
            </a:r>
            <a:r>
              <a:rPr b="1" lang="en">
                <a:solidFill>
                  <a:srgbClr val="000000"/>
                </a:solidFill>
              </a:rPr>
              <a:t>Build, Execution, Deployment &gt; Instant Run</a:t>
            </a:r>
            <a:endParaRPr b="1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Deselect </a:t>
            </a:r>
            <a:r>
              <a:rPr b="1" lang="en">
                <a:solidFill>
                  <a:srgbClr val="000000"/>
                </a:solidFill>
              </a:rPr>
              <a:t>Restart activity on code changes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Debug GPU Overdraw tool </a:t>
            </a:r>
            <a:endParaRPr/>
          </a:p>
        </p:txBody>
      </p:sp>
      <p:sp>
        <p:nvSpPr>
          <p:cNvPr id="282" name="Google Shape;282;p44"/>
          <p:cNvSpPr txBox="1"/>
          <p:nvPr>
            <p:ph idx="1" type="body"/>
          </p:nvPr>
        </p:nvSpPr>
        <p:spPr>
          <a:xfrm>
            <a:off x="116625" y="1062203"/>
            <a:ext cx="85950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On device: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b="1" lang="en">
                <a:solidFill>
                  <a:srgbClr val="000000"/>
                </a:solidFill>
              </a:rPr>
              <a:t>Settings &gt; Developer options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Scroll to </a:t>
            </a:r>
            <a:r>
              <a:rPr b="1" lang="en">
                <a:solidFill>
                  <a:srgbClr val="000000"/>
                </a:solidFill>
              </a:rPr>
              <a:t>Hardware accelerated rendering</a:t>
            </a:r>
            <a:r>
              <a:rPr lang="en">
                <a:solidFill>
                  <a:srgbClr val="000000"/>
                </a:solidFill>
              </a:rPr>
              <a:t> section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</a:t>
            </a:r>
            <a:r>
              <a:rPr b="1" lang="en">
                <a:solidFill>
                  <a:srgbClr val="000000"/>
                </a:solidFill>
              </a:rPr>
              <a:t>Debug GPU Overdraw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</a:t>
            </a:r>
            <a:r>
              <a:rPr b="1" lang="en">
                <a:solidFill>
                  <a:srgbClr val="000000"/>
                </a:solidFill>
              </a:rPr>
              <a:t>Show overdraw areas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Colors appear in the UI/layouts on your device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Colors and their meanings</a:t>
            </a:r>
            <a:endParaRPr/>
          </a:p>
        </p:txBody>
      </p:sp>
      <p:sp>
        <p:nvSpPr>
          <p:cNvPr id="289" name="Google Shape;289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45"/>
          <p:cNvPicPr preferRelativeResize="0"/>
          <p:nvPr/>
        </p:nvPicPr>
        <p:blipFill rotWithShape="1">
          <a:blip r:embed="rId3">
            <a:alphaModFix/>
          </a:blip>
          <a:srcRect b="0" l="0" r="68740" t="12357"/>
          <a:stretch/>
        </p:blipFill>
        <p:spPr>
          <a:xfrm>
            <a:off x="220700" y="991325"/>
            <a:ext cx="2095450" cy="36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5"/>
          <p:cNvSpPr txBox="1"/>
          <p:nvPr>
            <p:ph idx="1" type="body"/>
          </p:nvPr>
        </p:nvSpPr>
        <p:spPr>
          <a:xfrm>
            <a:off x="2845050" y="1399225"/>
            <a:ext cx="5811300" cy="28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True color: no overdraw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Purple/blue: overdrawn once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Green: twice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Pink: three times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Red: four or more times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and good results</a:t>
            </a:r>
            <a:endParaRPr/>
          </a:p>
        </p:txBody>
      </p:sp>
      <p:sp>
        <p:nvSpPr>
          <p:cNvPr id="297" name="Google Shape;297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8" name="Google Shape;298;p46"/>
          <p:cNvPicPr preferRelativeResize="0"/>
          <p:nvPr/>
        </p:nvPicPr>
        <p:blipFill rotWithShape="1">
          <a:blip r:embed="rId3">
            <a:alphaModFix/>
          </a:blip>
          <a:srcRect b="0" l="33110" r="0" t="0"/>
          <a:stretch/>
        </p:blipFill>
        <p:spPr>
          <a:xfrm>
            <a:off x="2687312" y="1082450"/>
            <a:ext cx="3769375" cy="34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type="title"/>
          </p:nvPr>
        </p:nvSpPr>
        <p:spPr>
          <a:xfrm>
            <a:off x="265500" y="1352600"/>
            <a:ext cx="4045200" cy="22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 complex view hierarchies</a:t>
            </a:r>
            <a:endParaRPr/>
          </a:p>
        </p:txBody>
      </p:sp>
      <p:sp>
        <p:nvSpPr>
          <p:cNvPr id="304" name="Google Shape;304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5" name="Google Shape;305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view hierarchies</a:t>
            </a:r>
            <a:endParaRPr/>
          </a:p>
        </p:txBody>
      </p:sp>
      <p:sp>
        <p:nvSpPr>
          <p:cNvPr id="311" name="Google Shape;311;p48"/>
          <p:cNvSpPr txBox="1"/>
          <p:nvPr>
            <p:ph idx="1" type="body"/>
          </p:nvPr>
        </p:nvSpPr>
        <p:spPr>
          <a:xfrm>
            <a:off x="116625" y="1519401"/>
            <a:ext cx="8595000" cy="214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Complex view hierarchies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Deep with many nested views and view groups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Have large numbers of views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Have overlapping views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ConstraintLayout </a:t>
            </a:r>
            <a:endParaRPr/>
          </a:p>
        </p:txBody>
      </p:sp>
      <p:sp>
        <p:nvSpPr>
          <p:cNvPr id="318" name="Google Shape;318;p49"/>
          <p:cNvSpPr txBox="1"/>
          <p:nvPr>
            <p:ph idx="1" type="body"/>
          </p:nvPr>
        </p:nvSpPr>
        <p:spPr>
          <a:xfrm>
            <a:off x="116625" y="1443201"/>
            <a:ext cx="8595000" cy="2490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Build a Responsive UI with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ConstraintLayout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Flattens view hierarchy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Optimized by Android system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views </a:t>
            </a:r>
            <a:endParaRPr/>
          </a:p>
        </p:txBody>
      </p:sp>
      <p:sp>
        <p:nvSpPr>
          <p:cNvPr id="325" name="Google Shape;325;p50"/>
          <p:cNvSpPr txBox="1"/>
          <p:nvPr>
            <p:ph idx="1" type="body"/>
          </p:nvPr>
        </p:nvSpPr>
        <p:spPr>
          <a:xfrm>
            <a:off x="259200" y="1368900"/>
            <a:ext cx="8452500" cy="2562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Remove views that are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completely covered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never displayed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outside screen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6" name="Google Shape;326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views </a:t>
            </a:r>
            <a:endParaRPr/>
          </a:p>
        </p:txBody>
      </p:sp>
      <p:sp>
        <p:nvSpPr>
          <p:cNvPr id="332" name="Google Shape;332;p51"/>
          <p:cNvSpPr txBox="1"/>
          <p:nvPr>
            <p:ph idx="1" type="body"/>
          </p:nvPr>
        </p:nvSpPr>
        <p:spPr>
          <a:xfrm>
            <a:off x="116625" y="1062203"/>
            <a:ext cx="85950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Combine views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Use fewer fonts and styles and combine TextViews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Combining views may affect how you present information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Consider design trade-offs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Prioritize simplicity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Exponential layout passes</a:t>
            </a:r>
            <a:endParaRPr/>
          </a:p>
        </p:txBody>
      </p:sp>
      <p:sp>
        <p:nvSpPr>
          <p:cNvPr id="339" name="Google Shape;339;p52"/>
          <p:cNvSpPr txBox="1"/>
          <p:nvPr>
            <p:ph idx="1" type="body"/>
          </p:nvPr>
        </p:nvSpPr>
        <p:spPr>
          <a:xfrm>
            <a:off x="116625" y="1062203"/>
            <a:ext cx="85950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Some layout containers and their children require two layout passes to finalize positions of child views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When you nest them, the number of layout passes increases </a:t>
            </a:r>
            <a:r>
              <a:rPr i="1" lang="en">
                <a:solidFill>
                  <a:srgbClr val="000000"/>
                </a:solidFill>
              </a:rPr>
              <a:t>exponentially</a:t>
            </a:r>
            <a:r>
              <a:rPr lang="en">
                <a:solidFill>
                  <a:srgbClr val="000000"/>
                </a:solidFill>
              </a:rPr>
              <a:t> with each level of the hierarchy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 out for layout passes...</a:t>
            </a:r>
            <a:endParaRPr/>
          </a:p>
        </p:txBody>
      </p:sp>
      <p:sp>
        <p:nvSpPr>
          <p:cNvPr id="346" name="Google Shape;346;p53"/>
          <p:cNvSpPr txBox="1"/>
          <p:nvPr>
            <p:ph idx="1" type="body"/>
          </p:nvPr>
        </p:nvSpPr>
        <p:spPr>
          <a:xfrm>
            <a:off x="116625" y="1062203"/>
            <a:ext cx="85950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… when some types of views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are at the root of a complex view hierarchy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are the parent of a deep subtree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occur many times in your layout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</p:txBody>
      </p:sp>
      <p:sp>
        <p:nvSpPr>
          <p:cNvPr id="347" name="Google Shape;347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Watch out for layout passes with...</a:t>
            </a:r>
            <a:endParaRPr/>
          </a:p>
        </p:txBody>
      </p:sp>
      <p:sp>
        <p:nvSpPr>
          <p:cNvPr id="353" name="Google Shape;353;p54"/>
          <p:cNvSpPr txBox="1"/>
          <p:nvPr>
            <p:ph idx="1" type="body"/>
          </p:nvPr>
        </p:nvSpPr>
        <p:spPr>
          <a:xfrm>
            <a:off x="116625" y="1062203"/>
            <a:ext cx="85950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RelativeLayout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rgbClr val="000000"/>
                </a:solidFill>
              </a:rPr>
              <a:t> that uses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measureWithLargestChild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GridView</a:t>
            </a:r>
            <a:r>
              <a:rPr lang="en">
                <a:solidFill>
                  <a:srgbClr val="000000"/>
                </a:solidFill>
              </a:rPr>
              <a:t> that uses gravity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Custom view groups that are subclasses of the above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Weights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rgbClr val="000000"/>
                </a:solidFill>
              </a:rPr>
              <a:t> (sometimes)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Inspector tool</a:t>
            </a:r>
            <a:endParaRPr/>
          </a:p>
        </p:txBody>
      </p:sp>
      <p:sp>
        <p:nvSpPr>
          <p:cNvPr id="360" name="Google Shape;360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1" name="Google Shape;361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Inspector tool </a:t>
            </a:r>
            <a:endParaRPr/>
          </a:p>
        </p:txBody>
      </p:sp>
      <p:sp>
        <p:nvSpPr>
          <p:cNvPr id="368" name="Google Shape;368;p56"/>
          <p:cNvSpPr txBox="1"/>
          <p:nvPr>
            <p:ph idx="1" type="body"/>
          </p:nvPr>
        </p:nvSpPr>
        <p:spPr>
          <a:xfrm>
            <a:off x="116625" y="1595601"/>
            <a:ext cx="8595000" cy="204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hlinkClick r:id="rId3"/>
              </a:rPr>
              <a:t>Layout Inspector</a:t>
            </a:r>
            <a:r>
              <a:rPr lang="en">
                <a:solidFill>
                  <a:srgbClr val="000000"/>
                </a:solidFill>
              </a:rPr>
              <a:t> to inspect view hierarchy at runtime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Especially when your layout is built at runtime, not XML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Creates static snapshot of view hierarchy at given time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9" name="Google Shape;369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Layout Inspector tool </a:t>
            </a:r>
            <a:endParaRPr/>
          </a:p>
        </p:txBody>
      </p:sp>
      <p:sp>
        <p:nvSpPr>
          <p:cNvPr id="375" name="Google Shape;375;p57"/>
          <p:cNvSpPr txBox="1"/>
          <p:nvPr>
            <p:ph idx="1" type="body"/>
          </p:nvPr>
        </p:nvSpPr>
        <p:spPr>
          <a:xfrm>
            <a:off x="116625" y="1519401"/>
            <a:ext cx="8595000" cy="251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Run app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b="1" lang="en">
                <a:solidFill>
                  <a:srgbClr val="000000"/>
                </a:solidFill>
              </a:rPr>
              <a:t>Tools &gt; Android &gt; Layout Inspector</a:t>
            </a:r>
            <a:r>
              <a:rPr lang="en">
                <a:solidFill>
                  <a:srgbClr val="000000"/>
                </a:solidFill>
              </a:rPr>
              <a:t> in Android Studio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Choose app process to attach to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(such as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com.example.android.stackedview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6" name="Google Shape;376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Inspector basics </a:t>
            </a:r>
            <a:endParaRPr/>
          </a:p>
        </p:txBody>
      </p:sp>
      <p:sp>
        <p:nvSpPr>
          <p:cNvPr id="382" name="Google Shape;382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3" name="Google Shape;38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00" y="1096900"/>
            <a:ext cx="8815611" cy="33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8"/>
          <p:cNvSpPr txBox="1"/>
          <p:nvPr/>
        </p:nvSpPr>
        <p:spPr>
          <a:xfrm>
            <a:off x="4241925" y="3796175"/>
            <a:ext cx="24231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90000"/>
                </a:solidFill>
              </a:rPr>
              <a:t>Device display</a:t>
            </a:r>
            <a:endParaRPr b="1" sz="2400">
              <a:solidFill>
                <a:srgbClr val="990000"/>
              </a:solidFill>
            </a:endParaRPr>
          </a:p>
        </p:txBody>
      </p:sp>
      <p:sp>
        <p:nvSpPr>
          <p:cNvPr id="385" name="Google Shape;385;p58"/>
          <p:cNvSpPr txBox="1"/>
          <p:nvPr/>
        </p:nvSpPr>
        <p:spPr>
          <a:xfrm>
            <a:off x="441450" y="3765575"/>
            <a:ext cx="3458400" cy="63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90000"/>
                </a:solidFill>
              </a:rPr>
              <a:t>View hierarchy</a:t>
            </a:r>
            <a:endParaRPr b="1" sz="2400">
              <a:solidFill>
                <a:srgbClr val="990000"/>
              </a:solidFill>
            </a:endParaRPr>
          </a:p>
        </p:txBody>
      </p:sp>
      <p:sp>
        <p:nvSpPr>
          <p:cNvPr id="386" name="Google Shape;386;p58"/>
          <p:cNvSpPr txBox="1"/>
          <p:nvPr/>
        </p:nvSpPr>
        <p:spPr>
          <a:xfrm>
            <a:off x="6854550" y="3142475"/>
            <a:ext cx="1820700" cy="118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90000"/>
                </a:solidFill>
              </a:rPr>
              <a:t>Selected view</a:t>
            </a:r>
            <a:endParaRPr b="1" sz="24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90000"/>
                </a:solidFill>
              </a:rPr>
              <a:t>properties</a:t>
            </a:r>
            <a:endParaRPr b="1" sz="2400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Lint tool</a:t>
            </a:r>
            <a:endParaRPr/>
          </a:p>
        </p:txBody>
      </p:sp>
      <p:sp>
        <p:nvSpPr>
          <p:cNvPr id="392" name="Google Shape;392;p5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3" name="Google Shape;393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Lint tool</a:t>
            </a:r>
            <a:endParaRPr/>
          </a:p>
        </p:txBody>
      </p:sp>
      <p:sp>
        <p:nvSpPr>
          <p:cNvPr id="400" name="Google Shape;400;p60"/>
          <p:cNvSpPr txBox="1"/>
          <p:nvPr>
            <p:ph idx="1" type="body"/>
          </p:nvPr>
        </p:nvSpPr>
        <p:spPr>
          <a:xfrm>
            <a:off x="116625" y="1443200"/>
            <a:ext cx="8595000" cy="2609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Lint tool</a:t>
            </a:r>
            <a:r>
              <a:rPr lang="en">
                <a:solidFill>
                  <a:srgbClr val="000000"/>
                </a:solidFill>
              </a:rPr>
              <a:t> on layout files to find view hierarchy optimizations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Runs automatically whenever you compile your program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Choose </a:t>
            </a:r>
            <a:r>
              <a:rPr b="1" lang="en">
                <a:solidFill>
                  <a:srgbClr val="000000"/>
                </a:solidFill>
              </a:rPr>
              <a:t>Analyze &gt; Inspect Code…</a:t>
            </a:r>
            <a:r>
              <a:rPr lang="en">
                <a:solidFill>
                  <a:srgbClr val="000000"/>
                </a:solidFill>
              </a:rPr>
              <a:t> to manually run lint on your whole project, or on a particular module or file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1" name="Google Shape;401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Lint tool example inspection message</a:t>
            </a:r>
            <a:endParaRPr/>
          </a:p>
        </p:txBody>
      </p:sp>
      <p:sp>
        <p:nvSpPr>
          <p:cNvPr id="407" name="Google Shape;407;p61"/>
          <p:cNvSpPr txBox="1"/>
          <p:nvPr>
            <p:ph idx="1" type="body"/>
          </p:nvPr>
        </p:nvSpPr>
        <p:spPr>
          <a:xfrm>
            <a:off x="116625" y="1062200"/>
            <a:ext cx="89589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"Node can be replaced by TextView with compound drawables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rgbClr val="000000"/>
                </a:solidFill>
              </a:rPr>
              <a:t> that contains an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>
                <a:solidFill>
                  <a:srgbClr val="000000"/>
                </a:solidFill>
              </a:rPr>
              <a:t> and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>
                <a:solidFill>
                  <a:srgbClr val="000000"/>
                </a:solidFill>
              </a:rPr>
              <a:t> can be more efficiently handled as a compound drawable.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Add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Drawable</a:t>
            </a:r>
            <a:r>
              <a:rPr lang="en">
                <a:solidFill>
                  <a:srgbClr val="000000"/>
                </a:solidFill>
              </a:rPr>
              <a:t> to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>
                <a:solidFill>
                  <a:srgbClr val="000000"/>
                </a:solidFill>
              </a:rPr>
              <a:t> using one of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setCompoundDrawables</a:t>
            </a:r>
            <a:r>
              <a:rPr lang="en">
                <a:solidFill>
                  <a:srgbClr val="000000"/>
                </a:solidFill>
              </a:rPr>
              <a:t> methods, and specify how text flows around the drawable."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Systrace tool</a:t>
            </a:r>
            <a:endParaRPr/>
          </a:p>
        </p:txBody>
      </p:sp>
      <p:sp>
        <p:nvSpPr>
          <p:cNvPr id="414" name="Google Shape;414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5" name="Google Shape;415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Systrace tool</a:t>
            </a:r>
            <a:endParaRPr/>
          </a:p>
        </p:txBody>
      </p:sp>
      <p:sp>
        <p:nvSpPr>
          <p:cNvPr id="422" name="Google Shape;422;p63"/>
          <p:cNvSpPr txBox="1"/>
          <p:nvPr>
            <p:ph idx="1" type="body"/>
          </p:nvPr>
        </p:nvSpPr>
        <p:spPr>
          <a:xfrm>
            <a:off x="116625" y="1062203"/>
            <a:ext cx="85950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Built into Android SDK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Captures and displays execution times of app and Android system processes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Combines data from Android kernel, such as CPU scheduler, disk activity, and application threads to generate HTML report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Systrace from Android Studio</a:t>
            </a:r>
            <a:endParaRPr/>
          </a:p>
        </p:txBody>
      </p:sp>
      <p:sp>
        <p:nvSpPr>
          <p:cNvPr id="429" name="Google Shape;429;p64"/>
          <p:cNvSpPr txBox="1"/>
          <p:nvPr>
            <p:ph idx="1" type="body"/>
          </p:nvPr>
        </p:nvSpPr>
        <p:spPr>
          <a:xfrm>
            <a:off x="167950" y="1062200"/>
            <a:ext cx="44418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Tools &gt; Android &gt; Android Device Monitor</a:t>
            </a:r>
            <a:endParaRPr b="1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Click          DDMS (1)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Choose package (2)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Click           Systrace (3)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1" name="Google Shape;43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050" y="2086925"/>
            <a:ext cx="638100" cy="6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7050" y="3300421"/>
            <a:ext cx="638100" cy="6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4450" y="1042995"/>
            <a:ext cx="4609550" cy="339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Systrace output</a:t>
            </a:r>
            <a:endParaRPr/>
          </a:p>
        </p:txBody>
      </p:sp>
      <p:sp>
        <p:nvSpPr>
          <p:cNvPr id="439" name="Google Shape;439;p65"/>
          <p:cNvSpPr txBox="1"/>
          <p:nvPr>
            <p:ph idx="1" type="body"/>
          </p:nvPr>
        </p:nvSpPr>
        <p:spPr>
          <a:xfrm>
            <a:off x="116625" y="1595600"/>
            <a:ext cx="4061700" cy="176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Open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trace.html</a:t>
            </a:r>
            <a:r>
              <a:rPr lang="en">
                <a:solidFill>
                  <a:srgbClr val="000000"/>
                </a:solidFill>
              </a:rPr>
              <a:t> file in Chrome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Systrace practical</a:t>
            </a:r>
            <a:r>
              <a:rPr lang="en">
                <a:solidFill>
                  <a:srgbClr val="000000"/>
                </a:solidFill>
              </a:rPr>
              <a:t>...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0" name="Google Shape;440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1" name="Google Shape;44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278" y="1047751"/>
            <a:ext cx="4600872" cy="34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dumpsys tool</a:t>
            </a:r>
            <a:endParaRPr/>
          </a:p>
        </p:txBody>
      </p:sp>
      <p:sp>
        <p:nvSpPr>
          <p:cNvPr id="447" name="Google Shape;447;p6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8" name="Google Shape;448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6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dumpsys command line tool</a:t>
            </a:r>
            <a:endParaRPr/>
          </a:p>
        </p:txBody>
      </p:sp>
      <p:sp>
        <p:nvSpPr>
          <p:cNvPr id="455" name="Google Shape;455;p67"/>
          <p:cNvSpPr txBox="1"/>
          <p:nvPr>
            <p:ph idx="1" type="body"/>
          </p:nvPr>
        </p:nvSpPr>
        <p:spPr>
          <a:xfrm>
            <a:off x="116625" y="1062200"/>
            <a:ext cx="8904600" cy="349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dumpsys</a:t>
            </a:r>
            <a:r>
              <a:rPr lang="en">
                <a:solidFill>
                  <a:srgbClr val="000000"/>
                </a:solidFill>
              </a:rPr>
              <a:t> runs on device and dumps status information about system services. Get information about frames: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adb shell dumpsys gfxinfo &lt;PACKAGE_NAME&gt;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adb shell dumpsys gfxinfo \ com.example.android.largeimages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shell dumpsys gfxinfo \ com.example.android.largeimages framestats   </a:t>
            </a:r>
            <a:r>
              <a:rPr lang="en" sz="1800">
                <a:solidFill>
                  <a:srgbClr val="000000"/>
                </a:solidFill>
              </a:rPr>
              <a:t>(6.0+ only)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62" name="Google Shape;462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" name="Google Shape;463;p68"/>
          <p:cNvSpPr txBox="1"/>
          <p:nvPr/>
        </p:nvSpPr>
        <p:spPr>
          <a:xfrm>
            <a:off x="153900" y="1044900"/>
            <a:ext cx="8934300" cy="32487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4.1 Rendering and Layout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Practicals: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○"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4.1A Using the Profile GPU Rendering tool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4.1B Using the Debug GPU Overdraw and Layout Inspector tools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4.1C Using the Systrace and dumpsys tools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69" name="Google Shape;469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70" name="Google Shape;470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