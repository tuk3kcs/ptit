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embeddedFontLst>
    <p:embeddedFont>
      <p:font typeface="Roboto"/>
      <p:regular r:id="rId39"/>
      <p:bold r:id="rId40"/>
      <p:italic r:id="rId41"/>
      <p:boldItalic r:id="rId42"/>
    </p:embeddedFont>
    <p:embeddedFont>
      <p:font typeface="Open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.fntdata"/><Relationship Id="rId20" Type="http://schemas.openxmlformats.org/officeDocument/2006/relationships/slide" Target="slides/slide15.xml"/><Relationship Id="rId42" Type="http://schemas.openxmlformats.org/officeDocument/2006/relationships/font" Target="fonts/Roboto-boldItalic.fntdata"/><Relationship Id="rId41" Type="http://schemas.openxmlformats.org/officeDocument/2006/relationships/font" Target="fonts/Roboto-italic.fntdata"/><Relationship Id="rId22" Type="http://schemas.openxmlformats.org/officeDocument/2006/relationships/slide" Target="slides/slide17.xml"/><Relationship Id="rId44" Type="http://schemas.openxmlformats.org/officeDocument/2006/relationships/font" Target="fonts/OpenSans-bold.fntdata"/><Relationship Id="rId21" Type="http://schemas.openxmlformats.org/officeDocument/2006/relationships/slide" Target="slides/slide16.xml"/><Relationship Id="rId43" Type="http://schemas.openxmlformats.org/officeDocument/2006/relationships/font" Target="fonts/OpenSans-regular.fntdata"/><Relationship Id="rId24" Type="http://schemas.openxmlformats.org/officeDocument/2006/relationships/slide" Target="slides/slide19.xml"/><Relationship Id="rId46" Type="http://schemas.openxmlformats.org/officeDocument/2006/relationships/font" Target="fonts/OpenSans-boldItalic.fntdata"/><Relationship Id="rId23" Type="http://schemas.openxmlformats.org/officeDocument/2006/relationships/slide" Target="slides/slide18.xml"/><Relationship Id="rId45" Type="http://schemas.openxmlformats.org/officeDocument/2006/relationships/font" Target="fonts/OpenSans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oboto-regular.fnt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f5f0a18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f5f0a18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f5f0a183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f5f0a183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f5f0a183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f5f0a183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f5f0a183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f5f0a183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f5f0a183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f5f0a183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5f0a183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f5f0a183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f5f0a183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f5f0a183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f5f0a183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f5f0a183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f5f0a183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f5f0a183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f5f0a183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f5f0a183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f5f0a1839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f5f0a1839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f5f0a1839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f5f0a1839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f5f0a1839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f5f0a1839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f5f0a1839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f5f0a1839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f5f0a1839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f5f0a1839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f5f0a1839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f5f0a1839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f5f0a1839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f5f0a1839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f5f0a1839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f5f0a1839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f5f0a1839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f5f0a1839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f5f0a1839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f5f0a1839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f5f0a1839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f5f0a1839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f5f0a1839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f5f0a1839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f5f0a1839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f5f0a1839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f5f0a1839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f5f0a1839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f5f0a1839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f5f0a1839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f5f0a1839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2f5f0a1839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f5f0a1839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f5f0a1839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f5f0a1839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2f5f0a1839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f5f0a1839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2f5f0a1839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f5f0a1839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f5f0a1839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f5f0a1839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2f5f0a1839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f5f0a1839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2f5f0a1839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f5f0a1839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2f5f0a1839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8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8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21AAC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21AAC3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2400"/>
              <a:buNone/>
              <a:defRPr sz="2400">
                <a:solidFill>
                  <a:srgbClr val="21AAC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8428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800"/>
              <a:buNone/>
              <a:defRPr sz="4800">
                <a:solidFill>
                  <a:srgbClr val="21AAC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46464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200"/>
              <a:buNone/>
              <a:defRPr sz="4200">
                <a:solidFill>
                  <a:srgbClr val="21AAC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7-06-24 at 5.25.46 PM.png" id="54" name="Google Shape;54;p11"/>
          <p:cNvPicPr preferRelativeResize="0"/>
          <p:nvPr/>
        </p:nvPicPr>
        <p:blipFill rotWithShape="1">
          <a:blip r:embed="rId2">
            <a:alphaModFix/>
          </a:blip>
          <a:srcRect b="0" l="39" r="39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1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1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8" name="Google Shape;58;p11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" name="Google Shape;59;p11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er.png" id="61" name="Google Shape;6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038" y="-16809"/>
            <a:ext cx="9144000" cy="517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1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Topics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64;p11"/>
          <p:cNvSpPr txBox="1"/>
          <p:nvPr/>
        </p:nvSpPr>
        <p:spPr>
          <a:xfrm>
            <a:off x="4407225" y="4756401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PERFORMANCE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" name="Google Shape;65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36287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21AAC3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21AAC3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2400"/>
              <a:buNone/>
              <a:defRPr sz="2400">
                <a:solidFill>
                  <a:srgbClr val="21AAC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389600"/>
            <a:ext cx="8428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3" name="Google Shape;103;p1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800"/>
              <a:buNone/>
              <a:defRPr sz="4800">
                <a:solidFill>
                  <a:srgbClr val="21AAC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/>
          <p:nvPr/>
        </p:nvSpPr>
        <p:spPr>
          <a:xfrm>
            <a:off x="4572000" y="-125"/>
            <a:ext cx="4572000" cy="46464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200"/>
              <a:buNone/>
              <a:defRPr sz="4200">
                <a:solidFill>
                  <a:srgbClr val="21AAC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0" name="Google Shape;110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1" name="Google Shape;111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7-06-24 at 5.25.46 PM.png" id="117" name="Google Shape;117;p23"/>
          <p:cNvPicPr preferRelativeResize="0"/>
          <p:nvPr/>
        </p:nvPicPr>
        <p:blipFill rotWithShape="1">
          <a:blip r:embed="rId2">
            <a:alphaModFix/>
          </a:blip>
          <a:srcRect b="0" l="39" r="39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3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" name="Google Shape;120;p23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1" name="Google Shape;121;p23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2" name="Google Shape;122;p23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3" name="Google Shape;123;p23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er.png" id="124" name="Google Shape;1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038" y="-16809"/>
            <a:ext cx="9144000" cy="517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Development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23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23"/>
          <p:cNvSpPr txBox="1"/>
          <p:nvPr/>
        </p:nvSpPr>
        <p:spPr>
          <a:xfrm>
            <a:off x="4407225" y="4756401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Performance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36287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18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" Type="http://schemas.openxmlformats.org/officeDocument/2006/relationships/image" Target="../media/image18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3600"/>
              <a:buFont typeface="Roboto"/>
              <a:buNone/>
              <a:defRPr b="1" sz="3600">
                <a:solidFill>
                  <a:srgbClr val="21AAC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Topics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4407222" y="4754753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PERFORMANCE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4575" y="4730800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9" name="Google Shape;69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3600"/>
              <a:buFont typeface="Roboto"/>
              <a:buNone/>
              <a:defRPr b="1" sz="3600">
                <a:solidFill>
                  <a:srgbClr val="21AAC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3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3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Development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4407222" y="4754753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Performance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7" name="Google Shape;7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4575" y="4730800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en.wikipedia.org/wiki/Frame_rate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youtube.com/watch?v=0YL0xoSmyZI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eveloper.android.com/studio/run/emulator.html#extended" TargetMode="External"/><Relationship Id="rId4" Type="http://schemas.openxmlformats.org/officeDocument/2006/relationships/hyperlink" Target="https://developer.android.com/studio/run/emulator-commandline.html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hyperlink" Target="https://developer.android.com/studio/profile/dev-options-rendering.html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tools.android.com/tech-docs/layout-inspector" TargetMode="External"/><Relationship Id="rId4" Type="http://schemas.openxmlformats.org/officeDocument/2006/relationships/hyperlink" Target="https://developer.android.com/studio/preview/features/android-profiler.html" TargetMode="External"/><Relationship Id="rId5" Type="http://schemas.openxmlformats.org/officeDocument/2006/relationships/hyperlink" Target="https://developer.android.com/tools/help/systrace.html" TargetMode="External"/><Relationship Id="rId6" Type="http://schemas.openxmlformats.org/officeDocument/2006/relationships/hyperlink" Target="https://developer.android.com/studio/command-line/dumpsys.html" TargetMode="External"/><Relationship Id="rId7" Type="http://schemas.openxmlformats.org/officeDocument/2006/relationships/hyperlink" Target="https://developer.android.com/studio/profile/battery-historian.html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google-developer-training.gitbooks.io/android-developer-advanced-course-concepts/content/unit-2-make-your-apps-fast-and-small/lesson-4-performance/4-0-c-performance/4-0-c-performance.html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25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5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</a:t>
            </a:r>
            <a:endParaRPr/>
          </a:p>
        </p:txBody>
      </p:sp>
      <p:sp>
        <p:nvSpPr>
          <p:cNvPr id="138" name="Google Shape;138;p2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4 </a:t>
            </a:r>
            <a:endParaRPr/>
          </a:p>
        </p:txBody>
      </p:sp>
      <p:sp>
        <p:nvSpPr>
          <p:cNvPr id="139" name="Google Shape;139;p25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Android Development</a:t>
            </a:r>
            <a:endParaRPr/>
          </a:p>
        </p:txBody>
      </p:sp>
      <p:sp>
        <p:nvSpPr>
          <p:cNvPr id="140" name="Google Shape;140;p25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4.0 Performance</a:t>
            </a:r>
            <a:endParaRPr/>
          </a:p>
        </p:txBody>
      </p:sp>
      <p:sp>
        <p:nvSpPr>
          <p:cNvPr id="146" name="Google Shape;146;p26"/>
          <p:cNvSpPr txBox="1"/>
          <p:nvPr>
            <p:ph idx="1" type="subTitle"/>
          </p:nvPr>
        </p:nvSpPr>
        <p:spPr>
          <a:xfrm>
            <a:off x="311700" y="28677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and methodology</a:t>
            </a:r>
            <a:endParaRPr/>
          </a:p>
        </p:txBody>
      </p:sp>
      <p:sp>
        <p:nvSpPr>
          <p:cNvPr id="147" name="Google Shape;147;p2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33600" y="1141350"/>
            <a:ext cx="8476800" cy="32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What is good performance?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16 milliseconds per frame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Basic performance test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Checking frame rate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Tackling performance problems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Keeping your app responsive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4" name="Google Shape;154;p2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good performance?</a:t>
            </a:r>
            <a:endParaRPr/>
          </a:p>
        </p:txBody>
      </p:sp>
      <p:sp>
        <p:nvSpPr>
          <p:cNvPr id="160" name="Google Shape;160;p2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1" name="Google Shape;161;p2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bad performance? </a:t>
            </a:r>
            <a:endParaRPr/>
          </a:p>
        </p:txBody>
      </p:sp>
      <p:sp>
        <p:nvSpPr>
          <p:cNvPr id="168" name="Google Shape;168;p29"/>
          <p:cNvSpPr txBox="1"/>
          <p:nvPr>
            <p:ph idx="1" type="body"/>
          </p:nvPr>
        </p:nvSpPr>
        <p:spPr>
          <a:xfrm>
            <a:off x="311700" y="1064625"/>
            <a:ext cx="8754900" cy="3488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App does not load or app takes a long time to load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Animations stutter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App crashes randomly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Battery drains fast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Uses lots and lots of data-plan data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Slow or inconsistent response to user actions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good performance? </a:t>
            </a:r>
            <a:endParaRPr/>
          </a:p>
        </p:txBody>
      </p:sp>
      <p:sp>
        <p:nvSpPr>
          <p:cNvPr id="175" name="Google Shape;175;p30"/>
          <p:cNvSpPr txBox="1"/>
          <p:nvPr>
            <p:ph idx="1" type="body"/>
          </p:nvPr>
        </p:nvSpPr>
        <p:spPr>
          <a:xfrm>
            <a:off x="311700" y="1064625"/>
            <a:ext cx="8754900" cy="3488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App loads fast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Animations are smooth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No crashes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App respects device's limited battery resources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Optimizes internet data transmission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Consistent and fast response to user actions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Users up-rate apps that perform well </a:t>
            </a:r>
            <a:endParaRPr/>
          </a:p>
        </p:txBody>
      </p:sp>
      <p:sp>
        <p:nvSpPr>
          <p:cNvPr id="182" name="Google Shape;182;p31"/>
          <p:cNvSpPr txBox="1"/>
          <p:nvPr>
            <p:ph idx="1" type="body"/>
          </p:nvPr>
        </p:nvSpPr>
        <p:spPr>
          <a:xfrm>
            <a:off x="87850" y="1064625"/>
            <a:ext cx="9056100" cy="3488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… and they uninstall and down-rate apps that don't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To stand out from the crowd, create apps that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Have a small APK, run fast &amp; smooth, use resources efficiently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Optimize use of memory, device storage, and battery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Are considerate of data plan when transferring data on internet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/>
          <p:nvPr>
            <p:ph type="title"/>
          </p:nvPr>
        </p:nvSpPr>
        <p:spPr>
          <a:xfrm>
            <a:off x="265500" y="17665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 milliseconds per frame</a:t>
            </a:r>
            <a:endParaRPr/>
          </a:p>
        </p:txBody>
      </p:sp>
      <p:sp>
        <p:nvSpPr>
          <p:cNvPr id="189" name="Google Shape;189;p3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0" name="Google Shape;190;p3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Refresh rate and 16 milliseconds </a:t>
            </a:r>
            <a:endParaRPr/>
          </a:p>
        </p:txBody>
      </p:sp>
      <p:sp>
        <p:nvSpPr>
          <p:cNvPr id="196" name="Google Shape;196;p33"/>
          <p:cNvSpPr txBox="1"/>
          <p:nvPr>
            <p:ph idx="1" type="body"/>
          </p:nvPr>
        </p:nvSpPr>
        <p:spPr>
          <a:xfrm>
            <a:off x="137475" y="1140825"/>
            <a:ext cx="5291700" cy="317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Still images in sequence create illusion of motion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Flip book: 10-12 pages/second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Movies: 24-30 frames/second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High-quality: 60 frames/second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"Frame rate," "frames per second," "FPS"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7" name="Google Shape;197;p3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8" name="Google Shape;19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9250" y="982475"/>
            <a:ext cx="3714750" cy="279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60 FPS = 16.6 milliseconds per frame</a:t>
            </a:r>
            <a:endParaRPr/>
          </a:p>
        </p:txBody>
      </p:sp>
      <p:sp>
        <p:nvSpPr>
          <p:cNvPr id="204" name="Google Shape;204;p34"/>
          <p:cNvSpPr txBox="1"/>
          <p:nvPr>
            <p:ph idx="1" type="body"/>
          </p:nvPr>
        </p:nvSpPr>
        <p:spPr>
          <a:xfrm>
            <a:off x="137475" y="1228651"/>
            <a:ext cx="8883600" cy="3290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Most modern device hardware refreshes display at 60 FPS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1000 ms / 60 frames = 16.666 ms/frame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Software and system must match that rate...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… and draw one complete frame per 16.6 ms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Your app does not get all of that time! Android system needs some, too!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5" name="Google Shape;205;p3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Frame rate</a:t>
            </a:r>
            <a:endParaRPr/>
          </a:p>
        </p:txBody>
      </p:sp>
      <p:sp>
        <p:nvSpPr>
          <p:cNvPr id="211" name="Google Shape;211;p3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35"/>
          <p:cNvSpPr txBox="1"/>
          <p:nvPr/>
        </p:nvSpPr>
        <p:spPr>
          <a:xfrm>
            <a:off x="333600" y="1369950"/>
            <a:ext cx="8476800" cy="30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 u="sng">
                <a:solidFill>
                  <a:srgbClr val="0097A7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Frame rate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(FPS) is the frequency (rate) at which consecutive images (frames) are displayed. 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Mobile devices typically display 60 FPS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 60 FPS appears as smooth motion to human eye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Dropped frames </a:t>
            </a:r>
            <a:endParaRPr/>
          </a:p>
        </p:txBody>
      </p:sp>
      <p:sp>
        <p:nvSpPr>
          <p:cNvPr id="218" name="Google Shape;218;p36"/>
          <p:cNvSpPr txBox="1"/>
          <p:nvPr>
            <p:ph idx="1" type="body"/>
          </p:nvPr>
        </p:nvSpPr>
        <p:spPr>
          <a:xfrm>
            <a:off x="137475" y="1217025"/>
            <a:ext cx="8883600" cy="1515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If your app does not finish updating in 16 ms,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frame is dropped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Users see stutter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9" name="Google Shape;219;p3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0" name="Google Shape;22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475" y="1992361"/>
            <a:ext cx="9006525" cy="2612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7"/>
          <p:cNvSpPr txBox="1"/>
          <p:nvPr>
            <p:ph type="title"/>
          </p:nvPr>
        </p:nvSpPr>
        <p:spPr>
          <a:xfrm>
            <a:off x="265500" y="17665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performance test</a:t>
            </a:r>
            <a:endParaRPr/>
          </a:p>
        </p:txBody>
      </p:sp>
      <p:sp>
        <p:nvSpPr>
          <p:cNvPr id="226" name="Google Shape;226;p3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7" name="Google Shape;227;p3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Most basic performance test</a:t>
            </a:r>
            <a:endParaRPr/>
          </a:p>
        </p:txBody>
      </p:sp>
      <p:sp>
        <p:nvSpPr>
          <p:cNvPr id="233" name="Google Shape;233;p38"/>
          <p:cNvSpPr txBox="1"/>
          <p:nvPr>
            <p:ph idx="1" type="body"/>
          </p:nvPr>
        </p:nvSpPr>
        <p:spPr>
          <a:xfrm>
            <a:off x="130200" y="1366675"/>
            <a:ext cx="8883600" cy="2955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User perception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Performance on low-end devices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Slow-downs over time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Responsiveness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Crash robustness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4" name="Google Shape;234;p3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for basic performance test</a:t>
            </a:r>
            <a:endParaRPr/>
          </a:p>
        </p:txBody>
      </p:sp>
      <p:sp>
        <p:nvSpPr>
          <p:cNvPr id="240" name="Google Shape;240;p39"/>
          <p:cNvSpPr txBox="1"/>
          <p:nvPr>
            <p:ph idx="1" type="body"/>
          </p:nvPr>
        </p:nvSpPr>
        <p:spPr>
          <a:xfrm>
            <a:off x="130200" y="1290475"/>
            <a:ext cx="8883600" cy="2955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Install on lowest-end physical target device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Use thoroughly and take detailed notes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Try to crash the app. Try hard!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Ask a friend to test it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Run mini-usability test—watch </a:t>
            </a:r>
            <a:r>
              <a:rPr lang="en" u="sng">
                <a:solidFill>
                  <a:schemeClr val="hlink"/>
                </a:solidFill>
                <a:hlinkClick r:id="rId3"/>
              </a:rPr>
              <a:t>Usability Cafe video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41" name="Google Shape;241;p3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Physical device versus emulator</a:t>
            </a:r>
            <a:endParaRPr/>
          </a:p>
        </p:txBody>
      </p:sp>
      <p:sp>
        <p:nvSpPr>
          <p:cNvPr id="247" name="Google Shape;247;p40"/>
          <p:cNvSpPr txBox="1"/>
          <p:nvPr>
            <p:ph idx="1" type="body"/>
          </p:nvPr>
        </p:nvSpPr>
        <p:spPr>
          <a:xfrm>
            <a:off x="130200" y="1101600"/>
            <a:ext cx="9013800" cy="3144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Performance data in emulator is less accurate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Might be hard to test with low-bandwidth and unreliable networks on physical device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Simulate using emulator and adjusting its settings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See </a:t>
            </a:r>
            <a:r>
              <a:rPr lang="en" u="sng">
                <a:solidFill>
                  <a:schemeClr val="hlink"/>
                </a:solidFill>
                <a:hlinkClick r:id="rId3"/>
              </a:rPr>
              <a:t>Extended controls, settings, and help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 u="sng">
                <a:solidFill>
                  <a:schemeClr val="hlink"/>
                </a:solidFill>
                <a:hlinkClick r:id="rId4"/>
              </a:rPr>
              <a:t>Start the Emulator from the Command Line</a:t>
            </a:r>
            <a:r>
              <a:rPr lang="en">
                <a:solidFill>
                  <a:srgbClr val="000000"/>
                </a:solidFill>
              </a:rPr>
              <a:t>—look for the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netdelay</a:t>
            </a:r>
            <a:r>
              <a:rPr lang="en">
                <a:solidFill>
                  <a:srgbClr val="000000"/>
                </a:solidFill>
              </a:rPr>
              <a:t> parameter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4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/>
          <p:cNvSpPr txBox="1"/>
          <p:nvPr>
            <p:ph type="title"/>
          </p:nvPr>
        </p:nvSpPr>
        <p:spPr>
          <a:xfrm>
            <a:off x="265500" y="17665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Checking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frame rate</a:t>
            </a:r>
            <a:endParaRPr/>
          </a:p>
        </p:txBody>
      </p:sp>
      <p:sp>
        <p:nvSpPr>
          <p:cNvPr id="254" name="Google Shape;254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55" name="Google Shape;255;p4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Profile GPU Rendering</a:t>
            </a:r>
            <a:endParaRPr/>
          </a:p>
        </p:txBody>
      </p:sp>
      <p:sp>
        <p:nvSpPr>
          <p:cNvPr id="261" name="Google Shape;261;p4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2" name="Google Shape;26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2200" y="976350"/>
            <a:ext cx="1998950" cy="3645499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42"/>
          <p:cNvSpPr txBox="1"/>
          <p:nvPr/>
        </p:nvSpPr>
        <p:spPr>
          <a:xfrm>
            <a:off x="116625" y="1062200"/>
            <a:ext cx="6258900" cy="3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Profile GPU Rendering tool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visualizes how long it takes an app to draw frames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2400">
                <a:latin typeface="Roboto"/>
                <a:ea typeface="Roboto"/>
                <a:cs typeface="Roboto"/>
                <a:sym typeface="Roboto"/>
              </a:rPr>
              <a:t>Important:</a:t>
            </a:r>
            <a:br>
              <a:rPr lang="en" sz="2400">
                <a:latin typeface="Roboto"/>
                <a:ea typeface="Roboto"/>
                <a:cs typeface="Roboto"/>
                <a:sym typeface="Roboto"/>
              </a:rPr>
            </a:br>
            <a:r>
              <a:rPr lang="en" sz="2400">
                <a:latin typeface="Roboto"/>
                <a:ea typeface="Roboto"/>
                <a:cs typeface="Roboto"/>
                <a:sym typeface="Roboto"/>
              </a:rPr>
              <a:t>Requires at least Android 4.1 (API level 16)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Starting Profile GPU Rendering</a:t>
            </a:r>
            <a:endParaRPr/>
          </a:p>
        </p:txBody>
      </p:sp>
      <p:sp>
        <p:nvSpPr>
          <p:cNvPr id="269" name="Google Shape;269;p4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0" name="Google Shape;27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1222" y="851337"/>
            <a:ext cx="3651804" cy="3787337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43"/>
          <p:cNvSpPr txBox="1"/>
          <p:nvPr/>
        </p:nvSpPr>
        <p:spPr>
          <a:xfrm>
            <a:off x="116625" y="1443200"/>
            <a:ext cx="5194500" cy="29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AutoNum type="arabicPeriod"/>
            </a:pPr>
            <a:r>
              <a:rPr b="1" lang="en" sz="2400">
                <a:latin typeface="Roboto"/>
                <a:ea typeface="Roboto"/>
                <a:cs typeface="Roboto"/>
                <a:sym typeface="Roboto"/>
              </a:rPr>
              <a:t>Settings &gt; Developer options</a:t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Scroll to </a:t>
            </a:r>
            <a:r>
              <a:rPr b="1" lang="en" sz="2400">
                <a:latin typeface="Roboto"/>
                <a:ea typeface="Roboto"/>
                <a:cs typeface="Roboto"/>
                <a:sym typeface="Roboto"/>
              </a:rPr>
              <a:t>Monitoring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section</a:t>
            </a:r>
            <a:br>
              <a:rPr lang="en" sz="2400">
                <a:latin typeface="Roboto"/>
                <a:ea typeface="Roboto"/>
                <a:cs typeface="Roboto"/>
                <a:sym typeface="Roboto"/>
              </a:rPr>
            </a:br>
            <a:r>
              <a:rPr lang="en" sz="2400">
                <a:latin typeface="Roboto"/>
                <a:ea typeface="Roboto"/>
                <a:cs typeface="Roboto"/>
                <a:sym typeface="Roboto"/>
              </a:rPr>
              <a:t>and select </a:t>
            </a:r>
            <a:r>
              <a:rPr b="1" lang="en" sz="2400">
                <a:latin typeface="Roboto"/>
                <a:ea typeface="Roboto"/>
                <a:cs typeface="Roboto"/>
                <a:sym typeface="Roboto"/>
              </a:rPr>
              <a:t>Profile GPU rendering</a:t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Choose </a:t>
            </a:r>
            <a:r>
              <a:rPr b="1" lang="en" sz="2400">
                <a:latin typeface="Roboto"/>
                <a:ea typeface="Roboto"/>
                <a:cs typeface="Roboto"/>
                <a:sym typeface="Roboto"/>
              </a:rPr>
              <a:t>On screen as bars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Profile GPU Rendering on device</a:t>
            </a:r>
            <a:endParaRPr/>
          </a:p>
        </p:txBody>
      </p:sp>
      <p:sp>
        <p:nvSpPr>
          <p:cNvPr id="277" name="Google Shape;277;p4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8" name="Google Shape;27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2150" y="1296925"/>
            <a:ext cx="3429000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50" y="4246075"/>
            <a:ext cx="8524383" cy="314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44"/>
          <p:cNvSpPr txBox="1"/>
          <p:nvPr>
            <p:ph idx="1" type="body"/>
          </p:nvPr>
        </p:nvSpPr>
        <p:spPr>
          <a:xfrm>
            <a:off x="-56700" y="866650"/>
            <a:ext cx="6249300" cy="30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1 vertical bar == 1 frame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Colors == rendering stages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Horizontal green line == 16 ms/frame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If bar extends above line, the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bar is wide and &gt; 16 ms/frame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If bar is below line, the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bar is narrow and dim and &lt; 16ms/frame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it's good for</a:t>
            </a:r>
            <a:endParaRPr/>
          </a:p>
        </p:txBody>
      </p:sp>
      <p:sp>
        <p:nvSpPr>
          <p:cNvPr id="286" name="Google Shape;286;p4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45"/>
          <p:cNvSpPr txBox="1"/>
          <p:nvPr/>
        </p:nvSpPr>
        <p:spPr>
          <a:xfrm>
            <a:off x="0" y="923400"/>
            <a:ext cx="8832300" cy="37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Green horizontal line: See how frames perform against target of 16 ms/frame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Bars: Identify whether the time taken by any part of the rendering pipeline stands out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Look for spikes in frame-rendering time associated with user actions or program actions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6"/>
          <p:cNvSpPr txBox="1"/>
          <p:nvPr>
            <p:ph type="title"/>
          </p:nvPr>
        </p:nvSpPr>
        <p:spPr>
          <a:xfrm>
            <a:off x="265500" y="17665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Tackling performance problems</a:t>
            </a:r>
            <a:endParaRPr/>
          </a:p>
        </p:txBody>
      </p:sp>
      <p:sp>
        <p:nvSpPr>
          <p:cNvPr id="293" name="Google Shape;293;p4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94" name="Google Shape;294;p4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performance profiling tools</a:t>
            </a:r>
            <a:endParaRPr/>
          </a:p>
        </p:txBody>
      </p:sp>
      <p:sp>
        <p:nvSpPr>
          <p:cNvPr id="300" name="Google Shape;300;p47"/>
          <p:cNvSpPr txBox="1"/>
          <p:nvPr>
            <p:ph idx="1" type="body"/>
          </p:nvPr>
        </p:nvSpPr>
        <p:spPr>
          <a:xfrm>
            <a:off x="130200" y="1134100"/>
            <a:ext cx="8702100" cy="33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On device: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Profile GPU Rendering tool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Debug GPU Overdraw tool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… and many more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01" name="Google Shape;301;p4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performance profiling tools</a:t>
            </a:r>
            <a:endParaRPr/>
          </a:p>
        </p:txBody>
      </p:sp>
      <p:sp>
        <p:nvSpPr>
          <p:cNvPr id="307" name="Google Shape;307;p48"/>
          <p:cNvSpPr txBox="1"/>
          <p:nvPr>
            <p:ph idx="1" type="body"/>
          </p:nvPr>
        </p:nvSpPr>
        <p:spPr>
          <a:xfrm>
            <a:off x="130200" y="1134100"/>
            <a:ext cx="8702100" cy="33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In Android Studio: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Layout Inspector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Android Profiler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Systrace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 u="sng">
                <a:solidFill>
                  <a:schemeClr val="hlink"/>
                </a:solidFill>
                <a:hlinkClick r:id="rId6"/>
              </a:rPr>
              <a:t>dumpsys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Batterystats and Battery Historian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…. and many more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08" name="Google Shape;308;p4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Improvement Lifecycle</a:t>
            </a:r>
            <a:endParaRPr/>
          </a:p>
        </p:txBody>
      </p:sp>
      <p:sp>
        <p:nvSpPr>
          <p:cNvPr id="314" name="Google Shape;314;p49"/>
          <p:cNvSpPr txBox="1"/>
          <p:nvPr>
            <p:ph idx="1" type="body"/>
          </p:nvPr>
        </p:nvSpPr>
        <p:spPr>
          <a:xfrm>
            <a:off x="130200" y="1362700"/>
            <a:ext cx="8702100" cy="2898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Gather information using tools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Analyze data to gain insight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Take action and fix problems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Verify and iterate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15" name="Google Shape;315;p4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6" name="Google Shape;31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5975" y="977200"/>
            <a:ext cx="4435175" cy="32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"/>
              <a:t>Gather information using tools</a:t>
            </a:r>
            <a:endParaRPr/>
          </a:p>
        </p:txBody>
      </p:sp>
      <p:sp>
        <p:nvSpPr>
          <p:cNvPr id="322" name="Google Shape;322;p50"/>
          <p:cNvSpPr txBox="1"/>
          <p:nvPr>
            <p:ph idx="1" type="body"/>
          </p:nvPr>
        </p:nvSpPr>
        <p:spPr>
          <a:xfrm>
            <a:off x="130200" y="1362700"/>
            <a:ext cx="8702100" cy="2898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Use tools to gather data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Lots and diverse data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Multiple devices and usage patterns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Be thorough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Keep records to track improvements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23" name="Google Shape;323;p5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4" name="Google Shape;32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4525" y="3694600"/>
            <a:ext cx="967775" cy="81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Analyze to gain insight</a:t>
            </a:r>
            <a:endParaRPr/>
          </a:p>
        </p:txBody>
      </p:sp>
      <p:sp>
        <p:nvSpPr>
          <p:cNvPr id="330" name="Google Shape;330;p51"/>
          <p:cNvSpPr txBox="1"/>
          <p:nvPr>
            <p:ph idx="1" type="body"/>
          </p:nvPr>
        </p:nvSpPr>
        <p:spPr>
          <a:xfrm>
            <a:off x="130200" y="1362700"/>
            <a:ext cx="8702100" cy="2898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Take time to understand data in context of your app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There may be more than one problem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Obvious problem may cover up deeper problems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31" name="Google Shape;331;p5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2" name="Google Shape;33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6700" y="3395400"/>
            <a:ext cx="865600" cy="86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Take action and fix problems</a:t>
            </a:r>
            <a:endParaRPr/>
          </a:p>
        </p:txBody>
      </p:sp>
      <p:sp>
        <p:nvSpPr>
          <p:cNvPr id="338" name="Google Shape;338;p52"/>
          <p:cNvSpPr txBox="1"/>
          <p:nvPr>
            <p:ph idx="1" type="body"/>
          </p:nvPr>
        </p:nvSpPr>
        <p:spPr>
          <a:xfrm>
            <a:off x="130200" y="1362700"/>
            <a:ext cx="8702100" cy="2898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Evaluate more than one way to solve problems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Consider constraints and trade-offs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Resources, budgets, deadlines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39" name="Google Shape;339;p5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0" name="Google Shape;34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5725" y="3560800"/>
            <a:ext cx="916575" cy="91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Verify and iterate</a:t>
            </a:r>
            <a:endParaRPr/>
          </a:p>
        </p:txBody>
      </p:sp>
      <p:sp>
        <p:nvSpPr>
          <p:cNvPr id="346" name="Google Shape;346;p53"/>
          <p:cNvSpPr txBox="1"/>
          <p:nvPr>
            <p:ph idx="1" type="body"/>
          </p:nvPr>
        </p:nvSpPr>
        <p:spPr>
          <a:xfrm>
            <a:off x="130200" y="1362700"/>
            <a:ext cx="8702100" cy="2898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Gather new data after changes to app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Compare to original data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Did you solve the (right) problem?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Do you need further improvements?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47" name="Google Shape;347;p5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8" name="Google Shape;34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4300" y="3768850"/>
            <a:ext cx="2298000" cy="70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4"/>
          <p:cNvSpPr txBox="1"/>
          <p:nvPr>
            <p:ph type="title"/>
          </p:nvPr>
        </p:nvSpPr>
        <p:spPr>
          <a:xfrm>
            <a:off x="265500" y="17665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Keeping your app responsive</a:t>
            </a:r>
            <a:endParaRPr/>
          </a:p>
        </p:txBody>
      </p:sp>
      <p:sp>
        <p:nvSpPr>
          <p:cNvPr id="354" name="Google Shape;354;p5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55" name="Google Shape;355;p5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Monitor with Android Profiler tool</a:t>
            </a:r>
            <a:endParaRPr/>
          </a:p>
        </p:txBody>
      </p:sp>
      <p:sp>
        <p:nvSpPr>
          <p:cNvPr id="361" name="Google Shape;361;p5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62" name="Google Shape;36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0700" y="1357113"/>
            <a:ext cx="4470450" cy="3025325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55"/>
          <p:cNvSpPr txBox="1"/>
          <p:nvPr>
            <p:ph idx="1" type="body"/>
          </p:nvPr>
        </p:nvSpPr>
        <p:spPr>
          <a:xfrm>
            <a:off x="130200" y="1362700"/>
            <a:ext cx="4420500" cy="2898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Monitor while developing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Real-time data from device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CPU, memory, network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Allocations, heap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369" name="Google Shape;369;p5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0" name="Google Shape;370;p56"/>
          <p:cNvSpPr txBox="1"/>
          <p:nvPr/>
        </p:nvSpPr>
        <p:spPr>
          <a:xfrm>
            <a:off x="311700" y="2063725"/>
            <a:ext cx="8520600" cy="1777800"/>
          </a:xfrm>
          <a:prstGeom prst="rect">
            <a:avLst/>
          </a:prstGeom>
          <a:noFill/>
          <a:ln cap="flat" cmpd="sng" w="38100">
            <a:solidFill>
              <a:srgbClr val="21AA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4.0 Performance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Practical: </a:t>
            </a:r>
            <a:r>
              <a:rPr i="1" lang="en" sz="2400">
                <a:latin typeface="Roboto"/>
                <a:ea typeface="Roboto"/>
                <a:cs typeface="Roboto"/>
                <a:sym typeface="Roboto"/>
              </a:rPr>
              <a:t>none</a:t>
            </a:r>
            <a:endParaRPr i="1"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376" name="Google Shape;376;p5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77" name="Google Shape;377;p5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8" name="Google Shape;378;p5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