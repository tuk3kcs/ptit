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be0ca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be0ca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5be0ca1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5be0ca1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be0ca1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5be0ca1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5be0ca1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5be0ca1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5be0ca1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5be0ca1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5be0ca1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5be0ca1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5be0ca1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5be0ca1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5be0ca1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5be0ca1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5be0ca1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f5be0ca1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5be0ca1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5be0ca1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5be0ca1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5be0ca1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5be0ca1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f5be0ca1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f5be0ca1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f5be0ca1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5be0ca1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f5be0ca1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5be0ca1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f5be0ca1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f5be0ca1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f5be0ca1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5be0ca1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f5be0ca1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f5be0ca1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f5be0ca1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5be0ca1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f5be0ca1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f5be0ca1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f5be0ca1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5be0ca1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f5be0ca1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5be0ca1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f5be0ca1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f5be0ca1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f5be0ca1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f5be0ca1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f5be0ca1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5be0ca1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f5be0ca1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f5be0ca1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f5be0ca1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f5be0ca1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f5be0ca1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f5be0ca14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f5be0ca14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f5be0ca1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f5be0ca1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f5be0ca1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f5be0ca1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f5be0ca14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f5be0ca14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f5be0ca14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f5be0ca1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en.wikipedia.org/wiki/Paging" TargetMode="External"/><Relationship Id="rId4" Type="http://schemas.openxmlformats.org/officeDocument/2006/relationships/hyperlink" Target="http://en.wikipedia.org/wiki/Memory-mapped_files" TargetMode="External"/><Relationship Id="rId5" Type="http://schemas.openxmlformats.org/officeDocument/2006/relationships/hyperlink" Target="https://source.android.com/devices/tech/dalvik/" TargetMode="External"/><Relationship Id="rId6" Type="http://schemas.openxmlformats.org/officeDocument/2006/relationships/hyperlink" Target="https://docs.oracle.com/cd/E13150_01/jrockit_jvm/jrockit/geninfo/diagnos/garbage_collect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Garbage_collection_(computer_science)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android.com/reference/java/lang/System.html#gc()" TargetMode="External"/><Relationship Id="rId4" Type="http://schemas.openxmlformats.org/officeDocument/2006/relationships/hyperlink" Target="https://developer.android.com/reference/java/lang/OutOfMemoryError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BkbHeFHn8JY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en.wikipedia.org/wiki/Object_pool_pattern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studio/debug/dev-options.html#enable" TargetMode="External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oogle-developer-training.gitbooks.io/android-developer-advanced-course-concepts/content/unit-2-make-your-apps-fast-and-small/lesson-4-performance/4-2-c-memory/4-2-c-memory.html" TargetMode="External"/><Relationship Id="rId4" Type="http://schemas.openxmlformats.org/officeDocument/2006/relationships/hyperlink" Target="https://google-developer-training.gitbooks.io/android-developer-advanced-course-practicals/content/unit-2-make-your-apps-fast-and-small/lesson-4-performance/4-2-p-memory-profiler/4-2-p-memory-profiler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4.2 Memory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89700" y="1586000"/>
            <a:ext cx="4588800" cy="22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Basics of memory in Android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Garbage collection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Memory leaks and churn</a:t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4659000" y="1573550"/>
            <a:ext cx="4426800" cy="22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Memory Profiler tool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Dump Java heap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Record memory allocations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memory in Android</a:t>
            </a:r>
            <a:endParaRPr/>
          </a:p>
        </p:txBody>
      </p:sp>
      <p:sp>
        <p:nvSpPr>
          <p:cNvPr id="161" name="Google Shape;161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All processes, services, and apps require memory to store instructions and data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Running app allocates memory for objects and processes in its assigned memory heap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Memory allocation</a:t>
            </a:r>
            <a:r>
              <a:rPr lang="en">
                <a:solidFill>
                  <a:srgbClr val="000000"/>
                </a:solidFill>
              </a:rPr>
              <a:t>—the process of reserving memory for your app objects and processes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Android manages memory environment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33600" y="12833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You don't have to manually manage memory, the system does it for you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team has put a lot of work into making memory management as fast and efficient as possible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Android manages memory for you, but...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33600" y="1446150"/>
            <a:ext cx="8235600" cy="25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If your code is memory inefficient, Android's management is not going to help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Cleaning up memory resources also takes time, which hurts performance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Referenced objects stay in 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33600" y="1098500"/>
            <a:ext cx="8810400" cy="3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runtime (ART) (5.0/API 21) and Dalvik virtual machine use </a:t>
            </a:r>
            <a:r>
              <a:rPr lang="en" u="sng">
                <a:solidFill>
                  <a:schemeClr val="hlink"/>
                </a:solidFill>
                <a:hlinkClick r:id="rId3"/>
              </a:rPr>
              <a:t>paging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hlink"/>
                </a:solidFill>
                <a:hlinkClick r:id="rId4"/>
              </a:rPr>
              <a:t>memory-mapping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Memory that an app modifies stays in RAM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Release object references to make memory available for reclamation (garbage collection)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Learn more: </a:t>
            </a:r>
            <a:r>
              <a:rPr lang="en" u="sng">
                <a:solidFill>
                  <a:schemeClr val="hlink"/>
                </a:solidFill>
                <a:hlinkClick r:id="rId5"/>
              </a:rPr>
              <a:t>ART and Dalvik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6"/>
              </a:rPr>
              <a:t>Memory Management</a:t>
            </a:r>
            <a:r>
              <a:rPr lang="en">
                <a:solidFill>
                  <a:srgbClr val="000000"/>
                </a:solidFill>
              </a:rPr>
              <a:t> in Java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Garbage collection</a:t>
            </a:r>
            <a:endParaRPr/>
          </a:p>
        </p:txBody>
      </p:sp>
      <p:sp>
        <p:nvSpPr>
          <p:cNvPr id="197" name="Google Shape;197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Garbage collection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33600" y="1098500"/>
            <a:ext cx="8810400" cy="3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Garbage collection (GC)</a:t>
            </a:r>
            <a:r>
              <a:rPr lang="en">
                <a:solidFill>
                  <a:srgbClr val="000000"/>
                </a:solidFill>
              </a:rPr>
              <a:t> is the automatic process of freeing up space in a computer's memory by removing data that is no longer required or in use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Finds data objects that cannot be accessed in the future because they are no longer referenced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Reclaims resources used by those objects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Frequent GC hurts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33600" y="1327100"/>
            <a:ext cx="88104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You cannot control garbage collection (you can </a:t>
            </a:r>
            <a:r>
              <a:rPr lang="en" u="sng">
                <a:solidFill>
                  <a:schemeClr val="hlink"/>
                </a:solidFill>
                <a:hlinkClick r:id="rId3"/>
              </a:rPr>
              <a:t>force</a:t>
            </a:r>
            <a:r>
              <a:rPr lang="en">
                <a:solidFill>
                  <a:srgbClr val="000000"/>
                </a:solidFill>
              </a:rPr>
              <a:t> it, but not control what it does or how it does it)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Code flow affects conditions that trigger GC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Heap size is limited ⇒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OutOfMemoryError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example, if you allocate and keep references to multiple objects in the innermost part of a loop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3" name="Google Shape;213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leaks and churn</a:t>
            </a:r>
            <a:endParaRPr/>
          </a:p>
        </p:txBody>
      </p:sp>
      <p:sp>
        <p:nvSpPr>
          <p:cNvPr id="219" name="Google Shape;219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0" name="Google Shape;220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Memory leak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33600" y="1327100"/>
            <a:ext cx="88104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Code allocates memory for many objects and never releases references / never frees memory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Less and less memory available ⇒ app slows down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No more memory ⇒ app crashes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8" name="Google Shape;228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Memory churn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33600" y="1327100"/>
            <a:ext cx="88104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When app is low on memory...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...garbage collection events increase...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...which takes more and more time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slows down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leak View objects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33600" y="1327100"/>
            <a:ext cx="88104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Do not reference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objects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from outside the UI thread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 async callbacks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from static objects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00000"/>
                </a:solidFill>
              </a:rPr>
              <a:t>More in </a:t>
            </a:r>
            <a:r>
              <a:rPr lang="en" u="sng">
                <a:solidFill>
                  <a:schemeClr val="hlink"/>
                </a:solidFill>
                <a:hlinkClick r:id="rId3"/>
              </a:rPr>
              <a:t>Do Not Leak Views</a:t>
            </a:r>
            <a:r>
              <a:rPr lang="en">
                <a:solidFill>
                  <a:srgbClr val="000000"/>
                </a:solidFill>
              </a:rPr>
              <a:t> video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2" name="Google Shape;242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Avoid looping allocations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33600" y="1555700"/>
            <a:ext cx="8810400" cy="21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Do not allocate objects in inner loops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Do it outside the loop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Redesign to avoid allocation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9" name="Google Shape;249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Avoid allocations in onDraw() 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333600" y="1555700"/>
            <a:ext cx="8810400" cy="26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Called 60 times per second!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Do not create new objects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onDraw()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example, create one object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>
                <a:solidFill>
                  <a:srgbClr val="000000"/>
                </a:solidFill>
              </a:rPr>
              <a:t> and reuse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example, use </a:t>
            </a:r>
            <a:r>
              <a:rPr lang="en" u="sng">
                <a:solidFill>
                  <a:schemeClr val="hlink"/>
                </a:solidFill>
                <a:hlinkClick r:id="rId3"/>
              </a:rPr>
              <a:t>object pools</a:t>
            </a:r>
            <a:r>
              <a:rPr lang="en">
                <a:solidFill>
                  <a:srgbClr val="000000"/>
                </a:solidFill>
              </a:rPr>
              <a:t>—allocate group of objects and reuse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Profiler tool</a:t>
            </a:r>
            <a:endParaRPr/>
          </a:p>
        </p:txBody>
      </p:sp>
      <p:sp>
        <p:nvSpPr>
          <p:cNvPr id="262" name="Google Shape;262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3" name="Google Shape;263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the Memory Profiler you can...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333600" y="1262775"/>
            <a:ext cx="8810400" cy="32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View real-time count of allocated objects and garbage collection events on timeline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Dump the Java heap to see which objects are using up memory at any given time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Record memory allocations to see where your code is allocating too many objects, or large objects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1" name="Google Shape;271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Memory Profiler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4"/>
          <p:cNvSpPr txBox="1"/>
          <p:nvPr>
            <p:ph idx="1" type="body"/>
          </p:nvPr>
        </p:nvSpPr>
        <p:spPr>
          <a:xfrm>
            <a:off x="333600" y="1262775"/>
            <a:ext cx="5333400" cy="32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Make sure </a:t>
            </a:r>
            <a:r>
              <a:rPr lang="en" u="sng">
                <a:solidFill>
                  <a:schemeClr val="hlink"/>
                </a:solidFill>
                <a:hlinkClick r:id="rId3"/>
              </a:rPr>
              <a:t>developer options</a:t>
            </a:r>
            <a:r>
              <a:rPr lang="en">
                <a:solidFill>
                  <a:srgbClr val="000000"/>
                </a:solidFill>
              </a:rPr>
              <a:t> are enabled on the device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Android Studio: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Open </a:t>
            </a:r>
            <a:r>
              <a:rPr b="1" lang="en">
                <a:solidFill>
                  <a:srgbClr val="000000"/>
                </a:solidFill>
              </a:rPr>
              <a:t>Android Profiler</a:t>
            </a:r>
            <a:r>
              <a:rPr lang="en">
                <a:solidFill>
                  <a:srgbClr val="000000"/>
                </a:solidFill>
              </a:rPr>
              <a:t> (1)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device and app (2)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AutoNum type="arabicPeriod"/>
            </a:pPr>
            <a:r>
              <a:rPr b="1" lang="en">
                <a:solidFill>
                  <a:srgbClr val="000000"/>
                </a:solidFill>
              </a:rPr>
              <a:t>MEMORY</a:t>
            </a:r>
            <a:r>
              <a:rPr lang="en">
                <a:solidFill>
                  <a:srgbClr val="000000"/>
                </a:solidFill>
              </a:rPr>
              <a:t> graph starts (3)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8" name="Google Shape;278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 rotWithShape="1">
          <a:blip r:embed="rId4">
            <a:alphaModFix/>
          </a:blip>
          <a:srcRect b="0" l="0" r="51957" t="0"/>
          <a:stretch/>
        </p:blipFill>
        <p:spPr>
          <a:xfrm>
            <a:off x="5590900" y="994250"/>
            <a:ext cx="3418725" cy="36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Initial graph shows total 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333600" y="1725300"/>
            <a:ext cx="4768800" cy="18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Total memory used over time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Click to expand for details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6" name="Google Shape;286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7" name="Google Shape;28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050" y="1642163"/>
            <a:ext cx="3707175" cy="21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Expanded memory graphs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6"/>
          <p:cNvSpPr txBox="1"/>
          <p:nvPr>
            <p:ph idx="1" type="body"/>
          </p:nvPr>
        </p:nvSpPr>
        <p:spPr>
          <a:xfrm>
            <a:off x="28800" y="1110375"/>
            <a:ext cx="81390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Stacked graph for types of memory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Trash cans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show GC events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" name="Google Shape;2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800" y="3176725"/>
            <a:ext cx="8664781" cy="15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6"/>
          <p:cNvPicPr preferRelativeResize="0"/>
          <p:nvPr/>
        </p:nvPicPr>
        <p:blipFill rotWithShape="1">
          <a:blip r:embed="rId4">
            <a:alphaModFix/>
          </a:blip>
          <a:srcRect b="7259" l="0" r="0" t="12612"/>
          <a:stretch/>
        </p:blipFill>
        <p:spPr>
          <a:xfrm>
            <a:off x="2868000" y="1667500"/>
            <a:ext cx="6305550" cy="14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7"/>
          <p:cNvSpPr txBox="1"/>
          <p:nvPr>
            <p:ph idx="1" type="body"/>
          </p:nvPr>
        </p:nvSpPr>
        <p:spPr>
          <a:xfrm>
            <a:off x="169325" y="2486700"/>
            <a:ext cx="8851800" cy="19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(1) Force garbage collection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(2) Capture a heap dump and display its contents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00000"/>
                </a:solidFill>
              </a:rPr>
              <a:t>(3) Record memory allocations and display the recorded data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3" name="Google Shape;303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4" name="Google Shape;304;p47"/>
          <p:cNvPicPr preferRelativeResize="0"/>
          <p:nvPr/>
        </p:nvPicPr>
        <p:blipFill rotWithShape="1">
          <a:blip r:embed="rId3">
            <a:alphaModFix/>
          </a:blip>
          <a:srcRect b="78376" l="0" r="73631" t="0"/>
          <a:stretch/>
        </p:blipFill>
        <p:spPr>
          <a:xfrm>
            <a:off x="169325" y="1142300"/>
            <a:ext cx="2805875" cy="11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Recording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8"/>
          <p:cNvSpPr txBox="1"/>
          <p:nvPr>
            <p:ph idx="1" type="body"/>
          </p:nvPr>
        </p:nvSpPr>
        <p:spPr>
          <a:xfrm>
            <a:off x="83100" y="3986375"/>
            <a:ext cx="885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00000"/>
                </a:solidFill>
              </a:rPr>
              <a:t>(5) Allocation recording and heap dump results below timeline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1" name="Google Shape;311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2" name="Google Shape;312;p48"/>
          <p:cNvPicPr preferRelativeResize="0"/>
          <p:nvPr/>
        </p:nvPicPr>
        <p:blipFill rotWithShape="1">
          <a:blip r:embed="rId3">
            <a:alphaModFix/>
          </a:blip>
          <a:srcRect b="12971" l="0" r="41173" t="15915"/>
          <a:stretch/>
        </p:blipFill>
        <p:spPr>
          <a:xfrm>
            <a:off x="2803975" y="0"/>
            <a:ext cx="6259725" cy="380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8"/>
          <p:cNvSpPr txBox="1"/>
          <p:nvPr>
            <p:ph idx="1" type="body"/>
          </p:nvPr>
        </p:nvSpPr>
        <p:spPr>
          <a:xfrm>
            <a:off x="146100" y="1015300"/>
            <a:ext cx="2658000" cy="27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(4) Highlighted portion recorded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00000"/>
                </a:solidFill>
              </a:rPr>
              <a:t>Purple dots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are user actions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Viewing details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83100" y="1047175"/>
            <a:ext cx="5748300" cy="3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(6) Select class name to see instances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(7) Click instance to show either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stack trace for memory allocated (allocation recording),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or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remaining references to object (heap dump)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0" name="Google Shape;320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1" name="Google Shape;321;p49"/>
          <p:cNvPicPr preferRelativeResize="0"/>
          <p:nvPr/>
        </p:nvPicPr>
        <p:blipFill rotWithShape="1">
          <a:blip r:embed="rId3">
            <a:alphaModFix/>
          </a:blip>
          <a:srcRect b="4043" l="69623" r="0" t="14444"/>
          <a:stretch/>
        </p:blipFill>
        <p:spPr>
          <a:xfrm>
            <a:off x="5831350" y="0"/>
            <a:ext cx="3232351" cy="436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Dump Java heap</a:t>
            </a:r>
            <a:endParaRPr/>
          </a:p>
        </p:txBody>
      </p:sp>
      <p:sp>
        <p:nvSpPr>
          <p:cNvPr id="327" name="Google Shape;327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8" name="Google Shape;328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Dump Java heap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1"/>
          <p:cNvSpPr txBox="1"/>
          <p:nvPr>
            <p:ph idx="1" type="body"/>
          </p:nvPr>
        </p:nvSpPr>
        <p:spPr>
          <a:xfrm>
            <a:off x="169325" y="965050"/>
            <a:ext cx="4563600" cy="3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detail graph view, click </a:t>
            </a:r>
            <a:r>
              <a:rPr b="1" lang="en">
                <a:solidFill>
                  <a:srgbClr val="000000"/>
                </a:solidFill>
              </a:rPr>
              <a:t>Dump Java Heap</a:t>
            </a:r>
            <a:r>
              <a:rPr lang="en">
                <a:solidFill>
                  <a:srgbClr val="000000"/>
                </a:solidFill>
              </a:rPr>
              <a:t> button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 inspect dumped heap: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Click class name (1) then instance (2) to see details in </a:t>
            </a:r>
            <a:r>
              <a:rPr b="1" lang="en">
                <a:solidFill>
                  <a:srgbClr val="000000"/>
                </a:solidFill>
              </a:rPr>
              <a:t>Reference</a:t>
            </a:r>
            <a:r>
              <a:rPr lang="en">
                <a:solidFill>
                  <a:srgbClr val="000000"/>
                </a:solidFill>
              </a:rPr>
              <a:t> pane (3)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6" name="Google Shape;336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7" name="Google Shape;337;p51"/>
          <p:cNvPicPr preferRelativeResize="0"/>
          <p:nvPr/>
        </p:nvPicPr>
        <p:blipFill rotWithShape="1">
          <a:blip r:embed="rId3">
            <a:alphaModFix/>
          </a:blip>
          <a:srcRect b="0" l="55094" r="0" t="0"/>
          <a:stretch/>
        </p:blipFill>
        <p:spPr>
          <a:xfrm>
            <a:off x="2824200" y="1302775"/>
            <a:ext cx="10992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1"/>
          <p:cNvPicPr preferRelativeResize="0"/>
          <p:nvPr/>
        </p:nvPicPr>
        <p:blipFill rotWithShape="1">
          <a:blip r:embed="rId4">
            <a:alphaModFix/>
          </a:blip>
          <a:srcRect b="14964" l="27735" r="0" t="12037"/>
          <a:stretch/>
        </p:blipFill>
        <p:spPr>
          <a:xfrm>
            <a:off x="4823477" y="1024050"/>
            <a:ext cx="4320523" cy="36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 memory allocations</a:t>
            </a:r>
            <a:endParaRPr/>
          </a:p>
        </p:txBody>
      </p:sp>
      <p:sp>
        <p:nvSpPr>
          <p:cNvPr id="344" name="Google Shape;344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5" name="Google Shape;345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Record allocations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3"/>
          <p:cNvSpPr txBox="1"/>
          <p:nvPr>
            <p:ph idx="1" type="body"/>
          </p:nvPr>
        </p:nvSpPr>
        <p:spPr>
          <a:xfrm>
            <a:off x="169325" y="965050"/>
            <a:ext cx="5525100" cy="3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In detail graph view, click </a:t>
            </a:r>
            <a:br>
              <a:rPr lang="en">
                <a:solidFill>
                  <a:srgbClr val="000000"/>
                </a:solidFill>
              </a:rPr>
            </a:br>
            <a:r>
              <a:rPr b="1" lang="en">
                <a:solidFill>
                  <a:srgbClr val="000000"/>
                </a:solidFill>
              </a:rPr>
              <a:t>Record Memory Allocations</a:t>
            </a:r>
            <a:br>
              <a:rPr b="1" lang="en">
                <a:solidFill>
                  <a:srgbClr val="000000"/>
                </a:solidFill>
              </a:rPr>
            </a:br>
            <a:br>
              <a:rPr lang="en">
                <a:solidFill>
                  <a:srgbClr val="000000"/>
                </a:solidFill>
              </a:rPr>
            </a:br>
            <a:endParaRPr sz="6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Click </a:t>
            </a:r>
            <a:r>
              <a:rPr b="1" lang="en">
                <a:solidFill>
                  <a:srgbClr val="000000"/>
                </a:solidFill>
              </a:rPr>
              <a:t>Stop Recording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Graph shows recorded portion (1) and </a:t>
            </a:r>
            <a:r>
              <a:rPr b="1" lang="en">
                <a:solidFill>
                  <a:srgbClr val="000000"/>
                </a:solidFill>
              </a:rPr>
              <a:t>Class Name</a:t>
            </a:r>
            <a:r>
              <a:rPr lang="en">
                <a:solidFill>
                  <a:srgbClr val="000000"/>
                </a:solidFill>
              </a:rPr>
              <a:t> list (2)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4" name="Google Shape;354;p53"/>
          <p:cNvPicPr preferRelativeResize="0"/>
          <p:nvPr/>
        </p:nvPicPr>
        <p:blipFill rotWithShape="1">
          <a:blip r:embed="rId3">
            <a:alphaModFix/>
          </a:blip>
          <a:srcRect b="21014" l="55525" r="3374" t="29990"/>
          <a:stretch/>
        </p:blipFill>
        <p:spPr>
          <a:xfrm>
            <a:off x="4240075" y="1067700"/>
            <a:ext cx="1006100" cy="4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3"/>
          <p:cNvPicPr preferRelativeResize="0"/>
          <p:nvPr/>
        </p:nvPicPr>
        <p:blipFill rotWithShape="1">
          <a:blip r:embed="rId3">
            <a:alphaModFix/>
          </a:blip>
          <a:srcRect b="19224" l="57390" r="4861" t="31781"/>
          <a:stretch/>
        </p:blipFill>
        <p:spPr>
          <a:xfrm>
            <a:off x="3703450" y="2438200"/>
            <a:ext cx="924000" cy="4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3"/>
          <p:cNvSpPr/>
          <p:nvPr/>
        </p:nvSpPr>
        <p:spPr>
          <a:xfrm>
            <a:off x="4147675" y="2438195"/>
            <a:ext cx="143700" cy="164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53"/>
          <p:cNvPicPr preferRelativeResize="0"/>
          <p:nvPr/>
        </p:nvPicPr>
        <p:blipFill rotWithShape="1">
          <a:blip r:embed="rId4">
            <a:alphaModFix/>
          </a:blip>
          <a:srcRect b="10824" l="0" r="62799" t="34863"/>
          <a:stretch/>
        </p:blipFill>
        <p:spPr>
          <a:xfrm>
            <a:off x="5780025" y="1023550"/>
            <a:ext cx="3211575" cy="35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Find allocations in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4"/>
          <p:cNvSpPr txBox="1"/>
          <p:nvPr>
            <p:ph idx="1" type="body"/>
          </p:nvPr>
        </p:nvSpPr>
        <p:spPr>
          <a:xfrm>
            <a:off x="169325" y="1574650"/>
            <a:ext cx="4994700" cy="20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Click instance (3)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Click method in </a:t>
            </a:r>
            <a:r>
              <a:rPr b="1" lang="en">
                <a:solidFill>
                  <a:srgbClr val="000000"/>
                </a:solidFill>
              </a:rPr>
              <a:t>Call Stack</a:t>
            </a:r>
            <a:r>
              <a:rPr lang="en">
                <a:solidFill>
                  <a:srgbClr val="000000"/>
                </a:solidFill>
              </a:rPr>
              <a:t> (4)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Examine code (5)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4" name="Google Shape;364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5" name="Google Shape;365;p54"/>
          <p:cNvPicPr preferRelativeResize="0"/>
          <p:nvPr/>
        </p:nvPicPr>
        <p:blipFill rotWithShape="1">
          <a:blip r:embed="rId3">
            <a:alphaModFix/>
          </a:blip>
          <a:srcRect b="18542" l="44359" r="20378" t="15728"/>
          <a:stretch/>
        </p:blipFill>
        <p:spPr>
          <a:xfrm>
            <a:off x="5705642" y="0"/>
            <a:ext cx="3315508" cy="4640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71" name="Google Shape;371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55"/>
          <p:cNvSpPr txBox="1"/>
          <p:nvPr/>
        </p:nvSpPr>
        <p:spPr>
          <a:xfrm>
            <a:off x="311700" y="1868500"/>
            <a:ext cx="8520600" cy="14169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4.2 Memory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4.2 Using the Memory Profiler tool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378" name="Google Shape;378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9" name="Google Shape;379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