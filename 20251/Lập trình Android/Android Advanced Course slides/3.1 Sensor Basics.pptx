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2A63DB-8A8D-40EA-91EC-2F0167740817}">
  <a:tblStyle styleId="{B42A63DB-8A8D-40EA-91EC-2F01677408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7F7F7"/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-regular.fntdata"/><Relationship Id="rId47" Type="http://schemas.openxmlformats.org/officeDocument/2006/relationships/slide" Target="slides/slide41.xml"/><Relationship Id="rId49" Type="http://schemas.openxmlformats.org/officeDocument/2006/relationships/font" Target="fonts/Robo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5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54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5d25bd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5d25bd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c13baae0_3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8c13baae0_3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c13baae0_3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c13baae0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c13baae0_3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c13baae0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c13baae0_3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c13baae0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c13baae0_3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c13baae0_3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c13baae0_3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c13baae0_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c13baae0_3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c13baae0_3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c13baae0_3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c13baae0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c13baae0_3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c13baae0_3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c13baae0_3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c13baae0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c13baae0_3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c13baae0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02326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02326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c13baae0_3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c13baae0_3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c13baae0_3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8c13baae0_3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c13baae0_3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8c13baae0_3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c13baae0_3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c13baae0_3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c13baae0_3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8c13baae0_3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c13baae0_3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c13baae0_3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c13baae0_3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c13baae0_3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c13baae0_3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8c13baae0_3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c13baae0_3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8c13baae0_3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c13baae0_3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c13baae0_3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8c13baae0_3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8c13baae0_3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8c13baae0_3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8c13baae0_3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8c13baae0_3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8c13baae0_3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c13baae0_3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8c13baae0_3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8c13baae0_3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8c13baae0_3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8c13baae0_3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8c13baae0_3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c13baae0_3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8c13baae0_3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c13baae0_3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8c13baae0_3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8c13baae0_3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8c13baae0_3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8c13baae0_3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8c13baae0_3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c13baae0_3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8c13baae0_3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c13baae0_3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8c13baae0_3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c13baae0_3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8c13baae0_3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c13baae0_3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8c13baae0_3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c13baae0_3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8c13baae0_3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c13baae0_3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8c13baae0_3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8c13baae0_3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8c13baae0_3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c13baae0_3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8c13baae0_3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f5d25bda4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f5d25bda4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4407225" y="476498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Sensors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4407225" y="476498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Sensors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2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76498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Sensors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407225" y="4764984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Sensors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android.com/reference/android/hardware/SensorManager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hardware/Sensor.html" TargetMode="External"/><Relationship Id="rId4" Type="http://schemas.openxmlformats.org/officeDocument/2006/relationships/hyperlink" Target="https://developer.android.com/reference/android/hardware/SensorEvent.html" TargetMode="External"/><Relationship Id="rId5" Type="http://schemas.openxmlformats.org/officeDocument/2006/relationships/hyperlink" Target="https://developer.android.com/reference/android/hardware/SensorEventListener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reference/android/hardware/Sensor.html#TYPE_ACCELEROMETER" TargetMode="External"/><Relationship Id="rId4" Type="http://schemas.openxmlformats.org/officeDocument/2006/relationships/hyperlink" Target="https://developer.android.com/reference/android/hardware/Sensor.html#TYPE_AMBIENT_TEMPERATURE" TargetMode="External"/><Relationship Id="rId9" Type="http://schemas.openxmlformats.org/officeDocument/2006/relationships/hyperlink" Target="https://developer.android.com/reference/android/hardware/Sensor.html#TYPE_MAGNETIC_FIELD" TargetMode="External"/><Relationship Id="rId5" Type="http://schemas.openxmlformats.org/officeDocument/2006/relationships/hyperlink" Target="https://developer.android.com/reference/android/hardware/Sensor.html#TYPE_GRAVITY" TargetMode="External"/><Relationship Id="rId6" Type="http://schemas.openxmlformats.org/officeDocument/2006/relationships/hyperlink" Target="https://developer.android.com/reference/android/hardware/Sensor.html#TYPE_GYROSCOPE" TargetMode="External"/><Relationship Id="rId7" Type="http://schemas.openxmlformats.org/officeDocument/2006/relationships/hyperlink" Target="https://developer.android.com/reference/android/hardware/Sensor.html#TYPE_LIGHT" TargetMode="External"/><Relationship Id="rId8" Type="http://schemas.openxmlformats.org/officeDocument/2006/relationships/hyperlink" Target="https://developer.android.com/reference/android/hardware/Sensor.html#TYPE_LINEAR_ACCELERATIO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android.com/reference/android/hardware/SensorManager.html" TargetMode="External"/><Relationship Id="rId4" Type="http://schemas.openxmlformats.org/officeDocument/2006/relationships/hyperlink" Target="https://developer.android.com/reference/android/content/Context.html#getSystemService(java.lang.Class%3CT%3E)" TargetMode="External"/><Relationship Id="rId5" Type="http://schemas.openxmlformats.org/officeDocument/2006/relationships/hyperlink" Target="https://developer.android.com/reference/android/content/Context.html#SENSOR_SERVIC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.android.com/reference/android/hardware/SensorManager.html#getSensorList(int)" TargetMode="External"/><Relationship Id="rId4" Type="http://schemas.openxmlformats.org/officeDocument/2006/relationships/hyperlink" Target="https://developer.android.com/reference/android/hardware/Sensor.html#TYPE_ALL" TargetMode="External"/><Relationship Id="rId5" Type="http://schemas.openxmlformats.org/officeDocument/2006/relationships/hyperlink" Target="https://developer.android.com/reference/android/hardware/Sensor.html#TYPE_PROXIMITY" TargetMode="External"/><Relationship Id="rId6" Type="http://schemas.openxmlformats.org/officeDocument/2006/relationships/hyperlink" Target="https://developer.android.com/reference/android/hardware/Sensor.html#TYPE_GYROSCOPE" TargetMode="External"/><Relationship Id="rId7" Type="http://schemas.openxmlformats.org/officeDocument/2006/relationships/hyperlink" Target="https://developer.android.com/reference/android/hardware/Sensor.html#TYPE_GRAVITY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reference/android/hardware/Sensor.html" TargetMode="External"/><Relationship Id="rId4" Type="http://schemas.openxmlformats.org/officeDocument/2006/relationships/hyperlink" Target="https://developer.android.com/reference/android/hardware/Sensor.html#getResolution()" TargetMode="External"/><Relationship Id="rId9" Type="http://schemas.openxmlformats.org/officeDocument/2006/relationships/hyperlink" Target="https://developer.android.com/reference/android/hardware/Sensor.html#getMinDelay()" TargetMode="External"/><Relationship Id="rId5" Type="http://schemas.openxmlformats.org/officeDocument/2006/relationships/hyperlink" Target="https://developer.android.com/reference/android/hardware/Sensor.html#getMaximumRange()" TargetMode="External"/><Relationship Id="rId6" Type="http://schemas.openxmlformats.org/officeDocument/2006/relationships/hyperlink" Target="https://developer.android.com/reference/android/hardware/Sensor.html#getPower()" TargetMode="External"/><Relationship Id="rId7" Type="http://schemas.openxmlformats.org/officeDocument/2006/relationships/hyperlink" Target="https://developer.android.com/reference/android/hardware/Sensor.html#getVendor()" TargetMode="External"/><Relationship Id="rId8" Type="http://schemas.openxmlformats.org/officeDocument/2006/relationships/hyperlink" Target="https://developer.android.com/reference/android/hardware/Sensor.html#getVersion()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eveloper.android.com/guide/topics/manifest/uses-feature-element.html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android.com/reference/android/hardware/SensorManager.html#getDefaultSensor(int)" TargetMode="External"/><Relationship Id="rId4" Type="http://schemas.openxmlformats.org/officeDocument/2006/relationships/hyperlink" Target="https://developer.android.com/reference/android/hardware/Sensor.html#TYPE_PROXIMITY" TargetMode="External"/><Relationship Id="rId5" Type="http://schemas.openxmlformats.org/officeDocument/2006/relationships/hyperlink" Target="https://developer.android.com/reference/android/hardware/Sensor.html#TYPE_GYROSCOPE" TargetMode="External"/><Relationship Id="rId6" Type="http://schemas.openxmlformats.org/officeDocument/2006/relationships/hyperlink" Target="https://developer.android.com/reference/android/hardware/Sensor.html#TYPE_GRAVITY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developer.android.com/reference/android/hardware/SensorEventListener.html" TargetMode="External"/><Relationship Id="rId4" Type="http://schemas.openxmlformats.org/officeDocument/2006/relationships/hyperlink" Target="https://developer.android.com/reference/android/hardware/SensorEventListener.html#onSensorChanged(android.hardware.SensorEvent)" TargetMode="External"/><Relationship Id="rId5" Type="http://schemas.openxmlformats.org/officeDocument/2006/relationships/hyperlink" Target="https://developer.android.com/reference/android/hardware/SensorEventListener.html#onAccuracyChanged(android.hardware.Sensor,%20int)" TargetMode="External"/><Relationship Id="rId6" Type="http://schemas.openxmlformats.org/officeDocument/2006/relationships/hyperlink" Target="https://developer.android.com/reference/android/hardware/SensorEvent.html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eveloper.android.com/reference/android/hardware/SensorManager.html#SENSOR_STATUS_ACCURACY_LOW" TargetMode="External"/><Relationship Id="rId4" Type="http://schemas.openxmlformats.org/officeDocument/2006/relationships/hyperlink" Target="https://developer.android.com/reference/android/hardware/SensorManager.html#SENSOR_STATUS_ACCURACY_MEDIUM" TargetMode="External"/><Relationship Id="rId5" Type="http://schemas.openxmlformats.org/officeDocument/2006/relationships/hyperlink" Target="https://developer.android.com/reference/android/hardware/SensorManager.html#SENSOR_STATUS_ACCURACY_HIGH" TargetMode="External"/><Relationship Id="rId6" Type="http://schemas.openxmlformats.org/officeDocument/2006/relationships/hyperlink" Target="https://developer.android.com/reference/android/hardware/SensorManager.html#SENSOR_STATUS_UNRELIABLE" TargetMode="External"/><Relationship Id="rId7" Type="http://schemas.openxmlformats.org/officeDocument/2006/relationships/hyperlink" Target="https://developer.android.com/reference/android/hardware/SensorManager.html#SENSOR_STATUS_NO_CONTACT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eveloper.android.com/reference/android/hardware/SensorEventListener.html#onSensorChanged(android.hardware.SensorEvent)" TargetMode="External"/><Relationship Id="rId4" Type="http://schemas.openxmlformats.org/officeDocument/2006/relationships/hyperlink" Target="https://developer.android.com/reference/android/hardware/SensorEvent.html" TargetMode="External"/><Relationship Id="rId5" Type="http://schemas.openxmlformats.org/officeDocument/2006/relationships/hyperlink" Target="https://developer.android.com/reference/android/hardware/SensorEvent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google-developer-training.gitbooks.io/android-developer-advanced-course-concepts/content/unit-1-expand-the-user-experience/lesson-3-sensors/3-1-c-sensor-basics/3-1-c-sensor-basics.html" TargetMode="External"/><Relationship Id="rId4" Type="http://schemas.openxmlformats.org/officeDocument/2006/relationships/hyperlink" Target="https://google-developer-training.gitbooks.io/android-developer-advanced-course-practicals/content/unit-1-expand-the-user-experience/lesson-3-sensors/3-1-p-working-with-sensor-data/3-1-p-working-with-sensor-data.html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3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3.1 Sensor basics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 motion, orientation, and </a:t>
            </a:r>
            <a:br>
              <a:rPr lang="en"/>
            </a:br>
            <a:r>
              <a:rPr lang="en"/>
              <a:t>environmental conditions</a:t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33600" y="1205800"/>
            <a:ext cx="8476800" cy="31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Categories and types of sensors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Emulating sensors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Android sensor framework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Discovering sensors and sensor capabilities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Handling sensor configurations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Monitoring sensor events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Categories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types of sensors</a:t>
            </a:r>
            <a:endParaRPr/>
          </a:p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Sensor basics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Categories of sensors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076275"/>
            <a:ext cx="460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Motion sensors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Environmental sensors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Position sensors</a:t>
            </a:r>
            <a:endParaRPr/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1150" y="995950"/>
            <a:ext cx="3880501" cy="3577051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Motion sensors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076275"/>
            <a:ext cx="460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Measure device motion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Accelerometers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Gravity sensors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Gyroscopes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Rotational vector sensors</a:t>
            </a:r>
            <a:endParaRPr/>
          </a:p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2225" y="1393695"/>
            <a:ext cx="3920100" cy="2561009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sensors</a:t>
            </a:r>
            <a:endParaRPr/>
          </a:p>
        </p:txBody>
      </p:sp>
      <p:sp>
        <p:nvSpPr>
          <p:cNvPr id="184" name="Google Shape;184;p31"/>
          <p:cNvSpPr txBox="1"/>
          <p:nvPr>
            <p:ph idx="1" type="body"/>
          </p:nvPr>
        </p:nvSpPr>
        <p:spPr>
          <a:xfrm>
            <a:off x="311700" y="1076275"/>
            <a:ext cx="460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Measure environmental conditions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Barometers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Photometers (light sensors)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Thermometers</a:t>
            </a:r>
            <a:endParaRPr/>
          </a:p>
        </p:txBody>
      </p:sp>
      <p:sp>
        <p:nvSpPr>
          <p:cNvPr id="185" name="Google Shape;185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" name="Google Shape;1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725" y="1149695"/>
            <a:ext cx="3920100" cy="29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 sensors</a:t>
            </a:r>
            <a:endParaRPr/>
          </a:p>
        </p:txBody>
      </p:sp>
      <p:sp>
        <p:nvSpPr>
          <p:cNvPr id="192" name="Google Shape;192;p32"/>
          <p:cNvSpPr txBox="1"/>
          <p:nvPr>
            <p:ph idx="1" type="body"/>
          </p:nvPr>
        </p:nvSpPr>
        <p:spPr>
          <a:xfrm>
            <a:off x="389775" y="1323025"/>
            <a:ext cx="4870800" cy="31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Measure physical position of device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Magnetometers </a:t>
            </a:r>
            <a:br>
              <a:rPr lang="en"/>
            </a:br>
            <a:r>
              <a:rPr lang="en"/>
              <a:t>(geomagnetic field sensors)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Proximity sensors</a:t>
            </a:r>
            <a:endParaRPr/>
          </a:p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4" name="Google Shape;19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7275" y="1406745"/>
            <a:ext cx="2819400" cy="287655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sensors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Sensor types supported by the Android platform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Hardware-based sensors 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Software-based sensors  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Hardware-based sensors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Physical component built into device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Derives data by directly measuring specific properties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Examples: </a:t>
            </a:r>
            <a:br>
              <a:rPr lang="en"/>
            </a:br>
            <a:r>
              <a:rPr lang="en"/>
              <a:t>light sensor, proximity  sensor, </a:t>
            </a:r>
            <a:br>
              <a:rPr lang="en"/>
            </a:br>
            <a:r>
              <a:rPr lang="en"/>
              <a:t>magnetometer, accelerometer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08" name="Google Shape;208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Software-based sensors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Software: virtual or composite sensor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Derives data from one or more hardware sensors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Examples: linear acceleration, orientation. 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15" name="Google Shape;215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availability</a:t>
            </a:r>
            <a:endParaRPr/>
          </a:p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>
            <a:off x="311700" y="1022500"/>
            <a:ext cx="8520600" cy="347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Sensor availability varies from device to device, it can also vary between Android versions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Most devices have accelerometer and magnetometer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Some devices have barometers or thermometers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Device can have more than one sensor of a given type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Availability varies between Android versions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22" name="Google Shape;222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7"/>
          <p:cNvSpPr txBox="1"/>
          <p:nvPr>
            <p:ph type="title"/>
          </p:nvPr>
        </p:nvSpPr>
        <p:spPr>
          <a:xfrm>
            <a:off x="265500" y="1233175"/>
            <a:ext cx="4045200" cy="22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Emulating sensors</a:t>
            </a:r>
            <a:endParaRPr/>
          </a:p>
        </p:txBody>
      </p:sp>
      <p:sp>
        <p:nvSpPr>
          <p:cNvPr id="228" name="Google Shape;228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9" name="Google Shape;229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 and Android emulator</a:t>
            </a:r>
            <a:endParaRPr/>
          </a:p>
        </p:txBody>
      </p:sp>
      <p:sp>
        <p:nvSpPr>
          <p:cNvPr id="235" name="Google Shape;235;p38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Virtual sensor controls for testing: </a:t>
            </a:r>
            <a:br>
              <a:rPr lang="en">
                <a:solidFill>
                  <a:schemeClr val="dk1"/>
                </a:solidFill>
                <a:highlight>
                  <a:schemeClr val="lt1"/>
                </a:highlight>
              </a:rPr>
            </a:b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In emulator, use the panel on the right side, select </a:t>
            </a: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... &gt; Virtual sensors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Accelerometer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tab: </a:t>
            </a:r>
            <a:b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chemeClr val="lt1"/>
                </a:highlight>
              </a:rPr>
              <a:t>Test app for changes in device position and/or orientation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Additional sensors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tab: </a:t>
            </a:r>
            <a:b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Simulate position and environment sensors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36" name="Google Shape;236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 and Android emulator</a:t>
            </a:r>
            <a:endParaRPr/>
          </a:p>
        </p:txBody>
      </p:sp>
      <p:sp>
        <p:nvSpPr>
          <p:cNvPr id="242" name="Google Shape;242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" name="Google Shape;24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425" y="1007324"/>
            <a:ext cx="4731149" cy="36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Emulator: Accelerometer tab</a:t>
            </a:r>
            <a:endParaRPr/>
          </a:p>
        </p:txBody>
      </p:sp>
      <p:sp>
        <p:nvSpPr>
          <p:cNvPr id="249" name="Google Shape;249;p40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Simulates device motion such as tilt and rotation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Simulates the way accelerometers and magnetometers respond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en">
                <a:solidFill>
                  <a:srgbClr val="000000"/>
                </a:solidFill>
                <a:highlight>
                  <a:srgbClr val="FFFFFF"/>
                </a:highlight>
              </a:rPr>
              <a:t>Resulting Values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fields show values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app can access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50" name="Google Shape;250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" name="Google Shape;251;p40"/>
          <p:cNvPicPr preferRelativeResize="0"/>
          <p:nvPr/>
        </p:nvPicPr>
        <p:blipFill rotWithShape="1">
          <a:blip r:embed="rId3">
            <a:alphaModFix/>
          </a:blip>
          <a:srcRect b="0" l="0" r="2152" t="0"/>
          <a:stretch/>
        </p:blipFill>
        <p:spPr>
          <a:xfrm>
            <a:off x="5879550" y="2939425"/>
            <a:ext cx="28891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Emulator: Additional sensors tab</a:t>
            </a:r>
            <a:endParaRPr/>
          </a:p>
        </p:txBody>
      </p:sp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Ambient temperature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Magnetic field at the </a:t>
            </a:r>
            <a:r>
              <a:rPr i="1" lang="en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-axis, </a:t>
            </a:r>
            <a:r>
              <a:rPr i="1" lang="en">
                <a:solidFill>
                  <a:srgbClr val="000000"/>
                </a:solidFill>
                <a:highlight>
                  <a:srgbClr val="FFFFFF"/>
                </a:highlight>
              </a:rPr>
              <a:t>y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-axis, and </a:t>
            </a:r>
            <a:r>
              <a:rPr i="1" lang="en">
                <a:solidFill>
                  <a:srgbClr val="000000"/>
                </a:solidFill>
                <a:highlight>
                  <a:srgbClr val="FFFFFF"/>
                </a:highlight>
              </a:rPr>
              <a:t>z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-axis.</a:t>
            </a:r>
            <a:b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Values are in microtesla (μT)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Proximity: Distance of device from object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Light: Measures illuminance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Pressure: Measures ambient air pressure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Relative humidity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58" name="Google Shape;258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265500" y="1233175"/>
            <a:ext cx="4045200" cy="22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sensor framework</a:t>
            </a:r>
            <a:endParaRPr/>
          </a:p>
        </p:txBody>
      </p:sp>
      <p:sp>
        <p:nvSpPr>
          <p:cNvPr id="264" name="Google Shape;264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5" name="Google Shape;265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Framework classes and interfaces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311700" y="1180775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SensorManager</a:t>
            </a:r>
            <a:endParaRPr sz="30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Access and listen to sensors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Register and unregister sensor event listeners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Acquire orientation information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Provides constants for accuracy, data acquisition rates, and calibration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9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72" name="Google Shape;272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Important framework classes</a:t>
            </a:r>
            <a:endParaRPr/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</a:t>
            </a:r>
            <a:r>
              <a:rPr lang="en">
                <a:solidFill>
                  <a:srgbClr val="000000"/>
                </a:solidFill>
              </a:rPr>
              <a:t>: Determine specific sensor's capabilities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SensorEvent</a:t>
            </a:r>
            <a:r>
              <a:rPr lang="en">
                <a:solidFill>
                  <a:srgbClr val="000000"/>
                </a:solidFill>
              </a:rPr>
              <a:t>: Info about event, including raw sensor data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9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SensorEventListener</a:t>
            </a:r>
            <a:r>
              <a:rPr lang="en">
                <a:solidFill>
                  <a:srgbClr val="000000"/>
                </a:solidFill>
              </a:rPr>
              <a:t>: Receives notifications about sensor events 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When sensor has new data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When sensor accuracy changes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79" name="Google Shape;279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 class types and typical uses</a:t>
            </a:r>
            <a:endParaRPr/>
          </a:p>
        </p:txBody>
      </p:sp>
      <p:sp>
        <p:nvSpPr>
          <p:cNvPr id="285" name="Google Shape;285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86" name="Google Shape;286;p45"/>
          <p:cNvGraphicFramePr/>
          <p:nvPr/>
        </p:nvGraphicFramePr>
        <p:xfrm>
          <a:off x="238425" y="97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{B42A63DB-8A8D-40EA-91EC-2F0167740817}</a:tableStyleId>
              </a:tblPr>
              <a:tblGrid>
                <a:gridCol w="3664250"/>
                <a:gridCol w="4856350"/>
              </a:tblGrid>
              <a:tr h="571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TYPE_ACCELEROMETER</a:t>
                      </a:r>
                      <a:endParaRPr sz="2000">
                        <a:solidFill>
                          <a:schemeClr val="accent5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47625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Detecting motion (shake, tilt, etc.)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100" marB="63100" marR="63100" marL="631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TYPE_AMBIENT_TEMPERATURE</a:t>
                      </a:r>
                      <a:endParaRPr sz="2000">
                        <a:solidFill>
                          <a:schemeClr val="accent5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Monitoring air temperature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TYPE_GRAVITY</a:t>
                      </a:r>
                      <a:endParaRPr sz="2000">
                        <a:solidFill>
                          <a:schemeClr val="accent5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Detecting motion (shake, tilt, etc.)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TYPE_GYROSCOPE</a:t>
                      </a:r>
                      <a:endParaRPr sz="2000">
                        <a:solidFill>
                          <a:schemeClr val="accent5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Detecting rotation (spin, turn, etc.)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TYPE_LIGHT</a:t>
                      </a:r>
                      <a:endParaRPr sz="2000">
                        <a:solidFill>
                          <a:schemeClr val="accent5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Controlling screen brightness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TYPE_LINEAR_ACCELERATION</a:t>
                      </a:r>
                      <a:endParaRPr sz="2000">
                        <a:solidFill>
                          <a:schemeClr val="accent5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Monitoring acceleration along single axis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9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 u="sng">
                          <a:solidFill>
                            <a:schemeClr val="accent5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TYPE_MAGNETIC_FIELD</a:t>
                      </a:r>
                      <a:endParaRPr sz="2000">
                        <a:solidFill>
                          <a:schemeClr val="accent5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" sz="20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Creating a compass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38100" marB="38100" marR="114300" marL="114300">
                    <a:lnL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sensors</a:t>
            </a:r>
            <a:endParaRPr/>
          </a:p>
        </p:txBody>
      </p:sp>
      <p:sp>
        <p:nvSpPr>
          <p:cNvPr id="292" name="Google Shape;292;p46"/>
          <p:cNvSpPr txBox="1"/>
          <p:nvPr>
            <p:ph idx="1" type="body"/>
          </p:nvPr>
        </p:nvSpPr>
        <p:spPr>
          <a:xfrm>
            <a:off x="311700" y="1036550"/>
            <a:ext cx="8520600" cy="365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Determine which sensors are available on device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Determine an individual sensor's capabilities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Maximum range, manufacturer, power requirements, resolution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Register sensor event listeners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Acquire raw sensor data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Also define minimum rate for acquiring sensor data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Unregister sensor event listeners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93" name="Google Shape;293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/>
          <p:nvPr>
            <p:ph type="title"/>
          </p:nvPr>
        </p:nvSpPr>
        <p:spPr>
          <a:xfrm>
            <a:off x="265500" y="1233175"/>
            <a:ext cx="4045200" cy="22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Discovering sensors and capabilities</a:t>
            </a:r>
            <a:endParaRPr/>
          </a:p>
        </p:txBody>
      </p:sp>
      <p:sp>
        <p:nvSpPr>
          <p:cNvPr id="299" name="Google Shape;299;p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0" name="Google Shape;300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sensors</a:t>
            </a:r>
            <a:endParaRPr/>
          </a:p>
        </p:txBody>
      </p:sp>
      <p:sp>
        <p:nvSpPr>
          <p:cNvPr id="306" name="Google Shape;306;p48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Create an instance of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SensorManager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Call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getSystemService()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Pass in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SENSOR_SERVICE</a:t>
            </a:r>
            <a:r>
              <a:rPr lang="en">
                <a:solidFill>
                  <a:srgbClr val="000000"/>
                </a:solidFill>
              </a:rPr>
              <a:t> argument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mSensorManager = (SensorManager) 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getSystemService(Context.SENSOR_SERVICE);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07" name="Google Shape;307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list of sensors</a:t>
            </a:r>
            <a:endParaRPr/>
          </a:p>
        </p:txBody>
      </p:sp>
      <p:sp>
        <p:nvSpPr>
          <p:cNvPr id="313" name="Google Shape;313;p49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getSensorList()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To get all device sensors, 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TYPE_ALL</a:t>
            </a:r>
            <a:r>
              <a:rPr lang="en"/>
              <a:t> constant</a:t>
            </a:r>
            <a:endParaRPr>
              <a:solidFill>
                <a:schemeClr val="accent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List&lt;Sensor&gt; deviceSensors = 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mSensorManager.getSensorList(Sensor.TYPE_ALL);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To get sensors of specific type, use a constant such as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TYPE_PROXIMITY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TYPE_GYROSCOPE</a:t>
            </a:r>
            <a:r>
              <a:rPr lang="en">
                <a:solidFill>
                  <a:schemeClr val="dk1"/>
                </a:solidFill>
              </a:rPr>
              <a:t>, or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TYPE_GRAVITY</a:t>
            </a:r>
            <a:endParaRPr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Identify sensor features</a:t>
            </a:r>
            <a:endParaRPr/>
          </a:p>
        </p:txBody>
      </p:sp>
      <p:sp>
        <p:nvSpPr>
          <p:cNvPr id="320" name="Google Shape;320;p50"/>
          <p:cNvSpPr txBox="1"/>
          <p:nvPr>
            <p:ph idx="1" type="body"/>
          </p:nvPr>
        </p:nvSpPr>
        <p:spPr>
          <a:xfrm>
            <a:off x="311700" y="1024375"/>
            <a:ext cx="8520600" cy="346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</a:t>
            </a:r>
            <a:r>
              <a:rPr lang="en">
                <a:solidFill>
                  <a:srgbClr val="000000"/>
                </a:solidFill>
              </a:rPr>
              <a:t> class methods</a:t>
            </a:r>
            <a:endParaRPr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getResolution()</a:t>
            </a:r>
            <a:r>
              <a:rPr lang="en" sz="2000">
                <a:solidFill>
                  <a:srgbClr val="000000"/>
                </a:solidFill>
              </a:rPr>
              <a:t> for sensor resolution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getMaximumRange()</a:t>
            </a:r>
            <a:r>
              <a:rPr lang="en" sz="2000">
                <a:solidFill>
                  <a:srgbClr val="000000"/>
                </a:solidFill>
              </a:rPr>
              <a:t> for maximum range of measurement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getPower()</a:t>
            </a:r>
            <a:r>
              <a:rPr lang="en" sz="2000">
                <a:solidFill>
                  <a:srgbClr val="000000"/>
                </a:solidFill>
              </a:rPr>
              <a:t> for sensor's power requirements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getVendor()</a:t>
            </a:r>
            <a:r>
              <a:rPr lang="en" sz="2000">
                <a:solidFill>
                  <a:schemeClr val="dk1"/>
                </a:solidFill>
              </a:rPr>
              <a:t> and </a:t>
            </a: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getVersion()</a:t>
            </a:r>
            <a:r>
              <a:rPr lang="en" sz="2000">
                <a:solidFill>
                  <a:schemeClr val="dk1"/>
                </a:solidFill>
              </a:rPr>
              <a:t> to optimize for different sensors or different versions of sensor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2000"/>
              <a:buChar char="●"/>
            </a:pPr>
            <a:r>
              <a:rPr lang="en" sz="20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getMinDelay()</a:t>
            </a:r>
            <a:r>
              <a:rPr lang="en" sz="2000">
                <a:solidFill>
                  <a:schemeClr val="dk1"/>
                </a:solidFill>
              </a:rPr>
              <a:t> to determine maximum rate at which sensor can acquire data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21" name="Google Shape;321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Identify magnetometer sensor</a:t>
            </a:r>
            <a:endParaRPr/>
          </a:p>
        </p:txBody>
      </p:sp>
      <p:sp>
        <p:nvSpPr>
          <p:cNvPr id="327" name="Google Shape;327;p51"/>
          <p:cNvSpPr txBox="1"/>
          <p:nvPr>
            <p:ph idx="1" type="body"/>
          </p:nvPr>
        </p:nvSpPr>
        <p:spPr>
          <a:xfrm>
            <a:off x="311700" y="1123400"/>
            <a:ext cx="8520600" cy="3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private SensorManager mSensorManager;</a:t>
            </a:r>
            <a:endParaRPr sz="20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 sz="20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mSensorManager = (SensorManager) </a:t>
            </a:r>
            <a:endParaRPr sz="20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                 getSystemService(Context.SENSOR_SERVICE);</a:t>
            </a:r>
            <a:endParaRPr sz="20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(mSensorManager.getDefaultSensor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(Sensor.TYPE_MAGNETIC_FIELD) != null){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0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// Success! There's a magnetometer.</a:t>
            </a:r>
            <a:endParaRPr sz="20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0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// Failure! No magnetometer.</a:t>
            </a:r>
            <a:endParaRPr sz="20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2"/>
          <p:cNvSpPr txBox="1"/>
          <p:nvPr>
            <p:ph type="title"/>
          </p:nvPr>
        </p:nvSpPr>
        <p:spPr>
          <a:xfrm>
            <a:off x="265500" y="1233175"/>
            <a:ext cx="4045200" cy="22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different sensor configurations</a:t>
            </a:r>
            <a:endParaRPr/>
          </a:p>
        </p:txBody>
      </p:sp>
      <p:sp>
        <p:nvSpPr>
          <p:cNvPr id="334" name="Google Shape;334;p5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5" name="Google Shape;335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Google Play filters to target devices</a:t>
            </a:r>
            <a:endParaRPr/>
          </a:p>
        </p:txBody>
      </p:sp>
      <p:sp>
        <p:nvSpPr>
          <p:cNvPr id="341" name="Google Shape;341;p53"/>
          <p:cNvSpPr txBox="1"/>
          <p:nvPr>
            <p:ph idx="1" type="body"/>
          </p:nvPr>
        </p:nvSpPr>
        <p:spPr>
          <a:xfrm>
            <a:off x="311700" y="1024375"/>
            <a:ext cx="8520600" cy="3468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Google Play filters target specific sensor configurations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Filter app from devices that don't have sensor configuration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&lt;uses-feature&gt;</a:t>
            </a:r>
            <a:r>
              <a:rPr lang="en">
                <a:solidFill>
                  <a:schemeClr val="dk1"/>
                </a:solidFill>
              </a:rPr>
              <a:t> in Android manifest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&lt;uses-feature 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android:name="android.hardware.sensor.accelerometer"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android:required="true" /&gt;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Detecting sensors at runtime</a:t>
            </a:r>
            <a:endParaRPr/>
          </a:p>
        </p:txBody>
      </p:sp>
      <p:sp>
        <p:nvSpPr>
          <p:cNvPr id="348" name="Google Shape;348;p54"/>
          <p:cNvSpPr txBox="1"/>
          <p:nvPr>
            <p:ph idx="1" type="body"/>
          </p:nvPr>
        </p:nvSpPr>
        <p:spPr>
          <a:xfrm>
            <a:off x="311700" y="870101"/>
            <a:ext cx="8520600" cy="3622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Detect sensors at runtime to turn off app features as appropriate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getDefaultSensor()</a:t>
            </a:r>
            <a:r>
              <a:rPr lang="en">
                <a:solidFill>
                  <a:srgbClr val="000000"/>
                </a:solidFill>
              </a:rPr>
              <a:t> and pass in type constant for  specific sensor such as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TYPE_PROXIMITY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TYPE_GYROSCOPE</a:t>
            </a:r>
            <a:r>
              <a:rPr lang="en">
                <a:solidFill>
                  <a:schemeClr val="dk1"/>
                </a:solidFill>
              </a:rPr>
              <a:t>, or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TYPE_GRAVITY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If there are more than one sensor for a given type, system designates one as default 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If none of that type exist, method returns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" name="Google Shape;349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"/>
          <p:cNvSpPr txBox="1"/>
          <p:nvPr>
            <p:ph type="title"/>
          </p:nvPr>
        </p:nvSpPr>
        <p:spPr>
          <a:xfrm>
            <a:off x="265500" y="891300"/>
            <a:ext cx="4045200" cy="221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 sensor events</a:t>
            </a:r>
            <a:endParaRPr/>
          </a:p>
        </p:txBody>
      </p:sp>
      <p:sp>
        <p:nvSpPr>
          <p:cNvPr id="355" name="Google Shape;355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6" name="Google Shape;356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listener for sensor event</a:t>
            </a:r>
            <a:endParaRPr/>
          </a:p>
        </p:txBody>
      </p:sp>
      <p:sp>
        <p:nvSpPr>
          <p:cNvPr id="362" name="Google Shape;362;p56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App must register listener for sensor event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Register in activity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onStart()</a:t>
            </a:r>
            <a:r>
              <a:rPr lang="en">
                <a:solidFill>
                  <a:srgbClr val="000000"/>
                </a:solidFill>
              </a:rPr>
              <a:t> and unregister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onStop()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b="1" lang="en">
                <a:solidFill>
                  <a:srgbClr val="000000"/>
                </a:solidFill>
              </a:rPr>
              <a:t>Don't</a:t>
            </a:r>
            <a:r>
              <a:rPr lang="en">
                <a:solidFill>
                  <a:srgbClr val="000000"/>
                </a:solidFill>
              </a:rPr>
              <a:t> register in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onResume()</a:t>
            </a:r>
            <a:r>
              <a:rPr lang="en">
                <a:solidFill>
                  <a:srgbClr val="000000"/>
                </a:solidFill>
              </a:rPr>
              <a:t>, or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onPause()</a:t>
            </a:r>
            <a:endParaRPr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Ensures sensors use power </a:t>
            </a:r>
            <a:r>
              <a:rPr lang="en">
                <a:solidFill>
                  <a:schemeClr val="dk1"/>
                </a:solidFill>
              </a:rPr>
              <a:t>only </a:t>
            </a:r>
            <a:r>
              <a:rPr lang="en">
                <a:solidFill>
                  <a:srgbClr val="000000"/>
                </a:solidFill>
              </a:rPr>
              <a:t>when app is in foreground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</a:rPr>
              <a:t>Sensors continue running even if app is in multi-window mode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3" name="Google Shape;363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listener in onStart()</a:t>
            </a:r>
            <a:endParaRPr/>
          </a:p>
        </p:txBody>
      </p:sp>
      <p:sp>
        <p:nvSpPr>
          <p:cNvPr id="369" name="Google Shape;369;p57"/>
          <p:cNvSpPr txBox="1"/>
          <p:nvPr>
            <p:ph idx="1" type="body"/>
          </p:nvPr>
        </p:nvSpPr>
        <p:spPr>
          <a:xfrm>
            <a:off x="311700" y="1043475"/>
            <a:ext cx="8520600" cy="344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Register sensor event listener for specific sensor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protected void onStart() {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super.onStart();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if (mIsLightSensorPresent) {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mSensorManager.registerListener(this, mSensorLight,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SensorManager.SENSOR_DELAY_UI);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0" name="Google Shape;370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Unregister listener in onStop()</a:t>
            </a:r>
            <a:endParaRPr/>
          </a:p>
        </p:txBody>
      </p:sp>
      <p:sp>
        <p:nvSpPr>
          <p:cNvPr id="376" name="Google Shape;376;p58"/>
          <p:cNvSpPr txBox="1"/>
          <p:nvPr>
            <p:ph idx="1" type="body"/>
          </p:nvPr>
        </p:nvSpPr>
        <p:spPr>
          <a:xfrm>
            <a:off x="311700" y="1699025"/>
            <a:ext cx="8520600" cy="2793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protected void onStop() {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super.onStop();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mSensorManager.unregisterListener(this);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" name="Google Shape;377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sensor events</a:t>
            </a:r>
            <a:endParaRPr/>
          </a:p>
        </p:txBody>
      </p:sp>
      <p:sp>
        <p:nvSpPr>
          <p:cNvPr id="383" name="Google Shape;383;p59"/>
          <p:cNvSpPr txBox="1"/>
          <p:nvPr>
            <p:ph idx="1" type="body"/>
          </p:nvPr>
        </p:nvSpPr>
        <p:spPr>
          <a:xfrm>
            <a:off x="311700" y="12343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Implement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SensorEventListener</a:t>
            </a:r>
            <a:r>
              <a:rPr lang="en">
                <a:solidFill>
                  <a:schemeClr val="dk1"/>
                </a:solidFill>
              </a:rPr>
              <a:t> interface with callbacks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○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onSensorChanged(SensorEvent event)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onsolas"/>
              <a:buChar char="○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onAccuracyChanged(Sensor sensor, int accuracy)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Get sensor types and values from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SensorEvent</a:t>
            </a:r>
            <a:r>
              <a:rPr lang="en">
                <a:solidFill>
                  <a:srgbClr val="000000"/>
                </a:solidFill>
              </a:rPr>
              <a:t> object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400"/>
              <a:buAutoNum type="arabicPeriod"/>
            </a:pPr>
            <a:r>
              <a:rPr lang="en">
                <a:solidFill>
                  <a:srgbClr val="000000"/>
                </a:solidFill>
              </a:rPr>
              <a:t>Update app accordingly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84" name="Google Shape;384;p5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SensorEventListener and callbacks</a:t>
            </a:r>
            <a:endParaRPr/>
          </a:p>
        </p:txBody>
      </p:sp>
      <p:sp>
        <p:nvSpPr>
          <p:cNvPr id="390" name="Google Shape;390;p60"/>
          <p:cNvSpPr txBox="1"/>
          <p:nvPr>
            <p:ph idx="1" type="body"/>
          </p:nvPr>
        </p:nvSpPr>
        <p:spPr>
          <a:xfrm>
            <a:off x="311700" y="961400"/>
            <a:ext cx="8520600" cy="3700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666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 class SensorActivity extends Activity </a:t>
            </a:r>
            <a:endParaRPr sz="1700">
              <a:solidFill>
                <a:srgbClr val="666666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        </a:t>
            </a:r>
            <a:r>
              <a:rPr lang="en" sz="1700">
                <a:solidFill>
                  <a:srgbClr val="66666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Implements </a:t>
            </a: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SensorEventListener { 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700">
                <a:solidFill>
                  <a:srgbClr val="66666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// …</a:t>
            </a:r>
            <a:endParaRPr sz="1700">
              <a:solidFill>
                <a:srgbClr val="666666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onSensorChanged(SensorEvent sensorEvent) {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7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// Do something here if sensor data changes.</a:t>
            </a:r>
            <a:endParaRPr sz="17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" sz="1700">
                <a:solidFill>
                  <a:srgbClr val="666666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final void onAccuracyChanged(Sensor sensor, int accuracy) {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700">
                <a:solidFill>
                  <a:srgbClr val="999999"/>
                </a:solidFill>
                <a:latin typeface="Consolas"/>
                <a:ea typeface="Consolas"/>
                <a:cs typeface="Consolas"/>
                <a:sym typeface="Consolas"/>
              </a:rPr>
              <a:t> // Do something if sensor accuracy changes.</a:t>
            </a:r>
            <a:endParaRPr sz="1700">
              <a:solidFill>
                <a:srgbClr val="9999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17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7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6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onAccuracyChanged() </a:t>
            </a:r>
            <a:endParaRPr/>
          </a:p>
        </p:txBody>
      </p:sp>
      <p:sp>
        <p:nvSpPr>
          <p:cNvPr id="397" name="Google Shape;397;p61"/>
          <p:cNvSpPr txBox="1"/>
          <p:nvPr>
            <p:ph idx="1" type="body"/>
          </p:nvPr>
        </p:nvSpPr>
        <p:spPr>
          <a:xfrm>
            <a:off x="311700" y="843200"/>
            <a:ext cx="8520600" cy="379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onAccuracyChanged()</a:t>
            </a:r>
            <a:r>
              <a:rPr lang="en">
                <a:solidFill>
                  <a:schemeClr val="dk1"/>
                </a:solidFill>
              </a:rPr>
              <a:t> called when a sensor accuracy changes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Sensor</a:t>
            </a:r>
            <a:r>
              <a:rPr lang="en">
                <a:solidFill>
                  <a:schemeClr val="dk1"/>
                </a:solidFill>
              </a:rPr>
              <a:t> object identifies sensor that changed accuracy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>
                <a:solidFill>
                  <a:schemeClr val="dk1"/>
                </a:solidFill>
              </a:rPr>
              <a:t>Accuracy status constant: 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onsolas"/>
              <a:buChar char="○"/>
            </a:pPr>
            <a:r>
              <a:rPr lang="en" sz="16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SENSOR_STATUS_ACCURACY_LOW</a:t>
            </a:r>
            <a:endParaRPr sz="16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onsolas"/>
              <a:buChar char="○"/>
            </a:pPr>
            <a:r>
              <a:rPr lang="en" sz="16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SENSOR_STATUS_ACCURACY_MEDIUM</a:t>
            </a:r>
            <a:endParaRPr sz="16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onsolas"/>
              <a:buChar char="○"/>
            </a:pPr>
            <a:r>
              <a:rPr lang="en" sz="16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SENSOR_STATUS_ACCURACY_HIGH</a:t>
            </a:r>
            <a:endParaRPr sz="16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onsolas"/>
              <a:buChar char="○"/>
            </a:pPr>
            <a:r>
              <a:rPr lang="en" sz="16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SENSOR_STATUS_UNRELIABLE</a:t>
            </a:r>
            <a:endParaRPr sz="16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30200" lvl="1" marL="914400" rtl="0" algn="l"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onsolas"/>
              <a:buChar char="○"/>
            </a:pPr>
            <a:r>
              <a:rPr lang="en" sz="1600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SENSOR_STATUS_NO_CONTACT</a:t>
            </a:r>
            <a:endParaRPr sz="160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98" name="Google Shape;398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onSensorChanged() </a:t>
            </a:r>
            <a:endParaRPr/>
          </a:p>
        </p:txBody>
      </p:sp>
      <p:sp>
        <p:nvSpPr>
          <p:cNvPr id="404" name="Google Shape;404;p62"/>
          <p:cNvSpPr txBox="1"/>
          <p:nvPr>
            <p:ph idx="1" type="body"/>
          </p:nvPr>
        </p:nvSpPr>
        <p:spPr>
          <a:xfrm>
            <a:off x="142425" y="1068275"/>
            <a:ext cx="8878500" cy="342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onSensorChanged()</a:t>
            </a:r>
            <a:r>
              <a:rPr lang="en">
                <a:solidFill>
                  <a:schemeClr val="dk1"/>
                </a:solidFill>
              </a:rPr>
              <a:t> called when sensor reports new data, passing in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SensorEvent</a:t>
            </a:r>
            <a:r>
              <a:rPr lang="en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SensorEvent</a:t>
            </a:r>
            <a:r>
              <a:rPr lang="en"/>
              <a:t> </a:t>
            </a:r>
            <a:r>
              <a:rPr lang="en">
                <a:solidFill>
                  <a:srgbClr val="000000"/>
                </a:solidFill>
              </a:rPr>
              <a:t>object contains information about the new sensor data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sensor</a:t>
            </a:r>
            <a:r>
              <a:rPr lang="en">
                <a:solidFill>
                  <a:srgbClr val="000000"/>
                </a:solidFill>
              </a:rPr>
              <a:t>: Sensor that generated the event (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Sensor</a:t>
            </a:r>
            <a:r>
              <a:rPr lang="en">
                <a:solidFill>
                  <a:srgbClr val="000000"/>
                </a:solidFill>
              </a:rPr>
              <a:t> object) 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values</a:t>
            </a:r>
            <a:r>
              <a:rPr lang="en">
                <a:solidFill>
                  <a:srgbClr val="000000"/>
                </a:solidFill>
              </a:rPr>
              <a:t>: Data that the sensor generated, as an array of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float</a:t>
            </a:r>
            <a:r>
              <a:rPr lang="en">
                <a:solidFill>
                  <a:srgbClr val="000000"/>
                </a:solidFill>
              </a:rPr>
              <a:t> values. Different sensors provide different amounts and types of data.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05" name="Google Shape;405;p6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Changes to light sensor</a:t>
            </a:r>
            <a:endParaRPr/>
          </a:p>
        </p:txBody>
      </p:sp>
      <p:sp>
        <p:nvSpPr>
          <p:cNvPr id="411" name="Google Shape;411;p63"/>
          <p:cNvSpPr txBox="1"/>
          <p:nvPr>
            <p:ph idx="1" type="body"/>
          </p:nvPr>
        </p:nvSpPr>
        <p:spPr>
          <a:xfrm>
            <a:off x="311700" y="1005800"/>
            <a:ext cx="8671500" cy="3733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public void onSensorChanged(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SensorEvent sensorEvent</a:t>
            </a: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int sensorType =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sensorEvent.sensor.getType()</a:t>
            </a: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float currentValue =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sensorEvent.values[0]</a:t>
            </a: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if (</a:t>
            </a:r>
            <a:r>
              <a:rPr lang="en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sensorType == Sensor.TYPE_LIGHT</a:t>
            </a: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// Get light sensor string and fill data placeholder.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mTextSensorLight.setText(getResources().getString(</a:t>
            </a:r>
            <a:b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        R.string.label_light, currentValue));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rgbClr val="66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" name="Google Shape;412;p6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18" name="Google Shape;418;p6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64"/>
          <p:cNvSpPr txBox="1"/>
          <p:nvPr/>
        </p:nvSpPr>
        <p:spPr>
          <a:xfrm>
            <a:off x="311700" y="2063725"/>
            <a:ext cx="8520600" cy="17778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3.1 Sensor basics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3.1 Working with sensor data</a:t>
            </a:r>
            <a:endParaRPr sz="24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25" name="Google Shape;425;p6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26" name="Google Shape;426;p6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6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