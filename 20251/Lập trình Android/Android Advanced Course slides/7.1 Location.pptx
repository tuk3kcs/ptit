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y="5143500" cx="9144000"/>
  <p:notesSz cx="6858000" cy="9144000"/>
  <p:embeddedFontLst>
    <p:embeddedFont>
      <p:font typeface="Roboto"/>
      <p:regular r:id="rId64"/>
      <p:bold r:id="rId65"/>
      <p:italic r:id="rId66"/>
      <p:boldItalic r:id="rId67"/>
    </p:embeddedFont>
    <p:embeddedFont>
      <p:font typeface="Open Sans"/>
      <p:regular r:id="rId68"/>
      <p:bold r:id="rId69"/>
      <p:italic r:id="rId70"/>
      <p:boldItalic r:id="rId7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96FF350-8E54-48D7-BF25-48AC67E242A6}">
  <a:tblStyle styleId="{496FF350-8E54-48D7-BF25-48AC67E242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OpenSans-boldItalic.fntdata"/><Relationship Id="rId70" Type="http://schemas.openxmlformats.org/officeDocument/2006/relationships/font" Target="fonts/OpenSans-italic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font" Target="fonts/Roboto-regular.fntdata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font" Target="fonts/Roboto-italic.fntdata"/><Relationship Id="rId21" Type="http://schemas.openxmlformats.org/officeDocument/2006/relationships/slide" Target="slides/slide15.xml"/><Relationship Id="rId65" Type="http://schemas.openxmlformats.org/officeDocument/2006/relationships/font" Target="fonts/Roboto-bold.fntdata"/><Relationship Id="rId24" Type="http://schemas.openxmlformats.org/officeDocument/2006/relationships/slide" Target="slides/slide18.xml"/><Relationship Id="rId68" Type="http://schemas.openxmlformats.org/officeDocument/2006/relationships/font" Target="fonts/OpenSans-regular.fntdata"/><Relationship Id="rId23" Type="http://schemas.openxmlformats.org/officeDocument/2006/relationships/slide" Target="slides/slide17.xml"/><Relationship Id="rId67" Type="http://schemas.openxmlformats.org/officeDocument/2006/relationships/font" Target="fonts/Roboto-boldItalic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OpenSans-bold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f5dd940b5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f5dd940b5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c10b785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8c10b78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c10b785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8c10b785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c10b785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8c10b785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c10b785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8c10b785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c10b785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8c10b785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level; we look at each of these steps in detail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8c10b785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8c10b785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8c10b785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8c10b785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c10b785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8c10b785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8c10b785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8c10b785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8c10b785a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8c10b785a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8c10b785a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8c10b785a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8c10b785a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8c10b785a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8c10b785a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8c10b785a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8c10b785a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8c10b785a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8c10b785a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8c10b785a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8c10b785a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8c10b785a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8c10b785a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8c10b785a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8c10b785a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8c10b785a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8c10b785a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8c10b785a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8c10b785a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8c10b785a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8c10b785a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8c10b785a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8c10b785a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8c10b785a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8c10b785a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8c10b785a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8c10b785a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8c10b785a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8c10b785a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8c10b785a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8c10b785a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8c10b785a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8c10b785a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8c10b785a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8c10b785a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8c10b785a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8c10b785a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8c10b785a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8c10b785a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8c10b785a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8c10b785a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8c10b785a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8c10b785a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8c10b785a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8c10b785a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8c10b785a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8c10b785a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8c10b785a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8c10b785a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8c10b785a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8c10b785a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8c10b785a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8c10b785a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8c10b785a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8c10b785a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8c10b785a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8c10b785a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8c10b785a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8c10b785a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8c10b785a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8c10b785a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8c10b785a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8c10b785a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8c10b785a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8c10b785a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8c10b785a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8c10b785a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8c10b785a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8c10b785a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8c10b785a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8c10b785a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8c10b785a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8c10b785a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8c10b785a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8c10b785a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8c10b785a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8c10b785a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8c10b785a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8c10b785a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8c10b785a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8c10b785a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8c10b785a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8c10b785a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8c10b785a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8c10b785a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8c10b785a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8c10b785a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8c10b785a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8c10b785a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8c10b785a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2f5dd940b5_2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2f5dd940b5_2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5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5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21AAC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21AAC3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2400"/>
              <a:buNone/>
              <a:defRPr sz="2400">
                <a:solidFill>
                  <a:srgbClr val="21AAC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389600"/>
            <a:ext cx="84282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800"/>
              <a:buNone/>
              <a:defRPr sz="4800">
                <a:solidFill>
                  <a:srgbClr val="21AAC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46464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200"/>
              <a:buNone/>
              <a:defRPr sz="4200">
                <a:solidFill>
                  <a:srgbClr val="21AAC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7-06-24 at 5.25.46 PM.png" id="54" name="Google Shape;54;p11"/>
          <p:cNvPicPr preferRelativeResize="0"/>
          <p:nvPr/>
        </p:nvPicPr>
        <p:blipFill rotWithShape="1">
          <a:blip r:embed="rId2">
            <a:alphaModFix/>
          </a:blip>
          <a:srcRect b="0" l="39" r="39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1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1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8" name="Google Shape;58;p11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" name="Google Shape;59;p11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ooter.png" id="61" name="Google Shape;6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038" y="-16809"/>
            <a:ext cx="9144000" cy="517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1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Topics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1"/>
          <p:cNvSpPr txBox="1"/>
          <p:nvPr/>
        </p:nvSpPr>
        <p:spPr>
          <a:xfrm>
            <a:off x="4407225" y="4755009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Location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" name="Google Shape;64;p1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" name="Google Shape;65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3225" y="4736287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21AAC3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21AAC3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2400"/>
              <a:buNone/>
              <a:defRPr sz="2400">
                <a:solidFill>
                  <a:srgbClr val="21AAC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389600"/>
            <a:ext cx="84282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3" name="Google Shape;103;p1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800"/>
              <a:buNone/>
              <a:defRPr sz="4800">
                <a:solidFill>
                  <a:srgbClr val="21AAC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6" name="Google Shape;106;p2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/>
          <p:nvPr/>
        </p:nvSpPr>
        <p:spPr>
          <a:xfrm>
            <a:off x="4572000" y="-125"/>
            <a:ext cx="4572000" cy="46464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200"/>
              <a:buNone/>
              <a:defRPr sz="4200">
                <a:solidFill>
                  <a:srgbClr val="21AAC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0" name="Google Shape;110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1" name="Google Shape;111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15" name="Google Shape;115;p2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7-06-24 at 5.25.46 PM.png" id="117" name="Google Shape;117;p23"/>
          <p:cNvPicPr preferRelativeResize="0"/>
          <p:nvPr/>
        </p:nvPicPr>
        <p:blipFill rotWithShape="1">
          <a:blip r:embed="rId2">
            <a:alphaModFix/>
          </a:blip>
          <a:srcRect b="0" l="39" r="39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3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0" name="Google Shape;120;p23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1" name="Google Shape;121;p23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2" name="Google Shape;122;p23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3" name="Google Shape;123;p23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ooter.png" id="124" name="Google Shape;12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038" y="-16809"/>
            <a:ext cx="9144000" cy="517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3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Development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23"/>
          <p:cNvSpPr txBox="1"/>
          <p:nvPr/>
        </p:nvSpPr>
        <p:spPr>
          <a:xfrm>
            <a:off x="4407225" y="4755009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Location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23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3225" y="4736287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15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" Type="http://schemas.openxmlformats.org/officeDocument/2006/relationships/image" Target="../media/image15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3600"/>
              <a:buFont typeface="Roboto"/>
              <a:buNone/>
              <a:defRPr b="1" sz="3600">
                <a:solidFill>
                  <a:srgbClr val="21AAC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Topics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4407225" y="4755009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Location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36287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9" name="Google Shape;69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3600"/>
              <a:buFont typeface="Roboto"/>
              <a:buNone/>
              <a:defRPr b="1" sz="3600">
                <a:solidFill>
                  <a:srgbClr val="21AAC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3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3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Development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4407225" y="4755009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Location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7" name="Google Shape;7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36287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evelopers.google.com/android/reference/com/google/android/gms/location/FusedLocationProviderClient" TargetMode="External"/><Relationship Id="rId4" Type="http://schemas.openxmlformats.org/officeDocument/2006/relationships/hyperlink" Target="https://developer.android.com/reference/android/location/Location.html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hyperlink" Target="https://developer.android.com/reference/android/location/Geocoder.html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developer.android.com/training/permissions/requesting.html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eveloper.android.com/reference/android/support/v4/content/ContextCompat.html#checkSelfPermission(android.content.Context,%20java.lang.String)" TargetMode="External"/><Relationship Id="rId4" Type="http://schemas.openxmlformats.org/officeDocument/2006/relationships/hyperlink" Target="https://developer.android.com/reference/android/support/v4/app/ActivityCompat.html#requestPermissions(android.app.Activity,%20java.lang.String%5B%5D,%20int)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eveloper.android.com/reference/android/support/v4/app/ActivityCompat.OnRequestPermissionsResultCallback.html#onRequestPermissionsResult(int,%20java.lang.String%5B%5D,%20int%5B%5D)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developers.google.com/android/reference/com/google/android/gms/location/FusedLocationProviderClient#getLastLocation()" TargetMode="External"/><Relationship Id="rId4" Type="http://schemas.openxmlformats.org/officeDocument/2006/relationships/hyperlink" Target="https://developers.google.com/android/reference/com/google/android/gms/tasks/Task" TargetMode="External"/><Relationship Id="rId5" Type="http://schemas.openxmlformats.org/officeDocument/2006/relationships/hyperlink" Target="https://developer.android.com/reference/android/location/Location.html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developer.android.com/reference/android/location/Geocoder.html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developer.android.com/reference/android/location/Geocoder.html#isPresent()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developer.android.com/reference/android/location/Geocoder.html#getFromLocation(double,%20double,%20int)" TargetMode="External"/><Relationship Id="rId4" Type="http://schemas.openxmlformats.org/officeDocument/2006/relationships/hyperlink" Target="https://developer.android.com/reference/android/location/Geocoder.html#getFromLocation(double,%20double,%20int)" TargetMode="External"/><Relationship Id="rId5" Type="http://schemas.openxmlformats.org/officeDocument/2006/relationships/hyperlink" Target="https://developer.android.com/reference/android/location/Geocoder.html#getFromLocation(double,%20double,%20int)" TargetMode="External"/><Relationship Id="rId6" Type="http://schemas.openxmlformats.org/officeDocument/2006/relationships/hyperlink" Target="https://developer.android.com/reference/android/location/Address.html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developer.android.com/reference/android/location/Geocoder.html#getFromLocationName(java.lang.String,%20int,%20double,%20double,%20double,%20double)" TargetMode="External"/><Relationship Id="rId4" Type="http://schemas.openxmlformats.org/officeDocument/2006/relationships/hyperlink" Target="https://developer.android.com/reference/android/location/Geocoder.html#getFromLocationName(java.lang.String,%20int,%20double,%20double,%20double,%20double)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developers.google.com/android/reference/com/google/android/gms/location/LocationRequest.html#setInterval(long)" TargetMode="External"/><Relationship Id="rId4" Type="http://schemas.openxmlformats.org/officeDocument/2006/relationships/hyperlink" Target="https://developers.google.com/android/reference/com/google/android/gms/location/LocationRequest.html#setFastestInterval(long)" TargetMode="External"/><Relationship Id="rId5" Type="http://schemas.openxmlformats.org/officeDocument/2006/relationships/hyperlink" Target="https://developers.google.com/android/reference/com/google/android/gms/location/LocationRequest.html#setPriority(int)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developers.google.com/android/reference/com/google/android/gms/location/LocationRequest.html#PRIORITY_BALANCED_POWER_ACCURACY" TargetMode="External"/><Relationship Id="rId4" Type="http://schemas.openxmlformats.org/officeDocument/2006/relationships/hyperlink" Target="https://developers.google.com/android/reference/com/google/android/gms/location/LocationRequest.html#PRIORITY_HIGH_ACCURACY" TargetMode="External"/><Relationship Id="rId5" Type="http://schemas.openxmlformats.org/officeDocument/2006/relationships/hyperlink" Target="https://developers.google.com/android/reference/com/google/android/gms/location/LocationRequest.html#PRIORITY_LOW_POWER" TargetMode="External"/><Relationship Id="rId6" Type="http://schemas.openxmlformats.org/officeDocument/2006/relationships/hyperlink" Target="https://developers.google.com/android/reference/com/google/android/gms/location/LocationRequest.html#PRIORITY_NO_POWER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developers.google.com/android/reference/com/google/android/gms/location/LocationRequest" TargetMode="External"/><Relationship Id="rId4" Type="http://schemas.openxmlformats.org/officeDocument/2006/relationships/hyperlink" Target="https://developers.google.com/android/reference/com/google/android/gms/location/FusedLocationProviderClient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developers.google.com/android/reference/com/google/android/gms/location/LocationCallback.html#onLocationResult(com.google.android.gms.location.LocationResult)" TargetMode="External"/><Relationship Id="rId4" Type="http://schemas.openxmlformats.org/officeDocument/2006/relationships/hyperlink" Target="https://developers.google.com/android/reference/com/google/android/gms/location/FusedLocationProviderClient.html#removeLocationUpdates(com.google.android.gms.location.LocationCallback)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developers.google.com/android/reference/com/google/android/gms/location/FusedLocationProviderClient.html#removeLocationUpdates(com.google.android.gms.location.LocationCallback)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developer.android.com/reference/com/google/android/gms/location/LocationSettingsRequest" TargetMode="Externa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s://developers.google.com/android/reference/com/google/android/gms/location/SettingsClient" TargetMode="External"/><Relationship Id="rId4" Type="http://schemas.openxmlformats.org/officeDocument/2006/relationships/hyperlink" Target="https://developers.google.com/android/reference/com/google/android/gms/location/LocationServices.html#getSettingsClient(android.content.Context)" TargetMode="Externa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0.xml"/><Relationship Id="rId3" Type="http://schemas.openxmlformats.org/officeDocument/2006/relationships/hyperlink" Target="https://developers.google.com/android/reference/com/google/android/gms/location/SettingsClient.html#checkLocationSettings(com.google.android.gms.location.LocationSettingsRequest)" TargetMode="Externa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1.xml"/><Relationship Id="rId3" Type="http://schemas.openxmlformats.org/officeDocument/2006/relationships/hyperlink" Target="https://developers.google.com/android/reference/com/google/android/gms/tasks/OnFailureListener" TargetMode="External"/><Relationship Id="rId4" Type="http://schemas.openxmlformats.org/officeDocument/2006/relationships/hyperlink" Target="https://developers.google.com/android/reference/com/google/android/gms/common/api/Status" TargetMode="Externa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6.xml"/><Relationship Id="rId3" Type="http://schemas.openxmlformats.org/officeDocument/2006/relationships/hyperlink" Target="https://google-developer-training.gitbooks.io/android-developer-advanced-course-concepts/content/unit-4-add-geo-features-to-your-apps/lesson-7-location/7-1-c-location-services/7-1-c-location-services.html" TargetMode="External"/><Relationship Id="rId4" Type="http://schemas.openxmlformats.org/officeDocument/2006/relationships/hyperlink" Target="https://google-developer-training.gitbooks.io/android-developer-advanced-course-practicals/content/unit-4-add-geo-features-to-your-apps/lesson-7-location/7-1-p-use-the-device-location/7-1-p-use-the-device-location.html" TargetMode="Externa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25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5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Location</a:t>
            </a:r>
            <a:endParaRPr/>
          </a:p>
        </p:txBody>
      </p:sp>
      <p:sp>
        <p:nvSpPr>
          <p:cNvPr id="138" name="Google Shape;138;p25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7 </a:t>
            </a:r>
            <a:endParaRPr/>
          </a:p>
        </p:txBody>
      </p:sp>
      <p:sp>
        <p:nvSpPr>
          <p:cNvPr id="139" name="Google Shape;139;p25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Android Development</a:t>
            </a:r>
            <a:endParaRPr/>
          </a:p>
        </p:txBody>
      </p:sp>
      <p:sp>
        <p:nvSpPr>
          <p:cNvPr id="140" name="Google Shape;140;p25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ctrTitle"/>
          </p:nvPr>
        </p:nvSpPr>
        <p:spPr>
          <a:xfrm>
            <a:off x="231158" y="7666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7.1 Location services</a:t>
            </a:r>
            <a:endParaRPr/>
          </a:p>
        </p:txBody>
      </p:sp>
      <p:sp>
        <p:nvSpPr>
          <p:cNvPr id="146" name="Google Shape;146;p26"/>
          <p:cNvSpPr txBox="1"/>
          <p:nvPr>
            <p:ph idx="1" type="subTitle"/>
          </p:nvPr>
        </p:nvSpPr>
        <p:spPr>
          <a:xfrm>
            <a:off x="231150" y="28562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physical location in an app</a:t>
            </a:r>
            <a:endParaRPr/>
          </a:p>
        </p:txBody>
      </p:sp>
      <p:sp>
        <p:nvSpPr>
          <p:cNvPr id="147" name="Google Shape;147;p2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33600" y="1196700"/>
            <a:ext cx="8476800" cy="35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Overview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Setting up Google Play services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Location permissions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Get device location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Geocoding and reverse geocoding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Creating a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LocationRequest</a:t>
            </a:r>
            <a:r>
              <a:rPr lang="en">
                <a:solidFill>
                  <a:srgbClr val="000000"/>
                </a:solidFill>
              </a:rPr>
              <a:t> object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Working with user settings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Requesting location updates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4" name="Google Shape;154;p2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160" name="Google Shape;160;p2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66" name="Google Shape;166;p29"/>
          <p:cNvSpPr txBox="1"/>
          <p:nvPr>
            <p:ph idx="1" type="body"/>
          </p:nvPr>
        </p:nvSpPr>
        <p:spPr>
          <a:xfrm>
            <a:off x="311700" y="1076275"/>
            <a:ext cx="5914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Mobile phones – key word is </a:t>
            </a:r>
            <a:r>
              <a:rPr i="1" lang="en"/>
              <a:t>MOBILE</a:t>
            </a:r>
            <a:endParaRPr i="1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Users move around and go places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Your app can detect and use the device location to customize the experience for the user</a:t>
            </a:r>
            <a:endParaRPr/>
          </a:p>
        </p:txBody>
      </p:sp>
      <p:sp>
        <p:nvSpPr>
          <p:cNvPr id="167" name="Google Shape;167;p2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8" name="Google Shape;16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9150" y="1036495"/>
            <a:ext cx="2343150" cy="340995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location in your app</a:t>
            </a:r>
            <a:endParaRPr/>
          </a:p>
        </p:txBody>
      </p:sp>
      <p:sp>
        <p:nvSpPr>
          <p:cNvPr id="174" name="Google Shape;174;p30"/>
          <p:cNvSpPr txBox="1"/>
          <p:nvPr>
            <p:ph idx="1" type="body"/>
          </p:nvPr>
        </p:nvSpPr>
        <p:spPr>
          <a:xfrm>
            <a:off x="311700" y="1307050"/>
            <a:ext cx="8520600" cy="31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Check if location permission has been granted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Ask for permission if necessary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Request most recent location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Request location updates</a:t>
            </a:r>
            <a:endParaRPr/>
          </a:p>
        </p:txBody>
      </p:sp>
      <p:sp>
        <p:nvSpPr>
          <p:cNvPr id="175" name="Google Shape;175;p3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the device location</a:t>
            </a:r>
            <a:endParaRPr/>
          </a:p>
        </p:txBody>
      </p:sp>
      <p:sp>
        <p:nvSpPr>
          <p:cNvPr id="181" name="Google Shape;181;p31"/>
          <p:cNvSpPr txBox="1"/>
          <p:nvPr>
            <p:ph idx="1" type="body"/>
          </p:nvPr>
        </p:nvSpPr>
        <p:spPr>
          <a:xfrm>
            <a:off x="311700" y="1064625"/>
            <a:ext cx="8754900" cy="3488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/>
              <a:t>Use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FusedLocationProviderClient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Makes location requests combining GPS, Wi-Fi, and cell network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Balances fast, accurate results with minimal battery drain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Returns </a:t>
            </a:r>
            <a:r>
              <a:rPr lang="en" u="sng">
                <a:solidFill>
                  <a:srgbClr val="21AAC3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Location</a:t>
            </a:r>
            <a:r>
              <a:rPr lang="en">
                <a:solidFill>
                  <a:srgbClr val="000000"/>
                </a:solidFill>
              </a:rPr>
              <a:t> object with latitude and longitude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625" y="2616576"/>
            <a:ext cx="2668717" cy="1812900"/>
          </a:xfrm>
          <a:prstGeom prst="rect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8" name="Google Shape;188;p32"/>
          <p:cNvSpPr/>
          <p:nvPr/>
        </p:nvSpPr>
        <p:spPr>
          <a:xfrm>
            <a:off x="5212575" y="1067625"/>
            <a:ext cx="3619800" cy="1092900"/>
          </a:xfrm>
          <a:prstGeom prst="round2DiagRect">
            <a:avLst>
              <a:gd fmla="val 16667" name="adj1"/>
              <a:gd fmla="val 4814" name="adj2"/>
            </a:avLst>
          </a:prstGeom>
          <a:noFill/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2"/>
          <p:cNvSpPr/>
          <p:nvPr/>
        </p:nvSpPr>
        <p:spPr>
          <a:xfrm>
            <a:off x="5328000" y="2927375"/>
            <a:ext cx="3619800" cy="1556700"/>
          </a:xfrm>
          <a:prstGeom prst="round2DiagRect">
            <a:avLst>
              <a:gd fmla="val 16667" name="adj1"/>
              <a:gd fmla="val 7357" name="adj2"/>
            </a:avLst>
          </a:prstGeom>
          <a:solidFill>
            <a:srgbClr val="FFFFFF"/>
          </a:solidFill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the device location</a:t>
            </a:r>
            <a:endParaRPr/>
          </a:p>
        </p:txBody>
      </p:sp>
      <p:sp>
        <p:nvSpPr>
          <p:cNvPr id="191" name="Google Shape;191;p32"/>
          <p:cNvSpPr txBox="1"/>
          <p:nvPr>
            <p:ph idx="1" type="body"/>
          </p:nvPr>
        </p:nvSpPr>
        <p:spPr>
          <a:xfrm>
            <a:off x="311700" y="1064625"/>
            <a:ext cx="4587000" cy="130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>
                <a:solidFill>
                  <a:srgbClr val="000000"/>
                </a:solidFill>
              </a:rPr>
              <a:t>Use </a:t>
            </a:r>
            <a:r>
              <a:rPr lang="en" u="sng">
                <a:solidFill>
                  <a:srgbClr val="21AAC3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Geocoder</a:t>
            </a:r>
            <a:r>
              <a:rPr lang="en">
                <a:solidFill>
                  <a:srgbClr val="000000"/>
                </a:solidFill>
              </a:rPr>
              <a:t> to convert lat/long location to physical address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32"/>
          <p:cNvSpPr txBox="1"/>
          <p:nvPr/>
        </p:nvSpPr>
        <p:spPr>
          <a:xfrm>
            <a:off x="5648325" y="1193325"/>
            <a:ext cx="25497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latin typeface="Roboto"/>
                <a:ea typeface="Roboto"/>
                <a:cs typeface="Roboto"/>
                <a:sym typeface="Roboto"/>
              </a:rPr>
              <a:t>Latitude 51.5</a:t>
            </a:r>
            <a:endParaRPr i="1"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latin typeface="Roboto"/>
                <a:ea typeface="Roboto"/>
                <a:cs typeface="Roboto"/>
                <a:sym typeface="Roboto"/>
              </a:rPr>
              <a:t>Longitude -0.078</a:t>
            </a:r>
            <a:endParaRPr i="1"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32"/>
          <p:cNvSpPr txBox="1"/>
          <p:nvPr/>
        </p:nvSpPr>
        <p:spPr>
          <a:xfrm>
            <a:off x="5648325" y="2927375"/>
            <a:ext cx="2748300" cy="15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latin typeface="Roboto"/>
                <a:ea typeface="Roboto"/>
                <a:cs typeface="Roboto"/>
                <a:sym typeface="Roboto"/>
              </a:rPr>
              <a:t>Tower Bridge,</a:t>
            </a:r>
            <a:br>
              <a:rPr i="1" lang="en" sz="2400">
                <a:latin typeface="Roboto"/>
                <a:ea typeface="Roboto"/>
                <a:cs typeface="Roboto"/>
                <a:sym typeface="Roboto"/>
              </a:rPr>
            </a:br>
            <a:r>
              <a:rPr i="1" lang="en" sz="2400">
                <a:latin typeface="Roboto"/>
                <a:ea typeface="Roboto"/>
                <a:cs typeface="Roboto"/>
                <a:sym typeface="Roboto"/>
              </a:rPr>
              <a:t>Tower Bridge Rd, London SE1 2UP</a:t>
            </a:r>
            <a:endParaRPr i="1"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latin typeface="Roboto"/>
                <a:ea typeface="Roboto"/>
                <a:cs typeface="Roboto"/>
                <a:sym typeface="Roboto"/>
              </a:rPr>
              <a:t>UK</a:t>
            </a:r>
            <a:endParaRPr i="1"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5" name="Google Shape;195;p32"/>
          <p:cNvCxnSpPr>
            <a:stCxn id="188" idx="1"/>
            <a:endCxn id="194" idx="0"/>
          </p:cNvCxnSpPr>
          <p:nvPr/>
        </p:nvCxnSpPr>
        <p:spPr>
          <a:xfrm>
            <a:off x="7022475" y="2160525"/>
            <a:ext cx="0" cy="766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3"/>
          <p:cNvSpPr txBox="1"/>
          <p:nvPr>
            <p:ph type="title"/>
          </p:nvPr>
        </p:nvSpPr>
        <p:spPr>
          <a:xfrm>
            <a:off x="265500" y="973100"/>
            <a:ext cx="4045200" cy="275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up Google Play services</a:t>
            </a:r>
            <a:endParaRPr/>
          </a:p>
        </p:txBody>
      </p:sp>
      <p:sp>
        <p:nvSpPr>
          <p:cNvPr id="201" name="Google Shape;201;p3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up Google Play services</a:t>
            </a:r>
            <a:endParaRPr/>
          </a:p>
        </p:txBody>
      </p:sp>
      <p:sp>
        <p:nvSpPr>
          <p:cNvPr id="207" name="Google Shape;207;p34"/>
          <p:cNvSpPr txBox="1"/>
          <p:nvPr>
            <p:ph idx="1" type="body"/>
          </p:nvPr>
        </p:nvSpPr>
        <p:spPr>
          <a:xfrm>
            <a:off x="311700" y="1064625"/>
            <a:ext cx="8754900" cy="3488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Location services are provided by Google Play Services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Install Google Repository in Android Studio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Select </a:t>
            </a:r>
            <a:r>
              <a:rPr b="1" lang="en">
                <a:solidFill>
                  <a:srgbClr val="000000"/>
                </a:solidFill>
              </a:rPr>
              <a:t>Tools &gt; Android &gt; SDK Manager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Select the </a:t>
            </a:r>
            <a:r>
              <a:rPr b="1" lang="en">
                <a:solidFill>
                  <a:srgbClr val="000000"/>
                </a:solidFill>
              </a:rPr>
              <a:t>SDK Tools</a:t>
            </a:r>
            <a:r>
              <a:rPr lang="en">
                <a:solidFill>
                  <a:srgbClr val="000000"/>
                </a:solidFill>
              </a:rPr>
              <a:t> tab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Expand </a:t>
            </a:r>
            <a:r>
              <a:rPr b="1" lang="en">
                <a:solidFill>
                  <a:srgbClr val="000000"/>
                </a:solidFill>
              </a:rPr>
              <a:t>Support Repository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Select </a:t>
            </a:r>
            <a:r>
              <a:rPr b="1" lang="en">
                <a:solidFill>
                  <a:srgbClr val="000000"/>
                </a:solidFill>
              </a:rPr>
              <a:t>Google Repository</a:t>
            </a:r>
            <a:r>
              <a:rPr lang="en">
                <a:solidFill>
                  <a:srgbClr val="000000"/>
                </a:solidFill>
              </a:rPr>
              <a:t> and click </a:t>
            </a:r>
            <a:r>
              <a:rPr b="1" lang="en">
                <a:solidFill>
                  <a:srgbClr val="000000"/>
                </a:solidFill>
              </a:rPr>
              <a:t>OK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Google Play to your project</a:t>
            </a:r>
            <a:endParaRPr/>
          </a:p>
        </p:txBody>
      </p:sp>
      <p:sp>
        <p:nvSpPr>
          <p:cNvPr id="214" name="Google Shape;214;p35"/>
          <p:cNvSpPr txBox="1"/>
          <p:nvPr>
            <p:ph idx="1" type="body"/>
          </p:nvPr>
        </p:nvSpPr>
        <p:spPr>
          <a:xfrm>
            <a:off x="311700" y="1064625"/>
            <a:ext cx="8754900" cy="3488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Add to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dependencies</a:t>
            </a:r>
            <a:r>
              <a:rPr lang="en">
                <a:solidFill>
                  <a:schemeClr val="dk1"/>
                </a:solidFill>
              </a:rPr>
              <a:t> in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build.gradle (Module: app)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compile 'com.google.android.gms:play-services:</a:t>
            </a:r>
            <a:r>
              <a:rPr i="1"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xx.x.x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55600" lvl="0" marL="914400" rtl="0" algn="l">
              <a:spcBef>
                <a:spcPts val="500"/>
              </a:spcBef>
              <a:spcAft>
                <a:spcPts val="0"/>
              </a:spcAft>
              <a:buSzPts val="2000"/>
              <a:buChar char="●"/>
            </a:pPr>
            <a:r>
              <a:rPr i="1"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xx.x.x</a:t>
            </a:r>
            <a:r>
              <a:rPr lang="en" sz="2000">
                <a:solidFill>
                  <a:srgbClr val="000000"/>
                </a:solidFill>
              </a:rPr>
              <a:t> is version number, such as 11.0.2. </a:t>
            </a:r>
            <a:endParaRPr sz="2000">
              <a:solidFill>
                <a:srgbClr val="000000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" sz="2000">
                <a:solidFill>
                  <a:srgbClr val="000000"/>
                </a:solidFill>
              </a:rPr>
              <a:t>Replace with new version number, if Android Studio suggests it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6"/>
          <p:cNvSpPr txBox="1"/>
          <p:nvPr>
            <p:ph type="title"/>
          </p:nvPr>
        </p:nvSpPr>
        <p:spPr>
          <a:xfrm>
            <a:off x="265500" y="973100"/>
            <a:ext cx="4045200" cy="212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Location permissions</a:t>
            </a:r>
            <a:endParaRPr/>
          </a:p>
        </p:txBody>
      </p:sp>
      <p:sp>
        <p:nvSpPr>
          <p:cNvPr id="221" name="Google Shape;221;p3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Users choose to share their location</a:t>
            </a:r>
            <a:endParaRPr/>
          </a:p>
        </p:txBody>
      </p:sp>
      <p:sp>
        <p:nvSpPr>
          <p:cNvPr id="227" name="Google Shape;227;p3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8" name="Google Shape;22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0050" y="1226000"/>
            <a:ext cx="1793375" cy="3188275"/>
          </a:xfrm>
          <a:prstGeom prst="rect">
            <a:avLst/>
          </a:pr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9" name="Google Shape;229;p37"/>
          <p:cNvSpPr txBox="1"/>
          <p:nvPr>
            <p:ph idx="1" type="body"/>
          </p:nvPr>
        </p:nvSpPr>
        <p:spPr>
          <a:xfrm>
            <a:off x="383125" y="1149725"/>
            <a:ext cx="6254700" cy="3264900"/>
          </a:xfrm>
          <a:prstGeom prst="rect">
            <a:avLst/>
          </a:prstGeom>
          <a:solidFill>
            <a:srgbClr val="FFFFFF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Marshmallow onwards: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Users grant or deny access to their location for each app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Users can change access permission at any time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Your app can prompt user to grant permission to use location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Users choose to share their location</a:t>
            </a:r>
            <a:endParaRPr/>
          </a:p>
        </p:txBody>
      </p:sp>
      <p:sp>
        <p:nvSpPr>
          <p:cNvPr id="235" name="Google Shape;235;p38"/>
          <p:cNvSpPr txBox="1"/>
          <p:nvPr>
            <p:ph idx="1" type="body"/>
          </p:nvPr>
        </p:nvSpPr>
        <p:spPr>
          <a:xfrm>
            <a:off x="354400" y="1145175"/>
            <a:ext cx="5967300" cy="331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For apps created before Marshmallow: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users grant permission before installing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after installation, user cannot change access permission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your app can check if permission has been granted</a:t>
            </a:r>
            <a:endParaRPr/>
          </a:p>
        </p:txBody>
      </p:sp>
      <p:sp>
        <p:nvSpPr>
          <p:cNvPr id="236" name="Google Shape;236;p3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7" name="Google Shape;237;p38"/>
          <p:cNvPicPr preferRelativeResize="0"/>
          <p:nvPr/>
        </p:nvPicPr>
        <p:blipFill rotWithShape="1">
          <a:blip r:embed="rId3">
            <a:alphaModFix/>
          </a:blip>
          <a:srcRect b="20863" l="0" r="0" t="17970"/>
          <a:stretch/>
        </p:blipFill>
        <p:spPr>
          <a:xfrm>
            <a:off x="6873875" y="1676727"/>
            <a:ext cx="1958426" cy="21294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Requesting location permission</a:t>
            </a:r>
            <a:endParaRPr/>
          </a:p>
        </p:txBody>
      </p:sp>
      <p:sp>
        <p:nvSpPr>
          <p:cNvPr id="243" name="Google Shape;243;p39"/>
          <p:cNvSpPr txBox="1"/>
          <p:nvPr>
            <p:ph idx="1" type="body"/>
          </p:nvPr>
        </p:nvSpPr>
        <p:spPr>
          <a:xfrm>
            <a:off x="311700" y="1064625"/>
            <a:ext cx="8754900" cy="3488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Apps must request location permission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ACCESS_COARSE_LOCATION</a:t>
            </a:r>
            <a:r>
              <a:rPr lang="en">
                <a:solidFill>
                  <a:srgbClr val="000000"/>
                </a:solidFill>
              </a:rPr>
              <a:t> 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for location accurate to within a city block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ACCESS_FINE_LOCATION</a:t>
            </a:r>
            <a:r>
              <a:rPr lang="en">
                <a:solidFill>
                  <a:srgbClr val="000000"/>
                </a:solidFill>
              </a:rPr>
              <a:t> 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for get precise location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Request permission in manifest</a:t>
            </a:r>
            <a:endParaRPr/>
          </a:p>
        </p:txBody>
      </p:sp>
      <p:sp>
        <p:nvSpPr>
          <p:cNvPr id="250" name="Google Shape;250;p40"/>
          <p:cNvSpPr txBox="1"/>
          <p:nvPr>
            <p:ph idx="1" type="body"/>
          </p:nvPr>
        </p:nvSpPr>
        <p:spPr>
          <a:xfrm>
            <a:off x="311700" y="1064625"/>
            <a:ext cx="8754900" cy="3488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&lt;uses-permission 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android:name=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"android.permission.ACCESS_FINE_LOCATION"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4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Requesting permission at run time</a:t>
            </a:r>
            <a:endParaRPr/>
          </a:p>
        </p:txBody>
      </p:sp>
      <p:sp>
        <p:nvSpPr>
          <p:cNvPr id="257" name="Google Shape;257;p41"/>
          <p:cNvSpPr txBox="1"/>
          <p:nvPr>
            <p:ph idx="1" type="body"/>
          </p:nvPr>
        </p:nvSpPr>
        <p:spPr>
          <a:xfrm>
            <a:off x="311700" y="1399400"/>
            <a:ext cx="8754900" cy="3153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User can revoke permission at any time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Check for permission each time your app uses location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Details and examples: </a:t>
            </a:r>
            <a:r>
              <a:rPr lang="en" u="sng">
                <a:solidFill>
                  <a:srgbClr val="21AAC3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Requesting Permissions at Runtime</a:t>
            </a:r>
            <a:endParaRPr>
              <a:solidFill>
                <a:srgbClr val="21AAC3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4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2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Steps to check/request permission 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64" name="Google Shape;264;p42"/>
          <p:cNvSpPr txBox="1"/>
          <p:nvPr>
            <p:ph idx="1" type="body"/>
          </p:nvPr>
        </p:nvSpPr>
        <p:spPr>
          <a:xfrm>
            <a:off x="311700" y="1367575"/>
            <a:ext cx="8657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Use</a:t>
            </a:r>
            <a:r>
              <a:rPr lang="en"/>
              <a:t> </a:t>
            </a:r>
            <a:r>
              <a:rPr lang="en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checkSelfPermission()</a:t>
            </a:r>
            <a:r>
              <a:rPr lang="en">
                <a:solidFill>
                  <a:srgbClr val="000000"/>
                </a:solidFill>
              </a:rPr>
              <a:t> to see if permission granted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Use</a:t>
            </a:r>
            <a:r>
              <a:rPr lang="en"/>
              <a:t> </a:t>
            </a:r>
            <a:r>
              <a:rPr lang="en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requestPermissions()</a:t>
            </a:r>
            <a:r>
              <a:rPr lang="en">
                <a:solidFill>
                  <a:srgbClr val="000000"/>
                </a:solidFill>
              </a:rPr>
              <a:t> to request permission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Check user response to see if request was granted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5" name="Google Shape;265;p4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3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Check/request permission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71" name="Google Shape;271;p43"/>
          <p:cNvSpPr txBox="1"/>
          <p:nvPr>
            <p:ph idx="1" type="body"/>
          </p:nvPr>
        </p:nvSpPr>
        <p:spPr>
          <a:xfrm>
            <a:off x="0" y="1000075"/>
            <a:ext cx="914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if (ActivityCompat.</a:t>
            </a:r>
            <a:r>
              <a:rPr b="1"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checkSelfPermission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(this,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</a:t>
            </a:r>
            <a:r>
              <a:rPr b="1"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Manifest.permission.ACCESS_FINE_LOCATION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!=  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PackageManager.PERMISSION_GRANTED) {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ActivityCompat.</a:t>
            </a:r>
            <a:r>
              <a:rPr b="1"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requestPermissions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(this,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new String[]{Manifest.permission.ACCESS_FINE_LOCATION},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REQUEST_LOCATION_PERMISSION);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} else {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Log.d(TAG, "getLocation: permissions granted");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72" name="Google Shape;272;p4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4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Get user's response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78" name="Google Shape;278;p44"/>
          <p:cNvSpPr txBox="1"/>
          <p:nvPr>
            <p:ph idx="1" type="body"/>
          </p:nvPr>
        </p:nvSpPr>
        <p:spPr>
          <a:xfrm>
            <a:off x="247600" y="1000075"/>
            <a:ext cx="8896500" cy="36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Override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onRequestPermissionsResult()</a:t>
            </a:r>
            <a:r>
              <a:rPr lang="en">
                <a:solidFill>
                  <a:srgbClr val="000000"/>
                </a:solidFill>
              </a:rPr>
              <a:t> to check if user granted permission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public void onRequestPermissionsResult(int requestCode,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String permissions[], int[] grantResults) {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switch (requestCode) {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 case REQUEST_LOCATION_PERMISSION: {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// Check if the permission is granted.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79" name="Google Shape;279;p4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5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Check if request was granted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85" name="Google Shape;285;p45"/>
          <p:cNvSpPr txBox="1"/>
          <p:nvPr>
            <p:ph idx="1" type="body"/>
          </p:nvPr>
        </p:nvSpPr>
        <p:spPr>
          <a:xfrm>
            <a:off x="311700" y="1089200"/>
            <a:ext cx="8657700" cy="35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Response is returned in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permissions</a:t>
            </a:r>
            <a:r>
              <a:rPr lang="en">
                <a:solidFill>
                  <a:srgbClr val="000000"/>
                </a:solidFill>
              </a:rPr>
              <a:t> array</a:t>
            </a:r>
            <a:endParaRPr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">
                <a:solidFill>
                  <a:srgbClr val="000000"/>
                </a:solidFill>
              </a:rPr>
              <a:t>Compare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grantResults</a:t>
            </a:r>
            <a:r>
              <a:rPr lang="en">
                <a:solidFill>
                  <a:srgbClr val="000000"/>
                </a:solidFill>
              </a:rPr>
              <a:t> parameter to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PackageManager.PERMISSION_GRANTED</a:t>
            </a:r>
            <a:r>
              <a:rPr lang="en" sz="2000">
                <a:solidFill>
                  <a:srgbClr val="000000"/>
                </a:solidFill>
              </a:rPr>
              <a:t> 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Check if the permission is granted.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if (grantResults.length &gt; 0) &amp;&amp; grantResults[0] == 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   PackageManager.PERMISSION_GRANTED) {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// Permission was granted.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...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 else {// Permission was denied...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86" name="Google Shape;286;p4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6"/>
          <p:cNvSpPr txBox="1"/>
          <p:nvPr>
            <p:ph type="title"/>
          </p:nvPr>
        </p:nvSpPr>
        <p:spPr>
          <a:xfrm>
            <a:off x="265500" y="1705225"/>
            <a:ext cx="4045200" cy="156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device location</a:t>
            </a:r>
            <a:endParaRPr/>
          </a:p>
        </p:txBody>
      </p:sp>
      <p:sp>
        <p:nvSpPr>
          <p:cNvPr id="292" name="Google Shape;292;p4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93" name="Google Shape;293;p4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FusedLocationProviderClient</a:t>
            </a:r>
            <a:endParaRPr/>
          </a:p>
        </p:txBody>
      </p:sp>
      <p:sp>
        <p:nvSpPr>
          <p:cNvPr id="299" name="Google Shape;299;p47"/>
          <p:cNvSpPr txBox="1"/>
          <p:nvPr>
            <p:ph idx="1" type="body"/>
          </p:nvPr>
        </p:nvSpPr>
        <p:spPr>
          <a:xfrm>
            <a:off x="311700" y="1124650"/>
            <a:ext cx="5896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FusedLocationProviderClient</a:t>
            </a:r>
            <a:r>
              <a:rPr lang="en"/>
              <a:t> to request last known location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Usually, last known location is same as current location</a:t>
            </a:r>
            <a:endParaRPr/>
          </a:p>
        </p:txBody>
      </p:sp>
      <p:sp>
        <p:nvSpPr>
          <p:cNvPr id="300" name="Google Shape;300;p4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1" name="Google Shape;30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9650" y="1403875"/>
            <a:ext cx="2983825" cy="28579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2" name="Google Shape;302;p47"/>
          <p:cNvGrpSpPr/>
          <p:nvPr/>
        </p:nvGrpSpPr>
        <p:grpSpPr>
          <a:xfrm>
            <a:off x="7215600" y="1984776"/>
            <a:ext cx="914400" cy="1024200"/>
            <a:chOff x="4823900" y="3013476"/>
            <a:chExt cx="914400" cy="1024200"/>
          </a:xfrm>
        </p:grpSpPr>
        <p:sp>
          <p:nvSpPr>
            <p:cNvPr id="303" name="Google Shape;303;p47"/>
            <p:cNvSpPr/>
            <p:nvPr/>
          </p:nvSpPr>
          <p:spPr>
            <a:xfrm>
              <a:off x="5010375" y="3061900"/>
              <a:ext cx="548700" cy="9078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04" name="Google Shape;304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823900" y="3013476"/>
              <a:ext cx="914400" cy="1024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FusedLocationProviderClient</a:t>
            </a:r>
            <a:endParaRPr/>
          </a:p>
        </p:txBody>
      </p:sp>
      <p:sp>
        <p:nvSpPr>
          <p:cNvPr id="310" name="Google Shape;310;p48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To get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FusedLocationProviderClient: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FusedLocationProviderClient flpClient = 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 LocationServices.getFusedLocationProviderClient(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    context);</a:t>
            </a:r>
            <a:endParaRPr/>
          </a:p>
        </p:txBody>
      </p:sp>
      <p:sp>
        <p:nvSpPr>
          <p:cNvPr id="311" name="Google Shape;311;p4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Requesting last known location</a:t>
            </a:r>
            <a:endParaRPr/>
          </a:p>
        </p:txBody>
      </p:sp>
      <p:sp>
        <p:nvSpPr>
          <p:cNvPr id="317" name="Google Shape;317;p49"/>
          <p:cNvSpPr txBox="1"/>
          <p:nvPr>
            <p:ph idx="1" type="body"/>
          </p:nvPr>
        </p:nvSpPr>
        <p:spPr>
          <a:xfrm>
            <a:off x="311700" y="1129325"/>
            <a:ext cx="8754900" cy="3423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Call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FusedLocationProviderClient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getLastLocation()</a:t>
            </a:r>
            <a:endParaRPr>
              <a:solidFill>
                <a:schemeClr val="dk1"/>
              </a:solidFill>
            </a:endParaRPr>
          </a:p>
          <a:p>
            <a:pPr indent="-3810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○"/>
            </a:pPr>
            <a:r>
              <a:rPr lang="en" sz="2400">
                <a:solidFill>
                  <a:schemeClr val="dk1"/>
                </a:solidFill>
              </a:rPr>
              <a:t>Returns </a:t>
            </a:r>
            <a:r>
              <a:rPr lang="en" sz="2400" u="sng">
                <a:solidFill>
                  <a:srgbClr val="21AAC3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Task</a:t>
            </a:r>
            <a:r>
              <a:rPr lang="en" sz="2400">
                <a:solidFill>
                  <a:schemeClr val="dk1"/>
                </a:solidFill>
              </a:rPr>
              <a:t> object representing async task to fetch </a:t>
            </a:r>
            <a:r>
              <a:rPr lang="en" sz="2400" u="sng">
                <a:solidFill>
                  <a:srgbClr val="21AAC3"/>
                </a:solidFill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Location</a:t>
            </a:r>
            <a:r>
              <a:rPr lang="en" sz="2400">
                <a:solidFill>
                  <a:schemeClr val="dk1"/>
                </a:solidFill>
              </a:rPr>
              <a:t> object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Task</a:t>
            </a:r>
            <a:r>
              <a:rPr lang="en" sz="2400">
                <a:solidFill>
                  <a:schemeClr val="dk1"/>
                </a:solidFill>
              </a:rPr>
              <a:t> supplies methods for adding success and failure listeners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Retrieve latitude and longitude from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Location</a:t>
            </a:r>
            <a:r>
              <a:rPr lang="en">
                <a:solidFill>
                  <a:schemeClr val="dk1"/>
                </a:solidFill>
              </a:rPr>
              <a:t> object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4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getLastLocation() success listener</a:t>
            </a:r>
            <a:endParaRPr/>
          </a:p>
        </p:txBody>
      </p:sp>
      <p:sp>
        <p:nvSpPr>
          <p:cNvPr id="324" name="Google Shape;324;p50"/>
          <p:cNvSpPr txBox="1"/>
          <p:nvPr>
            <p:ph idx="1" type="body"/>
          </p:nvPr>
        </p:nvSpPr>
        <p:spPr>
          <a:xfrm>
            <a:off x="311700" y="1105525"/>
            <a:ext cx="8754900" cy="3447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mFusedLocationClient.getLastLocation().addOnSuccessListener(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new OnSuccessListener&lt;Location&gt;() {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@Override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public void onSuccess(Location location) {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if (location != null) {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mLastLocation = location;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// Get the lat and long.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} else { // Show "no location" }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}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5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getLastLocation() failure listener</a:t>
            </a:r>
            <a:endParaRPr/>
          </a:p>
        </p:txBody>
      </p:sp>
      <p:sp>
        <p:nvSpPr>
          <p:cNvPr id="331" name="Google Shape;331;p51"/>
          <p:cNvSpPr txBox="1"/>
          <p:nvPr>
            <p:ph idx="1" type="body"/>
          </p:nvPr>
        </p:nvSpPr>
        <p:spPr>
          <a:xfrm>
            <a:off x="311700" y="1105525"/>
            <a:ext cx="8754900" cy="3447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mFusedLocationClient.getLastLocation().addOnFailureListener(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new OnFailureListener() {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@Override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public void onFailure(@NonNull Exception e) {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Log.e(TAG, "onFailure: ", e.printStackTrace());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}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}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5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latitude and longitude</a:t>
            </a:r>
            <a:endParaRPr/>
          </a:p>
        </p:txBody>
      </p:sp>
      <p:sp>
        <p:nvSpPr>
          <p:cNvPr id="338" name="Google Shape;338;p52"/>
          <p:cNvSpPr txBox="1"/>
          <p:nvPr>
            <p:ph idx="1" type="body"/>
          </p:nvPr>
        </p:nvSpPr>
        <p:spPr>
          <a:xfrm>
            <a:off x="311700" y="1199225"/>
            <a:ext cx="8754900" cy="3353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void onSuccess(Location location) {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(location != null) {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Get the lat and long.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lat = location.getLatitude(),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long = location.getLongitude(),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time = location.getTime()));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} else { // no location}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5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3"/>
          <p:cNvSpPr txBox="1"/>
          <p:nvPr>
            <p:ph type="title"/>
          </p:nvPr>
        </p:nvSpPr>
        <p:spPr>
          <a:xfrm>
            <a:off x="265500" y="1705225"/>
            <a:ext cx="4045200" cy="156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Geocoding and reverse geocoding</a:t>
            </a:r>
            <a:endParaRPr/>
          </a:p>
        </p:txBody>
      </p:sp>
      <p:sp>
        <p:nvSpPr>
          <p:cNvPr id="345" name="Google Shape;345;p5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46" name="Google Shape;346;p5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Geocoding and reverse geocoding</a:t>
            </a:r>
            <a:endParaRPr/>
          </a:p>
        </p:txBody>
      </p:sp>
      <p:sp>
        <p:nvSpPr>
          <p:cNvPr id="352" name="Google Shape;352;p54"/>
          <p:cNvSpPr txBox="1"/>
          <p:nvPr>
            <p:ph idx="1" type="body"/>
          </p:nvPr>
        </p:nvSpPr>
        <p:spPr>
          <a:xfrm>
            <a:off x="311700" y="1086775"/>
            <a:ext cx="5340000" cy="346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i="1" lang="en">
                <a:solidFill>
                  <a:srgbClr val="000000"/>
                </a:solidFill>
              </a:rPr>
              <a:t>Geocode:</a:t>
            </a:r>
            <a:r>
              <a:rPr lang="en">
                <a:solidFill>
                  <a:srgbClr val="000000"/>
                </a:solidFill>
              </a:rPr>
              <a:t> 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Convert human-readable street address into latitude/longitude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i="1" lang="en">
                <a:solidFill>
                  <a:srgbClr val="000000"/>
                </a:solidFill>
              </a:rPr>
              <a:t>Reverse geocode:</a:t>
            </a:r>
            <a:r>
              <a:rPr lang="en">
                <a:solidFill>
                  <a:srgbClr val="000000"/>
                </a:solidFill>
              </a:rPr>
              <a:t> 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Convert lat/long into human-readable street address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5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4" name="Google Shape;354;p54"/>
          <p:cNvSpPr/>
          <p:nvPr/>
        </p:nvSpPr>
        <p:spPr>
          <a:xfrm>
            <a:off x="5785200" y="1067625"/>
            <a:ext cx="2917500" cy="1014000"/>
          </a:xfrm>
          <a:prstGeom prst="round2DiagRect">
            <a:avLst>
              <a:gd fmla="val 16667" name="adj1"/>
              <a:gd fmla="val 4814" name="adj2"/>
            </a:avLst>
          </a:prstGeom>
          <a:noFill/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54"/>
          <p:cNvSpPr/>
          <p:nvPr/>
        </p:nvSpPr>
        <p:spPr>
          <a:xfrm>
            <a:off x="5785200" y="2945800"/>
            <a:ext cx="2917500" cy="1386000"/>
          </a:xfrm>
          <a:prstGeom prst="round2DiagRect">
            <a:avLst>
              <a:gd fmla="val 16667" name="adj1"/>
              <a:gd fmla="val 7357" name="adj2"/>
            </a:avLst>
          </a:prstGeom>
          <a:solidFill>
            <a:srgbClr val="FFFFFF"/>
          </a:solidFill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54"/>
          <p:cNvSpPr txBox="1"/>
          <p:nvPr/>
        </p:nvSpPr>
        <p:spPr>
          <a:xfrm>
            <a:off x="6105525" y="2927375"/>
            <a:ext cx="2748300" cy="15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latin typeface="Roboto"/>
                <a:ea typeface="Roboto"/>
                <a:cs typeface="Roboto"/>
                <a:sym typeface="Roboto"/>
              </a:rPr>
              <a:t>Tower Bridge,</a:t>
            </a:r>
            <a:br>
              <a:rPr i="1" lang="en" sz="2000">
                <a:latin typeface="Roboto"/>
                <a:ea typeface="Roboto"/>
                <a:cs typeface="Roboto"/>
                <a:sym typeface="Roboto"/>
              </a:rPr>
            </a:br>
            <a:r>
              <a:rPr i="1" lang="en" sz="2000">
                <a:latin typeface="Roboto"/>
                <a:ea typeface="Roboto"/>
                <a:cs typeface="Roboto"/>
                <a:sym typeface="Roboto"/>
              </a:rPr>
              <a:t>Tower Bridge Rd, London SE1 2UP</a:t>
            </a:r>
            <a:endParaRPr i="1"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latin typeface="Roboto"/>
                <a:ea typeface="Roboto"/>
                <a:cs typeface="Roboto"/>
                <a:sym typeface="Roboto"/>
              </a:rPr>
              <a:t>UK</a:t>
            </a:r>
            <a:endParaRPr i="1"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Google Shape;357;p54"/>
          <p:cNvSpPr txBox="1"/>
          <p:nvPr/>
        </p:nvSpPr>
        <p:spPr>
          <a:xfrm>
            <a:off x="6105525" y="1117125"/>
            <a:ext cx="25497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latin typeface="Roboto"/>
                <a:ea typeface="Roboto"/>
                <a:cs typeface="Roboto"/>
                <a:sym typeface="Roboto"/>
              </a:rPr>
              <a:t>Latitude 51.5</a:t>
            </a:r>
            <a:endParaRPr i="1"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latin typeface="Roboto"/>
                <a:ea typeface="Roboto"/>
                <a:cs typeface="Roboto"/>
                <a:sym typeface="Roboto"/>
              </a:rPr>
              <a:t>Longitude -0.078</a:t>
            </a:r>
            <a:endParaRPr i="1" sz="20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8" name="Google Shape;358;p54"/>
          <p:cNvCxnSpPr/>
          <p:nvPr/>
        </p:nvCxnSpPr>
        <p:spPr>
          <a:xfrm flipH="1">
            <a:off x="7140500" y="2081600"/>
            <a:ext cx="12000" cy="835200"/>
          </a:xfrm>
          <a:prstGeom prst="straightConnector1">
            <a:avLst/>
          </a:prstGeom>
          <a:noFill/>
          <a:ln cap="flat" cmpd="sng" w="38100">
            <a:solidFill>
              <a:srgbClr val="351C75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the Geocoder class</a:t>
            </a:r>
            <a:endParaRPr/>
          </a:p>
        </p:txBody>
      </p:sp>
      <p:sp>
        <p:nvSpPr>
          <p:cNvPr id="364" name="Google Shape;364;p55"/>
          <p:cNvSpPr txBox="1"/>
          <p:nvPr>
            <p:ph idx="1" type="body"/>
          </p:nvPr>
        </p:nvSpPr>
        <p:spPr>
          <a:xfrm>
            <a:off x="311700" y="1164575"/>
            <a:ext cx="8754900" cy="3388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Use </a:t>
            </a:r>
            <a:r>
              <a:rPr lang="en" u="sng">
                <a:solidFill>
                  <a:srgbClr val="21AAC3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Geocoder</a:t>
            </a:r>
            <a:r>
              <a:rPr lang="en">
                <a:solidFill>
                  <a:schemeClr val="dk1"/>
                </a:solidFill>
              </a:rPr>
              <a:t> for geocoding and reverse geocoding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Geocoder geocoder = new Geocoder(context,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Locale.getDefault());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Methods make network request—don't call on main thread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5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Geocoder backend service</a:t>
            </a:r>
            <a:endParaRPr/>
          </a:p>
        </p:txBody>
      </p:sp>
      <p:sp>
        <p:nvSpPr>
          <p:cNvPr id="371" name="Google Shape;371;p56"/>
          <p:cNvSpPr txBox="1"/>
          <p:nvPr>
            <p:ph idx="1" type="body"/>
          </p:nvPr>
        </p:nvSpPr>
        <p:spPr>
          <a:xfrm>
            <a:off x="311700" y="1086775"/>
            <a:ext cx="8754900" cy="346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Geocoder</a:t>
            </a:r>
            <a:r>
              <a:rPr lang="en">
                <a:solidFill>
                  <a:schemeClr val="dk1"/>
                </a:solidFill>
              </a:rPr>
              <a:t> requires backend service that are not included in core Android framework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Use </a:t>
            </a:r>
            <a:r>
              <a:rPr lang="en" u="sng">
                <a:solidFill>
                  <a:srgbClr val="21AAC3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isPresent()</a:t>
            </a:r>
            <a:r>
              <a:rPr lang="en">
                <a:solidFill>
                  <a:schemeClr val="dk1"/>
                </a:solidFill>
              </a:rPr>
              <a:t> to check if implementation exists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20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Geocoder</a:t>
            </a:r>
            <a:r>
              <a:rPr lang="en">
                <a:solidFill>
                  <a:schemeClr val="dk1"/>
                </a:solidFill>
              </a:rPr>
              <a:t> query methods return empty list if no backend service exists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5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Reverse geocoding coordinates</a:t>
            </a:r>
            <a:endParaRPr/>
          </a:p>
        </p:txBody>
      </p:sp>
      <p:sp>
        <p:nvSpPr>
          <p:cNvPr id="378" name="Google Shape;378;p57"/>
          <p:cNvSpPr txBox="1"/>
          <p:nvPr>
            <p:ph idx="1" type="body"/>
          </p:nvPr>
        </p:nvSpPr>
        <p:spPr>
          <a:xfrm>
            <a:off x="311700" y="1199850"/>
            <a:ext cx="8754900" cy="3353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getFromLocation(</a:t>
            </a:r>
            <a:br>
              <a:rPr lang="en" sz="20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</a:b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20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double latitude, double longitude, int maxResults)</a:t>
            </a:r>
            <a:r>
              <a:rPr lang="en" sz="2000">
                <a:solidFill>
                  <a:srgbClr val="000000"/>
                </a:solidFill>
              </a:rPr>
              <a:t> </a:t>
            </a:r>
            <a:br>
              <a:rPr lang="en" sz="2000">
                <a:solidFill>
                  <a:srgbClr val="000000"/>
                </a:solidFill>
              </a:rPr>
            </a:b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Returns list of </a:t>
            </a:r>
            <a:r>
              <a:rPr lang="en" sz="20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6"/>
              </a:rPr>
              <a:t>Address</a:t>
            </a:r>
            <a:r>
              <a:rPr lang="en" sz="2000">
                <a:solidFill>
                  <a:srgbClr val="000000"/>
                </a:solidFill>
              </a:rPr>
              <a:t> objects: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List&lt;Address&gt; addresses = geocoder.getFromLocation(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location.getLatitude(), location.getLongitude(), 1);</a:t>
            </a:r>
            <a:endParaRPr i="1"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5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Geocoding address into coordinates</a:t>
            </a:r>
            <a:endParaRPr/>
          </a:p>
        </p:txBody>
      </p:sp>
      <p:sp>
        <p:nvSpPr>
          <p:cNvPr id="385" name="Google Shape;385;p58"/>
          <p:cNvSpPr txBox="1"/>
          <p:nvPr>
            <p:ph idx="1" type="body"/>
          </p:nvPr>
        </p:nvSpPr>
        <p:spPr>
          <a:xfrm>
            <a:off x="311700" y="923788"/>
            <a:ext cx="8754900" cy="362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getFromLocationName(</a:t>
            </a:r>
            <a:endParaRPr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20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String locationName, int maxResults)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Returns list of 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Address</a:t>
            </a:r>
            <a:r>
              <a:rPr lang="en" sz="2000">
                <a:solidFill>
                  <a:srgbClr val="000000"/>
                </a:solidFill>
              </a:rPr>
              <a:t> objects with latitude/longitude coordinates: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List&lt;Address&gt; addresses = geocoder.getFromLocationName(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"731 Market St, San Francisco, CA 94103", 1)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Address firstAddress = addresses.get(0);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double latitude = firstAddress.getLatitude();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double longitude = firstAddress.getLongitude();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5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9"/>
          <p:cNvSpPr txBox="1"/>
          <p:nvPr>
            <p:ph type="title"/>
          </p:nvPr>
        </p:nvSpPr>
        <p:spPr>
          <a:xfrm>
            <a:off x="129600" y="1233175"/>
            <a:ext cx="4268700" cy="222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Creating a LocationRequest object</a:t>
            </a:r>
            <a:endParaRPr/>
          </a:p>
        </p:txBody>
      </p:sp>
      <p:sp>
        <p:nvSpPr>
          <p:cNvPr id="392" name="Google Shape;392;p5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location updates</a:t>
            </a:r>
            <a:endParaRPr/>
          </a:p>
        </p:txBody>
      </p:sp>
      <p:sp>
        <p:nvSpPr>
          <p:cNvPr id="398" name="Google Shape;398;p60"/>
          <p:cNvSpPr txBox="1"/>
          <p:nvPr>
            <p:ph idx="1" type="body"/>
          </p:nvPr>
        </p:nvSpPr>
        <p:spPr>
          <a:xfrm>
            <a:off x="181300" y="1206675"/>
            <a:ext cx="6237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Your app can get the last known location.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It can also ask for regular updates to track location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LocationRequest</a:t>
            </a:r>
            <a:r>
              <a:rPr lang="en"/>
              <a:t> to set parameters for location update requests</a:t>
            </a:r>
            <a:endParaRPr/>
          </a:p>
        </p:txBody>
      </p:sp>
      <p:sp>
        <p:nvSpPr>
          <p:cNvPr id="399" name="Google Shape;399;p6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00" name="Google Shape;400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5350" y="1283195"/>
            <a:ext cx="2152650" cy="28860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LocationRequest parameters</a:t>
            </a:r>
            <a:endParaRPr/>
          </a:p>
        </p:txBody>
      </p:sp>
      <p:sp>
        <p:nvSpPr>
          <p:cNvPr id="406" name="Google Shape;406;p61"/>
          <p:cNvSpPr txBox="1"/>
          <p:nvPr>
            <p:ph idx="1" type="body"/>
          </p:nvPr>
        </p:nvSpPr>
        <p:spPr>
          <a:xfrm>
            <a:off x="311700" y="1086775"/>
            <a:ext cx="8754900" cy="346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LocationRequest</a:t>
            </a:r>
            <a:r>
              <a:rPr lang="en"/>
              <a:t> parameters to control location requests</a:t>
            </a:r>
            <a:endParaRPr/>
          </a:p>
          <a:p>
            <a:pPr indent="-3810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 u="sng">
                <a:solidFill>
                  <a:srgbClr val="21AAC3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setInterval()</a:t>
            </a:r>
            <a:r>
              <a:rPr lang="en">
                <a:solidFill>
                  <a:srgbClr val="000000"/>
                </a:solidFill>
              </a:rPr>
              <a:t>: 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Sets how frequently your app needs updates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 u="sng">
                <a:solidFill>
                  <a:srgbClr val="21AAC3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setFastestInterval()</a:t>
            </a:r>
            <a:r>
              <a:rPr lang="en">
                <a:solidFill>
                  <a:srgbClr val="000000"/>
                </a:solidFill>
              </a:rPr>
              <a:t>: 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Sets limit to the update rate to prevent flicker/data overflow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 u="sng">
                <a:solidFill>
                  <a:srgbClr val="21AAC3"/>
                </a:solidFill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setPriority()</a:t>
            </a:r>
            <a:r>
              <a:rPr lang="en">
                <a:solidFill>
                  <a:srgbClr val="000000"/>
                </a:solidFill>
              </a:rPr>
              <a:t>: 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Sets request priority and sources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6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6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Request priority values</a:t>
            </a:r>
            <a:endParaRPr/>
          </a:p>
        </p:txBody>
      </p:sp>
      <p:sp>
        <p:nvSpPr>
          <p:cNvPr id="413" name="Google Shape;413;p6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414" name="Google Shape;414;p62"/>
          <p:cNvGraphicFramePr/>
          <p:nvPr/>
        </p:nvGraphicFramePr>
        <p:xfrm>
          <a:off x="311700" y="1165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{496FF350-8E54-48D7-BF25-48AC67E242A6}</a:tableStyleId>
              </a:tblPr>
              <a:tblGrid>
                <a:gridCol w="3434050"/>
                <a:gridCol w="4800450"/>
              </a:tblGrid>
              <a:tr h="1304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u="sng">
                          <a:solidFill>
                            <a:srgbClr val="21AAC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PRIORITY_BALANCED_POWER_ACCURACY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Precise to within city block (100 meters); uses only Wi-Fi and cell network, to consume less power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u="sng">
                          <a:solidFill>
                            <a:srgbClr val="21AAC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PRIORITY_HIGH_ACCURACY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Uses GPS if available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u="sng">
                          <a:solidFill>
                            <a:srgbClr val="21AAC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PRIORITY_LOW_POWER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City-level precision (10 km)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u="sng">
                          <a:solidFill>
                            <a:srgbClr val="21AAC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PRIORITY_NO_POWER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Updates when triggered by other apps (zero additional power)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LocationRequest example</a:t>
            </a:r>
            <a:endParaRPr/>
          </a:p>
        </p:txBody>
      </p:sp>
      <p:sp>
        <p:nvSpPr>
          <p:cNvPr id="420" name="Google Shape;420;p63"/>
          <p:cNvSpPr txBox="1"/>
          <p:nvPr>
            <p:ph idx="1" type="body"/>
          </p:nvPr>
        </p:nvSpPr>
        <p:spPr>
          <a:xfrm>
            <a:off x="311700" y="1076275"/>
            <a:ext cx="8709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private LocationRequest getLocationRequest() {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LocationRequest locationRequest = new LocationRequest();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locationRequest.setInterval(10000);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locationRequest.setFastestInterval(5000);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locationRequest.setPriority(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LocationRequest.PRIORITY_HIGH_ACCURACY);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return locationRequest; 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1" name="Google Shape;421;p6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64"/>
          <p:cNvSpPr txBox="1"/>
          <p:nvPr>
            <p:ph type="title"/>
          </p:nvPr>
        </p:nvSpPr>
        <p:spPr>
          <a:xfrm>
            <a:off x="265500" y="1705225"/>
            <a:ext cx="4045200" cy="156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Requesting location updates</a:t>
            </a:r>
            <a:endParaRPr/>
          </a:p>
        </p:txBody>
      </p:sp>
      <p:sp>
        <p:nvSpPr>
          <p:cNvPr id="427" name="Google Shape;427;p6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28" name="Google Shape;428;p6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Requesting location updates</a:t>
            </a:r>
            <a:endParaRPr/>
          </a:p>
        </p:txBody>
      </p:sp>
      <p:sp>
        <p:nvSpPr>
          <p:cNvPr id="434" name="Google Shape;434;p65"/>
          <p:cNvSpPr txBox="1"/>
          <p:nvPr>
            <p:ph idx="1" type="body"/>
          </p:nvPr>
        </p:nvSpPr>
        <p:spPr>
          <a:xfrm>
            <a:off x="311700" y="1086775"/>
            <a:ext cx="8754900" cy="346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Use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LocationRequest</a:t>
            </a:r>
            <a:r>
              <a:rPr lang="en">
                <a:solidFill>
                  <a:srgbClr val="000000"/>
                </a:solidFill>
              </a:rPr>
              <a:t> with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FusedLocationProviderClient</a:t>
            </a:r>
            <a:r>
              <a:rPr lang="en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Accuracy of location determined by:</a:t>
            </a:r>
            <a:endParaRPr>
              <a:solidFill>
                <a:srgbClr val="000000"/>
              </a:solidFill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○"/>
            </a:pPr>
            <a:r>
              <a:rPr lang="en" sz="2400">
                <a:solidFill>
                  <a:srgbClr val="000000"/>
                </a:solidFill>
              </a:rPr>
              <a:t>Available location providers (network and GPS)</a:t>
            </a:r>
            <a:endParaRPr sz="2400">
              <a:solidFill>
                <a:srgbClr val="000000"/>
              </a:solidFill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○"/>
            </a:pPr>
            <a:r>
              <a:rPr lang="en" sz="2400">
                <a:solidFill>
                  <a:srgbClr val="000000"/>
                </a:solidFill>
              </a:rPr>
              <a:t>Location permission requested</a:t>
            </a:r>
            <a:endParaRPr sz="2400">
              <a:solidFill>
                <a:srgbClr val="000000"/>
              </a:solidFill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○"/>
            </a:pPr>
            <a:r>
              <a:rPr lang="en" sz="2400">
                <a:solidFill>
                  <a:srgbClr val="000000"/>
                </a:solidFill>
              </a:rPr>
              <a:t>Options set in location request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435" name="Google Shape;435;p6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to start location updates</a:t>
            </a:r>
            <a:endParaRPr/>
          </a:p>
        </p:txBody>
      </p:sp>
      <p:sp>
        <p:nvSpPr>
          <p:cNvPr id="441" name="Google Shape;441;p66"/>
          <p:cNvSpPr txBox="1"/>
          <p:nvPr>
            <p:ph idx="1" type="body"/>
          </p:nvPr>
        </p:nvSpPr>
        <p:spPr>
          <a:xfrm>
            <a:off x="311700" y="1086775"/>
            <a:ext cx="8754900" cy="346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n">
                <a:solidFill>
                  <a:srgbClr val="000000"/>
                </a:solidFill>
              </a:rPr>
              <a:t>Create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LocationRequest</a:t>
            </a:r>
            <a:r>
              <a:rPr lang="en">
                <a:solidFill>
                  <a:srgbClr val="000000"/>
                </a:solidFill>
              </a:rPr>
              <a:t> object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n">
                <a:solidFill>
                  <a:srgbClr val="000000"/>
                </a:solidFill>
              </a:rPr>
              <a:t>Override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LocationCallback.onLocationResult()</a:t>
            </a:r>
            <a:endParaRPr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20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n">
                <a:solidFill>
                  <a:srgbClr val="000000"/>
                </a:solidFill>
              </a:rPr>
              <a:t>Use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requestLocationUpdates()</a:t>
            </a:r>
            <a:r>
              <a:rPr lang="en">
                <a:solidFill>
                  <a:srgbClr val="000000"/>
                </a:solidFill>
              </a:rPr>
              <a:t> on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FusedLocationProviderClient</a:t>
            </a:r>
            <a:r>
              <a:rPr lang="en">
                <a:solidFill>
                  <a:srgbClr val="000000"/>
                </a:solidFill>
              </a:rPr>
              <a:t> to start regular updates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2" name="Google Shape;442;p6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to start location updates</a:t>
            </a:r>
            <a:endParaRPr/>
          </a:p>
        </p:txBody>
      </p:sp>
      <p:sp>
        <p:nvSpPr>
          <p:cNvPr id="448" name="Google Shape;448;p67"/>
          <p:cNvSpPr txBox="1"/>
          <p:nvPr>
            <p:ph idx="1" type="body"/>
          </p:nvPr>
        </p:nvSpPr>
        <p:spPr>
          <a:xfrm>
            <a:off x="311700" y="1086775"/>
            <a:ext cx="8754900" cy="346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Use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requestLocationUpdates()</a:t>
            </a:r>
            <a:r>
              <a:rPr lang="en">
                <a:solidFill>
                  <a:srgbClr val="000000"/>
                </a:solidFill>
              </a:rPr>
              <a:t> to start regular updates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Pass in </a:t>
            </a:r>
            <a:r>
              <a:rPr lang="e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LocationRequest</a:t>
            </a:r>
            <a:r>
              <a:rPr lang="en" sz="2400">
                <a:solidFill>
                  <a:srgbClr val="000000"/>
                </a:solidFill>
              </a:rPr>
              <a:t> and </a:t>
            </a:r>
            <a:r>
              <a:rPr lang="e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LocationCallback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2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Location updates </a:t>
            </a:r>
            <a:r>
              <a:rPr lang="en" sz="2400">
                <a:solidFill>
                  <a:srgbClr val="000000"/>
                </a:solidFill>
              </a:rPr>
              <a:t>are delivered to </a:t>
            </a:r>
            <a:r>
              <a:rPr lang="e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onLocationResult()</a:t>
            </a:r>
            <a:endParaRPr sz="2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9" name="Google Shape;449;p6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LocationCallback</a:t>
            </a:r>
            <a:endParaRPr/>
          </a:p>
        </p:txBody>
      </p:sp>
      <p:sp>
        <p:nvSpPr>
          <p:cNvPr id="455" name="Google Shape;455;p68"/>
          <p:cNvSpPr txBox="1"/>
          <p:nvPr>
            <p:ph idx="1" type="body"/>
          </p:nvPr>
        </p:nvSpPr>
        <p:spPr>
          <a:xfrm>
            <a:off x="311700" y="1358475"/>
            <a:ext cx="8754900" cy="3194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mLocationCallback = new LocationCallback()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@Override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public void onLocationResult(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LocationResult locationResult)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for (Location location : locationResult.getLocations())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// Update UI with location data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// ...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6" name="Google Shape;456;p6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69"/>
          <p:cNvSpPr txBox="1"/>
          <p:nvPr>
            <p:ph type="title"/>
          </p:nvPr>
        </p:nvSpPr>
        <p:spPr>
          <a:xfrm>
            <a:off x="265500" y="1705225"/>
            <a:ext cx="4045200" cy="156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Working with user settings</a:t>
            </a:r>
            <a:endParaRPr/>
          </a:p>
        </p:txBody>
      </p:sp>
      <p:sp>
        <p:nvSpPr>
          <p:cNvPr id="462" name="Google Shape;462;p6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63" name="Google Shape;463;p6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7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settings for location services</a:t>
            </a:r>
            <a:endParaRPr/>
          </a:p>
        </p:txBody>
      </p:sp>
      <p:sp>
        <p:nvSpPr>
          <p:cNvPr id="469" name="Google Shape;469;p70"/>
          <p:cNvSpPr txBox="1"/>
          <p:nvPr>
            <p:ph idx="1" type="body"/>
          </p:nvPr>
        </p:nvSpPr>
        <p:spPr>
          <a:xfrm>
            <a:off x="114700" y="1252800"/>
            <a:ext cx="5618100" cy="3300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Users can control balance between accuracy and power consumption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Your app can: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</a:rPr>
              <a:t>Detect device settings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500"/>
              </a:spcBef>
              <a:spcAft>
                <a:spcPts val="20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</a:rPr>
              <a:t>Prompt user to change them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70" name="Google Shape;470;p7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71" name="Google Shape;471;p70"/>
          <p:cNvPicPr preferRelativeResize="0"/>
          <p:nvPr/>
        </p:nvPicPr>
        <p:blipFill rotWithShape="1">
          <a:blip r:embed="rId3">
            <a:alphaModFix/>
          </a:blip>
          <a:srcRect b="27349" l="3190" r="3803" t="23086"/>
          <a:stretch/>
        </p:blipFill>
        <p:spPr>
          <a:xfrm>
            <a:off x="5732950" y="1321025"/>
            <a:ext cx="3147175" cy="298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7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to check device settings</a:t>
            </a:r>
            <a:endParaRPr/>
          </a:p>
        </p:txBody>
      </p:sp>
      <p:sp>
        <p:nvSpPr>
          <p:cNvPr id="477" name="Google Shape;477;p71"/>
          <p:cNvSpPr txBox="1"/>
          <p:nvPr>
            <p:ph idx="1" type="body"/>
          </p:nvPr>
        </p:nvSpPr>
        <p:spPr>
          <a:xfrm>
            <a:off x="311700" y="1111625"/>
            <a:ext cx="8754900" cy="344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Create a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LocationSettingsRequest</a:t>
            </a:r>
            <a:r>
              <a:rPr lang="en">
                <a:solidFill>
                  <a:srgbClr val="000000"/>
                </a:solidFill>
              </a:rPr>
              <a:t> object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Create a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SettingsClient</a:t>
            </a:r>
            <a:r>
              <a:rPr lang="en">
                <a:solidFill>
                  <a:srgbClr val="000000"/>
                </a:solidFill>
              </a:rPr>
              <a:t> object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Use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checkLocationSettings()</a:t>
            </a:r>
            <a:r>
              <a:rPr lang="en">
                <a:solidFill>
                  <a:srgbClr val="000000"/>
                </a:solidFill>
              </a:rPr>
              <a:t> to see if device settings match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LocationRequest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Use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OnFailureListener</a:t>
            </a:r>
            <a:r>
              <a:rPr lang="en">
                <a:solidFill>
                  <a:srgbClr val="000000"/>
                </a:solidFill>
              </a:rPr>
              <a:t> to catch when settings don't match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LocationRequest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78" name="Google Shape;478;p7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72"/>
          <p:cNvSpPr txBox="1"/>
          <p:nvPr>
            <p:ph type="title"/>
          </p:nvPr>
        </p:nvSpPr>
        <p:spPr>
          <a:xfrm>
            <a:off x="243000" y="170825"/>
            <a:ext cx="868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AutoNum type="arabicPeriod"/>
            </a:pPr>
            <a:r>
              <a:rPr lang="en"/>
              <a:t>Create a LocationSettingsRequest</a:t>
            </a:r>
            <a:endParaRPr/>
          </a:p>
        </p:txBody>
      </p:sp>
      <p:sp>
        <p:nvSpPr>
          <p:cNvPr id="484" name="Google Shape;484;p72"/>
          <p:cNvSpPr txBox="1"/>
          <p:nvPr>
            <p:ph idx="1" type="body"/>
          </p:nvPr>
        </p:nvSpPr>
        <p:spPr>
          <a:xfrm>
            <a:off x="311700" y="1086775"/>
            <a:ext cx="8754900" cy="346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Create a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LocationSettingsRequest</a:t>
            </a:r>
            <a:r>
              <a:rPr lang="en">
                <a:solidFill>
                  <a:schemeClr val="dk1"/>
                </a:solidFill>
              </a:rPr>
              <a:t> object and a</a:t>
            </a:r>
            <a:r>
              <a:rPr lang="en">
                <a:solidFill>
                  <a:srgbClr val="000000"/>
                </a:solidFill>
              </a:rPr>
              <a:t>dd one or more location requests: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LocationSettingsRequest settingsRequest = 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new LocationSettingsRequest.Builder()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.addLocationRequest(mLocationRequest).build();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5" name="Google Shape;485;p7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Create a SettingsClient</a:t>
            </a:r>
            <a:endParaRPr/>
          </a:p>
        </p:txBody>
      </p:sp>
      <p:sp>
        <p:nvSpPr>
          <p:cNvPr id="491" name="Google Shape;491;p73"/>
          <p:cNvSpPr txBox="1"/>
          <p:nvPr>
            <p:ph idx="1" type="body"/>
          </p:nvPr>
        </p:nvSpPr>
        <p:spPr>
          <a:xfrm>
            <a:off x="311700" y="1086775"/>
            <a:ext cx="8754900" cy="346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Create a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SettingsClient</a:t>
            </a:r>
            <a:r>
              <a:rPr lang="en">
                <a:solidFill>
                  <a:srgbClr val="000000"/>
                </a:solidFill>
              </a:rPr>
              <a:t> object using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LocationServices.getSettingsClient()</a:t>
            </a:r>
            <a:r>
              <a:rPr lang="en">
                <a:solidFill>
                  <a:srgbClr val="000000"/>
                </a:solidFill>
              </a:rPr>
              <a:t> and pass in the context: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SettingsClient client = 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LocationServices.getSettingsClient(this);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2" name="Google Shape;492;p7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74"/>
          <p:cNvSpPr txBox="1"/>
          <p:nvPr>
            <p:ph type="title"/>
          </p:nvPr>
        </p:nvSpPr>
        <p:spPr>
          <a:xfrm>
            <a:off x="311650" y="170825"/>
            <a:ext cx="875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See if device settings match request</a:t>
            </a:r>
            <a:endParaRPr/>
          </a:p>
        </p:txBody>
      </p:sp>
      <p:sp>
        <p:nvSpPr>
          <p:cNvPr id="498" name="Google Shape;498;p74"/>
          <p:cNvSpPr txBox="1"/>
          <p:nvPr>
            <p:ph idx="1" type="body"/>
          </p:nvPr>
        </p:nvSpPr>
        <p:spPr>
          <a:xfrm>
            <a:off x="311700" y="1086775"/>
            <a:ext cx="8754900" cy="346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Use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checkLocationSettings()</a:t>
            </a:r>
            <a:r>
              <a:rPr lang="en">
                <a:solidFill>
                  <a:srgbClr val="000000"/>
                </a:solidFill>
              </a:rPr>
              <a:t> to see if device settings match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LocationRequest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Task&lt;LocationSettingsResponse&gt; task = 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client.checkLocationSettings(settingsRequest);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Returns a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Task</a:t>
            </a:r>
            <a:r>
              <a:rPr lang="en">
                <a:solidFill>
                  <a:srgbClr val="000000"/>
                </a:solidFill>
              </a:rPr>
              <a:t> object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99" name="Google Shape;499;p7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7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Catch when settings don't match</a:t>
            </a:r>
            <a:endParaRPr/>
          </a:p>
        </p:txBody>
      </p:sp>
      <p:sp>
        <p:nvSpPr>
          <p:cNvPr id="505" name="Google Shape;505;p75"/>
          <p:cNvSpPr txBox="1"/>
          <p:nvPr>
            <p:ph idx="1" type="body"/>
          </p:nvPr>
        </p:nvSpPr>
        <p:spPr>
          <a:xfrm>
            <a:off x="311700" y="1086775"/>
            <a:ext cx="8754900" cy="346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Use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OnFailureListener</a:t>
            </a:r>
            <a:r>
              <a:rPr lang="en">
                <a:solidFill>
                  <a:srgbClr val="000000"/>
                </a:solidFill>
              </a:rPr>
              <a:t> to catch when settings don't match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LocationRequest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nsolas"/>
              <a:buChar char="●"/>
            </a:pPr>
            <a:r>
              <a:rPr lang="en">
                <a:solidFill>
                  <a:srgbClr val="000000"/>
                </a:solidFill>
              </a:rPr>
              <a:t>Exception passed into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onFailure()</a:t>
            </a:r>
            <a:r>
              <a:rPr lang="en">
                <a:solidFill>
                  <a:srgbClr val="000000"/>
                </a:solidFill>
              </a:rPr>
              <a:t> contains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Status</a:t>
            </a:r>
            <a:endParaRPr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">
                <a:solidFill>
                  <a:srgbClr val="000000"/>
                </a:solidFill>
              </a:rPr>
              <a:t>If settings don't match, then status is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LocationSettingsStatusCodes.RESOLUTION_REQUIRED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2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Show dialog to change settings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506" name="Google Shape;506;p7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7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code for user dialog</a:t>
            </a:r>
            <a:endParaRPr/>
          </a:p>
        </p:txBody>
      </p:sp>
      <p:sp>
        <p:nvSpPr>
          <p:cNvPr id="512" name="Google Shape;512;p76"/>
          <p:cNvSpPr txBox="1"/>
          <p:nvPr>
            <p:ph idx="1" type="body"/>
          </p:nvPr>
        </p:nvSpPr>
        <p:spPr>
          <a:xfrm>
            <a:off x="311700" y="1086775"/>
            <a:ext cx="8754900" cy="346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task.addOnFailureListener(this, new OnFailureListener() {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@Override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public void onFailure(@NonNull Exception e) {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int statusCode = ((ApiException) e).getStatusCode();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if (statusCode == 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LocationSettingsStatusCodes.RESOLUTION_REQUIRED) {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// Show the user a dialog.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// ...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3" name="Google Shape;513;p7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7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code for user dialog (continued)</a:t>
            </a:r>
            <a:endParaRPr/>
          </a:p>
        </p:txBody>
      </p:sp>
      <p:sp>
        <p:nvSpPr>
          <p:cNvPr id="519" name="Google Shape;519;p77"/>
          <p:cNvSpPr txBox="1"/>
          <p:nvPr>
            <p:ph idx="1" type="body"/>
          </p:nvPr>
        </p:nvSpPr>
        <p:spPr>
          <a:xfrm>
            <a:off x="311700" y="1086775"/>
            <a:ext cx="8754900" cy="346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// Show the user a dialog.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try {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// Call startResolutionForResult(), check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// result in onActivityResult()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ResolvableApiException resolvable =   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  (ResolvableApiException) e;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resolvable.startResolutionForResult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(MainActivity.this,REQUEST_CHECK_SETTINGS);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} catch (IntentSender.SendIntentException sendEx) {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// Ignore the error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}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0" name="Google Shape;520;p7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7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Handle the user's decision</a:t>
            </a:r>
            <a:endParaRPr/>
          </a:p>
        </p:txBody>
      </p:sp>
      <p:sp>
        <p:nvSpPr>
          <p:cNvPr id="526" name="Google Shape;526;p78"/>
          <p:cNvSpPr txBox="1"/>
          <p:nvPr>
            <p:ph idx="1" type="body"/>
          </p:nvPr>
        </p:nvSpPr>
        <p:spPr>
          <a:xfrm>
            <a:off x="311700" y="1086775"/>
            <a:ext cx="8754900" cy="346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Override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onActivityResult()</a:t>
            </a:r>
            <a:r>
              <a:rPr lang="en">
                <a:solidFill>
                  <a:srgbClr val="000000"/>
                </a:solidFill>
              </a:rPr>
              <a:t> in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Ensure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requestCode</a:t>
            </a:r>
            <a:r>
              <a:rPr lang="en">
                <a:solidFill>
                  <a:srgbClr val="000000"/>
                </a:solidFill>
              </a:rPr>
              <a:t> matches constant in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startResolutionForResult()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527" name="Google Shape;527;p7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7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onActivityResult method</a:t>
            </a:r>
            <a:endParaRPr/>
          </a:p>
        </p:txBody>
      </p:sp>
      <p:sp>
        <p:nvSpPr>
          <p:cNvPr id="533" name="Google Shape;533;p79"/>
          <p:cNvSpPr txBox="1"/>
          <p:nvPr>
            <p:ph idx="1" type="body"/>
          </p:nvPr>
        </p:nvSpPr>
        <p:spPr>
          <a:xfrm>
            <a:off x="311700" y="952163"/>
            <a:ext cx="8754900" cy="3600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protected void onActivityResult(int requestCode, 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int resultCode, Intent data) {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if (requestCode == REQUEST_CHECK_SETTINGS) {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if (resultCode == RESULT_CANCELED) {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stopTrackingLocation();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} else if (resultCode == RESULT_OK) {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startTrackingLocation();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}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super.onActivityResult(requestCode, resultCode, data);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4" name="Google Shape;534;p7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8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540" name="Google Shape;540;p8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1" name="Google Shape;541;p80"/>
          <p:cNvSpPr txBox="1"/>
          <p:nvPr/>
        </p:nvSpPr>
        <p:spPr>
          <a:xfrm>
            <a:off x="311700" y="2063725"/>
            <a:ext cx="8520600" cy="1777800"/>
          </a:xfrm>
          <a:prstGeom prst="rect">
            <a:avLst/>
          </a:prstGeom>
          <a:noFill/>
          <a:ln cap="flat" cmpd="sng" w="38100">
            <a:solidFill>
              <a:srgbClr val="21AA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7.1 Location services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Practical: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7.1 Using the device location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8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547" name="Google Shape;547;p8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548" name="Google Shape;548;p8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9" name="Google Shape;549;p8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