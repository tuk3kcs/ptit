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Open Sans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EBEA96-8F78-492D-88E3-7DFF7FAC806A}">
  <a:tblStyle styleId="{6FEBEA96-8F78-492D-88E3-7DFF7FAC80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3.xml"/><Relationship Id="rId64" Type="http://schemas.openxmlformats.org/officeDocument/2006/relationships/font" Target="fonts/OpenSans-bold.fntdata"/><Relationship Id="rId63" Type="http://schemas.openxmlformats.org/officeDocument/2006/relationships/font" Target="fonts/OpenSans-regular.fntdata"/><Relationship Id="rId22" Type="http://schemas.openxmlformats.org/officeDocument/2006/relationships/slide" Target="slides/slide15.xml"/><Relationship Id="rId66" Type="http://schemas.openxmlformats.org/officeDocument/2006/relationships/font" Target="fonts/OpenSans-boldItalic.fntdata"/><Relationship Id="rId21" Type="http://schemas.openxmlformats.org/officeDocument/2006/relationships/slide" Target="slides/slide14.xml"/><Relationship Id="rId65" Type="http://schemas.openxmlformats.org/officeDocument/2006/relationships/font" Target="fonts/Open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Roboto-regular.fntdata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5edda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f5edda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c12893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c12893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c12893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c12893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c12893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c12893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c12893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c12893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c12893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c12893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c12893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8c12893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c128931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c128931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c128931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c128931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c128931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c128931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c128931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c128931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c128931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8c128931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c128931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c128931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c128931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c128931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c128931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c128931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c128931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c128931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c128931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c128931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c128931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c128931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c128931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c128931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c128931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c128931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8c128931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8c128931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c128931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8c12893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c128931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c128931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8c128931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8c128931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8c128931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8c128931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c128931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c128931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c128931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c128931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c128931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c128931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c128931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c128931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c128931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8c128931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c128931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c128931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c128931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8c128931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8c128931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8c128931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8c128931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8c128931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c128931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8c128931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8c128931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8c128931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8c128931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8c128931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8c128931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8c128931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8c128931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8c128931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8c1289316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8c1289316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c1289316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8c1289316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8c128931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8c128931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8c128931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8c128931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c128931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c128931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8c1289316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8c128931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8c128931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8c128931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8c1289316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8c1289316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8c1289316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8c128931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8c128931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8c128931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c128931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8c128931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f5edda7e9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f5edda7e9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/>
        </p:nvSpPr>
        <p:spPr>
          <a:xfrm>
            <a:off x="4407225" y="475659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407225" y="475659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2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3" name="Google Shape;173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8" name="Google Shape;17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80" name="Google Shape;180;p35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3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4" name="Google Shape;184;p3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" name="Google Shape;185;p3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6" name="Google Shape;186;p3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87" name="Google Shape;1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5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07225" y="475659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407225" y="4756598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2" name="Google Shape;132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407225" y="4755009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Places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7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com/google/android/gms/location/places/Place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s.google.com/places/android-api/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com/google/android/gms/location/places/ui/PlacePicker.html" TargetMode="External"/><Relationship Id="rId4" Type="http://schemas.openxmlformats.org/officeDocument/2006/relationships/hyperlink" Target="https://developer.android.com/reference/com/google/android/gms/location/places/PlaceDetectionApi.html" TargetMode="External"/><Relationship Id="rId5" Type="http://schemas.openxmlformats.org/officeDocument/2006/relationships/hyperlink" Target="https://developer.android.com/reference/com/google/android/gms/location/places/GeoDataApi.html" TargetMode="External"/><Relationship Id="rId6" Type="http://schemas.openxmlformats.org/officeDocument/2006/relationships/hyperlink" Target="https://developers.google.com/android/reference/com/google/android/gms/location/places/ui/PlaceAutocomplet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console.developers.google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training/permissions/requesting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support/v4/content/ContextCompat.html#checkSelfPermission(android.content.Context,%20java.lang.String)" TargetMode="External"/><Relationship Id="rId4" Type="http://schemas.openxmlformats.org/officeDocument/2006/relationships/hyperlink" Target="https://developer.android.com/reference/android/support/v4/app/ActivityCompat.html#requestPermissions(android.app.Activity,%20java.lang.String%5B%5D,%20int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support/v4/app/ActivityCompat.OnRequestPermissionsResultCallback.html#onRequestPermissionsResult(int,%20java.lang.String%5B%5D,%20int%5B%5D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com/google/android/gms/location/places/Place.html#getId()" TargetMode="External"/><Relationship Id="rId4" Type="http://schemas.openxmlformats.org/officeDocument/2006/relationships/hyperlink" Target="https://developer.android.com/reference/com/google/android/gms/location/places/Place.html" TargetMode="External"/><Relationship Id="rId5" Type="http://schemas.openxmlformats.org/officeDocument/2006/relationships/hyperlink" Target="https://developers.google.com/android/reference/com/google/android/gms/location/places/GeoDataClient.html#getPlaceById(java.lang.String...)" TargetMode="External"/><Relationship Id="rId6" Type="http://schemas.openxmlformats.org/officeDocument/2006/relationships/hyperlink" Target="https://developer.android.com/reference/com/google/android/gms/location/places/PlaceBuffer.html" TargetMode="External"/><Relationship Id="rId7" Type="http://schemas.openxmlformats.org/officeDocument/2006/relationships/hyperlink" Target="https://developers.google.com/android/reference/com/google/android/gms/tasks/Task" TargetMode="External"/><Relationship Id="rId8" Type="http://schemas.openxmlformats.org/officeDocument/2006/relationships/hyperlink" Target="https://developer.android.com/reference/com/google/android/gms/location/places/Plac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s.google.com/android/reference/com/google/android/gms/maps/model/LatLngBounds.html" TargetMode="External"/><Relationship Id="rId4" Type="http://schemas.openxmlformats.org/officeDocument/2006/relationships/hyperlink" Target="https://developer.android.com/reference/com/google/android/gms/location/places/Place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com/google/android/gms/location/places/ui/PlacePicker.IntentBuilder.html" TargetMode="External"/><Relationship Id="rId4" Type="http://schemas.openxmlformats.org/officeDocument/2006/relationships/hyperlink" Target="https://developer.android.com/guide/webapps/targeting.html#Viewport" TargetMode="External"/><Relationship Id="rId5" Type="http://schemas.openxmlformats.org/officeDocument/2006/relationships/hyperlink" Target="https://developers.google.com/android/reference/com/google/android/gms/location/places/ui/PlacePicker.IntentBuilder.html#setLatLngBounds(com.google.android.gms.maps.model.LatLngBounds)" TargetMode="External"/><Relationship Id="rId6" Type="http://schemas.openxmlformats.org/officeDocument/2006/relationships/hyperlink" Target="https://developers.google.com/android/reference/com/google/android/gms/maps/model/LatLngBounds.html" TargetMode="External"/><Relationship Id="rId7" Type="http://schemas.openxmlformats.org/officeDocument/2006/relationships/hyperlink" Target="https://developer.android.com/reference/android/app/Activity.html#startActivityForResult(android.content.Intent,%20int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app/Activity.html#onActivityResult(int,%20int,%20android.content.Intent)" TargetMode="External"/><Relationship Id="rId4" Type="http://schemas.openxmlformats.org/officeDocument/2006/relationships/hyperlink" Target="https://developer.android.com/reference/android/app/Activity.html#startActivityForResult(android.content.Intent,%20int)" TargetMode="External"/><Relationship Id="rId5" Type="http://schemas.openxmlformats.org/officeDocument/2006/relationships/hyperlink" Target="https://developer.android.com/reference/com/google/android/gms/location/places/ui/PlacePicker.html" TargetMode="External"/><Relationship Id="rId6" Type="http://schemas.openxmlformats.org/officeDocument/2006/relationships/hyperlink" Target="https://developer.android.com/reference/com/google/android/gms/location/places/ui/PlacePicker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s.google.com/android/reference/com/google/android/gms/location/places/PlaceDetectionClient.html#getCurrentPlace(com.google.android.gms.location.places.PlaceFilter)" TargetMode="External"/><Relationship Id="rId4" Type="http://schemas.openxmlformats.org/officeDocument/2006/relationships/hyperlink" Target="https://developers.google.com/android/reference/com/google/android/gms/location/places/PlaceFilter" TargetMode="External"/><Relationship Id="rId5" Type="http://schemas.openxmlformats.org/officeDocument/2006/relationships/hyperlink" Target="https://developers.google.com/android/reference/com/google/android/gms/tasks/Task" TargetMode="External"/><Relationship Id="rId6" Type="http://schemas.openxmlformats.org/officeDocument/2006/relationships/hyperlink" Target="https://developers.google.com/android/reference/com/google/android/gms/location/places/PlaceLikelihoodBuffer.html" TargetMode="External"/><Relationship Id="rId7" Type="http://schemas.openxmlformats.org/officeDocument/2006/relationships/hyperlink" Target="https://developer.android.com/reference/com/google/android/gms/location/places/PlaceLikelihood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s.google.com/android/reference/com/google/android/gms/tasks/Task" TargetMode="External"/><Relationship Id="rId4" Type="http://schemas.openxmlformats.org/officeDocument/2006/relationships/hyperlink" Target="https://developer.android.com/reference/com/google/android/gms/location/places/PlaceLikelihood.html" TargetMode="External"/><Relationship Id="rId5" Type="http://schemas.openxmlformats.org/officeDocument/2006/relationships/hyperlink" Target="https://developers.google.com/android/reference/com/google/android/gms/location/places/PlaceLikelihood.html#getLikelihood()" TargetMode="External"/><Relationship Id="rId6" Type="http://schemas.openxmlformats.org/officeDocument/2006/relationships/hyperlink" Target="https://developers.google.com/android/reference/com/google/android/gms/location/places/PlaceLikelihood.html#getPlace(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s.google.com/android/reference/com/google/android/gms/location/places/PlaceFilter" TargetMode="External"/><Relationship Id="rId4" Type="http://schemas.openxmlformats.org/officeDocument/2006/relationships/hyperlink" Target="https://developer.android.com/reference/com/google/android/gms/location/places/PlaceLikelihoodBuffer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evelopers.google.com/android/reference/com/google/android/gms/location/places/ui/PlaceAutocomplete" TargetMode="External"/><Relationship Id="rId4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evelopers.google.com/android/reference/com/google/android/gms/location/places/ui/PlaceAutocompleteFragment" TargetMode="External"/><Relationship Id="rId4" Type="http://schemas.openxmlformats.org/officeDocument/2006/relationships/hyperlink" Target="https://developers.google.com/android/reference/com/google/android/gms/location/places/ui/PlaceAutocomplete.IntentBuilder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evelopers.google.com/android/reference/com/google/android/gms/location/places/GeoDataClient.html#getAutocompletePredictions(java.lang.String,%20com.google.android.gms.maps.model.LatLngBounds,%20com.google.android.gms.location.places.AutocompleteFilter)" TargetMode="External"/><Relationship Id="rId4" Type="http://schemas.openxmlformats.org/officeDocument/2006/relationships/hyperlink" Target="https://developers.google.com/android/reference/com/google/android/gms/maps/model/LatLngBounds" TargetMode="External"/><Relationship Id="rId5" Type="http://schemas.openxmlformats.org/officeDocument/2006/relationships/hyperlink" Target="https://developers.google.com/android/reference/com/google/android/gms/location/places/AutocompleteFilter" TargetMode="External"/><Relationship Id="rId6" Type="http://schemas.openxmlformats.org/officeDocument/2006/relationships/hyperlink" Target="https://developers.google.com/places/android-api/usag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developers.google.com/android/reference/com/google/android/gms/location/places/AutocompletePrediction.html#getFullText(/android.text.style.CharacterStyle)" TargetMode="External"/><Relationship Id="rId4" Type="http://schemas.openxmlformats.org/officeDocument/2006/relationships/hyperlink" Target="http://developer.android.com/reference/android/text/style/CharacterStyle.html" TargetMode="External"/><Relationship Id="rId5" Type="http://schemas.openxmlformats.org/officeDocument/2006/relationships/hyperlink" Target="https://developers.google.com/android/reference/com/google/android/gms/location/places/AutocompletePrediction.html#getPrimaryText(/android.text.style.CharacterStyle)" TargetMode="External"/><Relationship Id="rId6" Type="http://schemas.openxmlformats.org/officeDocument/2006/relationships/hyperlink" Target="https://developers.google.com/android/reference/com/google/android/gms/location/places/AutocompletePrediction.html#getSecondaryText(/android.text.style.CharacterStyle)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evelopers.google.com/android/reference/com/google/android/gms/location/places/GeoDataClient.html#getPlacePhotos(java.lang.String)" TargetMode="External"/><Relationship Id="rId4" Type="http://schemas.openxmlformats.org/officeDocument/2006/relationships/hyperlink" Target="https://developers.google.com/android/reference/com/google/android/gms/location/places/PlacePhotoMetadataResult" TargetMode="External"/><Relationship Id="rId9" Type="http://schemas.openxmlformats.org/officeDocument/2006/relationships/hyperlink" Target="https://developers.google.com/android/reference/com/google/android/gms/location/places/PlacePhotoMetadata" TargetMode="External"/><Relationship Id="rId5" Type="http://schemas.openxmlformats.org/officeDocument/2006/relationships/hyperlink" Target="https://developers.google.com/android/reference/com/google/android/gms/tasks/Task" TargetMode="External"/><Relationship Id="rId6" Type="http://schemas.openxmlformats.org/officeDocument/2006/relationships/hyperlink" Target="https://developers.google.com/android/reference/com/google/android/gms/location/places/PlacePhotoMetadataResult.html#getPhotoMetadata()" TargetMode="External"/><Relationship Id="rId7" Type="http://schemas.openxmlformats.org/officeDocument/2006/relationships/hyperlink" Target="https://developers.google.com/android/reference/com/google/android/gms/location/places/PlacePhotoMetadataBuffer" TargetMode="External"/><Relationship Id="rId8" Type="http://schemas.openxmlformats.org/officeDocument/2006/relationships/hyperlink" Target="https://developers.google.com/android/reference/com/google/android/gms/location/places/PlacePhotoMetadataBuffer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google-developer-training.gitbooks.io/android-developer-advanced-course-concepts/content/unit-4-add-geo-features-to-your-apps/lesson-8-places/8-1-c-places-api/8-1-c-places-api.html" TargetMode="External"/><Relationship Id="rId4" Type="http://schemas.openxmlformats.org/officeDocument/2006/relationships/hyperlink" Target="https://google-developer-training.gitbooks.io/android-developer-advanced-course-practicals/content/unit-4-add-geo-features-to-your-apps/lesson-8-places/8-1-p-places-api/8-1-p-places-api.html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Places</a:t>
            </a:r>
            <a:endParaRPr/>
          </a:p>
        </p:txBody>
      </p:sp>
      <p:sp>
        <p:nvSpPr>
          <p:cNvPr id="201" name="Google Shape;201;p3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8 </a:t>
            </a:r>
            <a:endParaRPr/>
          </a:p>
        </p:txBody>
      </p:sp>
      <p:sp>
        <p:nvSpPr>
          <p:cNvPr id="202" name="Google Shape;202;p3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203" name="Google Shape;203;p37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ctrTitle"/>
          </p:nvPr>
        </p:nvSpPr>
        <p:spPr>
          <a:xfrm>
            <a:off x="311700" y="655000"/>
            <a:ext cx="8520600" cy="21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8.1 Using the Places API</a:t>
            </a:r>
            <a:endParaRPr/>
          </a:p>
        </p:txBody>
      </p:sp>
      <p:sp>
        <p:nvSpPr>
          <p:cNvPr id="209" name="Google Shape;209;p38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for and get details about a specific place </a:t>
            </a:r>
            <a:endParaRPr/>
          </a:p>
        </p:txBody>
      </p:sp>
      <p:sp>
        <p:nvSpPr>
          <p:cNvPr id="210" name="Google Shape;210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9"/>
          <p:cNvSpPr txBox="1"/>
          <p:nvPr>
            <p:ph idx="1" type="body"/>
          </p:nvPr>
        </p:nvSpPr>
        <p:spPr>
          <a:xfrm>
            <a:off x="333600" y="1101300"/>
            <a:ext cx="8476800" cy="33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Overview and API setup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Setting up permission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Using place details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Using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PlacePicker</a:t>
            </a:r>
            <a:r>
              <a:rPr lang="en"/>
              <a:t> UI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Getting nearby places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Using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PlaceAutocomplete</a:t>
            </a:r>
            <a:r>
              <a:rPr lang="en"/>
              <a:t> service</a:t>
            </a:r>
            <a:endParaRPr sz="1800"/>
          </a:p>
        </p:txBody>
      </p:sp>
      <p:sp>
        <p:nvSpPr>
          <p:cNvPr id="217" name="Google Shape;217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265500" y="1233175"/>
            <a:ext cx="4045200" cy="21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and API setup</a:t>
            </a:r>
            <a:endParaRPr/>
          </a:p>
        </p:txBody>
      </p:sp>
      <p:sp>
        <p:nvSpPr>
          <p:cNvPr id="223" name="Google Shape;223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4" name="Google Shape;22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0"/>
          <p:cNvSpPr txBox="1"/>
          <p:nvPr>
            <p:ph idx="1" type="subTitle"/>
          </p:nvPr>
        </p:nvSpPr>
        <p:spPr>
          <a:xfrm>
            <a:off x="265500" y="3355675"/>
            <a:ext cx="4045200" cy="6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"place" in Google Maps?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311700" y="1016925"/>
            <a:ext cx="8520600" cy="3475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 place: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Physical space that has a name and is on a map—includes businesses, points of interest, and geographic locations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A </a:t>
            </a: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object: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Represents a place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Can include name, address, geographical location, place ID, phone number, place type, website URL, and more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32" name="Google Shape;232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Places API</a:t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311700" y="1076275"/>
            <a:ext cx="85206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Places API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Get same places data that is used by Google Maps </a:t>
            </a:r>
            <a:endParaRPr/>
          </a:p>
        </p:txBody>
      </p:sp>
      <p:sp>
        <p:nvSpPr>
          <p:cNvPr id="239" name="Google Shape;239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50520"/>
            <a:ext cx="8839201" cy="206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the Places API</a:t>
            </a:r>
            <a:endParaRPr/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PlacePicker</a:t>
            </a:r>
            <a:r>
              <a:rPr lang="en">
                <a:solidFill>
                  <a:srgbClr val="000000"/>
                </a:solidFill>
              </a:rPr>
              <a:t>: Lets user search and select a place on map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PlaceDetectionApi</a:t>
            </a:r>
            <a:r>
              <a:rPr lang="en">
                <a:solidFill>
                  <a:srgbClr val="000000"/>
                </a:solidFill>
              </a:rPr>
              <a:t>: Access to device's current place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GeoDataApi</a:t>
            </a:r>
            <a:r>
              <a:rPr lang="en">
                <a:solidFill>
                  <a:srgbClr val="000000"/>
                </a:solidFill>
              </a:rPr>
              <a:t>: Access to Google's database of local place and business information, including images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PlaceAutocomplete</a:t>
            </a:r>
            <a:r>
              <a:rPr lang="en">
                <a:solidFill>
                  <a:srgbClr val="000000"/>
                </a:solidFill>
              </a:rPr>
              <a:t>: Lets user search for specific place with autocomplete suggestions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to use Places API</a:t>
            </a:r>
            <a:endParaRPr/>
          </a:p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Set up Google Play services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Google Play services dependency to your project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Register your app and get API key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4" name="Google Shape;254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Google Play services</a:t>
            </a:r>
            <a:endParaRPr/>
          </a:p>
        </p:txBody>
      </p:sp>
      <p:sp>
        <p:nvSpPr>
          <p:cNvPr id="260" name="Google Shape;260;p45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Steps to install Google Repository in Android Studio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Tools &gt; Android &gt; SDK Manager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the </a:t>
            </a:r>
            <a:r>
              <a:rPr b="1" lang="en">
                <a:solidFill>
                  <a:srgbClr val="000000"/>
                </a:solidFill>
              </a:rPr>
              <a:t>SDK Tools</a:t>
            </a:r>
            <a:r>
              <a:rPr lang="en">
                <a:solidFill>
                  <a:srgbClr val="000000"/>
                </a:solidFill>
              </a:rPr>
              <a:t> tab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Expand </a:t>
            </a:r>
            <a:r>
              <a:rPr b="1" lang="en">
                <a:solidFill>
                  <a:srgbClr val="000000"/>
                </a:solidFill>
              </a:rPr>
              <a:t>Support Repository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Select </a:t>
            </a:r>
            <a:r>
              <a:rPr b="1" lang="en">
                <a:solidFill>
                  <a:srgbClr val="000000"/>
                </a:solidFill>
              </a:rPr>
              <a:t>Google Repository</a:t>
            </a:r>
            <a:r>
              <a:rPr lang="en">
                <a:solidFill>
                  <a:srgbClr val="000000"/>
                </a:solidFill>
              </a:rPr>
              <a:t> and click </a:t>
            </a:r>
            <a:r>
              <a:rPr b="1" lang="en">
                <a:solidFill>
                  <a:srgbClr val="000000"/>
                </a:solidFill>
              </a:rPr>
              <a:t>OK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Google Play services to project</a:t>
            </a:r>
            <a:endParaRPr/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 to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</a:t>
            </a:r>
            <a:r>
              <a:rPr lang="en">
                <a:solidFill>
                  <a:schemeClr val="dk1"/>
                </a:solidFill>
              </a:rPr>
              <a:t>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build.gradle (Module: app)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compile 'com.google.android.gms:play-services:</a:t>
            </a:r>
            <a:r>
              <a:rPr i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x.x.x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9144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i="1"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x.x.x</a:t>
            </a:r>
            <a:r>
              <a:rPr lang="en" sz="2000">
                <a:solidFill>
                  <a:srgbClr val="000000"/>
                </a:solidFill>
              </a:rPr>
              <a:t> is latest version suggested by Android Studio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Register your app and get API key</a:t>
            </a:r>
            <a:endParaRPr/>
          </a:p>
        </p:txBody>
      </p:sp>
      <p:sp>
        <p:nvSpPr>
          <p:cNvPr id="274" name="Google Shape;274;p47"/>
          <p:cNvSpPr txBox="1"/>
          <p:nvPr>
            <p:ph idx="1" type="body"/>
          </p:nvPr>
        </p:nvSpPr>
        <p:spPr>
          <a:xfrm>
            <a:off x="311700" y="1080725"/>
            <a:ext cx="8520600" cy="3513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Register your app in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API Console</a:t>
            </a:r>
            <a:endParaRPr>
              <a:solidFill>
                <a:schemeClr val="accent5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Get info for debug </a:t>
            </a:r>
            <a:r>
              <a:rPr lang="en">
                <a:solidFill>
                  <a:schemeClr val="dk1"/>
                </a:solidFill>
              </a:rPr>
              <a:t>certificate </a:t>
            </a:r>
            <a:r>
              <a:rPr lang="en">
                <a:solidFill>
                  <a:srgbClr val="000000"/>
                </a:solidFill>
              </a:rPr>
              <a:t>and release certificate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Enable Google Places API and request API key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Add API key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to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AndroidManifest.xml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&lt;application&gt; //...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&lt;meta-data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android:name="com.google.android.geo.API_KEY"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android:value="YOUR_API_KEY"/&gt;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75" name="Google Shape;275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265500" y="973100"/>
            <a:ext cx="4045200" cy="211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location permission</a:t>
            </a:r>
            <a:endParaRPr/>
          </a:p>
        </p:txBody>
      </p:sp>
      <p:sp>
        <p:nvSpPr>
          <p:cNvPr id="281" name="Google Shape;28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2" name="Google Shape;282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permission at runtime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1399400"/>
            <a:ext cx="8754900" cy="315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User can revoke permission at any time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 for permission each time your app uses location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Details and examples: </a:t>
            </a:r>
            <a:r>
              <a:rPr lang="en" u="sng">
                <a:solidFill>
                  <a:srgbClr val="21AAC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Requesting Permissions at Runtime</a:t>
            </a:r>
            <a:endParaRPr>
              <a:solidFill>
                <a:srgbClr val="21AAC3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 to get location</a:t>
            </a:r>
            <a:endParaRPr/>
          </a:p>
        </p:txBody>
      </p:sp>
      <p:sp>
        <p:nvSpPr>
          <p:cNvPr id="295" name="Google Shape;295;p50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must request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ACCESS_FINE_LOCATION</a:t>
            </a:r>
            <a:r>
              <a:rPr lang="en">
                <a:solidFill>
                  <a:srgbClr val="000000"/>
                </a:solidFill>
              </a:rPr>
              <a:t> permission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AndroidManifest.xml</a:t>
            </a:r>
            <a:r>
              <a:rPr lang="en">
                <a:solidFill>
                  <a:srgbClr val="000000"/>
                </a:solidFill>
              </a:rPr>
              <a:t>: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&lt;uses-permission android:name="android.permission.ACCESS_FINE_LOCATION"/&gt;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Steps to check/request permission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2" name="Google Shape;302;p51"/>
          <p:cNvSpPr txBox="1"/>
          <p:nvPr>
            <p:ph idx="1" type="body"/>
          </p:nvPr>
        </p:nvSpPr>
        <p:spPr>
          <a:xfrm>
            <a:off x="311700" y="969225"/>
            <a:ext cx="8657700" cy="3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, define integer for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>
                <a:solidFill>
                  <a:srgbClr val="000000"/>
                </a:solidFill>
              </a:rPr>
              <a:t> parameter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private static final int REQUEST_LOCATION_PERMISSION = 1;</a:t>
            </a:r>
            <a:endParaRPr sz="18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checkSelfPermission()</a:t>
            </a:r>
            <a:r>
              <a:rPr lang="en">
                <a:solidFill>
                  <a:srgbClr val="000000"/>
                </a:solidFill>
              </a:rPr>
              <a:t> to see if permission granted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requestPermissions()</a:t>
            </a:r>
            <a:r>
              <a:rPr lang="en">
                <a:solidFill>
                  <a:srgbClr val="000000"/>
                </a:solidFill>
              </a:rPr>
              <a:t> to request permission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Check user response to see if request was granted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3" name="Google Shape;303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Check/request permission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9" name="Google Shape;309;p52"/>
          <p:cNvSpPr txBox="1"/>
          <p:nvPr>
            <p:ph idx="1" type="body"/>
          </p:nvPr>
        </p:nvSpPr>
        <p:spPr>
          <a:xfrm>
            <a:off x="311700" y="1165100"/>
            <a:ext cx="8832300" cy="32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(ActivityCompat.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checkSelfPermission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b="1"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Manifest.permission.ACCESS_FINE_LOCATION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!= 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PackageManager.PERMISSION_GRANTED)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ActivityCompat.requestPermissions(this, new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String[]{Manifest.permission.ACCESS_FINE_LOCATION},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REQUEST_LOCATION_PERMISSION);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Log.d(TAG, "getLocation: permissions granted");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Get user's response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247600" y="885063"/>
            <a:ext cx="8896500" cy="3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Override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onRequestPermissionsResult()</a:t>
            </a:r>
            <a:r>
              <a:rPr lang="en">
                <a:solidFill>
                  <a:srgbClr val="000000"/>
                </a:solidFill>
              </a:rPr>
              <a:t> to check if returned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>
                <a:solidFill>
                  <a:srgbClr val="000000"/>
                </a:solidFill>
              </a:rPr>
              <a:t> is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REQUEST_LOCATION_PERMISSION</a:t>
            </a: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void onRequestPermissionsResult(int requestCode,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String permissions[], int[] grantResults)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switch (requestCode)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case REQUEST_LOCATION_PERMISSION: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// Check if the permission is granted.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Check if request was granted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311700" y="1000075"/>
            <a:ext cx="8657700" cy="3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rgbClr val="000000"/>
                </a:solidFill>
              </a:rPr>
              <a:t>Response is returned in 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permissions</a:t>
            </a:r>
            <a:r>
              <a:rPr lang="en" sz="2000">
                <a:solidFill>
                  <a:srgbClr val="000000"/>
                </a:solidFill>
              </a:rPr>
              <a:t> array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Compare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grantResults</a:t>
            </a:r>
            <a:r>
              <a:rPr lang="en" sz="2000">
                <a:solidFill>
                  <a:schemeClr val="dk1"/>
                </a:solidFill>
              </a:rPr>
              <a:t> parameter to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PERMISSION_GRANTED</a:t>
            </a:r>
            <a:r>
              <a:rPr lang="en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Check if the permission is granted.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(grantResults.length &gt; 0) &amp;&amp; grantResults[0] ==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PackageManager.PERMISSION_GRANTED)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Permission was granted.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Code to use Places...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Permission was denied...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4" name="Google Shape;324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place details</a:t>
            </a:r>
            <a:endParaRPr/>
          </a:p>
        </p:txBody>
      </p:sp>
      <p:sp>
        <p:nvSpPr>
          <p:cNvPr id="330" name="Google Shape;330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1" name="Google Shape;331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ID </a:t>
            </a:r>
            <a:endParaRPr/>
          </a:p>
        </p:txBody>
      </p:sp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311700" y="1013550"/>
            <a:ext cx="8709300" cy="353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Text ID that uniquely identifies place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 retrieve place ID, 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Place.getId()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</a:rPr>
              <a:t>Use place ID to retrieve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 get place by ID, 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GeoDataClient.getPlaceById()</a:t>
            </a:r>
            <a:r>
              <a:rPr lang="en">
                <a:solidFill>
                  <a:srgbClr val="000000"/>
                </a:solidFill>
              </a:rPr>
              <a:t> and pass one or more place IDs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PlaceBuffer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Buffer contains list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</a:t>
            </a:r>
            <a:r>
              <a:rPr lang="en">
                <a:solidFill>
                  <a:srgbClr val="000000"/>
                </a:solidFill>
              </a:rPr>
              <a:t> objects matching place IDs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8" name="Google Shape;338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details </a:t>
            </a:r>
            <a:endParaRPr/>
          </a:p>
        </p:txBody>
      </p:sp>
      <p:sp>
        <p:nvSpPr>
          <p:cNvPr id="344" name="Google Shape;344;p57"/>
          <p:cNvSpPr txBox="1"/>
          <p:nvPr>
            <p:ph idx="1" type="body"/>
          </p:nvPr>
        </p:nvSpPr>
        <p:spPr>
          <a:xfrm>
            <a:off x="311700" y="1318475"/>
            <a:ext cx="8709300" cy="323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Get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</a:t>
            </a:r>
            <a:r>
              <a:rPr lang="en">
                <a:solidFill>
                  <a:srgbClr val="000000"/>
                </a:solidFill>
              </a:rPr>
              <a:t> object: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PlaceDetectionClient.getCurrentPlace()</a:t>
            </a:r>
            <a:endParaRPr>
              <a:solidFill>
                <a:schemeClr val="accent5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Add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PlacePicker</a:t>
            </a:r>
            <a:r>
              <a:rPr lang="en">
                <a:solidFill>
                  <a:srgbClr val="000000"/>
                </a:solidFill>
              </a:rPr>
              <a:t> and call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PlacePicker.getPlace()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GeoDataClient.getPlaceById()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5" name="Google Shape;345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data from a Place object (1) </a:t>
            </a:r>
            <a:endParaRPr/>
          </a:p>
        </p:txBody>
      </p:sp>
      <p:sp>
        <p:nvSpPr>
          <p:cNvPr id="351" name="Google Shape;351;p58"/>
          <p:cNvSpPr txBox="1"/>
          <p:nvPr>
            <p:ph idx="1" type="body"/>
          </p:nvPr>
        </p:nvSpPr>
        <p:spPr>
          <a:xfrm>
            <a:off x="311700" y="1070775"/>
            <a:ext cx="8709300" cy="348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2" name="Google Shape;352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53" name="Google Shape;353;p58"/>
          <p:cNvGraphicFramePr/>
          <p:nvPr/>
        </p:nvGraphicFramePr>
        <p:xfrm>
          <a:off x="444300" y="116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{6FEBEA96-8F78-492D-88E3-7DFF7FAC806A}</a:tableStyleId>
              </a:tblPr>
              <a:tblGrid>
                <a:gridCol w="3134725"/>
                <a:gridCol w="5184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getName()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name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getAddress()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address, in human-readable form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getID()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ID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getPhoneNumber()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phone number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getWebsiteUri()</a:t>
                      </a:r>
                      <a:endParaRPr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URI of place website (or </a:t>
                      </a:r>
                      <a:r>
                        <a:rPr lang="en" sz="2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r>
                        <a:rPr lang="en" sz="2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getLatLng()</a:t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Place latitude and longitude</a:t>
                      </a:r>
                      <a:endParaRPr sz="2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data from a Place object (2) </a:t>
            </a:r>
            <a:endParaRPr/>
          </a:p>
        </p:txBody>
      </p:sp>
      <p:sp>
        <p:nvSpPr>
          <p:cNvPr id="359" name="Google Shape;359;p59"/>
          <p:cNvSpPr txBox="1"/>
          <p:nvPr>
            <p:ph idx="1" type="body"/>
          </p:nvPr>
        </p:nvSpPr>
        <p:spPr>
          <a:xfrm>
            <a:off x="123000" y="1019100"/>
            <a:ext cx="8709300" cy="359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.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360" name="Google Shape;360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61" name="Google Shape;361;p59"/>
          <p:cNvGraphicFramePr/>
          <p:nvPr/>
        </p:nvGraphicFramePr>
        <p:xfrm>
          <a:off x="272500" y="109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{6FEBEA96-8F78-492D-88E3-7DFF7FAC806A}</a:tableStyleId>
              </a:tblPr>
              <a:tblGrid>
                <a:gridCol w="2462300"/>
                <a:gridCol w="614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getViewport()22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LatLngBounds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for displaying place on map (or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getLocale()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Locale for which the name and address are localized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getPlaceTypes()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List of place types for this place—see list of available place types in </a:t>
                      </a: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Place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interface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getPriceLevel()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Price level from 0 (cheapest) to 4 (most expensive)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getRating()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Aggregated user rating (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1.0 to 5.0)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Get place ID </a:t>
            </a:r>
            <a:endParaRPr/>
          </a:p>
        </p:txBody>
      </p:sp>
      <p:sp>
        <p:nvSpPr>
          <p:cNvPr id="367" name="Google Shape;367;p60"/>
          <p:cNvSpPr txBox="1"/>
          <p:nvPr>
            <p:ph idx="1" type="body"/>
          </p:nvPr>
        </p:nvSpPr>
        <p:spPr>
          <a:xfrm>
            <a:off x="311700" y="928200"/>
            <a:ext cx="8709300" cy="362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mGeoDataClient.getPlaceById(placeId).addOnCompleteListener(new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OnCompleteListener&lt;PlaceBufferResponse&gt;()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public void onComplete(@NonNull Task&lt;PlaceBufferResponse&gt; task)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(task.isSuccessful())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PlaceBufferResponse places = task.getResult();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Place myPlace = places.get(0);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Log.i(TAG, "Place found: " + myPlace.getName());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places.release();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 else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Log.e(TAG, "Place not found.");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PlacePicker</a:t>
            </a:r>
            <a:endParaRPr/>
          </a:p>
        </p:txBody>
      </p:sp>
      <p:sp>
        <p:nvSpPr>
          <p:cNvPr id="374" name="Google Shape;374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5" name="Google Shape;375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Getting the current place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PlacePicker</a:t>
            </a:r>
            <a:endParaRPr/>
          </a:p>
        </p:txBody>
      </p:sp>
      <p:sp>
        <p:nvSpPr>
          <p:cNvPr id="382" name="Google Shape;382;p62"/>
          <p:cNvSpPr txBox="1"/>
          <p:nvPr>
            <p:ph idx="1" type="body"/>
          </p:nvPr>
        </p:nvSpPr>
        <p:spPr>
          <a:xfrm>
            <a:off x="311700" y="1310500"/>
            <a:ext cx="66315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Displays interactive map and list of nearby places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User can select or search for place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App retrieves details of selected place, needs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ACCESS_FINE_LOCATION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permission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83" name="Google Shape;383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4" name="Google Shape;38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4500" y="1008476"/>
            <a:ext cx="2069575" cy="3691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listener to fragment</a:t>
            </a:r>
            <a:endParaRPr/>
          </a:p>
        </p:txBody>
      </p:sp>
      <p:sp>
        <p:nvSpPr>
          <p:cNvPr id="390" name="Google Shape;390;p63"/>
          <p:cNvSpPr txBox="1"/>
          <p:nvPr>
            <p:ph idx="1" type="body"/>
          </p:nvPr>
        </p:nvSpPr>
        <p:spPr>
          <a:xfrm>
            <a:off x="311700" y="833575"/>
            <a:ext cx="8709300" cy="371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public void onPlaceSelected(Place place)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TODO: Get info about the selected place.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Log.i(TAG, "Place: " + place.getName());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public void onError(Status status)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TODO: Handle the error.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Log.i(TAG, "An error occurred: " + status);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PlacePicker UI</a:t>
            </a:r>
            <a:endParaRPr/>
          </a:p>
        </p:txBody>
      </p:sp>
      <p:sp>
        <p:nvSpPr>
          <p:cNvPr id="397" name="Google Shape;397;p64"/>
          <p:cNvSpPr txBox="1"/>
          <p:nvPr>
            <p:ph idx="1" type="body"/>
          </p:nvPr>
        </p:nvSpPr>
        <p:spPr>
          <a:xfrm>
            <a:off x="311700" y="1064625"/>
            <a:ext cx="8754900" cy="3735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PlacePicker.IntentBuilder()</a:t>
            </a:r>
            <a:r>
              <a:rPr lang="en">
                <a:solidFill>
                  <a:srgbClr val="000000"/>
                </a:solidFill>
              </a:rPr>
              <a:t> to construct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Defines a </a:t>
            </a:r>
            <a:r>
              <a:rPr lang="en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viewport</a:t>
            </a:r>
            <a:r>
              <a:rPr lang="en" sz="2000">
                <a:solidFill>
                  <a:schemeClr val="dk1"/>
                </a:solidFill>
              </a:rPr>
              <a:t> centered on device's location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Zoom is set at city-block level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To change default lat/long bounds of map call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setLatLngBounds()</a:t>
            </a:r>
            <a:r>
              <a:rPr lang="en">
                <a:solidFill>
                  <a:srgbClr val="000000"/>
                </a:solidFill>
              </a:rPr>
              <a:t> and pass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LatLngBounds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startActivityForResult()</a:t>
            </a:r>
            <a:r>
              <a:rPr lang="en">
                <a:solidFill>
                  <a:srgbClr val="000000"/>
                </a:solidFill>
              </a:rPr>
              <a:t> and pass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rgbClr val="000000"/>
                </a:solidFill>
              </a:rPr>
              <a:t> and predefined request code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8" name="Google Shape;398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5"/>
          <p:cNvSpPr txBox="1"/>
          <p:nvPr>
            <p:ph type="title"/>
          </p:nvPr>
        </p:nvSpPr>
        <p:spPr>
          <a:xfrm>
            <a:off x="83100" y="170825"/>
            <a:ext cx="89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Launch PlacePicker</a:t>
            </a:r>
            <a:endParaRPr/>
          </a:p>
        </p:txBody>
      </p:sp>
      <p:sp>
        <p:nvSpPr>
          <p:cNvPr id="404" name="Google Shape;404;p65"/>
          <p:cNvSpPr txBox="1"/>
          <p:nvPr>
            <p:ph idx="1" type="body"/>
          </p:nvPr>
        </p:nvSpPr>
        <p:spPr>
          <a:xfrm>
            <a:off x="3551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PlacePicker.IntentBuilder builder =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 PlacePicker.IntentBuilder();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// Launch the PlacePicker.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startActivityForResult(builder.build(MainActivity.this),  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REQUEST_PICK_PLACE);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catch (GooglePlayServicesRepairableException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| GooglePlayServicesNotAvailableException e)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e.printStackTrace();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user-selected place</a:t>
            </a:r>
            <a:endParaRPr/>
          </a:p>
        </p:txBody>
      </p:sp>
      <p:sp>
        <p:nvSpPr>
          <p:cNvPr id="411" name="Google Shape;411;p66"/>
          <p:cNvSpPr txBox="1"/>
          <p:nvPr>
            <p:ph idx="1" type="body"/>
          </p:nvPr>
        </p:nvSpPr>
        <p:spPr>
          <a:xfrm>
            <a:off x="311700" y="1147250"/>
            <a:ext cx="8754900" cy="340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Activity calls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onActivityResult()</a:t>
            </a:r>
            <a:r>
              <a:rPr lang="en">
                <a:solidFill>
                  <a:srgbClr val="000000"/>
                </a:solidFill>
              </a:rPr>
              <a:t> with request code used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startActivityForResult()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PlacePicker.getPlace()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>
                <a:solidFill>
                  <a:srgbClr val="000000"/>
                </a:solidFill>
              </a:rPr>
              <a:t> and pass in activity context and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Get most recent bounds of map by calling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PlacePicker.getLatLngBounds()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12" name="Google Shape;412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>
            <p:ph type="title"/>
          </p:nvPr>
        </p:nvSpPr>
        <p:spPr>
          <a:xfrm>
            <a:off x="83100" y="170825"/>
            <a:ext cx="89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Get user-selected place</a:t>
            </a:r>
            <a:endParaRPr/>
          </a:p>
        </p:txBody>
      </p:sp>
      <p:sp>
        <p:nvSpPr>
          <p:cNvPr id="418" name="Google Shape;418;p67"/>
          <p:cNvSpPr txBox="1"/>
          <p:nvPr>
            <p:ph idx="1" type="body"/>
          </p:nvPr>
        </p:nvSpPr>
        <p:spPr>
          <a:xfrm>
            <a:off x="355100" y="987975"/>
            <a:ext cx="8520600" cy="3492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protected void onActivityResult(int requestCode,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int resultCode, Intent data)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 (resultCode == RESULT_OK)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Place place = PlacePicker.getPlace(this, data);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setAndroidType(place);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mLocationTextView.setText(getString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(R.string.address_text, place.getName(),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place.getAddress(),System.currentTimeMillis()));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else { // ... }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super.onActivityResult(requestCode, resultCode, data);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9" name="Google Shape;419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"/>
          <p:cNvSpPr txBox="1"/>
          <p:nvPr>
            <p:ph type="title"/>
          </p:nvPr>
        </p:nvSpPr>
        <p:spPr>
          <a:xfrm>
            <a:off x="265500" y="1606150"/>
            <a:ext cx="4045200" cy="17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nearby places</a:t>
            </a:r>
            <a:endParaRPr/>
          </a:p>
        </p:txBody>
      </p:sp>
      <p:sp>
        <p:nvSpPr>
          <p:cNvPr id="425" name="Google Shape;425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6" name="Google Shape;426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places at device location</a:t>
            </a:r>
            <a:endParaRPr/>
          </a:p>
        </p:txBody>
      </p:sp>
      <p:sp>
        <p:nvSpPr>
          <p:cNvPr id="432" name="Google Shape;432;p69"/>
          <p:cNvSpPr txBox="1"/>
          <p:nvPr>
            <p:ph idx="1" type="body"/>
          </p:nvPr>
        </p:nvSpPr>
        <p:spPr>
          <a:xfrm>
            <a:off x="311700" y="1064625"/>
            <a:ext cx="83745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PlaceDetectionClient.getCurrentPlace()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Optionally pass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PlaceFilter</a:t>
            </a:r>
            <a:r>
              <a:rPr lang="en">
                <a:solidFill>
                  <a:srgbClr val="000000"/>
                </a:solidFill>
              </a:rPr>
              <a:t> to filter list of places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</a:t>
            </a:r>
            <a:r>
              <a:rPr lang="en">
                <a:solidFill>
                  <a:srgbClr val="000000"/>
                </a:solidFill>
              </a:rPr>
              <a:t> containing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PlaceLikelihoodBuffer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–list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PlaceLikelihood</a:t>
            </a:r>
            <a:r>
              <a:rPr lang="en">
                <a:solidFill>
                  <a:srgbClr val="000000"/>
                </a:solidFill>
              </a:rPr>
              <a:t> objects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Release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PlaceLikelihoodBuffer</a:t>
            </a:r>
            <a:r>
              <a:rPr lang="en">
                <a:solidFill>
                  <a:srgbClr val="000000"/>
                </a:solidFill>
              </a:rPr>
              <a:t> when app no longer needs it to prevent memory leaks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33" name="Google Shape;433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PlaceLikelihood interface </a:t>
            </a:r>
            <a:endParaRPr/>
          </a:p>
        </p:txBody>
      </p:sp>
      <p:sp>
        <p:nvSpPr>
          <p:cNvPr id="439" name="Google Shape;439;p70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PlaceDetectionClient.getCurrentPlace()</a:t>
            </a:r>
            <a:r>
              <a:rPr lang="en">
                <a:solidFill>
                  <a:srgbClr val="000000"/>
                </a:solidFill>
              </a:rPr>
              <a:t> returns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Contains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PlaceLikelihoodBuffer</a:t>
            </a:r>
            <a:r>
              <a:rPr lang="en">
                <a:solidFill>
                  <a:srgbClr val="000000"/>
                </a:solidFill>
              </a:rPr>
              <a:t> list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PlaceLikelihood</a:t>
            </a:r>
            <a:r>
              <a:rPr lang="en">
                <a:solidFill>
                  <a:srgbClr val="000000"/>
                </a:solidFill>
              </a:rPr>
              <a:t> objects representing likely places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PlaceLikelihood.getLikelihood</a:t>
            </a:r>
            <a:r>
              <a:rPr lang="en">
                <a:solidFill>
                  <a:srgbClr val="000000"/>
                </a:solidFill>
              </a:rPr>
              <a:t> for indication of likelihood that place is right (ranges 0.0-1.0)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PlaceLikelihood.getPlace</a:t>
            </a:r>
            <a:r>
              <a:rPr lang="en">
                <a:solidFill>
                  <a:srgbClr val="000000"/>
                </a:solidFill>
              </a:rPr>
              <a:t> to get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40" name="Google Shape;440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1"/>
          <p:cNvSpPr txBox="1"/>
          <p:nvPr>
            <p:ph type="title"/>
          </p:nvPr>
        </p:nvSpPr>
        <p:spPr>
          <a:xfrm>
            <a:off x="83100" y="170825"/>
            <a:ext cx="89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Get places at device location (1)</a:t>
            </a:r>
            <a:endParaRPr/>
          </a:p>
        </p:txBody>
      </p:sp>
      <p:sp>
        <p:nvSpPr>
          <p:cNvPr id="446" name="Google Shape;446;p71"/>
          <p:cNvSpPr txBox="1"/>
          <p:nvPr>
            <p:ph idx="1" type="body"/>
          </p:nvPr>
        </p:nvSpPr>
        <p:spPr>
          <a:xfrm>
            <a:off x="3551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Task&lt;PlaceLikelihoodBufferResponse&gt; placeResult =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mPlaceDetectionClient.getCurrentPlace(null);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placeResult.addOnCompleteListener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(new OnCompleteListener&lt;PlaceLikelihoodBufferResponse&gt;()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onComplete(@NonNull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Task&lt;PlaceLikelihoodBufferResponse&gt; task)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If result, get most likely place ...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2"/>
          <p:cNvSpPr txBox="1"/>
          <p:nvPr>
            <p:ph type="title"/>
          </p:nvPr>
        </p:nvSpPr>
        <p:spPr>
          <a:xfrm>
            <a:off x="83100" y="170825"/>
            <a:ext cx="89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Get places at device location (2)</a:t>
            </a:r>
            <a:endParaRPr/>
          </a:p>
        </p:txBody>
      </p:sp>
      <p:sp>
        <p:nvSpPr>
          <p:cNvPr id="453" name="Google Shape;453;p72"/>
          <p:cNvSpPr txBox="1"/>
          <p:nvPr>
            <p:ph idx="1" type="body"/>
          </p:nvPr>
        </p:nvSpPr>
        <p:spPr>
          <a:xfrm>
            <a:off x="3551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If result, get most likely place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(task.isSuccessful())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PlaceLikelihoodBufferResponse likelyPlaces = task.getResult();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float maxLikelihood = 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Place currentPlace = null;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(PlaceLikelihood placeLikelihood : likelyPlaces)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...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4" name="Google Shape;454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3"/>
          <p:cNvSpPr txBox="1"/>
          <p:nvPr>
            <p:ph type="title"/>
          </p:nvPr>
        </p:nvSpPr>
        <p:spPr>
          <a:xfrm>
            <a:off x="83100" y="170825"/>
            <a:ext cx="898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Get places at device location (3)</a:t>
            </a:r>
            <a:endParaRPr/>
          </a:p>
        </p:txBody>
      </p:sp>
      <p:sp>
        <p:nvSpPr>
          <p:cNvPr id="460" name="Google Shape;460;p73"/>
          <p:cNvSpPr txBox="1"/>
          <p:nvPr>
            <p:ph idx="1" type="body"/>
          </p:nvPr>
        </p:nvSpPr>
        <p:spPr>
          <a:xfrm>
            <a:off x="355100" y="106462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//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if (maxLikelihood &lt; placeLikelihood.getLikelihood())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	maxLikelihood = placeLikelihood.getLikelihood();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	currentPlace = placeLikelihood.getPlace();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Update the UI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Release the buffer.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likelyPlaces.release();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Otherwise, show an error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the list of places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311700" y="1064625"/>
            <a:ext cx="87549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Include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PlaceFilter</a:t>
            </a:r>
            <a:r>
              <a:rPr lang="en">
                <a:solidFill>
                  <a:srgbClr val="000000"/>
                </a:solidFill>
              </a:rPr>
              <a:t> constructor to limit results included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PlaceLikelihoodBuffer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PlaceFilter(boolean requireOpenNow, Collection&lt;String&gt; restrictToPlaceIds)</a:t>
            </a:r>
            <a:endParaRPr sz="20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places currently open, pass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>
                <a:solidFill>
                  <a:srgbClr val="000000"/>
                </a:solidFill>
              </a:rPr>
              <a:t> as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requireOpenNow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places that match list of place IDs, pass IDs as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restrictToPlaceIds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8" name="Google Shape;468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>
            <p:ph type="title"/>
          </p:nvPr>
        </p:nvSpPr>
        <p:spPr>
          <a:xfrm>
            <a:off x="137000" y="1606150"/>
            <a:ext cx="4321500" cy="17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Place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Autocomplete</a:t>
            </a:r>
            <a:endParaRPr/>
          </a:p>
        </p:txBody>
      </p:sp>
      <p:sp>
        <p:nvSpPr>
          <p:cNvPr id="474" name="Google Shape;474;p7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75" name="Google Shape;475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PlaceAutocomplete</a:t>
            </a:r>
            <a:endParaRPr/>
          </a:p>
        </p:txBody>
      </p:sp>
      <p:sp>
        <p:nvSpPr>
          <p:cNvPr id="481" name="Google Shape;481;p76"/>
          <p:cNvSpPr txBox="1"/>
          <p:nvPr>
            <p:ph idx="1" type="body"/>
          </p:nvPr>
        </p:nvSpPr>
        <p:spPr>
          <a:xfrm>
            <a:off x="311700" y="1064625"/>
            <a:ext cx="66291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PlaceAutocomplete</a:t>
            </a:r>
            <a:r>
              <a:rPr lang="en">
                <a:solidFill>
                  <a:srgbClr val="000000"/>
                </a:solidFill>
              </a:rPr>
              <a:t> UI element to your app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>
                <a:solidFill>
                  <a:srgbClr val="000000"/>
                </a:solidFill>
              </a:rPr>
              <a:t>eturns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</a:t>
            </a:r>
            <a:r>
              <a:rPr lang="en">
                <a:solidFill>
                  <a:srgbClr val="000000"/>
                </a:solidFill>
              </a:rPr>
              <a:t> suggestions based on user search queries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Get place predictions programmatically to create custom UI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82" name="Google Shape;482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3650" y="972120"/>
            <a:ext cx="1831062" cy="3691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place suggestions work</a:t>
            </a:r>
            <a:endParaRPr/>
          </a:p>
        </p:txBody>
      </p:sp>
      <p:sp>
        <p:nvSpPr>
          <p:cNvPr id="489" name="Google Shape;489;p77"/>
          <p:cNvSpPr txBox="1"/>
          <p:nvPr>
            <p:ph idx="1" type="body"/>
          </p:nvPr>
        </p:nvSpPr>
        <p:spPr>
          <a:xfrm>
            <a:off x="311700" y="1064625"/>
            <a:ext cx="63867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User enters search terms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Search dialog presents list of predicted places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If user makes selection,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</a:t>
            </a:r>
            <a:r>
              <a:rPr lang="en">
                <a:solidFill>
                  <a:srgbClr val="000000"/>
                </a:solidFill>
              </a:rPr>
              <a:t> is returned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App can 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</a:t>
            </a:r>
            <a:r>
              <a:rPr lang="en">
                <a:solidFill>
                  <a:srgbClr val="000000"/>
                </a:solidFill>
              </a:rPr>
              <a:t> to get details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90" name="Google Shape;490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1" name="Google Shape;49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3650" y="972120"/>
            <a:ext cx="1831062" cy="3691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autocomplete UI widget </a:t>
            </a:r>
            <a:endParaRPr/>
          </a:p>
        </p:txBody>
      </p:sp>
      <p:sp>
        <p:nvSpPr>
          <p:cNvPr id="497" name="Google Shape;497;p78"/>
          <p:cNvSpPr txBox="1"/>
          <p:nvPr>
            <p:ph idx="1" type="body"/>
          </p:nvPr>
        </p:nvSpPr>
        <p:spPr>
          <a:xfrm>
            <a:off x="311700" y="1064625"/>
            <a:ext cx="87093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Choose fragment OR activity: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PlaceAutocompleteFragment</a:t>
            </a:r>
            <a:r>
              <a:rPr lang="en">
                <a:solidFill>
                  <a:schemeClr val="dk1"/>
                </a:solidFill>
              </a:rPr>
              <a:t> for fragment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PlaceAutocomplete.IntentBuilder</a:t>
            </a:r>
            <a:r>
              <a:rPr lang="en">
                <a:solidFill>
                  <a:srgbClr val="000000"/>
                </a:solidFill>
              </a:rPr>
              <a:t> to create intent to launch autocomplete activity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98" name="Google Shape;498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Restrict autocomplete search results </a:t>
            </a:r>
            <a:endParaRPr/>
          </a:p>
        </p:txBody>
      </p:sp>
      <p:sp>
        <p:nvSpPr>
          <p:cNvPr id="504" name="Google Shape;504;p79"/>
          <p:cNvSpPr txBox="1"/>
          <p:nvPr>
            <p:ph idx="1" type="body"/>
          </p:nvPr>
        </p:nvSpPr>
        <p:spPr>
          <a:xfrm>
            <a:off x="311700" y="1064625"/>
            <a:ext cx="8709300" cy="348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Your app can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Bias results to specific geographic region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Filter results to a specific place type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Filter results to a specific country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05" name="Google Shape;505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place predictions in custom UI</a:t>
            </a:r>
            <a:endParaRPr/>
          </a:p>
        </p:txBody>
      </p:sp>
      <p:sp>
        <p:nvSpPr>
          <p:cNvPr id="511" name="Google Shape;511;p80"/>
          <p:cNvSpPr txBox="1"/>
          <p:nvPr>
            <p:ph idx="1" type="body"/>
          </p:nvPr>
        </p:nvSpPr>
        <p:spPr>
          <a:xfrm>
            <a:off x="311700" y="962250"/>
            <a:ext cx="8709300" cy="359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Get list of predicted place names and/or addresses by calling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GeoDataClient.getAutocompletePredictions()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Pass parameters: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Query string with user text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LatLngBounds</a:t>
            </a:r>
            <a:r>
              <a:rPr lang="en">
                <a:solidFill>
                  <a:schemeClr val="dk1"/>
                </a:solidFill>
              </a:rPr>
              <a:t> object (biases results to specific area)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i="1" lang="en">
                <a:solidFill>
                  <a:schemeClr val="dk1"/>
                </a:solidFill>
              </a:rPr>
              <a:t>Optional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AutocompleteFilter</a:t>
            </a:r>
            <a:r>
              <a:rPr lang="en">
                <a:solidFill>
                  <a:schemeClr val="dk1"/>
                </a:solidFill>
              </a:rPr>
              <a:t> with place types to restrict results</a:t>
            </a:r>
            <a:endParaRPr>
              <a:solidFill>
                <a:schemeClr val="accent5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getAutocompletePredictions()</a:t>
            </a:r>
            <a:r>
              <a:rPr lang="en">
                <a:solidFill>
                  <a:srgbClr val="000000"/>
                </a:solidFill>
              </a:rPr>
              <a:t> is subject to tiered query limits—for details, see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Usage Limits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12" name="Google Shape;512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1"/>
          <p:cNvSpPr txBox="1"/>
          <p:nvPr>
            <p:ph type="title"/>
          </p:nvPr>
        </p:nvSpPr>
        <p:spPr>
          <a:xfrm>
            <a:off x="137000" y="1606150"/>
            <a:ext cx="4321500" cy="17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place details</a:t>
            </a:r>
            <a:endParaRPr/>
          </a:p>
        </p:txBody>
      </p:sp>
      <p:sp>
        <p:nvSpPr>
          <p:cNvPr id="518" name="Google Shape;518;p8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19" name="Google Shape;519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2"/>
          <p:cNvSpPr/>
          <p:nvPr/>
        </p:nvSpPr>
        <p:spPr>
          <a:xfrm>
            <a:off x="1637225" y="1173575"/>
            <a:ext cx="5520300" cy="3216600"/>
          </a:xfrm>
          <a:prstGeom prst="rect">
            <a:avLst/>
          </a:prstGeom>
          <a:solidFill>
            <a:srgbClr val="21AAC3">
              <a:alpha val="3538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place details</a:t>
            </a:r>
            <a:endParaRPr/>
          </a:p>
        </p:txBody>
      </p:sp>
      <p:sp>
        <p:nvSpPr>
          <p:cNvPr id="526" name="Google Shape;526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7" name="Google Shape;5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200" y="1224199"/>
            <a:ext cx="2958375" cy="30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place details</a:t>
            </a:r>
            <a:endParaRPr/>
          </a:p>
        </p:txBody>
      </p:sp>
      <p:sp>
        <p:nvSpPr>
          <p:cNvPr id="533" name="Google Shape;533;p83"/>
          <p:cNvSpPr txBox="1"/>
          <p:nvPr>
            <p:ph idx="1" type="body"/>
          </p:nvPr>
        </p:nvSpPr>
        <p:spPr>
          <a:xfrm>
            <a:off x="311700" y="962250"/>
            <a:ext cx="8709300" cy="359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getFullText(CharacterStyle matchStyle)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returns full text description and highlights sections matching search (use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CharacterStyle</a:t>
            </a:r>
            <a:r>
              <a:rPr lang="en">
                <a:solidFill>
                  <a:srgbClr val="000000"/>
                </a:solidFill>
              </a:rPr>
              <a:t> 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getPrimaryText(CharacterStyle matchStyle)</a:t>
            </a:r>
            <a:r>
              <a:rPr lang="en">
                <a:solidFill>
                  <a:srgbClr val="000000"/>
                </a:solidFill>
              </a:rPr>
              <a:t> 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returns main text, usually a name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getSecondaryText(CharacterStyle matchStyle)</a:t>
            </a:r>
            <a:r>
              <a:rPr lang="en">
                <a:solidFill>
                  <a:schemeClr val="dk1"/>
                </a:solidFill>
              </a:rPr>
              <a:t>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returns subsidiary text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34" name="Google Shape;534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place photos to display </a:t>
            </a:r>
            <a:endParaRPr/>
          </a:p>
        </p:txBody>
      </p:sp>
      <p:sp>
        <p:nvSpPr>
          <p:cNvPr id="540" name="Google Shape;540;p84"/>
          <p:cNvSpPr txBox="1"/>
          <p:nvPr>
            <p:ph idx="1" type="body"/>
          </p:nvPr>
        </p:nvSpPr>
        <p:spPr>
          <a:xfrm>
            <a:off x="311700" y="962250"/>
            <a:ext cx="8709300" cy="359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GeoDataClient.getPlacePhotos()</a:t>
            </a:r>
            <a:r>
              <a:rPr lang="en">
                <a:solidFill>
                  <a:srgbClr val="000000"/>
                </a:solidFill>
              </a:rPr>
              <a:t> and pass string with place ID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PlacePhotoMetadataResult</a:t>
            </a:r>
            <a:r>
              <a:rPr lang="en">
                <a:solidFill>
                  <a:srgbClr val="000000"/>
                </a:solidFill>
              </a:rPr>
              <a:t> instance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Task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getPhotoMetadata()</a:t>
            </a:r>
            <a:r>
              <a:rPr lang="en">
                <a:solidFill>
                  <a:srgbClr val="000000"/>
                </a:solidFill>
              </a:rPr>
              <a:t> on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PlacePhotoMetadataResult</a:t>
            </a:r>
            <a:r>
              <a:rPr lang="en">
                <a:solidFill>
                  <a:srgbClr val="000000"/>
                </a:solidFill>
              </a:rPr>
              <a:t> instance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PlacePhotoMetadataBuffer</a:t>
            </a:r>
            <a:r>
              <a:rPr lang="en">
                <a:solidFill>
                  <a:srgbClr val="000000"/>
                </a:solidFill>
              </a:rPr>
              <a:t> with list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PlacePhotoMetadata</a:t>
            </a:r>
            <a:r>
              <a:rPr lang="en">
                <a:solidFill>
                  <a:srgbClr val="000000"/>
                </a:solidFill>
              </a:rPr>
              <a:t> instances, one for each photo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41" name="Google Shape;541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search display attributions</a:t>
            </a:r>
            <a:endParaRPr/>
          </a:p>
        </p:txBody>
      </p:sp>
      <p:sp>
        <p:nvSpPr>
          <p:cNvPr id="547" name="Google Shape;547;p85"/>
          <p:cNvSpPr txBox="1"/>
          <p:nvPr>
            <p:ph idx="1" type="body"/>
          </p:nvPr>
        </p:nvSpPr>
        <p:spPr>
          <a:xfrm>
            <a:off x="311700" y="962250"/>
            <a:ext cx="8709300" cy="359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UI must display a "Powered by Google" attribution or appear within a Google-branded map.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you retrieve and display additional place information after getting place by ID, display third-party attributions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you use autocomplete UI element, no additional action required, because required attribution is displayed by default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48" name="Google Shape;548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54" name="Google Shape;554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5" name="Google Shape;555;p86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8.1 Places API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8.1 Using the Places API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61" name="Google Shape;561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62" name="Google Shape;562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