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3"/>
    <p:sldMasterId id="2147483699" r:id="rId4"/>
    <p:sldMasterId id="2147483700" r:id="rId5"/>
    <p:sldMasterId id="214748370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5143500" cx="9144000"/>
  <p:notesSz cx="6858000" cy="9144000"/>
  <p:embeddedFontLst>
    <p:embeddedFont>
      <p:font typeface="Roboto"/>
      <p:regular r:id="rId32"/>
      <p:bold r:id="rId33"/>
      <p:italic r:id="rId34"/>
      <p:boldItalic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Roboto-bold.fntdata"/><Relationship Id="rId10" Type="http://schemas.openxmlformats.org/officeDocument/2006/relationships/slide" Target="slides/slide3.xml"/><Relationship Id="rId32" Type="http://schemas.openxmlformats.org/officeDocument/2006/relationships/font" Target="fonts/Roboto-regular.fntdata"/><Relationship Id="rId13" Type="http://schemas.openxmlformats.org/officeDocument/2006/relationships/slide" Target="slides/slide6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5.xml"/><Relationship Id="rId34" Type="http://schemas.openxmlformats.org/officeDocument/2006/relationships/font" Target="fonts/Roboto-italic.fntdata"/><Relationship Id="rId15" Type="http://schemas.openxmlformats.org/officeDocument/2006/relationships/slide" Target="slides/slide8.xml"/><Relationship Id="rId37" Type="http://schemas.openxmlformats.org/officeDocument/2006/relationships/font" Target="fonts/OpenSans-bold.fntdata"/><Relationship Id="rId14" Type="http://schemas.openxmlformats.org/officeDocument/2006/relationships/slide" Target="slides/slide7.xml"/><Relationship Id="rId36" Type="http://schemas.openxmlformats.org/officeDocument/2006/relationships/font" Target="fonts/OpenSans-regular.fntdata"/><Relationship Id="rId17" Type="http://schemas.openxmlformats.org/officeDocument/2006/relationships/slide" Target="slides/slide10.xml"/><Relationship Id="rId39" Type="http://schemas.openxmlformats.org/officeDocument/2006/relationships/font" Target="fonts/OpenSans-boldItalic.fntdata"/><Relationship Id="rId16" Type="http://schemas.openxmlformats.org/officeDocument/2006/relationships/slide" Target="slides/slide9.xml"/><Relationship Id="rId38" Type="http://schemas.openxmlformats.org/officeDocument/2006/relationships/font" Target="fonts/OpenSans-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8969cf4fd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8969cf4fd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8969cf4fd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8969cf4fd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90564716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90564716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5bc28b9c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5bc28b9c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8969cf4fd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8969cf4fd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8969cf4fd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8969cf4fd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8969cf4fd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8969cf4fd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8969cf4fd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18969cf4fd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5bc28b9c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15bc28b9c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5bc28b9c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5bc28b9c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5bc28b9c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5bc28b9c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efc9e42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efc9e42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5bc28b9c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15bc28b9c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8969cf4fd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18969cf4fd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90564716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90564716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5bc28b9c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5bc28b9c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8969cf4fd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18969cf4fd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efc9e42b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efc9e42b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8969cf4fd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18969cf4fd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8969cf4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18969cf4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18969cf4f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18969cf4f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18969cf4f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18969cf4f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7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hyperlink" Target="http://creativecommons.org/licenses/by-nc/4.0/" TargetMode="Externa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Relationship Id="rId3" Type="http://schemas.openxmlformats.org/officeDocument/2006/relationships/image" Target="../media/image7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header and two columns">
  <p:cSld name="TITLE_AND_TWO_COLUMNS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" type="body"/>
          </p:nvPr>
        </p:nvSpPr>
        <p:spPr>
          <a:xfrm>
            <a:off x="3117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8324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3" type="subTitle"/>
          </p:nvPr>
        </p:nvSpPr>
        <p:spPr>
          <a:xfrm>
            <a:off x="311700" y="1212425"/>
            <a:ext cx="8520600" cy="4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split.png" id="52" name="Google Shape;5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0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 </a:t>
            </a:r>
            <a:r>
              <a:rPr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Background Tasks - Lesson 7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66" name="Google Shape;66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3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0" name="Google Shape;70;p1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1" name="Google Shape;71;p1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72" name="Google Shape;7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3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4407225" y="4739850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Services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2" name="Google Shape;92;p16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p19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2" name="Google Shape;122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3" name="Google Shape;123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27" name="Google Shape;127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33" name="Google Shape;133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34" name="Google Shape;1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6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6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6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9" name="Google Shape;139;p26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0" name="Google Shape;140;p26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6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42" name="Google Shape;14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6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9" name="Google Shape;159;p29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0" name="Google Shape;160;p2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3" name="Google Shape;163;p3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68" name="Google Shape;168;p3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1" name="Google Shape;171;p32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2" name="Google Shape;172;p3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header and two columns">
  <p:cSld name="TITLE_AND_TWO_COLUMNS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3117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7" name="Google Shape;177;p33"/>
          <p:cNvSpPr txBox="1"/>
          <p:nvPr>
            <p:ph idx="2" type="body"/>
          </p:nvPr>
        </p:nvSpPr>
        <p:spPr>
          <a:xfrm>
            <a:off x="48324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8" name="Google Shape;178;p3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9" name="Google Shape;179;p3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33"/>
          <p:cNvSpPr txBox="1"/>
          <p:nvPr>
            <p:ph idx="3" type="subTitle"/>
          </p:nvPr>
        </p:nvSpPr>
        <p:spPr>
          <a:xfrm>
            <a:off x="311700" y="1212425"/>
            <a:ext cx="8520600" cy="4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3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8" name="Google Shape;188;p3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9" name="Google Shape;189;p3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2" name="Google Shape;192;p3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split.png" id="194" name="Google Shape;194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6" name="Google Shape;196;p3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7" name="Google Shape;197;p3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8" name="Google Shape;198;p3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199" name="Google Shape;19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7"/>
          <p:cNvSpPr txBox="1"/>
          <p:nvPr/>
        </p:nvSpPr>
        <p:spPr>
          <a:xfrm>
            <a:off x="2381675" y="4761375"/>
            <a:ext cx="55089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 </a:t>
            </a:r>
            <a:r>
              <a:rPr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Connect to the Internet - Lesson 9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8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03" name="Google Shape;203;p3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6" name="Google Shape;206;p3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7" name="Google Shape;207;p3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09" name="Google Shape;209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4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40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40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13" name="Google Shape;213;p40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4" name="Google Shape;214;p40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215" name="Google Shape;21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40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" name="Google Shape;217;p40"/>
          <p:cNvSpPr txBox="1"/>
          <p:nvPr/>
        </p:nvSpPr>
        <p:spPr>
          <a:xfrm>
            <a:off x="2381682" y="4761375"/>
            <a:ext cx="2132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40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9" name="Google Shape;219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6017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40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Connect to the Internet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3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5" name="Google Shape;235;p43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6" name="Google Shape;236;p4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4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9" name="Google Shape;239;p4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3" name="Google Shape;243;p45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44" name="Google Shape;244;p4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6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7" name="Google Shape;247;p46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8" name="Google Shape;248;p4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4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4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7" name="Google Shape;257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8" name="Google Shape;258;p4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1" name="Google Shape;261;p4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5" name="Google Shape;265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6" name="Google Shape;266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7" name="Google Shape;267;p5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1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70" name="Google Shape;270;p5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3" name="Google Shape;273;p5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4" name="Google Shape;274;p5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76" name="Google Shape;276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5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53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5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80" name="Google Shape;280;p5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1" name="Google Shape;281;p5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282" name="Google Shape;28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53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4" name="Google Shape;284;p53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7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1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" Type="http://schemas.openxmlformats.org/officeDocument/2006/relationships/image" Target="../media/image7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36.xml"/><Relationship Id="rId17" Type="http://schemas.openxmlformats.org/officeDocument/2006/relationships/theme" Target="../theme/theme4.xml"/><Relationship Id="rId1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7.xml"/><Relationship Id="rId1" Type="http://schemas.openxmlformats.org/officeDocument/2006/relationships/image" Target="../media/image7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49.xml"/><Relationship Id="rId16" Type="http://schemas.openxmlformats.org/officeDocument/2006/relationships/theme" Target="../theme/theme5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4407225" y="4739850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Services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81" name="Google Shape;81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4407225" y="4739850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Services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9" name="Google Shape;8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48" name="Google Shape;148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1" name="Google Shape;151;p2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28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8"/>
          <p:cNvSpPr txBox="1"/>
          <p:nvPr/>
        </p:nvSpPr>
        <p:spPr>
          <a:xfrm>
            <a:off x="4407225" y="4739850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Services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8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8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6" name="Google Shape;15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24" name="Google Shape;224;p4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6" name="Google Shape;226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7" name="Google Shape;227;p4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" name="Google Shape;228;p42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42"/>
          <p:cNvSpPr txBox="1"/>
          <p:nvPr/>
        </p:nvSpPr>
        <p:spPr>
          <a:xfrm>
            <a:off x="4407225" y="4739850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Services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42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4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2" name="Google Shape;23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eveloper.android.com/reference/android/app/Service.html" TargetMode="External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eveloper.android.com/reference/java/lang/IllegalStateException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eveloper.android.com/reference/android/app/Service.html#stopSelf()" TargetMode="External"/><Relationship Id="rId4" Type="http://schemas.openxmlformats.org/officeDocument/2006/relationships/hyperlink" Target="https://developer.android.com/reference/android/content/Context.html#stopService(android.content.Intent)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eveloper.android.com/reference/android/app/IntentService.html" TargetMode="External"/><Relationship Id="rId4" Type="http://schemas.openxmlformats.org/officeDocument/2006/relationships/hyperlink" Target="https://developer.android.com/topic/libraries/support-library/revisions.html#26-0-0" TargetMode="External"/><Relationship Id="rId5" Type="http://schemas.openxmlformats.org/officeDocument/2006/relationships/hyperlink" Target="https://developer.android.com/reference/android/support/v4/app/JobIntentService.html" TargetMode="External"/><Relationship Id="rId6" Type="http://schemas.openxmlformats.org/officeDocument/2006/relationships/hyperlink" Target="https://developer.android.com/reference/android/app/IntentService.htm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eveloper.android.com/guide/components/services.html" TargetMode="External"/><Relationship Id="rId4" Type="http://schemas.openxmlformats.org/officeDocument/2006/relationships/hyperlink" Target="https://developer.android.com/about/versions/oreo/background.html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google-developer-training.github.io/android-developer-fundamentals-course-concepts-v2/unit-3-working-in-the-background/lesson-7-background-tasks/7-4-c-services/7-4-c-services.htm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55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3" name="Google Shape;293;p55"/>
          <p:cNvSpPr txBox="1"/>
          <p:nvPr>
            <p:ph type="title"/>
          </p:nvPr>
        </p:nvSpPr>
        <p:spPr>
          <a:xfrm>
            <a:off x="265500" y="152580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Tasks</a:t>
            </a:r>
            <a:endParaRPr/>
          </a:p>
        </p:txBody>
      </p:sp>
      <p:sp>
        <p:nvSpPr>
          <p:cNvPr id="294" name="Google Shape;294;p5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7</a:t>
            </a:r>
            <a:endParaRPr/>
          </a:p>
        </p:txBody>
      </p:sp>
      <p:sp>
        <p:nvSpPr>
          <p:cNvPr id="295" name="Google Shape;295;p55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5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6"/>
          <p:cNvSpPr txBox="1"/>
          <p:nvPr>
            <p:ph type="ctrTitle"/>
          </p:nvPr>
        </p:nvSpPr>
        <p:spPr>
          <a:xfrm>
            <a:off x="311700" y="1006799"/>
            <a:ext cx="8520600" cy="183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7.4 Services</a:t>
            </a:r>
            <a:endParaRPr/>
          </a:p>
        </p:txBody>
      </p:sp>
      <p:sp>
        <p:nvSpPr>
          <p:cNvPr id="302" name="Google Shape;302;p5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308" name="Google Shape;308;p57"/>
          <p:cNvSpPr txBox="1"/>
          <p:nvPr>
            <p:ph idx="1" type="body"/>
          </p:nvPr>
        </p:nvSpPr>
        <p:spPr>
          <a:xfrm>
            <a:off x="311700" y="2066875"/>
            <a:ext cx="8520600" cy="12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Services for long tasks.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nsolas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IntentService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9" name="Google Shape;309;p5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Services is an advanced topic</a:t>
            </a:r>
            <a:endParaRPr/>
          </a:p>
        </p:txBody>
      </p:sp>
      <p:sp>
        <p:nvSpPr>
          <p:cNvPr id="315" name="Google Shape;315;p58"/>
          <p:cNvSpPr txBox="1"/>
          <p:nvPr>
            <p:ph idx="1" type="body"/>
          </p:nvPr>
        </p:nvSpPr>
        <p:spPr>
          <a:xfrm>
            <a:off x="158275" y="1427025"/>
            <a:ext cx="8520600" cy="26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Services are complex.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Many ways of configuring a service.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This lesson has introductory information only.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Explore and learn for yourself if you want to use services.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16" name="Google Shape;316;p5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Services for Long Tasks</a:t>
            </a:r>
            <a:endParaRPr/>
          </a:p>
        </p:txBody>
      </p:sp>
      <p:sp>
        <p:nvSpPr>
          <p:cNvPr id="322" name="Google Shape;322;p5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8" name="Google Shape;328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service?</a:t>
            </a:r>
            <a:endParaRPr/>
          </a:p>
        </p:txBody>
      </p:sp>
      <p:sp>
        <p:nvSpPr>
          <p:cNvPr id="329" name="Google Shape;329;p60"/>
          <p:cNvSpPr txBox="1"/>
          <p:nvPr>
            <p:ph idx="3" type="subTitle"/>
          </p:nvPr>
        </p:nvSpPr>
        <p:spPr>
          <a:xfrm>
            <a:off x="311700" y="1593425"/>
            <a:ext cx="8520600" cy="23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Service</a:t>
            </a:r>
            <a:r>
              <a:rPr lang="en">
                <a:solidFill>
                  <a:srgbClr val="000000"/>
                </a:solidFill>
              </a:rPr>
              <a:t> is an application component that can perform long-running operations in the background and does not provide a user interface.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330" name="Google Shape;330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3775" y="2750125"/>
            <a:ext cx="2249850" cy="173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6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services good for?</a:t>
            </a:r>
            <a:endParaRPr/>
          </a:p>
        </p:txBody>
      </p:sp>
      <p:sp>
        <p:nvSpPr>
          <p:cNvPr id="337" name="Google Shape;337;p61"/>
          <p:cNvSpPr txBox="1"/>
          <p:nvPr>
            <p:ph idx="3" type="subTitle"/>
          </p:nvPr>
        </p:nvSpPr>
        <p:spPr>
          <a:xfrm>
            <a:off x="311700" y="1610500"/>
            <a:ext cx="8520600" cy="24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Network transactions.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Play music.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Perform file I/O.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Interact with a database.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3" name="Google Shape;343;p6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Characteristics of services</a:t>
            </a:r>
            <a:endParaRPr/>
          </a:p>
        </p:txBody>
      </p:sp>
      <p:sp>
        <p:nvSpPr>
          <p:cNvPr id="344" name="Google Shape;344;p62"/>
          <p:cNvSpPr txBox="1"/>
          <p:nvPr>
            <p:ph idx="3" type="subTitle"/>
          </p:nvPr>
        </p:nvSpPr>
        <p:spPr>
          <a:xfrm>
            <a:off x="311700" y="1305699"/>
            <a:ext cx="8520600" cy="30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Started with an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Intent.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Can stay running when user switches applications.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Lifecycle—which you must manage.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Other apps can use the service—manage permissions.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Runs in the main thread of its hosting process.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3"/>
          <p:cNvSpPr txBox="1"/>
          <p:nvPr>
            <p:ph idx="1" type="body"/>
          </p:nvPr>
        </p:nvSpPr>
        <p:spPr>
          <a:xfrm>
            <a:off x="311700" y="1242050"/>
            <a:ext cx="5437500" cy="31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Started with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startService()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Runs indefinitely until it stops itself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Usually does not update the UI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50" name="Google Shape;350;p6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1" name="Google Shape;351;p6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Forms of services: started</a:t>
            </a:r>
            <a:endParaRPr/>
          </a:p>
        </p:txBody>
      </p:sp>
      <p:pic>
        <p:nvPicPr>
          <p:cNvPr id="352" name="Google Shape;352;p63"/>
          <p:cNvPicPr preferRelativeResize="0"/>
          <p:nvPr/>
        </p:nvPicPr>
        <p:blipFill rotWithShape="1">
          <a:blip r:embed="rId3">
            <a:alphaModFix/>
          </a:blip>
          <a:srcRect b="0" l="0" r="42801" t="0"/>
          <a:stretch/>
        </p:blipFill>
        <p:spPr>
          <a:xfrm>
            <a:off x="6891175" y="96475"/>
            <a:ext cx="1941125" cy="4411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63"/>
          <p:cNvSpPr/>
          <p:nvPr/>
        </p:nvSpPr>
        <p:spPr>
          <a:xfrm>
            <a:off x="7186350" y="4163125"/>
            <a:ext cx="974700" cy="39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4"/>
          <p:cNvSpPr txBox="1"/>
          <p:nvPr>
            <p:ph idx="2" type="body"/>
          </p:nvPr>
        </p:nvSpPr>
        <p:spPr>
          <a:xfrm>
            <a:off x="311700" y="1200750"/>
            <a:ext cx="6536100" cy="32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Offers a client-server interface that allows components to interact with the service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Clients send requests and get results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Started with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bindService()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/>
              <a:t>Ends when all clients unbind</a:t>
            </a:r>
            <a:endParaRPr/>
          </a:p>
        </p:txBody>
      </p:sp>
      <p:sp>
        <p:nvSpPr>
          <p:cNvPr id="359" name="Google Shape;359;p6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0" name="Google Shape;360;p6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Forms of services: bound</a:t>
            </a:r>
            <a:endParaRPr/>
          </a:p>
        </p:txBody>
      </p:sp>
      <p:pic>
        <p:nvPicPr>
          <p:cNvPr id="361" name="Google Shape;361;p64"/>
          <p:cNvPicPr preferRelativeResize="0"/>
          <p:nvPr/>
        </p:nvPicPr>
        <p:blipFill rotWithShape="1">
          <a:blip r:embed="rId3">
            <a:alphaModFix/>
          </a:blip>
          <a:srcRect b="0" l="42945" r="0" t="0"/>
          <a:stretch/>
        </p:blipFill>
        <p:spPr>
          <a:xfrm>
            <a:off x="6860475" y="39075"/>
            <a:ext cx="1962200" cy="447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Services and threads</a:t>
            </a:r>
            <a:endParaRPr/>
          </a:p>
        </p:txBody>
      </p:sp>
      <p:sp>
        <p:nvSpPr>
          <p:cNvPr id="367" name="Google Shape;367;p65"/>
          <p:cNvSpPr txBox="1"/>
          <p:nvPr>
            <p:ph idx="1" type="body"/>
          </p:nvPr>
        </p:nvSpPr>
        <p:spPr>
          <a:xfrm>
            <a:off x="311700" y="1381075"/>
            <a:ext cx="7969500" cy="28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Although services are separate from the UI, they still run on the main thread by default (except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IntentService</a:t>
            </a:r>
            <a:r>
              <a:rPr lang="en"/>
              <a:t>)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Offload CPU-intensive work to a separate thread within the service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6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Updating the app</a:t>
            </a:r>
            <a:endParaRPr/>
          </a:p>
        </p:txBody>
      </p:sp>
      <p:sp>
        <p:nvSpPr>
          <p:cNvPr id="374" name="Google Shape;374;p66"/>
          <p:cNvSpPr txBox="1"/>
          <p:nvPr>
            <p:ph idx="1" type="body"/>
          </p:nvPr>
        </p:nvSpPr>
        <p:spPr>
          <a:xfrm>
            <a:off x="311700" y="1365700"/>
            <a:ext cx="8520600" cy="26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If the service can't access the UI, how do you update the app to show the results?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Use a broadcast receiver!</a:t>
            </a:r>
            <a:endParaRPr/>
          </a:p>
        </p:txBody>
      </p:sp>
      <p:sp>
        <p:nvSpPr>
          <p:cNvPr id="375" name="Google Shape;375;p6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Foreground services</a:t>
            </a:r>
            <a:endParaRPr/>
          </a:p>
        </p:txBody>
      </p:sp>
      <p:sp>
        <p:nvSpPr>
          <p:cNvPr id="381" name="Google Shape;381;p67"/>
          <p:cNvSpPr txBox="1"/>
          <p:nvPr>
            <p:ph idx="1" type="body"/>
          </p:nvPr>
        </p:nvSpPr>
        <p:spPr>
          <a:xfrm>
            <a:off x="311700" y="1228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Runs in the background but requires that the user is actively aware it exists—e.g. music player using music service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Higher priority than background services since user will notice its absence—unlikely to be killed by the system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Must provide a notification which the user cannot dismiss while the service is running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82" name="Google Shape;382;p6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8"/>
          <p:cNvSpPr txBox="1"/>
          <p:nvPr>
            <p:ph idx="1" type="body"/>
          </p:nvPr>
        </p:nvSpPr>
        <p:spPr>
          <a:xfrm>
            <a:off x="218025" y="951175"/>
            <a:ext cx="8744700" cy="36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solidFill>
                  <a:schemeClr val="accent2"/>
                </a:solidFill>
              </a:rPr>
              <a:t>Starting from API 26,</a:t>
            </a:r>
            <a:r>
              <a:rPr lang="en" sz="2000">
                <a:solidFill>
                  <a:schemeClr val="dk1"/>
                </a:solidFill>
              </a:rPr>
              <a:t> background app is not allowed to create a background service</a:t>
            </a:r>
            <a:r>
              <a:rPr lang="en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accent2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</a:t>
            </a:r>
            <a:r>
              <a:rPr lang="en" sz="2000">
                <a:solidFill>
                  <a:schemeClr val="dk1"/>
                </a:solidFill>
              </a:rPr>
              <a:t> foreground app, can create and run both foreground and background services.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When an app goes into the background, the system stops the app's background services.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The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startService()</a:t>
            </a:r>
            <a:r>
              <a:rPr lang="en" sz="2000">
                <a:solidFill>
                  <a:schemeClr val="dk1"/>
                </a:solidFill>
              </a:rPr>
              <a:t> method now throws an </a:t>
            </a:r>
            <a:r>
              <a:rPr lang="en" sz="2000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IllegalStateException</a:t>
            </a:r>
            <a:r>
              <a:rPr lang="en" sz="2000">
                <a:solidFill>
                  <a:schemeClr val="dk1"/>
                </a:solidFill>
              </a:rPr>
              <a:t> if an app is targeting API 26.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These limitations don't affect foreground services or bound services.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388" name="Google Shape;388;p6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9" name="Google Shape;389;p6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Background services limitations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service</a:t>
            </a:r>
            <a:endParaRPr/>
          </a:p>
        </p:txBody>
      </p:sp>
      <p:sp>
        <p:nvSpPr>
          <p:cNvPr id="395" name="Google Shape;395;p6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&lt;service android:name=".ExampleService" /&gt;</a:t>
            </a: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Manage permissions.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Subclass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IntentService</a:t>
            </a:r>
            <a:r>
              <a:rPr lang="en"/>
              <a:t> or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Service</a:t>
            </a:r>
            <a:r>
              <a:rPr lang="en"/>
              <a:t> class.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Implement lifecycle methods.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Start service from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Make sure service is stoppable.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6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Stopping a service</a:t>
            </a:r>
            <a:endParaRPr/>
          </a:p>
        </p:txBody>
      </p:sp>
      <p:sp>
        <p:nvSpPr>
          <p:cNvPr id="402" name="Google Shape;402;p70"/>
          <p:cNvSpPr txBox="1"/>
          <p:nvPr>
            <p:ph idx="1" type="body"/>
          </p:nvPr>
        </p:nvSpPr>
        <p:spPr>
          <a:xfrm>
            <a:off x="311700" y="1137100"/>
            <a:ext cx="8520600" cy="20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 </a:t>
            </a:r>
            <a:r>
              <a:rPr b="1" lang="en"/>
              <a:t>started service</a:t>
            </a:r>
            <a:r>
              <a:rPr lang="en"/>
              <a:t> must manage its own lifecycle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If not stopped, will keep running and consuming resources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The service must stop itself by calling </a:t>
            </a:r>
            <a:r>
              <a:rPr lang="en" u="sng">
                <a:solidFill>
                  <a:schemeClr val="hlink"/>
                </a:solidFill>
                <a:hlinkClick r:id="rId3"/>
              </a:rPr>
              <a:t>stopSelf()</a:t>
            </a: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Another component can stop it by calling </a:t>
            </a:r>
            <a:r>
              <a:rPr lang="en" u="sng">
                <a:solidFill>
                  <a:schemeClr val="hlink"/>
                </a:solidFill>
                <a:hlinkClick r:id="rId4"/>
              </a:rPr>
              <a:t>stopService()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1" lang="en"/>
              <a:t>Bound service</a:t>
            </a:r>
            <a:r>
              <a:rPr lang="en"/>
              <a:t> is destroyed when all clients unbound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1" lang="en"/>
              <a:t>IntentService</a:t>
            </a:r>
            <a:r>
              <a:rPr lang="en"/>
              <a:t> is destroyed after onHandleIntent() returns</a:t>
            </a:r>
            <a:endParaRPr/>
          </a:p>
        </p:txBody>
      </p:sp>
      <p:sp>
        <p:nvSpPr>
          <p:cNvPr id="403" name="Google Shape;403;p7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IntentService</a:t>
            </a:r>
            <a:endParaRPr/>
          </a:p>
        </p:txBody>
      </p:sp>
      <p:sp>
        <p:nvSpPr>
          <p:cNvPr id="409" name="Google Shape;409;p7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IntentService</a:t>
            </a:r>
            <a:endParaRPr/>
          </a:p>
        </p:txBody>
      </p:sp>
      <p:sp>
        <p:nvSpPr>
          <p:cNvPr id="415" name="Google Shape;415;p72"/>
          <p:cNvSpPr txBox="1"/>
          <p:nvPr>
            <p:ph idx="1" type="body"/>
          </p:nvPr>
        </p:nvSpPr>
        <p:spPr>
          <a:xfrm>
            <a:off x="311700" y="1457275"/>
            <a:ext cx="8270700" cy="28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Simple service with simplified lifecycle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Uses worker threads to fulfill requests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Stops itself when done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Ideal for one long task on a single background thread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7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7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IntentService Limitations</a:t>
            </a:r>
            <a:endParaRPr/>
          </a:p>
        </p:txBody>
      </p:sp>
      <p:sp>
        <p:nvSpPr>
          <p:cNvPr id="422" name="Google Shape;422;p73"/>
          <p:cNvSpPr txBox="1"/>
          <p:nvPr>
            <p:ph idx="1" type="body"/>
          </p:nvPr>
        </p:nvSpPr>
        <p:spPr>
          <a:xfrm>
            <a:off x="311700" y="1076275"/>
            <a:ext cx="8782800" cy="33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Cannot interact with the UI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Can only run one request at a time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Cannot be interrupted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7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7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IntentService restrictions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7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IntentService</a:t>
            </a:r>
            <a:r>
              <a:rPr lang="en"/>
              <a:t> </a:t>
            </a:r>
            <a:r>
              <a:rPr lang="en">
                <a:solidFill>
                  <a:srgbClr val="000000"/>
                </a:solidFill>
              </a:rPr>
              <a:t>are subjected to the new restrictions on background services.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For the a</a:t>
            </a:r>
            <a:r>
              <a:rPr lang="en">
                <a:solidFill>
                  <a:srgbClr val="000000"/>
                </a:solidFill>
              </a:rPr>
              <a:t>pps</a:t>
            </a:r>
            <a:r>
              <a:rPr lang="en">
                <a:solidFill>
                  <a:srgbClr val="000000"/>
                </a:solidFill>
              </a:rPr>
              <a:t> targeting API 26, </a:t>
            </a:r>
            <a:r>
              <a:rPr lang="en" u="sng">
                <a:solidFill>
                  <a:schemeClr val="hlink"/>
                </a:solidFill>
                <a:hlinkClick r:id="rId4"/>
              </a:rPr>
              <a:t>Android Support Library 26.0.0</a:t>
            </a:r>
            <a:r>
              <a:rPr lang="en"/>
              <a:t> </a:t>
            </a:r>
            <a:r>
              <a:rPr lang="en">
                <a:solidFill>
                  <a:srgbClr val="000000"/>
                </a:solidFill>
              </a:rPr>
              <a:t>introduces a new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JobIntentService</a:t>
            </a:r>
            <a:r>
              <a:rPr lang="en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JobIntentService</a:t>
            </a:r>
            <a:r>
              <a:rPr lang="en">
                <a:solidFill>
                  <a:srgbClr val="000000"/>
                </a:solidFill>
              </a:rPr>
              <a:t> provides the same functionality as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IntentService</a:t>
            </a:r>
            <a:r>
              <a:rPr lang="en"/>
              <a:t> </a:t>
            </a:r>
            <a:r>
              <a:rPr lang="en">
                <a:solidFill>
                  <a:srgbClr val="000000"/>
                </a:solidFill>
              </a:rPr>
              <a:t>but uses jobs instead of services.</a:t>
            </a:r>
            <a:endParaRPr/>
          </a:p>
        </p:txBody>
      </p:sp>
      <p:sp>
        <p:nvSpPr>
          <p:cNvPr id="430" name="Google Shape;430;p7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7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IntentService Implementation</a:t>
            </a:r>
            <a:endParaRPr/>
          </a:p>
        </p:txBody>
      </p:sp>
      <p:sp>
        <p:nvSpPr>
          <p:cNvPr id="436" name="Google Shape;436;p75"/>
          <p:cNvSpPr txBox="1"/>
          <p:nvPr>
            <p:ph idx="1" type="body"/>
          </p:nvPr>
        </p:nvSpPr>
        <p:spPr>
          <a:xfrm>
            <a:off x="311700" y="1152475"/>
            <a:ext cx="8782800" cy="33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class HelloIntentService extends IntentService 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HelloIntentService()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 super("HelloIntentService");}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@Override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protected void onHandleIntent(Intent intent)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try 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// Do some work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} catch (InterruptedException e) 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Thread.currentThread().interrupt();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 // When this method returns, IntentService stops the service, as appropriate.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/>
          </a:p>
        </p:txBody>
      </p:sp>
      <p:sp>
        <p:nvSpPr>
          <p:cNvPr id="437" name="Google Shape;437;p7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443" name="Google Shape;443;p76"/>
          <p:cNvSpPr txBox="1"/>
          <p:nvPr>
            <p:ph idx="1" type="body"/>
          </p:nvPr>
        </p:nvSpPr>
        <p:spPr>
          <a:xfrm>
            <a:off x="235500" y="1782075"/>
            <a:ext cx="8690100" cy="17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Services overview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Background Execution Limits</a:t>
            </a:r>
            <a:endParaRPr u="sng">
              <a:solidFill>
                <a:schemeClr val="hlink"/>
              </a:solidFill>
            </a:endParaRPr>
          </a:p>
        </p:txBody>
      </p:sp>
      <p:sp>
        <p:nvSpPr>
          <p:cNvPr id="444" name="Google Shape;444;p7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450" name="Google Shape;450;p7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1" name="Google Shape;451;p77"/>
          <p:cNvSpPr txBox="1"/>
          <p:nvPr/>
        </p:nvSpPr>
        <p:spPr>
          <a:xfrm>
            <a:off x="311700" y="2216125"/>
            <a:ext cx="8520600" cy="13263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7.4 Services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No practical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457" name="Google Shape;457;p7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7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9" name="Google Shape;459;p7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