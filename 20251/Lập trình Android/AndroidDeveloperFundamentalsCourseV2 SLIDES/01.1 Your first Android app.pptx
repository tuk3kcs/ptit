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bold.fntdata"/><Relationship Id="rId14" Type="http://schemas.openxmlformats.org/officeDocument/2006/relationships/slide" Target="slides/slide8.xml"/><Relationship Id="rId36" Type="http://schemas.openxmlformats.org/officeDocument/2006/relationships/font" Target="fonts/Robot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804c611e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804c611e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623af889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623af889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8fbd4b1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8fbd4b1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5a3800b8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5a3800b8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7f576559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7f576559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7f576559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7f576559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5a3800b80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5a3800b80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6c8640d0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6c8640d0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6c8640d0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6c8640d0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6c8640d0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6c8640d0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7f576559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7f576559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7f576559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7f576559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5a3800b80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5a3800b80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6c8640d0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6c8640d0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5a3800b80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5a3800b80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7f576559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7f57655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7f576559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7f576559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5a3800b80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5a3800b80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94f2827d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94f2827d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a3f6e2c1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a3f6e2c1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a3f6e2c1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a3f6e2c1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5a3800b80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5a3800b80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90f2eba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90f2eba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5a3800b80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5a3800b80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7f5765591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7f5765591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7f576559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7f576559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2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25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hyperlink" Target="http://creativecommons.org/licenses/by-nc/4.0/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/>
        </p:nvSpPr>
        <p:spPr>
          <a:xfrm>
            <a:off x="2346775" y="4761375"/>
            <a:ext cx="23652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12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483425" y="4663950"/>
            <a:ext cx="109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2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4" name="Google Shape;12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5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4421125" y="47592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Storing Data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0" name="Google Shape;150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1" name="Google Shape;151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2" name="Google Shape;162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2" name="Google Shape;172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3" name="Google Shape;173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6" name="Google Shape;176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0" name="Google Shape;180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1" name="Google Shape;181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5" name="Google Shape;185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" name="Google Shape;188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9" name="Google Shape;189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91" name="Google Shape;191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92" name="Google Shape;1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38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7" name="Google Shape;197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8" name="Google Shape;198;p38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8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00" name="Google Shape;20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2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25.png"/><Relationship Id="rId2" Type="http://schemas.openxmlformats.org/officeDocument/2006/relationships/hyperlink" Target="http://creativecommons.org/licenses/by-nc/4.0/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2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80725" y="4761375"/>
            <a:ext cx="2312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5596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293925" y="4761375"/>
            <a:ext cx="2325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9" name="Google Shape;139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2279675" y="4783500"/>
            <a:ext cx="2382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studio/" TargetMode="External"/><Relationship Id="rId4" Type="http://schemas.openxmlformats.org/officeDocument/2006/relationships/hyperlink" Target="https://codelabs.developers.google.com/codelabs/android-training-hello-worl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radle.org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Relationship Id="rId4" Type="http://schemas.openxmlformats.org/officeDocument/2006/relationships/hyperlink" Target="http://developer.android.com/tools/device.html" TargetMode="External"/><Relationship Id="rId5" Type="http://schemas.openxmlformats.org/officeDocument/2006/relationships/hyperlink" Target="http://developer.android.com/tools/extras/oem-usb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studio/intro/index.html" TargetMode="External"/><Relationship Id="rId4" Type="http://schemas.openxmlformats.org/officeDocument/2006/relationships/hyperlink" Target="https://developer.android.com/index.html" TargetMode="External"/><Relationship Id="rId5" Type="http://schemas.openxmlformats.org/officeDocument/2006/relationships/hyperlink" Target="https://developer.android.com/studio/run/managing-avds.html" TargetMode="External"/><Relationship Id="rId6" Type="http://schemas.openxmlformats.org/officeDocument/2006/relationships/hyperlink" Target="https://developer.android.com/training/basics/supporting-devices/platforms.html" TargetMode="External"/><Relationship Id="rId7" Type="http://schemas.openxmlformats.org/officeDocument/2006/relationships/hyperlink" Target="https://developer.android.com/guide/practices/screens_support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en.wikipedia.org/wiki/Gradle" TargetMode="External"/><Relationship Id="rId4" Type="http://schemas.openxmlformats.org/officeDocument/2006/relationships/hyperlink" Target="http://google.github.io/styleguide/javaguide.html" TargetMode="External"/><Relationship Id="rId5" Type="http://schemas.openxmlformats.org/officeDocument/2006/relationships/hyperlink" Target="http://stackoverflow.com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oogle-developer-training.github.io/android-developer-fundamentals-course-concepts-v2/unit-1-get-started/lesson-1-build-your-first-app/1-1-c-your-first-android-app/1-1-c-your-first-android-app.html" TargetMode="External"/><Relationship Id="rId4" Type="http://schemas.openxmlformats.org/officeDocument/2006/relationships/hyperlink" Target="https://codelabs.developers.google.com/codelabs/android-training-hello-world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40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40"/>
          <p:cNvSpPr txBox="1"/>
          <p:nvPr>
            <p:ph type="title"/>
          </p:nvPr>
        </p:nvSpPr>
        <p:spPr>
          <a:xfrm>
            <a:off x="195700" y="985671"/>
            <a:ext cx="4045200" cy="203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Build y</a:t>
            </a:r>
            <a:r>
              <a:rPr lang="en"/>
              <a:t>our first app</a:t>
            </a:r>
            <a:endParaRPr/>
          </a:p>
        </p:txBody>
      </p:sp>
      <p:sp>
        <p:nvSpPr>
          <p:cNvPr id="212" name="Google Shape;212;p40"/>
          <p:cNvSpPr txBox="1"/>
          <p:nvPr>
            <p:ph idx="1" type="subTitle"/>
          </p:nvPr>
        </p:nvSpPr>
        <p:spPr>
          <a:xfrm>
            <a:off x="265500" y="3497900"/>
            <a:ext cx="4236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</a:t>
            </a:r>
            <a:endParaRPr sz="1800"/>
          </a:p>
        </p:txBody>
      </p:sp>
      <p:sp>
        <p:nvSpPr>
          <p:cNvPr id="213" name="Google Shape;213;p40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40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Your first Android app</a:t>
            </a:r>
            <a:endParaRPr/>
          </a:p>
        </p:txBody>
      </p:sp>
      <p:sp>
        <p:nvSpPr>
          <p:cNvPr id="220" name="Google Shape;220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Studio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Creating "Hello World" app in Android Studio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Basic app development workflow with Android Studio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Running apps on virtual and physical devices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7" name="Google Shape;227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Prerequisites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3" name="Google Shape;233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Java Programming Language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Object-oriented programming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XML - properties / attributes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Using an IDE for development and debugging</a:t>
            </a:r>
            <a:endParaRPr/>
          </a:p>
        </p:txBody>
      </p:sp>
      <p:sp>
        <p:nvSpPr>
          <p:cNvPr id="234" name="Google Shape;234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Studio</a:t>
            </a:r>
            <a:endParaRPr/>
          </a:p>
        </p:txBody>
      </p:sp>
      <p:sp>
        <p:nvSpPr>
          <p:cNvPr id="240" name="Google Shape;240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 is Android Studio?</a:t>
            </a:r>
            <a:endParaRPr/>
          </a:p>
        </p:txBody>
      </p:sp>
      <p:sp>
        <p:nvSpPr>
          <p:cNvPr id="246" name="Google Shape;246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45"/>
          <p:cNvSpPr txBox="1"/>
          <p:nvPr/>
        </p:nvSpPr>
        <p:spPr>
          <a:xfrm>
            <a:off x="362350" y="1393150"/>
            <a:ext cx="8583900" cy="27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Android integrated development environment (IDE)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Project and Activity templates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Layout editor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Testing tools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Gradle-based build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Log console and debugger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Emulators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Android Studio interface</a:t>
            </a:r>
            <a:endParaRPr/>
          </a:p>
        </p:txBody>
      </p:sp>
      <p:sp>
        <p:nvSpPr>
          <p:cNvPr id="253" name="Google Shape;253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46"/>
          <p:cNvSpPr txBox="1"/>
          <p:nvPr/>
        </p:nvSpPr>
        <p:spPr>
          <a:xfrm>
            <a:off x="6089650" y="1570225"/>
            <a:ext cx="28566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Toolbar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Navigation bar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Project pane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Editor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Tabs for other panes</a:t>
            </a:r>
            <a:endParaRPr sz="2400"/>
          </a:p>
        </p:txBody>
      </p:sp>
      <p:pic>
        <p:nvPicPr>
          <p:cNvPr id="255" name="Google Shape;25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75" y="1006651"/>
            <a:ext cx="5850576" cy="34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Installation Overview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1" name="Google Shape;261;p4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Mac, Windows, or Linux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Download and install Android Studio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https://developer.android.com/studio/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1.1 P: Android Studio and Hello World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" name="Google Shape;262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your </a:t>
            </a:r>
            <a:br>
              <a:rPr lang="en"/>
            </a:br>
            <a:r>
              <a:rPr lang="en"/>
              <a:t>first Android app</a:t>
            </a:r>
            <a:endParaRPr/>
          </a:p>
        </p:txBody>
      </p:sp>
      <p:sp>
        <p:nvSpPr>
          <p:cNvPr id="268" name="Google Shape;268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 Android Studio</a:t>
            </a:r>
            <a:endParaRPr/>
          </a:p>
        </p:txBody>
      </p:sp>
      <p:sp>
        <p:nvSpPr>
          <p:cNvPr id="274" name="Google Shape;274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5" name="Google Shape;2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288" y="1649475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9"/>
          <p:cNvSpPr/>
          <p:nvPr/>
        </p:nvSpPr>
        <p:spPr>
          <a:xfrm>
            <a:off x="1257513" y="871800"/>
            <a:ext cx="548700" cy="703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9"/>
          <p:cNvSpPr/>
          <p:nvPr/>
        </p:nvSpPr>
        <p:spPr>
          <a:xfrm rot="5400000">
            <a:off x="1731125" y="3355725"/>
            <a:ext cx="768000" cy="1317600"/>
          </a:xfrm>
          <a:prstGeom prst="bentUpArrow">
            <a:avLst>
              <a:gd fmla="val 33707" name="adj1"/>
              <a:gd fmla="val 25000" name="adj2"/>
              <a:gd fmla="val 19102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025" y="1062100"/>
            <a:ext cx="3535776" cy="34206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9" name="Google Shape;279;p49"/>
          <p:cNvSpPr/>
          <p:nvPr/>
        </p:nvSpPr>
        <p:spPr>
          <a:xfrm>
            <a:off x="3928950" y="2652969"/>
            <a:ext cx="2385300" cy="19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0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a project </a:t>
            </a:r>
            <a:r>
              <a:rPr lang="en"/>
              <a:t>inside Android Studio</a:t>
            </a:r>
            <a:endParaRPr/>
          </a:p>
        </p:txBody>
      </p:sp>
      <p:sp>
        <p:nvSpPr>
          <p:cNvPr id="285" name="Google Shape;285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6" name="Google Shape;286;p50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266208" y="1031789"/>
            <a:ext cx="5662943" cy="34574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7" name="Google Shape;287;p50"/>
          <p:cNvSpPr/>
          <p:nvPr/>
        </p:nvSpPr>
        <p:spPr>
          <a:xfrm>
            <a:off x="4293800" y="1292425"/>
            <a:ext cx="1023600" cy="19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900" y="1092321"/>
            <a:ext cx="4652192" cy="346913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51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 your app</a:t>
            </a:r>
            <a:endParaRPr/>
          </a:p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51"/>
          <p:cNvSpPr/>
          <p:nvPr/>
        </p:nvSpPr>
        <p:spPr>
          <a:xfrm>
            <a:off x="2732375" y="1839278"/>
            <a:ext cx="3679200" cy="393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1"/>
          <p:cNvSpPr/>
          <p:nvPr/>
        </p:nvSpPr>
        <p:spPr>
          <a:xfrm>
            <a:off x="2732375" y="2630090"/>
            <a:ext cx="3679200" cy="393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2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Pick activity template</a:t>
            </a:r>
            <a:endParaRPr/>
          </a:p>
        </p:txBody>
      </p:sp>
      <p:sp>
        <p:nvSpPr>
          <p:cNvPr id="302" name="Google Shape;302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52"/>
          <p:cNvSpPr txBox="1"/>
          <p:nvPr/>
        </p:nvSpPr>
        <p:spPr>
          <a:xfrm>
            <a:off x="237775" y="1200675"/>
            <a:ext cx="30909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Choose templates for common activities, such as maps or navigation drawers.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Pick Empty Activity or Basic Activity for simple and custom activities.</a:t>
            </a:r>
            <a:r>
              <a:rPr lang="en"/>
              <a:t> </a:t>
            </a:r>
            <a:endParaRPr/>
          </a:p>
        </p:txBody>
      </p:sp>
      <p:pic>
        <p:nvPicPr>
          <p:cNvPr id="304" name="Google Shape;30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675" y="1082246"/>
            <a:ext cx="4711771" cy="3504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3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 your activity</a:t>
            </a:r>
            <a:endParaRPr/>
          </a:p>
        </p:txBody>
      </p:sp>
      <p:sp>
        <p:nvSpPr>
          <p:cNvPr id="310" name="Google Shape;310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53"/>
          <p:cNvSpPr txBox="1"/>
          <p:nvPr/>
        </p:nvSpPr>
        <p:spPr>
          <a:xfrm>
            <a:off x="76200" y="1200675"/>
            <a:ext cx="33771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Good practice:</a:t>
            </a:r>
            <a:endParaRPr sz="24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Name main activity 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MainActivity</a:t>
            </a:r>
            <a:endParaRPr sz="20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000"/>
              <a:t>Name layout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activity_main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 AppCompat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Generating layout file is convenient</a:t>
            </a:r>
            <a:endParaRPr/>
          </a:p>
        </p:txBody>
      </p:sp>
      <p:pic>
        <p:nvPicPr>
          <p:cNvPr id="312" name="Google Shape;31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700" y="1082246"/>
            <a:ext cx="4713963" cy="3504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Project folders</a:t>
            </a:r>
            <a:endParaRPr/>
          </a:p>
        </p:txBody>
      </p:sp>
      <p:sp>
        <p:nvSpPr>
          <p:cNvPr id="318" name="Google Shape;318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54"/>
          <p:cNvSpPr txBox="1"/>
          <p:nvPr/>
        </p:nvSpPr>
        <p:spPr>
          <a:xfrm>
            <a:off x="104200" y="1066875"/>
            <a:ext cx="5495100" cy="3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 sz="2400"/>
              <a:t>manifests</a:t>
            </a:r>
            <a:r>
              <a:rPr lang="en" sz="2400"/>
              <a:t>—Android Manifest file - description of app read by the Android runtime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 sz="2400">
                <a:solidFill>
                  <a:schemeClr val="dk1"/>
                </a:solidFill>
              </a:rPr>
              <a:t>java</a:t>
            </a:r>
            <a:r>
              <a:rPr lang="en" sz="2400">
                <a:solidFill>
                  <a:schemeClr val="dk1"/>
                </a:solidFill>
              </a:rPr>
              <a:t>—Java source code packages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" sz="2400">
                <a:solidFill>
                  <a:schemeClr val="dk1"/>
                </a:solidFill>
              </a:rPr>
              <a:t>res</a:t>
            </a:r>
            <a:r>
              <a:rPr lang="en" sz="2400">
                <a:solidFill>
                  <a:schemeClr val="dk1"/>
                </a:solidFill>
              </a:rPr>
              <a:t>—Resources (XML) - layout, strings, images, dimensions, colors...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" sz="2400">
                <a:solidFill>
                  <a:schemeClr val="dk1"/>
                </a:solidFill>
              </a:rPr>
              <a:t>build.gradle</a:t>
            </a:r>
            <a:r>
              <a:rPr lang="en" sz="2400">
                <a:solidFill>
                  <a:schemeClr val="dk1"/>
                </a:solidFill>
              </a:rPr>
              <a:t>—Gradle build files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20" name="Google Shape;320;p54"/>
          <p:cNvPicPr preferRelativeResize="0"/>
          <p:nvPr/>
        </p:nvPicPr>
        <p:blipFill rotWithShape="1">
          <a:blip r:embed="rId3">
            <a:alphaModFix/>
          </a:blip>
          <a:srcRect b="17450" l="0" r="0" t="0"/>
          <a:stretch/>
        </p:blipFill>
        <p:spPr>
          <a:xfrm>
            <a:off x="5446850" y="209850"/>
            <a:ext cx="3544750" cy="422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Gradle build system</a:t>
            </a:r>
            <a:endParaRPr/>
          </a:p>
        </p:txBody>
      </p:sp>
      <p:sp>
        <p:nvSpPr>
          <p:cNvPr id="326" name="Google Shape;326;p5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Modern build subsystem in Android Studio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Three build.gradle:</a:t>
            </a:r>
            <a:endParaRPr/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project</a:t>
            </a:r>
            <a:endParaRPr/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module</a:t>
            </a:r>
            <a:endParaRPr/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settings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Typically not necessary to know low-level Gradle details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Learn more about gradle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https://gradle.org/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7" name="Google Shape;327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Run your app</a:t>
            </a:r>
            <a:endParaRPr/>
          </a:p>
        </p:txBody>
      </p:sp>
      <p:sp>
        <p:nvSpPr>
          <p:cNvPr id="333" name="Google Shape;333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4" name="Google Shape;33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225" y="1063025"/>
            <a:ext cx="5847049" cy="3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6"/>
          <p:cNvSpPr txBox="1"/>
          <p:nvPr>
            <p:ph idx="12" type="sldNum"/>
          </p:nvPr>
        </p:nvSpPr>
        <p:spPr>
          <a:xfrm>
            <a:off x="7489732" y="4741500"/>
            <a:ext cx="5196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56"/>
          <p:cNvSpPr/>
          <p:nvPr/>
        </p:nvSpPr>
        <p:spPr>
          <a:xfrm>
            <a:off x="3229185" y="1133667"/>
            <a:ext cx="519600" cy="3315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6"/>
          <p:cNvSpPr txBox="1"/>
          <p:nvPr/>
        </p:nvSpPr>
        <p:spPr>
          <a:xfrm>
            <a:off x="6416575" y="1143625"/>
            <a:ext cx="14418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Run</a:t>
            </a:r>
            <a:endParaRPr sz="3000"/>
          </a:p>
        </p:txBody>
      </p:sp>
      <p:cxnSp>
        <p:nvCxnSpPr>
          <p:cNvPr id="338" name="Google Shape;338;p56"/>
          <p:cNvCxnSpPr>
            <a:endCxn id="336" idx="3"/>
          </p:cNvCxnSpPr>
          <p:nvPr/>
        </p:nvCxnSpPr>
        <p:spPr>
          <a:xfrm rot="10800000">
            <a:off x="3748785" y="1299417"/>
            <a:ext cx="2591700" cy="137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" name="Google Shape;339;p56"/>
          <p:cNvSpPr txBox="1"/>
          <p:nvPr/>
        </p:nvSpPr>
        <p:spPr>
          <a:xfrm>
            <a:off x="6340375" y="2237925"/>
            <a:ext cx="2803500" cy="167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2. </a:t>
            </a:r>
            <a:r>
              <a:rPr lang="en" sz="3000"/>
              <a:t>Select virtual or physical device</a:t>
            </a:r>
            <a:endParaRPr sz="3000"/>
          </a:p>
        </p:txBody>
      </p:sp>
      <p:cxnSp>
        <p:nvCxnSpPr>
          <p:cNvPr id="340" name="Google Shape;340;p56"/>
          <p:cNvCxnSpPr/>
          <p:nvPr/>
        </p:nvCxnSpPr>
        <p:spPr>
          <a:xfrm rot="10800000">
            <a:off x="4489375" y="2254775"/>
            <a:ext cx="1870800" cy="3309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" name="Google Shape;341;p56"/>
          <p:cNvSpPr/>
          <p:nvPr/>
        </p:nvSpPr>
        <p:spPr>
          <a:xfrm>
            <a:off x="5362676" y="4092257"/>
            <a:ext cx="810900" cy="4467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56"/>
          <p:cNvSpPr txBox="1"/>
          <p:nvPr/>
        </p:nvSpPr>
        <p:spPr>
          <a:xfrm>
            <a:off x="6340375" y="3844750"/>
            <a:ext cx="14418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3. OK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45675"/>
            <a:ext cx="5094300" cy="234499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8" name="Google Shape;348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Create a virtual device</a:t>
            </a:r>
            <a:endParaRPr/>
          </a:p>
        </p:txBody>
      </p:sp>
      <p:sp>
        <p:nvSpPr>
          <p:cNvPr id="349" name="Google Shape;349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57"/>
          <p:cNvSpPr txBox="1"/>
          <p:nvPr/>
        </p:nvSpPr>
        <p:spPr>
          <a:xfrm>
            <a:off x="148600" y="996800"/>
            <a:ext cx="8747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Use emulators to test app on different versions of Android and form factors.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351" name="Google Shape;351;p57"/>
          <p:cNvSpPr/>
          <p:nvPr/>
        </p:nvSpPr>
        <p:spPr>
          <a:xfrm>
            <a:off x="351960" y="4221981"/>
            <a:ext cx="1114800" cy="2733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52;p57"/>
          <p:cNvPicPr preferRelativeResize="0"/>
          <p:nvPr/>
        </p:nvPicPr>
        <p:blipFill rotWithShape="1">
          <a:blip r:embed="rId4">
            <a:alphaModFix/>
          </a:blip>
          <a:srcRect b="0" l="35666" r="0" t="20785"/>
          <a:stretch/>
        </p:blipFill>
        <p:spPr>
          <a:xfrm>
            <a:off x="5329875" y="1486775"/>
            <a:ext cx="3750825" cy="26344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3" name="Google Shape;353;p57"/>
          <p:cNvSpPr/>
          <p:nvPr/>
        </p:nvSpPr>
        <p:spPr>
          <a:xfrm>
            <a:off x="5485599" y="3735016"/>
            <a:ext cx="1545000" cy="1719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7"/>
          <p:cNvSpPr txBox="1"/>
          <p:nvPr/>
        </p:nvSpPr>
        <p:spPr>
          <a:xfrm>
            <a:off x="159300" y="1543575"/>
            <a:ext cx="509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Tools &gt; Android &gt; AVD Manager                  </a:t>
            </a:r>
            <a:r>
              <a:rPr lang="en" sz="1800"/>
              <a:t>or:</a:t>
            </a:r>
            <a:endParaRPr b="1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Configure virtual device</a:t>
            </a:r>
            <a:endParaRPr/>
          </a:p>
        </p:txBody>
      </p:sp>
      <p:sp>
        <p:nvSpPr>
          <p:cNvPr id="360" name="Google Shape;360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8"/>
          <p:cNvSpPr txBox="1"/>
          <p:nvPr/>
        </p:nvSpPr>
        <p:spPr>
          <a:xfrm>
            <a:off x="9300" y="1248125"/>
            <a:ext cx="4510200" cy="22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Choose hardware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Select Android version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AutoNum type="arabicPeriod"/>
            </a:pPr>
            <a:r>
              <a:rPr lang="en" sz="2400"/>
              <a:t>Finalize</a:t>
            </a:r>
            <a:endParaRPr sz="2400"/>
          </a:p>
        </p:txBody>
      </p:sp>
      <p:pic>
        <p:nvPicPr>
          <p:cNvPr id="362" name="Google Shape;36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800" y="1107201"/>
            <a:ext cx="4995825" cy="3357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Run on a virtual device</a:t>
            </a:r>
            <a:endParaRPr/>
          </a:p>
        </p:txBody>
      </p:sp>
      <p:sp>
        <p:nvSpPr>
          <p:cNvPr id="368" name="Google Shape;368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9" name="Google Shape;36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150" y="969150"/>
            <a:ext cx="2163315" cy="364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3819" y="969150"/>
            <a:ext cx="433931" cy="31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9"/>
          <p:cNvSpPr/>
          <p:nvPr/>
        </p:nvSpPr>
        <p:spPr>
          <a:xfrm rot="-5400000">
            <a:off x="2342713" y="3378225"/>
            <a:ext cx="548700" cy="703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Run on a physical device</a:t>
            </a:r>
            <a:endParaRPr/>
          </a:p>
        </p:txBody>
      </p:sp>
      <p:sp>
        <p:nvSpPr>
          <p:cNvPr id="377" name="Google Shape;377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8" name="Google Shape;37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900" y="987873"/>
            <a:ext cx="2732176" cy="364290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60"/>
          <p:cNvSpPr txBox="1"/>
          <p:nvPr/>
        </p:nvSpPr>
        <p:spPr>
          <a:xfrm>
            <a:off x="52600" y="987875"/>
            <a:ext cx="6303300" cy="3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Turn on Developer Options: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b="1" lang="en" sz="1800">
                <a:solidFill>
                  <a:schemeClr val="dk1"/>
                </a:solidFill>
              </a:rPr>
              <a:t>Settings &gt; About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phone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>
                <a:solidFill>
                  <a:schemeClr val="dk1"/>
                </a:solidFill>
              </a:rPr>
              <a:t>Tap </a:t>
            </a:r>
            <a:r>
              <a:rPr b="1" lang="en" sz="1800">
                <a:solidFill>
                  <a:schemeClr val="dk1"/>
                </a:solidFill>
              </a:rPr>
              <a:t>Build number</a:t>
            </a:r>
            <a:r>
              <a:rPr lang="en" sz="1800">
                <a:solidFill>
                  <a:schemeClr val="dk1"/>
                </a:solidFill>
              </a:rPr>
              <a:t> seven times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Turn on USB Debugging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b="1" lang="en" sz="1800"/>
              <a:t>Settings &gt; Developer Options &gt; USB Debugging</a:t>
            </a:r>
            <a:endParaRPr b="1"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Connect phone to computer with cable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Windows/Linux additional setup: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Using Hardware Devices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Windows drivers: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OEM USB Drivers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feedback as your app runs</a:t>
            </a:r>
            <a:endParaRPr/>
          </a:p>
        </p:txBody>
      </p:sp>
      <p:sp>
        <p:nvSpPr>
          <p:cNvPr id="385" name="Google Shape;385;p61"/>
          <p:cNvSpPr txBox="1"/>
          <p:nvPr>
            <p:ph idx="1" type="body"/>
          </p:nvPr>
        </p:nvSpPr>
        <p:spPr>
          <a:xfrm>
            <a:off x="311700" y="1076275"/>
            <a:ext cx="257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Emulator running the app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Run pane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/>
              <a:t>Run</a:t>
            </a:r>
            <a:r>
              <a:rPr lang="en"/>
              <a:t> tab to open or close the Run pane</a:t>
            </a:r>
            <a:endParaRPr/>
          </a:p>
        </p:txBody>
      </p:sp>
      <p:sp>
        <p:nvSpPr>
          <p:cNvPr id="386" name="Google Shape;386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7" name="Google Shape;38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700" y="1170425"/>
            <a:ext cx="59436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logging to your app</a:t>
            </a:r>
            <a:endParaRPr/>
          </a:p>
        </p:txBody>
      </p:sp>
      <p:sp>
        <p:nvSpPr>
          <p:cNvPr id="393" name="Google Shape;393;p62"/>
          <p:cNvSpPr txBox="1"/>
          <p:nvPr>
            <p:ph idx="1" type="body"/>
          </p:nvPr>
        </p:nvSpPr>
        <p:spPr>
          <a:xfrm>
            <a:off x="311700" y="1076275"/>
            <a:ext cx="870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 the app runs, the </a:t>
            </a:r>
            <a:r>
              <a:rPr b="1" lang="en"/>
              <a:t>Logcat</a:t>
            </a:r>
            <a:r>
              <a:rPr lang="en"/>
              <a:t> pane shows information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Add logging statements to your app that will show up in the Logcat pane 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filters in </a:t>
            </a:r>
            <a:r>
              <a:rPr b="1" lang="en"/>
              <a:t>Logcat</a:t>
            </a:r>
            <a:r>
              <a:rPr lang="en"/>
              <a:t> pane to see what's important to you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Search using tags</a:t>
            </a:r>
            <a:endParaRPr/>
          </a:p>
        </p:txBody>
      </p:sp>
      <p:sp>
        <p:nvSpPr>
          <p:cNvPr id="394" name="Google Shape;394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Logcat pane</a:t>
            </a:r>
            <a:endParaRPr/>
          </a:p>
        </p:txBody>
      </p:sp>
      <p:sp>
        <p:nvSpPr>
          <p:cNvPr id="400" name="Google Shape;400;p63"/>
          <p:cNvSpPr txBox="1"/>
          <p:nvPr>
            <p:ph idx="1" type="body"/>
          </p:nvPr>
        </p:nvSpPr>
        <p:spPr>
          <a:xfrm>
            <a:off x="311700" y="1076275"/>
            <a:ext cx="257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/>
              <a:t>Logcat</a:t>
            </a:r>
            <a:r>
              <a:rPr lang="en"/>
              <a:t> tab to show Logcat pane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Log level menu</a:t>
            </a:r>
            <a:endParaRPr/>
          </a:p>
        </p:txBody>
      </p:sp>
      <p:sp>
        <p:nvSpPr>
          <p:cNvPr id="401" name="Google Shape;401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2" name="Google Shape;40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2900" y="910062"/>
            <a:ext cx="5786301" cy="366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Logging statement</a:t>
            </a:r>
            <a:endParaRPr/>
          </a:p>
        </p:txBody>
      </p:sp>
      <p:sp>
        <p:nvSpPr>
          <p:cNvPr id="408" name="Google Shape;408;p64"/>
          <p:cNvSpPr txBox="1"/>
          <p:nvPr>
            <p:ph idx="1" type="body"/>
          </p:nvPr>
        </p:nvSpPr>
        <p:spPr>
          <a:xfrm>
            <a:off x="311700" y="923875"/>
            <a:ext cx="85206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import android.util.Log;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// Use class name as tag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private static final String TAG =  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MainActivity.class.getSimpleName();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Show message in Android Monitor, logcat pane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Log.&lt;log-level&gt;(TAG, "Message");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Log.d(TAG, “Creating the URI…”);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" name="Google Shape;409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415" name="Google Shape;415;p65"/>
          <p:cNvSpPr txBox="1"/>
          <p:nvPr>
            <p:ph idx="1" type="body"/>
          </p:nvPr>
        </p:nvSpPr>
        <p:spPr>
          <a:xfrm>
            <a:off x="311700" y="1291975"/>
            <a:ext cx="8520600" cy="3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Meet Android Studio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Official Android documentation at </a:t>
            </a:r>
            <a:r>
              <a:rPr lang="en" u="sng">
                <a:solidFill>
                  <a:schemeClr val="hlink"/>
                </a:solidFill>
                <a:hlinkClick r:id="rId4"/>
              </a:rPr>
              <a:t>developer.android.com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Create and Manage Virtual Devices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Supporting Different Platform Versions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Supporting Multiple Screens</a:t>
            </a:r>
            <a:endParaRPr/>
          </a:p>
        </p:txBody>
      </p:sp>
      <p:sp>
        <p:nvSpPr>
          <p:cNvPr id="416" name="Google Shape;416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even more</a:t>
            </a:r>
            <a:endParaRPr/>
          </a:p>
        </p:txBody>
      </p:sp>
      <p:sp>
        <p:nvSpPr>
          <p:cNvPr id="422" name="Google Shape;422;p66"/>
          <p:cNvSpPr txBox="1"/>
          <p:nvPr>
            <p:ph idx="1" type="body"/>
          </p:nvPr>
        </p:nvSpPr>
        <p:spPr>
          <a:xfrm>
            <a:off x="311700" y="1596775"/>
            <a:ext cx="8520600" cy="26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Gradle Wikipedia page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Google Java Programming Language style guide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Find answers at </a:t>
            </a:r>
            <a:r>
              <a:rPr lang="en" u="sng">
                <a:solidFill>
                  <a:schemeClr val="hlink"/>
                </a:solidFill>
                <a:hlinkClick r:id="rId5"/>
              </a:rPr>
              <a:t>Stackoverflow.com</a:t>
            </a:r>
            <a:endParaRPr/>
          </a:p>
        </p:txBody>
      </p:sp>
      <p:sp>
        <p:nvSpPr>
          <p:cNvPr id="423" name="Google Shape;423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29" name="Google Shape;429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67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1.1 Your first Android app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1.1 Android Studio and Hello World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36" name="Google Shape;436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