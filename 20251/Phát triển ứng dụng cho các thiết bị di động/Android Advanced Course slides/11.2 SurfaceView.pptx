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33" Type="http://schemas.openxmlformats.org/officeDocument/2006/relationships/font" Target="fonts/OpenSans-italic.fntdata"/><Relationship Id="rId10" Type="http://schemas.openxmlformats.org/officeDocument/2006/relationships/slide" Target="slides/slide6.xml"/><Relationship Id="rId32" Type="http://schemas.openxmlformats.org/officeDocument/2006/relationships/font" Target="fonts/Open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39236257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39236257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5a86604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5a86604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5a866045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5a866045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752c792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752c792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752c79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752c79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4b1b5eb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4b1b5eb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752c792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752c79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6752c79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6752c79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752c792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752c792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752c792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752c792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752c792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752c792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752c792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752c792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6752c792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6752c792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752c792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752c792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96ac5e0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96ac5e0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752c792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752c792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join() seems to be a badly named method!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6752c792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6752c792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6752c792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6752c792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752c792d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752c792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5b0287de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5b0287de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5a86604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5a86604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407225" y="4756401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1475" y="47362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2" y="4754753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Canvas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362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eveloper.android.com/reference/android/view/SurfaceView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view/Surface.html" TargetMode="External"/><Relationship Id="rId4" Type="http://schemas.openxmlformats.org/officeDocument/2006/relationships/hyperlink" Target="https://developer.android.com/reference/android/view/SurfaceView.html" TargetMode="External"/><Relationship Id="rId5" Type="http://schemas.openxmlformats.org/officeDocument/2006/relationships/hyperlink" Target="https://developer.android.com/reference/android/view/Surface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android/view/SurfaceHolder.html#lockHardwareCanvas()" TargetMode="External"/><Relationship Id="rId4" Type="http://schemas.openxmlformats.org/officeDocument/2006/relationships/hyperlink" Target="https://developer.android.com/reference/android/view/SurfaceHolder.html#lockHardwareCanvas()" TargetMode="External"/><Relationship Id="rId5" Type="http://schemas.openxmlformats.org/officeDocument/2006/relationships/hyperlink" Target="https://developer.android.com/guide/topics/graphics/hardware-accel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reference/android/view/SurfaceView.html" TargetMode="External"/><Relationship Id="rId4" Type="http://schemas.openxmlformats.org/officeDocument/2006/relationships/hyperlink" Target="https://developer.android.com/reference/java/lang/Runnable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view/Surface.html" TargetMode="External"/><Relationship Id="rId4" Type="http://schemas.openxmlformats.org/officeDocument/2006/relationships/hyperlink" Target="https://developer.android.com/reference/android/view/SurfaceHolder.Callback.html#surfaceCreated(android.view.SurfaceHolder)" TargetMode="External"/><Relationship Id="rId5" Type="http://schemas.openxmlformats.org/officeDocument/2006/relationships/hyperlink" Target="https://developer.android.com/reference/android/view/SurfaceHolder.Callback.html#surfaceDestroyed(android.view.SurfaceHolder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view/SurfaceHolder.Callback.html#surfaceCreated(android.view.SurfaceHolder)" TargetMode="External"/><Relationship Id="rId4" Type="http://schemas.openxmlformats.org/officeDocument/2006/relationships/hyperlink" Target="https://developer.android.com/reference/android/view/SurfaceHolder.Callback.html#surfaceDestroyed(android.view.SurfaceHolder)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view/SurfaceHolder.Callback.html" TargetMode="External"/><Relationship Id="rId4" Type="http://schemas.openxmlformats.org/officeDocument/2006/relationships/hyperlink" Target="https://developer.android.com/training/multiple-threads/index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oogle-developer-training.gitbooks.io/android-developer-advanced-course-concepts/unit-5-advanced-graphics-and-views/lesson-11-canvas/11-2-c-the-surfaceview-class/11-2-c-the-surfaceview-class.html" TargetMode="External"/><Relationship Id="rId4" Type="http://schemas.openxmlformats.org/officeDocument/2006/relationships/hyperlink" Target="https://google-developer-training.gitbooks.io/android-developer-advanced-course-practicals/content/unit-5-advanced-graphics-and-views/lesson-11-canvas/11-2-p-create-a-surfaceview/11-2-p-create-a-surfaceview.ht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Canvas part 2: SurfaceView</a:t>
            </a:r>
            <a:endParaRPr/>
          </a:p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11</a:t>
            </a:r>
            <a:endParaRPr/>
          </a:p>
        </p:txBody>
      </p:sp>
      <p:sp>
        <p:nvSpPr>
          <p:cNvPr id="76" name="Google Shape;76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77" name="Google Shape;77;p1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11.2 The SurfaceView class</a:t>
            </a:r>
            <a:endParaRPr/>
          </a:p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333600" y="1141350"/>
            <a:ext cx="8437800" cy="3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SurfaceView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>
                <a:solidFill>
                  <a:srgbClr val="000000"/>
                </a:solidFill>
              </a:rPr>
              <a:t>Working with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SurfaceView</a:t>
            </a:r>
            <a:endParaRPr/>
          </a:p>
        </p:txBody>
      </p:sp>
      <p:sp>
        <p:nvSpPr>
          <p:cNvPr id="97" name="Google Shape;97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SurfaceView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33600" y="1030125"/>
            <a:ext cx="8476800" cy="3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Views</a:t>
            </a:r>
            <a:r>
              <a:rPr lang="en">
                <a:solidFill>
                  <a:srgbClr val="000000"/>
                </a:solidFill>
              </a:rPr>
              <a:t> in view hierarchy are rendered onto one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Surface</a:t>
            </a:r>
            <a:r>
              <a:rPr lang="en">
                <a:solidFill>
                  <a:srgbClr val="000000"/>
                </a:solidFill>
              </a:rPr>
              <a:t> in the UI thread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is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in your app's view hierarchy that has its own separate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Surface</a:t>
            </a:r>
            <a:r>
              <a:rPr lang="en">
                <a:solidFill>
                  <a:srgbClr val="000000"/>
                </a:solidFill>
              </a:rPr>
              <a:t> and renders behind app's surface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i="1"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refers to a lower-level drawing surface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system combines and renders surfaces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SurfaceView </a:t>
            </a:r>
            <a:r>
              <a:rPr lang="en"/>
              <a:t>in View hierarchy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162" y="972127"/>
            <a:ext cx="6041275" cy="35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 off the UI Thread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33600" y="11309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makes it possible to draw to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from a separate thread!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Long drawing actions have less impact on UI Thread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High-level steps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647925" y="1383875"/>
            <a:ext cx="8162400" cy="30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Start a thread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Lock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object's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Draw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Post to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Hardware acceleration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33600" y="11309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Starting with Android O, you can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hardware-accelerate your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SurfaceView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Important: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is not </a:t>
            </a:r>
            <a:r>
              <a:rPr lang="en" u="sng">
                <a:solidFill>
                  <a:schemeClr val="hlink"/>
                </a:solidFill>
                <a:hlinkClick r:id="rId5"/>
              </a:rPr>
              <a:t>hardware-accelerated</a:t>
            </a:r>
            <a:r>
              <a:rPr lang="en">
                <a:solidFill>
                  <a:srgbClr val="000000"/>
                </a:solidFill>
              </a:rPr>
              <a:t> in previous versions of Android. Depending on your app, you may need to consider performance trade-offs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</a:t>
            </a:r>
            <a:r>
              <a:rPr lang="en"/>
              <a:t>king with SurfaceView</a:t>
            </a:r>
            <a:endParaRPr/>
          </a:p>
        </p:txBody>
      </p:sp>
      <p:sp>
        <p:nvSpPr>
          <p:cNvPr id="140" name="Google Shape;140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/>
              <a:t>Create a custom 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33600" y="11309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Create  custom view that extends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and implements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Runnable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class GameView extends SurfaceView</a:t>
            </a:r>
            <a:b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implements Runnable{}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G</a:t>
            </a:r>
            <a:r>
              <a:rPr lang="en"/>
              <a:t>et SurfaceHolder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33600" y="1130900"/>
            <a:ext cx="86874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Get a reference to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object's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SurfaceHolder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Through this holder you control and monitor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Holder is persistent even when a surface is not available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mSurfaceHolder = getHolder();</a:t>
            </a:r>
            <a:endParaRPr sz="9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Check Surface availability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199975" y="991900"/>
            <a:ext cx="8769300" cy="3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Surface</a:t>
            </a:r>
            <a:r>
              <a:rPr lang="en">
                <a:solidFill>
                  <a:srgbClr val="000000"/>
                </a:solidFill>
              </a:rPr>
              <a:t> is only available while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object's window is visible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 If your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is not always visible, implement the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surfaceCreated(SurfaceHolder)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surfaceDestroyed(SurfaceHolder)</a:t>
            </a:r>
            <a:r>
              <a:rPr lang="en">
                <a:solidFill>
                  <a:srgbClr val="000000"/>
                </a:solidFill>
              </a:rPr>
              <a:t> callback methods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these methods to discover when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is created and destroyed and when window is shown and hidden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 Thread run()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33600" y="1130900"/>
            <a:ext cx="8476800" cy="32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Tips: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Always check whether a valid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is available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Lock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. If more than one thread drawing on this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, you must put this into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try/catch</a:t>
            </a:r>
            <a:r>
              <a:rPr lang="en">
                <a:solidFill>
                  <a:srgbClr val="000000"/>
                </a:solidFill>
              </a:rPr>
              <a:t> block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Draw on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Unlock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Canvas</a:t>
            </a:r>
            <a:r>
              <a:rPr lang="en">
                <a:solidFill>
                  <a:srgbClr val="000000"/>
                </a:solidFill>
              </a:rPr>
              <a:t> and post its contents to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</a:t>
            </a:r>
            <a:r>
              <a:rPr lang="en"/>
              <a:t>ple run() cod</a:t>
            </a:r>
            <a:r>
              <a:rPr lang="en"/>
              <a:t>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33600" y="1054700"/>
            <a:ext cx="8476800" cy="35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void run() { // Variable declarations omitted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while (mRunning)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if (mSurfaceHolder.getSurface().isValid())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canvas = mSurfaceHolder.lockCanvas();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// Android O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// canvas = mSurfaceHolder.lockHardwareCanvas();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canvas.save();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// Draw here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canvas.restore();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mSurfaceHolder.unlockCanvasAndPost(canvas);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} } }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idx="4294967295" type="title"/>
          </p:nvPr>
        </p:nvSpPr>
        <p:spPr>
          <a:xfrm>
            <a:off x="105000" y="170825"/>
            <a:ext cx="891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 Add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pause()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resume()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Add resume() and pause()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311700" y="1317950"/>
            <a:ext cx="8520600" cy="31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resume()</a:t>
            </a:r>
            <a:r>
              <a:rPr lang="en">
                <a:solidFill>
                  <a:schemeClr val="dk1"/>
                </a:solidFill>
              </a:rPr>
              <a:t> is called by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en">
                <a:solidFill>
                  <a:schemeClr val="dk1"/>
                </a:solidFill>
              </a:rPr>
              <a:t> 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pause()</a:t>
            </a:r>
            <a:r>
              <a:rPr lang="en">
                <a:solidFill>
                  <a:schemeClr val="dk1"/>
                </a:solidFill>
              </a:rPr>
              <a:t> is called by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en">
                <a:solidFill>
                  <a:schemeClr val="dk1"/>
                </a:solidFill>
              </a:rPr>
              <a:t> 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105000" y="170825"/>
            <a:ext cx="891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</a:t>
            </a:r>
            <a:r>
              <a:rPr lang="en"/>
              <a:t>ple </a:t>
            </a:r>
            <a:r>
              <a:rPr lang="en"/>
              <a:t>resume</a:t>
            </a:r>
            <a:r>
              <a:rPr lang="en"/>
              <a:t>() and </a:t>
            </a:r>
            <a:r>
              <a:rPr lang="en"/>
              <a:t>pause</a:t>
            </a:r>
            <a:r>
              <a:rPr lang="en"/>
              <a:t>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4606650" y="1121475"/>
            <a:ext cx="4414500" cy="3392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pause()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mRu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nning = false;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// join() waits for this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// thread to die.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try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mGameThread.join();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catch (InterruptedException e){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105000" y="1121475"/>
            <a:ext cx="4501500" cy="3392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resume()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mRunning = true;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mGameThread = new Thread(this);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mGameThread.start();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</a:t>
            </a:r>
            <a:r>
              <a:rPr lang="en"/>
              <a:t>. Handle </a:t>
            </a:r>
            <a:r>
              <a:rPr lang="en"/>
              <a:t>user interactions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471950" y="1399875"/>
            <a:ext cx="7655400" cy="29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00000"/>
                </a:solidFill>
              </a:rPr>
              <a:t>Handle user-touches or any other data input that affects drawing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Only draw on a </a:t>
            </a:r>
            <a:r>
              <a:rPr lang="en"/>
              <a:t>valid Surface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33600" y="1015900"/>
            <a:ext cx="84768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Ensure that the drawing thread only touches the underlying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while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</a:t>
            </a:r>
            <a:r>
              <a:rPr lang="en">
                <a:solidFill>
                  <a:srgbClr val="000000"/>
                </a:solidFill>
              </a:rPr>
              <a:t> is valid, between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SurfaceHolder.Callback.surfaceCreated()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SurfaceHolder.Callback.surfaceDestroyed()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Check in drawing thread's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run()</a:t>
            </a:r>
            <a:r>
              <a:rPr lang="en">
                <a:solidFill>
                  <a:srgbClr val="000000"/>
                </a:solidFill>
              </a:rPr>
              <a:t> method: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if(mSurfaceHolder.getSurface().isValid()) ....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Threading semantics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33600" y="1023900"/>
            <a:ext cx="8476800" cy="3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All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SurfaceHolder.Callback</a:t>
            </a:r>
            <a:r>
              <a:rPr lang="en">
                <a:solidFill>
                  <a:srgbClr val="000000"/>
                </a:solidFill>
              </a:rPr>
              <a:t> methods will be called from the thread running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SurfaceView</a:t>
            </a:r>
            <a:r>
              <a:rPr lang="en">
                <a:solidFill>
                  <a:srgbClr val="000000"/>
                </a:solidFill>
              </a:rPr>
              <a:t>'s window—typically the app's main thread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These methods need to correctly synchronize with any state that is also touched by the drawing thread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Sending Operations to Multiple Threads</a:t>
            </a:r>
            <a:endParaRPr/>
          </a:p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33"/>
          <p:cNvSpPr txBox="1"/>
          <p:nvPr/>
        </p:nvSpPr>
        <p:spPr>
          <a:xfrm>
            <a:off x="311700" y="1868500"/>
            <a:ext cx="8520600" cy="14169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11.2 The SurfaceView class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11.2 Creating a SurfaceView object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227" name="Google Shape;227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