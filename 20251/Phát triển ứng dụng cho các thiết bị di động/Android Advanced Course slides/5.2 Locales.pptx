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ece06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ece06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ece063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5ece063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ece063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5ece063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5ece063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5ece06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5ece063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5ece063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5ece063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5ece063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5ece063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5ece063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5ece063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5ece063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5ece063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5ece063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f5ece063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f5ece063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f5ece063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f5ece063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f5ece063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f5ece063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5ece063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5ece063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5ece063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5ece063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5ece063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f5ece063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f5ece063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f5ece063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f5ece063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f5ece063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5ece063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f5ece063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5ece063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f5ece063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5ece063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f5ece063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f5ece063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f5ece063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5ece063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f5ece063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5ece063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f5ece063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5ece0637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f5ece063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5ece063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f5ece063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5ece063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f5ece063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f5ece0637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f5ece063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f5ece0637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f5ece0637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f5ece0637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f5ece0637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f5ece0637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f5ece063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f5ece0637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f5ece0637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 txBox="1"/>
          <p:nvPr/>
        </p:nvSpPr>
        <p:spPr>
          <a:xfrm>
            <a:off x="4407225" y="4758818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4407225" y="4758818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4407225" y="47498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4407225" y="47498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java/text/DateFormat.html" TargetMode="External"/><Relationship Id="rId4" Type="http://schemas.openxmlformats.org/officeDocument/2006/relationships/hyperlink" Target="https://developer.android.com/reference/java/text/DateFormat.html#getDateInstance()" TargetMode="External"/><Relationship Id="rId5" Type="http://schemas.openxmlformats.org/officeDocument/2006/relationships/hyperlink" Target="https://developer.android.com/reference/java/text/DateFormat.html#format(java.util.Date)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reference/java/text/DateFormat.html#getDateInstance()" TargetMode="External"/><Relationship Id="rId4" Type="http://schemas.openxmlformats.org/officeDocument/2006/relationships/hyperlink" Target="https://developer.android.com/reference/java/text/DateFormat.html#getDateInstance(int,%20java.util.Locale)" TargetMode="External"/><Relationship Id="rId5" Type="http://schemas.openxmlformats.org/officeDocument/2006/relationships/hyperlink" Target="https://developer.android.com/reference/java/util/Locale.html" TargetMode="External"/><Relationship Id="rId6" Type="http://schemas.openxmlformats.org/officeDocument/2006/relationships/hyperlink" Target="https://developer.android.com/reference/java/text/DateFormat.html#getTimeInstance()" TargetMode="External"/><Relationship Id="rId7" Type="http://schemas.openxmlformats.org/officeDocument/2006/relationships/hyperlink" Target="https://developer.android.com/reference/java/text/DateFormat.html#getDateTimeInstance()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java/text/NumberFormat.html#getIntegerInstance()" TargetMode="External"/><Relationship Id="rId4" Type="http://schemas.openxmlformats.org/officeDocument/2006/relationships/hyperlink" Target="https://developer.android.com/reference/java/text/NumberFormat.html#getPercentInstance()" TargetMode="External"/><Relationship Id="rId5" Type="http://schemas.openxmlformats.org/officeDocument/2006/relationships/hyperlink" Target="https://developer.android.com/reference/java/text/NumberFormat.html#getCurrencyInstance()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java/text/NumberFormat.html#parse(java.lang.String)" TargetMode="External"/><Relationship Id="rId4" Type="http://schemas.openxmlformats.org/officeDocument/2006/relationships/hyperlink" Target="https://developer.android.com/reference/java/lang/Number.html#intValue()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java/text/NumberFormat.html" TargetMode="External"/><Relationship Id="rId4" Type="http://schemas.openxmlformats.org/officeDocument/2006/relationships/hyperlink" Target="https://developer.android.com/reference/java/text/NumberFormat.html#getCurrencyInstance()" TargetMode="External"/><Relationship Id="rId5" Type="http://schemas.openxmlformats.org/officeDocument/2006/relationships/hyperlink" Target="https://developer.android.com/reference/java/text/NumberFormat.html#format(double)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java/util/Locale.html#getDefault()" TargetMode="External"/><Relationship Id="rId4" Type="http://schemas.openxmlformats.org/officeDocument/2006/relationships/hyperlink" Target="https://developer.android.com/reference/java/util/Locale.html#getDefault()" TargetMode="External"/><Relationship Id="rId5" Type="http://schemas.openxmlformats.org/officeDocument/2006/relationships/hyperlink" Target="https://developer.android.com/reference/java/util/Locale.html#getCountry()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java/util/Locale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oogle-developer-training.gitbooks.io/android-developer-advanced-course-concepts/content/unit-3-make-your-apps-accessible/lesson-5-localization/5-2-c-locales/5-2-c-locales.html" TargetMode="External"/><Relationship Id="rId4" Type="http://schemas.openxmlformats.org/officeDocument/2006/relationships/hyperlink" Target="https://google-developer-training.gitbooks.io/android-developer-advanced-course-practicals/content/unit-3-make-your-apps-accessible/lesson-5-localization/5-2-p-using-the-locale-to-format-information/5-2-p-using-the-locale-to-format-information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Localization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5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019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5.2 Locales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7915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Modify an app for a user's locale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365625"/>
            <a:ext cx="8476800" cy="3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Overview of locale customization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Formatting date, time, and numbers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Formatting currencies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Retrieving and using the user-chosen locale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Adding resources for different locales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Using the user's chosen locale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Locale best practices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Convert date, time, number, and currency formats to the user's locale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class methods to convert—don't hardcode formats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Store data in format for the default locale and convert to user's locale as needed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Formatting dates and times</a:t>
            </a:r>
            <a:endParaRPr/>
          </a:p>
        </p:txBody>
      </p:sp>
      <p:sp>
        <p:nvSpPr>
          <p:cNvPr id="175" name="Google Shape;175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DateFormat class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DateFormat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apply format of user-chosen locale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DateFormat.getDateInstance()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get format for user's locale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5"/>
              </a:rPr>
              <a:t>DateFormat.format()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prepare a string for display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 Date myDate = new Date();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myFormattedDate =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DateFormat.getDateInstance().format(myDate);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 dateView = (TextView) findViewById(R.id.date);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dateView.setText(myFormattedDate);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DateFormat example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310500"/>
            <a:ext cx="24162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Date format changes for each locale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700" y="1148900"/>
            <a:ext cx="59436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2"/>
          <p:cNvSpPr/>
          <p:nvPr/>
        </p:nvSpPr>
        <p:spPr>
          <a:xfrm>
            <a:off x="2798100" y="2596925"/>
            <a:ext cx="15501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4831475" y="2596925"/>
            <a:ext cx="16149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7468650" y="2374950"/>
            <a:ext cx="14091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DateFormat methods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getDateInstance()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: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Date format for user-chosen locale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getDateInstance(int style, Locale aLocale)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: </a:t>
            </a:r>
            <a:br>
              <a:rPr lang="en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Date format for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5"/>
              </a:rPr>
              <a:t>Locale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using supplied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6"/>
              </a:rPr>
              <a:t>getTimeInstance()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: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Time format for user-chosen locale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7"/>
              </a:rPr>
              <a:t>getDateTimeInstance()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: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Combined date and time format for user-chosen locale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Formatting numbers</a:t>
            </a:r>
            <a:endParaRPr/>
          </a:p>
        </p:txBody>
      </p:sp>
      <p:sp>
        <p:nvSpPr>
          <p:cNvPr id="208" name="Google Shape;20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9" name="Google Shape;209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NumberFormat class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311700" y="1310500"/>
            <a:ext cx="81609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NumberFormat.getInstance()</a:t>
            </a:r>
            <a:r>
              <a:rPr lang="en">
                <a:solidFill>
                  <a:schemeClr val="dk1"/>
                </a:solidFill>
              </a:rPr>
              <a:t> to format a number for any locale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Android provides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Locale</a:t>
            </a:r>
            <a:r>
              <a:rPr lang="en">
                <a:solidFill>
                  <a:schemeClr val="dk1"/>
                </a:solidFill>
              </a:rPr>
              <a:t> constants for many countries and locales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NumberFormat numberFormat =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NumberFormat.getInstance(Locale.FRANCE);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700" y="1117345"/>
            <a:ext cx="59436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NumberFormat example</a:t>
            </a:r>
            <a:endParaRPr/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311700" y="1310500"/>
            <a:ext cx="24162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Number format changes for each locale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6"/>
          <p:cNvSpPr/>
          <p:nvPr/>
        </p:nvSpPr>
        <p:spPr>
          <a:xfrm>
            <a:off x="2798125" y="2808325"/>
            <a:ext cx="15501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6"/>
          <p:cNvSpPr/>
          <p:nvPr/>
        </p:nvSpPr>
        <p:spPr>
          <a:xfrm>
            <a:off x="4861325" y="2808325"/>
            <a:ext cx="16149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6"/>
          <p:cNvSpPr/>
          <p:nvPr/>
        </p:nvSpPr>
        <p:spPr>
          <a:xfrm>
            <a:off x="6884500" y="2808325"/>
            <a:ext cx="14091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NumberFormat methods</a:t>
            </a:r>
            <a:endParaRPr/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getIntegerInstance()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Returns an integer format for current locale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getPercentInstance()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Returns a percentage format for current locale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5"/>
              </a:rPr>
              <a:t>getCurrencyInstance()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Returns a currency format for current locale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35" name="Google Shape;235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 a string into a number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Use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NumberFormat.parse()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parse a string and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intValue()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return an integer: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myQuantity = numberFormat.parse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(qtyInput.getText().toString()).intValue();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Formatting currency</a:t>
            </a:r>
            <a:endParaRPr/>
          </a:p>
        </p:txBody>
      </p:sp>
      <p:sp>
        <p:nvSpPr>
          <p:cNvPr id="248" name="Google Shape;248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NumberFormat for currency</a:t>
            </a:r>
            <a:endParaRPr/>
          </a:p>
        </p:txBody>
      </p:sp>
      <p:sp>
        <p:nvSpPr>
          <p:cNvPr id="256" name="Google Shape;256;p40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NumberFormat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for currency formats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NumberFormat.getCurrencyInstance()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gets the currency format for current locale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5"/>
              </a:rPr>
              <a:t>NumberFormat.format()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to prepare a string for display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NumberFormat currencyFormat = NumberFormat.getCurrencyInstance();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myFormattedPrice = currencyFormat.format(myPrice);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 localePrice = (TextView) findViewById(R.id.price);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localePrice.setText(myFormattedPrice);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57" name="Google Shape;257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900" y="1495787"/>
            <a:ext cx="59436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NumberFormat currency example</a:t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311700" y="1310500"/>
            <a:ext cx="24162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Number format for currency changes for each locale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/>
          <p:nvPr/>
        </p:nvSpPr>
        <p:spPr>
          <a:xfrm>
            <a:off x="2662950" y="3396579"/>
            <a:ext cx="13332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1"/>
          <p:cNvSpPr/>
          <p:nvPr/>
        </p:nvSpPr>
        <p:spPr>
          <a:xfrm>
            <a:off x="4690199" y="3396579"/>
            <a:ext cx="12687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1"/>
          <p:cNvSpPr/>
          <p:nvPr/>
        </p:nvSpPr>
        <p:spPr>
          <a:xfrm>
            <a:off x="6694674" y="3396579"/>
            <a:ext cx="1146300" cy="3936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type="title"/>
          </p:nvPr>
        </p:nvSpPr>
        <p:spPr>
          <a:xfrm>
            <a:off x="265500" y="1233175"/>
            <a:ext cx="4045200" cy="20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Retrieving and using the locale</a:t>
            </a:r>
            <a:endParaRPr/>
          </a:p>
        </p:txBody>
      </p:sp>
      <p:sp>
        <p:nvSpPr>
          <p:cNvPr id="274" name="Google Shape;274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5" name="Google Shape;275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country/region code</a:t>
            </a:r>
            <a:endParaRPr/>
          </a:p>
        </p:txBody>
      </p:sp>
      <p:sp>
        <p:nvSpPr>
          <p:cNvPr id="282" name="Google Shape;282;p43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Locale.getDefault()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get the current locale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Locale.getDefault()</a:t>
            </a:r>
            <a:r>
              <a:rPr lang="en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getCountry()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 to get country/region code for current locale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deviceLocale = Locale.getDefault().getCountry();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(deviceLocale.equals("FR") || deviceLocale.equals("IL"))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// If locale is either France or Israel...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83" name="Google Shape;283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Locale constant</a:t>
            </a:r>
            <a:endParaRPr/>
          </a:p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Locale</a:t>
            </a:r>
            <a:r>
              <a:rPr lang="en">
                <a:solidFill>
                  <a:srgbClr val="000000"/>
                </a:solidFill>
              </a:rPr>
              <a:t> constants to create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Locale</a:t>
            </a:r>
            <a:r>
              <a:rPr lang="en">
                <a:solidFill>
                  <a:srgbClr val="000000"/>
                </a:solidFill>
              </a:rPr>
              <a:t> objects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Locale.US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for United States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Locale.UK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 for United Kingdom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currencyFormat = 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NumberFormat.getCurrencyInstance(Locale.US);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90" name="Google Shape;290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265500" y="1233175"/>
            <a:ext cx="4045200" cy="244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resources for locales</a:t>
            </a:r>
            <a:endParaRPr/>
          </a:p>
        </p:txBody>
      </p:sp>
      <p:sp>
        <p:nvSpPr>
          <p:cNvPr id="296" name="Google Shape;296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7" name="Google Shape;297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directories in project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n">
                <a:solidFill>
                  <a:srgbClr val="000000"/>
                </a:solidFill>
              </a:rPr>
              <a:t>: Text, color, dimensions, and styles for the default language/locale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drawable</a:t>
            </a:r>
            <a:r>
              <a:rPr lang="en">
                <a:solidFill>
                  <a:srgbClr val="000000"/>
                </a:solidFill>
              </a:rPr>
              <a:t>: Drawables for the default language/locale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layout</a:t>
            </a:r>
            <a:r>
              <a:rPr lang="en">
                <a:solidFill>
                  <a:srgbClr val="000000"/>
                </a:solidFill>
              </a:rPr>
              <a:t>: Layouts for the default language/locale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5" name="Google Shape;305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resource directories </a:t>
            </a:r>
            <a:endParaRPr/>
          </a:p>
        </p:txBody>
      </p:sp>
      <p:sp>
        <p:nvSpPr>
          <p:cNvPr id="311" name="Google Shape;311;p47"/>
          <p:cNvSpPr txBox="1"/>
          <p:nvPr>
            <p:ph idx="1" type="body"/>
          </p:nvPr>
        </p:nvSpPr>
        <p:spPr>
          <a:xfrm>
            <a:off x="311700" y="1114125"/>
            <a:ext cx="8520600" cy="3501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Default resource directories provided in Android Studio project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Android Studio to add a resource directory for each supported language/locale</a:t>
            </a:r>
            <a:endParaRPr sz="18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selects the resource directory that best matches user's chosen language/locale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2" name="Google Shape;312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values are important</a:t>
            </a:r>
            <a:endParaRPr/>
          </a:p>
        </p:txBody>
      </p:sp>
      <p:sp>
        <p:nvSpPr>
          <p:cNvPr id="318" name="Google Shape;318;p48"/>
          <p:cNvSpPr txBox="1"/>
          <p:nvPr>
            <p:ph idx="1" type="body"/>
          </p:nvPr>
        </p:nvSpPr>
        <p:spPr>
          <a:xfrm>
            <a:off x="311700" y="1186250"/>
            <a:ext cx="8520600" cy="342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user selects a language/locale not supported by your app: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chooses default resources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sure app includes full set of default resources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resource directories</a:t>
            </a:r>
            <a:endParaRPr/>
          </a:p>
        </p:txBody>
      </p:sp>
      <p:sp>
        <p:nvSpPr>
          <p:cNvPr id="325" name="Google Shape;325;p49"/>
          <p:cNvSpPr txBox="1"/>
          <p:nvPr>
            <p:ph idx="1" type="body"/>
          </p:nvPr>
        </p:nvSpPr>
        <p:spPr>
          <a:xfrm>
            <a:off x="311700" y="1310500"/>
            <a:ext cx="4107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</a:rPr>
              <a:t>Right-click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" sz="2000">
                <a:solidFill>
                  <a:srgbClr val="000000"/>
                </a:solidFill>
              </a:rPr>
              <a:t> and select </a:t>
            </a:r>
            <a:r>
              <a:rPr b="1" lang="en" sz="2000">
                <a:solidFill>
                  <a:srgbClr val="000000"/>
                </a:solidFill>
              </a:rPr>
              <a:t>New &gt; Android Resource Directory</a:t>
            </a:r>
            <a:r>
              <a:rPr lang="en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</a:rPr>
              <a:t>Choose </a:t>
            </a:r>
            <a:r>
              <a:rPr b="1" lang="en" sz="2000">
                <a:solidFill>
                  <a:srgbClr val="000000"/>
                </a:solidFill>
              </a:rPr>
              <a:t>Resource type</a:t>
            </a:r>
            <a:r>
              <a:rPr lang="en" sz="2000">
                <a:solidFill>
                  <a:srgbClr val="000000"/>
                </a:solidFill>
              </a:rPr>
              <a:t> (values, drawable, etc.)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</a:rPr>
              <a:t>Select </a:t>
            </a:r>
            <a:r>
              <a:rPr b="1" lang="en" sz="2000">
                <a:solidFill>
                  <a:srgbClr val="000000"/>
                </a:solidFill>
              </a:rPr>
              <a:t>Locale</a:t>
            </a:r>
            <a:r>
              <a:rPr lang="en" sz="2000">
                <a:solidFill>
                  <a:srgbClr val="000000"/>
                </a:solidFill>
              </a:rPr>
              <a:t> and click </a:t>
            </a:r>
            <a:r>
              <a:rPr b="1" lang="en" sz="2000">
                <a:solidFill>
                  <a:srgbClr val="000000"/>
                </a:solidFill>
              </a:rPr>
              <a:t>&gt;&gt;</a:t>
            </a:r>
            <a:r>
              <a:rPr lang="en" sz="2000">
                <a:solidFill>
                  <a:srgbClr val="000000"/>
                </a:solidFill>
              </a:rPr>
              <a:t> to select a language and locale.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326" name="Google Shape;326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7" name="Google Shape;327;p49"/>
          <p:cNvPicPr preferRelativeResize="0"/>
          <p:nvPr/>
        </p:nvPicPr>
        <p:blipFill rotWithShape="1">
          <a:blip r:embed="rId3">
            <a:alphaModFix/>
          </a:blip>
          <a:srcRect b="9759" l="15224" r="1490" t="23529"/>
          <a:stretch/>
        </p:blipFill>
        <p:spPr>
          <a:xfrm>
            <a:off x="4605000" y="1453000"/>
            <a:ext cx="4416149" cy="20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Added values directories in the system</a:t>
            </a:r>
            <a:endParaRPr/>
          </a:p>
        </p:txBody>
      </p:sp>
      <p:sp>
        <p:nvSpPr>
          <p:cNvPr id="333" name="Google Shape;333;p50"/>
          <p:cNvSpPr txBox="1"/>
          <p:nvPr>
            <p:ph idx="1" type="body"/>
          </p:nvPr>
        </p:nvSpPr>
        <p:spPr>
          <a:xfrm>
            <a:off x="311700" y="1186250"/>
            <a:ext cx="4720500" cy="342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n">
                <a:solidFill>
                  <a:srgbClr val="000000"/>
                </a:solidFill>
              </a:rPr>
              <a:t> directory for each language/locale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values-fr</a:t>
            </a:r>
            <a:r>
              <a:rPr lang="en">
                <a:solidFill>
                  <a:srgbClr val="000000"/>
                </a:solidFill>
              </a:rPr>
              <a:t> (French in France)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values-iw</a:t>
            </a:r>
            <a:r>
              <a:rPr lang="en">
                <a:solidFill>
                  <a:srgbClr val="000000"/>
                </a:solidFill>
              </a:rPr>
              <a:t> (Hebrew in Israel)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Text translations in each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strings.xml</a:t>
            </a:r>
            <a:r>
              <a:rPr lang="en">
                <a:solidFill>
                  <a:srgbClr val="000000"/>
                </a:solidFill>
              </a:rPr>
              <a:t> file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4" name="Google Shape;334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5" name="Google Shape;33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200" y="1480827"/>
            <a:ext cx="2228125" cy="241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Added values in Android Studio</a:t>
            </a:r>
            <a:endParaRPr/>
          </a:p>
        </p:txBody>
      </p:sp>
      <p:sp>
        <p:nvSpPr>
          <p:cNvPr id="341" name="Google Shape;341;p51"/>
          <p:cNvSpPr txBox="1"/>
          <p:nvPr>
            <p:ph idx="1" type="body"/>
          </p:nvPr>
        </p:nvSpPr>
        <p:spPr>
          <a:xfrm>
            <a:off x="311700" y="1186250"/>
            <a:ext cx="4720500" cy="342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n">
                <a:solidFill>
                  <a:srgbClr val="000000"/>
                </a:solidFill>
              </a:rPr>
              <a:t> directory in </a:t>
            </a:r>
            <a:r>
              <a:rPr b="1" lang="en">
                <a:solidFill>
                  <a:srgbClr val="000000"/>
                </a:solidFill>
              </a:rPr>
              <a:t>Project: Android</a:t>
            </a:r>
            <a:r>
              <a:rPr lang="en">
                <a:solidFill>
                  <a:srgbClr val="000000"/>
                </a:solidFill>
              </a:rPr>
              <a:t> view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Translated text is organized under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strings.xml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200" y="1462270"/>
            <a:ext cx="3028950" cy="1466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format for resource directories</a:t>
            </a:r>
            <a:endParaRPr/>
          </a:p>
        </p:txBody>
      </p:sp>
      <p:sp>
        <p:nvSpPr>
          <p:cNvPr id="349" name="Google Shape;349;p52"/>
          <p:cNvSpPr txBox="1"/>
          <p:nvPr>
            <p:ph idx="1" type="body"/>
          </p:nvPr>
        </p:nvSpPr>
        <p:spPr>
          <a:xfrm>
            <a:off x="311700" y="1152775"/>
            <a:ext cx="8520600" cy="346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&lt;resource&gt;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&lt;language&gt;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[-r</a:t>
            </a: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&lt;country&gt;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&lt;resource&gt;</a:t>
            </a:r>
            <a:r>
              <a:rPr lang="en">
                <a:solidFill>
                  <a:srgbClr val="000000"/>
                </a:solidFill>
              </a:rPr>
              <a:t>: Resource type (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drawable</a:t>
            </a:r>
            <a:r>
              <a:rPr lang="en">
                <a:solidFill>
                  <a:srgbClr val="000000"/>
                </a:solidFill>
              </a:rPr>
              <a:t>, etc.)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&lt;language&gt;</a:t>
            </a:r>
            <a:r>
              <a:rPr lang="en">
                <a:solidFill>
                  <a:srgbClr val="000000"/>
                </a:solidFill>
              </a:rPr>
              <a:t>: Language (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">
                <a:solidFill>
                  <a:srgbClr val="000000"/>
                </a:solidFill>
              </a:rPr>
              <a:t> for English,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</a:t>
            </a:r>
            <a:r>
              <a:rPr lang="en">
                <a:solidFill>
                  <a:srgbClr val="000000"/>
                </a:solidFill>
              </a:rPr>
              <a:t> for French)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&lt;country&gt;</a:t>
            </a:r>
            <a:r>
              <a:rPr lang="en">
                <a:solidFill>
                  <a:srgbClr val="000000"/>
                </a:solidFill>
              </a:rPr>
              <a:t>: Optional code (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</a:t>
            </a:r>
            <a:r>
              <a:rPr lang="en">
                <a:solidFill>
                  <a:srgbClr val="000000"/>
                </a:solidFill>
              </a:rPr>
              <a:t> for U.S.,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</a:t>
            </a:r>
            <a:r>
              <a:rPr lang="en">
                <a:solidFill>
                  <a:srgbClr val="000000"/>
                </a:solidFill>
              </a:rPr>
              <a:t> for France)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Examples: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values-fr-rFR</a:t>
            </a:r>
            <a:r>
              <a:rPr lang="en">
                <a:solidFill>
                  <a:srgbClr val="000000"/>
                </a:solidFill>
              </a:rPr>
              <a:t>: Values for French in France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drawable-fr-rFR</a:t>
            </a:r>
            <a:r>
              <a:rPr lang="en">
                <a:solidFill>
                  <a:srgbClr val="000000"/>
                </a:solidFill>
              </a:rPr>
              <a:t>: Drawables for French in France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Drawables for different languages</a:t>
            </a:r>
            <a:endParaRPr/>
          </a:p>
        </p:txBody>
      </p:sp>
      <p:sp>
        <p:nvSpPr>
          <p:cNvPr id="356" name="Google Shape;356;p53"/>
          <p:cNvSpPr txBox="1"/>
          <p:nvPr>
            <p:ph idx="1" type="body"/>
          </p:nvPr>
        </p:nvSpPr>
        <p:spPr>
          <a:xfrm>
            <a:off x="311700" y="1186250"/>
            <a:ext cx="4961700" cy="342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drawable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directory in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Project: Android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view in Android Studio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files for different locales/languages within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drawable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8" name="Google Shape;35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3390" y="1351688"/>
            <a:ext cx="3189637" cy="285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64" name="Google Shape;364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54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5.2 Locales</a:t>
            </a:r>
            <a:endParaRPr sz="24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5.2 Using the locale to format information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71" name="Google Shape;371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2" name="Google Shape;372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