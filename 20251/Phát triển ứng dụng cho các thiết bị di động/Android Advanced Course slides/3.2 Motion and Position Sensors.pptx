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1AB068-44FB-42A6-B95D-744B3A1CAA8E}">
  <a:tblStyle styleId="{911AB068-44FB-42A6-B95D-744B3A1CAA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Roboto-regular.fntdata"/><Relationship Id="rId41" Type="http://schemas.openxmlformats.org/officeDocument/2006/relationships/slide" Target="slides/slide35.xml"/><Relationship Id="rId44" Type="http://schemas.openxmlformats.org/officeDocument/2006/relationships/font" Target="fonts/Roboto-italic.fntdata"/><Relationship Id="rId43" Type="http://schemas.openxmlformats.org/officeDocument/2006/relationships/font" Target="fonts/Roboto-bold.fntdata"/><Relationship Id="rId46" Type="http://schemas.openxmlformats.org/officeDocument/2006/relationships/font" Target="fonts/OpenSans-regular.fntdata"/><Relationship Id="rId45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5c95fc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f5c95fc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c1186f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c1186f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c1186f6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c1186f6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c1186f6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c1186f6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c1186f6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c1186f6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c1186f6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c1186f6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c1186f6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c1186f6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c1186f6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c1186f6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c1186f6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8c1186f6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c1186f6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8c1186f6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c1186f6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c1186f6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c1186f6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c1186f6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c1186f6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c1186f6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c1186f6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8c1186f6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c1186f6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8c1186f6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c1186f62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8c1186f6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c1186f6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8c1186f6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c1186f6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8c1186f6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8c1186f6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8c1186f6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c1186f62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8c1186f62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8c1186f6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8c1186f6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c1186f62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8c1186f6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c1186f62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c1186f6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c1186f6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8c1186f6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c1186f6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c1186f6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c1186f6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8c1186f6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c1186f62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8c1186f62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c1186f62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8c1186f62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8c1186f62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8c1186f62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8c1186f62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8c1186f62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8c1186f62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8c1186f62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c1186f62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8c1186f62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8c1186f62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8c1186f62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8c1186f6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8c1186f6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f5c95fc86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f5c95fc86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4407225" y="476498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Sensors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4407225" y="476498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Sensors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1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1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407225" y="476498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Sensors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9" name="Google Shape;6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4407225" y="476498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Sensors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android.com/guide/topics/sensors/sensors_motion.html" TargetMode="External"/><Relationship Id="rId4" Type="http://schemas.openxmlformats.org/officeDocument/2006/relationships/hyperlink" Target="https://developer.android.com/guide/topics/sensors/sensors_position.html" TargetMode="External"/><Relationship Id="rId5" Type="http://schemas.openxmlformats.org/officeDocument/2006/relationships/hyperlink" Target="https://developer.android.com/reference/android/hardware/SensorEvent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eveloper.android.com/reference/android/hardware/SensorManager.html" TargetMode="External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eloper.android.com/reference/android/hardware/SensorManager.html#getRotationMatrix(float%5B%5D,%20float%5B%5D,%20float%5B%5D,%20float%5B%5D)" TargetMode="External"/><Relationship Id="rId4" Type="http://schemas.openxmlformats.org/officeDocument/2006/relationships/hyperlink" Target="https://en.wikipedia.org/wiki/Rotation_matrix" TargetMode="External"/><Relationship Id="rId5" Type="http://schemas.openxmlformats.org/officeDocument/2006/relationships/hyperlink" Target="https://developer.android.com/reference/android/hardware/SensorManager.html#getOrientation(float%5B%5D,%20float%5B%5D)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eveloper.android.com/reference/android/view/Display.html#getRotation()" TargetMode="External"/><Relationship Id="rId4" Type="http://schemas.openxmlformats.org/officeDocument/2006/relationships/hyperlink" Target="https://developer.android.com/reference/android/hardware/SensorManager.html#remapCoordinateSystem(float%5B%5D,%20int,%20int,%20float%5B%5D)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eveloper.android.com/reference/android/view/Surface.html#ROTATION_0" TargetMode="External"/><Relationship Id="rId4" Type="http://schemas.openxmlformats.org/officeDocument/2006/relationships/hyperlink" Target="https://developer.android.com/reference/android/view/Surface.html#ROTATION_90" TargetMode="External"/><Relationship Id="rId5" Type="http://schemas.openxmlformats.org/officeDocument/2006/relationships/hyperlink" Target="https://developer.android.com/reference/android/view/Surface.html#ROTATION_180" TargetMode="External"/><Relationship Id="rId6" Type="http://schemas.openxmlformats.org/officeDocument/2006/relationships/hyperlink" Target="https://developer.android.com/reference/android/view/Surface.html#ROTATION_270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.android.com/reference/android/view/Display.html#getRotation()" TargetMode="External"/><Relationship Id="rId4" Type="http://schemas.openxmlformats.org/officeDocument/2006/relationships/hyperlink" Target="https://developer.android.com/reference/android/hardware/SensorManager.html#remapCoordinateSystem(float%5B%5D,%20int,%20int,%20float%5B%5D)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eloper.android.com/reference/android/hardware/Sensor.html#TYPE_ACCELEROMETER" TargetMode="External"/><Relationship Id="rId4" Type="http://schemas.openxmlformats.org/officeDocument/2006/relationships/hyperlink" Target="https://developer.android.com/reference/android/hardware/Sensor.html#TYPE_LINEAR_ACCELERATION" TargetMode="External"/><Relationship Id="rId5" Type="http://schemas.openxmlformats.org/officeDocument/2006/relationships/hyperlink" Target="https://developer.android.com/reference/android/hardware/Sensor.html#TYPE_GRAVITY" TargetMode="External"/><Relationship Id="rId6" Type="http://schemas.openxmlformats.org/officeDocument/2006/relationships/hyperlink" Target="https://developer.android.com/reference/android/hardware/Sensor.html#TYPE_GYROSCOPE" TargetMode="External"/><Relationship Id="rId7" Type="http://schemas.openxmlformats.org/officeDocument/2006/relationships/hyperlink" Target="https://developer.android.com/reference/android/hardware/SensorEvent.html#values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eveloper.android.com/reference/android/hardware/Sensor.html#TYPE_GRAVITY" TargetMode="External"/><Relationship Id="rId4" Type="http://schemas.openxmlformats.org/officeDocument/2006/relationships/hyperlink" Target="https://developer.android.com/reference/android/hardware/Sensor.html#TYPE_GYROSCOPE" TargetMode="External"/><Relationship Id="rId5" Type="http://schemas.openxmlformats.org/officeDocument/2006/relationships/hyperlink" Target="https://developer.android.com/reference/android/hardware/SensorEvent.html#values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eveloper.android.com/reference/android/hardware/Sensor.html#TYPE_ROTATION_VECTOR" TargetMode="External"/><Relationship Id="rId4" Type="http://schemas.openxmlformats.org/officeDocument/2006/relationships/hyperlink" Target="https://en.wikipedia.org/wiki/Quaternions_and_spatial_rotation" TargetMode="External"/><Relationship Id="rId5" Type="http://schemas.openxmlformats.org/officeDocument/2006/relationships/hyperlink" Target="https://developer.android.com/reference/android/hardware/SensorEvent.html#values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eveloper.android.com/reference/android/hardware/Sensor.html#TYPE_STEP_COUNTER" TargetMode="External"/><Relationship Id="rId4" Type="http://schemas.openxmlformats.org/officeDocument/2006/relationships/hyperlink" Target="https://developer.android.com/reference/android/app/job/JobScheduler.html" TargetMode="External"/><Relationship Id="rId5" Type="http://schemas.openxmlformats.org/officeDocument/2006/relationships/hyperlink" Target="https://developer.android.com/reference/android/hardware/Sensor.html#TYPE_STEP_DETECTOR" TargetMode="External"/><Relationship Id="rId6" Type="http://schemas.openxmlformats.org/officeDocument/2006/relationships/hyperlink" Target="https://github.com/googlesamples/android-BatchStepSensor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eveloper.android.com/reference/android/hardware/Sensor.html#TYPE_MAGNETIC_FIELD" TargetMode="External"/><Relationship Id="rId4" Type="http://schemas.openxmlformats.org/officeDocument/2006/relationships/hyperlink" Target="https://en.wikipedia.org/wiki/Tesla_(unit)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eveloper.android.com/reference/android/hardware/Sensor.html#TYPE_ORIENTATION" TargetMode="External"/><Relationship Id="rId4" Type="http://schemas.openxmlformats.org/officeDocument/2006/relationships/hyperlink" Target="https://developer.android.com/reference/android/hardware/SensorManager.html#getRotationMatrix(float%5B%5D,%20float%5B%5D,%20float%5B%5D,%20float%5B%5D)" TargetMode="External"/><Relationship Id="rId5" Type="http://schemas.openxmlformats.org/officeDocument/2006/relationships/hyperlink" Target="https://developer.android.com/reference/android/hardware/SensorManager.html#getOrientation(float%5B%5D,%20float%5B%5D)" TargetMode="External"/><Relationship Id="rId6" Type="http://schemas.openxmlformats.org/officeDocument/2006/relationships/hyperlink" Target="https://developer.android.com/reference/android/hardware/Sensor.html#TYPE_ROTATION_VECTOR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oogle-developer-training.gitbooks.io/android-developer-advanced-course-concepts/content/unit-1-expand-the-user-experience/lesson-3-sensors/3-2-c-motion-and-position-sensors/3-2-c-motion-and-position-sensors.html" TargetMode="External"/><Relationship Id="rId4" Type="http://schemas.openxmlformats.org/officeDocument/2006/relationships/hyperlink" Target="https://google-developer-training.gitbooks.io/android-developer-advanced-course-practicals/content/unit-1-expand-the-user-experience/lesson-3-sensors/3-2-p-working-with-sensor-based-orientation/3-2-p-working-with-sensor-based-orientation.html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Sensors</a:t>
            </a:r>
            <a:endParaRPr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3 </a:t>
            </a:r>
            <a:endParaRPr/>
          </a:p>
        </p:txBody>
      </p:sp>
      <p:sp>
        <p:nvSpPr>
          <p:cNvPr id="139" name="Google Shape;13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140" name="Google Shape;140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 Motion and position sensors</a:t>
            </a:r>
            <a:endParaRPr/>
          </a:p>
        </p:txBody>
      </p:sp>
      <p:sp>
        <p:nvSpPr>
          <p:cNvPr id="146" name="Google Shape;146;p26"/>
          <p:cNvSpPr txBox="1"/>
          <p:nvPr>
            <p:ph idx="1" type="subTitle"/>
          </p:nvPr>
        </p:nvSpPr>
        <p:spPr>
          <a:xfrm>
            <a:off x="311700" y="28677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 device movement or position in space</a:t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33600" y="1309775"/>
            <a:ext cx="8476800" cy="30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Overview of motion and position sensors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Determining device orientation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Understanding device rotation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Using motion sensors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Using position sensors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60" name="Google Shape;160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Motion and position sensors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Motion and position sensors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Motion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position</a:t>
            </a:r>
            <a:r>
              <a:rPr lang="en">
                <a:solidFill>
                  <a:srgbClr val="000000"/>
                </a:solidFill>
              </a:rPr>
              <a:t> sensors monitor device movement or position in space respectively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Both return multi-dimensional arrays of sensor values for each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SensorEvent</a:t>
            </a:r>
            <a:endParaRPr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Example: Accelerometer returns acceleration force data for 3 coordinate axes (</a:t>
            </a:r>
            <a:r>
              <a:rPr i="1" lang="en">
                <a:solidFill>
                  <a:srgbClr val="000000"/>
                </a:solidFill>
              </a:rPr>
              <a:t>x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i="1" lang="en">
                <a:solidFill>
                  <a:srgbClr val="000000"/>
                </a:solidFill>
              </a:rPr>
              <a:t>y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i="1" lang="en">
                <a:solidFill>
                  <a:srgbClr val="000000"/>
                </a:solidFill>
              </a:rPr>
              <a:t>z</a:t>
            </a:r>
            <a:r>
              <a:rPr lang="en">
                <a:solidFill>
                  <a:srgbClr val="000000"/>
                </a:solidFill>
              </a:rPr>
              <a:t>) relative to device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Coordinate systems</a:t>
            </a:r>
            <a:endParaRPr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chemeClr val="dk1"/>
                </a:solidFill>
              </a:rPr>
              <a:t>Device coordinate system</a:t>
            </a:r>
            <a:r>
              <a:rPr lang="en">
                <a:solidFill>
                  <a:schemeClr val="dk1"/>
                </a:solidFill>
              </a:rPr>
              <a:t> : </a:t>
            </a:r>
            <a:r>
              <a:rPr lang="en">
                <a:solidFill>
                  <a:srgbClr val="000000"/>
                </a:solidFill>
              </a:rPr>
              <a:t>Some sensors use device coordinate system relative to the device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Example: </a:t>
            </a:r>
            <a:r>
              <a:rPr lang="en">
                <a:solidFill>
                  <a:schemeClr val="dk1"/>
                </a:solidFill>
              </a:rPr>
              <a:t>Accelerometers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chemeClr val="dk1"/>
                </a:solidFill>
              </a:rPr>
              <a:t>Earth coordinate system 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>
                <a:solidFill>
                  <a:srgbClr val="000000"/>
                </a:solidFill>
              </a:rPr>
              <a:t>Other sensors use Earth coordinate system relative to Earth surface 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Example: Magnetometer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coordinates (1)</a:t>
            </a:r>
            <a:endParaRPr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1137700"/>
            <a:ext cx="6160800" cy="3354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Relative to physical device regardless of device position in the world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i="1" lang="en">
                <a:solidFill>
                  <a:srgbClr val="000000"/>
                </a:solidFill>
              </a:rPr>
              <a:t>x</a:t>
            </a:r>
            <a:r>
              <a:rPr lang="en">
                <a:solidFill>
                  <a:srgbClr val="000000"/>
                </a:solidFill>
              </a:rPr>
              <a:t> is horizontal and points right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i="1" lang="en">
                <a:solidFill>
                  <a:srgbClr val="000000"/>
                </a:solidFill>
              </a:rPr>
              <a:t>y</a:t>
            </a:r>
            <a:r>
              <a:rPr lang="en">
                <a:solidFill>
                  <a:srgbClr val="000000"/>
                </a:solidFill>
              </a:rPr>
              <a:t> is vertical and points up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i="1" lang="en">
                <a:solidFill>
                  <a:srgbClr val="000000"/>
                </a:solidFill>
              </a:rPr>
              <a:t>z</a:t>
            </a:r>
            <a:r>
              <a:rPr lang="en">
                <a:solidFill>
                  <a:srgbClr val="000000"/>
                </a:solidFill>
              </a:rPr>
              <a:t> points toward outside of screen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Negative </a:t>
            </a:r>
            <a:r>
              <a:rPr i="1" lang="en">
                <a:solidFill>
                  <a:srgbClr val="000000"/>
                </a:solidFill>
              </a:rPr>
              <a:t>z</a:t>
            </a:r>
            <a:r>
              <a:rPr lang="en">
                <a:solidFill>
                  <a:srgbClr val="000000"/>
                </a:solidFill>
              </a:rPr>
              <a:t> points behind screen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7750" y="1394700"/>
            <a:ext cx="2143125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coordinates (2)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137700"/>
            <a:ext cx="6160800" cy="3354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Relative to the device screen when device is in its default orientation</a:t>
            </a:r>
            <a:endParaRPr>
              <a:solidFill>
                <a:srgbClr val="000000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Axes are not swapped when orientation changes by rotation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App must transform incoming sensor data to match rotation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1" name="Google Shape;191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2" name="Google Shape;19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547750" y="1394700"/>
            <a:ext cx="2143125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 coordinates</a:t>
            </a:r>
            <a:endParaRPr/>
          </a:p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1137700"/>
            <a:ext cx="6160800" cy="3354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i="1" lang="en">
                <a:solidFill>
                  <a:srgbClr val="000000"/>
                </a:solidFill>
              </a:rPr>
              <a:t>y</a:t>
            </a:r>
            <a:r>
              <a:rPr lang="en">
                <a:solidFill>
                  <a:srgbClr val="000000"/>
                </a:solidFill>
              </a:rPr>
              <a:t> points to magnetic north along Earth's surface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i="1" lang="en">
                <a:solidFill>
                  <a:srgbClr val="000000"/>
                </a:solidFill>
              </a:rPr>
              <a:t>x</a:t>
            </a:r>
            <a:r>
              <a:rPr lang="en">
                <a:solidFill>
                  <a:srgbClr val="000000"/>
                </a:solidFill>
              </a:rPr>
              <a:t> is 90 degrees from </a:t>
            </a:r>
            <a:r>
              <a:rPr i="1" lang="en">
                <a:solidFill>
                  <a:srgbClr val="000000"/>
                </a:solidFill>
              </a:rPr>
              <a:t>y</a:t>
            </a:r>
            <a:r>
              <a:rPr lang="en">
                <a:solidFill>
                  <a:srgbClr val="000000"/>
                </a:solidFill>
              </a:rPr>
              <a:t>, pointing east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i="1" lang="en">
                <a:solidFill>
                  <a:srgbClr val="000000"/>
                </a:solidFill>
              </a:rPr>
              <a:t>z</a:t>
            </a:r>
            <a:r>
              <a:rPr lang="en">
                <a:solidFill>
                  <a:srgbClr val="000000"/>
                </a:solidFill>
              </a:rPr>
              <a:t> extends up into space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Negative </a:t>
            </a:r>
            <a:r>
              <a:rPr i="1" lang="en">
                <a:solidFill>
                  <a:srgbClr val="000000"/>
                </a:solidFill>
              </a:rPr>
              <a:t>z</a:t>
            </a:r>
            <a:r>
              <a:rPr lang="en">
                <a:solidFill>
                  <a:srgbClr val="000000"/>
                </a:solidFill>
              </a:rPr>
              <a:t> extends down into ground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9" name="Google Shape;199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4150" y="1622295"/>
            <a:ext cx="234315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265500" y="1233175"/>
            <a:ext cx="4045200" cy="22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Determining device orientation </a:t>
            </a:r>
            <a:endParaRPr/>
          </a:p>
        </p:txBody>
      </p:sp>
      <p:sp>
        <p:nvSpPr>
          <p:cNvPr id="206" name="Google Shape;206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7" name="Google Shape;207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orientation</a:t>
            </a:r>
            <a:endParaRPr/>
          </a:p>
        </p:txBody>
      </p:sp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311700" y="1137700"/>
            <a:ext cx="6160800" cy="3354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Position of device relative to Earth's coordinates (</a:t>
            </a:r>
            <a:r>
              <a:rPr i="1" lang="en">
                <a:solidFill>
                  <a:srgbClr val="000000"/>
                </a:solidFill>
              </a:rPr>
              <a:t>y</a:t>
            </a:r>
            <a:r>
              <a:rPr lang="en">
                <a:solidFill>
                  <a:srgbClr val="000000"/>
                </a:solidFill>
              </a:rPr>
              <a:t> points to magnetic north)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Determine by using accelerometer and geomagnetic field sensor with methods in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SensorManager</a:t>
            </a:r>
            <a:endParaRPr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4" name="Google Shape;214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5" name="Google Shape;21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4150" y="1622295"/>
            <a:ext cx="234315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orientation</a:t>
            </a:r>
            <a:endParaRPr/>
          </a:p>
        </p:txBody>
      </p:sp>
      <p:sp>
        <p:nvSpPr>
          <p:cNvPr id="221" name="Google Shape;221;p36"/>
          <p:cNvSpPr txBox="1"/>
          <p:nvPr>
            <p:ph idx="1" type="body"/>
          </p:nvPr>
        </p:nvSpPr>
        <p:spPr>
          <a:xfrm>
            <a:off x="311700" y="863275"/>
            <a:ext cx="7336500" cy="3796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Azimuth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Angle between device's compass direction and magnetic north </a:t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Pitch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Angle between plane parallel to device's screen and plane parallel to ground</a:t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Roll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Angle between plane perpendicular to device's screen and plane perpendicular to ground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222" name="Google Shape;222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3" name="Google Shape;22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1850" y="2310675"/>
            <a:ext cx="1260450" cy="119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8200" y="1061500"/>
            <a:ext cx="1184100" cy="1298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8200" y="3697575"/>
            <a:ext cx="1260450" cy="847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SensorManager methods</a:t>
            </a:r>
            <a:endParaRPr/>
          </a:p>
        </p:txBody>
      </p:sp>
      <p:sp>
        <p:nvSpPr>
          <p:cNvPr id="231" name="Google Shape;231;p37"/>
          <p:cNvSpPr txBox="1"/>
          <p:nvPr>
            <p:ph idx="1" type="body"/>
          </p:nvPr>
        </p:nvSpPr>
        <p:spPr>
          <a:xfrm>
            <a:off x="311700" y="1137700"/>
            <a:ext cx="8709600" cy="3354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getRotationMatrix()</a:t>
            </a:r>
            <a:r>
              <a:rPr lang="en">
                <a:solidFill>
                  <a:srgbClr val="000000"/>
                </a:solidFill>
              </a:rPr>
              <a:t> generates </a:t>
            </a:r>
            <a:r>
              <a:rPr lang="en" u="sng">
                <a:solidFill>
                  <a:schemeClr val="hlink"/>
                </a:solidFill>
                <a:hlinkClick r:id="rId4"/>
              </a:rPr>
              <a:t>rotation matrix</a:t>
            </a:r>
            <a:r>
              <a:rPr lang="en">
                <a:solidFill>
                  <a:srgbClr val="000000"/>
                </a:solidFill>
              </a:rPr>
              <a:t> from accelerometer and geomagnetic field sensor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Translates sensor data from device coordinates to Earth coordinates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getOrientation()</a:t>
            </a:r>
            <a:r>
              <a:rPr lang="en">
                <a:solidFill>
                  <a:srgbClr val="000000"/>
                </a:solidFill>
              </a:rPr>
              <a:t> uses rotation matrix to compute angles of device's orientation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2" name="Google Shape;232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Determine orientation</a:t>
            </a:r>
            <a:endParaRPr/>
          </a:p>
        </p:txBody>
      </p:sp>
      <p:sp>
        <p:nvSpPr>
          <p:cNvPr id="238" name="Google Shape;238;p38"/>
          <p:cNvSpPr txBox="1"/>
          <p:nvPr>
            <p:ph idx="1" type="body"/>
          </p:nvPr>
        </p:nvSpPr>
        <p:spPr>
          <a:xfrm>
            <a:off x="311700" y="1005800"/>
            <a:ext cx="8520600" cy="3733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private SensorManager mSensorManager;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 Rotation matrix based on current readings.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final float[] rotationMatrix = new float[9];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mSensorManager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.getRotationMatrix(rotationMatrix, null,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accelerometerReading, magnetometerReading);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 Express updated rotation matrix as 3 orientation angles.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final float[] orientationAngles = new float[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mSensorManager.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getOrientation(rotationMatrix,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   orientationAngles);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" name="Google Shape;239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type="title"/>
          </p:nvPr>
        </p:nvSpPr>
        <p:spPr>
          <a:xfrm>
            <a:off x="265500" y="1233175"/>
            <a:ext cx="4045200" cy="18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device rotation </a:t>
            </a:r>
            <a:endParaRPr/>
          </a:p>
        </p:txBody>
      </p:sp>
      <p:sp>
        <p:nvSpPr>
          <p:cNvPr id="245" name="Google Shape;245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6" name="Google Shape;246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 coordinates for rotation</a:t>
            </a:r>
            <a:endParaRPr/>
          </a:p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If app draws views based on sensor data:</a:t>
            </a:r>
            <a:endParaRPr>
              <a:solidFill>
                <a:srgbClr val="000000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Screen or activity coordinate system rotates with device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Sensor coordinate system doesn't rotate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Need to t</a:t>
            </a:r>
            <a:r>
              <a:rPr lang="en">
                <a:solidFill>
                  <a:schemeClr val="dk1"/>
                </a:solidFill>
              </a:rPr>
              <a:t>ransform sensor coordinates to activity coordinates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3" name="Google Shape;253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Handle device and activity rotation</a:t>
            </a:r>
            <a:endParaRPr/>
          </a:p>
        </p:txBody>
      </p:sp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Query device orientation with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getRotationMatrix()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Remap rotation matrix from sensor data to activity coordinates with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remapCoordinateSystem()</a:t>
            </a:r>
            <a:endParaRPr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0" name="Google Shape;260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Returned from getRotation()</a:t>
            </a:r>
            <a:endParaRPr/>
          </a:p>
        </p:txBody>
      </p:sp>
      <p:sp>
        <p:nvSpPr>
          <p:cNvPr id="266" name="Google Shape;266;p42"/>
          <p:cNvSpPr txBox="1"/>
          <p:nvPr>
            <p:ph idx="1" type="body"/>
          </p:nvPr>
        </p:nvSpPr>
        <p:spPr>
          <a:xfrm>
            <a:off x="311700" y="1118575"/>
            <a:ext cx="8520600" cy="337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000000"/>
                </a:solidFill>
              </a:rPr>
              <a:t>Integer constants: </a:t>
            </a:r>
            <a:endParaRPr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ROTATION_0</a:t>
            </a:r>
            <a:r>
              <a:rPr lang="en" sz="2000">
                <a:solidFill>
                  <a:srgbClr val="000000"/>
                </a:solidFill>
              </a:rPr>
              <a:t>: Default (portrait for phones)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ROTATION_90</a:t>
            </a:r>
            <a:r>
              <a:rPr lang="en" sz="2000">
                <a:solidFill>
                  <a:srgbClr val="000000"/>
                </a:solidFill>
              </a:rPr>
              <a:t>: Sideways (landscape for phones)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ROTATION_180</a:t>
            </a:r>
            <a:r>
              <a:rPr lang="en" sz="2000">
                <a:solidFill>
                  <a:srgbClr val="000000"/>
                </a:solidFill>
              </a:rPr>
              <a:t>: Upside-down (if device allows)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ROTATION_270</a:t>
            </a:r>
            <a:r>
              <a:rPr lang="en" sz="2000">
                <a:solidFill>
                  <a:srgbClr val="000000"/>
                </a:solidFill>
              </a:rPr>
              <a:t>: Sideways in the opposite direction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Many devices return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ROTATION_90</a:t>
            </a:r>
            <a:r>
              <a:rPr lang="en" sz="2000">
                <a:solidFill>
                  <a:srgbClr val="000000"/>
                </a:solidFill>
              </a:rPr>
              <a:t> or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ROTATION_270</a:t>
            </a:r>
            <a:r>
              <a:rPr lang="en" sz="2000">
                <a:solidFill>
                  <a:srgbClr val="000000"/>
                </a:solidFill>
              </a:rPr>
              <a:t> regardless of clockwise or counterclockwise rotation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267" name="Google Shape;267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Handle device rotation (1)</a:t>
            </a:r>
            <a:endParaRPr/>
          </a:p>
        </p:txBody>
      </p:sp>
      <p:sp>
        <p:nvSpPr>
          <p:cNvPr id="273" name="Google Shape;273;p43"/>
          <p:cNvSpPr txBox="1"/>
          <p:nvPr>
            <p:ph idx="1" type="body"/>
          </p:nvPr>
        </p:nvSpPr>
        <p:spPr>
          <a:xfrm>
            <a:off x="311700" y="987538"/>
            <a:ext cx="8520600" cy="350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getRotation()</a:t>
            </a:r>
            <a:r>
              <a:rPr lang="en">
                <a:solidFill>
                  <a:srgbClr val="000000"/>
                </a:solidFill>
              </a:rPr>
              <a:t> with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remapCoordinateSystem()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float[] rotationMatrix = new float[9];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boolean rotationOK = 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SensorManager.getRotationMatrix(rotationMatrix,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	null, mAccelerometerData, mMagnetometerData);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 Remap matrix based on current device/activity rotation.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float[]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rotationMatrixAdjusted</a:t>
            </a: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= new float[9];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" name="Google Shape;274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Handle device rotation (2)</a:t>
            </a:r>
            <a:endParaRPr/>
          </a:p>
        </p:txBody>
      </p:sp>
      <p:sp>
        <p:nvSpPr>
          <p:cNvPr id="280" name="Google Shape;280;p44"/>
          <p:cNvSpPr txBox="1"/>
          <p:nvPr>
            <p:ph idx="1" type="body"/>
          </p:nvPr>
        </p:nvSpPr>
        <p:spPr>
          <a:xfrm>
            <a:off x="311700" y="1070775"/>
            <a:ext cx="8520600" cy="342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switch (mDisplay.getRotation()) {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case Surface.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ROTATION_0</a:t>
            </a: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rotationMatrixAdjusted = rotationMatrix.clone();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    break;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case Surface.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ROTATION_90</a:t>
            </a: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SensorManager.remapCoordinateSystem(rotationMatrix,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SensorManager.AXIS_Y, SensorManager.AXIS_MINUS_X,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rotationMatrixAdjusted);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    Break;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// Rotation_180, Rotation_270 ...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" name="Google Shape;281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Handle device rotation (3)</a:t>
            </a:r>
            <a:endParaRPr/>
          </a:p>
        </p:txBody>
      </p:sp>
      <p:sp>
        <p:nvSpPr>
          <p:cNvPr id="287" name="Google Shape;287;p45"/>
          <p:cNvSpPr txBox="1"/>
          <p:nvPr>
            <p:ph idx="1" type="body"/>
          </p:nvPr>
        </p:nvSpPr>
        <p:spPr>
          <a:xfrm>
            <a:off x="311700" y="1089875"/>
            <a:ext cx="8520600" cy="3402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 Rotation_180, Rotation_270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case Surface.ROTATION_180: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    SensorManager.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remapCoordinateSystem(rotationMatrix,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SensorManager.AXIS_MINUS_X,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SensorManager.AXIS_MINUS_Y, rotationMatrixAdjusted);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    break;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case Surface.ROTATION_270: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    SensorManager.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remapCoordinateSystem(rotationMatrix,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SensorManager.AXIS_MINUS_Y, SensorManager.AXIS_X,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rotationMatrixAdjusted);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    break;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8" name="Google Shape;288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motion sensors</a:t>
            </a:r>
            <a:endParaRPr/>
          </a:p>
        </p:txBody>
      </p:sp>
      <p:sp>
        <p:nvSpPr>
          <p:cNvPr id="294" name="Google Shape;294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5" name="Google Shape;295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Monitor device motion such as tilt, shake, rotation, swing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Motion sensors</a:t>
            </a:r>
            <a:endParaRPr/>
          </a:p>
        </p:txBody>
      </p:sp>
      <p:sp>
        <p:nvSpPr>
          <p:cNvPr id="302" name="Google Shape;302;p47"/>
          <p:cNvSpPr txBox="1"/>
          <p:nvPr>
            <p:ph idx="1" type="body"/>
          </p:nvPr>
        </p:nvSpPr>
        <p:spPr>
          <a:xfrm>
            <a:off x="311700" y="1001550"/>
            <a:ext cx="8520600" cy="349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movement is usually a reflection of :</a:t>
            </a:r>
            <a:endParaRPr>
              <a:solidFill>
                <a:srgbClr val="000000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Direct user input relative to device/app </a:t>
            </a:r>
            <a:r>
              <a:rPr lang="en">
                <a:solidFill>
                  <a:schemeClr val="dk1"/>
                </a:solidFill>
              </a:rPr>
              <a:t>(steering car in game, etc.)</a:t>
            </a:r>
            <a:endParaRPr>
              <a:solidFill>
                <a:srgbClr val="000000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Device motion relative to Earth </a:t>
            </a:r>
            <a:r>
              <a:rPr lang="en">
                <a:solidFill>
                  <a:schemeClr val="dk1"/>
                </a:solidFill>
              </a:rPr>
              <a:t>(device is with you while you are driving)</a:t>
            </a:r>
            <a:endParaRPr>
              <a:solidFill>
                <a:srgbClr val="000000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Motion sensors are used with other sensors to determine device position relative to Earth</a:t>
            </a:r>
            <a:endParaRPr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3" name="Google Shape;303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Accelerometer</a:t>
            </a:r>
            <a:endParaRPr/>
          </a:p>
        </p:txBody>
      </p:sp>
      <p:sp>
        <p:nvSpPr>
          <p:cNvPr id="309" name="Google Shape;309;p48"/>
          <p:cNvSpPr txBox="1"/>
          <p:nvPr>
            <p:ph idx="1" type="body"/>
          </p:nvPr>
        </p:nvSpPr>
        <p:spPr>
          <a:xfrm>
            <a:off x="311700" y="813888"/>
            <a:ext cx="8520600" cy="351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TYPE_ACCELEROMETER</a:t>
            </a:r>
            <a:r>
              <a:rPr lang="en">
                <a:solidFill>
                  <a:srgbClr val="000000"/>
                </a:solidFill>
              </a:rPr>
              <a:t> measures acceleration along 3 device axes (</a:t>
            </a:r>
            <a:r>
              <a:rPr i="1" lang="en">
                <a:solidFill>
                  <a:srgbClr val="000000"/>
                </a:solidFill>
              </a:rPr>
              <a:t>x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i="1" lang="en">
                <a:solidFill>
                  <a:srgbClr val="000000"/>
                </a:solidFill>
              </a:rPr>
              <a:t>y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i="1" lang="en">
                <a:solidFill>
                  <a:srgbClr val="000000"/>
                </a:solidFill>
              </a:rPr>
              <a:t>z</a:t>
            </a:r>
            <a:r>
              <a:rPr lang="en">
                <a:solidFill>
                  <a:srgbClr val="000000"/>
                </a:solidFill>
              </a:rPr>
              <a:t>) including gravity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Acceleration without gravity: 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TYPE_LINEAR_ACCELERATION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Force of gravity without acceleration: 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TYPE_GRAVITY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TYPE_GYROSCOPE</a:t>
            </a:r>
            <a:r>
              <a:rPr lang="en">
                <a:solidFill>
                  <a:schemeClr val="dk1"/>
                </a:solidFill>
              </a:rPr>
              <a:t> measures rate of rotation (radians/second)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For calculations see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SensorEvent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values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0" name="Google Shape;310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Accelerometer event data</a:t>
            </a:r>
            <a:endParaRPr/>
          </a:p>
        </p:txBody>
      </p:sp>
      <p:sp>
        <p:nvSpPr>
          <p:cNvPr id="316" name="Google Shape;316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17" name="Google Shape;317;p49"/>
          <p:cNvGraphicFramePr/>
          <p:nvPr/>
        </p:nvGraphicFramePr>
        <p:xfrm>
          <a:off x="518175" y="119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{911AB068-44FB-42A6-B95D-744B3A1CAA8E}</a:tableStyleId>
              </a:tblPr>
              <a:tblGrid>
                <a:gridCol w="2898400"/>
                <a:gridCol w="3933575"/>
                <a:gridCol w="1122300"/>
              </a:tblGrid>
              <a:tr h="53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Event data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Units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solidFill>
                      <a:srgbClr val="D9D9D9"/>
                    </a:solidFill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SensorEvent.values[0]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Acceleration force along </a:t>
                      </a:r>
                      <a:r>
                        <a:rPr i="1"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-axis, </a:t>
                      </a:r>
                      <a:b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including gravity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m/s</a:t>
                      </a:r>
                      <a:r>
                        <a:rPr baseline="30000"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SensorEvent.values[1]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Acceleration force along </a:t>
                      </a:r>
                      <a:r>
                        <a:rPr i="1"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-axis, </a:t>
                      </a:r>
                      <a:b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including gravity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m/s</a:t>
                      </a:r>
                      <a:r>
                        <a:rPr baseline="30000"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SensorEvent.values[2]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Acceleration force along </a:t>
                      </a:r>
                      <a:r>
                        <a:rPr i="1"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z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-axis, </a:t>
                      </a:r>
                      <a:b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including gravity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m/s</a:t>
                      </a:r>
                      <a:r>
                        <a:rPr baseline="30000"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Accelerometer example</a:t>
            </a:r>
            <a:endParaRPr/>
          </a:p>
        </p:txBody>
      </p:sp>
      <p:sp>
        <p:nvSpPr>
          <p:cNvPr id="323" name="Google Shape;323;p50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SensorManager mSensorManager;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Sensor mSensor;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...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mSensorManager = (SensorManager) 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getSystemService(Context.SENSOR_SERVICE);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mSensor = mSensorManager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.getDefaultSensor(Sensor.TYPE_LINEAR_ACCELERATION);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4" name="Google Shape;324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Gravity and gyroscope sensors</a:t>
            </a:r>
            <a:endParaRPr/>
          </a:p>
        </p:txBody>
      </p:sp>
      <p:sp>
        <p:nvSpPr>
          <p:cNvPr id="330" name="Google Shape;330;p51"/>
          <p:cNvSpPr txBox="1"/>
          <p:nvPr>
            <p:ph idx="1" type="body"/>
          </p:nvPr>
        </p:nvSpPr>
        <p:spPr>
          <a:xfrm>
            <a:off x="311700" y="1080325"/>
            <a:ext cx="7767000" cy="341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Along 3 device axes (</a:t>
            </a:r>
            <a:r>
              <a:rPr i="1" lang="en">
                <a:solidFill>
                  <a:schemeClr val="dk1"/>
                </a:solidFill>
              </a:rPr>
              <a:t>x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i="1" lang="en">
                <a:solidFill>
                  <a:schemeClr val="dk1"/>
                </a:solidFill>
              </a:rPr>
              <a:t>y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i="1" lang="en">
                <a:solidFill>
                  <a:schemeClr val="dk1"/>
                </a:solidFill>
              </a:rPr>
              <a:t>z</a:t>
            </a:r>
            <a:r>
              <a:rPr lang="en">
                <a:solidFill>
                  <a:schemeClr val="dk1"/>
                </a:solidFill>
              </a:rPr>
              <a:t>):</a:t>
            </a:r>
            <a:endParaRPr/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TYPE_GRAVITY</a:t>
            </a:r>
            <a:r>
              <a:rPr lang="en">
                <a:solidFill>
                  <a:srgbClr val="000000"/>
                </a:solidFill>
              </a:rPr>
              <a:t> measures gravity </a:t>
            </a:r>
            <a:r>
              <a:rPr lang="en">
                <a:solidFill>
                  <a:schemeClr val="dk1"/>
                </a:solidFill>
              </a:rPr>
              <a:t>without acceleration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TYPE_GYROSCOPE</a:t>
            </a:r>
            <a:r>
              <a:rPr lang="en">
                <a:solidFill>
                  <a:schemeClr val="dk1"/>
                </a:solidFill>
              </a:rPr>
              <a:t> measures rate of rotation (radians/second)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For calculations see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SensorEvent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values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1" name="Google Shape;331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Gravity event data</a:t>
            </a:r>
            <a:endParaRPr/>
          </a:p>
        </p:txBody>
      </p:sp>
      <p:sp>
        <p:nvSpPr>
          <p:cNvPr id="337" name="Google Shape;337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38" name="Google Shape;338;p52"/>
          <p:cNvGraphicFramePr/>
          <p:nvPr/>
        </p:nvGraphicFramePr>
        <p:xfrm>
          <a:off x="249050" y="1135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{911AB068-44FB-42A6-B95D-744B3A1CAA8E}</a:tableStyleId>
              </a:tblPr>
              <a:tblGrid>
                <a:gridCol w="3915675"/>
                <a:gridCol w="2932200"/>
                <a:gridCol w="1735375"/>
              </a:tblGrid>
              <a:tr h="53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Event data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Units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SensorEvent.values[0]</a:t>
                      </a:r>
                      <a:endParaRPr sz="2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Gravity along </a:t>
                      </a:r>
                      <a:r>
                        <a:rPr i="1"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-axis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m/s</a:t>
                      </a:r>
                      <a:r>
                        <a:rPr baseline="30000"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SensorEvent.values[1]</a:t>
                      </a:r>
                      <a:endParaRPr sz="2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Gravity along </a:t>
                      </a:r>
                      <a:r>
                        <a:rPr i="1"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</a:t>
                      </a: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-axis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m/s</a:t>
                      </a:r>
                      <a:r>
                        <a:rPr baseline="30000"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SensorEvent.values[2]</a:t>
                      </a:r>
                      <a:endParaRPr sz="2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gravity along </a:t>
                      </a:r>
                      <a:r>
                        <a:rPr i="1"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z</a:t>
                      </a: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-axis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m/s</a:t>
                      </a:r>
                      <a:r>
                        <a:rPr baseline="30000"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Rotation-vector sensor</a:t>
            </a:r>
            <a:endParaRPr/>
          </a:p>
        </p:txBody>
      </p:sp>
      <p:sp>
        <p:nvSpPr>
          <p:cNvPr id="344" name="Google Shape;344;p53"/>
          <p:cNvSpPr txBox="1"/>
          <p:nvPr>
            <p:ph idx="1" type="body"/>
          </p:nvPr>
        </p:nvSpPr>
        <p:spPr>
          <a:xfrm>
            <a:off x="311700" y="1080325"/>
            <a:ext cx="8520600" cy="341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TYPE_ROTATION_VECTOR</a:t>
            </a:r>
            <a:r>
              <a:rPr lang="en">
                <a:solidFill>
                  <a:srgbClr val="000000"/>
                </a:solidFill>
              </a:rPr>
              <a:t> provides orientation with respect to Earth coordinated as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unit quaternion</a:t>
            </a:r>
            <a:endParaRPr>
              <a:solidFill>
                <a:schemeClr val="accent5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Software sensor that integrates data from accelerometer, magnetometer, and gyroscope (if available)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Efficient and accurate way to determine device orientation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For calculations see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SensorEvent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values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5" name="Google Shape;345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counter and step detector</a:t>
            </a:r>
            <a:endParaRPr/>
          </a:p>
        </p:txBody>
      </p:sp>
      <p:sp>
        <p:nvSpPr>
          <p:cNvPr id="351" name="Google Shape;351;p54"/>
          <p:cNvSpPr txBox="1"/>
          <p:nvPr>
            <p:ph idx="1" type="body"/>
          </p:nvPr>
        </p:nvSpPr>
        <p:spPr>
          <a:xfrm>
            <a:off x="311700" y="1080325"/>
            <a:ext cx="8520600" cy="341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TYPE_STEP_COUNTER</a:t>
            </a:r>
            <a:r>
              <a:rPr lang="en">
                <a:solidFill>
                  <a:srgbClr val="000000"/>
                </a:solidFill>
              </a:rPr>
              <a:t> measures user steps since last reboot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To preserve battery 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JobScheduler</a:t>
            </a:r>
            <a:r>
              <a:rPr lang="en">
                <a:solidFill>
                  <a:srgbClr val="000000"/>
                </a:solidFill>
              </a:rPr>
              <a:t> to retrieve current value from step-counter at specific interval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TYPE_STEP_DETECTOR</a:t>
            </a:r>
            <a:r>
              <a:rPr lang="en">
                <a:solidFill>
                  <a:srgbClr val="000000"/>
                </a:solidFill>
              </a:rPr>
              <a:t>: hardware sensor that triggers event for each step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</a:rPr>
              <a:t>Example:</a:t>
            </a:r>
            <a:r>
              <a:rPr lang="en">
                <a:solidFill>
                  <a:srgbClr val="000000"/>
                </a:solidFill>
              </a:rPr>
              <a:t> See the </a:t>
            </a:r>
            <a:r>
              <a:rPr lang="en" u="sng">
                <a:solidFill>
                  <a:schemeClr val="hlink"/>
                </a:solidFill>
                <a:hlinkClick r:id="rId6"/>
              </a:rPr>
              <a:t>BatchStepSensor</a:t>
            </a:r>
            <a:r>
              <a:rPr lang="en"/>
              <a:t> sample app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2" name="Google Shape;352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position sensors</a:t>
            </a:r>
            <a:endParaRPr/>
          </a:p>
        </p:txBody>
      </p:sp>
      <p:sp>
        <p:nvSpPr>
          <p:cNvPr id="358" name="Google Shape;358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9" name="Google Shape;359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Determine device physical position on Earth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Geomagnetic (magnetometer)</a:t>
            </a:r>
            <a:endParaRPr/>
          </a:p>
        </p:txBody>
      </p:sp>
      <p:sp>
        <p:nvSpPr>
          <p:cNvPr id="366" name="Google Shape;366;p56"/>
          <p:cNvSpPr txBox="1"/>
          <p:nvPr>
            <p:ph idx="1" type="body"/>
          </p:nvPr>
        </p:nvSpPr>
        <p:spPr>
          <a:xfrm>
            <a:off x="311700" y="1080325"/>
            <a:ext cx="8520600" cy="341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TYPE_MAGNETIC_FIELD</a:t>
            </a:r>
            <a:r>
              <a:rPr lang="en">
                <a:solidFill>
                  <a:srgbClr val="000000"/>
                </a:solidFill>
              </a:rPr>
              <a:t> measures strength of magnetic fields around device on each of 3 axes (</a:t>
            </a:r>
            <a:r>
              <a:rPr i="1" lang="en">
                <a:solidFill>
                  <a:srgbClr val="000000"/>
                </a:solidFill>
              </a:rPr>
              <a:t>x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i="1" lang="en">
                <a:solidFill>
                  <a:srgbClr val="000000"/>
                </a:solidFill>
              </a:rPr>
              <a:t>y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i="1" lang="en">
                <a:solidFill>
                  <a:srgbClr val="000000"/>
                </a:solidFill>
              </a:rPr>
              <a:t>z</a:t>
            </a:r>
            <a:r>
              <a:rPr lang="en">
                <a:solidFill>
                  <a:srgbClr val="000000"/>
                </a:solidFill>
              </a:rPr>
              <a:t>), including Earth magnetic field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Units are in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microtesla (uT)</a:t>
            </a:r>
            <a:endParaRPr>
              <a:solidFill>
                <a:schemeClr val="accent5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Find device position with respect to external world (compass)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7" name="Google Shape;367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Orientation </a:t>
            </a:r>
            <a:endParaRPr/>
          </a:p>
        </p:txBody>
      </p:sp>
      <p:sp>
        <p:nvSpPr>
          <p:cNvPr id="373" name="Google Shape;373;p57"/>
          <p:cNvSpPr txBox="1"/>
          <p:nvPr>
            <p:ph idx="1" type="body"/>
          </p:nvPr>
        </p:nvSpPr>
        <p:spPr>
          <a:xfrm>
            <a:off x="104500" y="1195900"/>
            <a:ext cx="8916600" cy="329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TYPE_ORIENTATION</a:t>
            </a:r>
            <a:r>
              <a:rPr lang="en">
                <a:solidFill>
                  <a:srgbClr val="000000"/>
                </a:solidFill>
              </a:rPr>
              <a:t> deprecated in API 8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For accurate device orientation</a:t>
            </a:r>
            <a:r>
              <a:rPr i="1" lang="en">
                <a:solidFill>
                  <a:srgbClr val="000000"/>
                </a:solidFill>
              </a:rPr>
              <a:t> (choose one)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3810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 sz="2400">
                <a:solidFill>
                  <a:srgbClr val="000000"/>
                </a:solidFill>
              </a:rPr>
              <a:t>Use </a:t>
            </a:r>
            <a:r>
              <a:rPr lang="en" sz="24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getRotationMatrix()</a:t>
            </a:r>
            <a:r>
              <a:rPr lang="en" sz="2400">
                <a:solidFill>
                  <a:srgbClr val="000000"/>
                </a:solidFill>
              </a:rPr>
              <a:t> and </a:t>
            </a:r>
            <a:r>
              <a:rPr lang="en" sz="24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getOrientation()</a:t>
            </a:r>
            <a:r>
              <a:rPr lang="en" sz="2400">
                <a:solidFill>
                  <a:srgbClr val="000000"/>
                </a:solidFill>
              </a:rPr>
              <a:t>, or</a:t>
            </a:r>
            <a:endParaRPr sz="2400">
              <a:solidFill>
                <a:srgbClr val="000000"/>
              </a:solidFill>
            </a:endParaRPr>
          </a:p>
          <a:p>
            <a:pPr indent="-381000" lvl="1" marL="9144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○"/>
            </a:pPr>
            <a:r>
              <a:rPr lang="en" sz="2400">
                <a:solidFill>
                  <a:srgbClr val="000000"/>
                </a:solidFill>
              </a:rPr>
              <a:t>Use rotation-vector sensor with </a:t>
            </a:r>
            <a:r>
              <a:rPr lang="en" sz="24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TYPE_ROTATION_VECTOR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4" name="Google Shape;374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380" name="Google Shape;380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1" name="Google Shape;381;p58"/>
          <p:cNvSpPr txBox="1"/>
          <p:nvPr/>
        </p:nvSpPr>
        <p:spPr>
          <a:xfrm>
            <a:off x="311700" y="2063725"/>
            <a:ext cx="8520600" cy="17778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3.2 Motion and position sensors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3.2 Working with sensor-based orientation</a:t>
            </a:r>
            <a:endParaRPr sz="24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387" name="Google Shape;387;p5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88" name="Google Shape;388;p5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5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