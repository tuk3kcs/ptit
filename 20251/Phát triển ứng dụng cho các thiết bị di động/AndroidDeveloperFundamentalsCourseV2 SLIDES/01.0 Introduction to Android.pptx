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  <p:sldMasterId id="214748368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D9F147-92BC-44BF-87BE-5BCBD672F741}">
  <a:tblStyle styleId="{00D9F147-92BC-44BF-87BE-5BCBD672F7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3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5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4.xml"/><Relationship Id="rId43" Type="http://schemas.openxmlformats.org/officeDocument/2006/relationships/font" Target="fonts/OpenSans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oboto-regular.fntdata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Roboto-italic.fntdata"/><Relationship Id="rId16" Type="http://schemas.openxmlformats.org/officeDocument/2006/relationships/slide" Target="slides/slide9.xml"/><Relationship Id="rId38" Type="http://schemas.openxmlformats.org/officeDocument/2006/relationships/font" Target="fonts/Roboto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90408482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90408482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a3800b8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5a3800b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72c1a3042_2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72c1a3042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78ccb4d99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78ccb4d99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72c1a3042_2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72c1a3042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5a3800b80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5a3800b80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72c1a3042_2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72c1a3042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a3800b8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5a3800b8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72c1a3042_2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72c1a3042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72c1a3042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72c1a3042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72c1a3042_2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72c1a3042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72c1a3042_2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72c1a3042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72c1a3042_2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72c1a3042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72c1a3042_2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72c1a3042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738cdec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738cdec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72c1a3042_2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72c1a3042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72c1a3042_2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72c1a3042_2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623af88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623af88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were earlier versions before Feb 2011.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a3fcce9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a3fcce9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were earlier versions before Feb 2011.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72c1a3042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72c1a3042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72c1a3042_2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72c1a3042_2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72c1a3042_2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72c1a3042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72c1a3042_2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72c1a3042_2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7652e83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7652e83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765458fe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765458fe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738cdeca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738cdeca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hyperlink" Target="https://creativecommons.org/licenses/by/4.0/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19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g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/>
        </p:nvSpPr>
        <p:spPr>
          <a:xfrm>
            <a:off x="2297350" y="4761375"/>
            <a:ext cx="2303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45596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4421125" y="4709581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" name="Google Shape;151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1" name="Google Shape;18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2" name="Google Shape;18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6" name="Google Shape;186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2" name="Google Shape;19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93" name="Google Shape;1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9" name="Google Shape;199;p38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01" name="Google Shape;2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9.png"/><Relationship Id="rId2" Type="http://schemas.openxmlformats.org/officeDocument/2006/relationships/hyperlink" Target="http://creativecommons.org/licenses/by-nc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8.png"/><Relationship Id="rId2" Type="http://schemas.openxmlformats.org/officeDocument/2006/relationships/hyperlink" Target="http://creativecommons.org/licenses/by-nc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97350" y="4761375"/>
            <a:ext cx="22749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834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4421125" y="46830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254275" y="4761375"/>
            <a:ext cx="2272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17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document/d/1BNYeuBmIzRBIqiL_vTdhiNz3FRbpqWmUR2CFuJjut_8/edit#heading=h.rdgzkj9yf421" TargetMode="External"/><Relationship Id="rId4" Type="http://schemas.openxmlformats.org/officeDocument/2006/relationships/hyperlink" Target="https://docs.google.com/document/d/1BNYeuBmIzRBIqiL_vTdhiNz3FRbpqWmUR2CFuJjut_8/edit#heading=h.rdgzkj9yf421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docs.google.com/document/d/1BNYeuBmIzRBIqiL_vTdhiNz3FRbpqWmUR2CFuJjut_8/edit#heading=h.pjlpkwsnx48t" TargetMode="External"/><Relationship Id="rId6" Type="http://schemas.openxmlformats.org/officeDocument/2006/relationships/hyperlink" Target="https://docs.google.com/document/d/1BNYeuBmIzRBIqiL_vTdhiNz3FRbpqWmUR2CFuJjut_8/edit#heading=h.jkd2zkoporfr" TargetMode="External"/><Relationship Id="rId7" Type="http://schemas.openxmlformats.org/officeDocument/2006/relationships/hyperlink" Target="https://docs.google.com/document/d/1BNYeuBmIzRBIqiL_vTdhiNz3FRbpqWmUR2CFuJjut_8/edit#heading=h.azrgrayqg5qw" TargetMode="External"/><Relationship Id="rId8" Type="http://schemas.openxmlformats.org/officeDocument/2006/relationships/hyperlink" Target="https://docs.google.com/document/d/1BNYeuBmIzRBIqiL_vTdhiNz3FRbpqWmUR2CFuJjut_8/edit#heading=h.5t7525n92ri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Linux_kernel" TargetMode="External"/><Relationship Id="rId4" Type="http://schemas.openxmlformats.org/officeDocument/2006/relationships/hyperlink" Target="http://goo.gl/0G8yS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hyperlink" Target="https://developer.android.com/studio/intro/index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lay.google.com/store" TargetMode="External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android.com/history/#/marshmallow" TargetMode="External"/><Relationship Id="rId4" Type="http://schemas.openxmlformats.org/officeDocument/2006/relationships/hyperlink" Target="http://developer.android.com/about/dashboards/index.html" TargetMode="External"/><Relationship Id="rId5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en.wikipedia.org/wiki/Java_(programming_language)" TargetMode="External"/><Relationship Id="rId4" Type="http://schemas.openxmlformats.org/officeDocument/2006/relationships/hyperlink" Target="https://en.wikipedia.org/wiki/X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android.com/history/#/marshmallow" TargetMode="External"/><Relationship Id="rId4" Type="http://schemas.openxmlformats.org/officeDocument/2006/relationships/hyperlink" Target="https://developer.android.com/guide/index.html" TargetMode="External"/><Relationship Id="rId9" Type="http://schemas.openxmlformats.org/officeDocument/2006/relationships/hyperlink" Target="https://developer.android.com/studio/intro/index.html" TargetMode="External"/><Relationship Id="rId5" Type="http://schemas.openxmlformats.org/officeDocument/2006/relationships/hyperlink" Target="https://developer.android.com/guide/platform/index.html" TargetMode="External"/><Relationship Id="rId6" Type="http://schemas.openxmlformats.org/officeDocument/2006/relationships/hyperlink" Target="https://developer.android.com/guide/topics/ui/overview.html" TargetMode="External"/><Relationship Id="rId7" Type="http://schemas.openxmlformats.org/officeDocument/2006/relationships/hyperlink" Target="http://developer.android.com/about/dashboards/index.html" TargetMode="External"/><Relationship Id="rId8" Type="http://schemas.openxmlformats.org/officeDocument/2006/relationships/hyperlink" Target="https://developer.android.com/training/basics/supporting-devices/platforms.html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oogle-developer-training.github.io/android-developer-fundamentals-course-concepts-v2/unit-1-get-started/lesson-1-build-your-first-app/1-0-c-introduction-to-android/1-0-c-introduction-to-android.html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0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 txBox="1"/>
          <p:nvPr>
            <p:ph type="title"/>
          </p:nvPr>
        </p:nvSpPr>
        <p:spPr>
          <a:xfrm>
            <a:off x="195700" y="1061872"/>
            <a:ext cx="4045200" cy="19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Build your first app</a:t>
            </a:r>
            <a:endParaRPr/>
          </a:p>
        </p:txBody>
      </p:sp>
      <p:sp>
        <p:nvSpPr>
          <p:cNvPr id="213" name="Google Shape;213;p40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15" name="Google Shape;215;p40"/>
          <p:cNvSpPr txBox="1"/>
          <p:nvPr/>
        </p:nvSpPr>
        <p:spPr>
          <a:xfrm>
            <a:off x="265500" y="3497901"/>
            <a:ext cx="40452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1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1"/>
          <p:cNvSpPr txBox="1"/>
          <p:nvPr/>
        </p:nvSpPr>
        <p:spPr>
          <a:xfrm>
            <a:off x="311700" y="778199"/>
            <a:ext cx="8520600" cy="18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r>
              <a:rPr b="1" lang="en" sz="52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Introduction to Android</a:t>
            </a:r>
            <a:endParaRPr b="1" sz="52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7" name="Google Shape;227;p42"/>
          <p:cNvSpPr txBox="1"/>
          <p:nvPr>
            <p:ph idx="1" type="body"/>
          </p:nvPr>
        </p:nvSpPr>
        <p:spPr>
          <a:xfrm>
            <a:off x="311700" y="1381075"/>
            <a:ext cx="8398800" cy="30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 is an ecosyste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Android platform architecture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Android V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ersions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hallenges of Android app development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App fundamentals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8" name="Google Shape;228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" name="Google Shape;229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26100" y="239599"/>
            <a:ext cx="4815475" cy="159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Ecosystem</a:t>
            </a:r>
            <a:endParaRPr/>
          </a:p>
        </p:txBody>
      </p:sp>
      <p:sp>
        <p:nvSpPr>
          <p:cNvPr id="235" name="Google Shape;235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Android?</a:t>
            </a:r>
            <a:endParaRPr/>
          </a:p>
        </p:txBody>
      </p:sp>
      <p:sp>
        <p:nvSpPr>
          <p:cNvPr id="241" name="Google Shape;241;p4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Mobile operating system based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Linux kernel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Interface for touch screens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Used on </a:t>
            </a:r>
            <a:r>
              <a:rPr lang="en" u="sng">
                <a:solidFill>
                  <a:schemeClr val="hlink"/>
                </a:solidFill>
                <a:hlinkClick r:id="rId4"/>
              </a:rPr>
              <a:t>over 80%</a:t>
            </a:r>
            <a:r>
              <a:rPr lang="en"/>
              <a:t> of all smartphones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Powers devices such as watches, TVs, and cars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 2 Million Android apps in Google Play store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Highly customizable for devices / by vendors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Open source</a:t>
            </a:r>
            <a:endParaRPr/>
          </a:p>
        </p:txBody>
      </p:sp>
      <p:sp>
        <p:nvSpPr>
          <p:cNvPr id="242" name="Google Shape;242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user interaction</a:t>
            </a:r>
            <a:endParaRPr/>
          </a:p>
        </p:txBody>
      </p:sp>
      <p:sp>
        <p:nvSpPr>
          <p:cNvPr id="248" name="Google Shape;248;p45"/>
          <p:cNvSpPr txBox="1"/>
          <p:nvPr>
            <p:ph idx="1" type="body"/>
          </p:nvPr>
        </p:nvSpPr>
        <p:spPr>
          <a:xfrm>
            <a:off x="311700" y="923875"/>
            <a:ext cx="8520600" cy="3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Touch gestures: swiping, tapping, pinching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Virtual keyboard for characters, numbers, and emoji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Support for Bluetooth, USB controllers and peripherals</a:t>
            </a:r>
            <a:endParaRPr sz="2400"/>
          </a:p>
        </p:txBody>
      </p:sp>
      <p:sp>
        <p:nvSpPr>
          <p:cNvPr id="249" name="Google Shape;249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and sensors</a:t>
            </a:r>
            <a:endParaRPr/>
          </a:p>
        </p:txBody>
      </p:sp>
      <p:sp>
        <p:nvSpPr>
          <p:cNvPr id="255" name="Google Shape;255;p46"/>
          <p:cNvSpPr txBox="1"/>
          <p:nvPr>
            <p:ph idx="1" type="body"/>
          </p:nvPr>
        </p:nvSpPr>
        <p:spPr>
          <a:xfrm>
            <a:off x="311700" y="923875"/>
            <a:ext cx="8520600" cy="3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Sensors can discover user action and respond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Device contents rotate as needed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Walking adjusts position on map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Tilting steers a virtual car or controls a physical toy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Moving too fast disables game interactions</a:t>
            </a:r>
            <a:endParaRPr sz="2400"/>
          </a:p>
        </p:txBody>
      </p:sp>
      <p:sp>
        <p:nvSpPr>
          <p:cNvPr id="256" name="Google Shape;256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home screen</a:t>
            </a:r>
            <a:endParaRPr/>
          </a:p>
        </p:txBody>
      </p:sp>
      <p:sp>
        <p:nvSpPr>
          <p:cNvPr id="262" name="Google Shape;262;p47"/>
          <p:cNvSpPr txBox="1"/>
          <p:nvPr>
            <p:ph idx="1" type="body"/>
          </p:nvPr>
        </p:nvSpPr>
        <p:spPr>
          <a:xfrm>
            <a:off x="674100" y="1086350"/>
            <a:ext cx="8158200" cy="3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Launcher icons for apps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Self-updating widgets for live content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multiple pages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Folders to organize apps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"OK Google"</a:t>
            </a:r>
            <a:endParaRPr/>
          </a:p>
        </p:txBody>
      </p:sp>
      <p:sp>
        <p:nvSpPr>
          <p:cNvPr id="263" name="Google Shape;263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4" name="Google Shape;2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6600" y="1147700"/>
            <a:ext cx="1593200" cy="32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app examples</a:t>
            </a:r>
            <a:endParaRPr/>
          </a:p>
        </p:txBody>
      </p:sp>
      <p:sp>
        <p:nvSpPr>
          <p:cNvPr id="270" name="Google Shape;270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1" name="Google Shape;271;p48"/>
          <p:cNvGrpSpPr/>
          <p:nvPr/>
        </p:nvGrpSpPr>
        <p:grpSpPr>
          <a:xfrm>
            <a:off x="557492" y="1163376"/>
            <a:ext cx="1617000" cy="2890775"/>
            <a:chOff x="2640475" y="1166675"/>
            <a:chExt cx="1617000" cy="2890775"/>
          </a:xfrm>
        </p:grpSpPr>
        <p:pic>
          <p:nvPicPr>
            <p:cNvPr id="272" name="Google Shape;272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31621" y="1166675"/>
              <a:ext cx="1434675" cy="25247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48"/>
            <p:cNvSpPr txBox="1"/>
            <p:nvPr/>
          </p:nvSpPr>
          <p:spPr>
            <a:xfrm>
              <a:off x="2640475" y="3615250"/>
              <a:ext cx="1617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Pandora</a:t>
              </a:r>
              <a:endParaRPr sz="2400"/>
            </a:p>
          </p:txBody>
        </p:sp>
      </p:grpSp>
      <p:grpSp>
        <p:nvGrpSpPr>
          <p:cNvPr id="274" name="Google Shape;274;p48"/>
          <p:cNvGrpSpPr/>
          <p:nvPr/>
        </p:nvGrpSpPr>
        <p:grpSpPr>
          <a:xfrm>
            <a:off x="3564083" y="1163376"/>
            <a:ext cx="2045100" cy="2930156"/>
            <a:chOff x="4568104" y="1268075"/>
            <a:chExt cx="2045100" cy="2930156"/>
          </a:xfrm>
        </p:grpSpPr>
        <p:pic>
          <p:nvPicPr>
            <p:cNvPr id="275" name="Google Shape;27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74374" y="1268075"/>
              <a:ext cx="1531025" cy="2567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48"/>
            <p:cNvSpPr txBox="1"/>
            <p:nvPr/>
          </p:nvSpPr>
          <p:spPr>
            <a:xfrm>
              <a:off x="4568104" y="3756031"/>
              <a:ext cx="20451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Pokemon GO</a:t>
              </a:r>
              <a:endParaRPr sz="2400"/>
            </a:p>
          </p:txBody>
        </p:sp>
      </p:grpSp>
      <p:grpSp>
        <p:nvGrpSpPr>
          <p:cNvPr id="277" name="Google Shape;277;p48"/>
          <p:cNvGrpSpPr/>
          <p:nvPr/>
        </p:nvGrpSpPr>
        <p:grpSpPr>
          <a:xfrm>
            <a:off x="6998775" y="1163376"/>
            <a:ext cx="1979700" cy="3128924"/>
            <a:chOff x="6922575" y="1059016"/>
            <a:chExt cx="1979700" cy="3128924"/>
          </a:xfrm>
        </p:grpSpPr>
        <p:pic>
          <p:nvPicPr>
            <p:cNvPr id="278" name="Google Shape;278;p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195327" y="1059016"/>
              <a:ext cx="1301550" cy="263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48"/>
            <p:cNvSpPr txBox="1"/>
            <p:nvPr/>
          </p:nvSpPr>
          <p:spPr>
            <a:xfrm>
              <a:off x="6922575" y="3615239"/>
              <a:ext cx="1979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Facebook</a:t>
              </a:r>
              <a:br>
                <a:rPr lang="en" sz="2400"/>
              </a:br>
              <a:r>
                <a:rPr lang="en" sz="2400"/>
                <a:t>Messenger</a:t>
              </a:r>
              <a:endParaRPr sz="24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Software Developer Kit (SDK)</a:t>
            </a:r>
            <a:endParaRPr/>
          </a:p>
        </p:txBody>
      </p:sp>
      <p:sp>
        <p:nvSpPr>
          <p:cNvPr id="285" name="Google Shape;285;p49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Development tools (debugger, monitors, editors)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Libraries (maps, wearables)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Virtual devices (emulators)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Documentation (developers.android.com)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Sample code</a:t>
            </a:r>
            <a:endParaRPr/>
          </a:p>
        </p:txBody>
      </p:sp>
      <p:sp>
        <p:nvSpPr>
          <p:cNvPr id="286" name="Google Shape;286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Android Studio</a:t>
            </a:r>
            <a:endParaRPr/>
          </a:p>
        </p:txBody>
      </p:sp>
      <p:sp>
        <p:nvSpPr>
          <p:cNvPr id="292" name="Google Shape;292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50" y="1042875"/>
            <a:ext cx="4618549" cy="35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0"/>
          <p:cNvSpPr txBox="1"/>
          <p:nvPr/>
        </p:nvSpPr>
        <p:spPr>
          <a:xfrm>
            <a:off x="4947725" y="1175000"/>
            <a:ext cx="39987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u="sng">
                <a:solidFill>
                  <a:schemeClr val="hlink"/>
                </a:solidFill>
                <a:hlinkClick r:id="rId4"/>
              </a:rPr>
              <a:t>Official Android IDE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Develop, run, debug, test, and package apps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Monitors and performance tools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Virtual devices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Project views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Visual layout editor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Play store</a:t>
            </a:r>
            <a:endParaRPr/>
          </a:p>
        </p:txBody>
      </p:sp>
      <p:sp>
        <p:nvSpPr>
          <p:cNvPr id="300" name="Google Shape;300;p5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Publish apps through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 Play</a:t>
            </a:r>
            <a:r>
              <a:rPr lang="en"/>
              <a:t> store: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Official app store for Android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Digital distribution service operated by Google</a:t>
            </a:r>
            <a:endParaRPr/>
          </a:p>
        </p:txBody>
      </p:sp>
      <p:sp>
        <p:nvSpPr>
          <p:cNvPr id="301" name="Google Shape;301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2" name="Google Shape;30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2731" y="3212451"/>
            <a:ext cx="1169400" cy="117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Platform Architecture</a:t>
            </a:r>
            <a:endParaRPr/>
          </a:p>
        </p:txBody>
      </p:sp>
      <p:sp>
        <p:nvSpPr>
          <p:cNvPr id="308" name="Google Shape;308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stack</a:t>
            </a:r>
            <a:endParaRPr/>
          </a:p>
        </p:txBody>
      </p:sp>
      <p:sp>
        <p:nvSpPr>
          <p:cNvPr id="314" name="Google Shape;314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5" name="Google Shape;31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000" y="1061150"/>
            <a:ext cx="4669599" cy="349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3"/>
          <p:cNvSpPr txBox="1"/>
          <p:nvPr/>
        </p:nvSpPr>
        <p:spPr>
          <a:xfrm>
            <a:off x="40225" y="1241525"/>
            <a:ext cx="3771900" cy="29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System and user apps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Android OS API in Java framework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Expose native APIs; run apps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Expose device hardware capabilities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Linux Kernel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 txBox="1"/>
          <p:nvPr>
            <p:ph type="title"/>
          </p:nvPr>
        </p:nvSpPr>
        <p:spPr>
          <a:xfrm>
            <a:off x="263450" y="17887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and user apps</a:t>
            </a:r>
            <a:endParaRPr/>
          </a:p>
        </p:txBody>
      </p:sp>
      <p:sp>
        <p:nvSpPr>
          <p:cNvPr id="322" name="Google Shape;322;p54"/>
          <p:cNvSpPr txBox="1"/>
          <p:nvPr>
            <p:ph idx="1" type="body"/>
          </p:nvPr>
        </p:nvSpPr>
        <p:spPr>
          <a:xfrm>
            <a:off x="374125" y="601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System apps have no special status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System apps provide key capabilities to app developers 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Your app can use a system app to deliver a SMS message. </a:t>
            </a:r>
            <a:endParaRPr/>
          </a:p>
        </p:txBody>
      </p:sp>
      <p:sp>
        <p:nvSpPr>
          <p:cNvPr id="323" name="Google Shape;323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075" y="217850"/>
            <a:ext cx="1997400" cy="149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 txBox="1"/>
          <p:nvPr>
            <p:ph type="title"/>
          </p:nvPr>
        </p:nvSpPr>
        <p:spPr>
          <a:xfrm>
            <a:off x="263450" y="17887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API Framework</a:t>
            </a:r>
            <a:endParaRPr/>
          </a:p>
        </p:txBody>
      </p:sp>
      <p:sp>
        <p:nvSpPr>
          <p:cNvPr id="330" name="Google Shape;330;p5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 entire feature-set of the Android OS is available to you through APIs written in the Java language.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 class hierarchy to create UI screens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Notification manager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Activity manager for life cycles and navigation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type="title"/>
          </p:nvPr>
        </p:nvSpPr>
        <p:spPr>
          <a:xfrm>
            <a:off x="263450" y="17887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runtime</a:t>
            </a:r>
            <a:endParaRPr/>
          </a:p>
        </p:txBody>
      </p:sp>
      <p:sp>
        <p:nvSpPr>
          <p:cNvPr id="337" name="Google Shape;337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Each app runs in its own process with its own instance of the Android Runtime. </a:t>
            </a:r>
            <a:endParaRPr/>
          </a:p>
        </p:txBody>
      </p:sp>
      <p:sp>
        <p:nvSpPr>
          <p:cNvPr id="338" name="Google Shape;338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7"/>
          <p:cNvSpPr txBox="1"/>
          <p:nvPr>
            <p:ph type="title"/>
          </p:nvPr>
        </p:nvSpPr>
        <p:spPr>
          <a:xfrm>
            <a:off x="263450" y="17887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C/C++ libraries</a:t>
            </a:r>
            <a:endParaRPr/>
          </a:p>
        </p:txBody>
      </p:sp>
      <p:sp>
        <p:nvSpPr>
          <p:cNvPr id="344" name="Google Shape;344;p5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Core C/C++ Libraries give access to core native Android system components and services.</a:t>
            </a:r>
            <a:endParaRPr/>
          </a:p>
        </p:txBody>
      </p:sp>
      <p:sp>
        <p:nvSpPr>
          <p:cNvPr id="345" name="Google Shape;345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263450" y="17887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Abstraction Layer (HAL)</a:t>
            </a:r>
            <a:endParaRPr/>
          </a:p>
        </p:txBody>
      </p:sp>
      <p:sp>
        <p:nvSpPr>
          <p:cNvPr id="351" name="Google Shape;351;p5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Standard interfaces that expose device hardware capabilities as libraries</a:t>
            </a:r>
            <a:br>
              <a:rPr lang="en"/>
            </a:br>
            <a:br>
              <a:rPr lang="en"/>
            </a:br>
            <a:r>
              <a:rPr lang="en"/>
              <a:t>Examples: Camera, bluetooth module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9"/>
          <p:cNvSpPr txBox="1"/>
          <p:nvPr>
            <p:ph type="title"/>
          </p:nvPr>
        </p:nvSpPr>
        <p:spPr>
          <a:xfrm>
            <a:off x="263450" y="17887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Kernel</a:t>
            </a:r>
            <a:endParaRPr/>
          </a:p>
        </p:txBody>
      </p:sp>
      <p:sp>
        <p:nvSpPr>
          <p:cNvPr id="358" name="Google Shape;358;p5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Threading and low-level memory management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Security features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Drivers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Older Android versions</a:t>
            </a:r>
            <a:endParaRPr/>
          </a:p>
        </p:txBody>
      </p:sp>
      <p:sp>
        <p:nvSpPr>
          <p:cNvPr id="365" name="Google Shape;365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66" name="Google Shape;366;p60"/>
          <p:cNvGraphicFramePr/>
          <p:nvPr/>
        </p:nvGraphicFramePr>
        <p:xfrm>
          <a:off x="95975" y="117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{00D9F147-92BC-44BF-87BE-5BCBD672F741}</a:tableStyleId>
              </a:tblPr>
              <a:tblGrid>
                <a:gridCol w="2428600"/>
                <a:gridCol w="1317775"/>
                <a:gridCol w="1274750"/>
                <a:gridCol w="1255625"/>
              </a:tblGrid>
              <a:tr h="5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Codename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Version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Released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API Level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5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Honeycomb</a:t>
                      </a:r>
                      <a:endParaRPr b="1" i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3.0 - 3.2.6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Feb 2011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11 - 13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Ice Cream Sandwich</a:t>
                      </a:r>
                      <a:endParaRPr b="1" i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4.0 - 4.0.4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Oct 2011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14 - 15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Jelly Bean</a:t>
                      </a:r>
                      <a:endParaRPr b="1" i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4.1 - 4.3.1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July 2012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16 - 18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KitKat</a:t>
                      </a:r>
                      <a:endParaRPr b="1" i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4.4 - 4.4.4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Oct 2013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19 - 20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5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Lollipop</a:t>
                      </a:r>
                      <a:endParaRPr b="1" i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5.0 - 5.1.1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Nov 2014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21 - 22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7" name="Google Shape;367;p60"/>
          <p:cNvSpPr txBox="1"/>
          <p:nvPr/>
        </p:nvSpPr>
        <p:spPr>
          <a:xfrm>
            <a:off x="6471675" y="3154750"/>
            <a:ext cx="2463300" cy="14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Android History</a:t>
            </a:r>
            <a:r>
              <a:rPr lang="en" sz="1800"/>
              <a:t> and 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Platform Versions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for more and earlier versions before 2011</a:t>
            </a:r>
            <a:endParaRPr sz="1800"/>
          </a:p>
        </p:txBody>
      </p:sp>
      <p:pic>
        <p:nvPicPr>
          <p:cNvPr id="368" name="Google Shape;36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2929" y="170821"/>
            <a:ext cx="3002046" cy="708275"/>
          </a:xfrm>
          <a:prstGeom prst="rect">
            <a:avLst/>
          </a:prstGeom>
          <a:noFill/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Newer </a:t>
            </a:r>
            <a:r>
              <a:rPr lang="en"/>
              <a:t>Android versions</a:t>
            </a:r>
            <a:endParaRPr/>
          </a:p>
        </p:txBody>
      </p:sp>
      <p:sp>
        <p:nvSpPr>
          <p:cNvPr id="374" name="Google Shape;374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75" name="Google Shape;375;p61"/>
          <p:cNvGraphicFramePr/>
          <p:nvPr/>
        </p:nvGraphicFramePr>
        <p:xfrm>
          <a:off x="553175" y="116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{00D9F147-92BC-44BF-87BE-5BCBD672F741}</a:tableStyleId>
              </a:tblPr>
              <a:tblGrid>
                <a:gridCol w="3100425"/>
                <a:gridCol w="1682300"/>
                <a:gridCol w="1627375"/>
                <a:gridCol w="1602975"/>
              </a:tblGrid>
              <a:tr h="6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Codename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Version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Released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API Level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6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Marshmallow</a:t>
                      </a:r>
                      <a:endParaRPr b="1" i="1" sz="1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6.0 - 6.0.1</a:t>
                      </a:r>
                      <a:endParaRPr sz="1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Oct 2015</a:t>
                      </a:r>
                      <a:endParaRPr sz="1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23</a:t>
                      </a:r>
                      <a:endParaRPr sz="1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Nougat</a:t>
                      </a:r>
                      <a:endParaRPr b="1" i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7.0 - 7.1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Sept 2016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24 - 25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Oreo</a:t>
                      </a:r>
                      <a:endParaRPr b="1" i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8</a:t>
                      </a:r>
                      <a:r>
                        <a:rPr lang="en" sz="1800"/>
                        <a:t>.0 - 8.1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Sept 2017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26 - 27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800"/>
                        <a:t>Pie</a:t>
                      </a:r>
                      <a:endParaRPr b="1" i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9.0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Aug 2018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28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76" name="Google Shape;37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929" y="170821"/>
            <a:ext cx="3002046" cy="708275"/>
          </a:xfrm>
          <a:prstGeom prst="rect">
            <a:avLst/>
          </a:prstGeom>
          <a:noFill/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2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Development </a:t>
            </a:r>
            <a:endParaRPr/>
          </a:p>
        </p:txBody>
      </p:sp>
      <p:sp>
        <p:nvSpPr>
          <p:cNvPr id="382" name="Google Shape;382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 is an Android app?</a:t>
            </a:r>
            <a:endParaRPr/>
          </a:p>
        </p:txBody>
      </p:sp>
      <p:sp>
        <p:nvSpPr>
          <p:cNvPr id="388" name="Google Shape;388;p6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One or more interactive screens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Written using </a:t>
            </a:r>
            <a:r>
              <a:rPr lang="en" u="sng">
                <a:solidFill>
                  <a:schemeClr val="hlink"/>
                </a:solidFill>
                <a:hlinkClick r:id="rId3"/>
              </a:rPr>
              <a:t>Java Programming Language</a:t>
            </a:r>
            <a:r>
              <a:rPr lang="en"/>
              <a:t> and </a:t>
            </a:r>
            <a:r>
              <a:rPr lang="en" u="sng">
                <a:solidFill>
                  <a:schemeClr val="hlink"/>
                </a:solidFill>
                <a:hlinkClick r:id="rId4"/>
              </a:rPr>
              <a:t>XML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Uses the Android Software Development Kit (SDK)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Uses Android libraries and Android Application Framework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Executed by Android Runtime Virtual machine (ART)</a:t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389" name="Google Shape;389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Challenges of Android development</a:t>
            </a:r>
            <a:endParaRPr/>
          </a:p>
        </p:txBody>
      </p:sp>
      <p:sp>
        <p:nvSpPr>
          <p:cNvPr id="395" name="Google Shape;395;p64"/>
          <p:cNvSpPr txBox="1"/>
          <p:nvPr>
            <p:ph idx="1" type="body"/>
          </p:nvPr>
        </p:nvSpPr>
        <p:spPr>
          <a:xfrm>
            <a:off x="311700" y="122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Multiple screen sizes and resolutions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Performance</a:t>
            </a:r>
            <a:r>
              <a:rPr lang="en"/>
              <a:t>: </a:t>
            </a:r>
            <a:r>
              <a:rPr lang="en"/>
              <a:t>make your apps responsive and smooth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Security: keep source code and user data safe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Compatibility: run well on older platform versions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Marketing: understand the market and your users </a:t>
            </a:r>
            <a:br>
              <a:rPr lang="en"/>
            </a:br>
            <a:r>
              <a:rPr lang="en"/>
              <a:t>(Hint: It doesn't have to be expensive, but it can be.)</a:t>
            </a:r>
            <a:endParaRPr/>
          </a:p>
        </p:txBody>
      </p:sp>
      <p:sp>
        <p:nvSpPr>
          <p:cNvPr id="396" name="Google Shape;396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App building blocks</a:t>
            </a:r>
            <a:endParaRPr/>
          </a:p>
        </p:txBody>
      </p:sp>
      <p:sp>
        <p:nvSpPr>
          <p:cNvPr id="402" name="Google Shape;402;p65"/>
          <p:cNvSpPr txBox="1"/>
          <p:nvPr>
            <p:ph idx="1" type="body"/>
          </p:nvPr>
        </p:nvSpPr>
        <p:spPr>
          <a:xfrm>
            <a:off x="311700" y="1253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Resources: layouts, images, strings, colors as XML and media files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Components: activities, services, and helper classes as Java code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Manifest: information about app for the runtime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Build configuration: APK versions in Gradle config files</a:t>
            </a:r>
            <a:endParaRPr/>
          </a:p>
        </p:txBody>
      </p:sp>
      <p:sp>
        <p:nvSpPr>
          <p:cNvPr id="403" name="Google Shape;403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409" name="Google Shape;409;p66"/>
          <p:cNvSpPr txBox="1"/>
          <p:nvPr>
            <p:ph idx="1" type="body"/>
          </p:nvPr>
        </p:nvSpPr>
        <p:spPr>
          <a:xfrm>
            <a:off x="311700" y="1154088"/>
            <a:ext cx="8520600" cy="34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History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Introduction to Android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Platform Architecture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UI Overview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Platform Versions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Supporting Different Platform Versions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Android Studio User’s Guide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410" name="Google Shape;410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16" name="Google Shape;416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67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1.0 Introduction to Android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No Practical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23" name="Google Shape;423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