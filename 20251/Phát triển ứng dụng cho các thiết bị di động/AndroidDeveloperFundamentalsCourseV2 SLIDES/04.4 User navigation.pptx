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2" r:id="rId3"/>
    <p:sldMasterId id="2147483733" r:id="rId4"/>
    <p:sldMasterId id="2147483734" r:id="rId5"/>
    <p:sldMasterId id="2147483735" r:id="rId6"/>
    <p:sldMasterId id="2147483736" r:id="rId7"/>
    <p:sldMasterId id="2147483737" r:id="rId8"/>
    <p:sldMasterId id="2147483738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</p:sldIdLst>
  <p:sldSz cy="5143500" cx="9144000"/>
  <p:notesSz cx="6858000" cy="9144000"/>
  <p:embeddedFontLst>
    <p:embeddedFont>
      <p:font typeface="Roboto"/>
      <p:regular r:id="rId49"/>
      <p:bold r:id="rId50"/>
      <p:italic r:id="rId51"/>
      <p:boldItalic r:id="rId52"/>
    </p:embeddedFont>
    <p:embeddedFont>
      <p:font typeface="Open Sans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9" Type="http://schemas.openxmlformats.org/officeDocument/2006/relationships/font" Target="fonts/Roboto-regular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slide" Target="slides/slide21.xml"/><Relationship Id="rId30" Type="http://schemas.openxmlformats.org/officeDocument/2006/relationships/slide" Target="slides/slide20.xml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slide" Target="slides/slide14.xml"/><Relationship Id="rId23" Type="http://schemas.openxmlformats.org/officeDocument/2006/relationships/slide" Target="slides/slide13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font" Target="fonts/Roboto-italic.fntdata"/><Relationship Id="rId50" Type="http://schemas.openxmlformats.org/officeDocument/2006/relationships/font" Target="fonts/Roboto-bold.fntdata"/><Relationship Id="rId53" Type="http://schemas.openxmlformats.org/officeDocument/2006/relationships/font" Target="fonts/OpenSans-regular.fntdata"/><Relationship Id="rId52" Type="http://schemas.openxmlformats.org/officeDocument/2006/relationships/font" Target="fonts/Roboto-boldItalic.fntdata"/><Relationship Id="rId11" Type="http://schemas.openxmlformats.org/officeDocument/2006/relationships/slide" Target="slides/slide1.xml"/><Relationship Id="rId55" Type="http://schemas.openxmlformats.org/officeDocument/2006/relationships/font" Target="fonts/OpenSans-italic.fntdata"/><Relationship Id="rId10" Type="http://schemas.openxmlformats.org/officeDocument/2006/relationships/notesMaster" Target="notesMasters/notesMaster1.xml"/><Relationship Id="rId54" Type="http://schemas.openxmlformats.org/officeDocument/2006/relationships/font" Target="fonts/OpenSans-bold.fntdata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56" Type="http://schemas.openxmlformats.org/officeDocument/2006/relationships/font" Target="fonts/OpenSans-boldItalic.fntdata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5c6e85b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5c6e85b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18568e4473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18568e447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195ee60c1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195ee60c1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 is left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16e4ee7f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16e4ee7f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116e4ee7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116e4ee7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15c6e85b7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15c6e85b7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8568e4473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18568e4473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5c6e85b73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5c6e85b73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15ca91b8eb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15ca91b8eb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16d0b946b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16d0b946b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5ca91b8eb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5ca91b8eb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6d0b946bb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16d0b946bb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8568e4473_0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8568e4473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18568e4473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18568e4473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5ca91b8eb_1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15ca91b8eb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16d0b946bb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16d0b946bb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16d0b946bb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16d0b946bb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16d0b946b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3" name="Google Shape;663;g16d0b946b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16d0b946b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0" name="Google Shape;670;g16d0b946b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000"/>
              <a:buAutoNum type="arabicPeriod"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0e1d5ca4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30e1d5ca4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16d0b946bb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16d0b946bb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16d2562266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16d2562266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6d256226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6d256226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1662f121e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1662f121e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662f121e2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1662f121e2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1662f121e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1662f121e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1662f121e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1662f121e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662f121e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662f121e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1662f121e2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1662f121e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18568e4473_0_5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18568e4473_0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18568e4473_0_5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18568e4473_0_5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18568e447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18568e447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18568e4473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18568e4473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8568e4473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18568e4473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18568e44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18568e44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18568e447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18568e447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18568e447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18568e447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image" Target="../media/image14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://creativecommons.org/licenses/by-nc/4.0/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Relationship Id="rId3" Type="http://schemas.openxmlformats.org/officeDocument/2006/relationships/image" Target="../media/image14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hyperlink" Target="http://creativecommons.org/licenses/by-nc/4.0/" TargetMode="Externa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3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16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2"/>
          <p:cNvSpPr txBox="1"/>
          <p:nvPr>
            <p:ph idx="1" type="subTitle"/>
          </p:nvPr>
        </p:nvSpPr>
        <p:spPr>
          <a:xfrm>
            <a:off x="265500" y="3497911"/>
            <a:ext cx="4045200" cy="98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2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" name="Google Shape;83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" name="Google Shape;87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/>
          <p:nvPr/>
        </p:nvSpPr>
        <p:spPr>
          <a:xfrm>
            <a:off x="4566725" y="-125"/>
            <a:ext cx="45774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4" name="Google Shape;12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8" name="Google Shape;12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30" name="Google Shape;1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5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7" name="Google Shape;147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8" name="Google Shape;148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1" name="Google Shape;151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5" name="Google Shape;155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9" name="Google Shape;159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0" name="Google Shape;160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5" name="Google Shape;165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9" name="Google Shape;169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0" name="Google Shape;170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3" name="Google Shape;173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175" name="Google Shape;17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7" name="Google Shape;177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8" name="Google Shape;178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5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Interaction and Intuitive Navigation - Lesson 4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3" name="Google Shape;183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89" name="Google Shape;18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3" name="Google Shape;193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4" name="Google Shape;194;p38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95" name="Google Shape;1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2229275" y="4761375"/>
            <a:ext cx="23772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38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38"/>
          <p:cNvSpPr txBox="1"/>
          <p:nvPr/>
        </p:nvSpPr>
        <p:spPr>
          <a:xfrm>
            <a:off x="44072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0" name="Google Shape;200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" name="Google Shape;215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6" name="Google Shape;216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9" name="Google Shape;219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3" name="Google Shape;223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4" name="Google Shape;224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7" name="Google Shape;227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8" name="Google Shape;228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7" name="Google Shape;237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8" name="Google Shape;238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1" name="Google Shape;241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8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5" name="Google Shape;245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6" name="Google Shape;246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7" name="Google Shape;247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50" name="Google Shape;250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3" name="Google Shape;253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4" name="Google Shape;254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6" name="Google Shape;256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57" name="Google Shape;25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51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5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62" name="Google Shape;262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3" name="Google Shape;263;p51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4" name="Google Shape;264;p51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65" name="Google Shape;26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5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79" name="Google Shape;279;p5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0" name="Google Shape;280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3" name="Google Shape;283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" name="Google Shape;287;p5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88" name="Google Shape;288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1" name="Google Shape;291;p5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2" name="Google Shape;292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3" name="Google Shape;293;p5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7" name="Google Shape;297;p5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1" name="Google Shape;301;p5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5" name="Google Shape;305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6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9" name="Google Shape;309;p6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0" name="Google Shape;310;p6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1" name="Google Shape;311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6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14" name="Google Shape;314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6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7" name="Google Shape;317;p6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8" name="Google Shape;318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20" name="Google Shape;320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2" name="Google Shape;322;p64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64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4" name="Google Shape;324;p64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5" name="Google Shape;325;p64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326" name="Google Shape;32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64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8" name="Google Shape;328;p64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67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4" name="Google Shape;344;p67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5" name="Google Shape;345;p6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68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8" name="Google Shape;348;p6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2" name="Google Shape;352;p6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353" name="Google Shape;353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0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6" name="Google Shape;356;p70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7" name="Google Shape;357;p7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7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7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7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7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7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7" name="Google Shape;367;p7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0" name="Google Shape;370;p7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4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7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74" name="Google Shape;374;p7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5" name="Google Shape;375;p7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6" name="Google Shape;376;p7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5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79" name="Google Shape;379;p7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82" name="Google Shape;382;p7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3" name="Google Shape;383;p7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85" name="Google Shape;385;p7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386" name="Google Shape;386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77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7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77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77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1" name="Google Shape;391;p77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2" name="Google Shape;392;p77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3" name="Google Shape;393;p77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394" name="Google Shape;394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77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77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7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80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11" name="Google Shape;411;p80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2" name="Google Shape;412;p8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81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5" name="Google Shape;415;p8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8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8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9" name="Google Shape;419;p82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420" name="Google Shape;420;p8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83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3" name="Google Shape;423;p83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4" name="Google Shape;424;p8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8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8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8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9" name="Google Shape;429;p8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8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8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3" name="Google Shape;433;p8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4" name="Google Shape;434;p8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8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7" name="Google Shape;437;p8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8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8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1" name="Google Shape;441;p8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2" name="Google Shape;442;p8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3" name="Google Shape;443;p8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88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6" name="Google Shape;446;p8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9" name="Google Shape;449;p8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0" name="Google Shape;450;p8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452" name="Google Shape;452;p9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453" name="Google Shape;453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9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5" name="Google Shape;455;p90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6" name="Google Shape;456;p90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7" name="Google Shape;457;p90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8" name="Google Shape;458;p90"/>
          <p:cNvSpPr txBox="1"/>
          <p:nvPr>
            <p:ph idx="3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90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60" name="Google Shape;460;p90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90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2" name="Google Shape;462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90"/>
          <p:cNvSpPr txBox="1"/>
          <p:nvPr/>
        </p:nvSpPr>
        <p:spPr>
          <a:xfrm>
            <a:off x="4421125" y="4759225"/>
            <a:ext cx="115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Activities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9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14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image" Target="../media/image14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6" Type="http://schemas.openxmlformats.org/officeDocument/2006/relationships/theme" Target="../theme/theme6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69.xml"/><Relationship Id="rId1" Type="http://schemas.openxmlformats.org/officeDocument/2006/relationships/image" Target="../media/image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1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4.xml"/><Relationship Id="rId8" Type="http://schemas.openxmlformats.org/officeDocument/2006/relationships/slideLayout" Target="../slideLayouts/slideLayout65.xml"/></Relationships>
</file>

<file path=ppt/slideMasters/_rels/slideMaster7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0.xml"/><Relationship Id="rId10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1.xml"/><Relationship Id="rId1" Type="http://schemas.openxmlformats.org/officeDocument/2006/relationships/image" Target="../media/image5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Relationship Id="rId15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3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74.xml"/><Relationship Id="rId6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6.xml"/><Relationship Id="rId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</a:t>
            </a: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2" name="Google Shape;72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5" name="Google Shape;75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44072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36" name="Google Shape;136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39" name="Google Shape;139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7"/>
          <p:cNvSpPr txBox="1"/>
          <p:nvPr/>
        </p:nvSpPr>
        <p:spPr>
          <a:xfrm>
            <a:off x="2305475" y="4761375"/>
            <a:ext cx="23274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44834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4" name="Google Shape;14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4" name="Google Shape;204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" name="Google Shape;20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7" name="Google Shape;207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40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0" name="Google Shape;210;p40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1" name="Google Shape;211;p40"/>
          <p:cNvSpPr txBox="1"/>
          <p:nvPr/>
        </p:nvSpPr>
        <p:spPr>
          <a:xfrm>
            <a:off x="44072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2" name="Google Shape;21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71" name="Google Shape;271;p5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73" name="Google Shape;273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74" name="Google Shape;274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5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3"/>
          <p:cNvSpPr txBox="1"/>
          <p:nvPr/>
        </p:nvSpPr>
        <p:spPr>
          <a:xfrm>
            <a:off x="23054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332" name="Google Shape;332;p6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4" name="Google Shape;334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5" name="Google Shape;335;p66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66"/>
          <p:cNvSpPr txBox="1"/>
          <p:nvPr/>
        </p:nvSpPr>
        <p:spPr>
          <a:xfrm>
            <a:off x="2381682" y="4761375"/>
            <a:ext cx="21327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8" name="Google Shape;338;p66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66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66"/>
          <p:cNvSpPr txBox="1"/>
          <p:nvPr/>
        </p:nvSpPr>
        <p:spPr>
          <a:xfrm>
            <a:off x="44072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1" name="Google Shape;341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400" name="Google Shape;400;p79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7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03" name="Google Shape;403;p79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7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79"/>
          <p:cNvSpPr txBox="1"/>
          <p:nvPr/>
        </p:nvSpPr>
        <p:spPr>
          <a:xfrm>
            <a:off x="2305475" y="4761375"/>
            <a:ext cx="2287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6" name="Google Shape;406;p79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7" name="Google Shape;407;p79"/>
          <p:cNvSpPr txBox="1"/>
          <p:nvPr/>
        </p:nvSpPr>
        <p:spPr>
          <a:xfrm>
            <a:off x="4407225" y="4749125"/>
            <a:ext cx="12876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User navigation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08" name="Google Shape;40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eveloper.android.com/reference/android/support/v4/widget/DrawerLayout.html" TargetMode="External"/><Relationship Id="rId4" Type="http://schemas.openxmlformats.org/officeDocument/2006/relationships/hyperlink" Target="https://developer.android.com/reference/android/support/design/widget/NavigationView.html" TargetMode="External"/><Relationship Id="rId5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eveloper.android.com/reference/android/support/v7/widget/RecyclerView.html" TargetMode="External"/><Relationship Id="rId4" Type="http://schemas.openxmlformats.org/officeDocument/2006/relationships/hyperlink" Target="https://developer.android.com/reference/android/widget/GridView.html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developer.android.com/reference/android/support/design/widget/TabLayout.html" TargetMode="External"/><Relationship Id="rId4" Type="http://schemas.openxmlformats.org/officeDocument/2006/relationships/hyperlink" Target="https://developer.android.com/reference/android/support/v4/app/FragmentPagerAdapter.html" TargetMode="External"/><Relationship Id="rId5" Type="http://schemas.openxmlformats.org/officeDocument/2006/relationships/hyperlink" Target="https://developer.android.com/reference/android/support/v4/app/FragmentStatePagerAdapter.html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eveloper.android.com/design/patterns/navigation.html" TargetMode="External"/><Relationship Id="rId4" Type="http://schemas.openxmlformats.org/officeDocument/2006/relationships/hyperlink" Target="https://developer.android.com/training/design-navigation/index.html" TargetMode="External"/><Relationship Id="rId5" Type="http://schemas.openxmlformats.org/officeDocument/2006/relationships/hyperlink" Target="https://developer.android.com/training/implementing-navigation/nav-drawer.html" TargetMode="External"/><Relationship Id="rId6" Type="http://schemas.openxmlformats.org/officeDocument/2006/relationships/hyperlink" Target="https://developer.android.com/training/implementing-navigation/lateral.html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google-developer-training.github.io/android-developer-fundamentals-course-concepts-v2/unit-2-user-experience/lesson-4-user-interaction/4-4-c-user-navigation/4-4-c-user-navigation.html" TargetMode="External"/><Relationship Id="rId4" Type="http://schemas.openxmlformats.org/officeDocument/2006/relationships/hyperlink" Target="https://codelabs.developers.google.com/codelabs/android-training-provide-user-navigation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9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1" name="Google Shape;471;p9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2" name="Google Shape;472;p92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3" name="Google Shape;473;p92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474" name="Google Shape;474;p9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4</a:t>
            </a:r>
            <a:endParaRPr/>
          </a:p>
        </p:txBody>
      </p:sp>
      <p:sp>
        <p:nvSpPr>
          <p:cNvPr id="475" name="Google Shape;475;p92"/>
          <p:cNvSpPr txBox="1"/>
          <p:nvPr/>
        </p:nvSpPr>
        <p:spPr>
          <a:xfrm>
            <a:off x="265500" y="1002075"/>
            <a:ext cx="4045200" cy="1782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2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User Interaction </a:t>
            </a:r>
            <a:endParaRPr b="1" sz="42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93"/>
          <p:cNvSpPr txBox="1"/>
          <p:nvPr>
            <p:ph type="ctrTitle"/>
          </p:nvPr>
        </p:nvSpPr>
        <p:spPr>
          <a:xfrm>
            <a:off x="311700" y="1950996"/>
            <a:ext cx="85206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4.4 User navigation</a:t>
            </a:r>
            <a:endParaRPr/>
          </a:p>
        </p:txBody>
      </p:sp>
      <p:sp>
        <p:nvSpPr>
          <p:cNvPr id="481" name="Google Shape;481;p9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9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7" name="Google Shape;487;p94"/>
          <p:cNvSpPr txBox="1"/>
          <p:nvPr>
            <p:ph idx="1" type="body"/>
          </p:nvPr>
        </p:nvSpPr>
        <p:spPr>
          <a:xfrm>
            <a:off x="311700" y="923875"/>
            <a:ext cx="8398800" cy="36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Back navigation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Hierarchical navigation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Up navigation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Descendant navigation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Navigation drawer for descendant navigation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Lists and carousels for descendant navigation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Ancestral navigation</a:t>
            </a:r>
            <a:endParaRPr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>
                <a:solidFill>
                  <a:schemeClr val="dk1"/>
                </a:solidFill>
              </a:rPr>
              <a:t>Lateral navigation</a:t>
            </a:r>
            <a:endParaRPr/>
          </a:p>
        </p:txBody>
      </p:sp>
      <p:sp>
        <p:nvSpPr>
          <p:cNvPr id="488" name="Google Shape;488;p9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9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forms of navigation</a:t>
            </a:r>
            <a:endParaRPr/>
          </a:p>
        </p:txBody>
      </p:sp>
      <p:sp>
        <p:nvSpPr>
          <p:cNvPr id="494" name="Google Shape;494;p95"/>
          <p:cNvSpPr txBox="1"/>
          <p:nvPr>
            <p:ph idx="1" type="body"/>
          </p:nvPr>
        </p:nvSpPr>
        <p:spPr>
          <a:xfrm>
            <a:off x="783775" y="1076275"/>
            <a:ext cx="804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Back (temporal) navigation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</a:t>
            </a:r>
            <a:r>
              <a:rPr lang="en" sz="2400">
                <a:solidFill>
                  <a:schemeClr val="dk1"/>
                </a:solidFill>
              </a:rPr>
              <a:t>rovided by the device's </a:t>
            </a:r>
            <a:r>
              <a:rPr lang="en">
                <a:solidFill>
                  <a:schemeClr val="dk1"/>
                </a:solidFill>
              </a:rPr>
              <a:t>B</a:t>
            </a:r>
            <a:r>
              <a:rPr lang="en" sz="2400">
                <a:solidFill>
                  <a:schemeClr val="dk1"/>
                </a:solidFill>
              </a:rPr>
              <a:t>ack button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 sz="2400">
                <a:solidFill>
                  <a:schemeClr val="dk1"/>
                </a:solidFill>
              </a:rPr>
              <a:t>ontrolled by the Android system back stack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Ancestral (Up) navigation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Up button provided in app bar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Controlled by defining parent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for child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in the AndroidManifest.xml</a:t>
            </a:r>
            <a:endParaRPr/>
          </a:p>
        </p:txBody>
      </p:sp>
      <p:sp>
        <p:nvSpPr>
          <p:cNvPr id="495" name="Google Shape;495;p9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6" name="Google Shape;496;p95"/>
          <p:cNvPicPr preferRelativeResize="0"/>
          <p:nvPr/>
        </p:nvPicPr>
        <p:blipFill rotWithShape="1">
          <a:blip r:embed="rId3">
            <a:alphaModFix/>
          </a:blip>
          <a:srcRect b="9804" l="0" r="0" t="0"/>
          <a:stretch/>
        </p:blipFill>
        <p:spPr>
          <a:xfrm>
            <a:off x="271175" y="2815500"/>
            <a:ext cx="436400" cy="3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95"/>
          <p:cNvPicPr preferRelativeResize="0"/>
          <p:nvPr/>
        </p:nvPicPr>
        <p:blipFill rotWithShape="1">
          <a:blip r:embed="rId4">
            <a:alphaModFix/>
          </a:blip>
          <a:srcRect b="24421" l="18187" r="74313" t="24646"/>
          <a:stretch/>
        </p:blipFill>
        <p:spPr>
          <a:xfrm>
            <a:off x="271175" y="1240535"/>
            <a:ext cx="436401" cy="38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9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 Navigation</a:t>
            </a:r>
            <a:endParaRPr/>
          </a:p>
        </p:txBody>
      </p:sp>
      <p:sp>
        <p:nvSpPr>
          <p:cNvPr id="503" name="Google Shape;503;p9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9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9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9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Navigation through history of screens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1" name="Google Shape;511;p9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2" name="Google Shape;512;p97"/>
          <p:cNvSpPr txBox="1"/>
          <p:nvPr>
            <p:ph idx="1" type="body"/>
          </p:nvPr>
        </p:nvSpPr>
        <p:spPr>
          <a:xfrm>
            <a:off x="311700" y="1076275"/>
            <a:ext cx="517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Historys starts</a:t>
            </a:r>
            <a:r>
              <a:rPr lang="en"/>
              <a:t> from Launcher</a:t>
            </a:r>
            <a:endParaRPr/>
          </a:p>
          <a:p>
            <a:pPr indent="-381000" lvl="0" marL="457200" rtl="0" algn="l">
              <a:spcBef>
                <a:spcPts val="15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User clicks the Back         button to navigate to previous screens in reverse order</a:t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513" name="Google Shape;51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1775" y="1227000"/>
            <a:ext cx="25908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97"/>
          <p:cNvPicPr preferRelativeResize="0"/>
          <p:nvPr/>
        </p:nvPicPr>
        <p:blipFill rotWithShape="1">
          <a:blip r:embed="rId4">
            <a:alphaModFix/>
          </a:blip>
          <a:srcRect b="24421" l="18187" r="74313" t="24646"/>
          <a:stretch/>
        </p:blipFill>
        <p:spPr>
          <a:xfrm>
            <a:off x="3697777" y="1872610"/>
            <a:ext cx="436401" cy="38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9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Changing Back     button behavior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0" name="Google Shape;520;p9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1" name="Google Shape;521;p98"/>
          <p:cNvSpPr txBox="1"/>
          <p:nvPr>
            <p:ph idx="1" type="body"/>
          </p:nvPr>
        </p:nvSpPr>
        <p:spPr>
          <a:xfrm>
            <a:off x="311700" y="1076275"/>
            <a:ext cx="870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Android system manages the back stack and Back button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If in doubt, don't change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Only override, if necessary to satisfy user expectation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example: In an embedded browser, trigger browser's default back behavior when user presses device Back button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522" name="Google Shape;522;p98"/>
          <p:cNvPicPr preferRelativeResize="0"/>
          <p:nvPr/>
        </p:nvPicPr>
        <p:blipFill rotWithShape="1">
          <a:blip r:embed="rId3">
            <a:alphaModFix/>
          </a:blip>
          <a:srcRect b="24421" l="18187" r="74313" t="24646"/>
          <a:stretch/>
        </p:blipFill>
        <p:spPr>
          <a:xfrm>
            <a:off x="3828725" y="353860"/>
            <a:ext cx="436401" cy="389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9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Overriding onBackPressed()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28" name="Google Shape;528;p9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9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onBackPressed()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Add the Back key handler here.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return;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10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Hierarchical Navigation </a:t>
            </a:r>
            <a:endParaRPr/>
          </a:p>
        </p:txBody>
      </p:sp>
      <p:sp>
        <p:nvSpPr>
          <p:cNvPr id="535" name="Google Shape;535;p10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6" name="Google Shape;536;p10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0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0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Hierarchical navigation patterns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43" name="Google Shape;543;p10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4" name="Google Shape;544;p101"/>
          <p:cNvSpPr txBox="1"/>
          <p:nvPr>
            <p:ph idx="1" type="body"/>
          </p:nvPr>
        </p:nvSpPr>
        <p:spPr>
          <a:xfrm>
            <a:off x="311700" y="1076275"/>
            <a:ext cx="8520600" cy="333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Parent screen</a:t>
            </a:r>
            <a:r>
              <a:rPr lang="en"/>
              <a:t>—Screen that enables navigation down to child screens, such as home screen and main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Collection sibling</a:t>
            </a:r>
            <a:r>
              <a:rPr lang="en"/>
              <a:t>—Screen enabling navigation to a collection of child screens, such as a list of headlines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Section sibling</a:t>
            </a:r>
            <a:r>
              <a:rPr lang="en"/>
              <a:t>—Screen with content, such as a story</a:t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02"/>
          <p:cNvSpPr/>
          <p:nvPr/>
        </p:nvSpPr>
        <p:spPr>
          <a:xfrm>
            <a:off x="5051050" y="1902650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Stories</a:t>
            </a:r>
            <a:endParaRPr/>
          </a:p>
        </p:txBody>
      </p:sp>
      <p:sp>
        <p:nvSpPr>
          <p:cNvPr id="550" name="Google Shape;550;p10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Example of a screen hierarchy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51" name="Google Shape;551;p10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2" name="Google Shape;552;p102"/>
          <p:cNvSpPr txBox="1"/>
          <p:nvPr>
            <p:ph idx="1" type="body"/>
          </p:nvPr>
        </p:nvSpPr>
        <p:spPr>
          <a:xfrm>
            <a:off x="140900" y="1139900"/>
            <a:ext cx="4516800" cy="34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Parent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Children: collection siblings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Children: section siblings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for parent screen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Use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or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000">
                <a:solidFill>
                  <a:schemeClr val="dk1"/>
                </a:solidFill>
              </a:rPr>
              <a:t> for children screens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53" name="Google Shape;553;p102"/>
          <p:cNvSpPr/>
          <p:nvPr/>
        </p:nvSpPr>
        <p:spPr>
          <a:xfrm>
            <a:off x="5093300" y="22689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554" name="Google Shape;554;p102"/>
          <p:cNvSpPr/>
          <p:nvPr/>
        </p:nvSpPr>
        <p:spPr>
          <a:xfrm>
            <a:off x="5093300" y="25155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55" name="Google Shape;555;p102"/>
          <p:cNvSpPr/>
          <p:nvPr/>
        </p:nvSpPr>
        <p:spPr>
          <a:xfrm>
            <a:off x="5093300" y="27621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56" name="Google Shape;556;p102"/>
          <p:cNvSpPr/>
          <p:nvPr/>
        </p:nvSpPr>
        <p:spPr>
          <a:xfrm>
            <a:off x="5093300" y="30087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57" name="Google Shape;557;p102"/>
          <p:cNvSpPr/>
          <p:nvPr/>
        </p:nvSpPr>
        <p:spPr>
          <a:xfrm>
            <a:off x="6544100" y="1382950"/>
            <a:ext cx="1059300" cy="246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News App</a:t>
            </a:r>
            <a:endParaRPr/>
          </a:p>
        </p:txBody>
      </p:sp>
      <p:sp>
        <p:nvSpPr>
          <p:cNvPr id="558" name="Google Shape;558;p102"/>
          <p:cNvSpPr/>
          <p:nvPr/>
        </p:nvSpPr>
        <p:spPr>
          <a:xfrm>
            <a:off x="5093300" y="3853425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559" name="Google Shape;559;p102"/>
          <p:cNvSpPr/>
          <p:nvPr/>
        </p:nvSpPr>
        <p:spPr>
          <a:xfrm>
            <a:off x="5886775" y="3853425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560" name="Google Shape;560;p102"/>
          <p:cNvSpPr/>
          <p:nvPr/>
        </p:nvSpPr>
        <p:spPr>
          <a:xfrm>
            <a:off x="6680250" y="3853425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561" name="Google Shape;561;p102"/>
          <p:cNvSpPr/>
          <p:nvPr/>
        </p:nvSpPr>
        <p:spPr>
          <a:xfrm>
            <a:off x="6457400" y="1902650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News</a:t>
            </a:r>
            <a:endParaRPr/>
          </a:p>
        </p:txBody>
      </p:sp>
      <p:sp>
        <p:nvSpPr>
          <p:cNvPr id="562" name="Google Shape;562;p102"/>
          <p:cNvSpPr/>
          <p:nvPr/>
        </p:nvSpPr>
        <p:spPr>
          <a:xfrm>
            <a:off x="6499650" y="22689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563" name="Google Shape;563;p102"/>
          <p:cNvSpPr/>
          <p:nvPr/>
        </p:nvSpPr>
        <p:spPr>
          <a:xfrm>
            <a:off x="6499650" y="25155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64" name="Google Shape;564;p102"/>
          <p:cNvSpPr/>
          <p:nvPr/>
        </p:nvSpPr>
        <p:spPr>
          <a:xfrm>
            <a:off x="6499650" y="27621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65" name="Google Shape;565;p102"/>
          <p:cNvSpPr/>
          <p:nvPr/>
        </p:nvSpPr>
        <p:spPr>
          <a:xfrm>
            <a:off x="6499650" y="3008775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66" name="Google Shape;566;p102"/>
          <p:cNvSpPr/>
          <p:nvPr/>
        </p:nvSpPr>
        <p:spPr>
          <a:xfrm>
            <a:off x="7863750" y="1902650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Cooking</a:t>
            </a:r>
            <a:endParaRPr/>
          </a:p>
        </p:txBody>
      </p:sp>
      <p:sp>
        <p:nvSpPr>
          <p:cNvPr id="567" name="Google Shape;567;p102"/>
          <p:cNvSpPr/>
          <p:nvPr/>
        </p:nvSpPr>
        <p:spPr>
          <a:xfrm>
            <a:off x="7906000" y="2235650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568" name="Google Shape;568;p102"/>
          <p:cNvSpPr/>
          <p:nvPr/>
        </p:nvSpPr>
        <p:spPr>
          <a:xfrm>
            <a:off x="7906000" y="2482250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69" name="Google Shape;569;p102"/>
          <p:cNvSpPr/>
          <p:nvPr/>
        </p:nvSpPr>
        <p:spPr>
          <a:xfrm>
            <a:off x="7906000" y="2728850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570" name="Google Shape;570;p102"/>
          <p:cNvSpPr/>
          <p:nvPr/>
        </p:nvSpPr>
        <p:spPr>
          <a:xfrm>
            <a:off x="7906000" y="2975450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cxnSp>
        <p:nvCxnSpPr>
          <p:cNvPr id="571" name="Google Shape;571;p102"/>
          <p:cNvCxnSpPr>
            <a:stCxn id="557" idx="2"/>
            <a:endCxn id="549" idx="0"/>
          </p:cNvCxnSpPr>
          <p:nvPr/>
        </p:nvCxnSpPr>
        <p:spPr>
          <a:xfrm rot="5400000">
            <a:off x="6234050" y="1062850"/>
            <a:ext cx="273000" cy="1406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102"/>
          <p:cNvCxnSpPr>
            <a:stCxn id="561" idx="0"/>
            <a:endCxn id="557" idx="2"/>
          </p:cNvCxnSpPr>
          <p:nvPr/>
        </p:nvCxnSpPr>
        <p:spPr>
          <a:xfrm rot="-5400000">
            <a:off x="6937550" y="1765850"/>
            <a:ext cx="273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102"/>
          <p:cNvCxnSpPr>
            <a:stCxn id="566" idx="0"/>
            <a:endCxn id="557" idx="2"/>
          </p:cNvCxnSpPr>
          <p:nvPr/>
        </p:nvCxnSpPr>
        <p:spPr>
          <a:xfrm flipH="1" rot="5400000">
            <a:off x="7640400" y="1062950"/>
            <a:ext cx="273000" cy="1406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102"/>
          <p:cNvCxnSpPr>
            <a:stCxn id="556" idx="2"/>
            <a:endCxn id="558" idx="0"/>
          </p:cNvCxnSpPr>
          <p:nvPr/>
        </p:nvCxnSpPr>
        <p:spPr>
          <a:xfrm rot="5400000">
            <a:off x="5239850" y="3432975"/>
            <a:ext cx="598200" cy="2430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102"/>
          <p:cNvCxnSpPr>
            <a:stCxn id="556" idx="2"/>
            <a:endCxn id="559" idx="0"/>
          </p:cNvCxnSpPr>
          <p:nvPr/>
        </p:nvCxnSpPr>
        <p:spPr>
          <a:xfrm flipH="1" rot="-5400000">
            <a:off x="5636450" y="3279375"/>
            <a:ext cx="598200" cy="5502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102"/>
          <p:cNvCxnSpPr>
            <a:stCxn id="560" idx="0"/>
            <a:endCxn id="556" idx="2"/>
          </p:cNvCxnSpPr>
          <p:nvPr/>
        </p:nvCxnSpPr>
        <p:spPr>
          <a:xfrm flipH="1" rot="5400000">
            <a:off x="6033450" y="2882625"/>
            <a:ext cx="597900" cy="13437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7" name="Google Shape;577;p102"/>
          <p:cNvSpPr/>
          <p:nvPr/>
        </p:nvSpPr>
        <p:spPr>
          <a:xfrm>
            <a:off x="6083350" y="1342600"/>
            <a:ext cx="327300" cy="3273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1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78" name="Google Shape;578;p102"/>
          <p:cNvSpPr/>
          <p:nvPr/>
        </p:nvSpPr>
        <p:spPr>
          <a:xfrm>
            <a:off x="4657725" y="1902650"/>
            <a:ext cx="327300" cy="3273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2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79" name="Google Shape;579;p102"/>
          <p:cNvSpPr/>
          <p:nvPr/>
        </p:nvSpPr>
        <p:spPr>
          <a:xfrm>
            <a:off x="4690375" y="3813075"/>
            <a:ext cx="327300" cy="3273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3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0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Types of hierarchical navigation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85" name="Google Shape;585;p10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6" name="Google Shape;586;p103"/>
          <p:cNvSpPr txBox="1"/>
          <p:nvPr>
            <p:ph idx="1" type="body"/>
          </p:nvPr>
        </p:nvSpPr>
        <p:spPr>
          <a:xfrm>
            <a:off x="311700" y="1076275"/>
            <a:ext cx="8520600" cy="394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Descendant navigation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Down from a parent screen to one of its children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From a list of headlines—to a story summary—to a story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Ancestral navigation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Up from a child or sibling screen to its parent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From a story summary back to the headlines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Lateral navigation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From one sibling to another sibling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Swiping between tabbed views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0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Descendant Navigation </a:t>
            </a:r>
            <a:endParaRPr/>
          </a:p>
        </p:txBody>
      </p:sp>
      <p:sp>
        <p:nvSpPr>
          <p:cNvPr id="592" name="Google Shape;592;p10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3" name="Google Shape;593;p10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0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0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Descendant navigation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0" name="Google Shape;600;p10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1" name="Google Shape;601;p105"/>
          <p:cNvSpPr txBox="1"/>
          <p:nvPr>
            <p:ph idx="1" type="body"/>
          </p:nvPr>
        </p:nvSpPr>
        <p:spPr>
          <a:xfrm>
            <a:off x="83100" y="1076275"/>
            <a:ext cx="4321500" cy="32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Descendant navigation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Down from a parent screen to one of its children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From the main screen to a list of headlines to a story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sp>
        <p:nvSpPr>
          <p:cNvPr id="602" name="Google Shape;602;p105"/>
          <p:cNvSpPr/>
          <p:nvPr/>
        </p:nvSpPr>
        <p:spPr>
          <a:xfrm>
            <a:off x="4786900" y="1902638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Stories</a:t>
            </a:r>
            <a:endParaRPr/>
          </a:p>
        </p:txBody>
      </p:sp>
      <p:sp>
        <p:nvSpPr>
          <p:cNvPr id="603" name="Google Shape;603;p105"/>
          <p:cNvSpPr/>
          <p:nvPr/>
        </p:nvSpPr>
        <p:spPr>
          <a:xfrm>
            <a:off x="4829150" y="22689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604" name="Google Shape;604;p105"/>
          <p:cNvSpPr/>
          <p:nvPr/>
        </p:nvSpPr>
        <p:spPr>
          <a:xfrm>
            <a:off x="4829150" y="25155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05" name="Google Shape;605;p105"/>
          <p:cNvSpPr/>
          <p:nvPr/>
        </p:nvSpPr>
        <p:spPr>
          <a:xfrm>
            <a:off x="4829150" y="27621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06" name="Google Shape;606;p105"/>
          <p:cNvSpPr/>
          <p:nvPr/>
        </p:nvSpPr>
        <p:spPr>
          <a:xfrm>
            <a:off x="4829150" y="30087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07" name="Google Shape;607;p105"/>
          <p:cNvSpPr/>
          <p:nvPr/>
        </p:nvSpPr>
        <p:spPr>
          <a:xfrm>
            <a:off x="6279950" y="1382938"/>
            <a:ext cx="1059300" cy="246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News App</a:t>
            </a:r>
            <a:endParaRPr/>
          </a:p>
        </p:txBody>
      </p:sp>
      <p:sp>
        <p:nvSpPr>
          <p:cNvPr id="608" name="Google Shape;608;p105"/>
          <p:cNvSpPr/>
          <p:nvPr/>
        </p:nvSpPr>
        <p:spPr>
          <a:xfrm>
            <a:off x="4829150" y="3853413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609" name="Google Shape;609;p105"/>
          <p:cNvSpPr/>
          <p:nvPr/>
        </p:nvSpPr>
        <p:spPr>
          <a:xfrm>
            <a:off x="5622625" y="3853413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610" name="Google Shape;610;p105"/>
          <p:cNvSpPr/>
          <p:nvPr/>
        </p:nvSpPr>
        <p:spPr>
          <a:xfrm>
            <a:off x="6416100" y="3853413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611" name="Google Shape;611;p105"/>
          <p:cNvSpPr/>
          <p:nvPr/>
        </p:nvSpPr>
        <p:spPr>
          <a:xfrm>
            <a:off x="6193250" y="1902638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News</a:t>
            </a:r>
            <a:endParaRPr/>
          </a:p>
        </p:txBody>
      </p:sp>
      <p:sp>
        <p:nvSpPr>
          <p:cNvPr id="612" name="Google Shape;612;p105"/>
          <p:cNvSpPr/>
          <p:nvPr/>
        </p:nvSpPr>
        <p:spPr>
          <a:xfrm>
            <a:off x="6235500" y="22689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613" name="Google Shape;613;p105"/>
          <p:cNvSpPr/>
          <p:nvPr/>
        </p:nvSpPr>
        <p:spPr>
          <a:xfrm>
            <a:off x="6235500" y="25155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14" name="Google Shape;614;p105"/>
          <p:cNvSpPr/>
          <p:nvPr/>
        </p:nvSpPr>
        <p:spPr>
          <a:xfrm>
            <a:off x="6235500" y="27621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15" name="Google Shape;615;p105"/>
          <p:cNvSpPr/>
          <p:nvPr/>
        </p:nvSpPr>
        <p:spPr>
          <a:xfrm>
            <a:off x="6235500" y="30087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16" name="Google Shape;616;p105"/>
          <p:cNvSpPr/>
          <p:nvPr/>
        </p:nvSpPr>
        <p:spPr>
          <a:xfrm>
            <a:off x="7599600" y="1902638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Cooking</a:t>
            </a:r>
            <a:endParaRPr/>
          </a:p>
        </p:txBody>
      </p:sp>
      <p:sp>
        <p:nvSpPr>
          <p:cNvPr id="617" name="Google Shape;617;p105"/>
          <p:cNvSpPr/>
          <p:nvPr/>
        </p:nvSpPr>
        <p:spPr>
          <a:xfrm>
            <a:off x="7641850" y="22356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618" name="Google Shape;618;p105"/>
          <p:cNvSpPr/>
          <p:nvPr/>
        </p:nvSpPr>
        <p:spPr>
          <a:xfrm>
            <a:off x="7641850" y="24822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19" name="Google Shape;619;p105"/>
          <p:cNvSpPr/>
          <p:nvPr/>
        </p:nvSpPr>
        <p:spPr>
          <a:xfrm>
            <a:off x="7641850" y="27288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620" name="Google Shape;620;p105"/>
          <p:cNvSpPr/>
          <p:nvPr/>
        </p:nvSpPr>
        <p:spPr>
          <a:xfrm>
            <a:off x="7641850" y="29754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cxnSp>
        <p:nvCxnSpPr>
          <p:cNvPr id="621" name="Google Shape;621;p105"/>
          <p:cNvCxnSpPr>
            <a:stCxn id="607" idx="2"/>
            <a:endCxn id="602" idx="0"/>
          </p:cNvCxnSpPr>
          <p:nvPr/>
        </p:nvCxnSpPr>
        <p:spPr>
          <a:xfrm rot="5400000">
            <a:off x="5969900" y="1062838"/>
            <a:ext cx="273000" cy="1406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105"/>
          <p:cNvCxnSpPr>
            <a:stCxn id="611" idx="0"/>
            <a:endCxn id="607" idx="2"/>
          </p:cNvCxnSpPr>
          <p:nvPr/>
        </p:nvCxnSpPr>
        <p:spPr>
          <a:xfrm rot="-5400000">
            <a:off x="6673400" y="1765838"/>
            <a:ext cx="273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105"/>
          <p:cNvCxnSpPr>
            <a:stCxn id="616" idx="0"/>
            <a:endCxn id="607" idx="2"/>
          </p:cNvCxnSpPr>
          <p:nvPr/>
        </p:nvCxnSpPr>
        <p:spPr>
          <a:xfrm flipH="1" rot="5400000">
            <a:off x="7376250" y="1062938"/>
            <a:ext cx="273000" cy="1406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105"/>
          <p:cNvCxnSpPr>
            <a:stCxn id="606" idx="2"/>
            <a:endCxn id="608" idx="0"/>
          </p:cNvCxnSpPr>
          <p:nvPr/>
        </p:nvCxnSpPr>
        <p:spPr>
          <a:xfrm rot="5400000">
            <a:off x="4975700" y="3432963"/>
            <a:ext cx="598200" cy="2430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5" name="Google Shape;625;p105"/>
          <p:cNvCxnSpPr>
            <a:stCxn id="606" idx="2"/>
            <a:endCxn id="609" idx="0"/>
          </p:cNvCxnSpPr>
          <p:nvPr/>
        </p:nvCxnSpPr>
        <p:spPr>
          <a:xfrm flipH="1" rot="-5400000">
            <a:off x="5372300" y="3279363"/>
            <a:ext cx="598200" cy="5502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6" name="Google Shape;626;p105"/>
          <p:cNvCxnSpPr>
            <a:stCxn id="610" idx="0"/>
            <a:endCxn id="606" idx="2"/>
          </p:cNvCxnSpPr>
          <p:nvPr/>
        </p:nvCxnSpPr>
        <p:spPr>
          <a:xfrm flipH="1" rot="5400000">
            <a:off x="5769300" y="2882613"/>
            <a:ext cx="597900" cy="13437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105"/>
          <p:cNvSpPr/>
          <p:nvPr/>
        </p:nvSpPr>
        <p:spPr>
          <a:xfrm>
            <a:off x="5254103" y="1418943"/>
            <a:ext cx="1036800" cy="497200"/>
          </a:xfrm>
          <a:custGeom>
            <a:rect b="b" l="l" r="r" t="t"/>
            <a:pathLst>
              <a:path extrusionOk="0" h="19888" w="41472">
                <a:moveTo>
                  <a:pt x="41472" y="2981"/>
                </a:moveTo>
                <a:cubicBezTo>
                  <a:pt x="29219" y="530"/>
                  <a:pt x="14709" y="-2604"/>
                  <a:pt x="3994" y="3826"/>
                </a:cubicBezTo>
                <a:cubicBezTo>
                  <a:pt x="-733" y="6663"/>
                  <a:pt x="49" y="14375"/>
                  <a:pt x="49" y="19888"/>
                </a:cubicBezTo>
              </a:path>
            </a:pathLst>
          </a:custGeom>
          <a:noFill/>
          <a:ln cap="flat" cmpd="sng" w="38100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628" name="Google Shape;628;p105"/>
          <p:cNvSpPr/>
          <p:nvPr/>
        </p:nvSpPr>
        <p:spPr>
          <a:xfrm>
            <a:off x="4672328" y="3113750"/>
            <a:ext cx="456200" cy="718550"/>
          </a:xfrm>
          <a:custGeom>
            <a:rect b="b" l="l" r="r" t="t"/>
            <a:pathLst>
              <a:path extrusionOk="0" h="28742" w="18248">
                <a:moveTo>
                  <a:pt x="18248" y="0"/>
                </a:moveTo>
                <a:cubicBezTo>
                  <a:pt x="11569" y="0"/>
                  <a:pt x="1523" y="2185"/>
                  <a:pt x="214" y="8735"/>
                </a:cubicBezTo>
                <a:cubicBezTo>
                  <a:pt x="-1204" y="15835"/>
                  <a:pt x="6382" y="21872"/>
                  <a:pt x="8667" y="28742"/>
                </a:cubicBezTo>
              </a:path>
            </a:pathLst>
          </a:custGeom>
          <a:noFill/>
          <a:ln cap="flat" cmpd="sng" w="38100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0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Master/detail flow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34" name="Google Shape;634;p10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5" name="Google Shape;635;p106"/>
          <p:cNvSpPr txBox="1"/>
          <p:nvPr>
            <p:ph idx="1" type="body"/>
          </p:nvPr>
        </p:nvSpPr>
        <p:spPr>
          <a:xfrm>
            <a:off x="235500" y="1076275"/>
            <a:ext cx="42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Side-by side on tablets</a:t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636" name="Google Shape;636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9425" y="1691250"/>
            <a:ext cx="3393667" cy="2898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7" name="Google Shape;637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6875" y="1691250"/>
            <a:ext cx="3864418" cy="2898299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106"/>
          <p:cNvSpPr txBox="1"/>
          <p:nvPr>
            <p:ph idx="1" type="body"/>
          </p:nvPr>
        </p:nvSpPr>
        <p:spPr>
          <a:xfrm>
            <a:off x="4567350" y="1076275"/>
            <a:ext cx="42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/>
              <a:t>Multiple screens on phone</a:t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0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Controls for descendant navigation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4" name="Google Shape;644;p10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5" name="Google Shape;645;p107"/>
          <p:cNvSpPr txBox="1"/>
          <p:nvPr>
            <p:ph idx="1" type="body"/>
          </p:nvPr>
        </p:nvSpPr>
        <p:spPr>
          <a:xfrm>
            <a:off x="170800" y="1116550"/>
            <a:ext cx="8798700" cy="33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Navigation drawer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Buttons, </a:t>
            </a:r>
            <a:r>
              <a:rPr lang="en"/>
              <a:t>i</a:t>
            </a:r>
            <a:r>
              <a:rPr lang="en"/>
              <a:t>mage</a:t>
            </a:r>
            <a:r>
              <a:rPr lang="en"/>
              <a:t> b</a:t>
            </a:r>
            <a:r>
              <a:rPr lang="en"/>
              <a:t>uttons on main screen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Other clickable views with text and icons arranged in horizontal or vertical rows, or as a grid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List items on collection screens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08"/>
          <p:cNvSpPr txBox="1"/>
          <p:nvPr>
            <p:ph type="title"/>
          </p:nvPr>
        </p:nvSpPr>
        <p:spPr>
          <a:xfrm>
            <a:off x="265500" y="843350"/>
            <a:ext cx="4045200" cy="254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 Drawer</a:t>
            </a:r>
            <a:endParaRPr/>
          </a:p>
        </p:txBody>
      </p:sp>
      <p:sp>
        <p:nvSpPr>
          <p:cNvPr id="651" name="Google Shape;651;p10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2" name="Google Shape;652;p10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0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Navigation drawer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58" name="Google Shape;658;p10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9" name="Google Shape;659;p109"/>
          <p:cNvSpPr txBox="1"/>
          <p:nvPr>
            <p:ph idx="1" type="body"/>
          </p:nvPr>
        </p:nvSpPr>
        <p:spPr>
          <a:xfrm>
            <a:off x="424550" y="1190500"/>
            <a:ext cx="4150500" cy="33600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Descendant navigation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</a:t>
            </a:r>
            <a:r>
              <a:rPr lang="en"/>
              <a:t>con in app bar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Header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Menu items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60" name="Google Shape;660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4975" y="1190488"/>
            <a:ext cx="4485925" cy="310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1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Layouts for</a:t>
            </a: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for navigation drawer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66" name="Google Shape;666;p1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7" name="Google Shape;667;p110"/>
          <p:cNvSpPr txBox="1"/>
          <p:nvPr>
            <p:ph idx="1" type="body"/>
          </p:nvPr>
        </p:nvSpPr>
        <p:spPr>
          <a:xfrm>
            <a:off x="311700" y="1076275"/>
            <a:ext cx="8767500" cy="33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Create layouts:</a:t>
            </a:r>
            <a:endParaRPr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 navigation drawer as the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layout root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ViewGroup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 navigation View for the drawer itself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An app bar layout that includes room for a navigation icon button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 content layout for the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that displays the navigation drawer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 layout for the navigation drawer header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1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Navigation drawer Activity layout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73" name="Google Shape;673;p1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4" name="Google Shape;674;p111"/>
          <p:cNvSpPr txBox="1"/>
          <p:nvPr>
            <p:ph idx="1" type="body"/>
          </p:nvPr>
        </p:nvSpPr>
        <p:spPr>
          <a:xfrm>
            <a:off x="311700" y="1036350"/>
            <a:ext cx="5370900" cy="321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DrawerLayout</a:t>
            </a:r>
            <a:r>
              <a:rPr lang="en"/>
              <a:t> is root view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CoordinatorLayout</a:t>
            </a:r>
            <a:r>
              <a:rPr lang="en"/>
              <a:t> contains </a:t>
            </a:r>
            <a:br>
              <a:rPr lang="en"/>
            </a:br>
            <a:r>
              <a:rPr lang="en"/>
              <a:t>app bar layout with a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Toolbar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App content screen layout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NavigationView</a:t>
            </a:r>
            <a:r>
              <a:rPr lang="en"/>
              <a:t> with layouts for header and selectable items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75" name="Google Shape;675;p1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0175" y="1188750"/>
            <a:ext cx="2942275" cy="32631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111"/>
          <p:cNvSpPr/>
          <p:nvPr/>
        </p:nvSpPr>
        <p:spPr>
          <a:xfrm>
            <a:off x="5544264" y="3015450"/>
            <a:ext cx="246600" cy="2466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77" name="Google Shape;677;p111"/>
          <p:cNvSpPr txBox="1"/>
          <p:nvPr/>
        </p:nvSpPr>
        <p:spPr>
          <a:xfrm>
            <a:off x="5537114" y="3020175"/>
            <a:ext cx="2466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3</a:t>
            </a:r>
            <a:endParaRPr b="1" sz="1000">
              <a:solidFill>
                <a:srgbClr val="FFFFFF"/>
              </a:solidFill>
            </a:endParaRPr>
          </a:p>
        </p:txBody>
      </p:sp>
      <p:cxnSp>
        <p:nvCxnSpPr>
          <p:cNvPr id="678" name="Google Shape;678;p111"/>
          <p:cNvCxnSpPr>
            <a:stCxn id="677" idx="3"/>
          </p:cNvCxnSpPr>
          <p:nvPr/>
        </p:nvCxnSpPr>
        <p:spPr>
          <a:xfrm>
            <a:off x="5783714" y="3141075"/>
            <a:ext cx="810000" cy="0"/>
          </a:xfrm>
          <a:prstGeom prst="straightConnector1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9" name="Google Shape;679;p111"/>
          <p:cNvSpPr/>
          <p:nvPr/>
        </p:nvSpPr>
        <p:spPr>
          <a:xfrm>
            <a:off x="6579725" y="2965800"/>
            <a:ext cx="958200" cy="296400"/>
          </a:xfrm>
          <a:prstGeom prst="rect">
            <a:avLst/>
          </a:prstGeom>
          <a:noFill/>
          <a:ln cap="flat" cmpd="sng" w="2857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11"/>
          <p:cNvSpPr/>
          <p:nvPr/>
        </p:nvSpPr>
        <p:spPr>
          <a:xfrm>
            <a:off x="5540689" y="3992089"/>
            <a:ext cx="246600" cy="246600"/>
          </a:xfrm>
          <a:prstGeom prst="ellipse">
            <a:avLst/>
          </a:prstGeom>
          <a:solidFill>
            <a:srgbClr val="990000"/>
          </a:solidFill>
          <a:ln cap="flat" cmpd="sng" w="952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FFFF"/>
              </a:solidFill>
            </a:endParaRPr>
          </a:p>
        </p:txBody>
      </p:sp>
      <p:sp>
        <p:nvSpPr>
          <p:cNvPr id="681" name="Google Shape;681;p111"/>
          <p:cNvSpPr txBox="1"/>
          <p:nvPr/>
        </p:nvSpPr>
        <p:spPr>
          <a:xfrm>
            <a:off x="5533539" y="3996814"/>
            <a:ext cx="2466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</a:rPr>
              <a:t>4</a:t>
            </a:r>
            <a:endParaRPr b="1" sz="1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1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to implement navigation drawer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7" name="Google Shape;687;p1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8" name="Google Shape;688;p112"/>
          <p:cNvSpPr txBox="1"/>
          <p:nvPr>
            <p:ph idx="1" type="body"/>
          </p:nvPr>
        </p:nvSpPr>
        <p:spPr>
          <a:xfrm>
            <a:off x="311700" y="1436475"/>
            <a:ext cx="8767500" cy="30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Populate navigation drawer menu with item titles and icons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Set up navigation drawer and item listeners in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code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AutoNum type="arabicPeriod"/>
            </a:pPr>
            <a:r>
              <a:rPr lang="en">
                <a:solidFill>
                  <a:schemeClr val="dk1"/>
                </a:solidFill>
              </a:rPr>
              <a:t>Handle the navigation menu item selections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1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Other descendant navigation patterns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94" name="Google Shape;694;p1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5" name="Google Shape;695;p113"/>
          <p:cNvSpPr txBox="1"/>
          <p:nvPr>
            <p:ph idx="1" type="body"/>
          </p:nvPr>
        </p:nvSpPr>
        <p:spPr>
          <a:xfrm>
            <a:off x="311700" y="1218200"/>
            <a:ext cx="8160900" cy="31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Vertical list, such as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RecyclerView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Vertical grid, such as </a:t>
            </a: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GridView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Lateral navigation with a carousel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Multi-level menus, such as the options menu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Master/detail navigation flow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Ancestral Navigation</a:t>
            </a:r>
            <a:endParaRPr/>
          </a:p>
        </p:txBody>
      </p:sp>
      <p:sp>
        <p:nvSpPr>
          <p:cNvPr id="701" name="Google Shape;701;p1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2" name="Google Shape;702;p1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1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Ancestral navigation (Up button)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09" name="Google Shape;709;p1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0" name="Google Shape;710;p115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Enable user to go up from a section</a:t>
            </a:r>
            <a:br>
              <a:rPr lang="en"/>
            </a:br>
            <a:r>
              <a:rPr lang="en"/>
              <a:t>or child screen to the parent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711" name="Google Shape;711;p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8550" y="1030463"/>
            <a:ext cx="2349800" cy="350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115"/>
          <p:cNvPicPr preferRelativeResize="0"/>
          <p:nvPr/>
        </p:nvPicPr>
        <p:blipFill rotWithShape="1">
          <a:blip r:embed="rId4">
            <a:alphaModFix/>
          </a:blip>
          <a:srcRect b="9804" l="0" r="0" t="0"/>
          <a:stretch/>
        </p:blipFill>
        <p:spPr>
          <a:xfrm>
            <a:off x="311700" y="1309800"/>
            <a:ext cx="43640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16"/>
          <p:cNvSpPr txBox="1"/>
          <p:nvPr>
            <p:ph type="title"/>
          </p:nvPr>
        </p:nvSpPr>
        <p:spPr>
          <a:xfrm>
            <a:off x="154975" y="170825"/>
            <a:ext cx="881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/>
              <a:t>Declare parent of child Activity—AndroidManifest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718" name="Google Shape;718;p1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9" name="Google Shape;719;p116"/>
          <p:cNvSpPr txBox="1"/>
          <p:nvPr>
            <p:ph idx="1" type="body"/>
          </p:nvPr>
        </p:nvSpPr>
        <p:spPr>
          <a:xfrm>
            <a:off x="311700" y="1076275"/>
            <a:ext cx="8520600" cy="347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&lt;activity android:name=".OrderActivity"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android:label="@string/title_activity_order"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android:parentActivityName="com.example.android.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optionsmenuorderactivity.MainActivity"&gt;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&lt;meta-data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android:name="android.support.PARENT_ACTIVITY"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android:value=".MainActivity"/&gt;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&lt;/activity&gt;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Lateral Navigation</a:t>
            </a:r>
            <a:endParaRPr/>
          </a:p>
        </p:txBody>
      </p:sp>
      <p:sp>
        <p:nvSpPr>
          <p:cNvPr id="725" name="Google Shape;725;p1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6" name="Google Shape;726;p1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1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Tabs and swipes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33" name="Google Shape;733;p1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4" name="Google Shape;734;p118"/>
          <p:cNvSpPr txBox="1"/>
          <p:nvPr>
            <p:ph idx="1" type="body"/>
          </p:nvPr>
        </p:nvSpPr>
        <p:spPr>
          <a:xfrm>
            <a:off x="83100" y="1076275"/>
            <a:ext cx="4225200" cy="32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Lateral navigation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Between siblings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From a list of stories to a list in a different tab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From story to story under the same tab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sp>
        <p:nvSpPr>
          <p:cNvPr id="735" name="Google Shape;735;p118"/>
          <p:cNvSpPr/>
          <p:nvPr/>
        </p:nvSpPr>
        <p:spPr>
          <a:xfrm>
            <a:off x="4786900" y="1902638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Stories</a:t>
            </a:r>
            <a:endParaRPr/>
          </a:p>
        </p:txBody>
      </p:sp>
      <p:sp>
        <p:nvSpPr>
          <p:cNvPr id="736" name="Google Shape;736;p118"/>
          <p:cNvSpPr/>
          <p:nvPr/>
        </p:nvSpPr>
        <p:spPr>
          <a:xfrm>
            <a:off x="4829150" y="22689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737" name="Google Shape;737;p118"/>
          <p:cNvSpPr/>
          <p:nvPr/>
        </p:nvSpPr>
        <p:spPr>
          <a:xfrm>
            <a:off x="4829150" y="25155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38" name="Google Shape;738;p118"/>
          <p:cNvSpPr/>
          <p:nvPr/>
        </p:nvSpPr>
        <p:spPr>
          <a:xfrm>
            <a:off x="4829150" y="27621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39" name="Google Shape;739;p118"/>
          <p:cNvSpPr/>
          <p:nvPr/>
        </p:nvSpPr>
        <p:spPr>
          <a:xfrm>
            <a:off x="4829150" y="30087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40" name="Google Shape;740;p118"/>
          <p:cNvSpPr/>
          <p:nvPr/>
        </p:nvSpPr>
        <p:spPr>
          <a:xfrm>
            <a:off x="6279950" y="1382938"/>
            <a:ext cx="1059300" cy="246600"/>
          </a:xfrm>
          <a:prstGeom prst="rect">
            <a:avLst/>
          </a:prstGeom>
          <a:solidFill>
            <a:srgbClr val="F9CB9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News App</a:t>
            </a:r>
            <a:endParaRPr/>
          </a:p>
        </p:txBody>
      </p:sp>
      <p:sp>
        <p:nvSpPr>
          <p:cNvPr id="741" name="Google Shape;741;p118"/>
          <p:cNvSpPr/>
          <p:nvPr/>
        </p:nvSpPr>
        <p:spPr>
          <a:xfrm>
            <a:off x="4829150" y="3853413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742" name="Google Shape;742;p118"/>
          <p:cNvSpPr/>
          <p:nvPr/>
        </p:nvSpPr>
        <p:spPr>
          <a:xfrm>
            <a:off x="5622625" y="3853413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743" name="Google Shape;743;p118"/>
          <p:cNvSpPr/>
          <p:nvPr/>
        </p:nvSpPr>
        <p:spPr>
          <a:xfrm>
            <a:off x="6416100" y="3853413"/>
            <a:ext cx="6480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Story </a:t>
            </a:r>
            <a:endParaRPr/>
          </a:p>
        </p:txBody>
      </p:sp>
      <p:sp>
        <p:nvSpPr>
          <p:cNvPr id="744" name="Google Shape;744;p118"/>
          <p:cNvSpPr/>
          <p:nvPr/>
        </p:nvSpPr>
        <p:spPr>
          <a:xfrm>
            <a:off x="6193250" y="1902638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News</a:t>
            </a:r>
            <a:endParaRPr/>
          </a:p>
        </p:txBody>
      </p:sp>
      <p:sp>
        <p:nvSpPr>
          <p:cNvPr id="745" name="Google Shape;745;p118"/>
          <p:cNvSpPr/>
          <p:nvPr/>
        </p:nvSpPr>
        <p:spPr>
          <a:xfrm>
            <a:off x="6235500" y="22689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746" name="Google Shape;746;p118"/>
          <p:cNvSpPr/>
          <p:nvPr/>
        </p:nvSpPr>
        <p:spPr>
          <a:xfrm>
            <a:off x="6235500" y="25155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47" name="Google Shape;747;p118"/>
          <p:cNvSpPr/>
          <p:nvPr/>
        </p:nvSpPr>
        <p:spPr>
          <a:xfrm>
            <a:off x="6235500" y="27621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48" name="Google Shape;748;p118"/>
          <p:cNvSpPr/>
          <p:nvPr/>
        </p:nvSpPr>
        <p:spPr>
          <a:xfrm>
            <a:off x="6235500" y="3008763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49" name="Google Shape;749;p118"/>
          <p:cNvSpPr/>
          <p:nvPr/>
        </p:nvSpPr>
        <p:spPr>
          <a:xfrm>
            <a:off x="7599600" y="1902638"/>
            <a:ext cx="1232700" cy="14160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Cooking</a:t>
            </a:r>
            <a:endParaRPr/>
          </a:p>
        </p:txBody>
      </p:sp>
      <p:sp>
        <p:nvSpPr>
          <p:cNvPr id="750" name="Google Shape;750;p118"/>
          <p:cNvSpPr/>
          <p:nvPr/>
        </p:nvSpPr>
        <p:spPr>
          <a:xfrm>
            <a:off x="7641850" y="22356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Headline</a:t>
            </a:r>
            <a:endParaRPr/>
          </a:p>
        </p:txBody>
      </p:sp>
      <p:sp>
        <p:nvSpPr>
          <p:cNvPr id="751" name="Google Shape;751;p118"/>
          <p:cNvSpPr/>
          <p:nvPr/>
        </p:nvSpPr>
        <p:spPr>
          <a:xfrm>
            <a:off x="7641850" y="24822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52" name="Google Shape;752;p118"/>
          <p:cNvSpPr/>
          <p:nvPr/>
        </p:nvSpPr>
        <p:spPr>
          <a:xfrm>
            <a:off x="7641850" y="27288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sp>
        <p:nvSpPr>
          <p:cNvPr id="753" name="Google Shape;753;p118"/>
          <p:cNvSpPr/>
          <p:nvPr/>
        </p:nvSpPr>
        <p:spPr>
          <a:xfrm>
            <a:off x="7641850" y="2975438"/>
            <a:ext cx="1134300" cy="246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Headline</a:t>
            </a:r>
            <a:endParaRPr/>
          </a:p>
        </p:txBody>
      </p:sp>
      <p:cxnSp>
        <p:nvCxnSpPr>
          <p:cNvPr id="754" name="Google Shape;754;p118"/>
          <p:cNvCxnSpPr>
            <a:stCxn id="740" idx="2"/>
            <a:endCxn id="735" idx="0"/>
          </p:cNvCxnSpPr>
          <p:nvPr/>
        </p:nvCxnSpPr>
        <p:spPr>
          <a:xfrm rot="5400000">
            <a:off x="5969900" y="1062838"/>
            <a:ext cx="273000" cy="1406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5" name="Google Shape;755;p118"/>
          <p:cNvCxnSpPr>
            <a:stCxn id="744" idx="0"/>
            <a:endCxn id="740" idx="2"/>
          </p:cNvCxnSpPr>
          <p:nvPr/>
        </p:nvCxnSpPr>
        <p:spPr>
          <a:xfrm rot="-5400000">
            <a:off x="6673400" y="1765838"/>
            <a:ext cx="273000" cy="6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6" name="Google Shape;756;p118"/>
          <p:cNvCxnSpPr>
            <a:stCxn id="749" idx="0"/>
            <a:endCxn id="740" idx="2"/>
          </p:cNvCxnSpPr>
          <p:nvPr/>
        </p:nvCxnSpPr>
        <p:spPr>
          <a:xfrm flipH="1" rot="5400000">
            <a:off x="7376250" y="1062938"/>
            <a:ext cx="273000" cy="1406400"/>
          </a:xfrm>
          <a:prstGeom prst="bentConnector3">
            <a:avLst>
              <a:gd fmla="val 5001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7" name="Google Shape;757;p118"/>
          <p:cNvCxnSpPr>
            <a:stCxn id="739" idx="2"/>
            <a:endCxn id="741" idx="0"/>
          </p:cNvCxnSpPr>
          <p:nvPr/>
        </p:nvCxnSpPr>
        <p:spPr>
          <a:xfrm rot="5400000">
            <a:off x="4975700" y="3432963"/>
            <a:ext cx="598200" cy="2430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8" name="Google Shape;758;p118"/>
          <p:cNvCxnSpPr>
            <a:stCxn id="739" idx="2"/>
            <a:endCxn id="742" idx="0"/>
          </p:cNvCxnSpPr>
          <p:nvPr/>
        </p:nvCxnSpPr>
        <p:spPr>
          <a:xfrm flipH="1" rot="-5400000">
            <a:off x="5372300" y="3279363"/>
            <a:ext cx="598200" cy="5502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118"/>
          <p:cNvCxnSpPr>
            <a:stCxn id="743" idx="0"/>
            <a:endCxn id="739" idx="2"/>
          </p:cNvCxnSpPr>
          <p:nvPr/>
        </p:nvCxnSpPr>
        <p:spPr>
          <a:xfrm flipH="1" rot="5400000">
            <a:off x="5769300" y="2882613"/>
            <a:ext cx="597900" cy="1343700"/>
          </a:xfrm>
          <a:prstGeom prst="bentConnector3">
            <a:avLst>
              <a:gd fmla="val 50013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0" name="Google Shape;760;p118"/>
          <p:cNvSpPr/>
          <p:nvPr/>
        </p:nvSpPr>
        <p:spPr>
          <a:xfrm>
            <a:off x="5403200" y="4041025"/>
            <a:ext cx="317000" cy="51250"/>
          </a:xfrm>
          <a:custGeom>
            <a:rect b="b" l="l" r="r" t="t"/>
            <a:pathLst>
              <a:path extrusionOk="0" h="2050" w="12680">
                <a:moveTo>
                  <a:pt x="0" y="0"/>
                </a:moveTo>
                <a:cubicBezTo>
                  <a:pt x="4104" y="1027"/>
                  <a:pt x="9691" y="3557"/>
                  <a:pt x="12680" y="563"/>
                </a:cubicBezTo>
              </a:path>
            </a:pathLst>
          </a:custGeom>
          <a:noFill/>
          <a:ln cap="flat" cmpd="sng" w="28575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61" name="Google Shape;761;p118"/>
          <p:cNvSpPr/>
          <p:nvPr/>
        </p:nvSpPr>
        <p:spPr>
          <a:xfrm>
            <a:off x="6099100" y="4065975"/>
            <a:ext cx="317000" cy="51250"/>
          </a:xfrm>
          <a:custGeom>
            <a:rect b="b" l="l" r="r" t="t"/>
            <a:pathLst>
              <a:path extrusionOk="0" h="2050" w="12680">
                <a:moveTo>
                  <a:pt x="0" y="0"/>
                </a:moveTo>
                <a:cubicBezTo>
                  <a:pt x="4104" y="1027"/>
                  <a:pt x="9691" y="3557"/>
                  <a:pt x="12680" y="563"/>
                </a:cubicBezTo>
              </a:path>
            </a:pathLst>
          </a:custGeom>
          <a:noFill/>
          <a:ln cap="flat" cmpd="sng" w="28575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62" name="Google Shape;762;p118"/>
          <p:cNvSpPr/>
          <p:nvPr/>
        </p:nvSpPr>
        <p:spPr>
          <a:xfrm rot="10800000">
            <a:off x="6193250" y="3868400"/>
            <a:ext cx="317000" cy="51250"/>
          </a:xfrm>
          <a:custGeom>
            <a:rect b="b" l="l" r="r" t="t"/>
            <a:pathLst>
              <a:path extrusionOk="0" h="2050" w="12680">
                <a:moveTo>
                  <a:pt x="0" y="0"/>
                </a:moveTo>
                <a:cubicBezTo>
                  <a:pt x="4104" y="1027"/>
                  <a:pt x="9691" y="3557"/>
                  <a:pt x="12680" y="563"/>
                </a:cubicBezTo>
              </a:path>
            </a:pathLst>
          </a:custGeom>
          <a:noFill/>
          <a:ln cap="flat" cmpd="sng" w="28575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63" name="Google Shape;763;p118"/>
          <p:cNvSpPr/>
          <p:nvPr/>
        </p:nvSpPr>
        <p:spPr>
          <a:xfrm rot="10800000">
            <a:off x="5366425" y="3817150"/>
            <a:ext cx="317000" cy="51250"/>
          </a:xfrm>
          <a:custGeom>
            <a:rect b="b" l="l" r="r" t="t"/>
            <a:pathLst>
              <a:path extrusionOk="0" h="2050" w="12680">
                <a:moveTo>
                  <a:pt x="0" y="0"/>
                </a:moveTo>
                <a:cubicBezTo>
                  <a:pt x="4104" y="1027"/>
                  <a:pt x="9691" y="3557"/>
                  <a:pt x="12680" y="563"/>
                </a:cubicBezTo>
              </a:path>
            </a:pathLst>
          </a:custGeom>
          <a:noFill/>
          <a:ln cap="flat" cmpd="sng" w="28575">
            <a:solidFill>
              <a:srgbClr val="4CAF5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64" name="Google Shape;764;p118"/>
          <p:cNvSpPr/>
          <p:nvPr/>
        </p:nvSpPr>
        <p:spPr>
          <a:xfrm>
            <a:off x="5947900" y="2183438"/>
            <a:ext cx="317000" cy="51250"/>
          </a:xfrm>
          <a:custGeom>
            <a:rect b="b" l="l" r="r" t="t"/>
            <a:pathLst>
              <a:path extrusionOk="0" h="2050" w="12680">
                <a:moveTo>
                  <a:pt x="0" y="0"/>
                </a:moveTo>
                <a:cubicBezTo>
                  <a:pt x="4104" y="1027"/>
                  <a:pt x="9691" y="3557"/>
                  <a:pt x="12680" y="563"/>
                </a:cubicBez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765" name="Google Shape;765;p118"/>
          <p:cNvSpPr/>
          <p:nvPr/>
        </p:nvSpPr>
        <p:spPr>
          <a:xfrm rot="10800000">
            <a:off x="5876250" y="1973825"/>
            <a:ext cx="317000" cy="51250"/>
          </a:xfrm>
          <a:custGeom>
            <a:rect b="b" l="l" r="r" t="t"/>
            <a:pathLst>
              <a:path extrusionOk="0" h="2050" w="12680">
                <a:moveTo>
                  <a:pt x="0" y="0"/>
                </a:moveTo>
                <a:cubicBezTo>
                  <a:pt x="4104" y="1027"/>
                  <a:pt x="9691" y="3557"/>
                  <a:pt x="12680" y="563"/>
                </a:cubicBezTo>
              </a:path>
            </a:pathLst>
          </a:custGeom>
          <a:noFill/>
          <a:ln cap="flat" cmpd="sng" w="28575">
            <a:solidFill>
              <a:srgbClr val="FF9900"/>
            </a:solidFill>
            <a:prstDash val="solid"/>
            <a:round/>
            <a:headEnd len="med" w="med" type="none"/>
            <a:tailEnd len="med" w="med" type="triangle"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1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Benefits of using tabs and swipes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71" name="Google Shape;771;p1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2" name="Google Shape;772;p119"/>
          <p:cNvSpPr txBox="1"/>
          <p:nvPr>
            <p:ph idx="1" type="body"/>
          </p:nvPr>
        </p:nvSpPr>
        <p:spPr>
          <a:xfrm>
            <a:off x="311700" y="1076275"/>
            <a:ext cx="5976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 single, initially-selected tab—users have access to content without further navigation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Navigate between related screens without visiting parent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  <p:pic>
        <p:nvPicPr>
          <p:cNvPr id="773" name="Google Shape;773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5750" y="1076275"/>
            <a:ext cx="1916712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2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Best practices with tabs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79" name="Google Shape;779;p1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0" name="Google Shape;780;p120"/>
          <p:cNvSpPr txBox="1"/>
          <p:nvPr>
            <p:ph idx="1" type="body"/>
          </p:nvPr>
        </p:nvSpPr>
        <p:spPr>
          <a:xfrm>
            <a:off x="311700" y="1076275"/>
            <a:ext cx="8160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Lay out horizontally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Run along top of screen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Persistent across related screens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Switching should not be treated as history</a:t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2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Steps for implementing tabs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86" name="Google Shape;786;p1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7" name="Google Shape;787;p121"/>
          <p:cNvSpPr txBox="1"/>
          <p:nvPr>
            <p:ph idx="1" type="body"/>
          </p:nvPr>
        </p:nvSpPr>
        <p:spPr>
          <a:xfrm>
            <a:off x="162025" y="1076275"/>
            <a:ext cx="8932800" cy="35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Define the tab layout using 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TabLayout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Implement a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000"/>
              <a:t> and its layout for each tab</a:t>
            </a:r>
            <a:endParaRPr sz="2000"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Implement a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PagerAdapter</a:t>
            </a:r>
            <a:r>
              <a:rPr lang="en" sz="2000"/>
              <a:t> from 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4"/>
              </a:rPr>
              <a:t>FragmentPagerAdapter</a:t>
            </a:r>
            <a:r>
              <a:rPr lang="en" sz="2000"/>
              <a:t>  or </a:t>
            </a:r>
            <a:r>
              <a:rPr lang="en" sz="2000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5"/>
              </a:rPr>
              <a:t>FragmentStatePagerAdapter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Create an instance of the tab layout</a:t>
            </a:r>
            <a:endParaRPr sz="2000"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Use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PagerAdapter</a:t>
            </a:r>
            <a:r>
              <a:rPr lang="en" sz="2000"/>
              <a:t> to manage screens (each screen is a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000"/>
              <a:t>)</a:t>
            </a:r>
            <a:endParaRPr sz="2000"/>
          </a:p>
          <a:p>
            <a:pPr indent="-355600" lvl="0" marL="457200" rtl="0" algn="l">
              <a:spcBef>
                <a:spcPts val="40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Set a listener to determine which tab is tapped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12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tab layout below Toolbar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93" name="Google Shape;793;p1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4" name="Google Shape;794;p122"/>
          <p:cNvSpPr txBox="1"/>
          <p:nvPr>
            <p:ph idx="1" type="body"/>
          </p:nvPr>
        </p:nvSpPr>
        <p:spPr>
          <a:xfrm>
            <a:off x="162025" y="1000075"/>
            <a:ext cx="89328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android.support.design.widget.TabLayout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android:id="@+id/tab_layout"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android:layout_width="match_parent"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android:layout_height="wrap_content"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android:layout_below="@id/toolbar"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android:background="?attr/colorPrimary"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android:minHeight="?attr/actionBarSize"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android:theme="@style/ThemeOverlay.AppCompat.Dark.ActionBar"/</a:t>
            </a:r>
            <a:r>
              <a:rPr lang="en" sz="1400"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2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view pager below TabLayout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00" name="Google Shape;800;p1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1" name="Google Shape;801;p123"/>
          <p:cNvSpPr txBox="1"/>
          <p:nvPr>
            <p:ph idx="1" type="body"/>
          </p:nvPr>
        </p:nvSpPr>
        <p:spPr>
          <a:xfrm>
            <a:off x="162025" y="1000075"/>
            <a:ext cx="89328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android.support.v4.view.ViewPager</a:t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android:id="@+id/pager"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android:layout_width="match_parent"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android:layout_height="fill_parent"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android:layout_below="@id/tab_layout" /&gt;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12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Create a tab layout in onCreate()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07" name="Google Shape;807;p1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8" name="Google Shape;808;p124"/>
          <p:cNvSpPr txBox="1"/>
          <p:nvPr>
            <p:ph idx="1" type="body"/>
          </p:nvPr>
        </p:nvSpPr>
        <p:spPr>
          <a:xfrm>
            <a:off x="162025" y="1000075"/>
            <a:ext cx="89328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TabLayout tabLayout = findViewById(R.id.tab_layout);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tabLayout.addTab(tabLayout.newTab().setText("Tab 1"));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tabLayout.addTab(tabLayout.newTab().setText("Tab 2"));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tabLayout.addTab(tabLayout.newTab().setText("Tab 3"));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tabLayout.setTabGravity(TabLayout.GRAVITY_FILL</a:t>
            </a:r>
            <a:r>
              <a:rPr lang="en" sz="1800">
                <a:solidFill>
                  <a:schemeClr val="dk1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12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the view pager in onCreate()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14" name="Google Shape;814;p1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5" name="Google Shape;815;p125"/>
          <p:cNvSpPr txBox="1"/>
          <p:nvPr>
            <p:ph idx="1" type="body"/>
          </p:nvPr>
        </p:nvSpPr>
        <p:spPr>
          <a:xfrm>
            <a:off x="162025" y="1000075"/>
            <a:ext cx="8982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 ViewPager viewPager = findViewById(R.id.pager);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final PagerAdapter adapter = new PagerAdapter (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getSupportFragmentManager(), tabLayout.getTabCount());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viewPager.setAdapter(adapter);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12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Add the listener in onCreate()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21" name="Google Shape;821;p1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2" name="Google Shape;822;p126"/>
          <p:cNvSpPr txBox="1"/>
          <p:nvPr>
            <p:ph idx="1" type="body"/>
          </p:nvPr>
        </p:nvSpPr>
        <p:spPr>
          <a:xfrm>
            <a:off x="162025" y="1000075"/>
            <a:ext cx="8982000" cy="3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viewPager.addOnPageChangeListener(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new TabLayout.TabLayoutOnPageChangeListener(tabLayout));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tabLayout.addOnTabSelectedListener(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new TabLayout.OnTabSelectedListener()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public void onTabSelected(TabLayout.Tab tab) {</a:t>
            </a:r>
            <a:b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viewPager.setCurrentItem(tab.getPosition());}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public void onTabUnselected(TabLayout.Tab tab) {}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public void onTabReselected(TabLayout.Tab tab) {} });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1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828" name="Google Shape;828;p127"/>
          <p:cNvSpPr txBox="1"/>
          <p:nvPr>
            <p:ph idx="1" type="body"/>
          </p:nvPr>
        </p:nvSpPr>
        <p:spPr>
          <a:xfrm>
            <a:off x="235500" y="1096275"/>
            <a:ext cx="8696400" cy="3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Navigation Design guide</a:t>
            </a:r>
            <a:br>
              <a:rPr lang="en"/>
            </a:br>
            <a:r>
              <a:rPr lang="en" sz="1800" u="sng">
                <a:solidFill>
                  <a:schemeClr val="hlink"/>
                </a:solidFill>
                <a:hlinkClick r:id="rId3"/>
              </a:rPr>
              <a:t>d.android.com/design/patterns/navigation.html</a:t>
            </a:r>
            <a:endParaRPr sz="18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Designing effective navigation</a:t>
            </a:r>
            <a:br>
              <a:rPr lang="en"/>
            </a:br>
            <a:r>
              <a:rPr lang="en" sz="1800" u="sng">
                <a:solidFill>
                  <a:schemeClr val="hlink"/>
                </a:solidFill>
                <a:hlinkClick r:id="rId4"/>
              </a:rPr>
              <a:t>d.android.com/training/design-navigation/index.html</a:t>
            </a:r>
            <a:endParaRPr sz="18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Creating a Navigation Drawer</a:t>
            </a:r>
            <a:br>
              <a:rPr lang="en"/>
            </a:br>
            <a:r>
              <a:rPr lang="en" sz="1800" u="sng">
                <a:solidFill>
                  <a:schemeClr val="hlink"/>
                </a:solidFill>
                <a:hlinkClick r:id="rId5"/>
              </a:rPr>
              <a:t>d.android.com/training/implementing-navigation/nav-drawer.html</a:t>
            </a:r>
            <a:endParaRPr sz="18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Creating swipe views with tabs</a:t>
            </a:r>
            <a:br>
              <a:rPr lang="en"/>
            </a:br>
            <a:r>
              <a:rPr lang="en" sz="1800" u="sng">
                <a:solidFill>
                  <a:schemeClr val="hlink"/>
                </a:solidFill>
                <a:hlinkClick r:id="rId6"/>
              </a:rPr>
              <a:t>d.android.com/training/implementing-navigation/lateral.html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29" name="Google Shape;829;p1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2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835" name="Google Shape;835;p1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6" name="Google Shape;836;p128"/>
          <p:cNvSpPr txBox="1"/>
          <p:nvPr/>
        </p:nvSpPr>
        <p:spPr>
          <a:xfrm>
            <a:off x="311700" y="2063725"/>
            <a:ext cx="8520600" cy="13833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4.4 User navigation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4.4 User navigation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12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842" name="Google Shape;842;p12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1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4" name="Google Shape;844;p12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