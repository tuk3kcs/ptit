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Cabin" charset="1" panose="00000500000000000000"/>
      <p:regular r:id="rId21"/>
    </p:embeddedFont>
    <p:embeddedFont>
      <p:font typeface="Cabin Bold" charset="1" panose="00000800000000000000"/>
      <p:regular r:id="rId22"/>
    </p:embeddedFont>
    <p:embeddedFont>
      <p:font typeface="Asap" charset="1" panose="020F0504030202060203"/>
      <p:regular r:id="rId23"/>
    </p:embeddedFont>
    <p:embeddedFont>
      <p:font typeface="Asap Bold" charset="1" panose="020F0804030202060203"/>
      <p:regular r:id="rId24"/>
    </p:embeddedFont>
    <p:embeddedFont>
      <p:font typeface="Muli Light" charset="1" panose="00000400000000000000"/>
      <p:regular r:id="rId25"/>
    </p:embeddedFont>
    <p:embeddedFont>
      <p:font typeface="Muli Ultra-Bold" charset="1" panose="00000900000000000000"/>
      <p:regular r:id="rId26"/>
    </p:embeddedFont>
    <p:embeddedFont>
      <p:font typeface="Muli Bold" charset="1" panose="00000800000000000000"/>
      <p:regular r:id="rId27"/>
    </p:embeddedFont>
    <p:embeddedFont>
      <p:font typeface="Asap Italics" charset="1" panose="020F05040302020D0203"/>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jpe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16.png" Type="http://schemas.openxmlformats.org/officeDocument/2006/relationships/image"/><Relationship Id="rId5" Target="../media/image20.jpe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16.png" Type="http://schemas.openxmlformats.org/officeDocument/2006/relationships/image"/><Relationship Id="rId5" Target="../media/image20.jpe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16.png" Type="http://schemas.openxmlformats.org/officeDocument/2006/relationships/image"/><Relationship Id="rId5" Target="../media/image20.jpe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16.png" Type="http://schemas.openxmlformats.org/officeDocument/2006/relationships/image"/><Relationship Id="rId5" Target="../media/image20.jpe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2" Target="../media/image1.jpe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2700000">
            <a:off x="4226452" y="2785792"/>
            <a:ext cx="16909587" cy="6118196"/>
          </a:xfrm>
          <a:custGeom>
            <a:avLst/>
            <a:gdLst/>
            <a:ahLst/>
            <a:cxnLst/>
            <a:rect r="r" b="b" t="t" l="l"/>
            <a:pathLst>
              <a:path h="6118196" w="16909587">
                <a:moveTo>
                  <a:pt x="0" y="0"/>
                </a:moveTo>
                <a:lnTo>
                  <a:pt x="16909587" y="0"/>
                </a:lnTo>
                <a:lnTo>
                  <a:pt x="16909587" y="6118196"/>
                </a:lnTo>
                <a:lnTo>
                  <a:pt x="0" y="6118196"/>
                </a:lnTo>
                <a:lnTo>
                  <a:pt x="0" y="0"/>
                </a:lnTo>
                <a:close/>
              </a:path>
            </a:pathLst>
          </a:custGeom>
          <a:blipFill>
            <a:blip r:embed="rId3">
              <a:alphaModFix amt="60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2674532"/>
            <a:ext cx="12261737" cy="5005606"/>
          </a:xfrm>
          <a:prstGeom prst="rect">
            <a:avLst/>
          </a:prstGeom>
        </p:spPr>
        <p:txBody>
          <a:bodyPr anchor="t" rtlCol="false" tIns="0" lIns="0" bIns="0" rIns="0">
            <a:spAutoFit/>
          </a:bodyPr>
          <a:lstStyle/>
          <a:p>
            <a:pPr algn="l">
              <a:lnSpc>
                <a:spcPts val="13307"/>
              </a:lnSpc>
            </a:pPr>
            <a:r>
              <a:rPr lang="en-US" sz="9713">
                <a:solidFill>
                  <a:srgbClr val="F8F8F8"/>
                </a:solidFill>
                <a:latin typeface="Cabin"/>
                <a:ea typeface="Cabin"/>
                <a:cs typeface="Cabin"/>
                <a:sym typeface="Cabin"/>
              </a:rPr>
              <a:t>THE UNIVERSAL WORKFLOW OF MACHINE LEARNING</a:t>
            </a:r>
          </a:p>
        </p:txBody>
      </p:sp>
      <p:sp>
        <p:nvSpPr>
          <p:cNvPr name="Freeform 5" id="5"/>
          <p:cNvSpPr/>
          <p:nvPr/>
        </p:nvSpPr>
        <p:spPr>
          <a:xfrm flipH="false" flipV="false" rot="0">
            <a:off x="13112850" y="1270153"/>
            <a:ext cx="260453" cy="260453"/>
          </a:xfrm>
          <a:custGeom>
            <a:avLst/>
            <a:gdLst/>
            <a:ahLst/>
            <a:cxnLst/>
            <a:rect r="r" b="b" t="t" l="l"/>
            <a:pathLst>
              <a:path h="260453" w="260453">
                <a:moveTo>
                  <a:pt x="0" y="0"/>
                </a:moveTo>
                <a:lnTo>
                  <a:pt x="260454" y="0"/>
                </a:lnTo>
                <a:lnTo>
                  <a:pt x="260454" y="260453"/>
                </a:lnTo>
                <a:lnTo>
                  <a:pt x="0" y="2604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3696947" y="5522558"/>
            <a:ext cx="3892742" cy="3872105"/>
            <a:chOff x="0" y="0"/>
            <a:chExt cx="5190323" cy="5162807"/>
          </a:xfrm>
        </p:grpSpPr>
        <p:sp>
          <p:nvSpPr>
            <p:cNvPr name="TextBox 7" id="7"/>
            <p:cNvSpPr txBox="true"/>
            <p:nvPr/>
          </p:nvSpPr>
          <p:spPr>
            <a:xfrm rot="0">
              <a:off x="0" y="4904"/>
              <a:ext cx="5190323" cy="440267"/>
            </a:xfrm>
            <a:prstGeom prst="rect">
              <a:avLst/>
            </a:prstGeom>
          </p:spPr>
          <p:txBody>
            <a:bodyPr anchor="t" rtlCol="false" tIns="0" lIns="0" bIns="0" rIns="0">
              <a:spAutoFit/>
            </a:bodyPr>
            <a:lstStyle/>
            <a:p>
              <a:pPr algn="r" marL="0" indent="0" lvl="0">
                <a:lnSpc>
                  <a:spcPts val="2762"/>
                </a:lnSpc>
                <a:spcBef>
                  <a:spcPct val="0"/>
                </a:spcBef>
              </a:pPr>
              <a:r>
                <a:rPr lang="en-US" b="true" sz="2124" spc="184" u="none">
                  <a:solidFill>
                    <a:srgbClr val="F8F8F8"/>
                  </a:solidFill>
                  <a:latin typeface="Cabin Bold"/>
                  <a:ea typeface="Cabin Bold"/>
                  <a:cs typeface="Cabin Bold"/>
                  <a:sym typeface="Cabin Bold"/>
                </a:rPr>
                <a:t>ĐƯỢC TRÌNH BÀY CHO</a:t>
              </a:r>
            </a:p>
          </p:txBody>
        </p:sp>
        <p:sp>
          <p:nvSpPr>
            <p:cNvPr name="TextBox 8" id="8"/>
            <p:cNvSpPr txBox="true"/>
            <p:nvPr/>
          </p:nvSpPr>
          <p:spPr>
            <a:xfrm rot="0">
              <a:off x="0" y="517322"/>
              <a:ext cx="5190323" cy="525145"/>
            </a:xfrm>
            <a:prstGeom prst="rect">
              <a:avLst/>
            </a:prstGeom>
          </p:spPr>
          <p:txBody>
            <a:bodyPr anchor="t" rtlCol="false" tIns="0" lIns="0" bIns="0" rIns="0">
              <a:spAutoFit/>
            </a:bodyPr>
            <a:lstStyle/>
            <a:p>
              <a:pPr algn="r">
                <a:lnSpc>
                  <a:spcPts val="3359"/>
                </a:lnSpc>
              </a:pPr>
              <a:r>
                <a:rPr lang="en-US" sz="2400">
                  <a:solidFill>
                    <a:srgbClr val="F8F8F8"/>
                  </a:solidFill>
                  <a:latin typeface="Asap"/>
                  <a:ea typeface="Asap"/>
                  <a:cs typeface="Asap"/>
                  <a:sym typeface="Asap"/>
                </a:rPr>
                <a:t>THẦY NGUYỄN NGỌC QUẾ</a:t>
              </a:r>
            </a:p>
          </p:txBody>
        </p:sp>
        <p:sp>
          <p:nvSpPr>
            <p:cNvPr name="TextBox 9" id="9"/>
            <p:cNvSpPr txBox="true"/>
            <p:nvPr/>
          </p:nvSpPr>
          <p:spPr>
            <a:xfrm rot="0">
              <a:off x="0" y="4637662"/>
              <a:ext cx="5190323" cy="525145"/>
            </a:xfrm>
            <a:prstGeom prst="rect">
              <a:avLst/>
            </a:prstGeom>
          </p:spPr>
          <p:txBody>
            <a:bodyPr anchor="t" rtlCol="false" tIns="0" lIns="0" bIns="0" rIns="0">
              <a:spAutoFit/>
            </a:bodyPr>
            <a:lstStyle/>
            <a:p>
              <a:pPr algn="r">
                <a:lnSpc>
                  <a:spcPts val="3359"/>
                </a:lnSpc>
              </a:pPr>
              <a:r>
                <a:rPr lang="en-US" sz="2400">
                  <a:solidFill>
                    <a:srgbClr val="F8F8F8"/>
                  </a:solidFill>
                  <a:latin typeface="Asap"/>
                  <a:ea typeface="Asap"/>
                  <a:cs typeface="Asap"/>
                  <a:sym typeface="Asap"/>
                </a:rPr>
                <a:t>18-9-2025</a:t>
              </a:r>
            </a:p>
          </p:txBody>
        </p:sp>
        <p:sp>
          <p:nvSpPr>
            <p:cNvPr name="TextBox 10" id="10"/>
            <p:cNvSpPr txBox="true"/>
            <p:nvPr/>
          </p:nvSpPr>
          <p:spPr>
            <a:xfrm rot="0">
              <a:off x="0" y="2442898"/>
              <a:ext cx="5190323" cy="464397"/>
            </a:xfrm>
            <a:prstGeom prst="rect">
              <a:avLst/>
            </a:prstGeom>
          </p:spPr>
          <p:txBody>
            <a:bodyPr anchor="t" rtlCol="false" tIns="0" lIns="0" bIns="0" rIns="0">
              <a:spAutoFit/>
            </a:bodyPr>
            <a:lstStyle/>
            <a:p>
              <a:pPr algn="r" marL="0" indent="0" lvl="0">
                <a:lnSpc>
                  <a:spcPts val="2859"/>
                </a:lnSpc>
                <a:spcBef>
                  <a:spcPct val="0"/>
                </a:spcBef>
              </a:pPr>
              <a:r>
                <a:rPr lang="en-US" b="true" sz="2199" spc="191" u="none">
                  <a:solidFill>
                    <a:srgbClr val="F8F8F8"/>
                  </a:solidFill>
                  <a:latin typeface="Cabin Bold"/>
                  <a:ea typeface="Cabin Bold"/>
                  <a:cs typeface="Cabin Bold"/>
                  <a:sym typeface="Cabin Bold"/>
                </a:rPr>
                <a:t>ĐƯỢC TRÌNH BÀY BỞI</a:t>
              </a:r>
            </a:p>
          </p:txBody>
        </p:sp>
        <p:sp>
          <p:nvSpPr>
            <p:cNvPr name="TextBox 11" id="11"/>
            <p:cNvSpPr txBox="true"/>
            <p:nvPr/>
          </p:nvSpPr>
          <p:spPr>
            <a:xfrm rot="0">
              <a:off x="0" y="2979446"/>
              <a:ext cx="5190323" cy="525145"/>
            </a:xfrm>
            <a:prstGeom prst="rect">
              <a:avLst/>
            </a:prstGeom>
          </p:spPr>
          <p:txBody>
            <a:bodyPr anchor="t" rtlCol="false" tIns="0" lIns="0" bIns="0" rIns="0">
              <a:spAutoFit/>
            </a:bodyPr>
            <a:lstStyle/>
            <a:p>
              <a:pPr algn="r">
                <a:lnSpc>
                  <a:spcPts val="3359"/>
                </a:lnSpc>
              </a:pPr>
              <a:r>
                <a:rPr lang="en-US" sz="2400">
                  <a:solidFill>
                    <a:srgbClr val="F8F8F8"/>
                  </a:solidFill>
                  <a:latin typeface="Asap"/>
                  <a:ea typeface="Asap"/>
                  <a:cs typeface="Asap"/>
                  <a:sym typeface="Asap"/>
                </a:rPr>
                <a:t>NHÓM 3</a:t>
              </a:r>
            </a:p>
          </p:txBody>
        </p:sp>
      </p:grpSp>
      <p:sp>
        <p:nvSpPr>
          <p:cNvPr name="TextBox 12" id="12"/>
          <p:cNvSpPr txBox="true"/>
          <p:nvPr/>
        </p:nvSpPr>
        <p:spPr>
          <a:xfrm rot="0">
            <a:off x="1028700" y="8668385"/>
            <a:ext cx="6631941" cy="589915"/>
          </a:xfrm>
          <a:prstGeom prst="rect">
            <a:avLst/>
          </a:prstGeom>
        </p:spPr>
        <p:txBody>
          <a:bodyPr anchor="t" rtlCol="false" tIns="0" lIns="0" bIns="0" rIns="0">
            <a:spAutoFit/>
          </a:bodyPr>
          <a:lstStyle/>
          <a:p>
            <a:pPr algn="l">
              <a:lnSpc>
                <a:spcPts val="4759"/>
              </a:lnSpc>
            </a:pPr>
            <a:r>
              <a:rPr lang="en-US" sz="3399">
                <a:solidFill>
                  <a:srgbClr val="F8F8F8"/>
                </a:solidFill>
                <a:latin typeface="Asap"/>
                <a:ea typeface="Asap"/>
                <a:cs typeface="Asap"/>
                <a:sym typeface="Asap"/>
              </a:rPr>
              <a:t>BÀI THUYẾT TRÌNH</a:t>
            </a:r>
          </a:p>
        </p:txBody>
      </p:sp>
      <p:grpSp>
        <p:nvGrpSpPr>
          <p:cNvPr name="Group 13" id="13"/>
          <p:cNvGrpSpPr/>
          <p:nvPr/>
        </p:nvGrpSpPr>
        <p:grpSpPr>
          <a:xfrm rot="0">
            <a:off x="1028700" y="1044628"/>
            <a:ext cx="4430522" cy="555482"/>
            <a:chOff x="0" y="0"/>
            <a:chExt cx="5907362" cy="740642"/>
          </a:xfrm>
        </p:grpSpPr>
        <p:sp>
          <p:nvSpPr>
            <p:cNvPr name="TextBox 14" id="14"/>
            <p:cNvSpPr txBox="true"/>
            <p:nvPr/>
          </p:nvSpPr>
          <p:spPr>
            <a:xfrm rot="0">
              <a:off x="996423" y="69480"/>
              <a:ext cx="4910939" cy="554058"/>
            </a:xfrm>
            <a:prstGeom prst="rect">
              <a:avLst/>
            </a:prstGeom>
          </p:spPr>
          <p:txBody>
            <a:bodyPr anchor="t" rtlCol="false" tIns="0" lIns="0" bIns="0" rIns="0">
              <a:spAutoFit/>
            </a:bodyPr>
            <a:lstStyle/>
            <a:p>
              <a:pPr algn="l">
                <a:lnSpc>
                  <a:spcPts val="3498"/>
                </a:lnSpc>
                <a:spcBef>
                  <a:spcPct val="0"/>
                </a:spcBef>
              </a:pPr>
              <a:r>
                <a:rPr lang="en-US" b="true" sz="2498">
                  <a:solidFill>
                    <a:srgbClr val="F8F8F8"/>
                  </a:solidFill>
                  <a:latin typeface="Asap Bold"/>
                  <a:ea typeface="Asap Bold"/>
                  <a:cs typeface="Asap Bold"/>
                  <a:sym typeface="Asap Bold"/>
                </a:rPr>
                <a:t>NHÓM 3</a:t>
              </a:r>
            </a:p>
          </p:txBody>
        </p:sp>
        <p:sp>
          <p:nvSpPr>
            <p:cNvPr name="Freeform 15" id="15"/>
            <p:cNvSpPr/>
            <p:nvPr/>
          </p:nvSpPr>
          <p:spPr>
            <a:xfrm flipH="false" flipV="false" rot="0">
              <a:off x="0" y="0"/>
              <a:ext cx="719096" cy="740642"/>
            </a:xfrm>
            <a:custGeom>
              <a:avLst/>
              <a:gdLst/>
              <a:ahLst/>
              <a:cxnLst/>
              <a:rect r="r" b="b" t="t" l="l"/>
              <a:pathLst>
                <a:path h="740642" w="719096">
                  <a:moveTo>
                    <a:pt x="0" y="0"/>
                  </a:moveTo>
                  <a:lnTo>
                    <a:pt x="719096" y="0"/>
                  </a:lnTo>
                  <a:lnTo>
                    <a:pt x="719096" y="740642"/>
                  </a:lnTo>
                  <a:lnTo>
                    <a:pt x="0" y="74064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709991" y="2427378"/>
            <a:ext cx="6979141" cy="1407795"/>
          </a:xfrm>
          <a:prstGeom prst="rect">
            <a:avLst/>
          </a:prstGeom>
        </p:spPr>
        <p:txBody>
          <a:bodyPr anchor="t" rtlCol="false" tIns="0" lIns="0" bIns="0" rIns="0">
            <a:spAutoFit/>
          </a:bodyPr>
          <a:lstStyle/>
          <a:p>
            <a:pPr algn="l" marL="582930" indent="-291465" lvl="1">
              <a:lnSpc>
                <a:spcPts val="3779"/>
              </a:lnSpc>
              <a:buFont typeface="Arial"/>
              <a:buChar char="•"/>
            </a:pPr>
            <a:r>
              <a:rPr lang="en-US" sz="2700" spc="13">
                <a:solidFill>
                  <a:srgbClr val="000000"/>
                </a:solidFill>
                <a:latin typeface="Muli Light"/>
                <a:ea typeface="Muli Light"/>
                <a:cs typeface="Muli Light"/>
                <a:sym typeface="Muli Light"/>
              </a:rPr>
              <a:t>6.1.1 Định hình bài toán</a:t>
            </a:r>
          </a:p>
          <a:p>
            <a:pPr algn="l" marL="582930" indent="-291465" lvl="1">
              <a:lnSpc>
                <a:spcPts val="3779"/>
              </a:lnSpc>
              <a:buFont typeface="Arial"/>
              <a:buChar char="•"/>
            </a:pPr>
            <a:r>
              <a:rPr lang="en-US" sz="2700" spc="13">
                <a:solidFill>
                  <a:srgbClr val="000000"/>
                </a:solidFill>
                <a:latin typeface="Muli Light"/>
                <a:ea typeface="Muli Light"/>
                <a:cs typeface="Muli Light"/>
                <a:sym typeface="Muli Light"/>
              </a:rPr>
              <a:t>6.1.2 </a:t>
            </a:r>
            <a:r>
              <a:rPr lang="en-US" sz="2700" spc="13" u="sng">
                <a:solidFill>
                  <a:srgbClr val="000000"/>
                </a:solidFill>
                <a:latin typeface="Muli Light"/>
                <a:ea typeface="Muli Light"/>
                <a:cs typeface="Muli Light"/>
                <a:sym typeface="Muli Light"/>
              </a:rPr>
              <a:t>Thu thập và hiểu dữ liệu</a:t>
            </a:r>
          </a:p>
          <a:p>
            <a:pPr algn="l" marL="582930" indent="-291465" lvl="1">
              <a:lnSpc>
                <a:spcPts val="3779"/>
              </a:lnSpc>
              <a:buFont typeface="Arial"/>
              <a:buChar char="•"/>
            </a:pPr>
            <a:r>
              <a:rPr lang="en-US" sz="2700" spc="13" u="sng">
                <a:solidFill>
                  <a:srgbClr val="000000"/>
                </a:solidFill>
                <a:latin typeface="Muli Light"/>
                <a:ea typeface="Muli Light"/>
                <a:cs typeface="Muli Light"/>
                <a:sym typeface="Muli Light"/>
              </a:rPr>
              <a:t>6.1.3 Định nghĩa thước đo thành công</a:t>
            </a:r>
          </a:p>
        </p:txBody>
      </p:sp>
      <p:sp>
        <p:nvSpPr>
          <p:cNvPr name="TextBox 3" id="3"/>
          <p:cNvSpPr txBox="true"/>
          <p:nvPr/>
        </p:nvSpPr>
        <p:spPr>
          <a:xfrm rot="0">
            <a:off x="9709991" y="1655907"/>
            <a:ext cx="6979141" cy="533400"/>
          </a:xfrm>
          <a:prstGeom prst="rect">
            <a:avLst/>
          </a:prstGeom>
        </p:spPr>
        <p:txBody>
          <a:bodyPr anchor="t" rtlCol="false" tIns="0" lIns="0" bIns="0" rIns="0">
            <a:spAutoFit/>
          </a:bodyPr>
          <a:lstStyle/>
          <a:p>
            <a:pPr algn="l">
              <a:lnSpc>
                <a:spcPts val="4200"/>
              </a:lnSpc>
            </a:pPr>
            <a:r>
              <a:rPr lang="en-US" sz="3500" spc="105" b="true">
                <a:solidFill>
                  <a:srgbClr val="1836B2"/>
                </a:solidFill>
                <a:latin typeface="Muli Ultra-Bold"/>
                <a:ea typeface="Muli Ultra-Bold"/>
                <a:cs typeface="Muli Ultra-Bold"/>
                <a:sym typeface="Muli Ultra-Bold"/>
              </a:rPr>
              <a:t>6.1 Định nghĩa nhiệm vụ</a:t>
            </a:r>
          </a:p>
        </p:txBody>
      </p:sp>
      <p:sp>
        <p:nvSpPr>
          <p:cNvPr name="TextBox 4" id="4"/>
          <p:cNvSpPr txBox="true"/>
          <p:nvPr/>
        </p:nvSpPr>
        <p:spPr>
          <a:xfrm rot="0">
            <a:off x="9709991" y="5323700"/>
            <a:ext cx="6979141" cy="1884045"/>
          </a:xfrm>
          <a:prstGeom prst="rect">
            <a:avLst/>
          </a:prstGeom>
        </p:spPr>
        <p:txBody>
          <a:bodyPr anchor="t" rtlCol="false" tIns="0" lIns="0" bIns="0" rIns="0">
            <a:spAutoFit/>
          </a:bodyPr>
          <a:lstStyle/>
          <a:p>
            <a:pPr algn="l" marL="582930" indent="-291465" lvl="1">
              <a:lnSpc>
                <a:spcPts val="3779"/>
              </a:lnSpc>
              <a:buFont typeface="Arial"/>
              <a:buChar char="•"/>
            </a:pPr>
            <a:r>
              <a:rPr lang="en-US" sz="2700" spc="13">
                <a:solidFill>
                  <a:srgbClr val="000000"/>
                </a:solidFill>
                <a:latin typeface="Muli Light"/>
                <a:ea typeface="Muli Light"/>
                <a:cs typeface="Muli Light"/>
                <a:sym typeface="Muli Light"/>
              </a:rPr>
              <a:t>6.2.1 </a:t>
            </a:r>
            <a:r>
              <a:rPr lang="en-US" sz="2700" spc="13" u="sng">
                <a:solidFill>
                  <a:srgbClr val="000000"/>
                </a:solidFill>
                <a:latin typeface="Muli Light"/>
                <a:ea typeface="Muli Light"/>
                <a:cs typeface="Muli Light"/>
                <a:sym typeface="Muli Light"/>
              </a:rPr>
              <a:t>Chuẩn bị dữ liệu</a:t>
            </a:r>
          </a:p>
          <a:p>
            <a:pPr algn="l" marL="582930" indent="-291465" lvl="1">
              <a:lnSpc>
                <a:spcPts val="3779"/>
              </a:lnSpc>
              <a:buFont typeface="Arial"/>
              <a:buChar char="•"/>
            </a:pPr>
            <a:r>
              <a:rPr lang="en-US" sz="2700" spc="13" u="sng">
                <a:solidFill>
                  <a:srgbClr val="000000"/>
                </a:solidFill>
                <a:latin typeface="Muli Light"/>
                <a:ea typeface="Muli Light"/>
                <a:cs typeface="Muli Light"/>
                <a:sym typeface="Muli Light"/>
              </a:rPr>
              <a:t>6.2.2 Chọn một giao thức đánh giá</a:t>
            </a:r>
          </a:p>
          <a:p>
            <a:pPr algn="l" marL="582930" indent="-291465" lvl="1">
              <a:lnSpc>
                <a:spcPts val="3779"/>
              </a:lnSpc>
              <a:buFont typeface="Arial"/>
              <a:buChar char="•"/>
            </a:pPr>
            <a:r>
              <a:rPr lang="en-US" sz="2700" spc="13" u="sng">
                <a:solidFill>
                  <a:srgbClr val="000000"/>
                </a:solidFill>
                <a:latin typeface="Muli Light"/>
                <a:ea typeface="Muli Light"/>
                <a:cs typeface="Muli Light"/>
                <a:sym typeface="Muli Light"/>
              </a:rPr>
              <a:t>6.2.3 Đánh bại một ngưỡng cơ bản (baseline) thông thường</a:t>
            </a:r>
          </a:p>
        </p:txBody>
      </p:sp>
      <p:sp>
        <p:nvSpPr>
          <p:cNvPr name="TextBox 5" id="5"/>
          <p:cNvSpPr txBox="true"/>
          <p:nvPr/>
        </p:nvSpPr>
        <p:spPr>
          <a:xfrm rot="0">
            <a:off x="9709991" y="4552229"/>
            <a:ext cx="6979141" cy="533400"/>
          </a:xfrm>
          <a:prstGeom prst="rect">
            <a:avLst/>
          </a:prstGeom>
        </p:spPr>
        <p:txBody>
          <a:bodyPr anchor="t" rtlCol="false" tIns="0" lIns="0" bIns="0" rIns="0">
            <a:spAutoFit/>
          </a:bodyPr>
          <a:lstStyle/>
          <a:p>
            <a:pPr algn="l">
              <a:lnSpc>
                <a:spcPts val="4200"/>
              </a:lnSpc>
            </a:pPr>
            <a:r>
              <a:rPr lang="en-US" sz="3500" spc="105" b="true">
                <a:solidFill>
                  <a:srgbClr val="1836B2"/>
                </a:solidFill>
                <a:latin typeface="Muli Ultra-Bold"/>
                <a:ea typeface="Muli Ultra-Bold"/>
                <a:cs typeface="Muli Ultra-Bold"/>
                <a:sym typeface="Muli Ultra-Bold"/>
              </a:rPr>
              <a:t>6.2 </a:t>
            </a:r>
            <a:r>
              <a:rPr lang="en-US" b="true" sz="3500" spc="105" u="sng">
                <a:solidFill>
                  <a:srgbClr val="1836B2"/>
                </a:solidFill>
                <a:latin typeface="Muli Ultra-Bold"/>
                <a:ea typeface="Muli Ultra-Bold"/>
                <a:cs typeface="Muli Ultra-Bold"/>
                <a:sym typeface="Muli Ultra-Bold"/>
              </a:rPr>
              <a:t>Phát triển một mô hình</a:t>
            </a:r>
          </a:p>
        </p:txBody>
      </p:sp>
      <p:sp>
        <p:nvSpPr>
          <p:cNvPr name="TextBox 6" id="6"/>
          <p:cNvSpPr txBox="true"/>
          <p:nvPr/>
        </p:nvSpPr>
        <p:spPr>
          <a:xfrm rot="0">
            <a:off x="9709991" y="7448550"/>
            <a:ext cx="7760060" cy="1066800"/>
          </a:xfrm>
          <a:prstGeom prst="rect">
            <a:avLst/>
          </a:prstGeom>
        </p:spPr>
        <p:txBody>
          <a:bodyPr anchor="t" rtlCol="false" tIns="0" lIns="0" bIns="0" rIns="0">
            <a:spAutoFit/>
          </a:bodyPr>
          <a:lstStyle/>
          <a:p>
            <a:pPr algn="l">
              <a:lnSpc>
                <a:spcPts val="4200"/>
              </a:lnSpc>
            </a:pPr>
            <a:r>
              <a:rPr lang="en-US" sz="3500" spc="105" b="true">
                <a:solidFill>
                  <a:srgbClr val="1836B2"/>
                </a:solidFill>
                <a:latin typeface="Muli Ultra-Bold"/>
                <a:ea typeface="Muli Ultra-Bold"/>
                <a:cs typeface="Muli Ultra-Bold"/>
                <a:sym typeface="Muli Ultra-Bold"/>
              </a:rPr>
              <a:t>6.3 Triển khai mô hình (Deploy the model)</a:t>
            </a:r>
          </a:p>
        </p:txBody>
      </p:sp>
      <p:sp>
        <p:nvSpPr>
          <p:cNvPr name="TextBox 7" id="7"/>
          <p:cNvSpPr txBox="true"/>
          <p:nvPr/>
        </p:nvSpPr>
        <p:spPr>
          <a:xfrm rot="0">
            <a:off x="1373023" y="2477327"/>
            <a:ext cx="5866764" cy="1192530"/>
          </a:xfrm>
          <a:prstGeom prst="rect">
            <a:avLst/>
          </a:prstGeom>
        </p:spPr>
        <p:txBody>
          <a:bodyPr anchor="t" rtlCol="false" tIns="0" lIns="0" bIns="0" rIns="0">
            <a:spAutoFit/>
          </a:bodyPr>
          <a:lstStyle/>
          <a:p>
            <a:pPr algn="l">
              <a:lnSpc>
                <a:spcPts val="9240"/>
              </a:lnSpc>
            </a:pPr>
            <a:r>
              <a:rPr lang="en-US" sz="8400" b="true">
                <a:solidFill>
                  <a:srgbClr val="1836B2"/>
                </a:solidFill>
                <a:latin typeface="Muli Bold"/>
                <a:ea typeface="Muli Bold"/>
                <a:cs typeface="Muli Bold"/>
                <a:sym typeface="Muli Bold"/>
              </a:rPr>
              <a:t>MỤC LỤC</a:t>
            </a:r>
          </a:p>
        </p:txBody>
      </p:sp>
      <p:sp>
        <p:nvSpPr>
          <p:cNvPr name="Freeform 8" id="8"/>
          <p:cNvSpPr/>
          <p:nvPr/>
        </p:nvSpPr>
        <p:spPr>
          <a:xfrm flipH="false" flipV="false" rot="0">
            <a:off x="1392073" y="1028700"/>
            <a:ext cx="1098500" cy="627207"/>
          </a:xfrm>
          <a:custGeom>
            <a:avLst/>
            <a:gdLst/>
            <a:ahLst/>
            <a:cxnLst/>
            <a:rect r="r" b="b" t="t" l="l"/>
            <a:pathLst>
              <a:path h="627207" w="1098500">
                <a:moveTo>
                  <a:pt x="0" y="0"/>
                </a:moveTo>
                <a:lnTo>
                  <a:pt x="1098500" y="0"/>
                </a:lnTo>
                <a:lnTo>
                  <a:pt x="1098500" y="627207"/>
                </a:lnTo>
                <a:lnTo>
                  <a:pt x="0" y="627207"/>
                </a:lnTo>
                <a:lnTo>
                  <a:pt x="0" y="0"/>
                </a:lnTo>
                <a:close/>
              </a:path>
            </a:pathLst>
          </a:custGeom>
          <a:blipFill>
            <a:blip r:embed="rId2">
              <a:extLst>
                <a:ext uri="{96DAC541-7B7A-43D3-8B79-37D633B846F1}">
                  <asvg:svgBlip xmlns:asvg="http://schemas.microsoft.com/office/drawing/2016/SVG/main" r:embed="rId3"/>
                </a:ext>
              </a:extLst>
            </a:blip>
            <a:stretch>
              <a:fillRect l="0" t="-51576" r="0" b="0"/>
            </a:stretch>
          </a:blipFill>
        </p:spPr>
      </p:sp>
      <p:sp>
        <p:nvSpPr>
          <p:cNvPr name="Freeform 9" id="9"/>
          <p:cNvSpPr/>
          <p:nvPr/>
        </p:nvSpPr>
        <p:spPr>
          <a:xfrm flipH="false" flipV="false" rot="0">
            <a:off x="8307440" y="7448550"/>
            <a:ext cx="732406" cy="665824"/>
          </a:xfrm>
          <a:custGeom>
            <a:avLst/>
            <a:gdLst/>
            <a:ahLst/>
            <a:cxnLst/>
            <a:rect r="r" b="b" t="t" l="l"/>
            <a:pathLst>
              <a:path h="665824" w="732406">
                <a:moveTo>
                  <a:pt x="0" y="0"/>
                </a:moveTo>
                <a:lnTo>
                  <a:pt x="732406" y="0"/>
                </a:lnTo>
                <a:lnTo>
                  <a:pt x="732406" y="665824"/>
                </a:lnTo>
                <a:lnTo>
                  <a:pt x="0" y="6658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8340731" y="1655907"/>
            <a:ext cx="665824" cy="665824"/>
          </a:xfrm>
          <a:custGeom>
            <a:avLst/>
            <a:gdLst/>
            <a:ahLst/>
            <a:cxnLst/>
            <a:rect r="r" b="b" t="t" l="l"/>
            <a:pathLst>
              <a:path h="665824" w="665824">
                <a:moveTo>
                  <a:pt x="0" y="0"/>
                </a:moveTo>
                <a:lnTo>
                  <a:pt x="665824" y="0"/>
                </a:lnTo>
                <a:lnTo>
                  <a:pt x="665824" y="665825"/>
                </a:lnTo>
                <a:lnTo>
                  <a:pt x="0" y="6658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8332882" y="4552229"/>
            <a:ext cx="681521" cy="681521"/>
          </a:xfrm>
          <a:custGeom>
            <a:avLst/>
            <a:gdLst/>
            <a:ahLst/>
            <a:cxnLst/>
            <a:rect r="r" b="b" t="t" l="l"/>
            <a:pathLst>
              <a:path h="681521" w="681521">
                <a:moveTo>
                  <a:pt x="0" y="0"/>
                </a:moveTo>
                <a:lnTo>
                  <a:pt x="681522" y="0"/>
                </a:lnTo>
                <a:lnTo>
                  <a:pt x="681522" y="681521"/>
                </a:lnTo>
                <a:lnTo>
                  <a:pt x="0" y="6815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2" id="12"/>
          <p:cNvGrpSpPr>
            <a:grpSpLocks noChangeAspect="true"/>
          </p:cNvGrpSpPr>
          <p:nvPr/>
        </p:nvGrpSpPr>
        <p:grpSpPr>
          <a:xfrm rot="0">
            <a:off x="798218" y="4403282"/>
            <a:ext cx="6280690" cy="12763931"/>
            <a:chOff x="0" y="0"/>
            <a:chExt cx="5001260" cy="10163810"/>
          </a:xfrm>
        </p:grpSpPr>
        <p:sp>
          <p:nvSpPr>
            <p:cNvPr name="Freeform 13" id="13"/>
            <p:cNvSpPr/>
            <p:nvPr/>
          </p:nvSpPr>
          <p:spPr>
            <a:xfrm flipH="false" flipV="false" rot="0">
              <a:off x="0" y="0"/>
              <a:ext cx="5000993" cy="10163632"/>
            </a:xfrm>
            <a:custGeom>
              <a:avLst/>
              <a:gdLst/>
              <a:ahLst/>
              <a:cxnLst/>
              <a:rect r="r" b="b" t="t" l="l"/>
              <a:pathLst>
                <a:path h="10163632" w="5000993">
                  <a:moveTo>
                    <a:pt x="0" y="0"/>
                  </a:moveTo>
                  <a:lnTo>
                    <a:pt x="5000993" y="0"/>
                  </a:lnTo>
                  <a:lnTo>
                    <a:pt x="5000993" y="10163632"/>
                  </a:lnTo>
                  <a:lnTo>
                    <a:pt x="0" y="10163632"/>
                  </a:lnTo>
                  <a:close/>
                </a:path>
              </a:pathLst>
            </a:custGeom>
            <a:blipFill>
              <a:blip r:embed="rId10"/>
              <a:stretch>
                <a:fillRect l="-45" t="0" r="-45" b="0"/>
              </a:stretch>
            </a:blipFill>
          </p:spPr>
        </p:sp>
        <p:sp>
          <p:nvSpPr>
            <p:cNvPr name="Freeform 14" id="14"/>
            <p:cNvSpPr/>
            <p:nvPr/>
          </p:nvSpPr>
          <p:spPr>
            <a:xfrm flipH="false" flipV="false" rot="0">
              <a:off x="338760" y="288798"/>
              <a:ext cx="4330776" cy="9398000"/>
            </a:xfrm>
            <a:custGeom>
              <a:avLst/>
              <a:gdLst/>
              <a:ahLst/>
              <a:cxnLst/>
              <a:rect r="r" b="b" t="t" l="l"/>
              <a:pathLst>
                <a:path h="9398000" w="4330776">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11"/>
              <a:stretch>
                <a:fillRect l="-112855" t="0" r="-112855"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2415644">
            <a:off x="6846336" y="4199039"/>
            <a:ext cx="15465517" cy="5595705"/>
          </a:xfrm>
          <a:custGeom>
            <a:avLst/>
            <a:gdLst/>
            <a:ahLst/>
            <a:cxnLst/>
            <a:rect r="r" b="b" t="t" l="l"/>
            <a:pathLst>
              <a:path h="5595705" w="15465517">
                <a:moveTo>
                  <a:pt x="0" y="0"/>
                </a:moveTo>
                <a:lnTo>
                  <a:pt x="15465516" y="0"/>
                </a:lnTo>
                <a:lnTo>
                  <a:pt x="15465516" y="5595705"/>
                </a:lnTo>
                <a:lnTo>
                  <a:pt x="0" y="5595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2723254" y="2350770"/>
            <a:ext cx="4881453" cy="9920331"/>
            <a:chOff x="0" y="0"/>
            <a:chExt cx="5001260" cy="10163810"/>
          </a:xfrm>
        </p:grpSpPr>
        <p:sp>
          <p:nvSpPr>
            <p:cNvPr name="Freeform 4" id="4"/>
            <p:cNvSpPr/>
            <p:nvPr/>
          </p:nvSpPr>
          <p:spPr>
            <a:xfrm flipH="false" flipV="false" rot="0">
              <a:off x="0" y="0"/>
              <a:ext cx="5000993" cy="10163632"/>
            </a:xfrm>
            <a:custGeom>
              <a:avLst/>
              <a:gdLst/>
              <a:ahLst/>
              <a:cxnLst/>
              <a:rect r="r" b="b" t="t" l="l"/>
              <a:pathLst>
                <a:path h="10163632" w="5000993">
                  <a:moveTo>
                    <a:pt x="0" y="0"/>
                  </a:moveTo>
                  <a:lnTo>
                    <a:pt x="5000993" y="0"/>
                  </a:lnTo>
                  <a:lnTo>
                    <a:pt x="5000993" y="10163632"/>
                  </a:lnTo>
                  <a:lnTo>
                    <a:pt x="0" y="10163632"/>
                  </a:lnTo>
                  <a:close/>
                </a:path>
              </a:pathLst>
            </a:custGeom>
            <a:blipFill>
              <a:blip r:embed="rId4"/>
              <a:stretch>
                <a:fillRect l="-45" t="0" r="-45" b="0"/>
              </a:stretch>
            </a:blipFill>
          </p:spPr>
        </p:sp>
        <p:sp>
          <p:nvSpPr>
            <p:cNvPr name="Freeform 5" id="5"/>
            <p:cNvSpPr/>
            <p:nvPr/>
          </p:nvSpPr>
          <p:spPr>
            <a:xfrm flipH="false" flipV="false" rot="0">
              <a:off x="338760" y="288798"/>
              <a:ext cx="4330776" cy="9398000"/>
            </a:xfrm>
            <a:custGeom>
              <a:avLst/>
              <a:gdLst/>
              <a:ahLst/>
              <a:cxnLst/>
              <a:rect r="r" b="b" t="t" l="l"/>
              <a:pathLst>
                <a:path h="9398000" w="4330776">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5"/>
              <a:stretch>
                <a:fillRect l="-58641" t="0" r="-31780" b="0"/>
              </a:stretch>
            </a:blipFill>
          </p:spPr>
        </p:sp>
      </p:grpSp>
      <p:sp>
        <p:nvSpPr>
          <p:cNvPr name="TextBox 6" id="6"/>
          <p:cNvSpPr txBox="true"/>
          <p:nvPr/>
        </p:nvSpPr>
        <p:spPr>
          <a:xfrm rot="0">
            <a:off x="848488" y="3101300"/>
            <a:ext cx="9949247" cy="485775"/>
          </a:xfrm>
          <a:prstGeom prst="rect">
            <a:avLst/>
          </a:prstGeom>
        </p:spPr>
        <p:txBody>
          <a:bodyPr anchor="t" rtlCol="false" tIns="0" lIns="0" bIns="0" rIns="0">
            <a:spAutoFit/>
          </a:bodyPr>
          <a:lstStyle/>
          <a:p>
            <a:pPr algn="l" marL="0" indent="0" lvl="0">
              <a:lnSpc>
                <a:spcPts val="3840"/>
              </a:lnSpc>
              <a:spcBef>
                <a:spcPct val="0"/>
              </a:spcBef>
            </a:pPr>
            <a:r>
              <a:rPr lang="en-US" sz="3200" u="none">
                <a:solidFill>
                  <a:srgbClr val="2667FF"/>
                </a:solidFill>
                <a:latin typeface="Cabin"/>
                <a:ea typeface="Cabin"/>
                <a:cs typeface="Cabin"/>
                <a:sym typeface="Cabin"/>
              </a:rPr>
              <a:t># 1</a:t>
            </a:r>
          </a:p>
        </p:txBody>
      </p:sp>
      <p:sp>
        <p:nvSpPr>
          <p:cNvPr name="TextBox 7" id="7"/>
          <p:cNvSpPr txBox="true"/>
          <p:nvPr/>
        </p:nvSpPr>
        <p:spPr>
          <a:xfrm rot="0">
            <a:off x="1674460" y="3053675"/>
            <a:ext cx="9949247" cy="824865"/>
          </a:xfrm>
          <a:prstGeom prst="rect">
            <a:avLst/>
          </a:prstGeom>
        </p:spPr>
        <p:txBody>
          <a:bodyPr anchor="t" rtlCol="false" tIns="0" lIns="0" bIns="0" rIns="0">
            <a:spAutoFit/>
          </a:bodyPr>
          <a:lstStyle/>
          <a:p>
            <a:pPr algn="l">
              <a:lnSpc>
                <a:spcPts val="3359"/>
              </a:lnSpc>
            </a:pPr>
            <a:r>
              <a:rPr lang="en-US" sz="2400">
                <a:solidFill>
                  <a:srgbClr val="01003B"/>
                </a:solidFill>
                <a:latin typeface="Asap"/>
                <a:ea typeface="Asap"/>
                <a:cs typeface="Asap"/>
                <a:sym typeface="Asap"/>
              </a:rPr>
              <a:t>Dữ l</a:t>
            </a:r>
            <a:r>
              <a:rPr lang="en-US" sz="2400" u="none">
                <a:solidFill>
                  <a:srgbClr val="01003B"/>
                </a:solidFill>
                <a:latin typeface="Asap"/>
                <a:ea typeface="Asap"/>
                <a:cs typeface="Asap"/>
                <a:sym typeface="Asap"/>
              </a:rPr>
              <a:t>iệu đầu vào của bạn sẽ là gì? Bạn đang cố gắng dự đoán điều gì?</a:t>
            </a:r>
          </a:p>
          <a:p>
            <a:pPr algn="l">
              <a:lnSpc>
                <a:spcPts val="3359"/>
              </a:lnSpc>
            </a:pPr>
          </a:p>
        </p:txBody>
      </p:sp>
      <p:sp>
        <p:nvSpPr>
          <p:cNvPr name="TextBox 8" id="8"/>
          <p:cNvSpPr txBox="true"/>
          <p:nvPr/>
        </p:nvSpPr>
        <p:spPr>
          <a:xfrm rot="0">
            <a:off x="848488" y="4780466"/>
            <a:ext cx="9949247" cy="485775"/>
          </a:xfrm>
          <a:prstGeom prst="rect">
            <a:avLst/>
          </a:prstGeom>
        </p:spPr>
        <p:txBody>
          <a:bodyPr anchor="t" rtlCol="false" tIns="0" lIns="0" bIns="0" rIns="0">
            <a:spAutoFit/>
          </a:bodyPr>
          <a:lstStyle/>
          <a:p>
            <a:pPr algn="l" marL="0" indent="0" lvl="0">
              <a:lnSpc>
                <a:spcPts val="3840"/>
              </a:lnSpc>
              <a:spcBef>
                <a:spcPct val="0"/>
              </a:spcBef>
            </a:pPr>
            <a:r>
              <a:rPr lang="en-US" sz="3200" u="none">
                <a:solidFill>
                  <a:srgbClr val="2667FF"/>
                </a:solidFill>
                <a:latin typeface="Cabin"/>
                <a:ea typeface="Cabin"/>
                <a:cs typeface="Cabin"/>
                <a:sym typeface="Cabin"/>
              </a:rPr>
              <a:t> # 2</a:t>
            </a:r>
          </a:p>
        </p:txBody>
      </p:sp>
      <p:sp>
        <p:nvSpPr>
          <p:cNvPr name="TextBox 9" id="9"/>
          <p:cNvSpPr txBox="true"/>
          <p:nvPr/>
        </p:nvSpPr>
        <p:spPr>
          <a:xfrm rot="0">
            <a:off x="1674460" y="4732841"/>
            <a:ext cx="9949247" cy="824865"/>
          </a:xfrm>
          <a:prstGeom prst="rect">
            <a:avLst/>
          </a:prstGeom>
        </p:spPr>
        <p:txBody>
          <a:bodyPr anchor="t" rtlCol="false" tIns="0" lIns="0" bIns="0" rIns="0">
            <a:spAutoFit/>
          </a:bodyPr>
          <a:lstStyle/>
          <a:p>
            <a:pPr algn="l">
              <a:lnSpc>
                <a:spcPts val="3359"/>
              </a:lnSpc>
            </a:pPr>
            <a:r>
              <a:rPr lang="en-US" sz="2400">
                <a:solidFill>
                  <a:srgbClr val="01003B"/>
                </a:solidFill>
                <a:latin typeface="Asap"/>
                <a:ea typeface="Asap"/>
                <a:cs typeface="Asap"/>
                <a:sym typeface="Asap"/>
              </a:rPr>
              <a:t>Bạn</a:t>
            </a:r>
            <a:r>
              <a:rPr lang="en-US" sz="2400" u="none">
                <a:solidFill>
                  <a:srgbClr val="01003B"/>
                </a:solidFill>
                <a:latin typeface="Asap"/>
                <a:ea typeface="Asap"/>
                <a:cs typeface="Asap"/>
                <a:sym typeface="Asap"/>
              </a:rPr>
              <a:t> có nên tự chú thích dữ liệu không?</a:t>
            </a:r>
          </a:p>
          <a:p>
            <a:pPr algn="l">
              <a:lnSpc>
                <a:spcPts val="3359"/>
              </a:lnSpc>
            </a:pPr>
          </a:p>
        </p:txBody>
      </p:sp>
      <p:sp>
        <p:nvSpPr>
          <p:cNvPr name="TextBox 10" id="10"/>
          <p:cNvSpPr txBox="true"/>
          <p:nvPr/>
        </p:nvSpPr>
        <p:spPr>
          <a:xfrm rot="0">
            <a:off x="848488" y="6511117"/>
            <a:ext cx="9949247" cy="485775"/>
          </a:xfrm>
          <a:prstGeom prst="rect">
            <a:avLst/>
          </a:prstGeom>
        </p:spPr>
        <p:txBody>
          <a:bodyPr anchor="t" rtlCol="false" tIns="0" lIns="0" bIns="0" rIns="0">
            <a:spAutoFit/>
          </a:bodyPr>
          <a:lstStyle/>
          <a:p>
            <a:pPr algn="l" marL="0" indent="0" lvl="0">
              <a:lnSpc>
                <a:spcPts val="3840"/>
              </a:lnSpc>
              <a:spcBef>
                <a:spcPct val="0"/>
              </a:spcBef>
            </a:pPr>
            <a:r>
              <a:rPr lang="en-US" sz="3200" u="none">
                <a:solidFill>
                  <a:srgbClr val="2667FF"/>
                </a:solidFill>
                <a:latin typeface="Cabin"/>
                <a:ea typeface="Cabin"/>
                <a:cs typeface="Cabin"/>
                <a:sym typeface="Cabin"/>
              </a:rPr>
              <a:t># 3</a:t>
            </a:r>
          </a:p>
        </p:txBody>
      </p:sp>
      <p:sp>
        <p:nvSpPr>
          <p:cNvPr name="TextBox 11" id="11"/>
          <p:cNvSpPr txBox="true"/>
          <p:nvPr/>
        </p:nvSpPr>
        <p:spPr>
          <a:xfrm rot="0">
            <a:off x="1674460" y="6463492"/>
            <a:ext cx="9949247" cy="1243965"/>
          </a:xfrm>
          <a:prstGeom prst="rect">
            <a:avLst/>
          </a:prstGeom>
        </p:spPr>
        <p:txBody>
          <a:bodyPr anchor="t" rtlCol="false" tIns="0" lIns="0" bIns="0" rIns="0">
            <a:spAutoFit/>
          </a:bodyPr>
          <a:lstStyle/>
          <a:p>
            <a:pPr algn="l">
              <a:lnSpc>
                <a:spcPts val="3359"/>
              </a:lnSpc>
            </a:pPr>
            <a:r>
              <a:rPr lang="en-US" sz="2400">
                <a:solidFill>
                  <a:srgbClr val="01003B"/>
                </a:solidFill>
                <a:latin typeface="Asap"/>
                <a:ea typeface="Asap"/>
                <a:cs typeface="Asap"/>
                <a:sym typeface="Asap"/>
              </a:rPr>
              <a:t>Bạn</a:t>
            </a:r>
            <a:r>
              <a:rPr lang="en-US" sz="2400" u="none">
                <a:solidFill>
                  <a:srgbClr val="01003B"/>
                </a:solidFill>
                <a:latin typeface="Asap"/>
                <a:ea typeface="Asap"/>
                <a:cs typeface="Asap"/>
                <a:sym typeface="Asap"/>
              </a:rPr>
              <a:t> có nên sử dụng nền tảng crowdsourcing như Mechanical Turk để thu thập nhãn không?</a:t>
            </a:r>
          </a:p>
          <a:p>
            <a:pPr algn="l">
              <a:lnSpc>
                <a:spcPts val="3359"/>
              </a:lnSpc>
            </a:pPr>
          </a:p>
        </p:txBody>
      </p:sp>
      <p:sp>
        <p:nvSpPr>
          <p:cNvPr name="TextBox 12" id="12"/>
          <p:cNvSpPr txBox="true"/>
          <p:nvPr/>
        </p:nvSpPr>
        <p:spPr>
          <a:xfrm rot="0">
            <a:off x="1534963" y="1626893"/>
            <a:ext cx="6461578" cy="1327220"/>
          </a:xfrm>
          <a:prstGeom prst="rect">
            <a:avLst/>
          </a:prstGeom>
        </p:spPr>
        <p:txBody>
          <a:bodyPr anchor="t" rtlCol="false" tIns="0" lIns="0" bIns="0" rIns="0">
            <a:spAutoFit/>
          </a:bodyPr>
          <a:lstStyle/>
          <a:p>
            <a:pPr algn="l">
              <a:lnSpc>
                <a:spcPts val="5225"/>
              </a:lnSpc>
            </a:pPr>
            <a:r>
              <a:rPr lang="en-US" sz="4354" b="true">
                <a:solidFill>
                  <a:srgbClr val="01003B"/>
                </a:solidFill>
                <a:latin typeface="Cabin Bold"/>
                <a:ea typeface="Cabin Bold"/>
                <a:cs typeface="Cabin Bold"/>
                <a:sym typeface="Cabin Bold"/>
              </a:rPr>
              <a:t>6.1.1</a:t>
            </a:r>
            <a:r>
              <a:rPr lang="en-US" b="true" sz="4354">
                <a:solidFill>
                  <a:srgbClr val="01003B"/>
                </a:solidFill>
                <a:latin typeface="Cabin Bold"/>
                <a:ea typeface="Cabin Bold"/>
                <a:cs typeface="Cabin Bold"/>
                <a:sym typeface="Cabin Bold"/>
              </a:rPr>
              <a:t> Định hình bài toán</a:t>
            </a:r>
          </a:p>
          <a:p>
            <a:pPr algn="l">
              <a:lnSpc>
                <a:spcPts val="5225"/>
              </a:lnSpc>
            </a:pPr>
          </a:p>
        </p:txBody>
      </p:sp>
      <p:sp>
        <p:nvSpPr>
          <p:cNvPr name="TextBox 13" id="13"/>
          <p:cNvSpPr txBox="true"/>
          <p:nvPr/>
        </p:nvSpPr>
        <p:spPr>
          <a:xfrm rot="0">
            <a:off x="2481451" y="213476"/>
            <a:ext cx="10017653" cy="2381597"/>
          </a:xfrm>
          <a:prstGeom prst="rect">
            <a:avLst/>
          </a:prstGeom>
        </p:spPr>
        <p:txBody>
          <a:bodyPr anchor="t" rtlCol="false" tIns="0" lIns="0" bIns="0" rIns="0">
            <a:spAutoFit/>
          </a:bodyPr>
          <a:lstStyle/>
          <a:p>
            <a:pPr algn="l">
              <a:lnSpc>
                <a:spcPts val="9514"/>
              </a:lnSpc>
              <a:spcBef>
                <a:spcPct val="0"/>
              </a:spcBef>
            </a:pPr>
            <a:r>
              <a:rPr lang="en-US" b="true" sz="6795">
                <a:solidFill>
                  <a:srgbClr val="01003B"/>
                </a:solidFill>
                <a:latin typeface="Asap Bold"/>
                <a:ea typeface="Asap Bold"/>
                <a:cs typeface="Asap Bold"/>
                <a:sym typeface="Asap Bold"/>
              </a:rPr>
              <a:t>6.1</a:t>
            </a:r>
            <a:r>
              <a:rPr lang="en-US" b="true" sz="6795">
                <a:solidFill>
                  <a:srgbClr val="01003B"/>
                </a:solidFill>
                <a:latin typeface="Asap Bold"/>
                <a:ea typeface="Asap Bold"/>
                <a:cs typeface="Asap Bold"/>
                <a:sym typeface="Asap Bold"/>
              </a:rPr>
              <a:t> Định nghĩa nhiệm vụ</a:t>
            </a:r>
          </a:p>
          <a:p>
            <a:pPr algn="l">
              <a:lnSpc>
                <a:spcPts val="9514"/>
              </a:lnSpc>
              <a:spcBef>
                <a:spcPct val="0"/>
              </a:spcBef>
            </a:pPr>
          </a:p>
        </p:txBody>
      </p:sp>
      <p:sp>
        <p:nvSpPr>
          <p:cNvPr name="Freeform 14" id="14"/>
          <p:cNvSpPr/>
          <p:nvPr/>
        </p:nvSpPr>
        <p:spPr>
          <a:xfrm flipH="false" flipV="false" rot="0">
            <a:off x="1028700" y="356351"/>
            <a:ext cx="1012526" cy="1042864"/>
          </a:xfrm>
          <a:custGeom>
            <a:avLst/>
            <a:gdLst/>
            <a:ahLst/>
            <a:cxnLst/>
            <a:rect r="r" b="b" t="t" l="l"/>
            <a:pathLst>
              <a:path h="1042864" w="1012526">
                <a:moveTo>
                  <a:pt x="0" y="0"/>
                </a:moveTo>
                <a:lnTo>
                  <a:pt x="1012526" y="0"/>
                </a:lnTo>
                <a:lnTo>
                  <a:pt x="1012526" y="1042864"/>
                </a:lnTo>
                <a:lnTo>
                  <a:pt x="0" y="10428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848488" y="8507306"/>
            <a:ext cx="9949247" cy="485775"/>
          </a:xfrm>
          <a:prstGeom prst="rect">
            <a:avLst/>
          </a:prstGeom>
        </p:spPr>
        <p:txBody>
          <a:bodyPr anchor="t" rtlCol="false" tIns="0" lIns="0" bIns="0" rIns="0">
            <a:spAutoFit/>
          </a:bodyPr>
          <a:lstStyle/>
          <a:p>
            <a:pPr algn="l" marL="0" indent="0" lvl="0">
              <a:lnSpc>
                <a:spcPts val="3840"/>
              </a:lnSpc>
              <a:spcBef>
                <a:spcPct val="0"/>
              </a:spcBef>
            </a:pPr>
            <a:r>
              <a:rPr lang="en-US" sz="3200" u="none">
                <a:solidFill>
                  <a:srgbClr val="2667FF"/>
                </a:solidFill>
                <a:latin typeface="Cabin"/>
                <a:ea typeface="Cabin"/>
                <a:cs typeface="Cabin"/>
                <a:sym typeface="Cabin"/>
              </a:rPr>
              <a:t># 4</a:t>
            </a:r>
          </a:p>
        </p:txBody>
      </p:sp>
      <p:sp>
        <p:nvSpPr>
          <p:cNvPr name="TextBox 16" id="16"/>
          <p:cNvSpPr txBox="true"/>
          <p:nvPr/>
        </p:nvSpPr>
        <p:spPr>
          <a:xfrm rot="0">
            <a:off x="1674460" y="8459681"/>
            <a:ext cx="8792887" cy="1243965"/>
          </a:xfrm>
          <a:prstGeom prst="rect">
            <a:avLst/>
          </a:prstGeom>
        </p:spPr>
        <p:txBody>
          <a:bodyPr anchor="t" rtlCol="false" tIns="0" lIns="0" bIns="0" rIns="0">
            <a:spAutoFit/>
          </a:bodyPr>
          <a:lstStyle/>
          <a:p>
            <a:pPr algn="l">
              <a:lnSpc>
                <a:spcPts val="3359"/>
              </a:lnSpc>
            </a:pPr>
            <a:r>
              <a:rPr lang="en-US" sz="2400">
                <a:solidFill>
                  <a:srgbClr val="01003B"/>
                </a:solidFill>
                <a:latin typeface="Asap"/>
                <a:ea typeface="Asap"/>
                <a:cs typeface="Asap"/>
                <a:sym typeface="Asap"/>
              </a:rPr>
              <a:t>Bạn</a:t>
            </a:r>
            <a:r>
              <a:rPr lang="en-US" sz="2400" u="none">
                <a:solidFill>
                  <a:srgbClr val="01003B"/>
                </a:solidFill>
                <a:latin typeface="Asap"/>
                <a:ea typeface="Asap"/>
                <a:cs typeface="Asap"/>
                <a:sym typeface="Asap"/>
              </a:rPr>
              <a:t> có nên sử dụng dịch vụ của một công ty chuyên dán nhãn dữ liệu không? </a:t>
            </a:r>
          </a:p>
          <a:p>
            <a:pPr algn="l">
              <a:lnSpc>
                <a:spcPts val="335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2415644">
            <a:off x="6846336" y="4199039"/>
            <a:ext cx="15465517" cy="5595705"/>
          </a:xfrm>
          <a:custGeom>
            <a:avLst/>
            <a:gdLst/>
            <a:ahLst/>
            <a:cxnLst/>
            <a:rect r="r" b="b" t="t" l="l"/>
            <a:pathLst>
              <a:path h="5595705" w="15465517">
                <a:moveTo>
                  <a:pt x="0" y="0"/>
                </a:moveTo>
                <a:lnTo>
                  <a:pt x="15465516" y="0"/>
                </a:lnTo>
                <a:lnTo>
                  <a:pt x="15465516" y="5595705"/>
                </a:lnTo>
                <a:lnTo>
                  <a:pt x="0" y="5595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2723254" y="2350770"/>
            <a:ext cx="4881453" cy="9920331"/>
            <a:chOff x="0" y="0"/>
            <a:chExt cx="5001260" cy="10163810"/>
          </a:xfrm>
        </p:grpSpPr>
        <p:sp>
          <p:nvSpPr>
            <p:cNvPr name="Freeform 4" id="4"/>
            <p:cNvSpPr/>
            <p:nvPr/>
          </p:nvSpPr>
          <p:spPr>
            <a:xfrm flipH="false" flipV="false" rot="0">
              <a:off x="0" y="0"/>
              <a:ext cx="5000993" cy="10163632"/>
            </a:xfrm>
            <a:custGeom>
              <a:avLst/>
              <a:gdLst/>
              <a:ahLst/>
              <a:cxnLst/>
              <a:rect r="r" b="b" t="t" l="l"/>
              <a:pathLst>
                <a:path h="10163632" w="5000993">
                  <a:moveTo>
                    <a:pt x="0" y="0"/>
                  </a:moveTo>
                  <a:lnTo>
                    <a:pt x="5000993" y="0"/>
                  </a:lnTo>
                  <a:lnTo>
                    <a:pt x="5000993" y="10163632"/>
                  </a:lnTo>
                  <a:lnTo>
                    <a:pt x="0" y="10163632"/>
                  </a:lnTo>
                  <a:close/>
                </a:path>
              </a:pathLst>
            </a:custGeom>
            <a:blipFill>
              <a:blip r:embed="rId4"/>
              <a:stretch>
                <a:fillRect l="-45" t="0" r="-45" b="0"/>
              </a:stretch>
            </a:blipFill>
          </p:spPr>
        </p:sp>
        <p:sp>
          <p:nvSpPr>
            <p:cNvPr name="Freeform 5" id="5"/>
            <p:cNvSpPr/>
            <p:nvPr/>
          </p:nvSpPr>
          <p:spPr>
            <a:xfrm flipH="false" flipV="false" rot="0">
              <a:off x="338760" y="288798"/>
              <a:ext cx="4330776" cy="9398000"/>
            </a:xfrm>
            <a:custGeom>
              <a:avLst/>
              <a:gdLst/>
              <a:ahLst/>
              <a:cxnLst/>
              <a:rect r="r" b="b" t="t" l="l"/>
              <a:pathLst>
                <a:path h="9398000" w="4330776">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5"/>
              <a:stretch>
                <a:fillRect l="-58641" t="0" r="-31780" b="0"/>
              </a:stretch>
            </a:blipFill>
          </p:spPr>
        </p:sp>
      </p:grpSp>
      <p:sp>
        <p:nvSpPr>
          <p:cNvPr name="TextBox 6" id="6"/>
          <p:cNvSpPr txBox="true"/>
          <p:nvPr/>
        </p:nvSpPr>
        <p:spPr>
          <a:xfrm rot="0">
            <a:off x="848488" y="3101300"/>
            <a:ext cx="9949247" cy="485775"/>
          </a:xfrm>
          <a:prstGeom prst="rect">
            <a:avLst/>
          </a:prstGeom>
        </p:spPr>
        <p:txBody>
          <a:bodyPr anchor="t" rtlCol="false" tIns="0" lIns="0" bIns="0" rIns="0">
            <a:spAutoFit/>
          </a:bodyPr>
          <a:lstStyle/>
          <a:p>
            <a:pPr algn="l" marL="0" indent="0" lvl="0">
              <a:lnSpc>
                <a:spcPts val="3840"/>
              </a:lnSpc>
              <a:spcBef>
                <a:spcPct val="0"/>
              </a:spcBef>
            </a:pPr>
            <a:r>
              <a:rPr lang="en-US" sz="3200" u="none">
                <a:solidFill>
                  <a:srgbClr val="2667FF"/>
                </a:solidFill>
                <a:latin typeface="Cabin"/>
                <a:ea typeface="Cabin"/>
                <a:cs typeface="Cabin"/>
                <a:sym typeface="Cabin"/>
              </a:rPr>
              <a:t># 1</a:t>
            </a:r>
          </a:p>
        </p:txBody>
      </p:sp>
      <p:sp>
        <p:nvSpPr>
          <p:cNvPr name="TextBox 7" id="7"/>
          <p:cNvSpPr txBox="true"/>
          <p:nvPr/>
        </p:nvSpPr>
        <p:spPr>
          <a:xfrm rot="0">
            <a:off x="1674460" y="3053675"/>
            <a:ext cx="9949247" cy="1243965"/>
          </a:xfrm>
          <a:prstGeom prst="rect">
            <a:avLst/>
          </a:prstGeom>
        </p:spPr>
        <p:txBody>
          <a:bodyPr anchor="t" rtlCol="false" tIns="0" lIns="0" bIns="0" rIns="0">
            <a:spAutoFit/>
          </a:bodyPr>
          <a:lstStyle/>
          <a:p>
            <a:pPr algn="l">
              <a:lnSpc>
                <a:spcPts val="3359"/>
              </a:lnSpc>
            </a:pPr>
            <a:r>
              <a:rPr lang="en-US" sz="2400">
                <a:solidFill>
                  <a:srgbClr val="01003B"/>
                </a:solidFill>
                <a:latin typeface="Asap"/>
                <a:ea typeface="Asap"/>
                <a:cs typeface="Asap"/>
                <a:sym typeface="Asap"/>
              </a:rPr>
              <a:t>Nếu dữ l</a:t>
            </a:r>
            <a:r>
              <a:rPr lang="en-US" sz="2400" u="none">
                <a:solidFill>
                  <a:srgbClr val="01003B"/>
                </a:solidFill>
                <a:latin typeface="Asap"/>
                <a:ea typeface="Asap"/>
                <a:cs typeface="Asap"/>
                <a:sym typeface="Asap"/>
              </a:rPr>
              <a:t>iệu của bạn bao gồm hình ảnh hoặc văn bản tự nhiên, hãy xem xét trực tiếp một vài mẫu (và nhãn của chúng).</a:t>
            </a:r>
          </a:p>
          <a:p>
            <a:pPr algn="l">
              <a:lnSpc>
                <a:spcPts val="3359"/>
              </a:lnSpc>
            </a:pPr>
          </a:p>
        </p:txBody>
      </p:sp>
      <p:sp>
        <p:nvSpPr>
          <p:cNvPr name="TextBox 8" id="8"/>
          <p:cNvSpPr txBox="true"/>
          <p:nvPr/>
        </p:nvSpPr>
        <p:spPr>
          <a:xfrm rot="0">
            <a:off x="848488" y="4780466"/>
            <a:ext cx="9949247" cy="485775"/>
          </a:xfrm>
          <a:prstGeom prst="rect">
            <a:avLst/>
          </a:prstGeom>
        </p:spPr>
        <p:txBody>
          <a:bodyPr anchor="t" rtlCol="false" tIns="0" lIns="0" bIns="0" rIns="0">
            <a:spAutoFit/>
          </a:bodyPr>
          <a:lstStyle/>
          <a:p>
            <a:pPr algn="l" marL="0" indent="0" lvl="0">
              <a:lnSpc>
                <a:spcPts val="3840"/>
              </a:lnSpc>
              <a:spcBef>
                <a:spcPct val="0"/>
              </a:spcBef>
            </a:pPr>
            <a:r>
              <a:rPr lang="en-US" sz="3200" u="none">
                <a:solidFill>
                  <a:srgbClr val="2667FF"/>
                </a:solidFill>
                <a:latin typeface="Cabin"/>
                <a:ea typeface="Cabin"/>
                <a:cs typeface="Cabin"/>
                <a:sym typeface="Cabin"/>
              </a:rPr>
              <a:t> # 2</a:t>
            </a:r>
          </a:p>
        </p:txBody>
      </p:sp>
      <p:sp>
        <p:nvSpPr>
          <p:cNvPr name="TextBox 9" id="9"/>
          <p:cNvSpPr txBox="true"/>
          <p:nvPr/>
        </p:nvSpPr>
        <p:spPr>
          <a:xfrm rot="0">
            <a:off x="1674460" y="4732841"/>
            <a:ext cx="9949247" cy="1663065"/>
          </a:xfrm>
          <a:prstGeom prst="rect">
            <a:avLst/>
          </a:prstGeom>
        </p:spPr>
        <p:txBody>
          <a:bodyPr anchor="t" rtlCol="false" tIns="0" lIns="0" bIns="0" rIns="0">
            <a:spAutoFit/>
          </a:bodyPr>
          <a:lstStyle/>
          <a:p>
            <a:pPr algn="l">
              <a:lnSpc>
                <a:spcPts val="3359"/>
              </a:lnSpc>
            </a:pPr>
            <a:r>
              <a:rPr lang="en-US" sz="2400">
                <a:solidFill>
                  <a:srgbClr val="01003B"/>
                </a:solidFill>
                <a:latin typeface="Asap"/>
                <a:ea typeface="Asap"/>
                <a:cs typeface="Asap"/>
                <a:sym typeface="Asap"/>
              </a:rPr>
              <a:t>Nếu dữ liệu của bạn</a:t>
            </a:r>
            <a:r>
              <a:rPr lang="en-US" sz="2400" u="none">
                <a:solidFill>
                  <a:srgbClr val="01003B"/>
                </a:solidFill>
                <a:latin typeface="Asap"/>
                <a:ea typeface="Asap"/>
                <a:cs typeface="Asap"/>
                <a:sym typeface="Asap"/>
              </a:rPr>
              <a:t> chứa các đặc trưng số, bạn nên vẽ biểu đồ tần suất của các giá trị đặc trưng để có cảm giác về phạm vi giá trị và tần suất của các giá trị khác nhau.</a:t>
            </a:r>
          </a:p>
          <a:p>
            <a:pPr algn="l">
              <a:lnSpc>
                <a:spcPts val="3359"/>
              </a:lnSpc>
            </a:pPr>
          </a:p>
        </p:txBody>
      </p:sp>
      <p:sp>
        <p:nvSpPr>
          <p:cNvPr name="TextBox 10" id="10"/>
          <p:cNvSpPr txBox="true"/>
          <p:nvPr/>
        </p:nvSpPr>
        <p:spPr>
          <a:xfrm rot="0">
            <a:off x="848488" y="6511117"/>
            <a:ext cx="9949247" cy="485775"/>
          </a:xfrm>
          <a:prstGeom prst="rect">
            <a:avLst/>
          </a:prstGeom>
        </p:spPr>
        <p:txBody>
          <a:bodyPr anchor="t" rtlCol="false" tIns="0" lIns="0" bIns="0" rIns="0">
            <a:spAutoFit/>
          </a:bodyPr>
          <a:lstStyle/>
          <a:p>
            <a:pPr algn="l" marL="0" indent="0" lvl="0">
              <a:lnSpc>
                <a:spcPts val="3840"/>
              </a:lnSpc>
              <a:spcBef>
                <a:spcPct val="0"/>
              </a:spcBef>
            </a:pPr>
            <a:r>
              <a:rPr lang="en-US" sz="3200" u="none">
                <a:solidFill>
                  <a:srgbClr val="2667FF"/>
                </a:solidFill>
                <a:latin typeface="Cabin"/>
                <a:ea typeface="Cabin"/>
                <a:cs typeface="Cabin"/>
                <a:sym typeface="Cabin"/>
              </a:rPr>
              <a:t># 3</a:t>
            </a:r>
          </a:p>
        </p:txBody>
      </p:sp>
      <p:sp>
        <p:nvSpPr>
          <p:cNvPr name="TextBox 11" id="11"/>
          <p:cNvSpPr txBox="true"/>
          <p:nvPr/>
        </p:nvSpPr>
        <p:spPr>
          <a:xfrm rot="0">
            <a:off x="1674460" y="6463492"/>
            <a:ext cx="9949247" cy="1243965"/>
          </a:xfrm>
          <a:prstGeom prst="rect">
            <a:avLst/>
          </a:prstGeom>
        </p:spPr>
        <p:txBody>
          <a:bodyPr anchor="t" rtlCol="false" tIns="0" lIns="0" bIns="0" rIns="0">
            <a:spAutoFit/>
          </a:bodyPr>
          <a:lstStyle/>
          <a:p>
            <a:pPr algn="l">
              <a:lnSpc>
                <a:spcPts val="3359"/>
              </a:lnSpc>
            </a:pPr>
            <a:r>
              <a:rPr lang="en-US" sz="2400">
                <a:solidFill>
                  <a:srgbClr val="01003B"/>
                </a:solidFill>
                <a:latin typeface="Asap"/>
                <a:ea typeface="Asap"/>
                <a:cs typeface="Asap"/>
                <a:sym typeface="Asap"/>
              </a:rPr>
              <a:t>Nếu dữ liệu</a:t>
            </a:r>
            <a:r>
              <a:rPr lang="en-US" sz="2400" u="none">
                <a:solidFill>
                  <a:srgbClr val="01003B"/>
                </a:solidFill>
                <a:latin typeface="Asap"/>
                <a:ea typeface="Asap"/>
                <a:cs typeface="Asap"/>
                <a:sym typeface="Asap"/>
              </a:rPr>
              <a:t> của bạn bao gồm thông tin vị trí, hãy vẽ nó trên bản đồ. Có bất kỳ mẫu rõ ràng nào xuất hiện không?</a:t>
            </a:r>
          </a:p>
          <a:p>
            <a:pPr algn="l">
              <a:lnSpc>
                <a:spcPts val="3359"/>
              </a:lnSpc>
            </a:pPr>
          </a:p>
        </p:txBody>
      </p:sp>
      <p:sp>
        <p:nvSpPr>
          <p:cNvPr name="TextBox 12" id="12"/>
          <p:cNvSpPr txBox="true"/>
          <p:nvPr/>
        </p:nvSpPr>
        <p:spPr>
          <a:xfrm rot="0">
            <a:off x="1534963" y="1626893"/>
            <a:ext cx="8233663" cy="1327220"/>
          </a:xfrm>
          <a:prstGeom prst="rect">
            <a:avLst/>
          </a:prstGeom>
        </p:spPr>
        <p:txBody>
          <a:bodyPr anchor="t" rtlCol="false" tIns="0" lIns="0" bIns="0" rIns="0">
            <a:spAutoFit/>
          </a:bodyPr>
          <a:lstStyle/>
          <a:p>
            <a:pPr algn="l">
              <a:lnSpc>
                <a:spcPts val="5225"/>
              </a:lnSpc>
            </a:pPr>
            <a:r>
              <a:rPr lang="en-US" sz="4354" b="true">
                <a:solidFill>
                  <a:srgbClr val="01003B"/>
                </a:solidFill>
                <a:latin typeface="Cabin Bold"/>
                <a:ea typeface="Cabin Bold"/>
                <a:cs typeface="Cabin Bold"/>
                <a:sym typeface="Cabin Bold"/>
              </a:rPr>
              <a:t>6.1.2</a:t>
            </a:r>
            <a:r>
              <a:rPr lang="en-US" b="true" sz="4354">
                <a:solidFill>
                  <a:srgbClr val="01003B"/>
                </a:solidFill>
                <a:latin typeface="Cabin Bold"/>
                <a:ea typeface="Cabin Bold"/>
                <a:cs typeface="Cabin Bold"/>
                <a:sym typeface="Cabin Bold"/>
              </a:rPr>
              <a:t> Thu thập và hiểu dữ liệu</a:t>
            </a:r>
          </a:p>
          <a:p>
            <a:pPr algn="l">
              <a:lnSpc>
                <a:spcPts val="5225"/>
              </a:lnSpc>
            </a:pPr>
          </a:p>
        </p:txBody>
      </p:sp>
      <p:sp>
        <p:nvSpPr>
          <p:cNvPr name="TextBox 13" id="13"/>
          <p:cNvSpPr txBox="true"/>
          <p:nvPr/>
        </p:nvSpPr>
        <p:spPr>
          <a:xfrm rot="0">
            <a:off x="2481451" y="213476"/>
            <a:ext cx="10017653" cy="2381597"/>
          </a:xfrm>
          <a:prstGeom prst="rect">
            <a:avLst/>
          </a:prstGeom>
        </p:spPr>
        <p:txBody>
          <a:bodyPr anchor="t" rtlCol="false" tIns="0" lIns="0" bIns="0" rIns="0">
            <a:spAutoFit/>
          </a:bodyPr>
          <a:lstStyle/>
          <a:p>
            <a:pPr algn="l">
              <a:lnSpc>
                <a:spcPts val="9514"/>
              </a:lnSpc>
              <a:spcBef>
                <a:spcPct val="0"/>
              </a:spcBef>
            </a:pPr>
            <a:r>
              <a:rPr lang="en-US" b="true" sz="6795">
                <a:solidFill>
                  <a:srgbClr val="01003B"/>
                </a:solidFill>
                <a:latin typeface="Asap Bold"/>
                <a:ea typeface="Asap Bold"/>
                <a:cs typeface="Asap Bold"/>
                <a:sym typeface="Asap Bold"/>
              </a:rPr>
              <a:t>6.1</a:t>
            </a:r>
            <a:r>
              <a:rPr lang="en-US" b="true" sz="6795">
                <a:solidFill>
                  <a:srgbClr val="01003B"/>
                </a:solidFill>
                <a:latin typeface="Asap Bold"/>
                <a:ea typeface="Asap Bold"/>
                <a:cs typeface="Asap Bold"/>
                <a:sym typeface="Asap Bold"/>
              </a:rPr>
              <a:t> Định nghĩa nhiệm vụ</a:t>
            </a:r>
          </a:p>
          <a:p>
            <a:pPr algn="l">
              <a:lnSpc>
                <a:spcPts val="9514"/>
              </a:lnSpc>
              <a:spcBef>
                <a:spcPct val="0"/>
              </a:spcBef>
            </a:pPr>
          </a:p>
        </p:txBody>
      </p:sp>
      <p:sp>
        <p:nvSpPr>
          <p:cNvPr name="Freeform 14" id="14"/>
          <p:cNvSpPr/>
          <p:nvPr/>
        </p:nvSpPr>
        <p:spPr>
          <a:xfrm flipH="false" flipV="false" rot="0">
            <a:off x="1028700" y="356351"/>
            <a:ext cx="1012526" cy="1042864"/>
          </a:xfrm>
          <a:custGeom>
            <a:avLst/>
            <a:gdLst/>
            <a:ahLst/>
            <a:cxnLst/>
            <a:rect r="r" b="b" t="t" l="l"/>
            <a:pathLst>
              <a:path h="1042864" w="1012526">
                <a:moveTo>
                  <a:pt x="0" y="0"/>
                </a:moveTo>
                <a:lnTo>
                  <a:pt x="1012526" y="0"/>
                </a:lnTo>
                <a:lnTo>
                  <a:pt x="1012526" y="1042864"/>
                </a:lnTo>
                <a:lnTo>
                  <a:pt x="0" y="10428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848488" y="8507306"/>
            <a:ext cx="9949247" cy="485775"/>
          </a:xfrm>
          <a:prstGeom prst="rect">
            <a:avLst/>
          </a:prstGeom>
        </p:spPr>
        <p:txBody>
          <a:bodyPr anchor="t" rtlCol="false" tIns="0" lIns="0" bIns="0" rIns="0">
            <a:spAutoFit/>
          </a:bodyPr>
          <a:lstStyle/>
          <a:p>
            <a:pPr algn="l" marL="0" indent="0" lvl="0">
              <a:lnSpc>
                <a:spcPts val="3840"/>
              </a:lnSpc>
              <a:spcBef>
                <a:spcPct val="0"/>
              </a:spcBef>
            </a:pPr>
            <a:r>
              <a:rPr lang="en-US" sz="3200" u="none">
                <a:solidFill>
                  <a:srgbClr val="2667FF"/>
                </a:solidFill>
                <a:latin typeface="Cabin"/>
                <a:ea typeface="Cabin"/>
                <a:cs typeface="Cabin"/>
                <a:sym typeface="Cabin"/>
              </a:rPr>
              <a:t># 4</a:t>
            </a:r>
          </a:p>
        </p:txBody>
      </p:sp>
      <p:sp>
        <p:nvSpPr>
          <p:cNvPr name="TextBox 16" id="16"/>
          <p:cNvSpPr txBox="true"/>
          <p:nvPr/>
        </p:nvSpPr>
        <p:spPr>
          <a:xfrm rot="0">
            <a:off x="1674460" y="8459681"/>
            <a:ext cx="8792887" cy="1243965"/>
          </a:xfrm>
          <a:prstGeom prst="rect">
            <a:avLst/>
          </a:prstGeom>
        </p:spPr>
        <p:txBody>
          <a:bodyPr anchor="t" rtlCol="false" tIns="0" lIns="0" bIns="0" rIns="0">
            <a:spAutoFit/>
          </a:bodyPr>
          <a:lstStyle/>
          <a:p>
            <a:pPr algn="l">
              <a:lnSpc>
                <a:spcPts val="3359"/>
              </a:lnSpc>
            </a:pPr>
            <a:r>
              <a:rPr lang="en-US" sz="2400">
                <a:solidFill>
                  <a:srgbClr val="01003B"/>
                </a:solidFill>
                <a:latin typeface="Asap"/>
                <a:ea typeface="Asap"/>
                <a:cs typeface="Asap"/>
                <a:sym typeface="Asap"/>
              </a:rPr>
              <a:t>Có</a:t>
            </a:r>
            <a:r>
              <a:rPr lang="en-US" sz="2400" u="none">
                <a:solidFill>
                  <a:srgbClr val="01003B"/>
                </a:solidFill>
                <a:latin typeface="Asap"/>
                <a:ea typeface="Asap"/>
                <a:cs typeface="Asap"/>
                <a:sym typeface="Asap"/>
              </a:rPr>
              <a:t> mẫu nào bị thiếu giá trị cho một số đặc trưng không? Nếu vậy, bạn sẽ cần phải xử lý vấn đề này khi chuẩn bị dữ liệu.</a:t>
            </a:r>
          </a:p>
          <a:p>
            <a:pPr algn="l">
              <a:lnSpc>
                <a:spcPts val="335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543904">
            <a:off x="-940728" y="8061713"/>
            <a:ext cx="10103966" cy="8156656"/>
          </a:xfrm>
          <a:custGeom>
            <a:avLst/>
            <a:gdLst/>
            <a:ahLst/>
            <a:cxnLst/>
            <a:rect r="r" b="b" t="t" l="l"/>
            <a:pathLst>
              <a:path h="8156656" w="10103966">
                <a:moveTo>
                  <a:pt x="0" y="0"/>
                </a:moveTo>
                <a:lnTo>
                  <a:pt x="10103966" y="0"/>
                </a:lnTo>
                <a:lnTo>
                  <a:pt x="10103966" y="8156656"/>
                </a:lnTo>
                <a:lnTo>
                  <a:pt x="0" y="81566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2159446">
            <a:off x="13111917" y="-3539846"/>
            <a:ext cx="7814506" cy="6308438"/>
          </a:xfrm>
          <a:custGeom>
            <a:avLst/>
            <a:gdLst/>
            <a:ahLst/>
            <a:cxnLst/>
            <a:rect r="r" b="b" t="t" l="l"/>
            <a:pathLst>
              <a:path h="6308438" w="7814506">
                <a:moveTo>
                  <a:pt x="0" y="0"/>
                </a:moveTo>
                <a:lnTo>
                  <a:pt x="7814506" y="0"/>
                </a:lnTo>
                <a:lnTo>
                  <a:pt x="7814506" y="6308437"/>
                </a:lnTo>
                <a:lnTo>
                  <a:pt x="0" y="63084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307852"/>
            <a:ext cx="7588755" cy="951449"/>
            <a:chOff x="0" y="0"/>
            <a:chExt cx="10118339" cy="1268598"/>
          </a:xfrm>
        </p:grpSpPr>
        <p:sp>
          <p:nvSpPr>
            <p:cNvPr name="TextBox 6" id="6"/>
            <p:cNvSpPr txBox="true"/>
            <p:nvPr/>
          </p:nvSpPr>
          <p:spPr>
            <a:xfrm rot="0">
              <a:off x="1706709" y="114856"/>
              <a:ext cx="8411630" cy="953162"/>
            </a:xfrm>
            <a:prstGeom prst="rect">
              <a:avLst/>
            </a:prstGeom>
          </p:spPr>
          <p:txBody>
            <a:bodyPr anchor="t" rtlCol="false" tIns="0" lIns="0" bIns="0" rIns="0">
              <a:spAutoFit/>
            </a:bodyPr>
            <a:lstStyle/>
            <a:p>
              <a:pPr algn="l">
                <a:lnSpc>
                  <a:spcPts val="5991"/>
                </a:lnSpc>
                <a:spcBef>
                  <a:spcPct val="0"/>
                </a:spcBef>
              </a:pPr>
              <a:r>
                <a:rPr lang="en-US" b="true" sz="4279">
                  <a:solidFill>
                    <a:srgbClr val="F8F8F8"/>
                  </a:solidFill>
                  <a:latin typeface="Asap Bold"/>
                  <a:ea typeface="Asap Bold"/>
                  <a:cs typeface="Asap Bold"/>
                  <a:sym typeface="Asap Bold"/>
                </a:rPr>
                <a:t>6.1 Địn</a:t>
              </a:r>
              <a:r>
                <a:rPr lang="en-US" b="true" sz="4279">
                  <a:solidFill>
                    <a:srgbClr val="F8F8F8"/>
                  </a:solidFill>
                  <a:latin typeface="Asap Bold"/>
                  <a:ea typeface="Asap Bold"/>
                  <a:cs typeface="Asap Bold"/>
                  <a:sym typeface="Asap Bold"/>
                </a:rPr>
                <a:t>h nghĩa nhiệm vụ</a:t>
              </a:r>
            </a:p>
          </p:txBody>
        </p:sp>
        <p:sp>
          <p:nvSpPr>
            <p:cNvPr name="Freeform 7" id="7"/>
            <p:cNvSpPr/>
            <p:nvPr/>
          </p:nvSpPr>
          <p:spPr>
            <a:xfrm flipH="false" flipV="false" rot="0">
              <a:off x="0" y="0"/>
              <a:ext cx="1231694" cy="1268598"/>
            </a:xfrm>
            <a:custGeom>
              <a:avLst/>
              <a:gdLst/>
              <a:ahLst/>
              <a:cxnLst/>
              <a:rect r="r" b="b" t="t" l="l"/>
              <a:pathLst>
                <a:path h="1268598" w="1231694">
                  <a:moveTo>
                    <a:pt x="0" y="0"/>
                  </a:moveTo>
                  <a:lnTo>
                    <a:pt x="1231694" y="0"/>
                  </a:lnTo>
                  <a:lnTo>
                    <a:pt x="1231694" y="1268598"/>
                  </a:lnTo>
                  <a:lnTo>
                    <a:pt x="0" y="12685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pic>
        <p:nvPicPr>
          <p:cNvPr name="Picture 8" id="8"/>
          <p:cNvPicPr>
            <a:picLocks noChangeAspect="true"/>
          </p:cNvPicPr>
          <p:nvPr/>
        </p:nvPicPr>
        <p:blipFill>
          <a:blip r:embed="rId7"/>
          <a:stretch>
            <a:fillRect/>
          </a:stretch>
        </p:blipFill>
        <p:spPr>
          <a:xfrm rot="0">
            <a:off x="8624091" y="196781"/>
            <a:ext cx="9983029" cy="9975861"/>
          </a:xfrm>
          <a:prstGeom prst="rect">
            <a:avLst/>
          </a:prstGeom>
        </p:spPr>
      </p:pic>
      <p:sp>
        <p:nvSpPr>
          <p:cNvPr name="TextBox 9" id="9"/>
          <p:cNvSpPr txBox="true"/>
          <p:nvPr/>
        </p:nvSpPr>
        <p:spPr>
          <a:xfrm rot="0">
            <a:off x="1635398" y="2970240"/>
            <a:ext cx="7111224" cy="1381125"/>
          </a:xfrm>
          <a:prstGeom prst="rect">
            <a:avLst/>
          </a:prstGeom>
        </p:spPr>
        <p:txBody>
          <a:bodyPr anchor="t" rtlCol="false" tIns="0" lIns="0" bIns="0" rIns="0">
            <a:spAutoFit/>
          </a:bodyPr>
          <a:lstStyle/>
          <a:p>
            <a:pPr algn="l">
              <a:lnSpc>
                <a:spcPts val="3600"/>
              </a:lnSpc>
            </a:pPr>
            <a:r>
              <a:rPr lang="en-US" sz="3000" b="true">
                <a:solidFill>
                  <a:srgbClr val="F8F8F8"/>
                </a:solidFill>
                <a:latin typeface="Cabin Bold"/>
                <a:ea typeface="Cabin Bold"/>
                <a:cs typeface="Cabin Bold"/>
                <a:sym typeface="Cabin Bold"/>
              </a:rPr>
              <a:t>Thước đo thành công phải gắn trực tiếp với m</a:t>
            </a:r>
            <a:r>
              <a:rPr lang="en-US" b="true" sz="3000">
                <a:solidFill>
                  <a:srgbClr val="F8F8F8"/>
                </a:solidFill>
                <a:latin typeface="Cabin Bold"/>
                <a:ea typeface="Cabin Bold"/>
                <a:cs typeface="Cabin Bold"/>
                <a:sym typeface="Cabin Bold"/>
              </a:rPr>
              <a:t>ục tiêu kinh doanh và định hướng toàn bộ lựa chọn kỹ thuật trong dự án.</a:t>
            </a:r>
          </a:p>
        </p:txBody>
      </p:sp>
      <p:sp>
        <p:nvSpPr>
          <p:cNvPr name="TextBox 10" id="10"/>
          <p:cNvSpPr txBox="true"/>
          <p:nvPr/>
        </p:nvSpPr>
        <p:spPr>
          <a:xfrm rot="0">
            <a:off x="1028700" y="4764048"/>
            <a:ext cx="7935088" cy="2101850"/>
          </a:xfrm>
          <a:prstGeom prst="rect">
            <a:avLst/>
          </a:prstGeom>
        </p:spPr>
        <p:txBody>
          <a:bodyPr anchor="t" rtlCol="false" tIns="0" lIns="0" bIns="0" rIns="0">
            <a:spAutoFit/>
          </a:bodyPr>
          <a:lstStyle/>
          <a:p>
            <a:pPr algn="l" marL="431797" indent="-215899" lvl="1">
              <a:lnSpc>
                <a:spcPts val="2799"/>
              </a:lnSpc>
              <a:buFont typeface="Arial"/>
              <a:buChar char="•"/>
            </a:pPr>
            <a:r>
              <a:rPr lang="en-US" sz="1999">
                <a:solidFill>
                  <a:srgbClr val="F8F8F8"/>
                </a:solidFill>
                <a:latin typeface="Asap"/>
                <a:ea typeface="Asap"/>
                <a:cs typeface="Asap"/>
                <a:sym typeface="Asap"/>
              </a:rPr>
              <a:t>Bài</a:t>
            </a:r>
            <a:r>
              <a:rPr lang="en-US" sz="1999" u="none">
                <a:solidFill>
                  <a:srgbClr val="F8F8F8"/>
                </a:solidFill>
                <a:latin typeface="Asap"/>
                <a:ea typeface="Asap"/>
                <a:cs typeface="Asap"/>
                <a:sym typeface="Asap"/>
              </a:rPr>
              <a:t> toán phân loại cân bằng: dùng Accuracy và ROC AUC.</a:t>
            </a:r>
          </a:p>
          <a:p>
            <a:pPr algn="l">
              <a:lnSpc>
                <a:spcPts val="2799"/>
              </a:lnSpc>
            </a:pPr>
          </a:p>
          <a:p>
            <a:pPr algn="l">
              <a:lnSpc>
                <a:spcPts val="2799"/>
              </a:lnSpc>
            </a:pPr>
          </a:p>
          <a:p>
            <a:pPr algn="l" marL="431797" indent="-215899" lvl="1">
              <a:lnSpc>
                <a:spcPts val="2799"/>
              </a:lnSpc>
              <a:buFont typeface="Arial"/>
              <a:buChar char="•"/>
            </a:pPr>
            <a:r>
              <a:rPr lang="en-US" sz="1999" u="none">
                <a:solidFill>
                  <a:srgbClr val="F8F8F8"/>
                </a:solidFill>
                <a:latin typeface="Asap"/>
                <a:ea typeface="Asap"/>
                <a:cs typeface="Asap"/>
                <a:sym typeface="Asap"/>
              </a:rPr>
              <a:t>Bài toán không cân bằng lớp , xếp hạng, đa nhãn: dùng Precision, Recall, và các biến thể Accuracy/ROC AUC có trọng số.</a:t>
            </a:r>
          </a:p>
          <a:p>
            <a:pPr algn="l">
              <a:lnSpc>
                <a:spcPts val="2799"/>
              </a:lnSpc>
            </a:pPr>
          </a:p>
        </p:txBody>
      </p:sp>
      <p:sp>
        <p:nvSpPr>
          <p:cNvPr name="TextBox 11" id="11"/>
          <p:cNvSpPr txBox="true"/>
          <p:nvPr/>
        </p:nvSpPr>
        <p:spPr>
          <a:xfrm rot="0">
            <a:off x="1592288" y="1373167"/>
            <a:ext cx="7551712" cy="1990830"/>
          </a:xfrm>
          <a:prstGeom prst="rect">
            <a:avLst/>
          </a:prstGeom>
        </p:spPr>
        <p:txBody>
          <a:bodyPr anchor="t" rtlCol="false" tIns="0" lIns="0" bIns="0" rIns="0">
            <a:spAutoFit/>
          </a:bodyPr>
          <a:lstStyle/>
          <a:p>
            <a:pPr algn="l">
              <a:lnSpc>
                <a:spcPts val="5225"/>
              </a:lnSpc>
            </a:pPr>
            <a:r>
              <a:rPr lang="en-US" b="true" sz="4354">
                <a:solidFill>
                  <a:srgbClr val="F8F8F8"/>
                </a:solidFill>
                <a:latin typeface="Cabin Bold"/>
                <a:ea typeface="Cabin Bold"/>
                <a:cs typeface="Cabin Bold"/>
                <a:sym typeface="Cabin Bold"/>
              </a:rPr>
              <a:t>6.1.3</a:t>
            </a:r>
            <a:r>
              <a:rPr lang="en-US" b="true" sz="4354">
                <a:solidFill>
                  <a:srgbClr val="F8F8F8"/>
                </a:solidFill>
                <a:latin typeface="Cabin Bold"/>
                <a:ea typeface="Cabin Bold"/>
                <a:cs typeface="Cabin Bold"/>
                <a:sym typeface="Cabin Bold"/>
              </a:rPr>
              <a:t> Định nghĩa thước đo thành công</a:t>
            </a:r>
          </a:p>
          <a:p>
            <a:pPr algn="l">
              <a:lnSpc>
                <a:spcPts val="5225"/>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2415644">
            <a:off x="6846336" y="4199039"/>
            <a:ext cx="15465517" cy="5595705"/>
          </a:xfrm>
          <a:custGeom>
            <a:avLst/>
            <a:gdLst/>
            <a:ahLst/>
            <a:cxnLst/>
            <a:rect r="r" b="b" t="t" l="l"/>
            <a:pathLst>
              <a:path h="5595705" w="15465517">
                <a:moveTo>
                  <a:pt x="0" y="0"/>
                </a:moveTo>
                <a:lnTo>
                  <a:pt x="15465516" y="0"/>
                </a:lnTo>
                <a:lnTo>
                  <a:pt x="15465516" y="5595705"/>
                </a:lnTo>
                <a:lnTo>
                  <a:pt x="0" y="5595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2723254" y="2350770"/>
            <a:ext cx="4881453" cy="9920331"/>
            <a:chOff x="0" y="0"/>
            <a:chExt cx="5001260" cy="10163810"/>
          </a:xfrm>
        </p:grpSpPr>
        <p:sp>
          <p:nvSpPr>
            <p:cNvPr name="Freeform 4" id="4"/>
            <p:cNvSpPr/>
            <p:nvPr/>
          </p:nvSpPr>
          <p:spPr>
            <a:xfrm flipH="false" flipV="false" rot="0">
              <a:off x="0" y="0"/>
              <a:ext cx="5000993" cy="10163632"/>
            </a:xfrm>
            <a:custGeom>
              <a:avLst/>
              <a:gdLst/>
              <a:ahLst/>
              <a:cxnLst/>
              <a:rect r="r" b="b" t="t" l="l"/>
              <a:pathLst>
                <a:path h="10163632" w="5000993">
                  <a:moveTo>
                    <a:pt x="0" y="0"/>
                  </a:moveTo>
                  <a:lnTo>
                    <a:pt x="5000993" y="0"/>
                  </a:lnTo>
                  <a:lnTo>
                    <a:pt x="5000993" y="10163632"/>
                  </a:lnTo>
                  <a:lnTo>
                    <a:pt x="0" y="10163632"/>
                  </a:lnTo>
                  <a:close/>
                </a:path>
              </a:pathLst>
            </a:custGeom>
            <a:blipFill>
              <a:blip r:embed="rId4"/>
              <a:stretch>
                <a:fillRect l="-45" t="0" r="-45" b="0"/>
              </a:stretch>
            </a:blipFill>
          </p:spPr>
        </p:sp>
        <p:sp>
          <p:nvSpPr>
            <p:cNvPr name="Freeform 5" id="5"/>
            <p:cNvSpPr/>
            <p:nvPr/>
          </p:nvSpPr>
          <p:spPr>
            <a:xfrm flipH="false" flipV="false" rot="0">
              <a:off x="338760" y="288798"/>
              <a:ext cx="4330776" cy="9398000"/>
            </a:xfrm>
            <a:custGeom>
              <a:avLst/>
              <a:gdLst/>
              <a:ahLst/>
              <a:cxnLst/>
              <a:rect r="r" b="b" t="t" l="l"/>
              <a:pathLst>
                <a:path h="9398000" w="4330776">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5"/>
              <a:stretch>
                <a:fillRect l="-58641" t="0" r="-31780" b="0"/>
              </a:stretch>
            </a:blipFill>
          </p:spPr>
        </p:sp>
      </p:grpSp>
      <p:sp>
        <p:nvSpPr>
          <p:cNvPr name="Freeform 6" id="6"/>
          <p:cNvSpPr/>
          <p:nvPr/>
        </p:nvSpPr>
        <p:spPr>
          <a:xfrm flipH="false" flipV="false" rot="0">
            <a:off x="1028700" y="356351"/>
            <a:ext cx="1012526" cy="1042864"/>
          </a:xfrm>
          <a:custGeom>
            <a:avLst/>
            <a:gdLst/>
            <a:ahLst/>
            <a:cxnLst/>
            <a:rect r="r" b="b" t="t" l="l"/>
            <a:pathLst>
              <a:path h="1042864" w="1012526">
                <a:moveTo>
                  <a:pt x="0" y="0"/>
                </a:moveTo>
                <a:lnTo>
                  <a:pt x="1012526" y="0"/>
                </a:lnTo>
                <a:lnTo>
                  <a:pt x="1012526" y="1042864"/>
                </a:lnTo>
                <a:lnTo>
                  <a:pt x="0" y="10428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674460" y="5745440"/>
            <a:ext cx="7560922" cy="565520"/>
          </a:xfrm>
          <a:custGeom>
            <a:avLst/>
            <a:gdLst/>
            <a:ahLst/>
            <a:cxnLst/>
            <a:rect r="r" b="b" t="t" l="l"/>
            <a:pathLst>
              <a:path h="565520" w="7560922">
                <a:moveTo>
                  <a:pt x="0" y="0"/>
                </a:moveTo>
                <a:lnTo>
                  <a:pt x="7560922" y="0"/>
                </a:lnTo>
                <a:lnTo>
                  <a:pt x="7560922" y="565520"/>
                </a:lnTo>
                <a:lnTo>
                  <a:pt x="0" y="565520"/>
                </a:lnTo>
                <a:lnTo>
                  <a:pt x="0" y="0"/>
                </a:lnTo>
                <a:close/>
              </a:path>
            </a:pathLst>
          </a:custGeom>
          <a:blipFill>
            <a:blip r:embed="rId8"/>
            <a:stretch>
              <a:fillRect l="0" t="0" r="0" b="0"/>
            </a:stretch>
          </a:blipFill>
        </p:spPr>
      </p:sp>
      <p:sp>
        <p:nvSpPr>
          <p:cNvPr name="TextBox 8" id="8"/>
          <p:cNvSpPr txBox="true"/>
          <p:nvPr/>
        </p:nvSpPr>
        <p:spPr>
          <a:xfrm rot="0">
            <a:off x="848488" y="3101300"/>
            <a:ext cx="9949247" cy="485775"/>
          </a:xfrm>
          <a:prstGeom prst="rect">
            <a:avLst/>
          </a:prstGeom>
        </p:spPr>
        <p:txBody>
          <a:bodyPr anchor="t" rtlCol="false" tIns="0" lIns="0" bIns="0" rIns="0">
            <a:spAutoFit/>
          </a:bodyPr>
          <a:lstStyle/>
          <a:p>
            <a:pPr algn="l" marL="0" indent="0" lvl="0">
              <a:lnSpc>
                <a:spcPts val="3840"/>
              </a:lnSpc>
              <a:spcBef>
                <a:spcPct val="0"/>
              </a:spcBef>
            </a:pPr>
            <a:r>
              <a:rPr lang="en-US" sz="3200" u="none">
                <a:solidFill>
                  <a:srgbClr val="2667FF"/>
                </a:solidFill>
                <a:latin typeface="Cabin"/>
                <a:ea typeface="Cabin"/>
                <a:cs typeface="Cabin"/>
                <a:sym typeface="Cabin"/>
              </a:rPr>
              <a:t># 1</a:t>
            </a:r>
          </a:p>
        </p:txBody>
      </p:sp>
      <p:sp>
        <p:nvSpPr>
          <p:cNvPr name="TextBox 9" id="9"/>
          <p:cNvSpPr txBox="true"/>
          <p:nvPr/>
        </p:nvSpPr>
        <p:spPr>
          <a:xfrm rot="0">
            <a:off x="1674460" y="3053675"/>
            <a:ext cx="9949247" cy="824865"/>
          </a:xfrm>
          <a:prstGeom prst="rect">
            <a:avLst/>
          </a:prstGeom>
        </p:spPr>
        <p:txBody>
          <a:bodyPr anchor="t" rtlCol="false" tIns="0" lIns="0" bIns="0" rIns="0">
            <a:spAutoFit/>
          </a:bodyPr>
          <a:lstStyle/>
          <a:p>
            <a:pPr algn="l">
              <a:lnSpc>
                <a:spcPts val="3359"/>
              </a:lnSpc>
            </a:pPr>
            <a:r>
              <a:rPr lang="en-US" sz="2400">
                <a:solidFill>
                  <a:srgbClr val="01003B"/>
                </a:solidFill>
                <a:latin typeface="Asap"/>
                <a:ea typeface="Asap"/>
                <a:cs typeface="Asap"/>
                <a:sym typeface="Asap"/>
              </a:rPr>
              <a:t>Ve</a:t>
            </a:r>
            <a:r>
              <a:rPr lang="en-US" sz="2400" u="none">
                <a:solidFill>
                  <a:srgbClr val="01003B"/>
                </a:solidFill>
                <a:latin typeface="Asap"/>
                <a:ea typeface="Asap"/>
                <a:cs typeface="Asap"/>
                <a:sym typeface="Asap"/>
              </a:rPr>
              <a:t>ctor hóa: Chuyển đổi dữ liệu thành các tensor số.</a:t>
            </a:r>
          </a:p>
          <a:p>
            <a:pPr algn="l">
              <a:lnSpc>
                <a:spcPts val="3359"/>
              </a:lnSpc>
            </a:pPr>
          </a:p>
        </p:txBody>
      </p:sp>
      <p:sp>
        <p:nvSpPr>
          <p:cNvPr name="TextBox 10" id="10"/>
          <p:cNvSpPr txBox="true"/>
          <p:nvPr/>
        </p:nvSpPr>
        <p:spPr>
          <a:xfrm rot="0">
            <a:off x="848488" y="4107140"/>
            <a:ext cx="9949247" cy="485775"/>
          </a:xfrm>
          <a:prstGeom prst="rect">
            <a:avLst/>
          </a:prstGeom>
        </p:spPr>
        <p:txBody>
          <a:bodyPr anchor="t" rtlCol="false" tIns="0" lIns="0" bIns="0" rIns="0">
            <a:spAutoFit/>
          </a:bodyPr>
          <a:lstStyle/>
          <a:p>
            <a:pPr algn="l" marL="0" indent="0" lvl="0">
              <a:lnSpc>
                <a:spcPts val="3840"/>
              </a:lnSpc>
              <a:spcBef>
                <a:spcPct val="0"/>
              </a:spcBef>
            </a:pPr>
            <a:r>
              <a:rPr lang="en-US" sz="3200" u="none">
                <a:solidFill>
                  <a:srgbClr val="2667FF"/>
                </a:solidFill>
                <a:latin typeface="Cabin"/>
                <a:ea typeface="Cabin"/>
                <a:cs typeface="Cabin"/>
                <a:sym typeface="Cabin"/>
              </a:rPr>
              <a:t> # 2</a:t>
            </a:r>
          </a:p>
        </p:txBody>
      </p:sp>
      <p:sp>
        <p:nvSpPr>
          <p:cNvPr name="TextBox 11" id="11"/>
          <p:cNvSpPr txBox="true"/>
          <p:nvPr/>
        </p:nvSpPr>
        <p:spPr>
          <a:xfrm rot="0">
            <a:off x="1674460" y="4056640"/>
            <a:ext cx="9949247" cy="1745615"/>
          </a:xfrm>
          <a:prstGeom prst="rect">
            <a:avLst/>
          </a:prstGeom>
        </p:spPr>
        <p:txBody>
          <a:bodyPr anchor="t" rtlCol="false" tIns="0" lIns="0" bIns="0" rIns="0">
            <a:spAutoFit/>
          </a:bodyPr>
          <a:lstStyle/>
          <a:p>
            <a:pPr algn="l">
              <a:lnSpc>
                <a:spcPts val="3359"/>
              </a:lnSpc>
            </a:pPr>
            <a:r>
              <a:rPr lang="en-US" sz="2400">
                <a:solidFill>
                  <a:srgbClr val="01003B"/>
                </a:solidFill>
                <a:latin typeface="Asap"/>
                <a:ea typeface="Asap"/>
                <a:cs typeface="Asap"/>
                <a:sym typeface="Asap"/>
              </a:rPr>
              <a:t>Chuẩn</a:t>
            </a:r>
            <a:r>
              <a:rPr lang="en-US" sz="2400" u="none">
                <a:solidFill>
                  <a:srgbClr val="01003B"/>
                </a:solidFill>
                <a:latin typeface="Asap"/>
                <a:ea typeface="Asap"/>
                <a:cs typeface="Asap"/>
                <a:sym typeface="Asap"/>
              </a:rPr>
              <a:t> hóa: Điều chỉnh tỷ lệ các đặc trưng số. </a:t>
            </a:r>
          </a:p>
          <a:p>
            <a:pPr algn="l">
              <a:lnSpc>
                <a:spcPts val="2660"/>
              </a:lnSpc>
            </a:pPr>
            <a:r>
              <a:rPr lang="en-US" sz="1900" u="none">
                <a:solidFill>
                  <a:srgbClr val="01003B"/>
                </a:solidFill>
                <a:latin typeface="Asap"/>
                <a:ea typeface="Asap"/>
                <a:cs typeface="Asap"/>
                <a:sym typeface="Asap"/>
              </a:rPr>
              <a:t>VD:với ma trận dữ liệu 2D x có hình dạng (samples, features), bạn trừ đi giá trị trung bình của đặc trưng và chia cho độ lệch chuẩn, để đặc trưng được tập trung quanh 0 và có độ lệch chuẩn đơn vị:</a:t>
            </a:r>
          </a:p>
          <a:p>
            <a:pPr algn="l">
              <a:lnSpc>
                <a:spcPts val="2660"/>
              </a:lnSpc>
            </a:pPr>
          </a:p>
        </p:txBody>
      </p:sp>
      <p:sp>
        <p:nvSpPr>
          <p:cNvPr name="TextBox 12" id="12"/>
          <p:cNvSpPr txBox="true"/>
          <p:nvPr/>
        </p:nvSpPr>
        <p:spPr>
          <a:xfrm rot="0">
            <a:off x="848488" y="6511117"/>
            <a:ext cx="9949247" cy="485775"/>
          </a:xfrm>
          <a:prstGeom prst="rect">
            <a:avLst/>
          </a:prstGeom>
        </p:spPr>
        <p:txBody>
          <a:bodyPr anchor="t" rtlCol="false" tIns="0" lIns="0" bIns="0" rIns="0">
            <a:spAutoFit/>
          </a:bodyPr>
          <a:lstStyle/>
          <a:p>
            <a:pPr algn="l" marL="0" indent="0" lvl="0">
              <a:lnSpc>
                <a:spcPts val="3840"/>
              </a:lnSpc>
              <a:spcBef>
                <a:spcPct val="0"/>
              </a:spcBef>
            </a:pPr>
            <a:r>
              <a:rPr lang="en-US" sz="3200" u="none">
                <a:solidFill>
                  <a:srgbClr val="2667FF"/>
                </a:solidFill>
                <a:latin typeface="Cabin"/>
                <a:ea typeface="Cabin"/>
                <a:cs typeface="Cabin"/>
                <a:sym typeface="Cabin"/>
              </a:rPr>
              <a:t># 3</a:t>
            </a:r>
          </a:p>
        </p:txBody>
      </p:sp>
      <p:sp>
        <p:nvSpPr>
          <p:cNvPr name="TextBox 13" id="13"/>
          <p:cNvSpPr txBox="true"/>
          <p:nvPr/>
        </p:nvSpPr>
        <p:spPr>
          <a:xfrm rot="0">
            <a:off x="1674460" y="6463492"/>
            <a:ext cx="9123276" cy="3644265"/>
          </a:xfrm>
          <a:prstGeom prst="rect">
            <a:avLst/>
          </a:prstGeom>
        </p:spPr>
        <p:txBody>
          <a:bodyPr anchor="t" rtlCol="false" tIns="0" lIns="0" bIns="0" rIns="0">
            <a:spAutoFit/>
          </a:bodyPr>
          <a:lstStyle/>
          <a:p>
            <a:pPr algn="l">
              <a:lnSpc>
                <a:spcPts val="3359"/>
              </a:lnSpc>
            </a:pPr>
            <a:r>
              <a:rPr lang="en-US" sz="2400">
                <a:solidFill>
                  <a:srgbClr val="01003B"/>
                </a:solidFill>
                <a:latin typeface="Asap"/>
                <a:ea typeface="Asap"/>
                <a:cs typeface="Asap"/>
                <a:sym typeface="Asap"/>
              </a:rPr>
              <a:t>Xử lý</a:t>
            </a:r>
            <a:r>
              <a:rPr lang="en-US" sz="2400" u="none">
                <a:solidFill>
                  <a:srgbClr val="01003B"/>
                </a:solidFill>
                <a:latin typeface="Asap"/>
                <a:ea typeface="Asap"/>
                <a:cs typeface="Asap"/>
                <a:sym typeface="Asap"/>
              </a:rPr>
              <a:t> các giá trị bị thiếu</a:t>
            </a:r>
          </a:p>
          <a:p>
            <a:pPr algn="l" marL="431802" indent="-215901" lvl="1">
              <a:lnSpc>
                <a:spcPts val="2800"/>
              </a:lnSpc>
              <a:buFont typeface="Arial"/>
              <a:buChar char="•"/>
            </a:pPr>
            <a:r>
              <a:rPr lang="en-US" sz="2000" u="none">
                <a:solidFill>
                  <a:srgbClr val="01003B"/>
                </a:solidFill>
                <a:latin typeface="Asap"/>
                <a:ea typeface="Asap"/>
                <a:cs typeface="Asap"/>
                <a:sym typeface="Asap"/>
              </a:rPr>
              <a:t>Với đặc trưng phân loại (categorical features), cách xử lý an toàn là thêm một nhãn mới mang ý nghĩa “giá trị bị thiếu”. Mô hình sẽ tự học xem trường hợp thiếu này có tác động như thế nào đến mục tiêu dự đoán.</a:t>
            </a:r>
          </a:p>
          <a:p>
            <a:pPr algn="l">
              <a:lnSpc>
                <a:spcPts val="2800"/>
              </a:lnSpc>
            </a:pPr>
          </a:p>
          <a:p>
            <a:pPr algn="l" marL="431802" indent="-215901" lvl="1">
              <a:lnSpc>
                <a:spcPts val="2800"/>
              </a:lnSpc>
              <a:buFont typeface="Arial"/>
              <a:buChar char="•"/>
            </a:pPr>
            <a:r>
              <a:rPr lang="en-US" sz="2000" u="none">
                <a:solidFill>
                  <a:srgbClr val="01003B"/>
                </a:solidFill>
                <a:latin typeface="Asap"/>
                <a:ea typeface="Asap"/>
                <a:cs typeface="Asap"/>
                <a:sym typeface="Asap"/>
              </a:rPr>
              <a:t>Với đặc trưng số (numerical features), không nên điền tùy tiện bằng giá trị như “0” vì sẽ gây sai lệch không gian đặc trưng và làm giảm khả năng tổng quát hóa. Thay vào đó, thay bằng mean/median hoặc dự đoán từ đặc trưng khác.</a:t>
            </a:r>
          </a:p>
          <a:p>
            <a:pPr algn="l">
              <a:lnSpc>
                <a:spcPts val="3359"/>
              </a:lnSpc>
            </a:pPr>
          </a:p>
        </p:txBody>
      </p:sp>
      <p:sp>
        <p:nvSpPr>
          <p:cNvPr name="TextBox 14" id="14"/>
          <p:cNvSpPr txBox="true"/>
          <p:nvPr/>
        </p:nvSpPr>
        <p:spPr>
          <a:xfrm rot="0">
            <a:off x="1534963" y="1626893"/>
            <a:ext cx="8233663" cy="1327220"/>
          </a:xfrm>
          <a:prstGeom prst="rect">
            <a:avLst/>
          </a:prstGeom>
        </p:spPr>
        <p:txBody>
          <a:bodyPr anchor="t" rtlCol="false" tIns="0" lIns="0" bIns="0" rIns="0">
            <a:spAutoFit/>
          </a:bodyPr>
          <a:lstStyle/>
          <a:p>
            <a:pPr algn="l">
              <a:lnSpc>
                <a:spcPts val="5225"/>
              </a:lnSpc>
            </a:pPr>
            <a:r>
              <a:rPr lang="en-US" sz="4354" b="true">
                <a:solidFill>
                  <a:srgbClr val="01003B"/>
                </a:solidFill>
                <a:latin typeface="Cabin Bold"/>
                <a:ea typeface="Cabin Bold"/>
                <a:cs typeface="Cabin Bold"/>
                <a:sym typeface="Cabin Bold"/>
              </a:rPr>
              <a:t>6.2.1</a:t>
            </a:r>
            <a:r>
              <a:rPr lang="en-US" b="true" sz="4354">
                <a:solidFill>
                  <a:srgbClr val="01003B"/>
                </a:solidFill>
                <a:latin typeface="Cabin Bold"/>
                <a:ea typeface="Cabin Bold"/>
                <a:cs typeface="Cabin Bold"/>
                <a:sym typeface="Cabin Bold"/>
              </a:rPr>
              <a:t> Chuẩn bị dữ liệu</a:t>
            </a:r>
          </a:p>
          <a:p>
            <a:pPr algn="l">
              <a:lnSpc>
                <a:spcPts val="5225"/>
              </a:lnSpc>
            </a:pPr>
          </a:p>
        </p:txBody>
      </p:sp>
      <p:sp>
        <p:nvSpPr>
          <p:cNvPr name="TextBox 15" id="15"/>
          <p:cNvSpPr txBox="true"/>
          <p:nvPr/>
        </p:nvSpPr>
        <p:spPr>
          <a:xfrm rot="0">
            <a:off x="2481451" y="213476"/>
            <a:ext cx="11279137" cy="2381597"/>
          </a:xfrm>
          <a:prstGeom prst="rect">
            <a:avLst/>
          </a:prstGeom>
        </p:spPr>
        <p:txBody>
          <a:bodyPr anchor="t" rtlCol="false" tIns="0" lIns="0" bIns="0" rIns="0">
            <a:spAutoFit/>
          </a:bodyPr>
          <a:lstStyle/>
          <a:p>
            <a:pPr algn="l">
              <a:lnSpc>
                <a:spcPts val="9514"/>
              </a:lnSpc>
              <a:spcBef>
                <a:spcPct val="0"/>
              </a:spcBef>
            </a:pPr>
            <a:r>
              <a:rPr lang="en-US" b="true" sz="6795">
                <a:solidFill>
                  <a:srgbClr val="01003B"/>
                </a:solidFill>
                <a:latin typeface="Asap Bold"/>
                <a:ea typeface="Asap Bold"/>
                <a:cs typeface="Asap Bold"/>
                <a:sym typeface="Asap Bold"/>
              </a:rPr>
              <a:t>6.2</a:t>
            </a:r>
            <a:r>
              <a:rPr lang="en-US" b="true" sz="6795">
                <a:solidFill>
                  <a:srgbClr val="01003B"/>
                </a:solidFill>
                <a:latin typeface="Asap Bold"/>
                <a:ea typeface="Asap Bold"/>
                <a:cs typeface="Asap Bold"/>
                <a:sym typeface="Asap Bold"/>
              </a:rPr>
              <a:t> Phát triển một mô hình</a:t>
            </a:r>
          </a:p>
          <a:p>
            <a:pPr algn="l">
              <a:lnSpc>
                <a:spcPts val="9514"/>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2415644">
            <a:off x="6846336" y="4199039"/>
            <a:ext cx="15465517" cy="5595705"/>
          </a:xfrm>
          <a:custGeom>
            <a:avLst/>
            <a:gdLst/>
            <a:ahLst/>
            <a:cxnLst/>
            <a:rect r="r" b="b" t="t" l="l"/>
            <a:pathLst>
              <a:path h="5595705" w="15465517">
                <a:moveTo>
                  <a:pt x="0" y="0"/>
                </a:moveTo>
                <a:lnTo>
                  <a:pt x="15465516" y="0"/>
                </a:lnTo>
                <a:lnTo>
                  <a:pt x="15465516" y="5595705"/>
                </a:lnTo>
                <a:lnTo>
                  <a:pt x="0" y="5595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2723254" y="2350770"/>
            <a:ext cx="4881453" cy="9920331"/>
            <a:chOff x="0" y="0"/>
            <a:chExt cx="5001260" cy="10163810"/>
          </a:xfrm>
        </p:grpSpPr>
        <p:sp>
          <p:nvSpPr>
            <p:cNvPr name="Freeform 4" id="4"/>
            <p:cNvSpPr/>
            <p:nvPr/>
          </p:nvSpPr>
          <p:spPr>
            <a:xfrm flipH="false" flipV="false" rot="0">
              <a:off x="0" y="0"/>
              <a:ext cx="5000993" cy="10163632"/>
            </a:xfrm>
            <a:custGeom>
              <a:avLst/>
              <a:gdLst/>
              <a:ahLst/>
              <a:cxnLst/>
              <a:rect r="r" b="b" t="t" l="l"/>
              <a:pathLst>
                <a:path h="10163632" w="5000993">
                  <a:moveTo>
                    <a:pt x="0" y="0"/>
                  </a:moveTo>
                  <a:lnTo>
                    <a:pt x="5000993" y="0"/>
                  </a:lnTo>
                  <a:lnTo>
                    <a:pt x="5000993" y="10163632"/>
                  </a:lnTo>
                  <a:lnTo>
                    <a:pt x="0" y="10163632"/>
                  </a:lnTo>
                  <a:close/>
                </a:path>
              </a:pathLst>
            </a:custGeom>
            <a:blipFill>
              <a:blip r:embed="rId4"/>
              <a:stretch>
                <a:fillRect l="-45" t="0" r="-45" b="0"/>
              </a:stretch>
            </a:blipFill>
          </p:spPr>
        </p:sp>
        <p:sp>
          <p:nvSpPr>
            <p:cNvPr name="Freeform 5" id="5"/>
            <p:cNvSpPr/>
            <p:nvPr/>
          </p:nvSpPr>
          <p:spPr>
            <a:xfrm flipH="false" flipV="false" rot="0">
              <a:off x="338760" y="288798"/>
              <a:ext cx="4330776" cy="9398000"/>
            </a:xfrm>
            <a:custGeom>
              <a:avLst/>
              <a:gdLst/>
              <a:ahLst/>
              <a:cxnLst/>
              <a:rect r="r" b="b" t="t" l="l"/>
              <a:pathLst>
                <a:path h="9398000" w="4330776">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5"/>
              <a:stretch>
                <a:fillRect l="-58641" t="0" r="-31780" b="0"/>
              </a:stretch>
            </a:blipFill>
          </p:spPr>
        </p:sp>
      </p:grpSp>
      <p:sp>
        <p:nvSpPr>
          <p:cNvPr name="Freeform 6" id="6"/>
          <p:cNvSpPr/>
          <p:nvPr/>
        </p:nvSpPr>
        <p:spPr>
          <a:xfrm flipH="false" flipV="false" rot="0">
            <a:off x="1028700" y="356351"/>
            <a:ext cx="1012526" cy="1042864"/>
          </a:xfrm>
          <a:custGeom>
            <a:avLst/>
            <a:gdLst/>
            <a:ahLst/>
            <a:cxnLst/>
            <a:rect r="r" b="b" t="t" l="l"/>
            <a:pathLst>
              <a:path h="1042864" w="1012526">
                <a:moveTo>
                  <a:pt x="0" y="0"/>
                </a:moveTo>
                <a:lnTo>
                  <a:pt x="1012526" y="0"/>
                </a:lnTo>
                <a:lnTo>
                  <a:pt x="1012526" y="1042864"/>
                </a:lnTo>
                <a:lnTo>
                  <a:pt x="0" y="10428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848488" y="3101300"/>
            <a:ext cx="9949247" cy="485775"/>
          </a:xfrm>
          <a:prstGeom prst="rect">
            <a:avLst/>
          </a:prstGeom>
        </p:spPr>
        <p:txBody>
          <a:bodyPr anchor="t" rtlCol="false" tIns="0" lIns="0" bIns="0" rIns="0">
            <a:spAutoFit/>
          </a:bodyPr>
          <a:lstStyle/>
          <a:p>
            <a:pPr algn="l" marL="0" indent="0" lvl="0">
              <a:lnSpc>
                <a:spcPts val="3840"/>
              </a:lnSpc>
              <a:spcBef>
                <a:spcPct val="0"/>
              </a:spcBef>
            </a:pPr>
            <a:r>
              <a:rPr lang="en-US" sz="3200" u="none">
                <a:solidFill>
                  <a:srgbClr val="2667FF"/>
                </a:solidFill>
                <a:latin typeface="Cabin"/>
                <a:ea typeface="Cabin"/>
                <a:cs typeface="Cabin"/>
                <a:sym typeface="Cabin"/>
              </a:rPr>
              <a:t># 1</a:t>
            </a:r>
          </a:p>
        </p:txBody>
      </p:sp>
      <p:sp>
        <p:nvSpPr>
          <p:cNvPr name="TextBox 8" id="8"/>
          <p:cNvSpPr txBox="true"/>
          <p:nvPr/>
        </p:nvSpPr>
        <p:spPr>
          <a:xfrm rot="0">
            <a:off x="1674460" y="2906488"/>
            <a:ext cx="9949247" cy="1243965"/>
          </a:xfrm>
          <a:prstGeom prst="rect">
            <a:avLst/>
          </a:prstGeom>
        </p:spPr>
        <p:txBody>
          <a:bodyPr anchor="t" rtlCol="false" tIns="0" lIns="0" bIns="0" rIns="0">
            <a:spAutoFit/>
          </a:bodyPr>
          <a:lstStyle/>
          <a:p>
            <a:pPr algn="l">
              <a:lnSpc>
                <a:spcPts val="3359"/>
              </a:lnSpc>
            </a:pPr>
            <a:r>
              <a:rPr lang="en-US" sz="2400">
                <a:solidFill>
                  <a:srgbClr val="01003B"/>
                </a:solidFill>
                <a:latin typeface="Asap"/>
                <a:ea typeface="Asap"/>
                <a:cs typeface="Asap"/>
                <a:sym typeface="Asap"/>
              </a:rPr>
              <a:t>Duy </a:t>
            </a:r>
            <a:r>
              <a:rPr lang="en-US" sz="2400" u="none">
                <a:solidFill>
                  <a:srgbClr val="01003B"/>
                </a:solidFill>
                <a:latin typeface="Asap"/>
                <a:ea typeface="Asap"/>
                <a:cs typeface="Asap"/>
                <a:sym typeface="Asap"/>
              </a:rPr>
              <a:t>trì tập dữ liệu kiểm định giữ lại (holdout validation set): Đây là cách thực hiện khi bạn có nhiều dữ liệu.</a:t>
            </a:r>
          </a:p>
          <a:p>
            <a:pPr algn="l">
              <a:lnSpc>
                <a:spcPts val="3359"/>
              </a:lnSpc>
            </a:pPr>
          </a:p>
        </p:txBody>
      </p:sp>
      <p:sp>
        <p:nvSpPr>
          <p:cNvPr name="TextBox 9" id="9"/>
          <p:cNvSpPr txBox="true"/>
          <p:nvPr/>
        </p:nvSpPr>
        <p:spPr>
          <a:xfrm rot="0">
            <a:off x="848488" y="4916700"/>
            <a:ext cx="9949247" cy="485775"/>
          </a:xfrm>
          <a:prstGeom prst="rect">
            <a:avLst/>
          </a:prstGeom>
        </p:spPr>
        <p:txBody>
          <a:bodyPr anchor="t" rtlCol="false" tIns="0" lIns="0" bIns="0" rIns="0">
            <a:spAutoFit/>
          </a:bodyPr>
          <a:lstStyle/>
          <a:p>
            <a:pPr algn="l" marL="0" indent="0" lvl="0">
              <a:lnSpc>
                <a:spcPts val="3840"/>
              </a:lnSpc>
              <a:spcBef>
                <a:spcPct val="0"/>
              </a:spcBef>
            </a:pPr>
            <a:r>
              <a:rPr lang="en-US" sz="3200" u="none">
                <a:solidFill>
                  <a:srgbClr val="2667FF"/>
                </a:solidFill>
                <a:latin typeface="Cabin"/>
                <a:ea typeface="Cabin"/>
                <a:cs typeface="Cabin"/>
                <a:sym typeface="Cabin"/>
              </a:rPr>
              <a:t> # 2</a:t>
            </a:r>
          </a:p>
        </p:txBody>
      </p:sp>
      <p:sp>
        <p:nvSpPr>
          <p:cNvPr name="TextBox 10" id="10"/>
          <p:cNvSpPr txBox="true"/>
          <p:nvPr/>
        </p:nvSpPr>
        <p:spPr>
          <a:xfrm rot="0">
            <a:off x="1674460" y="4692862"/>
            <a:ext cx="9949247" cy="1164590"/>
          </a:xfrm>
          <a:prstGeom prst="rect">
            <a:avLst/>
          </a:prstGeom>
        </p:spPr>
        <p:txBody>
          <a:bodyPr anchor="t" rtlCol="false" tIns="0" lIns="0" bIns="0" rIns="0">
            <a:spAutoFit/>
          </a:bodyPr>
          <a:lstStyle/>
          <a:p>
            <a:pPr algn="l">
              <a:lnSpc>
                <a:spcPts val="3359"/>
              </a:lnSpc>
            </a:pPr>
            <a:r>
              <a:rPr lang="en-US" sz="2400">
                <a:solidFill>
                  <a:srgbClr val="01003B"/>
                </a:solidFill>
                <a:latin typeface="Asap"/>
                <a:ea typeface="Asap"/>
                <a:cs typeface="Asap"/>
                <a:sym typeface="Asap"/>
              </a:rPr>
              <a:t>K</a:t>
            </a:r>
            <a:r>
              <a:rPr lang="en-US" sz="2400" u="none">
                <a:solidFill>
                  <a:srgbClr val="01003B"/>
                </a:solidFill>
                <a:latin typeface="Asap"/>
                <a:ea typeface="Asap"/>
                <a:cs typeface="Asap"/>
                <a:sym typeface="Asap"/>
              </a:rPr>
              <a:t>iểm định chéo K-fold (K-fold cross-</a:t>
            </a:r>
            <a:r>
              <a:rPr lang="en-US" sz="2400" u="none">
                <a:solidFill>
                  <a:srgbClr val="01003B"/>
                </a:solidFill>
                <a:latin typeface="Asap"/>
                <a:ea typeface="Asap"/>
                <a:cs typeface="Asap"/>
                <a:sym typeface="Asap"/>
              </a:rPr>
              <a:t>validation): Đây là lựa chọn đúng đắn khi bạn có quá ít mẫu để holdout validation đáng tin cậy.</a:t>
            </a:r>
          </a:p>
          <a:p>
            <a:pPr algn="l">
              <a:lnSpc>
                <a:spcPts val="2660"/>
              </a:lnSpc>
            </a:pPr>
          </a:p>
        </p:txBody>
      </p:sp>
      <p:sp>
        <p:nvSpPr>
          <p:cNvPr name="TextBox 11" id="11"/>
          <p:cNvSpPr txBox="true"/>
          <p:nvPr/>
        </p:nvSpPr>
        <p:spPr>
          <a:xfrm rot="0">
            <a:off x="848488" y="6901576"/>
            <a:ext cx="9949247" cy="485775"/>
          </a:xfrm>
          <a:prstGeom prst="rect">
            <a:avLst/>
          </a:prstGeom>
        </p:spPr>
        <p:txBody>
          <a:bodyPr anchor="t" rtlCol="false" tIns="0" lIns="0" bIns="0" rIns="0">
            <a:spAutoFit/>
          </a:bodyPr>
          <a:lstStyle/>
          <a:p>
            <a:pPr algn="l" marL="0" indent="0" lvl="0">
              <a:lnSpc>
                <a:spcPts val="3840"/>
              </a:lnSpc>
              <a:spcBef>
                <a:spcPct val="0"/>
              </a:spcBef>
            </a:pPr>
            <a:r>
              <a:rPr lang="en-US" sz="3200" u="none">
                <a:solidFill>
                  <a:srgbClr val="2667FF"/>
                </a:solidFill>
                <a:latin typeface="Cabin"/>
                <a:ea typeface="Cabin"/>
                <a:cs typeface="Cabin"/>
                <a:sym typeface="Cabin"/>
              </a:rPr>
              <a:t># 3</a:t>
            </a:r>
          </a:p>
        </p:txBody>
      </p:sp>
      <p:sp>
        <p:nvSpPr>
          <p:cNvPr name="TextBox 12" id="12"/>
          <p:cNvSpPr txBox="true"/>
          <p:nvPr/>
        </p:nvSpPr>
        <p:spPr>
          <a:xfrm rot="0">
            <a:off x="1674460" y="6853951"/>
            <a:ext cx="9123276" cy="1243965"/>
          </a:xfrm>
          <a:prstGeom prst="rect">
            <a:avLst/>
          </a:prstGeom>
        </p:spPr>
        <p:txBody>
          <a:bodyPr anchor="t" rtlCol="false" tIns="0" lIns="0" bIns="0" rIns="0">
            <a:spAutoFit/>
          </a:bodyPr>
          <a:lstStyle/>
          <a:p>
            <a:pPr algn="l">
              <a:lnSpc>
                <a:spcPts val="3359"/>
              </a:lnSpc>
            </a:pPr>
            <a:r>
              <a:rPr lang="en-US" sz="2400">
                <a:solidFill>
                  <a:srgbClr val="01003B"/>
                </a:solidFill>
                <a:latin typeface="Asap"/>
                <a:ea typeface="Asap"/>
                <a:cs typeface="Asap"/>
                <a:sym typeface="Asap"/>
              </a:rPr>
              <a:t>K</a:t>
            </a:r>
            <a:r>
              <a:rPr lang="en-US" sz="2400" u="none">
                <a:solidFill>
                  <a:srgbClr val="01003B"/>
                </a:solidFill>
                <a:latin typeface="Asap"/>
                <a:ea typeface="Asap"/>
                <a:cs typeface="Asap"/>
                <a:sym typeface="Asap"/>
              </a:rPr>
              <a:t>iểm định</a:t>
            </a:r>
            <a:r>
              <a:rPr lang="en-US" sz="2400" u="none">
                <a:solidFill>
                  <a:srgbClr val="01003B"/>
                </a:solidFill>
                <a:latin typeface="Asap"/>
                <a:ea typeface="Asap"/>
                <a:cs typeface="Asap"/>
                <a:sym typeface="Asap"/>
              </a:rPr>
              <a:t> chéo K-fold lặp lại (iterated K-fold validation): Đây là để thực hiện đánh giá mô hình chính xác cao khi có ít dữ liệu.</a:t>
            </a:r>
          </a:p>
          <a:p>
            <a:pPr algn="l">
              <a:lnSpc>
                <a:spcPts val="3359"/>
              </a:lnSpc>
            </a:pPr>
          </a:p>
        </p:txBody>
      </p:sp>
      <p:sp>
        <p:nvSpPr>
          <p:cNvPr name="TextBox 13" id="13"/>
          <p:cNvSpPr txBox="true"/>
          <p:nvPr/>
        </p:nvSpPr>
        <p:spPr>
          <a:xfrm rot="0">
            <a:off x="1534963" y="1626893"/>
            <a:ext cx="8233663" cy="1327220"/>
          </a:xfrm>
          <a:prstGeom prst="rect">
            <a:avLst/>
          </a:prstGeom>
        </p:spPr>
        <p:txBody>
          <a:bodyPr anchor="t" rtlCol="false" tIns="0" lIns="0" bIns="0" rIns="0">
            <a:spAutoFit/>
          </a:bodyPr>
          <a:lstStyle/>
          <a:p>
            <a:pPr algn="l">
              <a:lnSpc>
                <a:spcPts val="5225"/>
              </a:lnSpc>
            </a:pPr>
            <a:r>
              <a:rPr lang="en-US" sz="4354" b="true">
                <a:solidFill>
                  <a:srgbClr val="01003B"/>
                </a:solidFill>
                <a:latin typeface="Cabin Bold"/>
                <a:ea typeface="Cabin Bold"/>
                <a:cs typeface="Cabin Bold"/>
                <a:sym typeface="Cabin Bold"/>
              </a:rPr>
              <a:t>6.2.2</a:t>
            </a:r>
            <a:r>
              <a:rPr lang="en-US" b="true" sz="4354">
                <a:solidFill>
                  <a:srgbClr val="01003B"/>
                </a:solidFill>
                <a:latin typeface="Cabin Bold"/>
                <a:ea typeface="Cabin Bold"/>
                <a:cs typeface="Cabin Bold"/>
                <a:sym typeface="Cabin Bold"/>
              </a:rPr>
              <a:t> Chọn một giao thức đánh giá</a:t>
            </a:r>
          </a:p>
          <a:p>
            <a:pPr algn="l">
              <a:lnSpc>
                <a:spcPts val="5225"/>
              </a:lnSpc>
            </a:pPr>
          </a:p>
        </p:txBody>
      </p:sp>
      <p:sp>
        <p:nvSpPr>
          <p:cNvPr name="TextBox 14" id="14"/>
          <p:cNvSpPr txBox="true"/>
          <p:nvPr/>
        </p:nvSpPr>
        <p:spPr>
          <a:xfrm rot="0">
            <a:off x="2481451" y="213476"/>
            <a:ext cx="11279137" cy="2381597"/>
          </a:xfrm>
          <a:prstGeom prst="rect">
            <a:avLst/>
          </a:prstGeom>
        </p:spPr>
        <p:txBody>
          <a:bodyPr anchor="t" rtlCol="false" tIns="0" lIns="0" bIns="0" rIns="0">
            <a:spAutoFit/>
          </a:bodyPr>
          <a:lstStyle/>
          <a:p>
            <a:pPr algn="l">
              <a:lnSpc>
                <a:spcPts val="9514"/>
              </a:lnSpc>
              <a:spcBef>
                <a:spcPct val="0"/>
              </a:spcBef>
            </a:pPr>
            <a:r>
              <a:rPr lang="en-US" b="true" sz="6795">
                <a:solidFill>
                  <a:srgbClr val="01003B"/>
                </a:solidFill>
                <a:latin typeface="Asap Bold"/>
                <a:ea typeface="Asap Bold"/>
                <a:cs typeface="Asap Bold"/>
                <a:sym typeface="Asap Bold"/>
              </a:rPr>
              <a:t>6.2</a:t>
            </a:r>
            <a:r>
              <a:rPr lang="en-US" b="true" sz="6795">
                <a:solidFill>
                  <a:srgbClr val="01003B"/>
                </a:solidFill>
                <a:latin typeface="Asap Bold"/>
                <a:ea typeface="Asap Bold"/>
                <a:cs typeface="Asap Bold"/>
                <a:sym typeface="Asap Bold"/>
              </a:rPr>
              <a:t> Phát triển một mô hình</a:t>
            </a:r>
          </a:p>
          <a:p>
            <a:pPr algn="l">
              <a:lnSpc>
                <a:spcPts val="9514"/>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aphicFrame>
        <p:nvGraphicFramePr>
          <p:cNvPr name="Table 3" id="3"/>
          <p:cNvGraphicFramePr>
            <a:graphicFrameLocks noGrp="true"/>
          </p:cNvGraphicFramePr>
          <p:nvPr/>
        </p:nvGraphicFramePr>
        <p:xfrm>
          <a:off x="7278310" y="1475712"/>
          <a:ext cx="10146184" cy="8353425"/>
        </p:xfrm>
        <a:graphic>
          <a:graphicData uri="http://schemas.openxmlformats.org/drawingml/2006/table">
            <a:tbl>
              <a:tblPr/>
              <a:tblGrid>
                <a:gridCol w="1327738"/>
                <a:gridCol w="8818446"/>
              </a:tblGrid>
              <a:tr h="1544811">
                <a:tc>
                  <a:txBody>
                    <a:bodyPr anchor="t" rtlCol="false"/>
                    <a:lstStyle/>
                    <a:p>
                      <a:pPr algn="ctr">
                        <a:lnSpc>
                          <a:spcPts val="2940"/>
                        </a:lnSpc>
                        <a:defRPr/>
                      </a:pPr>
                      <a:r>
                        <a:rPr lang="en-US" sz="2100" b="true">
                          <a:solidFill>
                            <a:srgbClr val="F8F8F8"/>
                          </a:solidFill>
                          <a:latin typeface="Asap Bold"/>
                          <a:ea typeface="Asap Bold"/>
                          <a:cs typeface="Asap Bold"/>
                          <a:sym typeface="Asap Bold"/>
                        </a:rPr>
                        <a:t>1</a:t>
                      </a:r>
                      <a:endParaRPr lang="en-US" sz="1100"/>
                    </a:p>
                  </a:txBody>
                  <a:tcPr marL="190500" marR="190500" marT="190500" marB="190500" anchor="ctr">
                    <a:lnL cmpd="sng" algn="ctr" cap="flat" w="9525">
                      <a:solidFill>
                        <a:srgbClr val="F8F8F8"/>
                      </a:solidFill>
                      <a:prstDash val="solid"/>
                      <a:round/>
                      <a:headEnd type="none" w="med" len="med"/>
                      <a:tailEnd type="none" w="med" len="med"/>
                    </a:lnL>
                    <a:lnR cmpd="sng" algn="ctr" cap="flat" w="0">
                      <a:solidFill>
                        <a:srgbClr val="F8F8F8"/>
                      </a:solidFill>
                      <a:prstDash val="solid"/>
                      <a:round/>
                      <a:headEnd type="none" w="med" len="med"/>
                      <a:tailEnd type="none" w="med" len="med"/>
                    </a:lnR>
                    <a:lnT cmpd="sng" algn="ctr" cap="flat" w="9525">
                      <a:solidFill>
                        <a:srgbClr val="F8F8F8"/>
                      </a:solidFill>
                      <a:prstDash val="solid"/>
                      <a:round/>
                      <a:headEnd type="none" w="med" len="med"/>
                      <a:tailEnd type="none" w="med" len="med"/>
                    </a:lnT>
                    <a:lnB cmpd="sng" algn="ctr" cap="flat" w="9525">
                      <a:solidFill>
                        <a:srgbClr val="F8F8F8"/>
                      </a:solidFill>
                      <a:prstDash val="solid"/>
                      <a:round/>
                      <a:headEnd type="none" w="med" len="med"/>
                      <a:tailEnd type="none" w="med" len="med"/>
                    </a:lnB>
                  </a:tcPr>
                </a:tc>
                <a:tc>
                  <a:txBody>
                    <a:bodyPr anchor="t" rtlCol="false"/>
                    <a:lstStyle/>
                    <a:p>
                      <a:pPr algn="l">
                        <a:lnSpc>
                          <a:spcPts val="2939"/>
                        </a:lnSpc>
                        <a:defRPr/>
                      </a:pPr>
                      <a:r>
                        <a:rPr lang="en-US" sz="2099">
                          <a:solidFill>
                            <a:srgbClr val="F8F8F8"/>
                          </a:solidFill>
                          <a:latin typeface="Asap"/>
                          <a:ea typeface="Asap"/>
                          <a:cs typeface="Asap"/>
                          <a:sym typeface="Asap"/>
                        </a:rPr>
                        <a:t>Kỹ thuật đặc trưng (Feature engineering): Lọc bỏ các đặc trưng không cung cấp thông tin (chọn đặc trưng) và sử dụng kiến thức về vấn đề để phát triển các đặc trưng mới có khả năng hữu ích.</a:t>
                      </a:r>
                      <a:endParaRPr lang="en-US" sz="1100"/>
                    </a:p>
                  </a:txBody>
                  <a:tcPr marL="190500" marR="190500" marT="190500" marB="190500" anchor="ctr">
                    <a:lnL cmpd="sng" algn="ctr" cap="flat" w="0">
                      <a:solidFill>
                        <a:srgbClr val="F8F8F8"/>
                      </a:solidFill>
                      <a:prstDash val="solid"/>
                      <a:round/>
                      <a:headEnd type="none" w="med" len="med"/>
                      <a:tailEnd type="none" w="med" len="med"/>
                    </a:lnL>
                    <a:lnR cmpd="sng" algn="ctr" cap="flat" w="9525">
                      <a:solidFill>
                        <a:srgbClr val="F8F8F8"/>
                      </a:solidFill>
                      <a:prstDash val="solid"/>
                      <a:round/>
                      <a:headEnd type="none" w="med" len="med"/>
                      <a:tailEnd type="none" w="med" len="med"/>
                    </a:lnR>
                    <a:lnT cmpd="sng" algn="ctr" cap="flat" w="9525">
                      <a:solidFill>
                        <a:srgbClr val="F8F8F8"/>
                      </a:solidFill>
                      <a:prstDash val="solid"/>
                      <a:round/>
                      <a:headEnd type="none" w="med" len="med"/>
                      <a:tailEnd type="none" w="med" len="med"/>
                    </a:lnT>
                    <a:lnB cmpd="sng" algn="ctr" cap="flat" w="9525">
                      <a:solidFill>
                        <a:srgbClr val="F8F8F8"/>
                      </a:solidFill>
                      <a:prstDash val="solid"/>
                      <a:round/>
                      <a:headEnd type="none" w="med" len="med"/>
                      <a:tailEnd type="none" w="med" len="med"/>
                    </a:lnB>
                  </a:tcPr>
                </a:tc>
              </a:tr>
              <a:tr h="1916711">
                <a:tc>
                  <a:txBody>
                    <a:bodyPr anchor="t" rtlCol="false"/>
                    <a:lstStyle/>
                    <a:p>
                      <a:pPr algn="ctr">
                        <a:lnSpc>
                          <a:spcPts val="2940"/>
                        </a:lnSpc>
                        <a:defRPr/>
                      </a:pPr>
                      <a:r>
                        <a:rPr lang="en-US" sz="2100" b="true">
                          <a:solidFill>
                            <a:srgbClr val="F8F8F8"/>
                          </a:solidFill>
                          <a:latin typeface="Asap Bold"/>
                          <a:ea typeface="Asap Bold"/>
                          <a:cs typeface="Asap Bold"/>
                          <a:sym typeface="Asap Bold"/>
                        </a:rPr>
                        <a:t>2</a:t>
                      </a:r>
                      <a:endParaRPr lang="en-US" sz="1100"/>
                    </a:p>
                  </a:txBody>
                  <a:tcPr marL="190500" marR="190500" marT="190500" marB="190500" anchor="ctr">
                    <a:lnL cmpd="sng" algn="ctr" cap="flat" w="9525">
                      <a:solidFill>
                        <a:srgbClr val="F8F8F8"/>
                      </a:solidFill>
                      <a:prstDash val="solid"/>
                      <a:round/>
                      <a:headEnd type="none" w="med" len="med"/>
                      <a:tailEnd type="none" w="med" len="med"/>
                    </a:lnL>
                    <a:lnR cmpd="sng" algn="ctr" cap="flat" w="0">
                      <a:solidFill>
                        <a:srgbClr val="F8F8F8"/>
                      </a:solidFill>
                      <a:prstDash val="solid"/>
                      <a:round/>
                      <a:headEnd type="none" w="med" len="med"/>
                      <a:tailEnd type="none" w="med" len="med"/>
                    </a:lnR>
                    <a:lnT cmpd="sng" algn="ctr" cap="flat" w="9525">
                      <a:solidFill>
                        <a:srgbClr val="F8F8F8"/>
                      </a:solidFill>
                      <a:prstDash val="solid"/>
                      <a:round/>
                      <a:headEnd type="none" w="med" len="med"/>
                      <a:tailEnd type="none" w="med" len="med"/>
                    </a:lnT>
                    <a:lnB cmpd="sng" algn="ctr" cap="flat" w="9525">
                      <a:solidFill>
                        <a:srgbClr val="F8F8F8"/>
                      </a:solidFill>
                      <a:prstDash val="solid"/>
                      <a:round/>
                      <a:headEnd type="none" w="med" len="med"/>
                      <a:tailEnd type="none" w="med" len="med"/>
                    </a:lnB>
                  </a:tcPr>
                </a:tc>
                <a:tc>
                  <a:txBody>
                    <a:bodyPr anchor="t" rtlCol="false"/>
                    <a:lstStyle/>
                    <a:p>
                      <a:pPr algn="l">
                        <a:lnSpc>
                          <a:spcPts val="2939"/>
                        </a:lnSpc>
                        <a:defRPr/>
                      </a:pPr>
                      <a:r>
                        <a:rPr lang="en-US" sz="2099">
                          <a:solidFill>
                            <a:srgbClr val="F8F8F8"/>
                          </a:solidFill>
                          <a:latin typeface="Asap"/>
                          <a:ea typeface="Asap"/>
                          <a:cs typeface="Asap"/>
                          <a:sym typeface="Asap"/>
                        </a:rPr>
                        <a:t>Chọn các prior kiến trúc phù hợp: Loại kiến trúc mô hình nào bạn sẽ sử dụng? Một mạng kết nối dày đặc, một convnet, một mạng nơ-ron hồi quy, một Transformer? Học sâu có phải là một cách tiếp cận tốt cho nhiệm vụ này không, hay bạn nên sử dụng một cái gì đó khác?</a:t>
                      </a:r>
                      <a:endParaRPr lang="en-US" sz="1100"/>
                    </a:p>
                  </a:txBody>
                  <a:tcPr marL="190500" marR="190500" marT="190500" marB="190500" anchor="ctr">
                    <a:lnL cmpd="sng" algn="ctr" cap="flat" w="0">
                      <a:solidFill>
                        <a:srgbClr val="F8F8F8"/>
                      </a:solidFill>
                      <a:prstDash val="solid"/>
                      <a:round/>
                      <a:headEnd type="none" w="med" len="med"/>
                      <a:tailEnd type="none" w="med" len="med"/>
                    </a:lnL>
                    <a:lnR cmpd="sng" algn="ctr" cap="flat" w="9525">
                      <a:solidFill>
                        <a:srgbClr val="F8F8F8"/>
                      </a:solidFill>
                      <a:prstDash val="solid"/>
                      <a:round/>
                      <a:headEnd type="none" w="med" len="med"/>
                      <a:tailEnd type="none" w="med" len="med"/>
                    </a:lnR>
                    <a:lnT cmpd="sng" algn="ctr" cap="flat" w="9525">
                      <a:solidFill>
                        <a:srgbClr val="F8F8F8"/>
                      </a:solidFill>
                      <a:prstDash val="solid"/>
                      <a:round/>
                      <a:headEnd type="none" w="med" len="med"/>
                      <a:tailEnd type="none" w="med" len="med"/>
                    </a:lnT>
                    <a:lnB cmpd="sng" algn="ctr" cap="flat" w="9525">
                      <a:solidFill>
                        <a:srgbClr val="F8F8F8"/>
                      </a:solidFill>
                      <a:prstDash val="solid"/>
                      <a:round/>
                      <a:headEnd type="none" w="med" len="med"/>
                      <a:tailEnd type="none" w="med" len="med"/>
                    </a:lnB>
                  </a:tcPr>
                </a:tc>
              </a:tr>
              <a:tr h="4891903">
                <a:tc>
                  <a:txBody>
                    <a:bodyPr anchor="t" rtlCol="false"/>
                    <a:lstStyle/>
                    <a:p>
                      <a:pPr algn="ctr">
                        <a:lnSpc>
                          <a:spcPts val="2940"/>
                        </a:lnSpc>
                        <a:defRPr/>
                      </a:pPr>
                      <a:r>
                        <a:rPr lang="en-US" sz="2100" b="true">
                          <a:solidFill>
                            <a:srgbClr val="F8F8F8"/>
                          </a:solidFill>
                          <a:latin typeface="Asap Bold"/>
                          <a:ea typeface="Asap Bold"/>
                          <a:cs typeface="Asap Bold"/>
                          <a:sym typeface="Asap Bold"/>
                        </a:rPr>
                        <a:t>3</a:t>
                      </a:r>
                      <a:endParaRPr lang="en-US" sz="1100"/>
                    </a:p>
                  </a:txBody>
                  <a:tcPr marL="190500" marR="190500" marT="190500" marB="190500" anchor="ctr">
                    <a:lnL cmpd="sng" algn="ctr" cap="flat" w="9525">
                      <a:solidFill>
                        <a:srgbClr val="F8F8F8"/>
                      </a:solidFill>
                      <a:prstDash val="solid"/>
                      <a:round/>
                      <a:headEnd type="none" w="med" len="med"/>
                      <a:tailEnd type="none" w="med" len="med"/>
                    </a:lnL>
                    <a:lnR cmpd="sng" algn="ctr" cap="flat" w="0">
                      <a:solidFill>
                        <a:srgbClr val="F8F8F8"/>
                      </a:solidFill>
                      <a:prstDash val="solid"/>
                      <a:round/>
                      <a:headEnd type="none" w="med" len="med"/>
                      <a:tailEnd type="none" w="med" len="med"/>
                    </a:lnR>
                    <a:lnT cmpd="sng" algn="ctr" cap="flat" w="9525">
                      <a:solidFill>
                        <a:srgbClr val="F8F8F8"/>
                      </a:solidFill>
                      <a:prstDash val="solid"/>
                      <a:round/>
                      <a:headEnd type="none" w="med" len="med"/>
                      <a:tailEnd type="none" w="med" len="med"/>
                    </a:lnT>
                    <a:lnB cmpd="sng" algn="ctr" cap="flat" w="9525">
                      <a:solidFill>
                        <a:srgbClr val="F8F8F8"/>
                      </a:solidFill>
                      <a:prstDash val="solid"/>
                      <a:round/>
                      <a:headEnd type="none" w="med" len="med"/>
                      <a:tailEnd type="none" w="med" len="med"/>
                    </a:lnB>
                  </a:tcPr>
                </a:tc>
                <a:tc>
                  <a:txBody>
                    <a:bodyPr anchor="t" rtlCol="false"/>
                    <a:lstStyle/>
                    <a:p>
                      <a:pPr algn="l">
                        <a:lnSpc>
                          <a:spcPts val="2939"/>
                        </a:lnSpc>
                        <a:defRPr/>
                      </a:pPr>
                      <a:r>
                        <a:rPr lang="en-US" sz="2099">
                          <a:solidFill>
                            <a:srgbClr val="F8F8F8"/>
                          </a:solidFill>
                          <a:latin typeface="Asap"/>
                          <a:ea typeface="Asap"/>
                          <a:cs typeface="Asap"/>
                          <a:sym typeface="Asap"/>
                        </a:rPr>
                        <a:t>Hàm kích hoạt lớp cuối cùng và hàm lỗi: Bảng sau có thể giúp bạn chọn hàm kích hoạt lớp cuối cùng và hàm lỗi cho một vài loại bài toán phổ biến: </a:t>
                      </a:r>
                      <a:endParaRPr lang="en-US" sz="1100"/>
                    </a:p>
                    <a:p>
                      <a:pPr algn="l" marL="906774" indent="-302258" lvl="2">
                        <a:lnSpc>
                          <a:spcPts val="2939"/>
                        </a:lnSpc>
                        <a:buFont typeface="Arial"/>
                        <a:buChar char="⚬"/>
                      </a:pPr>
                      <a:r>
                        <a:rPr lang="en-US" sz="2099">
                          <a:solidFill>
                            <a:srgbClr val="F8F8F8"/>
                          </a:solidFill>
                          <a:latin typeface="Asap"/>
                          <a:ea typeface="Asap"/>
                          <a:cs typeface="Asap"/>
                          <a:sym typeface="Asap"/>
                        </a:rPr>
                        <a:t>Phân loại nhị phân (Binary classification): Hàm kích hoạt sigmoid, hàm lỗi binary_crossentropy.</a:t>
                      </a:r>
                    </a:p>
                    <a:p>
                      <a:pPr algn="l" marL="906774" indent="-302258" lvl="2">
                        <a:lnSpc>
                          <a:spcPts val="2939"/>
                        </a:lnSpc>
                        <a:buFont typeface="Arial"/>
                        <a:buChar char="⚬"/>
                      </a:pPr>
                      <a:r>
                        <a:rPr lang="en-US" sz="2099">
                          <a:solidFill>
                            <a:srgbClr val="F8F8F8"/>
                          </a:solidFill>
                          <a:latin typeface="Asap"/>
                          <a:ea typeface="Asap"/>
                          <a:cs typeface="Asap"/>
                          <a:sym typeface="Asap"/>
                        </a:rPr>
                        <a:t>Phân loại đa lớp (Multiclass classification) (một nhãn): Hàm kích hoạt softmax, hàm lỗi categorical_crossentropy.</a:t>
                      </a:r>
                    </a:p>
                    <a:p>
                      <a:pPr algn="l" marL="906774" indent="-302258" lvl="2">
                        <a:lnSpc>
                          <a:spcPts val="2939"/>
                        </a:lnSpc>
                        <a:buFont typeface="Arial"/>
                        <a:buChar char="⚬"/>
                      </a:pPr>
                      <a:r>
                        <a:rPr lang="en-US" sz="2099">
                          <a:solidFill>
                            <a:srgbClr val="F8F8F8"/>
                          </a:solidFill>
                          <a:latin typeface="Asap"/>
                          <a:ea typeface="Asap"/>
                          <a:cs typeface="Asap"/>
                          <a:sym typeface="Asap"/>
                        </a:rPr>
                        <a:t>Phân loại đa lớp (Multiclass classification) (đa nhãn): Hàm kích hoạt sigmoid, hàm lỗi binary_crossentropy.</a:t>
                      </a:r>
                    </a:p>
                    <a:p>
                      <a:pPr algn="l" marL="906774" indent="-302258" lvl="2">
                        <a:lnSpc>
                          <a:spcPts val="2939"/>
                        </a:lnSpc>
                        <a:buFont typeface="Arial"/>
                        <a:buChar char="⚬"/>
                      </a:pPr>
                      <a:r>
                        <a:rPr lang="en-US" sz="2099">
                          <a:solidFill>
                            <a:srgbClr val="F8F8F8"/>
                          </a:solidFill>
                          <a:latin typeface="Asap"/>
                          <a:ea typeface="Asap"/>
                          <a:cs typeface="Asap"/>
                          <a:sym typeface="Asap"/>
                        </a:rPr>
                        <a:t>Hồi quy tới một tập hợp các giá trị liên tục tùy ý: Không có hàm kích hoạt, hàm lỗi mse.</a:t>
                      </a:r>
                    </a:p>
                    <a:p>
                      <a:pPr algn="l">
                        <a:lnSpc>
                          <a:spcPts val="2939"/>
                        </a:lnSpc>
                      </a:pPr>
                    </a:p>
                  </a:txBody>
                  <a:tcPr marL="190500" marR="190500" marT="190500" marB="190500" anchor="ctr">
                    <a:lnL cmpd="sng" algn="ctr" cap="flat" w="0">
                      <a:solidFill>
                        <a:srgbClr val="F8F8F8"/>
                      </a:solidFill>
                      <a:prstDash val="solid"/>
                      <a:round/>
                      <a:headEnd type="none" w="med" len="med"/>
                      <a:tailEnd type="none" w="med" len="med"/>
                    </a:lnL>
                    <a:lnR cmpd="sng" algn="ctr" cap="flat" w="9525">
                      <a:solidFill>
                        <a:srgbClr val="F8F8F8"/>
                      </a:solidFill>
                      <a:prstDash val="solid"/>
                      <a:round/>
                      <a:headEnd type="none" w="med" len="med"/>
                      <a:tailEnd type="none" w="med" len="med"/>
                    </a:lnR>
                    <a:lnT cmpd="sng" algn="ctr" cap="flat" w="9525">
                      <a:solidFill>
                        <a:srgbClr val="F8F8F8"/>
                      </a:solidFill>
                      <a:prstDash val="solid"/>
                      <a:round/>
                      <a:headEnd type="none" w="med" len="med"/>
                      <a:tailEnd type="none" w="med" len="med"/>
                    </a:lnT>
                    <a:lnB cmpd="sng" algn="ctr" cap="flat" w="9525">
                      <a:solidFill>
                        <a:srgbClr val="F8F8F8"/>
                      </a:solidFill>
                      <a:prstDash val="solid"/>
                      <a:round/>
                      <a:headEnd type="none" w="med" len="med"/>
                      <a:tailEnd type="none" w="med" len="med"/>
                    </a:lnB>
                  </a:tcPr>
                </a:tc>
              </a:tr>
            </a:tbl>
          </a:graphicData>
        </a:graphic>
      </p:graphicFrame>
      <p:sp>
        <p:nvSpPr>
          <p:cNvPr name="Freeform 4" id="4"/>
          <p:cNvSpPr/>
          <p:nvPr/>
        </p:nvSpPr>
        <p:spPr>
          <a:xfrm flipH="false" flipV="false" rot="0">
            <a:off x="1028700" y="356351"/>
            <a:ext cx="1012526" cy="1042864"/>
          </a:xfrm>
          <a:custGeom>
            <a:avLst/>
            <a:gdLst/>
            <a:ahLst/>
            <a:cxnLst/>
            <a:rect r="r" b="b" t="t" l="l"/>
            <a:pathLst>
              <a:path h="1042864" w="1012526">
                <a:moveTo>
                  <a:pt x="0" y="0"/>
                </a:moveTo>
                <a:lnTo>
                  <a:pt x="1012526" y="0"/>
                </a:lnTo>
                <a:lnTo>
                  <a:pt x="1012526" y="1042864"/>
                </a:lnTo>
                <a:lnTo>
                  <a:pt x="0" y="1042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94392" y="5333460"/>
            <a:ext cx="4755399" cy="4953540"/>
          </a:xfrm>
          <a:custGeom>
            <a:avLst/>
            <a:gdLst/>
            <a:ahLst/>
            <a:cxnLst/>
            <a:rect r="r" b="b" t="t" l="l"/>
            <a:pathLst>
              <a:path h="4953540" w="4755399">
                <a:moveTo>
                  <a:pt x="0" y="0"/>
                </a:moveTo>
                <a:lnTo>
                  <a:pt x="4755399" y="0"/>
                </a:lnTo>
                <a:lnTo>
                  <a:pt x="4755399" y="4953540"/>
                </a:lnTo>
                <a:lnTo>
                  <a:pt x="0" y="4953540"/>
                </a:lnTo>
                <a:lnTo>
                  <a:pt x="0" y="0"/>
                </a:lnTo>
                <a:close/>
              </a:path>
            </a:pathLst>
          </a:custGeom>
          <a:blipFill>
            <a:blip r:embed="rId5"/>
            <a:stretch>
              <a:fillRect l="0" t="0" r="0" b="0"/>
            </a:stretch>
          </a:blipFill>
        </p:spPr>
      </p:sp>
      <p:sp>
        <p:nvSpPr>
          <p:cNvPr name="TextBox 6" id="6"/>
          <p:cNvSpPr txBox="true"/>
          <p:nvPr/>
        </p:nvSpPr>
        <p:spPr>
          <a:xfrm rot="0">
            <a:off x="1028700" y="1843087"/>
            <a:ext cx="4817522" cy="3295650"/>
          </a:xfrm>
          <a:prstGeom prst="rect">
            <a:avLst/>
          </a:prstGeom>
        </p:spPr>
        <p:txBody>
          <a:bodyPr anchor="t" rtlCol="false" tIns="0" lIns="0" bIns="0" rIns="0">
            <a:spAutoFit/>
          </a:bodyPr>
          <a:lstStyle/>
          <a:p>
            <a:pPr algn="l">
              <a:lnSpc>
                <a:spcPts val="5220"/>
              </a:lnSpc>
            </a:pPr>
            <a:r>
              <a:rPr lang="en-US" b="true" sz="4350">
                <a:solidFill>
                  <a:srgbClr val="F8F8F8"/>
                </a:solidFill>
                <a:latin typeface="Cabin Bold"/>
                <a:ea typeface="Cabin Bold"/>
                <a:cs typeface="Cabin Bold"/>
                <a:sym typeface="Cabin Bold"/>
              </a:rPr>
              <a:t>6.2.3 Đánh bại một </a:t>
            </a:r>
            <a:r>
              <a:rPr lang="en-US" b="true" sz="4350">
                <a:solidFill>
                  <a:srgbClr val="F8F8F8"/>
                </a:solidFill>
                <a:latin typeface="Cabin Bold"/>
                <a:ea typeface="Cabin Bold"/>
                <a:cs typeface="Cabin Bold"/>
                <a:sym typeface="Cabin Bold"/>
              </a:rPr>
              <a:t>ngưỡng cơ bản (baseline) thông thường</a:t>
            </a:r>
          </a:p>
          <a:p>
            <a:pPr algn="l">
              <a:lnSpc>
                <a:spcPts val="5220"/>
              </a:lnSpc>
            </a:pPr>
          </a:p>
        </p:txBody>
      </p:sp>
      <p:sp>
        <p:nvSpPr>
          <p:cNvPr name="TextBox 7" id="7"/>
          <p:cNvSpPr txBox="true"/>
          <p:nvPr/>
        </p:nvSpPr>
        <p:spPr>
          <a:xfrm rot="0">
            <a:off x="2481451" y="213476"/>
            <a:ext cx="11279137" cy="2381597"/>
          </a:xfrm>
          <a:prstGeom prst="rect">
            <a:avLst/>
          </a:prstGeom>
        </p:spPr>
        <p:txBody>
          <a:bodyPr anchor="t" rtlCol="false" tIns="0" lIns="0" bIns="0" rIns="0">
            <a:spAutoFit/>
          </a:bodyPr>
          <a:lstStyle/>
          <a:p>
            <a:pPr algn="l">
              <a:lnSpc>
                <a:spcPts val="9514"/>
              </a:lnSpc>
              <a:spcBef>
                <a:spcPct val="0"/>
              </a:spcBef>
            </a:pPr>
            <a:r>
              <a:rPr lang="en-US" b="true" sz="6795">
                <a:solidFill>
                  <a:srgbClr val="FFFFFF"/>
                </a:solidFill>
                <a:latin typeface="Asap Bold"/>
                <a:ea typeface="Asap Bold"/>
                <a:cs typeface="Asap Bold"/>
                <a:sym typeface="Asap Bold"/>
              </a:rPr>
              <a:t>6.2</a:t>
            </a:r>
            <a:r>
              <a:rPr lang="en-US" b="true" sz="6795">
                <a:solidFill>
                  <a:srgbClr val="FFFFFF"/>
                </a:solidFill>
                <a:latin typeface="Asap Bold"/>
                <a:ea typeface="Asap Bold"/>
                <a:cs typeface="Asap Bold"/>
                <a:sym typeface="Asap Bold"/>
              </a:rPr>
              <a:t> Phát triển một mô hình</a:t>
            </a:r>
          </a:p>
          <a:p>
            <a:pPr algn="l">
              <a:lnSpc>
                <a:spcPts val="9514"/>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pic>
        <p:nvPicPr>
          <p:cNvPr name="Picture 3" id="3"/>
          <p:cNvPicPr>
            <a:picLocks noChangeAspect="true"/>
          </p:cNvPicPr>
          <p:nvPr/>
        </p:nvPicPr>
        <p:blipFill>
          <a:blip r:embed="rId3"/>
          <a:stretch>
            <a:fillRect/>
          </a:stretch>
        </p:blipFill>
        <p:spPr>
          <a:xfrm rot="0">
            <a:off x="3609960" y="4397460"/>
            <a:ext cx="5878034" cy="5878034"/>
          </a:xfrm>
          <a:prstGeom prst="rect">
            <a:avLst/>
          </a:prstGeom>
        </p:spPr>
      </p:pic>
      <p:pic>
        <p:nvPicPr>
          <p:cNvPr name="Picture 4" id="4"/>
          <p:cNvPicPr>
            <a:picLocks noChangeAspect="true"/>
          </p:cNvPicPr>
          <p:nvPr/>
        </p:nvPicPr>
        <p:blipFill>
          <a:blip r:embed="rId4"/>
          <a:stretch>
            <a:fillRect/>
          </a:stretch>
        </p:blipFill>
        <p:spPr>
          <a:xfrm rot="0">
            <a:off x="11596796" y="1357893"/>
            <a:ext cx="6689167" cy="5609245"/>
          </a:xfrm>
          <a:prstGeom prst="rect">
            <a:avLst/>
          </a:prstGeom>
        </p:spPr>
      </p:pic>
      <p:sp>
        <p:nvSpPr>
          <p:cNvPr name="Freeform 5" id="5"/>
          <p:cNvSpPr/>
          <p:nvPr/>
        </p:nvSpPr>
        <p:spPr>
          <a:xfrm flipH="true" flipV="false" rot="0">
            <a:off x="16957953" y="1095616"/>
            <a:ext cx="135384" cy="224703"/>
          </a:xfrm>
          <a:custGeom>
            <a:avLst/>
            <a:gdLst/>
            <a:ahLst/>
            <a:cxnLst/>
            <a:rect r="r" b="b" t="t" l="l"/>
            <a:pathLst>
              <a:path h="224703" w="135384">
                <a:moveTo>
                  <a:pt x="135383" y="0"/>
                </a:moveTo>
                <a:lnTo>
                  <a:pt x="0" y="0"/>
                </a:lnTo>
                <a:lnTo>
                  <a:pt x="0" y="224703"/>
                </a:lnTo>
                <a:lnTo>
                  <a:pt x="135383" y="224703"/>
                </a:lnTo>
                <a:lnTo>
                  <a:pt x="13538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3301940">
            <a:off x="-2976647" y="6044703"/>
            <a:ext cx="7092618" cy="4797189"/>
          </a:xfrm>
          <a:custGeom>
            <a:avLst/>
            <a:gdLst/>
            <a:ahLst/>
            <a:cxnLst/>
            <a:rect r="r" b="b" t="t" l="l"/>
            <a:pathLst>
              <a:path h="4797189" w="7092618">
                <a:moveTo>
                  <a:pt x="0" y="0"/>
                </a:moveTo>
                <a:lnTo>
                  <a:pt x="7092618" y="0"/>
                </a:lnTo>
                <a:lnTo>
                  <a:pt x="7092618" y="4797189"/>
                </a:lnTo>
                <a:lnTo>
                  <a:pt x="0" y="479718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664358" y="2721675"/>
            <a:ext cx="8718002" cy="2229782"/>
            <a:chOff x="0" y="0"/>
            <a:chExt cx="11624002" cy="2973043"/>
          </a:xfrm>
        </p:grpSpPr>
        <p:sp>
          <p:nvSpPr>
            <p:cNvPr name="TextBox 8" id="8"/>
            <p:cNvSpPr txBox="true"/>
            <p:nvPr/>
          </p:nvSpPr>
          <p:spPr>
            <a:xfrm rot="0">
              <a:off x="0" y="-19050"/>
              <a:ext cx="11624002" cy="2394797"/>
            </a:xfrm>
            <a:prstGeom prst="rect">
              <a:avLst/>
            </a:prstGeom>
          </p:spPr>
          <p:txBody>
            <a:bodyPr anchor="t" rtlCol="false" tIns="0" lIns="0" bIns="0" rIns="0">
              <a:spAutoFit/>
            </a:bodyPr>
            <a:lstStyle/>
            <a:p>
              <a:pPr algn="l" marL="0" indent="0" lvl="0">
                <a:lnSpc>
                  <a:spcPts val="2859"/>
                </a:lnSpc>
                <a:spcBef>
                  <a:spcPct val="0"/>
                </a:spcBef>
              </a:pPr>
              <a:r>
                <a:rPr lang="en-US" sz="2199" spc="191">
                  <a:solidFill>
                    <a:srgbClr val="F8F8F8"/>
                  </a:solidFill>
                  <a:latin typeface="Cabin"/>
                  <a:ea typeface="Cabin"/>
                  <a:cs typeface="Cabin"/>
                  <a:sym typeface="Cabin"/>
                </a:rPr>
                <a:t>Điều này </a:t>
              </a:r>
              <a:r>
                <a:rPr lang="en-US" sz="2199" spc="191" u="none">
                  <a:solidFill>
                    <a:srgbClr val="F8F8F8"/>
                  </a:solidFill>
                  <a:latin typeface="Cabin"/>
                  <a:ea typeface="Cabin"/>
                  <a:cs typeface="Cabin"/>
                  <a:sym typeface="Cabin"/>
                </a:rPr>
                <a:t>có nghĩa là bạn nên luôn phát triển một mô hình đủ lớn để overfitting, nghĩa là nó đạt được hiệu suất gần như hoàn hảo trên dữ liệu huấn luyện. Điều này chứng minh rằng mô hình có đủ sức mạnh biểu diễn.</a:t>
              </a:r>
            </a:p>
            <a:p>
              <a:pPr algn="l" marL="0" indent="0" lvl="0">
                <a:lnSpc>
                  <a:spcPts val="2859"/>
                </a:lnSpc>
                <a:spcBef>
                  <a:spcPct val="0"/>
                </a:spcBef>
              </a:pPr>
            </a:p>
          </p:txBody>
        </p:sp>
        <p:sp>
          <p:nvSpPr>
            <p:cNvPr name="TextBox 9" id="9"/>
            <p:cNvSpPr txBox="true"/>
            <p:nvPr/>
          </p:nvSpPr>
          <p:spPr>
            <a:xfrm rot="0">
              <a:off x="0" y="2447898"/>
              <a:ext cx="11624002" cy="525145"/>
            </a:xfrm>
            <a:prstGeom prst="rect">
              <a:avLst/>
            </a:prstGeom>
          </p:spPr>
          <p:txBody>
            <a:bodyPr anchor="t" rtlCol="false" tIns="0" lIns="0" bIns="0" rIns="0">
              <a:spAutoFit/>
            </a:bodyPr>
            <a:lstStyle/>
            <a:p>
              <a:pPr algn="l">
                <a:lnSpc>
                  <a:spcPts val="3359"/>
                </a:lnSpc>
              </a:pPr>
            </a:p>
          </p:txBody>
        </p:sp>
      </p:grpSp>
      <p:sp>
        <p:nvSpPr>
          <p:cNvPr name="TextBox 10" id="10"/>
          <p:cNvSpPr txBox="true"/>
          <p:nvPr/>
        </p:nvSpPr>
        <p:spPr>
          <a:xfrm rot="0">
            <a:off x="2481451" y="213476"/>
            <a:ext cx="11279137" cy="2381597"/>
          </a:xfrm>
          <a:prstGeom prst="rect">
            <a:avLst/>
          </a:prstGeom>
        </p:spPr>
        <p:txBody>
          <a:bodyPr anchor="t" rtlCol="false" tIns="0" lIns="0" bIns="0" rIns="0">
            <a:spAutoFit/>
          </a:bodyPr>
          <a:lstStyle/>
          <a:p>
            <a:pPr algn="l">
              <a:lnSpc>
                <a:spcPts val="9514"/>
              </a:lnSpc>
              <a:spcBef>
                <a:spcPct val="0"/>
              </a:spcBef>
            </a:pPr>
            <a:r>
              <a:rPr lang="en-US" b="true" sz="6795">
                <a:solidFill>
                  <a:srgbClr val="FFFFFF"/>
                </a:solidFill>
                <a:latin typeface="Asap Bold"/>
                <a:ea typeface="Asap Bold"/>
                <a:cs typeface="Asap Bold"/>
                <a:sym typeface="Asap Bold"/>
              </a:rPr>
              <a:t>6.2</a:t>
            </a:r>
            <a:r>
              <a:rPr lang="en-US" b="true" sz="6795">
                <a:solidFill>
                  <a:srgbClr val="FFFFFF"/>
                </a:solidFill>
                <a:latin typeface="Asap Bold"/>
                <a:ea typeface="Asap Bold"/>
                <a:cs typeface="Asap Bold"/>
                <a:sym typeface="Asap Bold"/>
              </a:rPr>
              <a:t> Phát triển một mô hình</a:t>
            </a:r>
          </a:p>
          <a:p>
            <a:pPr algn="l">
              <a:lnSpc>
                <a:spcPts val="9514"/>
              </a:lnSpc>
              <a:spcBef>
                <a:spcPct val="0"/>
              </a:spcBef>
            </a:pPr>
          </a:p>
        </p:txBody>
      </p:sp>
      <p:sp>
        <p:nvSpPr>
          <p:cNvPr name="Freeform 11" id="11"/>
          <p:cNvSpPr/>
          <p:nvPr/>
        </p:nvSpPr>
        <p:spPr>
          <a:xfrm flipH="false" flipV="false" rot="0">
            <a:off x="1028700" y="356351"/>
            <a:ext cx="1012526" cy="1042864"/>
          </a:xfrm>
          <a:custGeom>
            <a:avLst/>
            <a:gdLst/>
            <a:ahLst/>
            <a:cxnLst/>
            <a:rect r="r" b="b" t="t" l="l"/>
            <a:pathLst>
              <a:path h="1042864" w="1012526">
                <a:moveTo>
                  <a:pt x="0" y="0"/>
                </a:moveTo>
                <a:lnTo>
                  <a:pt x="1012526" y="0"/>
                </a:lnTo>
                <a:lnTo>
                  <a:pt x="1012526" y="1042864"/>
                </a:lnTo>
                <a:lnTo>
                  <a:pt x="0" y="104286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1534963" y="1626893"/>
            <a:ext cx="8233663" cy="1314450"/>
          </a:xfrm>
          <a:prstGeom prst="rect">
            <a:avLst/>
          </a:prstGeom>
        </p:spPr>
        <p:txBody>
          <a:bodyPr anchor="t" rtlCol="false" tIns="0" lIns="0" bIns="0" rIns="0">
            <a:spAutoFit/>
          </a:bodyPr>
          <a:lstStyle/>
          <a:p>
            <a:pPr algn="l">
              <a:lnSpc>
                <a:spcPts val="5225"/>
              </a:lnSpc>
            </a:pPr>
            <a:r>
              <a:rPr lang="en-US" sz="4354">
                <a:solidFill>
                  <a:srgbClr val="FFFFFF"/>
                </a:solidFill>
                <a:latin typeface="Cabin"/>
                <a:ea typeface="Cabin"/>
                <a:cs typeface="Cabin"/>
                <a:sym typeface="Cabin"/>
              </a:rPr>
              <a:t>6.2.2</a:t>
            </a:r>
            <a:r>
              <a:rPr lang="en-US" sz="4354">
                <a:solidFill>
                  <a:srgbClr val="FFFFFF"/>
                </a:solidFill>
                <a:latin typeface="Cabin"/>
                <a:ea typeface="Cabin"/>
                <a:cs typeface="Cabin"/>
                <a:sym typeface="Cabin"/>
              </a:rPr>
              <a:t> Chọn một giao thức đánh giá</a:t>
            </a:r>
          </a:p>
          <a:p>
            <a:pPr algn="l">
              <a:lnSpc>
                <a:spcPts val="5225"/>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028700" y="2924077"/>
            <a:ext cx="2464054" cy="1002783"/>
            <a:chOff x="0" y="0"/>
            <a:chExt cx="989506" cy="402694"/>
          </a:xfrm>
        </p:grpSpPr>
        <p:sp>
          <p:nvSpPr>
            <p:cNvPr name="Freeform 3" id="3"/>
            <p:cNvSpPr/>
            <p:nvPr/>
          </p:nvSpPr>
          <p:spPr>
            <a:xfrm flipH="false" flipV="false" rot="0">
              <a:off x="0" y="0"/>
              <a:ext cx="989506" cy="402694"/>
            </a:xfrm>
            <a:custGeom>
              <a:avLst/>
              <a:gdLst/>
              <a:ahLst/>
              <a:cxnLst/>
              <a:rect r="r" b="b" t="t" l="l"/>
              <a:pathLst>
                <a:path h="402694" w="989506">
                  <a:moveTo>
                    <a:pt x="125678" y="0"/>
                  </a:moveTo>
                  <a:lnTo>
                    <a:pt x="863828" y="0"/>
                  </a:lnTo>
                  <a:cubicBezTo>
                    <a:pt x="933238" y="0"/>
                    <a:pt x="989506" y="56268"/>
                    <a:pt x="989506" y="125678"/>
                  </a:cubicBezTo>
                  <a:lnTo>
                    <a:pt x="989506" y="277016"/>
                  </a:lnTo>
                  <a:cubicBezTo>
                    <a:pt x="989506" y="346426"/>
                    <a:pt x="933238" y="402694"/>
                    <a:pt x="863828" y="402694"/>
                  </a:cubicBezTo>
                  <a:lnTo>
                    <a:pt x="125678" y="402694"/>
                  </a:lnTo>
                  <a:cubicBezTo>
                    <a:pt x="56268" y="402694"/>
                    <a:pt x="0" y="346426"/>
                    <a:pt x="0" y="277016"/>
                  </a:cubicBezTo>
                  <a:lnTo>
                    <a:pt x="0" y="125678"/>
                  </a:lnTo>
                  <a:cubicBezTo>
                    <a:pt x="0" y="56268"/>
                    <a:pt x="56268" y="0"/>
                    <a:pt x="125678" y="0"/>
                  </a:cubicBezTo>
                  <a:close/>
                </a:path>
              </a:pathLst>
            </a:custGeom>
            <a:solidFill>
              <a:srgbClr val="FF007E"/>
            </a:solidFill>
          </p:spPr>
        </p:sp>
        <p:sp>
          <p:nvSpPr>
            <p:cNvPr name="TextBox 4" id="4"/>
            <p:cNvSpPr txBox="true"/>
            <p:nvPr/>
          </p:nvSpPr>
          <p:spPr>
            <a:xfrm>
              <a:off x="0" y="-66675"/>
              <a:ext cx="989506" cy="469369"/>
            </a:xfrm>
            <a:prstGeom prst="rect">
              <a:avLst/>
            </a:prstGeom>
          </p:spPr>
          <p:txBody>
            <a:bodyPr anchor="ctr" rtlCol="false" tIns="50800" lIns="50800" bIns="50800" rIns="50800"/>
            <a:lstStyle/>
            <a:p>
              <a:pPr algn="ctr">
                <a:lnSpc>
                  <a:spcPts val="4200"/>
                </a:lnSpc>
              </a:pPr>
            </a:p>
          </p:txBody>
        </p:sp>
      </p:grpSp>
      <p:grpSp>
        <p:nvGrpSpPr>
          <p:cNvPr name="Group 5" id="5"/>
          <p:cNvGrpSpPr/>
          <p:nvPr/>
        </p:nvGrpSpPr>
        <p:grpSpPr>
          <a:xfrm rot="0">
            <a:off x="4257599" y="2924077"/>
            <a:ext cx="2451560" cy="1002783"/>
            <a:chOff x="0" y="0"/>
            <a:chExt cx="984489" cy="402694"/>
          </a:xfrm>
        </p:grpSpPr>
        <p:sp>
          <p:nvSpPr>
            <p:cNvPr name="Freeform 6" id="6"/>
            <p:cNvSpPr/>
            <p:nvPr/>
          </p:nvSpPr>
          <p:spPr>
            <a:xfrm flipH="false" flipV="false" rot="0">
              <a:off x="0" y="0"/>
              <a:ext cx="984489" cy="402694"/>
            </a:xfrm>
            <a:custGeom>
              <a:avLst/>
              <a:gdLst/>
              <a:ahLst/>
              <a:cxnLst/>
              <a:rect r="r" b="b" t="t" l="l"/>
              <a:pathLst>
                <a:path h="402694" w="984489">
                  <a:moveTo>
                    <a:pt x="126318" y="0"/>
                  </a:moveTo>
                  <a:lnTo>
                    <a:pt x="858170" y="0"/>
                  </a:lnTo>
                  <a:cubicBezTo>
                    <a:pt x="891672" y="0"/>
                    <a:pt x="923802" y="13308"/>
                    <a:pt x="947491" y="36998"/>
                  </a:cubicBezTo>
                  <a:cubicBezTo>
                    <a:pt x="971180" y="60687"/>
                    <a:pt x="984489" y="92817"/>
                    <a:pt x="984489" y="126318"/>
                  </a:cubicBezTo>
                  <a:lnTo>
                    <a:pt x="984489" y="276376"/>
                  </a:lnTo>
                  <a:cubicBezTo>
                    <a:pt x="984489" y="309877"/>
                    <a:pt x="971180" y="342007"/>
                    <a:pt x="947491" y="365696"/>
                  </a:cubicBezTo>
                  <a:cubicBezTo>
                    <a:pt x="923802" y="389386"/>
                    <a:pt x="891672" y="402694"/>
                    <a:pt x="858170" y="402694"/>
                  </a:cubicBezTo>
                  <a:lnTo>
                    <a:pt x="126318" y="402694"/>
                  </a:lnTo>
                  <a:cubicBezTo>
                    <a:pt x="92817" y="402694"/>
                    <a:pt x="60687" y="389386"/>
                    <a:pt x="36998" y="365696"/>
                  </a:cubicBezTo>
                  <a:cubicBezTo>
                    <a:pt x="13308" y="342007"/>
                    <a:pt x="0" y="309877"/>
                    <a:pt x="0" y="276376"/>
                  </a:cubicBezTo>
                  <a:lnTo>
                    <a:pt x="0" y="126318"/>
                  </a:lnTo>
                  <a:cubicBezTo>
                    <a:pt x="0" y="92817"/>
                    <a:pt x="13308" y="60687"/>
                    <a:pt x="36998" y="36998"/>
                  </a:cubicBezTo>
                  <a:cubicBezTo>
                    <a:pt x="60687" y="13308"/>
                    <a:pt x="92817" y="0"/>
                    <a:pt x="126318" y="0"/>
                  </a:cubicBezTo>
                  <a:close/>
                </a:path>
              </a:pathLst>
            </a:custGeom>
            <a:solidFill>
              <a:srgbClr val="2667FF"/>
            </a:solidFill>
          </p:spPr>
        </p:sp>
        <p:sp>
          <p:nvSpPr>
            <p:cNvPr name="TextBox 7" id="7"/>
            <p:cNvSpPr txBox="true"/>
            <p:nvPr/>
          </p:nvSpPr>
          <p:spPr>
            <a:xfrm>
              <a:off x="0" y="-66675"/>
              <a:ext cx="984489" cy="469369"/>
            </a:xfrm>
            <a:prstGeom prst="rect">
              <a:avLst/>
            </a:prstGeom>
          </p:spPr>
          <p:txBody>
            <a:bodyPr anchor="ctr" rtlCol="false" tIns="50800" lIns="50800" bIns="50800" rIns="50800"/>
            <a:lstStyle/>
            <a:p>
              <a:pPr algn="ctr">
                <a:lnSpc>
                  <a:spcPts val="4200"/>
                </a:lnSpc>
              </a:pPr>
            </a:p>
          </p:txBody>
        </p:sp>
      </p:grpSp>
      <p:grpSp>
        <p:nvGrpSpPr>
          <p:cNvPr name="Group 8" id="8"/>
          <p:cNvGrpSpPr/>
          <p:nvPr/>
        </p:nvGrpSpPr>
        <p:grpSpPr>
          <a:xfrm rot="0">
            <a:off x="10786998" y="2924077"/>
            <a:ext cx="2444673" cy="1007482"/>
            <a:chOff x="0" y="0"/>
            <a:chExt cx="981723" cy="404581"/>
          </a:xfrm>
        </p:grpSpPr>
        <p:sp>
          <p:nvSpPr>
            <p:cNvPr name="Freeform 9" id="9"/>
            <p:cNvSpPr/>
            <p:nvPr/>
          </p:nvSpPr>
          <p:spPr>
            <a:xfrm flipH="false" flipV="false" rot="0">
              <a:off x="0" y="0"/>
              <a:ext cx="981723" cy="404581"/>
            </a:xfrm>
            <a:custGeom>
              <a:avLst/>
              <a:gdLst/>
              <a:ahLst/>
              <a:cxnLst/>
              <a:rect r="r" b="b" t="t" l="l"/>
              <a:pathLst>
                <a:path h="404581" w="981723">
                  <a:moveTo>
                    <a:pt x="126674" y="0"/>
                  </a:moveTo>
                  <a:lnTo>
                    <a:pt x="855049" y="0"/>
                  </a:lnTo>
                  <a:cubicBezTo>
                    <a:pt x="925009" y="0"/>
                    <a:pt x="981723" y="56714"/>
                    <a:pt x="981723" y="126674"/>
                  </a:cubicBezTo>
                  <a:lnTo>
                    <a:pt x="981723" y="277907"/>
                  </a:lnTo>
                  <a:cubicBezTo>
                    <a:pt x="981723" y="311503"/>
                    <a:pt x="968377" y="343723"/>
                    <a:pt x="944621" y="367479"/>
                  </a:cubicBezTo>
                  <a:cubicBezTo>
                    <a:pt x="920865" y="391235"/>
                    <a:pt x="888645" y="404581"/>
                    <a:pt x="855049" y="404581"/>
                  </a:cubicBezTo>
                  <a:lnTo>
                    <a:pt x="126674" y="404581"/>
                  </a:lnTo>
                  <a:cubicBezTo>
                    <a:pt x="93078" y="404581"/>
                    <a:pt x="60858" y="391235"/>
                    <a:pt x="37102" y="367479"/>
                  </a:cubicBezTo>
                  <a:cubicBezTo>
                    <a:pt x="13346" y="343723"/>
                    <a:pt x="0" y="311503"/>
                    <a:pt x="0" y="277907"/>
                  </a:cubicBezTo>
                  <a:lnTo>
                    <a:pt x="0" y="126674"/>
                  </a:lnTo>
                  <a:cubicBezTo>
                    <a:pt x="0" y="93078"/>
                    <a:pt x="13346" y="60858"/>
                    <a:pt x="37102" y="37102"/>
                  </a:cubicBezTo>
                  <a:cubicBezTo>
                    <a:pt x="60858" y="13346"/>
                    <a:pt x="93078" y="0"/>
                    <a:pt x="126674" y="0"/>
                  </a:cubicBezTo>
                  <a:close/>
                </a:path>
              </a:pathLst>
            </a:custGeom>
            <a:solidFill>
              <a:srgbClr val="2667FF"/>
            </a:solidFill>
          </p:spPr>
        </p:sp>
        <p:sp>
          <p:nvSpPr>
            <p:cNvPr name="TextBox 10" id="10"/>
            <p:cNvSpPr txBox="true"/>
            <p:nvPr/>
          </p:nvSpPr>
          <p:spPr>
            <a:xfrm>
              <a:off x="0" y="-66675"/>
              <a:ext cx="981723" cy="471256"/>
            </a:xfrm>
            <a:prstGeom prst="rect">
              <a:avLst/>
            </a:prstGeom>
          </p:spPr>
          <p:txBody>
            <a:bodyPr anchor="ctr" rtlCol="false" tIns="50800" lIns="50800" bIns="50800" rIns="50800"/>
            <a:lstStyle/>
            <a:p>
              <a:pPr algn="ctr">
                <a:lnSpc>
                  <a:spcPts val="4200"/>
                </a:lnSpc>
              </a:pPr>
            </a:p>
          </p:txBody>
        </p:sp>
      </p:grpSp>
      <p:grpSp>
        <p:nvGrpSpPr>
          <p:cNvPr name="Group 11" id="11"/>
          <p:cNvGrpSpPr/>
          <p:nvPr/>
        </p:nvGrpSpPr>
        <p:grpSpPr>
          <a:xfrm rot="0">
            <a:off x="7583483" y="2924077"/>
            <a:ext cx="2441515" cy="1004090"/>
            <a:chOff x="0" y="0"/>
            <a:chExt cx="980455" cy="403219"/>
          </a:xfrm>
        </p:grpSpPr>
        <p:sp>
          <p:nvSpPr>
            <p:cNvPr name="Freeform 12" id="12"/>
            <p:cNvSpPr/>
            <p:nvPr/>
          </p:nvSpPr>
          <p:spPr>
            <a:xfrm flipH="false" flipV="false" rot="0">
              <a:off x="0" y="0"/>
              <a:ext cx="980455" cy="403219"/>
            </a:xfrm>
            <a:custGeom>
              <a:avLst/>
              <a:gdLst/>
              <a:ahLst/>
              <a:cxnLst/>
              <a:rect r="r" b="b" t="t" l="l"/>
              <a:pathLst>
                <a:path h="403219" w="980455">
                  <a:moveTo>
                    <a:pt x="126838" y="0"/>
                  </a:moveTo>
                  <a:lnTo>
                    <a:pt x="853617" y="0"/>
                  </a:lnTo>
                  <a:cubicBezTo>
                    <a:pt x="887256" y="0"/>
                    <a:pt x="919518" y="13363"/>
                    <a:pt x="943305" y="37150"/>
                  </a:cubicBezTo>
                  <a:cubicBezTo>
                    <a:pt x="967091" y="60937"/>
                    <a:pt x="980455" y="93198"/>
                    <a:pt x="980455" y="126838"/>
                  </a:cubicBezTo>
                  <a:lnTo>
                    <a:pt x="980455" y="276381"/>
                  </a:lnTo>
                  <a:cubicBezTo>
                    <a:pt x="980455" y="346431"/>
                    <a:pt x="923667" y="403219"/>
                    <a:pt x="853617" y="403219"/>
                  </a:cubicBezTo>
                  <a:lnTo>
                    <a:pt x="126838" y="403219"/>
                  </a:lnTo>
                  <a:cubicBezTo>
                    <a:pt x="56787" y="403219"/>
                    <a:pt x="0" y="346431"/>
                    <a:pt x="0" y="276381"/>
                  </a:cubicBezTo>
                  <a:lnTo>
                    <a:pt x="0" y="126838"/>
                  </a:lnTo>
                  <a:cubicBezTo>
                    <a:pt x="0" y="56787"/>
                    <a:pt x="56787" y="0"/>
                    <a:pt x="126838" y="0"/>
                  </a:cubicBezTo>
                  <a:close/>
                </a:path>
              </a:pathLst>
            </a:custGeom>
            <a:solidFill>
              <a:srgbClr val="FF007E"/>
            </a:solidFill>
          </p:spPr>
        </p:sp>
        <p:sp>
          <p:nvSpPr>
            <p:cNvPr name="TextBox 13" id="13"/>
            <p:cNvSpPr txBox="true"/>
            <p:nvPr/>
          </p:nvSpPr>
          <p:spPr>
            <a:xfrm>
              <a:off x="0" y="-66675"/>
              <a:ext cx="980455" cy="469894"/>
            </a:xfrm>
            <a:prstGeom prst="rect">
              <a:avLst/>
            </a:prstGeom>
          </p:spPr>
          <p:txBody>
            <a:bodyPr anchor="ctr" rtlCol="false" tIns="50800" lIns="50800" bIns="50800" rIns="50800"/>
            <a:lstStyle/>
            <a:p>
              <a:pPr algn="ctr">
                <a:lnSpc>
                  <a:spcPts val="4200"/>
                </a:lnSpc>
              </a:pPr>
            </a:p>
          </p:txBody>
        </p:sp>
      </p:grpSp>
      <p:sp>
        <p:nvSpPr>
          <p:cNvPr name="AutoShape 14" id="14"/>
          <p:cNvSpPr/>
          <p:nvPr/>
        </p:nvSpPr>
        <p:spPr>
          <a:xfrm>
            <a:off x="2260727" y="3926861"/>
            <a:ext cx="1697" cy="1664314"/>
          </a:xfrm>
          <a:prstGeom prst="line">
            <a:avLst/>
          </a:prstGeom>
          <a:ln cap="flat" w="9525">
            <a:solidFill>
              <a:srgbClr val="01003B"/>
            </a:solidFill>
            <a:prstDash val="solid"/>
            <a:headEnd type="none" len="sm" w="sm"/>
            <a:tailEnd type="none" len="sm" w="sm"/>
          </a:ln>
        </p:spPr>
      </p:sp>
      <p:sp>
        <p:nvSpPr>
          <p:cNvPr name="AutoShape 15" id="15"/>
          <p:cNvSpPr/>
          <p:nvPr/>
        </p:nvSpPr>
        <p:spPr>
          <a:xfrm flipH="true">
            <a:off x="5480080" y="3926861"/>
            <a:ext cx="3299" cy="1664314"/>
          </a:xfrm>
          <a:prstGeom prst="line">
            <a:avLst/>
          </a:prstGeom>
          <a:ln cap="flat" w="9525">
            <a:solidFill>
              <a:srgbClr val="01003B"/>
            </a:solidFill>
            <a:prstDash val="solid"/>
            <a:headEnd type="none" len="sm" w="sm"/>
            <a:tailEnd type="none" len="sm" w="sm"/>
          </a:ln>
        </p:spPr>
      </p:sp>
      <p:sp>
        <p:nvSpPr>
          <p:cNvPr name="AutoShape 16" id="16"/>
          <p:cNvSpPr/>
          <p:nvPr/>
        </p:nvSpPr>
        <p:spPr>
          <a:xfrm>
            <a:off x="8804240" y="3928167"/>
            <a:ext cx="9525" cy="1663008"/>
          </a:xfrm>
          <a:prstGeom prst="line">
            <a:avLst/>
          </a:prstGeom>
          <a:ln cap="flat" w="9525">
            <a:solidFill>
              <a:srgbClr val="01003B"/>
            </a:solidFill>
            <a:prstDash val="solid"/>
            <a:headEnd type="none" len="sm" w="sm"/>
            <a:tailEnd type="none" len="sm" w="sm"/>
          </a:ln>
        </p:spPr>
      </p:sp>
      <p:sp>
        <p:nvSpPr>
          <p:cNvPr name="TextBox 17" id="17"/>
          <p:cNvSpPr txBox="true"/>
          <p:nvPr/>
        </p:nvSpPr>
        <p:spPr>
          <a:xfrm rot="0">
            <a:off x="1175618" y="5534025"/>
            <a:ext cx="2173612" cy="2790825"/>
          </a:xfrm>
          <a:prstGeom prst="rect">
            <a:avLst/>
          </a:prstGeom>
        </p:spPr>
        <p:txBody>
          <a:bodyPr anchor="t" rtlCol="false" tIns="0" lIns="0" bIns="0" rIns="0">
            <a:spAutoFit/>
          </a:bodyPr>
          <a:lstStyle/>
          <a:p>
            <a:pPr algn="ctr">
              <a:lnSpc>
                <a:spcPts val="3675"/>
              </a:lnSpc>
            </a:pPr>
            <a:r>
              <a:rPr lang="en-US" sz="2625">
                <a:solidFill>
                  <a:srgbClr val="01003B"/>
                </a:solidFill>
                <a:latin typeface="Asap"/>
                <a:ea typeface="Asap"/>
                <a:cs typeface="Asap"/>
                <a:sym typeface="Asap"/>
              </a:rPr>
              <a:t>Thử các k</a:t>
            </a:r>
            <a:r>
              <a:rPr lang="en-US" sz="2625" u="none">
                <a:solidFill>
                  <a:srgbClr val="01003B"/>
                </a:solidFill>
                <a:latin typeface="Asap"/>
                <a:ea typeface="Asap"/>
                <a:cs typeface="Asap"/>
                <a:sym typeface="Asap"/>
              </a:rPr>
              <a:t>iến trúc khác nhau; thêm hoặc bớt các lớp.</a:t>
            </a:r>
          </a:p>
          <a:p>
            <a:pPr algn="ctr">
              <a:lnSpc>
                <a:spcPts val="3675"/>
              </a:lnSpc>
            </a:pPr>
          </a:p>
        </p:txBody>
      </p:sp>
      <p:sp>
        <p:nvSpPr>
          <p:cNvPr name="TextBox 18" id="18"/>
          <p:cNvSpPr txBox="true"/>
          <p:nvPr/>
        </p:nvSpPr>
        <p:spPr>
          <a:xfrm rot="0">
            <a:off x="4393274" y="5534025"/>
            <a:ext cx="2173612" cy="923925"/>
          </a:xfrm>
          <a:prstGeom prst="rect">
            <a:avLst/>
          </a:prstGeom>
        </p:spPr>
        <p:txBody>
          <a:bodyPr anchor="t" rtlCol="false" tIns="0" lIns="0" bIns="0" rIns="0">
            <a:spAutoFit/>
          </a:bodyPr>
          <a:lstStyle/>
          <a:p>
            <a:pPr algn="ctr">
              <a:lnSpc>
                <a:spcPts val="3675"/>
              </a:lnSpc>
            </a:pPr>
            <a:r>
              <a:rPr lang="en-US" sz="2625">
                <a:solidFill>
                  <a:srgbClr val="01003B"/>
                </a:solidFill>
                <a:latin typeface="Asap"/>
                <a:ea typeface="Asap"/>
                <a:cs typeface="Asap"/>
                <a:sym typeface="Asap"/>
              </a:rPr>
              <a:t>Thêm</a:t>
            </a:r>
            <a:r>
              <a:rPr lang="en-US" sz="2625" u="none">
                <a:solidFill>
                  <a:srgbClr val="01003B"/>
                </a:solidFill>
                <a:latin typeface="Asap"/>
                <a:ea typeface="Asap"/>
                <a:cs typeface="Asap"/>
                <a:sym typeface="Asap"/>
              </a:rPr>
              <a:t> dropout.</a:t>
            </a:r>
          </a:p>
          <a:p>
            <a:pPr algn="ctr">
              <a:lnSpc>
                <a:spcPts val="3675"/>
              </a:lnSpc>
            </a:pPr>
          </a:p>
        </p:txBody>
      </p:sp>
      <p:sp>
        <p:nvSpPr>
          <p:cNvPr name="TextBox 19" id="19"/>
          <p:cNvSpPr txBox="true"/>
          <p:nvPr/>
        </p:nvSpPr>
        <p:spPr>
          <a:xfrm rot="0">
            <a:off x="7726959" y="5534025"/>
            <a:ext cx="2173612" cy="2790825"/>
          </a:xfrm>
          <a:prstGeom prst="rect">
            <a:avLst/>
          </a:prstGeom>
        </p:spPr>
        <p:txBody>
          <a:bodyPr anchor="t" rtlCol="false" tIns="0" lIns="0" bIns="0" rIns="0">
            <a:spAutoFit/>
          </a:bodyPr>
          <a:lstStyle/>
          <a:p>
            <a:pPr algn="ctr">
              <a:lnSpc>
                <a:spcPts val="3675"/>
              </a:lnSpc>
            </a:pPr>
            <a:r>
              <a:rPr lang="en-US" sz="2625">
                <a:solidFill>
                  <a:srgbClr val="01003B"/>
                </a:solidFill>
                <a:latin typeface="Asap"/>
                <a:ea typeface="Asap"/>
                <a:cs typeface="Asap"/>
                <a:sym typeface="Asap"/>
              </a:rPr>
              <a:t>N</a:t>
            </a:r>
            <a:r>
              <a:rPr lang="en-US" sz="2625" u="none">
                <a:solidFill>
                  <a:srgbClr val="01003B"/>
                </a:solidFill>
                <a:latin typeface="Asap"/>
                <a:ea typeface="Asap"/>
                <a:cs typeface="Asap"/>
                <a:sym typeface="Asap"/>
              </a:rPr>
              <a:t>ếu mô hình của bạn nhỏ, hãy thêm điều hòa L1 hoặc L2.</a:t>
            </a:r>
          </a:p>
          <a:p>
            <a:pPr algn="ctr">
              <a:lnSpc>
                <a:spcPts val="3675"/>
              </a:lnSpc>
            </a:pPr>
          </a:p>
        </p:txBody>
      </p:sp>
      <p:sp>
        <p:nvSpPr>
          <p:cNvPr name="TextBox 20" id="20"/>
          <p:cNvSpPr txBox="true"/>
          <p:nvPr/>
        </p:nvSpPr>
        <p:spPr>
          <a:xfrm rot="0">
            <a:off x="10494524" y="5534025"/>
            <a:ext cx="3029619" cy="3257550"/>
          </a:xfrm>
          <a:prstGeom prst="rect">
            <a:avLst/>
          </a:prstGeom>
        </p:spPr>
        <p:txBody>
          <a:bodyPr anchor="t" rtlCol="false" tIns="0" lIns="0" bIns="0" rIns="0">
            <a:spAutoFit/>
          </a:bodyPr>
          <a:lstStyle/>
          <a:p>
            <a:pPr algn="ctr">
              <a:lnSpc>
                <a:spcPts val="3675"/>
              </a:lnSpc>
            </a:pPr>
            <a:r>
              <a:rPr lang="en-US" sz="2625">
                <a:solidFill>
                  <a:srgbClr val="01003B"/>
                </a:solidFill>
                <a:latin typeface="Asap"/>
                <a:ea typeface="Asap"/>
                <a:cs typeface="Asap"/>
                <a:sym typeface="Asap"/>
              </a:rPr>
              <a:t>Thử các s</a:t>
            </a:r>
            <a:r>
              <a:rPr lang="en-US" sz="2625" u="none">
                <a:solidFill>
                  <a:srgbClr val="01003B"/>
                </a:solidFill>
                <a:latin typeface="Asap"/>
                <a:ea typeface="Asap"/>
                <a:cs typeface="Asap"/>
                <a:sym typeface="Asap"/>
              </a:rPr>
              <a:t>iêu tham số khác nhau (ví dụ: số đơn vị mỗi lớp hoặc tốc độ học của bộ tối ưu hóa) để tìm cấu hình tối ưu.</a:t>
            </a:r>
          </a:p>
          <a:p>
            <a:pPr algn="ctr">
              <a:lnSpc>
                <a:spcPts val="3675"/>
              </a:lnSpc>
            </a:pPr>
          </a:p>
        </p:txBody>
      </p:sp>
      <p:sp>
        <p:nvSpPr>
          <p:cNvPr name="AutoShape 21" id="21"/>
          <p:cNvSpPr/>
          <p:nvPr/>
        </p:nvSpPr>
        <p:spPr>
          <a:xfrm>
            <a:off x="12009334" y="3931560"/>
            <a:ext cx="0" cy="1659615"/>
          </a:xfrm>
          <a:prstGeom prst="line">
            <a:avLst/>
          </a:prstGeom>
          <a:ln cap="flat" w="9525">
            <a:solidFill>
              <a:srgbClr val="01003B"/>
            </a:solidFill>
            <a:prstDash val="solid"/>
            <a:headEnd type="none" len="sm" w="sm"/>
            <a:tailEnd type="none" len="sm" w="sm"/>
          </a:ln>
        </p:spPr>
      </p:sp>
      <p:sp>
        <p:nvSpPr>
          <p:cNvPr name="TextBox 22" id="22"/>
          <p:cNvSpPr txBox="true"/>
          <p:nvPr/>
        </p:nvSpPr>
        <p:spPr>
          <a:xfrm rot="0">
            <a:off x="2481451" y="213476"/>
            <a:ext cx="11279137" cy="2381597"/>
          </a:xfrm>
          <a:prstGeom prst="rect">
            <a:avLst/>
          </a:prstGeom>
        </p:spPr>
        <p:txBody>
          <a:bodyPr anchor="t" rtlCol="false" tIns="0" lIns="0" bIns="0" rIns="0">
            <a:spAutoFit/>
          </a:bodyPr>
          <a:lstStyle/>
          <a:p>
            <a:pPr algn="l">
              <a:lnSpc>
                <a:spcPts val="9514"/>
              </a:lnSpc>
              <a:spcBef>
                <a:spcPct val="0"/>
              </a:spcBef>
            </a:pPr>
            <a:r>
              <a:rPr lang="en-US" b="true" sz="6795">
                <a:solidFill>
                  <a:srgbClr val="000000"/>
                </a:solidFill>
                <a:latin typeface="Asap Bold"/>
                <a:ea typeface="Asap Bold"/>
                <a:cs typeface="Asap Bold"/>
                <a:sym typeface="Asap Bold"/>
              </a:rPr>
              <a:t>6.2</a:t>
            </a:r>
            <a:r>
              <a:rPr lang="en-US" b="true" sz="6795">
                <a:solidFill>
                  <a:srgbClr val="000000"/>
                </a:solidFill>
                <a:latin typeface="Asap Bold"/>
                <a:ea typeface="Asap Bold"/>
                <a:cs typeface="Asap Bold"/>
                <a:sym typeface="Asap Bold"/>
              </a:rPr>
              <a:t> Phát triển một mô hình</a:t>
            </a:r>
          </a:p>
          <a:p>
            <a:pPr algn="l">
              <a:lnSpc>
                <a:spcPts val="9514"/>
              </a:lnSpc>
              <a:spcBef>
                <a:spcPct val="0"/>
              </a:spcBef>
            </a:pPr>
          </a:p>
        </p:txBody>
      </p:sp>
      <p:sp>
        <p:nvSpPr>
          <p:cNvPr name="Freeform 23" id="23"/>
          <p:cNvSpPr/>
          <p:nvPr/>
        </p:nvSpPr>
        <p:spPr>
          <a:xfrm flipH="false" flipV="false" rot="0">
            <a:off x="1028700" y="356351"/>
            <a:ext cx="1012526" cy="1042864"/>
          </a:xfrm>
          <a:custGeom>
            <a:avLst/>
            <a:gdLst/>
            <a:ahLst/>
            <a:cxnLst/>
            <a:rect r="r" b="b" t="t" l="l"/>
            <a:pathLst>
              <a:path h="1042864" w="1012526">
                <a:moveTo>
                  <a:pt x="0" y="0"/>
                </a:moveTo>
                <a:lnTo>
                  <a:pt x="1012526" y="0"/>
                </a:lnTo>
                <a:lnTo>
                  <a:pt x="1012526" y="1042864"/>
                </a:lnTo>
                <a:lnTo>
                  <a:pt x="0" y="1042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4" id="24"/>
          <p:cNvSpPr txBox="true"/>
          <p:nvPr/>
        </p:nvSpPr>
        <p:spPr>
          <a:xfrm rot="0">
            <a:off x="1534963" y="1596858"/>
            <a:ext cx="17544617" cy="1327220"/>
          </a:xfrm>
          <a:prstGeom prst="rect">
            <a:avLst/>
          </a:prstGeom>
        </p:spPr>
        <p:txBody>
          <a:bodyPr anchor="t" rtlCol="false" tIns="0" lIns="0" bIns="0" rIns="0">
            <a:spAutoFit/>
          </a:bodyPr>
          <a:lstStyle/>
          <a:p>
            <a:pPr algn="l">
              <a:lnSpc>
                <a:spcPts val="5225"/>
              </a:lnSpc>
            </a:pPr>
            <a:r>
              <a:rPr lang="en-US" sz="4354" b="true">
                <a:solidFill>
                  <a:srgbClr val="01003B"/>
                </a:solidFill>
                <a:latin typeface="Cabin Bold"/>
                <a:ea typeface="Cabin Bold"/>
                <a:cs typeface="Cabin Bold"/>
                <a:sym typeface="Cabin Bold"/>
              </a:rPr>
              <a:t>6.2.5 Điều</a:t>
            </a:r>
            <a:r>
              <a:rPr lang="en-US" b="true" sz="4354">
                <a:solidFill>
                  <a:srgbClr val="01003B"/>
                </a:solidFill>
                <a:latin typeface="Cabin Bold"/>
                <a:ea typeface="Cabin Bold"/>
                <a:cs typeface="Cabin Bold"/>
                <a:sym typeface="Cabin Bold"/>
              </a:rPr>
              <a:t> chỉnh mô hình và tối ưu hóa siêu tham số (hyperparameters)</a:t>
            </a:r>
          </a:p>
          <a:p>
            <a:pPr algn="l">
              <a:lnSpc>
                <a:spcPts val="5225"/>
              </a:lnSpc>
            </a:pPr>
          </a:p>
        </p:txBody>
      </p:sp>
      <p:grpSp>
        <p:nvGrpSpPr>
          <p:cNvPr name="Group 25" id="25"/>
          <p:cNvGrpSpPr/>
          <p:nvPr/>
        </p:nvGrpSpPr>
        <p:grpSpPr>
          <a:xfrm rot="0">
            <a:off x="14599574" y="2924077"/>
            <a:ext cx="2464054" cy="1002783"/>
            <a:chOff x="0" y="0"/>
            <a:chExt cx="989506" cy="402694"/>
          </a:xfrm>
        </p:grpSpPr>
        <p:sp>
          <p:nvSpPr>
            <p:cNvPr name="Freeform 26" id="26"/>
            <p:cNvSpPr/>
            <p:nvPr/>
          </p:nvSpPr>
          <p:spPr>
            <a:xfrm flipH="false" flipV="false" rot="0">
              <a:off x="0" y="0"/>
              <a:ext cx="989506" cy="402694"/>
            </a:xfrm>
            <a:custGeom>
              <a:avLst/>
              <a:gdLst/>
              <a:ahLst/>
              <a:cxnLst/>
              <a:rect r="r" b="b" t="t" l="l"/>
              <a:pathLst>
                <a:path h="402694" w="989506">
                  <a:moveTo>
                    <a:pt x="125678" y="0"/>
                  </a:moveTo>
                  <a:lnTo>
                    <a:pt x="863828" y="0"/>
                  </a:lnTo>
                  <a:cubicBezTo>
                    <a:pt x="933238" y="0"/>
                    <a:pt x="989506" y="56268"/>
                    <a:pt x="989506" y="125678"/>
                  </a:cubicBezTo>
                  <a:lnTo>
                    <a:pt x="989506" y="277016"/>
                  </a:lnTo>
                  <a:cubicBezTo>
                    <a:pt x="989506" y="346426"/>
                    <a:pt x="933238" y="402694"/>
                    <a:pt x="863828" y="402694"/>
                  </a:cubicBezTo>
                  <a:lnTo>
                    <a:pt x="125678" y="402694"/>
                  </a:lnTo>
                  <a:cubicBezTo>
                    <a:pt x="56268" y="402694"/>
                    <a:pt x="0" y="346426"/>
                    <a:pt x="0" y="277016"/>
                  </a:cubicBezTo>
                  <a:lnTo>
                    <a:pt x="0" y="125678"/>
                  </a:lnTo>
                  <a:cubicBezTo>
                    <a:pt x="0" y="56268"/>
                    <a:pt x="56268" y="0"/>
                    <a:pt x="125678" y="0"/>
                  </a:cubicBezTo>
                  <a:close/>
                </a:path>
              </a:pathLst>
            </a:custGeom>
            <a:solidFill>
              <a:srgbClr val="FF007E"/>
            </a:solidFill>
          </p:spPr>
        </p:sp>
        <p:sp>
          <p:nvSpPr>
            <p:cNvPr name="TextBox 27" id="27"/>
            <p:cNvSpPr txBox="true"/>
            <p:nvPr/>
          </p:nvSpPr>
          <p:spPr>
            <a:xfrm>
              <a:off x="0" y="-66675"/>
              <a:ext cx="989506" cy="469369"/>
            </a:xfrm>
            <a:prstGeom prst="rect">
              <a:avLst/>
            </a:prstGeom>
          </p:spPr>
          <p:txBody>
            <a:bodyPr anchor="ctr" rtlCol="false" tIns="50800" lIns="50800" bIns="50800" rIns="50800"/>
            <a:lstStyle/>
            <a:p>
              <a:pPr algn="ctr">
                <a:lnSpc>
                  <a:spcPts val="4200"/>
                </a:lnSpc>
              </a:pPr>
            </a:p>
          </p:txBody>
        </p:sp>
      </p:grpSp>
      <p:sp>
        <p:nvSpPr>
          <p:cNvPr name="AutoShape 28" id="28"/>
          <p:cNvSpPr/>
          <p:nvPr/>
        </p:nvSpPr>
        <p:spPr>
          <a:xfrm flipH="true">
            <a:off x="15831601" y="3926861"/>
            <a:ext cx="0" cy="1664314"/>
          </a:xfrm>
          <a:prstGeom prst="line">
            <a:avLst/>
          </a:prstGeom>
          <a:ln cap="flat" w="9525">
            <a:solidFill>
              <a:srgbClr val="01003B"/>
            </a:solidFill>
            <a:prstDash val="solid"/>
            <a:headEnd type="none" len="sm" w="sm"/>
            <a:tailEnd type="none" len="sm" w="sm"/>
          </a:ln>
        </p:spPr>
      </p:sp>
      <p:sp>
        <p:nvSpPr>
          <p:cNvPr name="TextBox 29" id="29"/>
          <p:cNvSpPr txBox="true"/>
          <p:nvPr/>
        </p:nvSpPr>
        <p:spPr>
          <a:xfrm rot="0">
            <a:off x="13580926" y="5534025"/>
            <a:ext cx="4501351" cy="3724275"/>
          </a:xfrm>
          <a:prstGeom prst="rect">
            <a:avLst/>
          </a:prstGeom>
        </p:spPr>
        <p:txBody>
          <a:bodyPr anchor="t" rtlCol="false" tIns="0" lIns="0" bIns="0" rIns="0">
            <a:spAutoFit/>
          </a:bodyPr>
          <a:lstStyle/>
          <a:p>
            <a:pPr algn="ctr">
              <a:lnSpc>
                <a:spcPts val="3675"/>
              </a:lnSpc>
            </a:pPr>
            <a:r>
              <a:rPr lang="en-US" sz="2625">
                <a:solidFill>
                  <a:srgbClr val="01003B"/>
                </a:solidFill>
                <a:latin typeface="Asap"/>
                <a:ea typeface="Asap"/>
                <a:cs typeface="Asap"/>
                <a:sym typeface="Asap"/>
              </a:rPr>
              <a:t>Tùy chọn, lặp lại việc quản lý dữ liệu hoặc kỹ thuật đặc</a:t>
            </a:r>
            <a:r>
              <a:rPr lang="en-US" sz="2625" u="none">
                <a:solidFill>
                  <a:srgbClr val="01003B"/>
                </a:solidFill>
                <a:latin typeface="Asap"/>
                <a:ea typeface="Asap"/>
                <a:cs typeface="Asap"/>
                <a:sym typeface="Asap"/>
              </a:rPr>
              <a:t> trưng: thu thập và chú thích thêm dữ liệu, phát triển các đặc trưng tốt hơn, hoặc loại bỏ các đặc trưng dường như không cung cấp thông tin.</a:t>
            </a:r>
          </a:p>
          <a:p>
            <a:pPr algn="ctr">
              <a:lnSpc>
                <a:spcPts val="3675"/>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289060" y="8030141"/>
            <a:ext cx="19151870" cy="9114142"/>
            <a:chOff x="0" y="0"/>
            <a:chExt cx="25535827" cy="12152189"/>
          </a:xfrm>
        </p:grpSpPr>
        <p:sp>
          <p:nvSpPr>
            <p:cNvPr name="Freeform 3" id="3"/>
            <p:cNvSpPr/>
            <p:nvPr/>
          </p:nvSpPr>
          <p:spPr>
            <a:xfrm flipH="false" flipV="false" rot="0">
              <a:off x="0" y="383530"/>
              <a:ext cx="14103200" cy="11385128"/>
            </a:xfrm>
            <a:custGeom>
              <a:avLst/>
              <a:gdLst/>
              <a:ahLst/>
              <a:cxnLst/>
              <a:rect r="r" b="b" t="t" l="l"/>
              <a:pathLst>
                <a:path h="11385128" w="14103200">
                  <a:moveTo>
                    <a:pt x="0" y="0"/>
                  </a:moveTo>
                  <a:lnTo>
                    <a:pt x="14103200" y="0"/>
                  </a:lnTo>
                  <a:lnTo>
                    <a:pt x="14103200" y="11385129"/>
                  </a:lnTo>
                  <a:lnTo>
                    <a:pt x="0" y="11385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74539" y="0"/>
              <a:ext cx="10761288" cy="12152189"/>
            </a:xfrm>
            <a:custGeom>
              <a:avLst/>
              <a:gdLst/>
              <a:ahLst/>
              <a:cxnLst/>
              <a:rect r="r" b="b" t="t" l="l"/>
              <a:pathLst>
                <a:path h="12152189" w="10761288">
                  <a:moveTo>
                    <a:pt x="0" y="0"/>
                  </a:moveTo>
                  <a:lnTo>
                    <a:pt x="10761288" y="0"/>
                  </a:lnTo>
                  <a:lnTo>
                    <a:pt x="10761288" y="12152189"/>
                  </a:lnTo>
                  <a:lnTo>
                    <a:pt x="0" y="12152189"/>
                  </a:lnTo>
                  <a:lnTo>
                    <a:pt x="0" y="0"/>
                  </a:lnTo>
                  <a:close/>
                </a:path>
              </a:pathLst>
            </a:custGeom>
            <a:blipFill>
              <a:blip r:embed="rId4">
                <a:extLst>
                  <a:ext uri="{96DAC541-7B7A-43D3-8B79-37D633B846F1}">
                    <asvg:svgBlip xmlns:asvg="http://schemas.microsoft.com/office/drawing/2016/SVG/main" r:embed="rId5"/>
                  </a:ext>
                </a:extLst>
              </a:blip>
              <a:stretch>
                <a:fillRect l="-39884" t="0" r="0" b="0"/>
              </a:stretch>
            </a:blipFill>
          </p:spPr>
        </p:sp>
      </p:grpSp>
      <p:graphicFrame>
        <p:nvGraphicFramePr>
          <p:cNvPr name="Table 5" id="5"/>
          <p:cNvGraphicFramePr>
            <a:graphicFrameLocks noGrp="true"/>
          </p:cNvGraphicFramePr>
          <p:nvPr/>
        </p:nvGraphicFramePr>
        <p:xfrm>
          <a:off x="1028700" y="2924077"/>
          <a:ext cx="23260329" cy="6314801"/>
        </p:xfrm>
        <a:graphic>
          <a:graphicData uri="http://schemas.openxmlformats.org/drawingml/2006/table">
            <a:tbl>
              <a:tblPr/>
              <a:tblGrid>
                <a:gridCol w="17360351"/>
                <a:gridCol w="500267"/>
                <a:gridCol w="5399711"/>
              </a:tblGrid>
              <a:tr h="916999">
                <a:tc>
                  <a:txBody>
                    <a:bodyPr anchor="t" rtlCol="false"/>
                    <a:lstStyle/>
                    <a:p>
                      <a:pPr algn="ctr">
                        <a:lnSpc>
                          <a:spcPts val="3359"/>
                        </a:lnSpc>
                        <a:defRPr/>
                      </a:pP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01003B"/>
                    </a:solidFill>
                  </a:tcPr>
                </a:tc>
                <a:tc>
                  <a:txBody>
                    <a:bodyPr anchor="t" rtlCol="false"/>
                    <a:lstStyle/>
                    <a:p>
                      <a:pPr algn="ctr">
                        <a:lnSpc>
                          <a:spcPts val="3359"/>
                        </a:lnSpc>
                        <a:defRPr/>
                      </a:pPr>
                      <a:endParaRPr lang="en-US" sz="1100"/>
                    </a:p>
                  </a:txBody>
                  <a:tcPr marL="190500" marR="190500" marT="190500" marB="190500" anchor="ctr">
                    <a:lnL cmpd="sng" algn="ctr" cap="flat" w="0">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01003B"/>
                    </a:solidFill>
                  </a:tcPr>
                </a:tc>
                <a:tc>
                  <a:txBody>
                    <a:bodyPr anchor="t" rtlCol="false"/>
                    <a:lstStyle/>
                    <a:p>
                      <a:pPr algn="ctr">
                        <a:lnSpc>
                          <a:spcPts val="3359"/>
                        </a:lnSpc>
                        <a:defRPr/>
                      </a:pPr>
                      <a:endParaRPr lang="en-US" sz="1100"/>
                    </a:p>
                  </a:txBody>
                  <a:tcPr marL="190500" marR="190500" marT="190500" marB="190500" anchor="ctr">
                    <a:lnL cmpd="sng" algn="ctr" cap="flat" w="0">
                      <a:solidFill>
                        <a:srgbClr val="01003B"/>
                      </a:solidFill>
                      <a:prstDash val="solid"/>
                      <a:round/>
                      <a:headEnd type="none" w="med" len="med"/>
                      <a:tailEnd type="none" w="med" len="med"/>
                    </a:lnL>
                    <a:lnR cmpd="sng" algn="ctr" cap="flat" w="9525">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01003B"/>
                    </a:solidFill>
                  </a:tcPr>
                </a:tc>
              </a:tr>
              <a:tr h="833342">
                <a:tc>
                  <a:txBody>
                    <a:bodyPr anchor="t" rtlCol="false"/>
                    <a:lstStyle/>
                    <a:p>
                      <a:pPr algn="l">
                        <a:lnSpc>
                          <a:spcPts val="3079"/>
                        </a:lnSpc>
                        <a:defRPr/>
                      </a:pPr>
                      <a:r>
                        <a:rPr lang="en-US" sz="2199">
                          <a:solidFill>
                            <a:srgbClr val="01003B"/>
                          </a:solidFill>
                          <a:latin typeface="Asap"/>
                          <a:ea typeface="Asap"/>
                          <a:cs typeface="Asap"/>
                          <a:sym typeface="Asap"/>
                        </a:rPr>
                        <a:t>Stakeholder thường kỳ vọng mô hình “ngang bằng con người”, nhưng điều này hiếm khi thực tế.</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8F8F8"/>
                    </a:solidFill>
                  </a:tcPr>
                </a:tc>
                <a:tc>
                  <a:txBody>
                    <a:bodyPr anchor="t" rtlCol="false"/>
                    <a:lstStyle/>
                    <a:p>
                      <a:pPr algn="ctr">
                        <a:lnSpc>
                          <a:spcPts val="2659"/>
                        </a:lnSpc>
                        <a:defRPr/>
                      </a:pPr>
                      <a:endParaRPr lang="en-US" sz="1100"/>
                    </a:p>
                  </a:txBody>
                  <a:tcPr marL="190500" marR="190500" marT="190500" marB="190500" anchor="ctr">
                    <a:lnL cmpd="sng" algn="ctr" cap="flat" w="0">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8F8F8"/>
                    </a:solidFill>
                  </a:tcPr>
                </a:tc>
                <a:tc>
                  <a:txBody>
                    <a:bodyPr anchor="t" rtlCol="false"/>
                    <a:lstStyle/>
                    <a:p>
                      <a:pPr algn="ctr">
                        <a:lnSpc>
                          <a:spcPts val="2659"/>
                        </a:lnSpc>
                        <a:defRPr/>
                      </a:pPr>
                      <a:endParaRPr lang="en-US" sz="1100"/>
                    </a:p>
                  </a:txBody>
                  <a:tcPr marL="190500" marR="190500" marT="190500" marB="190500" anchor="ctr">
                    <a:lnL cmpd="sng" algn="ctr" cap="flat" w="0">
                      <a:solidFill>
                        <a:srgbClr val="01003B"/>
                      </a:solidFill>
                      <a:prstDash val="solid"/>
                      <a:round/>
                      <a:headEnd type="none" w="med" len="med"/>
                      <a:tailEnd type="none" w="med" len="med"/>
                    </a:lnL>
                    <a:lnR cmpd="sng" algn="ctr" cap="flat" w="9525">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8F8F8"/>
                    </a:solidFill>
                  </a:tcPr>
                </a:tc>
              </a:tr>
              <a:tr h="833342">
                <a:tc>
                  <a:txBody>
                    <a:bodyPr anchor="t" rtlCol="false"/>
                    <a:lstStyle/>
                    <a:p>
                      <a:pPr algn="l">
                        <a:lnSpc>
                          <a:spcPts val="3079"/>
                        </a:lnSpc>
                        <a:defRPr/>
                      </a:pPr>
                      <a:r>
                        <a:rPr lang="en-US" sz="2199">
                          <a:solidFill>
                            <a:srgbClr val="000000"/>
                          </a:solidFill>
                          <a:latin typeface="Asap"/>
                          <a:ea typeface="Asap"/>
                          <a:cs typeface="Asap"/>
                          <a:sym typeface="Asap"/>
                        </a:rPr>
                        <a:t>Cần </a:t>
                      </a:r>
                      <a:r>
                        <a:rPr lang="en-US" sz="2199" b="true">
                          <a:solidFill>
                            <a:srgbClr val="000000"/>
                          </a:solidFill>
                          <a:latin typeface="Asap Bold"/>
                          <a:ea typeface="Asap Bold"/>
                          <a:cs typeface="Asap Bold"/>
                          <a:sym typeface="Asap Bold"/>
                        </a:rPr>
                        <a:t>truyền đạt rõ ràng</a:t>
                      </a:r>
                      <a:r>
                        <a:rPr lang="en-US" sz="2199">
                          <a:solidFill>
                            <a:srgbClr val="000000"/>
                          </a:solidFill>
                          <a:latin typeface="Asap"/>
                          <a:ea typeface="Asap"/>
                          <a:cs typeface="Asap"/>
                          <a:sym typeface="Asap"/>
                        </a:rPr>
                        <a:t> hiệu suất mô hình, không chỉ nêu “accuracy 98%” (dễ bị hiểu thành 100%).</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8F8F8"/>
                    </a:solidFill>
                  </a:tcPr>
                </a:tc>
                <a:tc>
                  <a:txBody>
                    <a:bodyPr anchor="t" rtlCol="false"/>
                    <a:lstStyle/>
                    <a:p>
                      <a:pPr algn="ctr">
                        <a:lnSpc>
                          <a:spcPts val="2659"/>
                        </a:lnSpc>
                        <a:defRPr/>
                      </a:pPr>
                      <a:endParaRPr lang="en-US" sz="1100"/>
                    </a:p>
                  </a:txBody>
                  <a:tcPr marL="190500" marR="190500" marT="190500" marB="190500" anchor="ctr">
                    <a:lnL cmpd="sng" algn="ctr" cap="flat" w="0">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8F8F8"/>
                    </a:solidFill>
                  </a:tcPr>
                </a:tc>
                <a:tc>
                  <a:txBody>
                    <a:bodyPr anchor="t" rtlCol="false"/>
                    <a:lstStyle/>
                    <a:p>
                      <a:pPr algn="ctr">
                        <a:lnSpc>
                          <a:spcPts val="2659"/>
                        </a:lnSpc>
                        <a:defRPr/>
                      </a:pPr>
                      <a:endParaRPr lang="en-US" sz="1100"/>
                    </a:p>
                  </a:txBody>
                  <a:tcPr marL="190500" marR="190500" marT="190500" marB="190500" anchor="ctr">
                    <a:lnL cmpd="sng" algn="ctr" cap="flat" w="0">
                      <a:solidFill>
                        <a:srgbClr val="01003B"/>
                      </a:solidFill>
                      <a:prstDash val="solid"/>
                      <a:round/>
                      <a:headEnd type="none" w="med" len="med"/>
                      <a:tailEnd type="none" w="med" len="med"/>
                    </a:lnL>
                    <a:lnR cmpd="sng" algn="ctr" cap="flat" w="9525">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8F8F8"/>
                    </a:solidFill>
                  </a:tcPr>
                </a:tc>
              </a:tr>
              <a:tr h="1602617">
                <a:tc>
                  <a:txBody>
                    <a:bodyPr anchor="t" rtlCol="false"/>
                    <a:lstStyle/>
                    <a:p>
                      <a:pPr algn="l">
                        <a:lnSpc>
                          <a:spcPts val="3079"/>
                        </a:lnSpc>
                        <a:defRPr/>
                      </a:pPr>
                      <a:r>
                        <a:rPr lang="en-US" sz="2199">
                          <a:solidFill>
                            <a:srgbClr val="000000"/>
                          </a:solidFill>
                          <a:latin typeface="Asap"/>
                          <a:ea typeface="Asap"/>
                          <a:cs typeface="Asap"/>
                          <a:sym typeface="Asap"/>
                        </a:rPr>
                        <a:t>Thay vào đó, sử dụng </a:t>
                      </a:r>
                      <a:r>
                        <a:rPr lang="en-US" sz="2199" b="true">
                          <a:solidFill>
                            <a:srgbClr val="000000"/>
                          </a:solidFill>
                          <a:latin typeface="Asap Bold"/>
                          <a:ea typeface="Asap Bold"/>
                          <a:cs typeface="Asap Bold"/>
                          <a:sym typeface="Asap Bold"/>
                        </a:rPr>
                        <a:t>chỉ số cụ thể</a:t>
                      </a:r>
                      <a:r>
                        <a:rPr lang="en-US" sz="2199">
                          <a:solidFill>
                            <a:srgbClr val="000000"/>
                          </a:solidFill>
                          <a:latin typeface="Asap"/>
                          <a:ea typeface="Asap"/>
                          <a:cs typeface="Asap"/>
                          <a:sym typeface="Asap"/>
                        </a:rPr>
                        <a:t>:</a:t>
                      </a:r>
                      <a:endParaRPr lang="en-US" sz="1100"/>
                    </a:p>
                    <a:p>
                      <a:pPr algn="l" marL="474979" indent="-237490" lvl="1">
                        <a:lnSpc>
                          <a:spcPts val="3079"/>
                        </a:lnSpc>
                        <a:buFont typeface="Arial"/>
                        <a:buChar char="•"/>
                      </a:pPr>
                      <a:r>
                        <a:rPr lang="en-US" sz="2199">
                          <a:solidFill>
                            <a:srgbClr val="000000"/>
                          </a:solidFill>
                          <a:latin typeface="Asap"/>
                          <a:ea typeface="Asap"/>
                          <a:cs typeface="Asap"/>
                          <a:sym typeface="Asap"/>
                        </a:rPr>
                        <a:t>Tỷ lệ dương tính giả (False Positive Rate – FPR).</a:t>
                      </a:r>
                    </a:p>
                    <a:p>
                      <a:pPr algn="l" marL="474979" indent="-237490" lvl="1">
                        <a:lnSpc>
                          <a:spcPts val="3079"/>
                        </a:lnSpc>
                        <a:buFont typeface="Arial"/>
                        <a:buChar char="•"/>
                      </a:pPr>
                      <a:r>
                        <a:rPr lang="en-US" sz="2199">
                          <a:solidFill>
                            <a:srgbClr val="000000"/>
                          </a:solidFill>
                          <a:latin typeface="Asap"/>
                          <a:ea typeface="Asap"/>
                          <a:cs typeface="Asap"/>
                          <a:sym typeface="Asap"/>
                        </a:rPr>
                        <a:t>Tỷ lệ âm tính giả (False Negative Rate – FNR).</a:t>
                      </a:r>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8F8F8"/>
                    </a:solidFill>
                  </a:tcPr>
                </a:tc>
                <a:tc>
                  <a:txBody>
                    <a:bodyPr anchor="t" rtlCol="false"/>
                    <a:lstStyle/>
                    <a:p>
                      <a:pPr algn="ctr">
                        <a:lnSpc>
                          <a:spcPts val="2659"/>
                        </a:lnSpc>
                        <a:defRPr/>
                      </a:pPr>
                      <a:endParaRPr lang="en-US" sz="1100"/>
                    </a:p>
                  </a:txBody>
                  <a:tcPr marL="190500" marR="190500" marT="190500" marB="190500" anchor="ctr">
                    <a:lnL cmpd="sng" algn="ctr" cap="flat" w="0">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8F8F8"/>
                    </a:solidFill>
                  </a:tcPr>
                </a:tc>
                <a:tc>
                  <a:txBody>
                    <a:bodyPr anchor="t" rtlCol="false"/>
                    <a:lstStyle/>
                    <a:p>
                      <a:pPr algn="ctr">
                        <a:lnSpc>
                          <a:spcPts val="2659"/>
                        </a:lnSpc>
                        <a:defRPr/>
                      </a:pPr>
                      <a:endParaRPr lang="en-US" sz="1100"/>
                    </a:p>
                  </a:txBody>
                  <a:tcPr marL="190500" marR="190500" marT="190500" marB="190500" anchor="ctr">
                    <a:lnL cmpd="sng" algn="ctr" cap="flat" w="0">
                      <a:solidFill>
                        <a:srgbClr val="01003B"/>
                      </a:solidFill>
                      <a:prstDash val="solid"/>
                      <a:round/>
                      <a:headEnd type="none" w="med" len="med"/>
                      <a:tailEnd type="none" w="med" len="med"/>
                    </a:lnL>
                    <a:lnR cmpd="sng" algn="ctr" cap="flat" w="9525">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8F8F8"/>
                    </a:solidFill>
                  </a:tcPr>
                </a:tc>
              </a:tr>
              <a:tr h="1211502">
                <a:tc>
                  <a:txBody>
                    <a:bodyPr anchor="t" rtlCol="false"/>
                    <a:lstStyle/>
                    <a:p>
                      <a:pPr algn="l">
                        <a:lnSpc>
                          <a:spcPts val="3079"/>
                        </a:lnSpc>
                        <a:defRPr/>
                      </a:pPr>
                      <a:r>
                        <a:rPr lang="en-US" sz="2199">
                          <a:solidFill>
                            <a:srgbClr val="000000"/>
                          </a:solidFill>
                          <a:latin typeface="Asap"/>
                          <a:ea typeface="Asap"/>
                          <a:cs typeface="Asap"/>
                          <a:sym typeface="Asap"/>
                        </a:rPr>
                        <a:t>Ví dụ: </a:t>
                      </a:r>
                      <a:r>
                        <a:rPr lang="en-US" sz="2199" i="true">
                          <a:solidFill>
                            <a:srgbClr val="000000"/>
                          </a:solidFill>
                          <a:latin typeface="Asap Italics"/>
                          <a:ea typeface="Asap Italics"/>
                          <a:cs typeface="Asap Italics"/>
                          <a:sym typeface="Asap Italics"/>
                        </a:rPr>
                        <a:t>Mô hình phát hiện gian lận: FNR = 5%, FPR = 2,5% → mỗi ngày 200 giao dịch hợp lệ bị gắn nhầm, 14 giao dịch gian lận bị bỏ sót, 266 gian lận phát hiện đúng.</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8F8F8"/>
                    </a:solidFill>
                  </a:tcPr>
                </a:tc>
                <a:tc>
                  <a:txBody>
                    <a:bodyPr anchor="t" rtlCol="false"/>
                    <a:lstStyle/>
                    <a:p>
                      <a:pPr algn="ctr">
                        <a:lnSpc>
                          <a:spcPts val="2659"/>
                        </a:lnSpc>
                        <a:defRPr/>
                      </a:pPr>
                      <a:endParaRPr lang="en-US" sz="1100"/>
                    </a:p>
                  </a:txBody>
                  <a:tcPr marL="190500" marR="190500" marT="190500" marB="190500" anchor="ctr">
                    <a:lnL cmpd="sng" algn="ctr" cap="flat" w="0">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8F8F8"/>
                    </a:solidFill>
                  </a:tcPr>
                </a:tc>
                <a:tc>
                  <a:txBody>
                    <a:bodyPr anchor="t" rtlCol="false"/>
                    <a:lstStyle/>
                    <a:p>
                      <a:pPr algn="ctr">
                        <a:lnSpc>
                          <a:spcPts val="2659"/>
                        </a:lnSpc>
                        <a:defRPr/>
                      </a:pPr>
                      <a:endParaRPr lang="en-US" sz="1100"/>
                    </a:p>
                  </a:txBody>
                  <a:tcPr marL="190500" marR="190500" marT="190500" marB="190500" anchor="ctr">
                    <a:lnL cmpd="sng" algn="ctr" cap="flat" w="0">
                      <a:solidFill>
                        <a:srgbClr val="01003B"/>
                      </a:solidFill>
                      <a:prstDash val="solid"/>
                      <a:round/>
                      <a:headEnd type="none" w="med" len="med"/>
                      <a:tailEnd type="none" w="med" len="med"/>
                    </a:lnL>
                    <a:lnR cmpd="sng" algn="ctr" cap="flat" w="9525">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8F8F8"/>
                    </a:solidFill>
                  </a:tcPr>
                </a:tc>
              </a:tr>
              <a:tr h="916999">
                <a:tc>
                  <a:txBody>
                    <a:bodyPr anchor="t" rtlCol="false"/>
                    <a:lstStyle/>
                    <a:p>
                      <a:pPr algn="l">
                        <a:lnSpc>
                          <a:spcPts val="3079"/>
                        </a:lnSpc>
                        <a:defRPr/>
                      </a:pPr>
                      <a:r>
                        <a:rPr lang="en-US" sz="2199" b="true">
                          <a:solidFill>
                            <a:srgbClr val="2667FF"/>
                          </a:solidFill>
                          <a:latin typeface="Asap Bold"/>
                          <a:ea typeface="Asap Bold"/>
                          <a:cs typeface="Asap Bold"/>
                          <a:sym typeface="Asap Bold"/>
                        </a:rPr>
                        <a:t>Nên đưa ra mẫu lỗi thực tế để stakeholder hiểu hạn chế của mô hình.</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9525">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8F8F8"/>
                    </a:solidFill>
                  </a:tcPr>
                </a:tc>
                <a:tc>
                  <a:txBody>
                    <a:bodyPr anchor="t" rtlCol="false"/>
                    <a:lstStyle/>
                    <a:p>
                      <a:pPr algn="ctr">
                        <a:lnSpc>
                          <a:spcPts val="2659"/>
                        </a:lnSpc>
                        <a:defRPr/>
                      </a:pP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8F8F8"/>
                    </a:solidFill>
                  </a:tcPr>
                </a:tc>
                <a:tc>
                  <a:txBody>
                    <a:bodyPr anchor="t" rtlCol="false"/>
                    <a:lstStyle/>
                    <a:p>
                      <a:pPr algn="ctr">
                        <a:lnSpc>
                          <a:spcPts val="2659"/>
                        </a:lnSpc>
                        <a:defRPr/>
                      </a:pPr>
                      <a:endParaRPr lang="en-US" sz="1100"/>
                    </a:p>
                  </a:txBody>
                  <a:tcPr marL="190500" marR="190500" marT="190500" marB="190500" anchor="ctr">
                    <a:lnL cmpd="sng" algn="ctr" cap="flat" w="0">
                      <a:solidFill>
                        <a:srgbClr val="01003B"/>
                      </a:solidFill>
                      <a:prstDash val="solid"/>
                      <a:round/>
                      <a:headEnd type="none" w="med" len="med"/>
                      <a:tailEnd type="none" w="med" len="med"/>
                    </a:lnL>
                    <a:lnR cmpd="sng" algn="ctr" cap="flat" w="9525">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8F8F8"/>
                    </a:solidFill>
                  </a:tcPr>
                </a:tc>
              </a:tr>
            </a:tbl>
          </a:graphicData>
        </a:graphic>
      </p:graphicFrame>
      <p:sp>
        <p:nvSpPr>
          <p:cNvPr name="TextBox 6" id="6"/>
          <p:cNvSpPr txBox="true"/>
          <p:nvPr/>
        </p:nvSpPr>
        <p:spPr>
          <a:xfrm rot="0">
            <a:off x="2481451" y="213476"/>
            <a:ext cx="11279137" cy="2381597"/>
          </a:xfrm>
          <a:prstGeom prst="rect">
            <a:avLst/>
          </a:prstGeom>
        </p:spPr>
        <p:txBody>
          <a:bodyPr anchor="t" rtlCol="false" tIns="0" lIns="0" bIns="0" rIns="0">
            <a:spAutoFit/>
          </a:bodyPr>
          <a:lstStyle/>
          <a:p>
            <a:pPr algn="l">
              <a:lnSpc>
                <a:spcPts val="9514"/>
              </a:lnSpc>
              <a:spcBef>
                <a:spcPct val="0"/>
              </a:spcBef>
            </a:pPr>
            <a:r>
              <a:rPr lang="en-US" b="true" sz="6795">
                <a:solidFill>
                  <a:srgbClr val="000000"/>
                </a:solidFill>
                <a:latin typeface="Asap Bold"/>
                <a:ea typeface="Asap Bold"/>
                <a:cs typeface="Asap Bold"/>
                <a:sym typeface="Asap Bold"/>
              </a:rPr>
              <a:t>6.3 T</a:t>
            </a:r>
            <a:r>
              <a:rPr lang="en-US" b="true" sz="6795">
                <a:solidFill>
                  <a:srgbClr val="000000"/>
                </a:solidFill>
                <a:latin typeface="Asap Bold"/>
                <a:ea typeface="Asap Bold"/>
                <a:cs typeface="Asap Bold"/>
                <a:sym typeface="Asap Bold"/>
              </a:rPr>
              <a:t>riển khai mô hình</a:t>
            </a:r>
          </a:p>
          <a:p>
            <a:pPr algn="l">
              <a:lnSpc>
                <a:spcPts val="9514"/>
              </a:lnSpc>
              <a:spcBef>
                <a:spcPct val="0"/>
              </a:spcBef>
            </a:pPr>
          </a:p>
        </p:txBody>
      </p:sp>
      <p:sp>
        <p:nvSpPr>
          <p:cNvPr name="Freeform 7" id="7"/>
          <p:cNvSpPr/>
          <p:nvPr/>
        </p:nvSpPr>
        <p:spPr>
          <a:xfrm flipH="false" flipV="false" rot="0">
            <a:off x="1028700" y="356351"/>
            <a:ext cx="1012526" cy="1042864"/>
          </a:xfrm>
          <a:custGeom>
            <a:avLst/>
            <a:gdLst/>
            <a:ahLst/>
            <a:cxnLst/>
            <a:rect r="r" b="b" t="t" l="l"/>
            <a:pathLst>
              <a:path h="1042864" w="1012526">
                <a:moveTo>
                  <a:pt x="0" y="0"/>
                </a:moveTo>
                <a:lnTo>
                  <a:pt x="1012526" y="0"/>
                </a:lnTo>
                <a:lnTo>
                  <a:pt x="1012526" y="1042864"/>
                </a:lnTo>
                <a:lnTo>
                  <a:pt x="0" y="10428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534963" y="1596858"/>
            <a:ext cx="17544617" cy="1327220"/>
          </a:xfrm>
          <a:prstGeom prst="rect">
            <a:avLst/>
          </a:prstGeom>
        </p:spPr>
        <p:txBody>
          <a:bodyPr anchor="t" rtlCol="false" tIns="0" lIns="0" bIns="0" rIns="0">
            <a:spAutoFit/>
          </a:bodyPr>
          <a:lstStyle/>
          <a:p>
            <a:pPr algn="l">
              <a:lnSpc>
                <a:spcPts val="5225"/>
              </a:lnSpc>
            </a:pPr>
            <a:r>
              <a:rPr lang="en-US" sz="4354" b="true">
                <a:solidFill>
                  <a:srgbClr val="01003B"/>
                </a:solidFill>
                <a:latin typeface="Cabin Bold"/>
                <a:ea typeface="Cabin Bold"/>
                <a:cs typeface="Cabin Bold"/>
                <a:sym typeface="Cabin Bold"/>
              </a:rPr>
              <a:t>6.3.1 Giải</a:t>
            </a:r>
            <a:r>
              <a:rPr lang="en-US" b="true" sz="4354">
                <a:solidFill>
                  <a:srgbClr val="01003B"/>
                </a:solidFill>
                <a:latin typeface="Cabin Bold"/>
                <a:ea typeface="Cabin Bold"/>
                <a:cs typeface="Cabin Bold"/>
                <a:sym typeface="Cabin Bold"/>
              </a:rPr>
              <a:t> thích công việc cho các bên liên quan và đặt kỳ vọng</a:t>
            </a:r>
          </a:p>
          <a:p>
            <a:pPr algn="l">
              <a:lnSpc>
                <a:spcPts val="5225"/>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1372409" y="4547762"/>
            <a:ext cx="3029616" cy="1514808"/>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51108" y="0"/>
                  </a:moveTo>
                  <a:lnTo>
                    <a:pt x="761692" y="0"/>
                  </a:lnTo>
                  <a:cubicBezTo>
                    <a:pt x="775246" y="0"/>
                    <a:pt x="788246" y="5385"/>
                    <a:pt x="797831" y="14969"/>
                  </a:cubicBezTo>
                  <a:cubicBezTo>
                    <a:pt x="807415" y="24554"/>
                    <a:pt x="812800" y="37554"/>
                    <a:pt x="812800" y="51108"/>
                  </a:cubicBezTo>
                  <a:lnTo>
                    <a:pt x="812800" y="355292"/>
                  </a:lnTo>
                  <a:cubicBezTo>
                    <a:pt x="812800" y="368847"/>
                    <a:pt x="807415" y="381846"/>
                    <a:pt x="797831" y="391431"/>
                  </a:cubicBezTo>
                  <a:cubicBezTo>
                    <a:pt x="788246" y="401015"/>
                    <a:pt x="775246" y="406400"/>
                    <a:pt x="761692" y="406400"/>
                  </a:cubicBezTo>
                  <a:lnTo>
                    <a:pt x="51108" y="406400"/>
                  </a:lnTo>
                  <a:cubicBezTo>
                    <a:pt x="37554" y="406400"/>
                    <a:pt x="24554" y="401015"/>
                    <a:pt x="14969" y="391431"/>
                  </a:cubicBezTo>
                  <a:cubicBezTo>
                    <a:pt x="5385" y="381846"/>
                    <a:pt x="0" y="368847"/>
                    <a:pt x="0" y="355292"/>
                  </a:cubicBezTo>
                  <a:lnTo>
                    <a:pt x="0" y="51108"/>
                  </a:lnTo>
                  <a:cubicBezTo>
                    <a:pt x="0" y="37554"/>
                    <a:pt x="5385" y="24554"/>
                    <a:pt x="14969" y="14969"/>
                  </a:cubicBezTo>
                  <a:cubicBezTo>
                    <a:pt x="24554" y="5385"/>
                    <a:pt x="37554" y="0"/>
                    <a:pt x="51108" y="0"/>
                  </a:cubicBezTo>
                  <a:close/>
                </a:path>
              </a:pathLst>
            </a:custGeom>
            <a:solidFill>
              <a:srgbClr val="01003B"/>
            </a:solidFill>
          </p:spPr>
        </p:sp>
        <p:sp>
          <p:nvSpPr>
            <p:cNvPr name="TextBox 4" id="4"/>
            <p:cNvSpPr txBox="true"/>
            <p:nvPr/>
          </p:nvSpPr>
          <p:spPr>
            <a:xfrm>
              <a:off x="0" y="-47625"/>
              <a:ext cx="812800" cy="454025"/>
            </a:xfrm>
            <a:prstGeom prst="rect">
              <a:avLst/>
            </a:prstGeom>
          </p:spPr>
          <p:txBody>
            <a:bodyPr anchor="ctr" rtlCol="false" tIns="254000" lIns="254000" bIns="254000" rIns="254000"/>
            <a:lstStyle/>
            <a:p>
              <a:pPr algn="ctr">
                <a:lnSpc>
                  <a:spcPts val="3219"/>
                </a:lnSpc>
              </a:pPr>
              <a:r>
                <a:rPr lang="en-US" sz="2299">
                  <a:solidFill>
                    <a:srgbClr val="F8F8F8"/>
                  </a:solidFill>
                  <a:latin typeface="Cabin"/>
                  <a:ea typeface="Cabin"/>
                  <a:cs typeface="Cabin"/>
                  <a:sym typeface="Cabin"/>
                </a:rPr>
                <a:t>THÊM Ý TƯỞNG CHÍNH</a:t>
              </a:r>
            </a:p>
          </p:txBody>
        </p:sp>
      </p:grpSp>
      <p:sp>
        <p:nvSpPr>
          <p:cNvPr name="AutoShape 5" id="5"/>
          <p:cNvSpPr/>
          <p:nvPr/>
        </p:nvSpPr>
        <p:spPr>
          <a:xfrm flipV="true">
            <a:off x="14402025" y="5229674"/>
            <a:ext cx="410584" cy="16098"/>
          </a:xfrm>
          <a:prstGeom prst="line">
            <a:avLst/>
          </a:prstGeom>
          <a:ln cap="flat" w="19050">
            <a:solidFill>
              <a:srgbClr val="01003B"/>
            </a:solidFill>
            <a:prstDash val="sysDot"/>
            <a:headEnd type="none" len="sm" w="sm"/>
            <a:tailEnd type="arrow" len="sm" w="med"/>
          </a:ln>
        </p:spPr>
      </p:sp>
      <p:sp>
        <p:nvSpPr>
          <p:cNvPr name="AutoShape 6" id="6"/>
          <p:cNvSpPr/>
          <p:nvPr/>
        </p:nvSpPr>
        <p:spPr>
          <a:xfrm flipV="true">
            <a:off x="14402014" y="4004306"/>
            <a:ext cx="1948263" cy="731844"/>
          </a:xfrm>
          <a:prstGeom prst="line">
            <a:avLst/>
          </a:prstGeom>
          <a:ln cap="flat" w="19050">
            <a:solidFill>
              <a:srgbClr val="01003B"/>
            </a:solidFill>
            <a:prstDash val="sysDot"/>
            <a:headEnd type="none" len="sm" w="sm"/>
            <a:tailEnd type="arrow" len="sm" w="med"/>
          </a:ln>
        </p:spPr>
      </p:sp>
      <p:sp>
        <p:nvSpPr>
          <p:cNvPr name="AutoShape 7" id="7"/>
          <p:cNvSpPr/>
          <p:nvPr/>
        </p:nvSpPr>
        <p:spPr>
          <a:xfrm flipH="true">
            <a:off x="10437342" y="6052615"/>
            <a:ext cx="1064628" cy="574451"/>
          </a:xfrm>
          <a:prstGeom prst="line">
            <a:avLst/>
          </a:prstGeom>
          <a:ln cap="flat" w="19050">
            <a:solidFill>
              <a:srgbClr val="01003B"/>
            </a:solidFill>
            <a:prstDash val="sysDot"/>
            <a:headEnd type="none" len="sm" w="sm"/>
            <a:tailEnd type="arrow" len="sm" w="med"/>
          </a:ln>
        </p:spPr>
      </p:sp>
      <p:sp>
        <p:nvSpPr>
          <p:cNvPr name="AutoShape 8" id="8"/>
          <p:cNvSpPr/>
          <p:nvPr/>
        </p:nvSpPr>
        <p:spPr>
          <a:xfrm flipH="true">
            <a:off x="10354067" y="5305166"/>
            <a:ext cx="1018342" cy="125556"/>
          </a:xfrm>
          <a:prstGeom prst="line">
            <a:avLst/>
          </a:prstGeom>
          <a:ln cap="flat" w="19050">
            <a:solidFill>
              <a:srgbClr val="01003B"/>
            </a:solidFill>
            <a:prstDash val="sysDot"/>
            <a:headEnd type="none" len="sm" w="sm"/>
            <a:tailEnd type="arrow" len="sm" w="med"/>
          </a:ln>
        </p:spPr>
      </p:sp>
      <p:grpSp>
        <p:nvGrpSpPr>
          <p:cNvPr name="Group 9" id="9"/>
          <p:cNvGrpSpPr/>
          <p:nvPr/>
        </p:nvGrpSpPr>
        <p:grpSpPr>
          <a:xfrm rot="0">
            <a:off x="7904192" y="4972539"/>
            <a:ext cx="2449875" cy="916365"/>
            <a:chOff x="0" y="0"/>
            <a:chExt cx="657264" cy="245847"/>
          </a:xfrm>
        </p:grpSpPr>
        <p:sp>
          <p:nvSpPr>
            <p:cNvPr name="Freeform 10" id="10"/>
            <p:cNvSpPr/>
            <p:nvPr/>
          </p:nvSpPr>
          <p:spPr>
            <a:xfrm flipH="false" flipV="false" rot="0">
              <a:off x="0" y="0"/>
              <a:ext cx="657264" cy="245847"/>
            </a:xfrm>
            <a:custGeom>
              <a:avLst/>
              <a:gdLst/>
              <a:ahLst/>
              <a:cxnLst/>
              <a:rect r="r" b="b" t="t" l="l"/>
              <a:pathLst>
                <a:path h="245847" w="657264">
                  <a:moveTo>
                    <a:pt x="63203" y="0"/>
                  </a:moveTo>
                  <a:lnTo>
                    <a:pt x="594062" y="0"/>
                  </a:lnTo>
                  <a:cubicBezTo>
                    <a:pt x="628967" y="0"/>
                    <a:pt x="657264" y="28297"/>
                    <a:pt x="657264" y="63203"/>
                  </a:cubicBezTo>
                  <a:lnTo>
                    <a:pt x="657264" y="182644"/>
                  </a:lnTo>
                  <a:cubicBezTo>
                    <a:pt x="657264" y="217550"/>
                    <a:pt x="628967" y="245847"/>
                    <a:pt x="594062" y="245847"/>
                  </a:cubicBezTo>
                  <a:lnTo>
                    <a:pt x="63203" y="245847"/>
                  </a:lnTo>
                  <a:cubicBezTo>
                    <a:pt x="28297" y="245847"/>
                    <a:pt x="0" y="217550"/>
                    <a:pt x="0" y="182644"/>
                  </a:cubicBezTo>
                  <a:lnTo>
                    <a:pt x="0" y="63203"/>
                  </a:lnTo>
                  <a:cubicBezTo>
                    <a:pt x="0" y="28297"/>
                    <a:pt x="28297" y="0"/>
                    <a:pt x="63203" y="0"/>
                  </a:cubicBezTo>
                  <a:close/>
                </a:path>
              </a:pathLst>
            </a:custGeom>
            <a:solidFill>
              <a:srgbClr val="FF007E"/>
            </a:solidFill>
          </p:spPr>
        </p:sp>
        <p:sp>
          <p:nvSpPr>
            <p:cNvPr name="TextBox 11" id="11"/>
            <p:cNvSpPr txBox="true"/>
            <p:nvPr/>
          </p:nvSpPr>
          <p:spPr>
            <a:xfrm>
              <a:off x="0" y="-38100"/>
              <a:ext cx="657264" cy="283947"/>
            </a:xfrm>
            <a:prstGeom prst="rect">
              <a:avLst/>
            </a:prstGeom>
          </p:spPr>
          <p:txBody>
            <a:bodyPr anchor="ctr" rtlCol="false" tIns="254000" lIns="254000" bIns="254000" rIns="254000"/>
            <a:lstStyle/>
            <a:p>
              <a:pPr algn="ctr">
                <a:lnSpc>
                  <a:spcPts val="2100"/>
                </a:lnSpc>
              </a:pPr>
              <a:r>
                <a:rPr lang="en-US" sz="1500">
                  <a:solidFill>
                    <a:srgbClr val="F8F8F8"/>
                  </a:solidFill>
                  <a:latin typeface="Asap"/>
                  <a:ea typeface="Asap"/>
                  <a:cs typeface="Asap"/>
                  <a:sym typeface="Asap"/>
                </a:rPr>
                <a:t>Thêm ý tưởng liên quan</a:t>
              </a:r>
            </a:p>
          </p:txBody>
        </p:sp>
      </p:grpSp>
      <p:grpSp>
        <p:nvGrpSpPr>
          <p:cNvPr name="Group 12" id="12"/>
          <p:cNvGrpSpPr/>
          <p:nvPr/>
        </p:nvGrpSpPr>
        <p:grpSpPr>
          <a:xfrm rot="0">
            <a:off x="15125340" y="3087940"/>
            <a:ext cx="2449875" cy="916365"/>
            <a:chOff x="0" y="0"/>
            <a:chExt cx="657264" cy="245847"/>
          </a:xfrm>
        </p:grpSpPr>
        <p:sp>
          <p:nvSpPr>
            <p:cNvPr name="Freeform 13" id="13"/>
            <p:cNvSpPr/>
            <p:nvPr/>
          </p:nvSpPr>
          <p:spPr>
            <a:xfrm flipH="false" flipV="false" rot="0">
              <a:off x="0" y="0"/>
              <a:ext cx="657264" cy="245847"/>
            </a:xfrm>
            <a:custGeom>
              <a:avLst/>
              <a:gdLst/>
              <a:ahLst/>
              <a:cxnLst/>
              <a:rect r="r" b="b" t="t" l="l"/>
              <a:pathLst>
                <a:path h="245847" w="657264">
                  <a:moveTo>
                    <a:pt x="63203" y="0"/>
                  </a:moveTo>
                  <a:lnTo>
                    <a:pt x="594062" y="0"/>
                  </a:lnTo>
                  <a:cubicBezTo>
                    <a:pt x="628967" y="0"/>
                    <a:pt x="657264" y="28297"/>
                    <a:pt x="657264" y="63203"/>
                  </a:cubicBezTo>
                  <a:lnTo>
                    <a:pt x="657264" y="182644"/>
                  </a:lnTo>
                  <a:cubicBezTo>
                    <a:pt x="657264" y="217550"/>
                    <a:pt x="628967" y="245847"/>
                    <a:pt x="594062" y="245847"/>
                  </a:cubicBezTo>
                  <a:lnTo>
                    <a:pt x="63203" y="245847"/>
                  </a:lnTo>
                  <a:cubicBezTo>
                    <a:pt x="28297" y="245847"/>
                    <a:pt x="0" y="217550"/>
                    <a:pt x="0" y="182644"/>
                  </a:cubicBezTo>
                  <a:lnTo>
                    <a:pt x="0" y="63203"/>
                  </a:lnTo>
                  <a:cubicBezTo>
                    <a:pt x="0" y="28297"/>
                    <a:pt x="28297" y="0"/>
                    <a:pt x="63203" y="0"/>
                  </a:cubicBezTo>
                  <a:close/>
                </a:path>
              </a:pathLst>
            </a:custGeom>
            <a:solidFill>
              <a:srgbClr val="FF007E"/>
            </a:solidFill>
          </p:spPr>
        </p:sp>
        <p:sp>
          <p:nvSpPr>
            <p:cNvPr name="TextBox 14" id="14"/>
            <p:cNvSpPr txBox="true"/>
            <p:nvPr/>
          </p:nvSpPr>
          <p:spPr>
            <a:xfrm>
              <a:off x="0" y="-38100"/>
              <a:ext cx="657264" cy="283947"/>
            </a:xfrm>
            <a:prstGeom prst="rect">
              <a:avLst/>
            </a:prstGeom>
          </p:spPr>
          <p:txBody>
            <a:bodyPr anchor="ctr" rtlCol="false" tIns="254000" lIns="254000" bIns="254000" rIns="254000"/>
            <a:lstStyle/>
            <a:p>
              <a:pPr algn="ctr">
                <a:lnSpc>
                  <a:spcPts val="2100"/>
                </a:lnSpc>
              </a:pPr>
              <a:r>
                <a:rPr lang="en-US" sz="1500">
                  <a:solidFill>
                    <a:srgbClr val="F8F8F8"/>
                  </a:solidFill>
                  <a:latin typeface="Asap"/>
                  <a:ea typeface="Asap"/>
                  <a:cs typeface="Asap"/>
                  <a:sym typeface="Asap"/>
                </a:rPr>
                <a:t>Thêm ý tưởng liên quan</a:t>
              </a:r>
            </a:p>
          </p:txBody>
        </p:sp>
      </p:grpSp>
      <p:grpSp>
        <p:nvGrpSpPr>
          <p:cNvPr name="Group 15" id="15"/>
          <p:cNvGrpSpPr/>
          <p:nvPr/>
        </p:nvGrpSpPr>
        <p:grpSpPr>
          <a:xfrm rot="0">
            <a:off x="9212405" y="6627066"/>
            <a:ext cx="2449875" cy="916365"/>
            <a:chOff x="0" y="0"/>
            <a:chExt cx="657264" cy="245847"/>
          </a:xfrm>
        </p:grpSpPr>
        <p:sp>
          <p:nvSpPr>
            <p:cNvPr name="Freeform 16" id="16"/>
            <p:cNvSpPr/>
            <p:nvPr/>
          </p:nvSpPr>
          <p:spPr>
            <a:xfrm flipH="false" flipV="false" rot="0">
              <a:off x="0" y="0"/>
              <a:ext cx="657264" cy="245847"/>
            </a:xfrm>
            <a:custGeom>
              <a:avLst/>
              <a:gdLst/>
              <a:ahLst/>
              <a:cxnLst/>
              <a:rect r="r" b="b" t="t" l="l"/>
              <a:pathLst>
                <a:path h="245847" w="657264">
                  <a:moveTo>
                    <a:pt x="63203" y="0"/>
                  </a:moveTo>
                  <a:lnTo>
                    <a:pt x="594062" y="0"/>
                  </a:lnTo>
                  <a:cubicBezTo>
                    <a:pt x="628967" y="0"/>
                    <a:pt x="657264" y="28297"/>
                    <a:pt x="657264" y="63203"/>
                  </a:cubicBezTo>
                  <a:lnTo>
                    <a:pt x="657264" y="182644"/>
                  </a:lnTo>
                  <a:cubicBezTo>
                    <a:pt x="657264" y="217550"/>
                    <a:pt x="628967" y="245847"/>
                    <a:pt x="594062" y="245847"/>
                  </a:cubicBezTo>
                  <a:lnTo>
                    <a:pt x="63203" y="245847"/>
                  </a:lnTo>
                  <a:cubicBezTo>
                    <a:pt x="28297" y="245847"/>
                    <a:pt x="0" y="217550"/>
                    <a:pt x="0" y="182644"/>
                  </a:cubicBezTo>
                  <a:lnTo>
                    <a:pt x="0" y="63203"/>
                  </a:lnTo>
                  <a:cubicBezTo>
                    <a:pt x="0" y="28297"/>
                    <a:pt x="28297" y="0"/>
                    <a:pt x="63203" y="0"/>
                  </a:cubicBezTo>
                  <a:close/>
                </a:path>
              </a:pathLst>
            </a:custGeom>
            <a:solidFill>
              <a:srgbClr val="FF007E"/>
            </a:solidFill>
          </p:spPr>
        </p:sp>
        <p:sp>
          <p:nvSpPr>
            <p:cNvPr name="TextBox 17" id="17"/>
            <p:cNvSpPr txBox="true"/>
            <p:nvPr/>
          </p:nvSpPr>
          <p:spPr>
            <a:xfrm>
              <a:off x="0" y="-38100"/>
              <a:ext cx="657264" cy="283947"/>
            </a:xfrm>
            <a:prstGeom prst="rect">
              <a:avLst/>
            </a:prstGeom>
          </p:spPr>
          <p:txBody>
            <a:bodyPr anchor="ctr" rtlCol="false" tIns="254000" lIns="254000" bIns="254000" rIns="254000"/>
            <a:lstStyle/>
            <a:p>
              <a:pPr algn="ctr">
                <a:lnSpc>
                  <a:spcPts val="2100"/>
                </a:lnSpc>
              </a:pPr>
              <a:r>
                <a:rPr lang="en-US" sz="1500">
                  <a:solidFill>
                    <a:srgbClr val="F8F8F8"/>
                  </a:solidFill>
                  <a:latin typeface="Asap"/>
                  <a:ea typeface="Asap"/>
                  <a:cs typeface="Asap"/>
                  <a:sym typeface="Asap"/>
                </a:rPr>
                <a:t>Thêm ý tưởng liên quan</a:t>
              </a:r>
            </a:p>
          </p:txBody>
        </p:sp>
      </p:grpSp>
      <p:grpSp>
        <p:nvGrpSpPr>
          <p:cNvPr name="Group 18" id="18"/>
          <p:cNvGrpSpPr/>
          <p:nvPr/>
        </p:nvGrpSpPr>
        <p:grpSpPr>
          <a:xfrm rot="0">
            <a:off x="14812610" y="4771492"/>
            <a:ext cx="2449875" cy="916365"/>
            <a:chOff x="0" y="0"/>
            <a:chExt cx="657264" cy="245847"/>
          </a:xfrm>
        </p:grpSpPr>
        <p:sp>
          <p:nvSpPr>
            <p:cNvPr name="Freeform 19" id="19"/>
            <p:cNvSpPr/>
            <p:nvPr/>
          </p:nvSpPr>
          <p:spPr>
            <a:xfrm flipH="false" flipV="false" rot="0">
              <a:off x="0" y="0"/>
              <a:ext cx="657264" cy="245847"/>
            </a:xfrm>
            <a:custGeom>
              <a:avLst/>
              <a:gdLst/>
              <a:ahLst/>
              <a:cxnLst/>
              <a:rect r="r" b="b" t="t" l="l"/>
              <a:pathLst>
                <a:path h="245847" w="657264">
                  <a:moveTo>
                    <a:pt x="63203" y="0"/>
                  </a:moveTo>
                  <a:lnTo>
                    <a:pt x="594062" y="0"/>
                  </a:lnTo>
                  <a:cubicBezTo>
                    <a:pt x="628967" y="0"/>
                    <a:pt x="657264" y="28297"/>
                    <a:pt x="657264" y="63203"/>
                  </a:cubicBezTo>
                  <a:lnTo>
                    <a:pt x="657264" y="182644"/>
                  </a:lnTo>
                  <a:cubicBezTo>
                    <a:pt x="657264" y="217550"/>
                    <a:pt x="628967" y="245847"/>
                    <a:pt x="594062" y="245847"/>
                  </a:cubicBezTo>
                  <a:lnTo>
                    <a:pt x="63203" y="245847"/>
                  </a:lnTo>
                  <a:cubicBezTo>
                    <a:pt x="28297" y="245847"/>
                    <a:pt x="0" y="217550"/>
                    <a:pt x="0" y="182644"/>
                  </a:cubicBezTo>
                  <a:lnTo>
                    <a:pt x="0" y="63203"/>
                  </a:lnTo>
                  <a:cubicBezTo>
                    <a:pt x="0" y="28297"/>
                    <a:pt x="28297" y="0"/>
                    <a:pt x="63203" y="0"/>
                  </a:cubicBezTo>
                  <a:close/>
                </a:path>
              </a:pathLst>
            </a:custGeom>
            <a:solidFill>
              <a:srgbClr val="FF007E"/>
            </a:solidFill>
          </p:spPr>
        </p:sp>
        <p:sp>
          <p:nvSpPr>
            <p:cNvPr name="TextBox 20" id="20"/>
            <p:cNvSpPr txBox="true"/>
            <p:nvPr/>
          </p:nvSpPr>
          <p:spPr>
            <a:xfrm>
              <a:off x="0" y="-38100"/>
              <a:ext cx="657264" cy="283947"/>
            </a:xfrm>
            <a:prstGeom prst="rect">
              <a:avLst/>
            </a:prstGeom>
          </p:spPr>
          <p:txBody>
            <a:bodyPr anchor="ctr" rtlCol="false" tIns="254000" lIns="254000" bIns="254000" rIns="254000"/>
            <a:lstStyle/>
            <a:p>
              <a:pPr algn="ctr">
                <a:lnSpc>
                  <a:spcPts val="2100"/>
                </a:lnSpc>
              </a:pPr>
              <a:r>
                <a:rPr lang="en-US" sz="1500">
                  <a:solidFill>
                    <a:srgbClr val="F8F8F8"/>
                  </a:solidFill>
                  <a:latin typeface="Asap"/>
                  <a:ea typeface="Asap"/>
                  <a:cs typeface="Asap"/>
                  <a:sym typeface="Asap"/>
                </a:rPr>
                <a:t>Thêm ý tưởng liên quan</a:t>
              </a:r>
            </a:p>
          </p:txBody>
        </p:sp>
      </p:grpSp>
      <p:grpSp>
        <p:nvGrpSpPr>
          <p:cNvPr name="Group 21" id="21"/>
          <p:cNvGrpSpPr/>
          <p:nvPr/>
        </p:nvGrpSpPr>
        <p:grpSpPr>
          <a:xfrm rot="0">
            <a:off x="10813535" y="2989244"/>
            <a:ext cx="1832731" cy="958443"/>
            <a:chOff x="0" y="0"/>
            <a:chExt cx="491694" cy="257136"/>
          </a:xfrm>
        </p:grpSpPr>
        <p:sp>
          <p:nvSpPr>
            <p:cNvPr name="Freeform 22" id="22"/>
            <p:cNvSpPr/>
            <p:nvPr/>
          </p:nvSpPr>
          <p:spPr>
            <a:xfrm flipH="false" flipV="false" rot="0">
              <a:off x="0" y="0"/>
              <a:ext cx="491694" cy="257136"/>
            </a:xfrm>
            <a:custGeom>
              <a:avLst/>
              <a:gdLst/>
              <a:ahLst/>
              <a:cxnLst/>
              <a:rect r="r" b="b" t="t" l="l"/>
              <a:pathLst>
                <a:path h="257136" w="491694">
                  <a:moveTo>
                    <a:pt x="84485" y="0"/>
                  </a:moveTo>
                  <a:lnTo>
                    <a:pt x="407209" y="0"/>
                  </a:lnTo>
                  <a:cubicBezTo>
                    <a:pt x="453869" y="0"/>
                    <a:pt x="491694" y="37825"/>
                    <a:pt x="491694" y="84485"/>
                  </a:cubicBezTo>
                  <a:lnTo>
                    <a:pt x="491694" y="172651"/>
                  </a:lnTo>
                  <a:cubicBezTo>
                    <a:pt x="491694" y="195058"/>
                    <a:pt x="482793" y="216547"/>
                    <a:pt x="466949" y="232391"/>
                  </a:cubicBezTo>
                  <a:cubicBezTo>
                    <a:pt x="451105" y="248235"/>
                    <a:pt x="429616" y="257136"/>
                    <a:pt x="407209" y="257136"/>
                  </a:cubicBezTo>
                  <a:lnTo>
                    <a:pt x="84485" y="257136"/>
                  </a:lnTo>
                  <a:cubicBezTo>
                    <a:pt x="62078" y="257136"/>
                    <a:pt x="40589" y="248235"/>
                    <a:pt x="24745" y="232391"/>
                  </a:cubicBezTo>
                  <a:cubicBezTo>
                    <a:pt x="8901" y="216547"/>
                    <a:pt x="0" y="195058"/>
                    <a:pt x="0" y="172651"/>
                  </a:cubicBezTo>
                  <a:lnTo>
                    <a:pt x="0" y="84485"/>
                  </a:lnTo>
                  <a:cubicBezTo>
                    <a:pt x="0" y="62078"/>
                    <a:pt x="8901" y="40589"/>
                    <a:pt x="24745" y="24745"/>
                  </a:cubicBezTo>
                  <a:cubicBezTo>
                    <a:pt x="40589" y="8901"/>
                    <a:pt x="62078" y="0"/>
                    <a:pt x="84485" y="0"/>
                  </a:cubicBezTo>
                  <a:close/>
                </a:path>
              </a:pathLst>
            </a:custGeom>
            <a:solidFill>
              <a:srgbClr val="F8F8F8"/>
            </a:solidFill>
            <a:ln w="9525" cap="sq">
              <a:solidFill>
                <a:srgbClr val="01003B"/>
              </a:solidFill>
              <a:prstDash val="solid"/>
              <a:miter/>
            </a:ln>
          </p:spPr>
        </p:sp>
        <p:sp>
          <p:nvSpPr>
            <p:cNvPr name="TextBox 23" id="23"/>
            <p:cNvSpPr txBox="true"/>
            <p:nvPr/>
          </p:nvSpPr>
          <p:spPr>
            <a:xfrm>
              <a:off x="0" y="-38100"/>
              <a:ext cx="491694" cy="295236"/>
            </a:xfrm>
            <a:prstGeom prst="rect">
              <a:avLst/>
            </a:prstGeom>
          </p:spPr>
          <p:txBody>
            <a:bodyPr anchor="ctr" rtlCol="false" tIns="254000" lIns="254000" bIns="254000" rIns="254000"/>
            <a:lstStyle/>
            <a:p>
              <a:pPr algn="ctr">
                <a:lnSpc>
                  <a:spcPts val="2100"/>
                </a:lnSpc>
              </a:pPr>
              <a:r>
                <a:rPr lang="en-US" sz="1500">
                  <a:solidFill>
                    <a:srgbClr val="01003B"/>
                  </a:solidFill>
                  <a:latin typeface="Asap"/>
                  <a:ea typeface="Asap"/>
                  <a:cs typeface="Asap"/>
                  <a:sym typeface="Asap"/>
                </a:rPr>
                <a:t>Thêm nhiều</a:t>
              </a:r>
            </a:p>
            <a:p>
              <a:pPr algn="ctr">
                <a:lnSpc>
                  <a:spcPts val="2100"/>
                </a:lnSpc>
              </a:pPr>
              <a:r>
                <a:rPr lang="en-US" sz="1500">
                  <a:solidFill>
                    <a:srgbClr val="01003B"/>
                  </a:solidFill>
                  <a:latin typeface="Asap"/>
                  <a:ea typeface="Asap"/>
                  <a:cs typeface="Asap"/>
                  <a:sym typeface="Asap"/>
                </a:rPr>
                <a:t>ý tưởng phụ hơn</a:t>
              </a:r>
            </a:p>
          </p:txBody>
        </p:sp>
      </p:grpSp>
      <p:grpSp>
        <p:nvGrpSpPr>
          <p:cNvPr name="Group 24" id="24"/>
          <p:cNvGrpSpPr/>
          <p:nvPr/>
        </p:nvGrpSpPr>
        <p:grpSpPr>
          <a:xfrm rot="0">
            <a:off x="7904192" y="8342868"/>
            <a:ext cx="2449875" cy="916365"/>
            <a:chOff x="0" y="0"/>
            <a:chExt cx="657264" cy="245847"/>
          </a:xfrm>
        </p:grpSpPr>
        <p:sp>
          <p:nvSpPr>
            <p:cNvPr name="Freeform 25" id="25"/>
            <p:cNvSpPr/>
            <p:nvPr/>
          </p:nvSpPr>
          <p:spPr>
            <a:xfrm flipH="false" flipV="false" rot="0">
              <a:off x="0" y="0"/>
              <a:ext cx="657264" cy="245847"/>
            </a:xfrm>
            <a:custGeom>
              <a:avLst/>
              <a:gdLst/>
              <a:ahLst/>
              <a:cxnLst/>
              <a:rect r="r" b="b" t="t" l="l"/>
              <a:pathLst>
                <a:path h="245847" w="657264">
                  <a:moveTo>
                    <a:pt x="63203" y="0"/>
                  </a:moveTo>
                  <a:lnTo>
                    <a:pt x="594062" y="0"/>
                  </a:lnTo>
                  <a:cubicBezTo>
                    <a:pt x="628967" y="0"/>
                    <a:pt x="657264" y="28297"/>
                    <a:pt x="657264" y="63203"/>
                  </a:cubicBezTo>
                  <a:lnTo>
                    <a:pt x="657264" y="182644"/>
                  </a:lnTo>
                  <a:cubicBezTo>
                    <a:pt x="657264" y="217550"/>
                    <a:pt x="628967" y="245847"/>
                    <a:pt x="594062" y="245847"/>
                  </a:cubicBezTo>
                  <a:lnTo>
                    <a:pt x="63203" y="245847"/>
                  </a:lnTo>
                  <a:cubicBezTo>
                    <a:pt x="28297" y="245847"/>
                    <a:pt x="0" y="217550"/>
                    <a:pt x="0" y="182644"/>
                  </a:cubicBezTo>
                  <a:lnTo>
                    <a:pt x="0" y="63203"/>
                  </a:lnTo>
                  <a:cubicBezTo>
                    <a:pt x="0" y="28297"/>
                    <a:pt x="28297" y="0"/>
                    <a:pt x="63203" y="0"/>
                  </a:cubicBezTo>
                  <a:close/>
                </a:path>
              </a:pathLst>
            </a:custGeom>
            <a:solidFill>
              <a:srgbClr val="2667FF"/>
            </a:solidFill>
          </p:spPr>
        </p:sp>
        <p:sp>
          <p:nvSpPr>
            <p:cNvPr name="TextBox 26" id="26"/>
            <p:cNvSpPr txBox="true"/>
            <p:nvPr/>
          </p:nvSpPr>
          <p:spPr>
            <a:xfrm>
              <a:off x="0" y="-38100"/>
              <a:ext cx="657264" cy="283947"/>
            </a:xfrm>
            <a:prstGeom prst="rect">
              <a:avLst/>
            </a:prstGeom>
          </p:spPr>
          <p:txBody>
            <a:bodyPr anchor="ctr" rtlCol="false" tIns="254000" lIns="254000" bIns="254000" rIns="254000"/>
            <a:lstStyle/>
            <a:p>
              <a:pPr algn="ctr">
                <a:lnSpc>
                  <a:spcPts val="2100"/>
                </a:lnSpc>
              </a:pPr>
              <a:r>
                <a:rPr lang="en-US" sz="1500">
                  <a:solidFill>
                    <a:srgbClr val="F8F8F8"/>
                  </a:solidFill>
                  <a:latin typeface="Asap"/>
                  <a:ea typeface="Asap"/>
                  <a:cs typeface="Asap"/>
                  <a:sym typeface="Asap"/>
                </a:rPr>
                <a:t>Thêm nhiều ý tưởng phụ</a:t>
              </a:r>
            </a:p>
          </p:txBody>
        </p:sp>
      </p:grpSp>
      <p:sp>
        <p:nvSpPr>
          <p:cNvPr name="AutoShape 27" id="27"/>
          <p:cNvSpPr/>
          <p:nvPr/>
        </p:nvSpPr>
        <p:spPr>
          <a:xfrm flipH="true">
            <a:off x="9605745" y="7543431"/>
            <a:ext cx="831598" cy="799437"/>
          </a:xfrm>
          <a:prstGeom prst="line">
            <a:avLst/>
          </a:prstGeom>
          <a:ln cap="flat" w="19050">
            <a:solidFill>
              <a:srgbClr val="01003B"/>
            </a:solidFill>
            <a:prstDash val="sysDot"/>
            <a:headEnd type="none" len="sm" w="sm"/>
            <a:tailEnd type="arrow" len="sm" w="med"/>
          </a:ln>
        </p:spPr>
      </p:sp>
      <p:grpSp>
        <p:nvGrpSpPr>
          <p:cNvPr name="Group 28" id="28"/>
          <p:cNvGrpSpPr/>
          <p:nvPr/>
        </p:nvGrpSpPr>
        <p:grpSpPr>
          <a:xfrm rot="0">
            <a:off x="11662280" y="8006285"/>
            <a:ext cx="2449875" cy="916365"/>
            <a:chOff x="0" y="0"/>
            <a:chExt cx="657264" cy="245847"/>
          </a:xfrm>
        </p:grpSpPr>
        <p:sp>
          <p:nvSpPr>
            <p:cNvPr name="Freeform 29" id="29"/>
            <p:cNvSpPr/>
            <p:nvPr/>
          </p:nvSpPr>
          <p:spPr>
            <a:xfrm flipH="false" flipV="false" rot="0">
              <a:off x="0" y="0"/>
              <a:ext cx="657264" cy="245847"/>
            </a:xfrm>
            <a:custGeom>
              <a:avLst/>
              <a:gdLst/>
              <a:ahLst/>
              <a:cxnLst/>
              <a:rect r="r" b="b" t="t" l="l"/>
              <a:pathLst>
                <a:path h="245847" w="657264">
                  <a:moveTo>
                    <a:pt x="63203" y="0"/>
                  </a:moveTo>
                  <a:lnTo>
                    <a:pt x="594062" y="0"/>
                  </a:lnTo>
                  <a:cubicBezTo>
                    <a:pt x="628967" y="0"/>
                    <a:pt x="657264" y="28297"/>
                    <a:pt x="657264" y="63203"/>
                  </a:cubicBezTo>
                  <a:lnTo>
                    <a:pt x="657264" y="182644"/>
                  </a:lnTo>
                  <a:cubicBezTo>
                    <a:pt x="657264" y="217550"/>
                    <a:pt x="628967" y="245847"/>
                    <a:pt x="594062" y="245847"/>
                  </a:cubicBezTo>
                  <a:lnTo>
                    <a:pt x="63203" y="245847"/>
                  </a:lnTo>
                  <a:cubicBezTo>
                    <a:pt x="28297" y="245847"/>
                    <a:pt x="0" y="217550"/>
                    <a:pt x="0" y="182644"/>
                  </a:cubicBezTo>
                  <a:lnTo>
                    <a:pt x="0" y="63203"/>
                  </a:lnTo>
                  <a:cubicBezTo>
                    <a:pt x="0" y="28297"/>
                    <a:pt x="28297" y="0"/>
                    <a:pt x="63203" y="0"/>
                  </a:cubicBezTo>
                  <a:close/>
                </a:path>
              </a:pathLst>
            </a:custGeom>
            <a:solidFill>
              <a:srgbClr val="2667FF"/>
            </a:solidFill>
          </p:spPr>
        </p:sp>
        <p:sp>
          <p:nvSpPr>
            <p:cNvPr name="TextBox 30" id="30"/>
            <p:cNvSpPr txBox="true"/>
            <p:nvPr/>
          </p:nvSpPr>
          <p:spPr>
            <a:xfrm>
              <a:off x="0" y="-38100"/>
              <a:ext cx="657264" cy="283947"/>
            </a:xfrm>
            <a:prstGeom prst="rect">
              <a:avLst/>
            </a:prstGeom>
          </p:spPr>
          <p:txBody>
            <a:bodyPr anchor="ctr" rtlCol="false" tIns="254000" lIns="254000" bIns="254000" rIns="254000"/>
            <a:lstStyle/>
            <a:p>
              <a:pPr algn="ctr">
                <a:lnSpc>
                  <a:spcPts val="2100"/>
                </a:lnSpc>
              </a:pPr>
              <a:r>
                <a:rPr lang="en-US" sz="1500">
                  <a:solidFill>
                    <a:srgbClr val="F8F8F8"/>
                  </a:solidFill>
                  <a:latin typeface="Asap"/>
                  <a:ea typeface="Asap"/>
                  <a:cs typeface="Asap"/>
                  <a:sym typeface="Asap"/>
                </a:rPr>
                <a:t>Thêm nhiều ý tưởng phụ</a:t>
              </a:r>
            </a:p>
          </p:txBody>
        </p:sp>
      </p:grpSp>
      <p:sp>
        <p:nvSpPr>
          <p:cNvPr name="AutoShape 31" id="31"/>
          <p:cNvSpPr/>
          <p:nvPr/>
        </p:nvSpPr>
        <p:spPr>
          <a:xfrm>
            <a:off x="10437342" y="7543431"/>
            <a:ext cx="1224937" cy="921037"/>
          </a:xfrm>
          <a:prstGeom prst="line">
            <a:avLst/>
          </a:prstGeom>
          <a:ln cap="flat" w="19050">
            <a:solidFill>
              <a:srgbClr val="01003B"/>
            </a:solidFill>
            <a:prstDash val="sysDot"/>
            <a:headEnd type="none" len="sm" w="sm"/>
            <a:tailEnd type="arrow" len="sm" w="med"/>
          </a:ln>
        </p:spPr>
      </p:sp>
      <p:sp>
        <p:nvSpPr>
          <p:cNvPr name="AutoShape 32" id="32"/>
          <p:cNvSpPr/>
          <p:nvPr/>
        </p:nvSpPr>
        <p:spPr>
          <a:xfrm flipV="true">
            <a:off x="14112155" y="7471753"/>
            <a:ext cx="1301343" cy="992715"/>
          </a:xfrm>
          <a:prstGeom prst="line">
            <a:avLst/>
          </a:prstGeom>
          <a:ln cap="flat" w="19050">
            <a:solidFill>
              <a:srgbClr val="01003B"/>
            </a:solidFill>
            <a:prstDash val="sysDot"/>
            <a:headEnd type="none" len="sm" w="sm"/>
            <a:tailEnd type="arrow" len="sm" w="med"/>
          </a:ln>
        </p:spPr>
      </p:sp>
      <p:sp>
        <p:nvSpPr>
          <p:cNvPr name="AutoShape 33" id="33"/>
          <p:cNvSpPr/>
          <p:nvPr/>
        </p:nvSpPr>
        <p:spPr>
          <a:xfrm>
            <a:off x="14112155" y="8464468"/>
            <a:ext cx="1488429" cy="226286"/>
          </a:xfrm>
          <a:prstGeom prst="line">
            <a:avLst/>
          </a:prstGeom>
          <a:ln cap="flat" w="9525">
            <a:solidFill>
              <a:srgbClr val="01003B"/>
            </a:solidFill>
            <a:prstDash val="solid"/>
            <a:headEnd type="none" len="sm" w="sm"/>
            <a:tailEnd type="arrow" len="sm" w="med"/>
          </a:ln>
        </p:spPr>
      </p:sp>
      <p:grpSp>
        <p:nvGrpSpPr>
          <p:cNvPr name="Group 34" id="34"/>
          <p:cNvGrpSpPr/>
          <p:nvPr/>
        </p:nvGrpSpPr>
        <p:grpSpPr>
          <a:xfrm rot="0">
            <a:off x="15125340" y="6513309"/>
            <a:ext cx="1832731" cy="958443"/>
            <a:chOff x="0" y="0"/>
            <a:chExt cx="491694" cy="257136"/>
          </a:xfrm>
        </p:grpSpPr>
        <p:sp>
          <p:nvSpPr>
            <p:cNvPr name="Freeform 35" id="35"/>
            <p:cNvSpPr/>
            <p:nvPr/>
          </p:nvSpPr>
          <p:spPr>
            <a:xfrm flipH="false" flipV="false" rot="0">
              <a:off x="0" y="0"/>
              <a:ext cx="491694" cy="257136"/>
            </a:xfrm>
            <a:custGeom>
              <a:avLst/>
              <a:gdLst/>
              <a:ahLst/>
              <a:cxnLst/>
              <a:rect r="r" b="b" t="t" l="l"/>
              <a:pathLst>
                <a:path h="257136" w="491694">
                  <a:moveTo>
                    <a:pt x="84485" y="0"/>
                  </a:moveTo>
                  <a:lnTo>
                    <a:pt x="407209" y="0"/>
                  </a:lnTo>
                  <a:cubicBezTo>
                    <a:pt x="453869" y="0"/>
                    <a:pt x="491694" y="37825"/>
                    <a:pt x="491694" y="84485"/>
                  </a:cubicBezTo>
                  <a:lnTo>
                    <a:pt x="491694" y="172651"/>
                  </a:lnTo>
                  <a:cubicBezTo>
                    <a:pt x="491694" y="195058"/>
                    <a:pt x="482793" y="216547"/>
                    <a:pt x="466949" y="232391"/>
                  </a:cubicBezTo>
                  <a:cubicBezTo>
                    <a:pt x="451105" y="248235"/>
                    <a:pt x="429616" y="257136"/>
                    <a:pt x="407209" y="257136"/>
                  </a:cubicBezTo>
                  <a:lnTo>
                    <a:pt x="84485" y="257136"/>
                  </a:lnTo>
                  <a:cubicBezTo>
                    <a:pt x="62078" y="257136"/>
                    <a:pt x="40589" y="248235"/>
                    <a:pt x="24745" y="232391"/>
                  </a:cubicBezTo>
                  <a:cubicBezTo>
                    <a:pt x="8901" y="216547"/>
                    <a:pt x="0" y="195058"/>
                    <a:pt x="0" y="172651"/>
                  </a:cubicBezTo>
                  <a:lnTo>
                    <a:pt x="0" y="84485"/>
                  </a:lnTo>
                  <a:cubicBezTo>
                    <a:pt x="0" y="62078"/>
                    <a:pt x="8901" y="40589"/>
                    <a:pt x="24745" y="24745"/>
                  </a:cubicBezTo>
                  <a:cubicBezTo>
                    <a:pt x="40589" y="8901"/>
                    <a:pt x="62078" y="0"/>
                    <a:pt x="84485" y="0"/>
                  </a:cubicBezTo>
                  <a:close/>
                </a:path>
              </a:pathLst>
            </a:custGeom>
            <a:solidFill>
              <a:srgbClr val="F8F8F8"/>
            </a:solidFill>
            <a:ln w="9525" cap="sq">
              <a:solidFill>
                <a:srgbClr val="01003B"/>
              </a:solidFill>
              <a:prstDash val="solid"/>
              <a:miter/>
            </a:ln>
          </p:spPr>
        </p:sp>
        <p:sp>
          <p:nvSpPr>
            <p:cNvPr name="TextBox 36" id="36"/>
            <p:cNvSpPr txBox="true"/>
            <p:nvPr/>
          </p:nvSpPr>
          <p:spPr>
            <a:xfrm>
              <a:off x="0" y="-38100"/>
              <a:ext cx="491694" cy="295236"/>
            </a:xfrm>
            <a:prstGeom prst="rect">
              <a:avLst/>
            </a:prstGeom>
          </p:spPr>
          <p:txBody>
            <a:bodyPr anchor="ctr" rtlCol="false" tIns="254000" lIns="254000" bIns="254000" rIns="254000"/>
            <a:lstStyle/>
            <a:p>
              <a:pPr algn="ctr">
                <a:lnSpc>
                  <a:spcPts val="2100"/>
                </a:lnSpc>
              </a:pPr>
              <a:r>
                <a:rPr lang="en-US" sz="1500">
                  <a:solidFill>
                    <a:srgbClr val="01003B"/>
                  </a:solidFill>
                  <a:latin typeface="Asap"/>
                  <a:ea typeface="Asap"/>
                  <a:cs typeface="Asap"/>
                  <a:sym typeface="Asap"/>
                </a:rPr>
                <a:t>Thêm nhiều</a:t>
              </a:r>
            </a:p>
            <a:p>
              <a:pPr algn="ctr">
                <a:lnSpc>
                  <a:spcPts val="2100"/>
                </a:lnSpc>
              </a:pPr>
              <a:r>
                <a:rPr lang="en-US" sz="1500">
                  <a:solidFill>
                    <a:srgbClr val="01003B"/>
                  </a:solidFill>
                  <a:latin typeface="Asap"/>
                  <a:ea typeface="Asap"/>
                  <a:cs typeface="Asap"/>
                  <a:sym typeface="Asap"/>
                </a:rPr>
                <a:t>ý tưởng phụ hơn</a:t>
              </a:r>
            </a:p>
          </p:txBody>
        </p:sp>
      </p:grpSp>
      <p:grpSp>
        <p:nvGrpSpPr>
          <p:cNvPr name="Group 37" id="37"/>
          <p:cNvGrpSpPr/>
          <p:nvPr/>
        </p:nvGrpSpPr>
        <p:grpSpPr>
          <a:xfrm rot="0">
            <a:off x="15600583" y="8350847"/>
            <a:ext cx="1832731" cy="958443"/>
            <a:chOff x="0" y="0"/>
            <a:chExt cx="491694" cy="257136"/>
          </a:xfrm>
        </p:grpSpPr>
        <p:sp>
          <p:nvSpPr>
            <p:cNvPr name="Freeform 38" id="38"/>
            <p:cNvSpPr/>
            <p:nvPr/>
          </p:nvSpPr>
          <p:spPr>
            <a:xfrm flipH="false" flipV="false" rot="0">
              <a:off x="0" y="0"/>
              <a:ext cx="491694" cy="257136"/>
            </a:xfrm>
            <a:custGeom>
              <a:avLst/>
              <a:gdLst/>
              <a:ahLst/>
              <a:cxnLst/>
              <a:rect r="r" b="b" t="t" l="l"/>
              <a:pathLst>
                <a:path h="257136" w="491694">
                  <a:moveTo>
                    <a:pt x="84485" y="0"/>
                  </a:moveTo>
                  <a:lnTo>
                    <a:pt x="407209" y="0"/>
                  </a:lnTo>
                  <a:cubicBezTo>
                    <a:pt x="453869" y="0"/>
                    <a:pt x="491694" y="37825"/>
                    <a:pt x="491694" y="84485"/>
                  </a:cubicBezTo>
                  <a:lnTo>
                    <a:pt x="491694" y="172651"/>
                  </a:lnTo>
                  <a:cubicBezTo>
                    <a:pt x="491694" y="195058"/>
                    <a:pt x="482793" y="216547"/>
                    <a:pt x="466949" y="232391"/>
                  </a:cubicBezTo>
                  <a:cubicBezTo>
                    <a:pt x="451105" y="248235"/>
                    <a:pt x="429616" y="257136"/>
                    <a:pt x="407209" y="257136"/>
                  </a:cubicBezTo>
                  <a:lnTo>
                    <a:pt x="84485" y="257136"/>
                  </a:lnTo>
                  <a:cubicBezTo>
                    <a:pt x="62078" y="257136"/>
                    <a:pt x="40589" y="248235"/>
                    <a:pt x="24745" y="232391"/>
                  </a:cubicBezTo>
                  <a:cubicBezTo>
                    <a:pt x="8901" y="216547"/>
                    <a:pt x="0" y="195058"/>
                    <a:pt x="0" y="172651"/>
                  </a:cubicBezTo>
                  <a:lnTo>
                    <a:pt x="0" y="84485"/>
                  </a:lnTo>
                  <a:cubicBezTo>
                    <a:pt x="0" y="62078"/>
                    <a:pt x="8901" y="40589"/>
                    <a:pt x="24745" y="24745"/>
                  </a:cubicBezTo>
                  <a:cubicBezTo>
                    <a:pt x="40589" y="8901"/>
                    <a:pt x="62078" y="0"/>
                    <a:pt x="84485" y="0"/>
                  </a:cubicBezTo>
                  <a:close/>
                </a:path>
              </a:pathLst>
            </a:custGeom>
            <a:solidFill>
              <a:srgbClr val="F8F8F8"/>
            </a:solidFill>
            <a:ln w="9525" cap="sq">
              <a:solidFill>
                <a:srgbClr val="01003B"/>
              </a:solidFill>
              <a:prstDash val="solid"/>
              <a:miter/>
            </a:ln>
          </p:spPr>
        </p:sp>
        <p:sp>
          <p:nvSpPr>
            <p:cNvPr name="TextBox 39" id="39"/>
            <p:cNvSpPr txBox="true"/>
            <p:nvPr/>
          </p:nvSpPr>
          <p:spPr>
            <a:xfrm>
              <a:off x="0" y="-38100"/>
              <a:ext cx="491694" cy="295236"/>
            </a:xfrm>
            <a:prstGeom prst="rect">
              <a:avLst/>
            </a:prstGeom>
          </p:spPr>
          <p:txBody>
            <a:bodyPr anchor="ctr" rtlCol="false" tIns="254000" lIns="254000" bIns="254000" rIns="254000"/>
            <a:lstStyle/>
            <a:p>
              <a:pPr algn="ctr">
                <a:lnSpc>
                  <a:spcPts val="2100"/>
                </a:lnSpc>
              </a:pPr>
              <a:r>
                <a:rPr lang="en-US" sz="1500">
                  <a:solidFill>
                    <a:srgbClr val="01003B"/>
                  </a:solidFill>
                  <a:latin typeface="Asap"/>
                  <a:ea typeface="Asap"/>
                  <a:cs typeface="Asap"/>
                  <a:sym typeface="Asap"/>
                </a:rPr>
                <a:t>Thêm nhiều</a:t>
              </a:r>
            </a:p>
            <a:p>
              <a:pPr algn="ctr">
                <a:lnSpc>
                  <a:spcPts val="2100"/>
                </a:lnSpc>
              </a:pPr>
              <a:r>
                <a:rPr lang="en-US" sz="1500">
                  <a:solidFill>
                    <a:srgbClr val="01003B"/>
                  </a:solidFill>
                  <a:latin typeface="Asap"/>
                  <a:ea typeface="Asap"/>
                  <a:cs typeface="Asap"/>
                  <a:sym typeface="Asap"/>
                </a:rPr>
                <a:t>ý tưởng phụ hơn</a:t>
              </a:r>
            </a:p>
          </p:txBody>
        </p:sp>
      </p:grpSp>
      <p:grpSp>
        <p:nvGrpSpPr>
          <p:cNvPr name="Group 40" id="40"/>
          <p:cNvGrpSpPr/>
          <p:nvPr/>
        </p:nvGrpSpPr>
        <p:grpSpPr>
          <a:xfrm rot="0">
            <a:off x="657805" y="2582116"/>
            <a:ext cx="7170187" cy="8089900"/>
            <a:chOff x="0" y="0"/>
            <a:chExt cx="5409292" cy="6103137"/>
          </a:xfrm>
        </p:grpSpPr>
        <p:sp>
          <p:nvSpPr>
            <p:cNvPr name="Freeform 41" id="41"/>
            <p:cNvSpPr/>
            <p:nvPr/>
          </p:nvSpPr>
          <p:spPr>
            <a:xfrm flipH="false" flipV="false" rot="0">
              <a:off x="0" y="0"/>
              <a:ext cx="5409292" cy="6103137"/>
            </a:xfrm>
            <a:custGeom>
              <a:avLst/>
              <a:gdLst/>
              <a:ahLst/>
              <a:cxnLst/>
              <a:rect r="r" b="b" t="t" l="l"/>
              <a:pathLst>
                <a:path h="6103137" w="5409292">
                  <a:moveTo>
                    <a:pt x="32392" y="0"/>
                  </a:moveTo>
                  <a:lnTo>
                    <a:pt x="5376900" y="0"/>
                  </a:lnTo>
                  <a:cubicBezTo>
                    <a:pt x="5394789" y="0"/>
                    <a:pt x="5409292" y="14502"/>
                    <a:pt x="5409292" y="32392"/>
                  </a:cubicBezTo>
                  <a:lnTo>
                    <a:pt x="5409292" y="6070745"/>
                  </a:lnTo>
                  <a:cubicBezTo>
                    <a:pt x="5409292" y="6088634"/>
                    <a:pt x="5394789" y="6103137"/>
                    <a:pt x="5376900" y="6103137"/>
                  </a:cubicBezTo>
                  <a:lnTo>
                    <a:pt x="32392" y="6103137"/>
                  </a:lnTo>
                  <a:cubicBezTo>
                    <a:pt x="14502" y="6103137"/>
                    <a:pt x="0" y="6088634"/>
                    <a:pt x="0" y="6070745"/>
                  </a:cubicBezTo>
                  <a:lnTo>
                    <a:pt x="0" y="32392"/>
                  </a:lnTo>
                  <a:cubicBezTo>
                    <a:pt x="0" y="14502"/>
                    <a:pt x="14502" y="0"/>
                    <a:pt x="32392" y="0"/>
                  </a:cubicBezTo>
                  <a:close/>
                </a:path>
              </a:pathLst>
            </a:custGeom>
            <a:solidFill>
              <a:srgbClr val="F8F8F8"/>
            </a:solidFill>
            <a:ln w="9525" cap="rnd">
              <a:solidFill>
                <a:srgbClr val="01003B"/>
              </a:solidFill>
              <a:prstDash val="sysDot"/>
              <a:round/>
            </a:ln>
          </p:spPr>
        </p:sp>
        <p:sp>
          <p:nvSpPr>
            <p:cNvPr name="TextBox 42" id="42"/>
            <p:cNvSpPr txBox="true"/>
            <p:nvPr/>
          </p:nvSpPr>
          <p:spPr>
            <a:xfrm>
              <a:off x="0" y="-38100"/>
              <a:ext cx="5409292" cy="6141237"/>
            </a:xfrm>
            <a:prstGeom prst="rect">
              <a:avLst/>
            </a:prstGeom>
          </p:spPr>
          <p:txBody>
            <a:bodyPr anchor="ctr" rtlCol="false" tIns="190500" lIns="190500" bIns="190500" rIns="190500"/>
            <a:lstStyle/>
            <a:p>
              <a:pPr algn="l" marL="431799" indent="-215899" lvl="1">
                <a:lnSpc>
                  <a:spcPts val="2799"/>
                </a:lnSpc>
                <a:buFont typeface="Arial"/>
                <a:buChar char="•"/>
              </a:pPr>
              <a:r>
                <a:rPr lang="en-US" sz="1999">
                  <a:solidFill>
                    <a:srgbClr val="01003B"/>
                  </a:solidFill>
                  <a:latin typeface="Asap"/>
                  <a:ea typeface="Asap"/>
                  <a:cs typeface="Asap"/>
                  <a:sym typeface="Asap"/>
                </a:rPr>
                <a:t>Sau huấn luyện, mô hình cần được đóng gói thành một mô hình suy luận hoàn chỉnh:</a:t>
              </a:r>
            </a:p>
            <a:p>
              <a:pPr algn="l" marL="863598" indent="-287866" lvl="2">
                <a:lnSpc>
                  <a:spcPts val="2799"/>
                </a:lnSpc>
                <a:buFont typeface="Arial"/>
                <a:buChar char="⚬"/>
              </a:pPr>
              <a:r>
                <a:rPr lang="en-US" sz="1999">
                  <a:solidFill>
                    <a:srgbClr val="01003B"/>
                  </a:solidFill>
                  <a:latin typeface="Asap"/>
                  <a:ea typeface="Asap"/>
                  <a:cs typeface="Asap"/>
                  <a:sym typeface="Asap"/>
                </a:rPr>
                <a:t>Bao gồm trọng số, tiền xử lý và hậu xử lý dữ liệu.</a:t>
              </a:r>
            </a:p>
            <a:p>
              <a:pPr algn="l">
                <a:lnSpc>
                  <a:spcPts val="2799"/>
                </a:lnSpc>
              </a:pPr>
            </a:p>
            <a:p>
              <a:pPr algn="l" marL="431799" indent="-215899" lvl="1">
                <a:lnSpc>
                  <a:spcPts val="2799"/>
                </a:lnSpc>
                <a:buFont typeface="Arial"/>
                <a:buChar char="•"/>
              </a:pPr>
              <a:r>
                <a:rPr lang="en-US" sz="1999">
                  <a:solidFill>
                    <a:srgbClr val="01003B"/>
                  </a:solidFill>
                  <a:latin typeface="Asap"/>
                  <a:ea typeface="Asap"/>
                  <a:cs typeface="Asap"/>
                  <a:sym typeface="Asap"/>
                </a:rPr>
                <a:t>Mục tiêu: tốc độ suy luận nhanh, kích thước nhỏ gọn, dễ triển khai.</a:t>
              </a:r>
            </a:p>
            <a:p>
              <a:pPr algn="l">
                <a:lnSpc>
                  <a:spcPts val="2799"/>
                </a:lnSpc>
              </a:pPr>
            </a:p>
            <a:p>
              <a:pPr algn="l" marL="431799" indent="-215899" lvl="1">
                <a:lnSpc>
                  <a:spcPts val="2799"/>
                </a:lnSpc>
                <a:buFont typeface="Arial"/>
                <a:buChar char="•"/>
              </a:pPr>
              <a:r>
                <a:rPr lang="en-US" sz="1999">
                  <a:solidFill>
                    <a:srgbClr val="01003B"/>
                  </a:solidFill>
                  <a:latin typeface="Asap"/>
                  <a:ea typeface="Asap"/>
                  <a:cs typeface="Asap"/>
                  <a:sym typeface="Asap"/>
                </a:rPr>
                <a:t>Hình thức triển khai:</a:t>
              </a:r>
            </a:p>
            <a:p>
              <a:pPr algn="l" marL="863598" indent="-287866" lvl="2">
                <a:lnSpc>
                  <a:spcPts val="2799"/>
                </a:lnSpc>
                <a:buFont typeface="Arial"/>
                <a:buChar char="⚬"/>
              </a:pPr>
              <a:r>
                <a:rPr lang="en-US" sz="1999">
                  <a:solidFill>
                    <a:srgbClr val="01003B"/>
                  </a:solidFill>
                  <a:latin typeface="Asap"/>
                  <a:ea typeface="Asap"/>
                  <a:cs typeface="Asap"/>
                  <a:sym typeface="Asap"/>
                </a:rPr>
                <a:t>REST API (phổ biến, tận dụng GPU/CPU).</a:t>
              </a:r>
            </a:p>
            <a:p>
              <a:pPr algn="l" marL="863598" indent="-287866" lvl="2">
                <a:lnSpc>
                  <a:spcPts val="2799"/>
                </a:lnSpc>
                <a:buFont typeface="Arial"/>
                <a:buChar char="⚬"/>
              </a:pPr>
              <a:r>
                <a:rPr lang="en-US" sz="1999">
                  <a:solidFill>
                    <a:srgbClr val="01003B"/>
                  </a:solidFill>
                  <a:latin typeface="Asap"/>
                  <a:ea typeface="Asap"/>
                  <a:cs typeface="Asap"/>
                  <a:sym typeface="Asap"/>
                </a:rPr>
                <a:t>Trình duyệt (TensorFlow.js) – xử lý trực tiếp trên client.</a:t>
              </a:r>
            </a:p>
            <a:p>
              <a:pPr algn="l" marL="863598" indent="-287866" lvl="2">
                <a:lnSpc>
                  <a:spcPts val="2799"/>
                </a:lnSpc>
                <a:buFont typeface="Arial"/>
                <a:buChar char="⚬"/>
              </a:pPr>
              <a:r>
                <a:rPr lang="en-US" sz="1999">
                  <a:solidFill>
                    <a:srgbClr val="01003B"/>
                  </a:solidFill>
                  <a:latin typeface="Asap"/>
                  <a:ea typeface="Asap"/>
                  <a:cs typeface="Asap"/>
                  <a:sym typeface="Asap"/>
                </a:rPr>
                <a:t>Mobile/nhúng (TensorFlow Lite) – phù hợp khi dữ liệu nhạy cảm hoặc yêu cầu độ trễ thấp.</a:t>
              </a:r>
            </a:p>
            <a:p>
              <a:pPr algn="l">
                <a:lnSpc>
                  <a:spcPts val="2799"/>
                </a:lnSpc>
              </a:pPr>
            </a:p>
            <a:p>
              <a:pPr algn="l" marL="431799" indent="-215899" lvl="1">
                <a:lnSpc>
                  <a:spcPts val="2799"/>
                </a:lnSpc>
                <a:buFont typeface="Arial"/>
                <a:buChar char="•"/>
              </a:pPr>
              <a:r>
                <a:rPr lang="en-US" sz="1999">
                  <a:solidFill>
                    <a:srgbClr val="01003B"/>
                  </a:solidFill>
                  <a:latin typeface="Asap"/>
                  <a:ea typeface="Asap"/>
                  <a:cs typeface="Asap"/>
                  <a:sym typeface="Asap"/>
                </a:rPr>
                <a:t>Kỹ thuật tối ưu:</a:t>
              </a:r>
            </a:p>
            <a:p>
              <a:pPr algn="l" marL="863598" indent="-287866" lvl="2">
                <a:lnSpc>
                  <a:spcPts val="2799"/>
                </a:lnSpc>
                <a:buFont typeface="Arial"/>
                <a:buChar char="⚬"/>
              </a:pPr>
              <a:r>
                <a:rPr lang="en-US" sz="1999">
                  <a:solidFill>
                    <a:srgbClr val="01003B"/>
                  </a:solidFill>
                  <a:latin typeface="Asap"/>
                  <a:ea typeface="Asap"/>
                  <a:cs typeface="Asap"/>
                  <a:sym typeface="Asap"/>
                </a:rPr>
                <a:t>Distillation – huấn luyện mô hình nhỏ “học sinh” từ mô hình lớn “giáo viên”.</a:t>
              </a:r>
            </a:p>
            <a:p>
              <a:pPr algn="l" marL="863598" indent="-287866" lvl="2">
                <a:lnSpc>
                  <a:spcPts val="2799"/>
                </a:lnSpc>
                <a:buFont typeface="Arial"/>
                <a:buChar char="⚬"/>
              </a:pPr>
              <a:r>
                <a:rPr lang="en-US" sz="1999">
                  <a:solidFill>
                    <a:srgbClr val="01003B"/>
                  </a:solidFill>
                  <a:latin typeface="Asap"/>
                  <a:ea typeface="Asap"/>
                  <a:cs typeface="Asap"/>
                  <a:sym typeface="Asap"/>
                </a:rPr>
                <a:t>Pruning – loại bỏ trọng số nhỏ, dư thừa.</a:t>
              </a:r>
            </a:p>
            <a:p>
              <a:pPr algn="l" marL="863598" indent="-287866" lvl="2">
                <a:lnSpc>
                  <a:spcPts val="2799"/>
                </a:lnSpc>
                <a:buFont typeface="Arial"/>
                <a:buChar char="⚬"/>
              </a:pPr>
              <a:r>
                <a:rPr lang="en-US" sz="1999">
                  <a:solidFill>
                    <a:srgbClr val="01003B"/>
                  </a:solidFill>
                  <a:latin typeface="Asap"/>
                  <a:ea typeface="Asap"/>
                  <a:cs typeface="Asap"/>
                  <a:sym typeface="Asap"/>
                </a:rPr>
                <a:t>Quantization – chuyển float32 sang int8, giảm kích thước ~4 lần mà vẫn giữ gần nguyên độ chính xác.</a:t>
              </a:r>
            </a:p>
            <a:p>
              <a:pPr algn="l">
                <a:lnSpc>
                  <a:spcPts val="2799"/>
                </a:lnSpc>
              </a:pPr>
            </a:p>
            <a:p>
              <a:pPr algn="l">
                <a:lnSpc>
                  <a:spcPts val="2799"/>
                </a:lnSpc>
              </a:pPr>
            </a:p>
          </p:txBody>
        </p:sp>
      </p:grpSp>
      <p:sp>
        <p:nvSpPr>
          <p:cNvPr name="TextBox 43" id="43"/>
          <p:cNvSpPr txBox="true"/>
          <p:nvPr/>
        </p:nvSpPr>
        <p:spPr>
          <a:xfrm rot="0">
            <a:off x="2431210" y="136979"/>
            <a:ext cx="11279137" cy="2381597"/>
          </a:xfrm>
          <a:prstGeom prst="rect">
            <a:avLst/>
          </a:prstGeom>
        </p:spPr>
        <p:txBody>
          <a:bodyPr anchor="t" rtlCol="false" tIns="0" lIns="0" bIns="0" rIns="0">
            <a:spAutoFit/>
          </a:bodyPr>
          <a:lstStyle/>
          <a:p>
            <a:pPr algn="l">
              <a:lnSpc>
                <a:spcPts val="9514"/>
              </a:lnSpc>
              <a:spcBef>
                <a:spcPct val="0"/>
              </a:spcBef>
            </a:pPr>
            <a:r>
              <a:rPr lang="en-US" b="true" sz="6795">
                <a:solidFill>
                  <a:srgbClr val="000000"/>
                </a:solidFill>
                <a:latin typeface="Asap Bold"/>
                <a:ea typeface="Asap Bold"/>
                <a:cs typeface="Asap Bold"/>
                <a:sym typeface="Asap Bold"/>
              </a:rPr>
              <a:t>6.3 T</a:t>
            </a:r>
            <a:r>
              <a:rPr lang="en-US" b="true" sz="6795">
                <a:solidFill>
                  <a:srgbClr val="000000"/>
                </a:solidFill>
                <a:latin typeface="Asap Bold"/>
                <a:ea typeface="Asap Bold"/>
                <a:cs typeface="Asap Bold"/>
                <a:sym typeface="Asap Bold"/>
              </a:rPr>
              <a:t>riển khai mô hình</a:t>
            </a:r>
          </a:p>
          <a:p>
            <a:pPr algn="l">
              <a:lnSpc>
                <a:spcPts val="9514"/>
              </a:lnSpc>
              <a:spcBef>
                <a:spcPct val="0"/>
              </a:spcBef>
            </a:pPr>
          </a:p>
        </p:txBody>
      </p:sp>
      <p:sp>
        <p:nvSpPr>
          <p:cNvPr name="Freeform 44" id="44"/>
          <p:cNvSpPr/>
          <p:nvPr/>
        </p:nvSpPr>
        <p:spPr>
          <a:xfrm flipH="false" flipV="false" rot="0">
            <a:off x="1028700" y="356351"/>
            <a:ext cx="1012526" cy="1042864"/>
          </a:xfrm>
          <a:custGeom>
            <a:avLst/>
            <a:gdLst/>
            <a:ahLst/>
            <a:cxnLst/>
            <a:rect r="r" b="b" t="t" l="l"/>
            <a:pathLst>
              <a:path h="1042864" w="1012526">
                <a:moveTo>
                  <a:pt x="0" y="0"/>
                </a:moveTo>
                <a:lnTo>
                  <a:pt x="1012526" y="0"/>
                </a:lnTo>
                <a:lnTo>
                  <a:pt x="1012526" y="1042864"/>
                </a:lnTo>
                <a:lnTo>
                  <a:pt x="0" y="1042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5" id="45"/>
          <p:cNvSpPr txBox="true"/>
          <p:nvPr/>
        </p:nvSpPr>
        <p:spPr>
          <a:xfrm rot="0">
            <a:off x="2041226" y="1534469"/>
            <a:ext cx="17544617" cy="1327220"/>
          </a:xfrm>
          <a:prstGeom prst="rect">
            <a:avLst/>
          </a:prstGeom>
        </p:spPr>
        <p:txBody>
          <a:bodyPr anchor="t" rtlCol="false" tIns="0" lIns="0" bIns="0" rIns="0">
            <a:spAutoFit/>
          </a:bodyPr>
          <a:lstStyle/>
          <a:p>
            <a:pPr algn="l">
              <a:lnSpc>
                <a:spcPts val="5225"/>
              </a:lnSpc>
            </a:pPr>
            <a:r>
              <a:rPr lang="en-US" sz="4354" b="true">
                <a:solidFill>
                  <a:srgbClr val="01003B"/>
                </a:solidFill>
                <a:latin typeface="Cabin Bold"/>
                <a:ea typeface="Cabin Bold"/>
                <a:cs typeface="Cabin Bold"/>
                <a:sym typeface="Cabin Bold"/>
              </a:rPr>
              <a:t>6.3.2 Triển</a:t>
            </a:r>
            <a:r>
              <a:rPr lang="en-US" b="true" sz="4354">
                <a:solidFill>
                  <a:srgbClr val="01003B"/>
                </a:solidFill>
                <a:latin typeface="Cabin Bold"/>
                <a:ea typeface="Cabin Bold"/>
                <a:cs typeface="Cabin Bold"/>
                <a:sym typeface="Cabin Bold"/>
              </a:rPr>
              <a:t> khai mô hình suy luận (Ship an inference model):</a:t>
            </a:r>
          </a:p>
          <a:p>
            <a:pPr algn="l">
              <a:lnSpc>
                <a:spcPts val="5225"/>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9262561" y="1695271"/>
            <a:ext cx="341236" cy="295542"/>
            <a:chOff x="0" y="0"/>
            <a:chExt cx="6202680" cy="5372100"/>
          </a:xfrm>
        </p:grpSpPr>
        <p:sp>
          <p:nvSpPr>
            <p:cNvPr name="Freeform 3" id="3"/>
            <p:cNvSpPr/>
            <p:nvPr/>
          </p:nvSpPr>
          <p:spPr>
            <a:xfrm flipH="false" flipV="false" rot="0">
              <a:off x="0" y="0"/>
              <a:ext cx="6202680" cy="5372100"/>
            </a:xfrm>
            <a:custGeom>
              <a:avLst/>
              <a:gdLst/>
              <a:ahLst/>
              <a:cxnLst/>
              <a:rect r="r" b="b" t="t" l="l"/>
              <a:pathLst>
                <a:path h="5372100" w="620268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sp>
      </p:grpSp>
      <p:grpSp>
        <p:nvGrpSpPr>
          <p:cNvPr name="Group 4" id="4"/>
          <p:cNvGrpSpPr/>
          <p:nvPr/>
        </p:nvGrpSpPr>
        <p:grpSpPr>
          <a:xfrm rot="-10800000">
            <a:off x="9262561" y="3562788"/>
            <a:ext cx="341236" cy="295542"/>
            <a:chOff x="0" y="0"/>
            <a:chExt cx="6202680" cy="5372100"/>
          </a:xfrm>
        </p:grpSpPr>
        <p:sp>
          <p:nvSpPr>
            <p:cNvPr name="Freeform 5" id="5"/>
            <p:cNvSpPr/>
            <p:nvPr/>
          </p:nvSpPr>
          <p:spPr>
            <a:xfrm flipH="false" flipV="false" rot="0">
              <a:off x="0" y="0"/>
              <a:ext cx="6202680" cy="5372100"/>
            </a:xfrm>
            <a:custGeom>
              <a:avLst/>
              <a:gdLst/>
              <a:ahLst/>
              <a:cxnLst/>
              <a:rect r="r" b="b" t="t" l="l"/>
              <a:pathLst>
                <a:path h="5372100" w="620268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sp>
      </p:grpSp>
      <p:grpSp>
        <p:nvGrpSpPr>
          <p:cNvPr name="Group 6" id="6"/>
          <p:cNvGrpSpPr/>
          <p:nvPr/>
        </p:nvGrpSpPr>
        <p:grpSpPr>
          <a:xfrm rot="-10800000">
            <a:off x="9262561" y="6599304"/>
            <a:ext cx="341236" cy="295542"/>
            <a:chOff x="0" y="0"/>
            <a:chExt cx="6202680" cy="5372100"/>
          </a:xfrm>
        </p:grpSpPr>
        <p:sp>
          <p:nvSpPr>
            <p:cNvPr name="Freeform 7" id="7"/>
            <p:cNvSpPr/>
            <p:nvPr/>
          </p:nvSpPr>
          <p:spPr>
            <a:xfrm flipH="false" flipV="false" rot="0">
              <a:off x="0" y="0"/>
              <a:ext cx="6202680" cy="5372100"/>
            </a:xfrm>
            <a:custGeom>
              <a:avLst/>
              <a:gdLst/>
              <a:ahLst/>
              <a:cxnLst/>
              <a:rect r="r" b="b" t="t" l="l"/>
              <a:pathLst>
                <a:path h="5372100" w="620268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sp>
      </p:grpSp>
      <p:sp>
        <p:nvSpPr>
          <p:cNvPr name="TextBox 8" id="8"/>
          <p:cNvSpPr txBox="true"/>
          <p:nvPr/>
        </p:nvSpPr>
        <p:spPr>
          <a:xfrm rot="0">
            <a:off x="1443663" y="1501543"/>
            <a:ext cx="5787343" cy="2794000"/>
          </a:xfrm>
          <a:prstGeom prst="rect">
            <a:avLst/>
          </a:prstGeom>
        </p:spPr>
        <p:txBody>
          <a:bodyPr anchor="t" rtlCol="false" tIns="0" lIns="0" bIns="0" rIns="0">
            <a:spAutoFit/>
          </a:bodyPr>
          <a:lstStyle/>
          <a:p>
            <a:pPr algn="l">
              <a:lnSpc>
                <a:spcPts val="5599"/>
              </a:lnSpc>
              <a:spcBef>
                <a:spcPct val="0"/>
              </a:spcBef>
            </a:pPr>
            <a:r>
              <a:rPr lang="en-US" b="true" sz="3999" spc="-79">
                <a:solidFill>
                  <a:srgbClr val="1836B2"/>
                </a:solidFill>
                <a:latin typeface="Muli Bold"/>
                <a:ea typeface="Muli Bold"/>
                <a:cs typeface="Muli Bold"/>
                <a:sym typeface="Muli Bold"/>
              </a:rPr>
              <a:t>6.3.3 Tr</a:t>
            </a:r>
            <a:r>
              <a:rPr lang="en-US" b="true" sz="3999" spc="-79">
                <a:solidFill>
                  <a:srgbClr val="1836B2"/>
                </a:solidFill>
                <a:latin typeface="Muli Bold"/>
                <a:ea typeface="Muli Bold"/>
                <a:cs typeface="Muli Bold"/>
                <a:sym typeface="Muli Bold"/>
              </a:rPr>
              <a:t>iển khai mô hình suy luận (Ship an inference model):</a:t>
            </a:r>
          </a:p>
          <a:p>
            <a:pPr algn="l">
              <a:lnSpc>
                <a:spcPts val="5599"/>
              </a:lnSpc>
              <a:spcBef>
                <a:spcPct val="0"/>
              </a:spcBef>
            </a:pPr>
          </a:p>
        </p:txBody>
      </p:sp>
      <p:sp>
        <p:nvSpPr>
          <p:cNvPr name="TextBox 9" id="9"/>
          <p:cNvSpPr txBox="true"/>
          <p:nvPr/>
        </p:nvSpPr>
        <p:spPr>
          <a:xfrm rot="0">
            <a:off x="10132570" y="1399215"/>
            <a:ext cx="6626279" cy="1600200"/>
          </a:xfrm>
          <a:prstGeom prst="rect">
            <a:avLst/>
          </a:prstGeom>
        </p:spPr>
        <p:txBody>
          <a:bodyPr anchor="t" rtlCol="false" tIns="0" lIns="0" bIns="0" rIns="0">
            <a:spAutoFit/>
          </a:bodyPr>
          <a:lstStyle/>
          <a:p>
            <a:pPr algn="l">
              <a:lnSpc>
                <a:spcPts val="4200"/>
              </a:lnSpc>
            </a:pPr>
            <a:r>
              <a:rPr lang="en-US" sz="3500" spc="105" b="true">
                <a:solidFill>
                  <a:srgbClr val="1836B2"/>
                </a:solidFill>
                <a:latin typeface="Muli Ultra-Bold"/>
                <a:ea typeface="Muli Ultra-Bold"/>
                <a:cs typeface="Muli Ultra-Bold"/>
                <a:sym typeface="Muli Ultra-Bold"/>
              </a:rPr>
              <a:t>Sau khi triển khai, cần giám sát liên tục hiệu suất trên dữ liệu thật.</a:t>
            </a:r>
          </a:p>
        </p:txBody>
      </p:sp>
      <p:sp>
        <p:nvSpPr>
          <p:cNvPr name="TextBox 10" id="10"/>
          <p:cNvSpPr txBox="true"/>
          <p:nvPr/>
        </p:nvSpPr>
        <p:spPr>
          <a:xfrm rot="0">
            <a:off x="9997411" y="4121481"/>
            <a:ext cx="7827693" cy="2360295"/>
          </a:xfrm>
          <a:prstGeom prst="rect">
            <a:avLst/>
          </a:prstGeom>
        </p:spPr>
        <p:txBody>
          <a:bodyPr anchor="t" rtlCol="false" tIns="0" lIns="0" bIns="0" rIns="0">
            <a:spAutoFit/>
          </a:bodyPr>
          <a:lstStyle/>
          <a:p>
            <a:pPr algn="l" marL="582930" indent="-291465" lvl="1">
              <a:lnSpc>
                <a:spcPts val="3779"/>
              </a:lnSpc>
              <a:buFont typeface="Arial"/>
              <a:buChar char="•"/>
            </a:pPr>
            <a:r>
              <a:rPr lang="en-US" sz="2700" spc="13">
                <a:solidFill>
                  <a:srgbClr val="000000"/>
                </a:solidFill>
                <a:latin typeface="Muli Light"/>
                <a:ea typeface="Muli Light"/>
                <a:cs typeface="Muli Light"/>
                <a:sym typeface="Muli Light"/>
              </a:rPr>
              <a:t>Concept drift – thay đổi mẫu dữ liệu theo thời gian.</a:t>
            </a:r>
          </a:p>
          <a:p>
            <a:pPr algn="l" marL="582930" indent="-291465" lvl="1">
              <a:lnSpc>
                <a:spcPts val="3779"/>
              </a:lnSpc>
              <a:buFont typeface="Arial"/>
              <a:buChar char="•"/>
            </a:pPr>
            <a:r>
              <a:rPr lang="en-US" sz="2700" spc="13">
                <a:solidFill>
                  <a:srgbClr val="000000"/>
                </a:solidFill>
                <a:latin typeface="Muli Light"/>
                <a:ea typeface="Muli Light"/>
                <a:cs typeface="Muli Light"/>
                <a:sym typeface="Muli Light"/>
              </a:rPr>
              <a:t>Data corruption – dữ liệu đầu vào lỗi hoặc không mong muốn.</a:t>
            </a:r>
          </a:p>
          <a:p>
            <a:pPr algn="l">
              <a:lnSpc>
                <a:spcPts val="3779"/>
              </a:lnSpc>
            </a:pPr>
          </a:p>
        </p:txBody>
      </p:sp>
      <p:sp>
        <p:nvSpPr>
          <p:cNvPr name="TextBox 11" id="11"/>
          <p:cNvSpPr txBox="true"/>
          <p:nvPr/>
        </p:nvSpPr>
        <p:spPr>
          <a:xfrm rot="0">
            <a:off x="9997411" y="3445261"/>
            <a:ext cx="6626279" cy="1600200"/>
          </a:xfrm>
          <a:prstGeom prst="rect">
            <a:avLst/>
          </a:prstGeom>
        </p:spPr>
        <p:txBody>
          <a:bodyPr anchor="t" rtlCol="false" tIns="0" lIns="0" bIns="0" rIns="0">
            <a:spAutoFit/>
          </a:bodyPr>
          <a:lstStyle/>
          <a:p>
            <a:pPr algn="l">
              <a:lnSpc>
                <a:spcPts val="4200"/>
              </a:lnSpc>
            </a:pPr>
            <a:r>
              <a:rPr lang="en-US" sz="3500" spc="105" b="true">
                <a:solidFill>
                  <a:srgbClr val="1836B2"/>
                </a:solidFill>
                <a:latin typeface="Muli Ultra-Bold"/>
                <a:ea typeface="Muli Ultra-Bold"/>
                <a:cs typeface="Muli Ultra-Bold"/>
                <a:sym typeface="Muli Ultra-Bold"/>
              </a:rPr>
              <a:t>Nguy cơ:</a:t>
            </a:r>
          </a:p>
          <a:p>
            <a:pPr algn="l">
              <a:lnSpc>
                <a:spcPts val="4200"/>
              </a:lnSpc>
            </a:pPr>
          </a:p>
          <a:p>
            <a:pPr algn="l">
              <a:lnSpc>
                <a:spcPts val="4200"/>
              </a:lnSpc>
            </a:pPr>
          </a:p>
        </p:txBody>
      </p:sp>
      <p:sp>
        <p:nvSpPr>
          <p:cNvPr name="TextBox 12" id="12"/>
          <p:cNvSpPr txBox="true"/>
          <p:nvPr/>
        </p:nvSpPr>
        <p:spPr>
          <a:xfrm rot="0">
            <a:off x="9997411" y="6481776"/>
            <a:ext cx="6896598" cy="1066800"/>
          </a:xfrm>
          <a:prstGeom prst="rect">
            <a:avLst/>
          </a:prstGeom>
        </p:spPr>
        <p:txBody>
          <a:bodyPr anchor="t" rtlCol="false" tIns="0" lIns="0" bIns="0" rIns="0">
            <a:spAutoFit/>
          </a:bodyPr>
          <a:lstStyle/>
          <a:p>
            <a:pPr algn="l">
              <a:lnSpc>
                <a:spcPts val="4200"/>
              </a:lnSpc>
            </a:pPr>
            <a:r>
              <a:rPr lang="en-US" sz="3500" spc="105" b="true">
                <a:solidFill>
                  <a:srgbClr val="1836B2"/>
                </a:solidFill>
                <a:latin typeface="Muli Ultra-Bold"/>
                <a:ea typeface="Muli Ultra-Bold"/>
                <a:cs typeface="Muli Ultra-Bold"/>
                <a:sym typeface="Muli Ultra-Bold"/>
              </a:rPr>
              <a:t>Các chỉ số giám sát phải gắn với KPI kinh doanh </a:t>
            </a:r>
          </a:p>
        </p:txBody>
      </p:sp>
      <p:sp>
        <p:nvSpPr>
          <p:cNvPr name="Freeform 13" id="13"/>
          <p:cNvSpPr/>
          <p:nvPr/>
        </p:nvSpPr>
        <p:spPr>
          <a:xfrm flipH="true" flipV="false" rot="0">
            <a:off x="-2053973" y="6868687"/>
            <a:ext cx="8370405" cy="4779226"/>
          </a:xfrm>
          <a:custGeom>
            <a:avLst/>
            <a:gdLst/>
            <a:ahLst/>
            <a:cxnLst/>
            <a:rect r="r" b="b" t="t" l="l"/>
            <a:pathLst>
              <a:path h="4779226" w="8370405">
                <a:moveTo>
                  <a:pt x="8370405" y="0"/>
                </a:moveTo>
                <a:lnTo>
                  <a:pt x="0" y="0"/>
                </a:lnTo>
                <a:lnTo>
                  <a:pt x="0" y="4779226"/>
                </a:lnTo>
                <a:lnTo>
                  <a:pt x="8370405" y="4779226"/>
                </a:lnTo>
                <a:lnTo>
                  <a:pt x="8370405" y="0"/>
                </a:lnTo>
                <a:close/>
              </a:path>
            </a:pathLst>
          </a:custGeom>
          <a:blipFill>
            <a:blip r:embed="rId2">
              <a:extLst>
                <a:ext uri="{96DAC541-7B7A-43D3-8B79-37D633B846F1}">
                  <asvg:svgBlip xmlns:asvg="http://schemas.microsoft.com/office/drawing/2016/SVG/main" r:embed="rId3"/>
                </a:ext>
              </a:extLst>
            </a:blip>
            <a:stretch>
              <a:fillRect l="0" t="-51576" r="0" b="0"/>
            </a:stretch>
          </a:blipFill>
        </p:spPr>
      </p:sp>
      <p:sp>
        <p:nvSpPr>
          <p:cNvPr name="TextBox 14" id="14"/>
          <p:cNvSpPr txBox="true"/>
          <p:nvPr/>
        </p:nvSpPr>
        <p:spPr>
          <a:xfrm rot="0">
            <a:off x="2431210" y="136979"/>
            <a:ext cx="11279137" cy="2381597"/>
          </a:xfrm>
          <a:prstGeom prst="rect">
            <a:avLst/>
          </a:prstGeom>
        </p:spPr>
        <p:txBody>
          <a:bodyPr anchor="t" rtlCol="false" tIns="0" lIns="0" bIns="0" rIns="0">
            <a:spAutoFit/>
          </a:bodyPr>
          <a:lstStyle/>
          <a:p>
            <a:pPr algn="l">
              <a:lnSpc>
                <a:spcPts val="9514"/>
              </a:lnSpc>
              <a:spcBef>
                <a:spcPct val="0"/>
              </a:spcBef>
            </a:pPr>
            <a:r>
              <a:rPr lang="en-US" b="true" sz="6795">
                <a:solidFill>
                  <a:srgbClr val="000000"/>
                </a:solidFill>
                <a:latin typeface="Asap Bold"/>
                <a:ea typeface="Asap Bold"/>
                <a:cs typeface="Asap Bold"/>
                <a:sym typeface="Asap Bold"/>
              </a:rPr>
              <a:t>6.3 T</a:t>
            </a:r>
            <a:r>
              <a:rPr lang="en-US" b="true" sz="6795">
                <a:solidFill>
                  <a:srgbClr val="000000"/>
                </a:solidFill>
                <a:latin typeface="Asap Bold"/>
                <a:ea typeface="Asap Bold"/>
                <a:cs typeface="Asap Bold"/>
                <a:sym typeface="Asap Bold"/>
              </a:rPr>
              <a:t>riển khai mô hình</a:t>
            </a:r>
          </a:p>
          <a:p>
            <a:pPr algn="l">
              <a:lnSpc>
                <a:spcPts val="9514"/>
              </a:lnSpc>
              <a:spcBef>
                <a:spcPct val="0"/>
              </a:spcBef>
            </a:pPr>
          </a:p>
        </p:txBody>
      </p:sp>
      <p:sp>
        <p:nvSpPr>
          <p:cNvPr name="Freeform 15" id="15"/>
          <p:cNvSpPr/>
          <p:nvPr/>
        </p:nvSpPr>
        <p:spPr>
          <a:xfrm flipH="false" flipV="false" rot="0">
            <a:off x="1028700" y="356351"/>
            <a:ext cx="1012526" cy="1042864"/>
          </a:xfrm>
          <a:custGeom>
            <a:avLst/>
            <a:gdLst/>
            <a:ahLst/>
            <a:cxnLst/>
            <a:rect r="r" b="b" t="t" l="l"/>
            <a:pathLst>
              <a:path h="1042864" w="1012526">
                <a:moveTo>
                  <a:pt x="0" y="0"/>
                </a:moveTo>
                <a:lnTo>
                  <a:pt x="1012526" y="0"/>
                </a:lnTo>
                <a:lnTo>
                  <a:pt x="1012526" y="1042864"/>
                </a:lnTo>
                <a:lnTo>
                  <a:pt x="0" y="10428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9796501" y="7593832"/>
            <a:ext cx="7827693" cy="931545"/>
          </a:xfrm>
          <a:prstGeom prst="rect">
            <a:avLst/>
          </a:prstGeom>
        </p:spPr>
        <p:txBody>
          <a:bodyPr anchor="t" rtlCol="false" tIns="0" lIns="0" bIns="0" rIns="0">
            <a:spAutoFit/>
          </a:bodyPr>
          <a:lstStyle/>
          <a:p>
            <a:pPr algn="l">
              <a:lnSpc>
                <a:spcPts val="3779"/>
              </a:lnSpc>
            </a:pPr>
            <a:r>
              <a:rPr lang="en-US" sz="2700" spc="13">
                <a:solidFill>
                  <a:srgbClr val="000000"/>
                </a:solidFill>
                <a:latin typeface="Muli Light"/>
                <a:ea typeface="Muli Light"/>
                <a:cs typeface="Muli Light"/>
                <a:sym typeface="Muli Light"/>
              </a:rPr>
              <a:t>(ví</a:t>
            </a:r>
            <a:r>
              <a:rPr lang="en-US" sz="2700" spc="13">
                <a:solidFill>
                  <a:srgbClr val="000000"/>
                </a:solidFill>
                <a:latin typeface="Muli Light"/>
                <a:ea typeface="Muli Light"/>
                <a:cs typeface="Muli Light"/>
                <a:sym typeface="Muli Light"/>
              </a:rPr>
              <a:t> dụ: số giao dịch gian lận bị phát hiện, số giao dịch hợp lệ bị gắn nhầm).</a:t>
            </a:r>
          </a:p>
        </p:txBody>
      </p:sp>
      <p:sp>
        <p:nvSpPr>
          <p:cNvPr name="TextBox 17" id="17"/>
          <p:cNvSpPr txBox="true"/>
          <p:nvPr/>
        </p:nvSpPr>
        <p:spPr>
          <a:xfrm rot="0">
            <a:off x="857974" y="4102431"/>
            <a:ext cx="7636498" cy="1432217"/>
          </a:xfrm>
          <a:prstGeom prst="rect">
            <a:avLst/>
          </a:prstGeom>
        </p:spPr>
        <p:txBody>
          <a:bodyPr anchor="t" rtlCol="false" tIns="0" lIns="0" bIns="0" rIns="0">
            <a:spAutoFit/>
          </a:bodyPr>
          <a:lstStyle/>
          <a:p>
            <a:pPr algn="l">
              <a:lnSpc>
                <a:spcPts val="3835"/>
              </a:lnSpc>
              <a:spcBef>
                <a:spcPct val="0"/>
              </a:spcBef>
            </a:pPr>
            <a:r>
              <a:rPr lang="en-US" sz="2739">
                <a:solidFill>
                  <a:srgbClr val="000000"/>
                </a:solidFill>
                <a:latin typeface="Asap"/>
                <a:ea typeface="Asap"/>
                <a:cs typeface="Asap"/>
                <a:sym typeface="Asap"/>
              </a:rPr>
              <a:t>Ví dụ cần theo dõi:</a:t>
            </a:r>
          </a:p>
          <a:p>
            <a:pPr algn="l" marL="591445" indent="-295723" lvl="1">
              <a:lnSpc>
                <a:spcPts val="3835"/>
              </a:lnSpc>
              <a:spcBef>
                <a:spcPct val="0"/>
              </a:spcBef>
              <a:buFont typeface="Arial"/>
              <a:buChar char="•"/>
            </a:pPr>
            <a:r>
              <a:rPr lang="en-US" sz="2739">
                <a:solidFill>
                  <a:srgbClr val="000000"/>
                </a:solidFill>
                <a:latin typeface="Asap"/>
                <a:ea typeface="Asap"/>
                <a:cs typeface="Asap"/>
                <a:sym typeface="Asap"/>
              </a:rPr>
              <a:t>Mô hình bất ngờ dự đoán “0” cho mọi đầu vào.</a:t>
            </a:r>
          </a:p>
          <a:p>
            <a:pPr algn="l" marL="591445" indent="-295723" lvl="1">
              <a:lnSpc>
                <a:spcPts val="3835"/>
              </a:lnSpc>
              <a:spcBef>
                <a:spcPct val="0"/>
              </a:spcBef>
              <a:buFont typeface="Arial"/>
              <a:buChar char="•"/>
            </a:pPr>
            <a:r>
              <a:rPr lang="en-US" sz="2739">
                <a:solidFill>
                  <a:srgbClr val="000000"/>
                </a:solidFill>
                <a:latin typeface="Asap"/>
                <a:ea typeface="Asap"/>
                <a:cs typeface="Asap"/>
                <a:sym typeface="Asap"/>
              </a:rPr>
              <a:t>Tăng tỷ lệ lỗi do loại dữ liệu mới xuất hiện.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9262561" y="1695271"/>
            <a:ext cx="341236" cy="295542"/>
            <a:chOff x="0" y="0"/>
            <a:chExt cx="6202680" cy="5372100"/>
          </a:xfrm>
        </p:grpSpPr>
        <p:sp>
          <p:nvSpPr>
            <p:cNvPr name="Freeform 3" id="3"/>
            <p:cNvSpPr/>
            <p:nvPr/>
          </p:nvSpPr>
          <p:spPr>
            <a:xfrm flipH="false" flipV="false" rot="0">
              <a:off x="0" y="0"/>
              <a:ext cx="6202680" cy="5372100"/>
            </a:xfrm>
            <a:custGeom>
              <a:avLst/>
              <a:gdLst/>
              <a:ahLst/>
              <a:cxnLst/>
              <a:rect r="r" b="b" t="t" l="l"/>
              <a:pathLst>
                <a:path h="5372100" w="620268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sp>
      </p:grpSp>
      <p:grpSp>
        <p:nvGrpSpPr>
          <p:cNvPr name="Group 4" id="4"/>
          <p:cNvGrpSpPr/>
          <p:nvPr/>
        </p:nvGrpSpPr>
        <p:grpSpPr>
          <a:xfrm rot="-10800000">
            <a:off x="9262561" y="3562788"/>
            <a:ext cx="341236" cy="295542"/>
            <a:chOff x="0" y="0"/>
            <a:chExt cx="6202680" cy="5372100"/>
          </a:xfrm>
        </p:grpSpPr>
        <p:sp>
          <p:nvSpPr>
            <p:cNvPr name="Freeform 5" id="5"/>
            <p:cNvSpPr/>
            <p:nvPr/>
          </p:nvSpPr>
          <p:spPr>
            <a:xfrm flipH="false" flipV="false" rot="0">
              <a:off x="0" y="0"/>
              <a:ext cx="6202680" cy="5372100"/>
            </a:xfrm>
            <a:custGeom>
              <a:avLst/>
              <a:gdLst/>
              <a:ahLst/>
              <a:cxnLst/>
              <a:rect r="r" b="b" t="t" l="l"/>
              <a:pathLst>
                <a:path h="5372100" w="620268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sp>
      </p:grpSp>
      <p:grpSp>
        <p:nvGrpSpPr>
          <p:cNvPr name="Group 6" id="6"/>
          <p:cNvGrpSpPr/>
          <p:nvPr/>
        </p:nvGrpSpPr>
        <p:grpSpPr>
          <a:xfrm rot="-10800000">
            <a:off x="9264893" y="5401506"/>
            <a:ext cx="341236" cy="295542"/>
            <a:chOff x="0" y="0"/>
            <a:chExt cx="6202680" cy="5372100"/>
          </a:xfrm>
        </p:grpSpPr>
        <p:sp>
          <p:nvSpPr>
            <p:cNvPr name="Freeform 7" id="7"/>
            <p:cNvSpPr/>
            <p:nvPr/>
          </p:nvSpPr>
          <p:spPr>
            <a:xfrm flipH="false" flipV="false" rot="0">
              <a:off x="0" y="0"/>
              <a:ext cx="6202680" cy="5372100"/>
            </a:xfrm>
            <a:custGeom>
              <a:avLst/>
              <a:gdLst/>
              <a:ahLst/>
              <a:cxnLst/>
              <a:rect r="r" b="b" t="t" l="l"/>
              <a:pathLst>
                <a:path h="5372100" w="6202680">
                  <a:moveTo>
                    <a:pt x="4652010" y="0"/>
                  </a:moveTo>
                  <a:lnTo>
                    <a:pt x="1550670" y="0"/>
                  </a:lnTo>
                  <a:lnTo>
                    <a:pt x="0" y="2686050"/>
                  </a:lnTo>
                  <a:lnTo>
                    <a:pt x="1550670" y="5372100"/>
                  </a:lnTo>
                  <a:lnTo>
                    <a:pt x="4652010" y="5372100"/>
                  </a:lnTo>
                  <a:lnTo>
                    <a:pt x="6202680" y="2686050"/>
                  </a:lnTo>
                  <a:lnTo>
                    <a:pt x="4652010" y="0"/>
                  </a:lnTo>
                  <a:close/>
                </a:path>
              </a:pathLst>
            </a:custGeom>
            <a:solidFill>
              <a:srgbClr val="A066CB"/>
            </a:solidFill>
          </p:spPr>
        </p:sp>
      </p:grpSp>
      <p:sp>
        <p:nvSpPr>
          <p:cNvPr name="TextBox 8" id="8"/>
          <p:cNvSpPr txBox="true"/>
          <p:nvPr/>
        </p:nvSpPr>
        <p:spPr>
          <a:xfrm rot="0">
            <a:off x="1443663" y="1501543"/>
            <a:ext cx="5787343" cy="2089150"/>
          </a:xfrm>
          <a:prstGeom prst="rect">
            <a:avLst/>
          </a:prstGeom>
        </p:spPr>
        <p:txBody>
          <a:bodyPr anchor="t" rtlCol="false" tIns="0" lIns="0" bIns="0" rIns="0">
            <a:spAutoFit/>
          </a:bodyPr>
          <a:lstStyle/>
          <a:p>
            <a:pPr algn="l">
              <a:lnSpc>
                <a:spcPts val="5599"/>
              </a:lnSpc>
              <a:spcBef>
                <a:spcPct val="0"/>
              </a:spcBef>
            </a:pPr>
            <a:r>
              <a:rPr lang="en-US" b="true" sz="3999" spc="-79">
                <a:solidFill>
                  <a:srgbClr val="1836B2"/>
                </a:solidFill>
                <a:latin typeface="Muli Bold"/>
                <a:ea typeface="Muli Bold"/>
                <a:cs typeface="Muli Bold"/>
                <a:sym typeface="Muli Bold"/>
              </a:rPr>
              <a:t>6.3.4 Duy trì</a:t>
            </a:r>
            <a:r>
              <a:rPr lang="en-US" b="true" sz="3999" spc="-79">
                <a:solidFill>
                  <a:srgbClr val="1836B2"/>
                </a:solidFill>
                <a:latin typeface="Muli Bold"/>
                <a:ea typeface="Muli Bold"/>
                <a:cs typeface="Muli Bold"/>
                <a:sym typeface="Muli Bold"/>
              </a:rPr>
              <a:t> mô hình (Model maintenance)</a:t>
            </a:r>
          </a:p>
          <a:p>
            <a:pPr algn="l">
              <a:lnSpc>
                <a:spcPts val="5599"/>
              </a:lnSpc>
              <a:spcBef>
                <a:spcPct val="0"/>
              </a:spcBef>
            </a:pPr>
          </a:p>
        </p:txBody>
      </p:sp>
      <p:sp>
        <p:nvSpPr>
          <p:cNvPr name="TextBox 9" id="9"/>
          <p:cNvSpPr txBox="true"/>
          <p:nvPr/>
        </p:nvSpPr>
        <p:spPr>
          <a:xfrm rot="0">
            <a:off x="10132570" y="1399215"/>
            <a:ext cx="6626279" cy="1066800"/>
          </a:xfrm>
          <a:prstGeom prst="rect">
            <a:avLst/>
          </a:prstGeom>
        </p:spPr>
        <p:txBody>
          <a:bodyPr anchor="t" rtlCol="false" tIns="0" lIns="0" bIns="0" rIns="0">
            <a:spAutoFit/>
          </a:bodyPr>
          <a:lstStyle/>
          <a:p>
            <a:pPr algn="l">
              <a:lnSpc>
                <a:spcPts val="4200"/>
              </a:lnSpc>
            </a:pPr>
            <a:r>
              <a:rPr lang="en-US" sz="3500" spc="105" b="true">
                <a:solidFill>
                  <a:srgbClr val="1836B2"/>
                </a:solidFill>
                <a:latin typeface="Muli Ultra-Bold"/>
                <a:ea typeface="Muli Ultra-Bold"/>
                <a:cs typeface="Muli Ultra-Bold"/>
                <a:sym typeface="Muli Ultra-Bold"/>
              </a:rPr>
              <a:t>ML không phải “train một lần rồi quên”.</a:t>
            </a:r>
          </a:p>
        </p:txBody>
      </p:sp>
      <p:sp>
        <p:nvSpPr>
          <p:cNvPr name="TextBox 10" id="10"/>
          <p:cNvSpPr txBox="true"/>
          <p:nvPr/>
        </p:nvSpPr>
        <p:spPr>
          <a:xfrm rot="0">
            <a:off x="9997411" y="3445261"/>
            <a:ext cx="6626279" cy="1066800"/>
          </a:xfrm>
          <a:prstGeom prst="rect">
            <a:avLst/>
          </a:prstGeom>
        </p:spPr>
        <p:txBody>
          <a:bodyPr anchor="t" rtlCol="false" tIns="0" lIns="0" bIns="0" rIns="0">
            <a:spAutoFit/>
          </a:bodyPr>
          <a:lstStyle/>
          <a:p>
            <a:pPr algn="l">
              <a:lnSpc>
                <a:spcPts val="4200"/>
              </a:lnSpc>
            </a:pPr>
            <a:r>
              <a:rPr lang="en-US" sz="3500" spc="105" b="true">
                <a:solidFill>
                  <a:srgbClr val="1836B2"/>
                </a:solidFill>
                <a:latin typeface="Muli Ultra-Bold"/>
                <a:ea typeface="Muli Ultra-Bold"/>
                <a:cs typeface="Muli Ultra-Bold"/>
                <a:sym typeface="Muli Ultra-Bold"/>
              </a:rPr>
              <a:t>Cần bảo trì liên tục dựa trên phản hồi giám sát.</a:t>
            </a:r>
          </a:p>
        </p:txBody>
      </p:sp>
      <p:sp>
        <p:nvSpPr>
          <p:cNvPr name="TextBox 11" id="11"/>
          <p:cNvSpPr txBox="true"/>
          <p:nvPr/>
        </p:nvSpPr>
        <p:spPr>
          <a:xfrm rot="0">
            <a:off x="9999744" y="5283979"/>
            <a:ext cx="6896598" cy="533400"/>
          </a:xfrm>
          <a:prstGeom prst="rect">
            <a:avLst/>
          </a:prstGeom>
        </p:spPr>
        <p:txBody>
          <a:bodyPr anchor="t" rtlCol="false" tIns="0" lIns="0" bIns="0" rIns="0">
            <a:spAutoFit/>
          </a:bodyPr>
          <a:lstStyle/>
          <a:p>
            <a:pPr algn="l">
              <a:lnSpc>
                <a:spcPts val="4200"/>
              </a:lnSpc>
            </a:pPr>
            <a:r>
              <a:rPr lang="en-US" sz="3500" spc="105" b="true">
                <a:solidFill>
                  <a:srgbClr val="1836B2"/>
                </a:solidFill>
                <a:latin typeface="Muli Ultra-Bold"/>
                <a:ea typeface="Muli Ultra-Bold"/>
                <a:cs typeface="Muli Ultra-Bold"/>
                <a:sym typeface="Muli Ultra-Bold"/>
              </a:rPr>
              <a:t>Các hoạt động bảo trì:</a:t>
            </a:r>
          </a:p>
        </p:txBody>
      </p:sp>
      <p:sp>
        <p:nvSpPr>
          <p:cNvPr name="Freeform 12" id="12"/>
          <p:cNvSpPr/>
          <p:nvPr/>
        </p:nvSpPr>
        <p:spPr>
          <a:xfrm flipH="true" flipV="false" rot="0">
            <a:off x="-2053973" y="6868687"/>
            <a:ext cx="8370405" cy="4779226"/>
          </a:xfrm>
          <a:custGeom>
            <a:avLst/>
            <a:gdLst/>
            <a:ahLst/>
            <a:cxnLst/>
            <a:rect r="r" b="b" t="t" l="l"/>
            <a:pathLst>
              <a:path h="4779226" w="8370405">
                <a:moveTo>
                  <a:pt x="8370405" y="0"/>
                </a:moveTo>
                <a:lnTo>
                  <a:pt x="0" y="0"/>
                </a:lnTo>
                <a:lnTo>
                  <a:pt x="0" y="4779226"/>
                </a:lnTo>
                <a:lnTo>
                  <a:pt x="8370405" y="4779226"/>
                </a:lnTo>
                <a:lnTo>
                  <a:pt x="8370405" y="0"/>
                </a:lnTo>
                <a:close/>
              </a:path>
            </a:pathLst>
          </a:custGeom>
          <a:blipFill>
            <a:blip r:embed="rId2">
              <a:extLst>
                <a:ext uri="{96DAC541-7B7A-43D3-8B79-37D633B846F1}">
                  <asvg:svgBlip xmlns:asvg="http://schemas.microsoft.com/office/drawing/2016/SVG/main" r:embed="rId3"/>
                </a:ext>
              </a:extLst>
            </a:blip>
            <a:stretch>
              <a:fillRect l="0" t="-51576" r="0" b="0"/>
            </a:stretch>
          </a:blipFill>
        </p:spPr>
      </p:sp>
      <p:sp>
        <p:nvSpPr>
          <p:cNvPr name="TextBox 13" id="13"/>
          <p:cNvSpPr txBox="true"/>
          <p:nvPr/>
        </p:nvSpPr>
        <p:spPr>
          <a:xfrm rot="0">
            <a:off x="2431210" y="136979"/>
            <a:ext cx="11279137" cy="2381597"/>
          </a:xfrm>
          <a:prstGeom prst="rect">
            <a:avLst/>
          </a:prstGeom>
        </p:spPr>
        <p:txBody>
          <a:bodyPr anchor="t" rtlCol="false" tIns="0" lIns="0" bIns="0" rIns="0">
            <a:spAutoFit/>
          </a:bodyPr>
          <a:lstStyle/>
          <a:p>
            <a:pPr algn="l">
              <a:lnSpc>
                <a:spcPts val="9514"/>
              </a:lnSpc>
              <a:spcBef>
                <a:spcPct val="0"/>
              </a:spcBef>
            </a:pPr>
            <a:r>
              <a:rPr lang="en-US" b="true" sz="6795">
                <a:solidFill>
                  <a:srgbClr val="000000"/>
                </a:solidFill>
                <a:latin typeface="Asap Bold"/>
                <a:ea typeface="Asap Bold"/>
                <a:cs typeface="Asap Bold"/>
                <a:sym typeface="Asap Bold"/>
              </a:rPr>
              <a:t>6.3 T</a:t>
            </a:r>
            <a:r>
              <a:rPr lang="en-US" b="true" sz="6795">
                <a:solidFill>
                  <a:srgbClr val="000000"/>
                </a:solidFill>
                <a:latin typeface="Asap Bold"/>
                <a:ea typeface="Asap Bold"/>
                <a:cs typeface="Asap Bold"/>
                <a:sym typeface="Asap Bold"/>
              </a:rPr>
              <a:t>riển khai mô hình</a:t>
            </a:r>
          </a:p>
          <a:p>
            <a:pPr algn="l">
              <a:lnSpc>
                <a:spcPts val="9514"/>
              </a:lnSpc>
              <a:spcBef>
                <a:spcPct val="0"/>
              </a:spcBef>
            </a:pPr>
          </a:p>
        </p:txBody>
      </p:sp>
      <p:sp>
        <p:nvSpPr>
          <p:cNvPr name="Freeform 14" id="14"/>
          <p:cNvSpPr/>
          <p:nvPr/>
        </p:nvSpPr>
        <p:spPr>
          <a:xfrm flipH="false" flipV="false" rot="0">
            <a:off x="1028700" y="356351"/>
            <a:ext cx="1012526" cy="1042864"/>
          </a:xfrm>
          <a:custGeom>
            <a:avLst/>
            <a:gdLst/>
            <a:ahLst/>
            <a:cxnLst/>
            <a:rect r="r" b="b" t="t" l="l"/>
            <a:pathLst>
              <a:path h="1042864" w="1012526">
                <a:moveTo>
                  <a:pt x="0" y="0"/>
                </a:moveTo>
                <a:lnTo>
                  <a:pt x="1012526" y="0"/>
                </a:lnTo>
                <a:lnTo>
                  <a:pt x="1012526" y="1042864"/>
                </a:lnTo>
                <a:lnTo>
                  <a:pt x="0" y="10428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9798833" y="5945505"/>
            <a:ext cx="7827693" cy="3312795"/>
          </a:xfrm>
          <a:prstGeom prst="rect">
            <a:avLst/>
          </a:prstGeom>
        </p:spPr>
        <p:txBody>
          <a:bodyPr anchor="t" rtlCol="false" tIns="0" lIns="0" bIns="0" rIns="0">
            <a:spAutoFit/>
          </a:bodyPr>
          <a:lstStyle/>
          <a:p>
            <a:pPr algn="l" marL="582930" indent="-291465" lvl="1">
              <a:lnSpc>
                <a:spcPts val="3779"/>
              </a:lnSpc>
              <a:buFont typeface="Arial"/>
              <a:buChar char="•"/>
            </a:pPr>
            <a:r>
              <a:rPr lang="en-US" sz="2700" spc="13">
                <a:solidFill>
                  <a:srgbClr val="000000"/>
                </a:solidFill>
                <a:latin typeface="Muli Light"/>
                <a:ea typeface="Muli Light"/>
                <a:cs typeface="Muli Light"/>
                <a:sym typeface="Muli Light"/>
              </a:rPr>
              <a:t>Cập</a:t>
            </a:r>
            <a:r>
              <a:rPr lang="en-US" sz="2700" spc="13">
                <a:solidFill>
                  <a:srgbClr val="000000"/>
                </a:solidFill>
                <a:latin typeface="Muli Light"/>
                <a:ea typeface="Muli Light"/>
                <a:cs typeface="Muli Light"/>
                <a:sym typeface="Muli Light"/>
              </a:rPr>
              <a:t> nhật pipeline thu thập &amp; gán nhãn.</a:t>
            </a:r>
          </a:p>
          <a:p>
            <a:pPr algn="l" marL="582930" indent="-291465" lvl="1">
              <a:lnSpc>
                <a:spcPts val="3779"/>
              </a:lnSpc>
              <a:buFont typeface="Arial"/>
              <a:buChar char="•"/>
            </a:pPr>
            <a:r>
              <a:rPr lang="en-US" sz="2700" spc="13">
                <a:solidFill>
                  <a:srgbClr val="000000"/>
                </a:solidFill>
                <a:latin typeface="Muli Light"/>
                <a:ea typeface="Muli Light"/>
                <a:cs typeface="Muli Light"/>
                <a:sym typeface="Muli Light"/>
              </a:rPr>
              <a:t>Retrain định kỳ với dữ liệu mới.</a:t>
            </a:r>
          </a:p>
          <a:p>
            <a:pPr algn="l" marL="582930" indent="-291465" lvl="1">
              <a:lnSpc>
                <a:spcPts val="3779"/>
              </a:lnSpc>
              <a:buFont typeface="Arial"/>
              <a:buChar char="•"/>
            </a:pPr>
            <a:r>
              <a:rPr lang="en-US" sz="2700" spc="13">
                <a:solidFill>
                  <a:srgbClr val="000000"/>
                </a:solidFill>
                <a:latin typeface="Muli Light"/>
                <a:ea typeface="Muli Light"/>
                <a:cs typeface="Muli Light"/>
                <a:sym typeface="Muli Light"/>
              </a:rPr>
              <a:t>Tập trung thu thập mẫu khó mà mô hình thường dự đoán sai → cải thiện hiệu suất.</a:t>
            </a:r>
          </a:p>
          <a:p>
            <a:pPr algn="l" marL="582930" indent="-291465" lvl="1">
              <a:lnSpc>
                <a:spcPts val="3779"/>
              </a:lnSpc>
              <a:buFont typeface="Arial"/>
              <a:buChar char="•"/>
            </a:pPr>
            <a:r>
              <a:rPr lang="en-US" sz="2700" spc="13">
                <a:solidFill>
                  <a:srgbClr val="000000"/>
                </a:solidFill>
                <a:latin typeface="Muli Light"/>
                <a:ea typeface="Muli Light"/>
                <a:cs typeface="Muli Light"/>
                <a:sym typeface="Muli Light"/>
              </a:rPr>
              <a:t>Theo dõi thay đổi ở môi trường sản xuất (feature mới, thay đổi nhãn).</a:t>
            </a:r>
          </a:p>
          <a:p>
            <a:pPr algn="l">
              <a:lnSpc>
                <a:spcPts val="3779"/>
              </a:lnSpc>
            </a:pPr>
          </a:p>
        </p:txBody>
      </p:sp>
      <p:sp>
        <p:nvSpPr>
          <p:cNvPr name="TextBox 16" id="16"/>
          <p:cNvSpPr txBox="true"/>
          <p:nvPr/>
        </p:nvSpPr>
        <p:spPr>
          <a:xfrm rot="0">
            <a:off x="812921" y="3378586"/>
            <a:ext cx="6190841" cy="1432217"/>
          </a:xfrm>
          <a:prstGeom prst="rect">
            <a:avLst/>
          </a:prstGeom>
        </p:spPr>
        <p:txBody>
          <a:bodyPr anchor="t" rtlCol="false" tIns="0" lIns="0" bIns="0" rIns="0">
            <a:spAutoFit/>
          </a:bodyPr>
          <a:lstStyle/>
          <a:p>
            <a:pPr algn="l" marL="591445" indent="-295723" lvl="1">
              <a:lnSpc>
                <a:spcPts val="3835"/>
              </a:lnSpc>
              <a:spcBef>
                <a:spcPct val="0"/>
              </a:spcBef>
              <a:buFont typeface="Arial"/>
              <a:buChar char="•"/>
            </a:pPr>
            <a:r>
              <a:rPr lang="en-US" sz="2739">
                <a:solidFill>
                  <a:srgbClr val="000000"/>
                </a:solidFill>
                <a:latin typeface="Asap"/>
                <a:ea typeface="Asap"/>
                <a:cs typeface="Asap"/>
                <a:sym typeface="Asap"/>
              </a:rPr>
              <a:t>M</a:t>
            </a:r>
            <a:r>
              <a:rPr lang="en-US" sz="2739">
                <a:solidFill>
                  <a:srgbClr val="000000"/>
                </a:solidFill>
                <a:latin typeface="Asap"/>
                <a:ea typeface="Asap"/>
                <a:cs typeface="Asap"/>
                <a:sym typeface="Asap"/>
              </a:rPr>
              <a:t>ục tiêu: đảm bảo mô hình duy trì hiệu quả lâu dài và thích ứng với dữ liệu thực tế.</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1028700" y="1028700"/>
            <a:ext cx="3903162" cy="489363"/>
            <a:chOff x="0" y="0"/>
            <a:chExt cx="5204217" cy="652485"/>
          </a:xfrm>
        </p:grpSpPr>
        <p:sp>
          <p:nvSpPr>
            <p:cNvPr name="TextBox 4" id="4"/>
            <p:cNvSpPr txBox="true"/>
            <p:nvPr/>
          </p:nvSpPr>
          <p:spPr>
            <a:xfrm rot="0">
              <a:off x="877820" y="55475"/>
              <a:ext cx="4326396" cy="493778"/>
            </a:xfrm>
            <a:prstGeom prst="rect">
              <a:avLst/>
            </a:prstGeom>
          </p:spPr>
          <p:txBody>
            <a:bodyPr anchor="t" rtlCol="false" tIns="0" lIns="0" bIns="0" rIns="0">
              <a:spAutoFit/>
            </a:bodyPr>
            <a:lstStyle/>
            <a:p>
              <a:pPr algn="l">
                <a:lnSpc>
                  <a:spcPts val="3081"/>
                </a:lnSpc>
                <a:spcBef>
                  <a:spcPct val="0"/>
                </a:spcBef>
              </a:pPr>
              <a:r>
                <a:rPr lang="en-US" b="true" sz="2201">
                  <a:solidFill>
                    <a:srgbClr val="F8F8F8"/>
                  </a:solidFill>
                  <a:latin typeface="Asap Bold"/>
                  <a:ea typeface="Asap Bold"/>
                  <a:cs typeface="Asap Bold"/>
                  <a:sym typeface="Asap Bold"/>
                </a:rPr>
                <a:t>NHÓM 3</a:t>
              </a:r>
            </a:p>
          </p:txBody>
        </p:sp>
        <p:sp>
          <p:nvSpPr>
            <p:cNvPr name="Freeform 5" id="5"/>
            <p:cNvSpPr/>
            <p:nvPr/>
          </p:nvSpPr>
          <p:spPr>
            <a:xfrm flipH="false" flipV="false" rot="0">
              <a:off x="0" y="0"/>
              <a:ext cx="633503" cy="652485"/>
            </a:xfrm>
            <a:custGeom>
              <a:avLst/>
              <a:gdLst/>
              <a:ahLst/>
              <a:cxnLst/>
              <a:rect r="r" b="b" t="t" l="l"/>
              <a:pathLst>
                <a:path h="652485" w="633503">
                  <a:moveTo>
                    <a:pt x="0" y="0"/>
                  </a:moveTo>
                  <a:lnTo>
                    <a:pt x="633503" y="0"/>
                  </a:lnTo>
                  <a:lnTo>
                    <a:pt x="633503" y="652485"/>
                  </a:lnTo>
                  <a:lnTo>
                    <a:pt x="0" y="6524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8010284">
            <a:off x="11274917" y="-2976531"/>
            <a:ext cx="11342890" cy="9156806"/>
          </a:xfrm>
          <a:custGeom>
            <a:avLst/>
            <a:gdLst/>
            <a:ahLst/>
            <a:cxnLst/>
            <a:rect r="r" b="b" t="t" l="l"/>
            <a:pathLst>
              <a:path h="9156806" w="11342890">
                <a:moveTo>
                  <a:pt x="0" y="0"/>
                </a:moveTo>
                <a:lnTo>
                  <a:pt x="11342890" y="0"/>
                </a:lnTo>
                <a:lnTo>
                  <a:pt x="11342890" y="9156806"/>
                </a:lnTo>
                <a:lnTo>
                  <a:pt x="0" y="91568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025505" y="2173876"/>
            <a:ext cx="8695756" cy="4086225"/>
          </a:xfrm>
          <a:prstGeom prst="rect">
            <a:avLst/>
          </a:prstGeom>
        </p:spPr>
        <p:txBody>
          <a:bodyPr anchor="t" rtlCol="false" tIns="0" lIns="0" bIns="0" rIns="0">
            <a:spAutoFit/>
          </a:bodyPr>
          <a:lstStyle/>
          <a:p>
            <a:pPr algn="l">
              <a:lnSpc>
                <a:spcPts val="8040"/>
              </a:lnSpc>
            </a:pPr>
            <a:r>
              <a:rPr lang="en-US" sz="6700" b="true">
                <a:solidFill>
                  <a:srgbClr val="F8F8F8"/>
                </a:solidFill>
                <a:latin typeface="Cabin Bold"/>
                <a:ea typeface="Cabin Bold"/>
                <a:cs typeface="Cabin Bold"/>
                <a:sym typeface="Cabin Bold"/>
              </a:rPr>
              <a:t>CẢM ƠN THẦY VÀ CÁC BẠN ĐÃ LẮNG NGHE</a:t>
            </a:r>
          </a:p>
          <a:p>
            <a:pPr algn="l">
              <a:lnSpc>
                <a:spcPts val="8040"/>
              </a:lnSpc>
            </a:pPr>
            <a:r>
              <a:rPr lang="en-US" b="true" sz="6700">
                <a:solidFill>
                  <a:srgbClr val="F8F8F8"/>
                </a:solidFill>
                <a:latin typeface="Cabin Bold"/>
                <a:ea typeface="Cabin Bold"/>
                <a:cs typeface="Cabin Bold"/>
                <a:sym typeface="Cabin Bold"/>
              </a:rPr>
              <a:t>Nếu có thắc mắc, hãy liên hệ chúng tôi.</a:t>
            </a:r>
          </a:p>
        </p:txBody>
      </p:sp>
      <p:grpSp>
        <p:nvGrpSpPr>
          <p:cNvPr name="Group 8" id="8"/>
          <p:cNvGrpSpPr/>
          <p:nvPr/>
        </p:nvGrpSpPr>
        <p:grpSpPr>
          <a:xfrm rot="0">
            <a:off x="1028700" y="8476318"/>
            <a:ext cx="4864293" cy="781784"/>
            <a:chOff x="0" y="0"/>
            <a:chExt cx="6485724" cy="1042378"/>
          </a:xfrm>
        </p:grpSpPr>
        <p:sp>
          <p:nvSpPr>
            <p:cNvPr name="TextBox 9" id="9"/>
            <p:cNvSpPr txBox="true"/>
            <p:nvPr/>
          </p:nvSpPr>
          <p:spPr>
            <a:xfrm rot="0">
              <a:off x="0" y="-19050"/>
              <a:ext cx="6485724" cy="464397"/>
            </a:xfrm>
            <a:prstGeom prst="rect">
              <a:avLst/>
            </a:prstGeom>
          </p:spPr>
          <p:txBody>
            <a:bodyPr anchor="t" rtlCol="false" tIns="0" lIns="0" bIns="0" rIns="0">
              <a:spAutoFit/>
            </a:bodyPr>
            <a:lstStyle/>
            <a:p>
              <a:pPr algn="l" marL="0" indent="0" lvl="0">
                <a:lnSpc>
                  <a:spcPts val="2859"/>
                </a:lnSpc>
                <a:spcBef>
                  <a:spcPct val="0"/>
                </a:spcBef>
              </a:pPr>
              <a:r>
                <a:rPr lang="en-US" b="true" sz="2199" spc="191" u="none">
                  <a:solidFill>
                    <a:srgbClr val="F8F8F8"/>
                  </a:solidFill>
                  <a:latin typeface="Cabin Bold"/>
                  <a:ea typeface="Cabin Bold"/>
                  <a:cs typeface="Cabin Bold"/>
                  <a:sym typeface="Cabin Bold"/>
                </a:rPr>
                <a:t>EMAIL</a:t>
              </a:r>
            </a:p>
          </p:txBody>
        </p:sp>
        <p:sp>
          <p:nvSpPr>
            <p:cNvPr name="TextBox 10" id="10"/>
            <p:cNvSpPr txBox="true"/>
            <p:nvPr/>
          </p:nvSpPr>
          <p:spPr>
            <a:xfrm rot="0">
              <a:off x="0" y="517322"/>
              <a:ext cx="6485724" cy="525145"/>
            </a:xfrm>
            <a:prstGeom prst="rect">
              <a:avLst/>
            </a:prstGeom>
          </p:spPr>
          <p:txBody>
            <a:bodyPr anchor="t" rtlCol="false" tIns="0" lIns="0" bIns="0" rIns="0">
              <a:spAutoFit/>
            </a:bodyPr>
            <a:lstStyle/>
            <a:p>
              <a:pPr algn="l">
                <a:lnSpc>
                  <a:spcPts val="3359"/>
                </a:lnSpc>
              </a:pPr>
              <a:r>
                <a:rPr lang="en-US" sz="2400">
                  <a:solidFill>
                    <a:srgbClr val="F8F8F8"/>
                  </a:solidFill>
                  <a:latin typeface="Asap"/>
                  <a:ea typeface="Asap"/>
                  <a:cs typeface="Asap"/>
                  <a:sym typeface="Asap"/>
                </a:rPr>
                <a:t>TUONGDUYMINHTU@GMAIL.COM</a:t>
              </a:r>
            </a:p>
          </p:txBody>
        </p:sp>
      </p:grpSp>
      <p:sp>
        <p:nvSpPr>
          <p:cNvPr name="TextBox 11" id="11"/>
          <p:cNvSpPr txBox="true"/>
          <p:nvPr/>
        </p:nvSpPr>
        <p:spPr>
          <a:xfrm rot="0">
            <a:off x="7192419" y="8852403"/>
            <a:ext cx="3903162" cy="405765"/>
          </a:xfrm>
          <a:prstGeom prst="rect">
            <a:avLst/>
          </a:prstGeom>
        </p:spPr>
        <p:txBody>
          <a:bodyPr anchor="t" rtlCol="false" tIns="0" lIns="0" bIns="0" rIns="0">
            <a:spAutoFit/>
          </a:bodyPr>
          <a:lstStyle/>
          <a:p>
            <a:pPr algn="l">
              <a:lnSpc>
                <a:spcPts val="3359"/>
              </a:lnSpc>
            </a:pPr>
          </a:p>
        </p:txBody>
      </p:sp>
      <p:grpSp>
        <p:nvGrpSpPr>
          <p:cNvPr name="Group 12" id="12"/>
          <p:cNvGrpSpPr/>
          <p:nvPr/>
        </p:nvGrpSpPr>
        <p:grpSpPr>
          <a:xfrm rot="0">
            <a:off x="13356138" y="8476318"/>
            <a:ext cx="3903162" cy="781784"/>
            <a:chOff x="0" y="0"/>
            <a:chExt cx="5204217" cy="1042378"/>
          </a:xfrm>
        </p:grpSpPr>
        <p:sp>
          <p:nvSpPr>
            <p:cNvPr name="TextBox 13" id="13"/>
            <p:cNvSpPr txBox="true"/>
            <p:nvPr/>
          </p:nvSpPr>
          <p:spPr>
            <a:xfrm rot="0">
              <a:off x="0" y="-19050"/>
              <a:ext cx="5204217" cy="464397"/>
            </a:xfrm>
            <a:prstGeom prst="rect">
              <a:avLst/>
            </a:prstGeom>
          </p:spPr>
          <p:txBody>
            <a:bodyPr anchor="t" rtlCol="false" tIns="0" lIns="0" bIns="0" rIns="0">
              <a:spAutoFit/>
            </a:bodyPr>
            <a:lstStyle/>
            <a:p>
              <a:pPr algn="l" marL="0" indent="0" lvl="0">
                <a:lnSpc>
                  <a:spcPts val="2859"/>
                </a:lnSpc>
                <a:spcBef>
                  <a:spcPct val="0"/>
                </a:spcBef>
              </a:pPr>
              <a:r>
                <a:rPr lang="en-US" b="true" sz="2199" spc="191" u="none">
                  <a:solidFill>
                    <a:srgbClr val="F8F8F8"/>
                  </a:solidFill>
                  <a:latin typeface="Cabin Bold"/>
                  <a:ea typeface="Cabin Bold"/>
                  <a:cs typeface="Cabin Bold"/>
                  <a:sym typeface="Cabin Bold"/>
                </a:rPr>
                <a:t>ĐIỆN THOẠI</a:t>
              </a:r>
            </a:p>
          </p:txBody>
        </p:sp>
        <p:sp>
          <p:nvSpPr>
            <p:cNvPr name="TextBox 14" id="14"/>
            <p:cNvSpPr txBox="true"/>
            <p:nvPr/>
          </p:nvSpPr>
          <p:spPr>
            <a:xfrm rot="0">
              <a:off x="0" y="517322"/>
              <a:ext cx="5204217" cy="525145"/>
            </a:xfrm>
            <a:prstGeom prst="rect">
              <a:avLst/>
            </a:prstGeom>
          </p:spPr>
          <p:txBody>
            <a:bodyPr anchor="t" rtlCol="false" tIns="0" lIns="0" bIns="0" rIns="0">
              <a:spAutoFit/>
            </a:bodyPr>
            <a:lstStyle/>
            <a:p>
              <a:pPr algn="l">
                <a:lnSpc>
                  <a:spcPts val="3359"/>
                </a:lnSpc>
              </a:pPr>
              <a:r>
                <a:rPr lang="en-US" sz="2400">
                  <a:solidFill>
                    <a:srgbClr val="F8F8F8"/>
                  </a:solidFill>
                  <a:latin typeface="Asap"/>
                  <a:ea typeface="Asap"/>
                  <a:cs typeface="Asap"/>
                  <a:sym typeface="Asap"/>
                </a:rPr>
                <a:t>0336644838</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DAGzSrq92pA</dc:identifier>
  <dcterms:modified xsi:type="dcterms:W3CDTF">2011-08-01T06:04:30Z</dcterms:modified>
  <cp:revision>1</cp:revision>
  <dc:title>Bản đề xuất dự án Thuyết trình doanh nghiệp theo Phong cách Công nghệ Trừu tượng Xanh dương Đậm Hồng</dc:title>
</cp:coreProperties>
</file>