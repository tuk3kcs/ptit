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22" r:id="rId3"/>
    <p:sldMasterId id="2147483723" r:id="rId4"/>
    <p:sldMasterId id="2147483724" r:id="rId5"/>
    <p:sldMasterId id="2147483725" r:id="rId6"/>
    <p:sldMasterId id="2147483726" r:id="rId7"/>
    <p:sldMasterId id="2147483727" r:id="rId8"/>
  </p:sldMasterIdLst>
  <p:notesMasterIdLst>
    <p:notesMasterId r:id="rId9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  <p:sldId id="279" r:id="rId33"/>
    <p:sldId id="280" r:id="rId34"/>
    <p:sldId id="281" r:id="rId35"/>
    <p:sldId id="282" r:id="rId36"/>
    <p:sldId id="283" r:id="rId37"/>
    <p:sldId id="284" r:id="rId38"/>
    <p:sldId id="285" r:id="rId39"/>
    <p:sldId id="286" r:id="rId40"/>
    <p:sldId id="287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95" r:id="rId49"/>
    <p:sldId id="296" r:id="rId50"/>
    <p:sldId id="297" r:id="rId51"/>
    <p:sldId id="298" r:id="rId52"/>
    <p:sldId id="299" r:id="rId53"/>
  </p:sldIdLst>
  <p:sldSz cy="5143500" cx="9144000"/>
  <p:notesSz cx="6858000" cy="9144000"/>
  <p:embeddedFontLst>
    <p:embeddedFont>
      <p:font typeface="Roboto"/>
      <p:regular r:id="rId54"/>
      <p:bold r:id="rId55"/>
      <p:italic r:id="rId56"/>
      <p:boldItalic r:id="rId57"/>
    </p:embeddedFont>
    <p:embeddedFont>
      <p:font typeface="Roboto Condensed"/>
      <p:regular r:id="rId58"/>
      <p:bold r:id="rId59"/>
      <p:italic r:id="rId60"/>
      <p:boldItalic r:id="rId61"/>
    </p:embeddedFont>
    <p:embeddedFont>
      <p:font typeface="Open Sans"/>
      <p:regular r:id="rId62"/>
      <p:bold r:id="rId63"/>
      <p:italic r:id="rId64"/>
      <p:boldItalic r:id="rId6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1.xml"/><Relationship Id="rId42" Type="http://schemas.openxmlformats.org/officeDocument/2006/relationships/slide" Target="slides/slide33.xml"/><Relationship Id="rId41" Type="http://schemas.openxmlformats.org/officeDocument/2006/relationships/slide" Target="slides/slide32.xml"/><Relationship Id="rId44" Type="http://schemas.openxmlformats.org/officeDocument/2006/relationships/slide" Target="slides/slide35.xml"/><Relationship Id="rId43" Type="http://schemas.openxmlformats.org/officeDocument/2006/relationships/slide" Target="slides/slide34.xml"/><Relationship Id="rId46" Type="http://schemas.openxmlformats.org/officeDocument/2006/relationships/slide" Target="slides/slide37.xml"/><Relationship Id="rId45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notesMaster" Target="notesMasters/notesMaster1.xml"/><Relationship Id="rId48" Type="http://schemas.openxmlformats.org/officeDocument/2006/relationships/slide" Target="slides/slide39.xml"/><Relationship Id="rId47" Type="http://schemas.openxmlformats.org/officeDocument/2006/relationships/slide" Target="slides/slide38.xml"/><Relationship Id="rId49" Type="http://schemas.openxmlformats.org/officeDocument/2006/relationships/slide" Target="slides/slide40.xml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slideMaster" Target="slideMasters/slideMaster5.xml"/><Relationship Id="rId8" Type="http://schemas.openxmlformats.org/officeDocument/2006/relationships/slideMaster" Target="slideMasters/slideMaster6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5" Type="http://schemas.openxmlformats.org/officeDocument/2006/relationships/slide" Target="slides/slide26.xml"/><Relationship Id="rId34" Type="http://schemas.openxmlformats.org/officeDocument/2006/relationships/slide" Target="slides/slide25.xml"/><Relationship Id="rId37" Type="http://schemas.openxmlformats.org/officeDocument/2006/relationships/slide" Target="slides/slide28.xml"/><Relationship Id="rId36" Type="http://schemas.openxmlformats.org/officeDocument/2006/relationships/slide" Target="slides/slide27.xml"/><Relationship Id="rId39" Type="http://schemas.openxmlformats.org/officeDocument/2006/relationships/slide" Target="slides/slide30.xml"/><Relationship Id="rId38" Type="http://schemas.openxmlformats.org/officeDocument/2006/relationships/slide" Target="slides/slide29.xml"/><Relationship Id="rId62" Type="http://schemas.openxmlformats.org/officeDocument/2006/relationships/font" Target="fonts/OpenSans-regular.fntdata"/><Relationship Id="rId61" Type="http://schemas.openxmlformats.org/officeDocument/2006/relationships/font" Target="fonts/RobotoCondensed-boldItalic.fntdata"/><Relationship Id="rId20" Type="http://schemas.openxmlformats.org/officeDocument/2006/relationships/slide" Target="slides/slide11.xml"/><Relationship Id="rId64" Type="http://schemas.openxmlformats.org/officeDocument/2006/relationships/font" Target="fonts/OpenSans-italic.fntdata"/><Relationship Id="rId63" Type="http://schemas.openxmlformats.org/officeDocument/2006/relationships/font" Target="fonts/OpenSans-bold.fntdata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65" Type="http://schemas.openxmlformats.org/officeDocument/2006/relationships/font" Target="fonts/OpenSans-boldItalic.fntdata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60" Type="http://schemas.openxmlformats.org/officeDocument/2006/relationships/font" Target="fonts/RobotoCondensed-italic.fntdata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9" Type="http://schemas.openxmlformats.org/officeDocument/2006/relationships/slide" Target="slides/slide20.xml"/><Relationship Id="rId51" Type="http://schemas.openxmlformats.org/officeDocument/2006/relationships/slide" Target="slides/slide42.xml"/><Relationship Id="rId50" Type="http://schemas.openxmlformats.org/officeDocument/2006/relationships/slide" Target="slides/slide41.xml"/><Relationship Id="rId53" Type="http://schemas.openxmlformats.org/officeDocument/2006/relationships/slide" Target="slides/slide44.xml"/><Relationship Id="rId52" Type="http://schemas.openxmlformats.org/officeDocument/2006/relationships/slide" Target="slides/slide43.xml"/><Relationship Id="rId11" Type="http://schemas.openxmlformats.org/officeDocument/2006/relationships/slide" Target="slides/slide2.xml"/><Relationship Id="rId55" Type="http://schemas.openxmlformats.org/officeDocument/2006/relationships/font" Target="fonts/Roboto-bold.fntdata"/><Relationship Id="rId10" Type="http://schemas.openxmlformats.org/officeDocument/2006/relationships/slide" Target="slides/slide1.xml"/><Relationship Id="rId54" Type="http://schemas.openxmlformats.org/officeDocument/2006/relationships/font" Target="fonts/Roboto-regular.fntdata"/><Relationship Id="rId13" Type="http://schemas.openxmlformats.org/officeDocument/2006/relationships/slide" Target="slides/slide4.xml"/><Relationship Id="rId57" Type="http://schemas.openxmlformats.org/officeDocument/2006/relationships/font" Target="fonts/Roboto-boldItalic.fntdata"/><Relationship Id="rId12" Type="http://schemas.openxmlformats.org/officeDocument/2006/relationships/slide" Target="slides/slide3.xml"/><Relationship Id="rId56" Type="http://schemas.openxmlformats.org/officeDocument/2006/relationships/font" Target="fonts/Roboto-italic.fntdata"/><Relationship Id="rId15" Type="http://schemas.openxmlformats.org/officeDocument/2006/relationships/slide" Target="slides/slide6.xml"/><Relationship Id="rId59" Type="http://schemas.openxmlformats.org/officeDocument/2006/relationships/font" Target="fonts/RobotoCondensed-bold.fntdata"/><Relationship Id="rId14" Type="http://schemas.openxmlformats.org/officeDocument/2006/relationships/slide" Target="slides/slide5.xml"/><Relationship Id="rId58" Type="http://schemas.openxmlformats.org/officeDocument/2006/relationships/font" Target="fonts/RobotoCondensed-regular.fntdata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9" Type="http://schemas.openxmlformats.org/officeDocument/2006/relationships/slide" Target="slides/slide10.xml"/><Relationship Id="rId18" Type="http://schemas.openxmlformats.org/officeDocument/2006/relationships/slide" Target="slides/slide9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3" name="Google Shape;423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1880535e8d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1880535e8d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1880535e8d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1880535e8d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1880535e8d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1880535e8d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1642616e06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9" name="Google Shape;459;g1642616e06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168fdf4f4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8" name="Google Shape;468;g168fdf4f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642616e06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642616e06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642616e0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642616e0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method depends on the use case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1880535e8d_0_3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8" name="Google Shape;498;g1880535e8d_0_3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1880535e8d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1880535e8d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1880535e8d_0_3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1880535e8d_0_3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1880535e8d_0_3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g1880535e8d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1642616e06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1642616e06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1880535e8d_0_5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9" name="Google Shape;539;g1880535e8d_0_5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1880535e8d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5" name="Google Shape;555;g1880535e8d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1880535e8d_0_5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1880535e8d_0_5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1642616e0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1642616e0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880535e8d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880535e8d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880535e8d_0_5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880535e8d_0_5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880535e8d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880535e8d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880535e8d_0_5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880535e8d_0_5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g1642616e0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0" name="Google Shape;610;g1642616e0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g1642616e06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8" name="Google Shape;618;g1642616e06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3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880535e8d_0_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880535e8d_0_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1880535e8d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1" name="Google Shape;631;g1880535e8d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g1880535e8d_0_6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8" name="Google Shape;638;g1880535e8d_0_6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1880535e8d_0_6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1880535e8d_0_6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g1880535e8d_0_7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3" name="Google Shape;653;g1880535e8d_0_7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g1880535e8d_0_8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0" name="Google Shape;660;g1880535e8d_0_8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1880535e8d_0_6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1880535e8d_0_6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1880535e8d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1880535e8d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1880535e8d_0_6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1880535e8d_0_6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g1880535e8d_0_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6" name="Google Shape;706;g1880535e8d_0_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1880535e8d_0_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3" name="Google Shape;713;g1880535e8d_0_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g188687975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0" name="Google Shape;720;g188687975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1880535e8d_0_6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1880535e8d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1880535e8d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1880535e8d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880535e8d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1" name="Google Shape;741;g1880535e8d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880535e8d_0_8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1880535e8d_0_8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g1880535e8d_0_8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5" name="Google Shape;755;g1880535e8d_0_8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g1880535e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2" name="Google Shape;762;g1880535e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880535e8d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880535e8d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1880535e8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1880535e8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Relationship Id="rId3" Type="http://schemas.openxmlformats.org/officeDocument/2006/relationships/image" Target="../media/image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jp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hyperlink" Target="http://creativecommons.org/licenses/by-nc/4.0/" TargetMode="Externa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4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Relationship Id="rId3" Type="http://schemas.openxmlformats.org/officeDocument/2006/relationships/image" Target="../media/image6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2.jpg"/><Relationship Id="rId3" Type="http://schemas.openxmlformats.org/officeDocument/2006/relationships/image" Target="../media/image6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4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6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" name="Google Shape;37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" name="Google Shape;42;p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52" name="Google Shape;5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0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Background Tasks - Lesson 7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66" name="Google Shape;66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8" name="Google Shape;68;p1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" name="Google Shape;69;p1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1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1" name="Google Shape;71;p1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72" name="Google Shape;7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3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44072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92" name="Google Shape;92;p16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6" name="Google Shape;96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01" name="Google Shape;101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4" name="Google Shape;104;p19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0" name="Google Shape;110;p2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8" name="Google Shape;118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2" name="Google Shape;122;p2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2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27" name="Google Shape;127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3" name="Google Shape;133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34" name="Google Shape;13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6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6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26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9" name="Google Shape;139;p26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26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26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6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9" name="Google Shape;159;p29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0" name="Google Shape;160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3" name="Google Shape;163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68" name="Google Shape;168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2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2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2" name="Google Shape;172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3" name="Google Shape;173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7" name="Google Shape;177;p3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3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82" name="Google Shape;182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5" name="Google Shape;185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0" name="Google Shape;190;p3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1" name="Google Shape;191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94" name="Google Shape;194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8" name="Google Shape;198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00" name="Google Shape;200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2" name="Google Shape;202;p39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3" name="Google Shape;203;p3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04" name="Google Shape;204;p3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05" name="Google Shape;205;p39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206" name="Google Shape;2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39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8" name="Google Shape;208;p39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23" name="Google Shape;223;p4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4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27" name="Google Shape;227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32" name="Google Shape;232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6" name="Google Shape;236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7" name="Google Shape;237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4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5" name="Google Shape;245;p4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6" name="Google Shape;246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49" name="Google Shape;249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9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4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3" name="Google Shape;253;p4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54" name="Google Shape;254;p4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5" name="Google Shape;255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5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58" name="Google Shape;258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1" name="Google Shape;261;p5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62" name="Google Shape;262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64" name="Google Shape;264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65" name="Google Shape;26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2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8" name="Google Shape;268;p5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5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0" name="Google Shape;270;p5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1" name="Google Shape;271;p5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73" name="Google Shape;273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52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5" name="Google Shape;275;p52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90" name="Google Shape;290;p5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91" name="Google Shape;291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4" name="Google Shape;294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8" name="Google Shape;298;p5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99" name="Google Shape;299;p5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2" name="Google Shape;302;p5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3" name="Google Shape;303;p5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4" name="Google Shape;304;p5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5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8" name="Google Shape;308;p5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5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2" name="Google Shape;312;p6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3" name="Google Shape;313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6" name="Google Shape;316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62"/>
          <p:cNvSpPr/>
          <p:nvPr/>
        </p:nvSpPr>
        <p:spPr>
          <a:xfrm>
            <a:off x="4572000" y="-125"/>
            <a:ext cx="4572000" cy="46497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6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20" name="Google Shape;320;p6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21" name="Google Shape;321;p6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2" name="Google Shape;322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6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325" name="Google Shape;325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28" name="Google Shape;328;p6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9" name="Google Shape;329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331" name="Google Shape;331;p6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6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4" name="Google Shape;334;p6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35" name="Google Shape;335;p6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36" name="Google Shape;336;p6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337" name="Google Shape;337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65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9" name="Google Shape;339;p65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6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41" name="Google Shape;341;p6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65"/>
          <p:cNvSpPr txBox="1"/>
          <p:nvPr/>
        </p:nvSpPr>
        <p:spPr>
          <a:xfrm>
            <a:off x="4449813" y="4672575"/>
            <a:ext cx="11058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Testing the User Interface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57" name="Google Shape;357;p6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58" name="Google Shape;358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4CAF50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61" name="Google Shape;361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7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7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366" name="Google Shape;366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9" name="Google Shape;369;p7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0" name="Google Shape;370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1" name="Google Shape;371;p7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7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header and two columns">
  <p:cSld name="TITLE_AND_TWO_COLUMNS_1"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72"/>
          <p:cNvSpPr txBox="1"/>
          <p:nvPr>
            <p:ph idx="1" type="body"/>
          </p:nvPr>
        </p:nvSpPr>
        <p:spPr>
          <a:xfrm>
            <a:off x="3117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5" name="Google Shape;375;p72"/>
          <p:cNvSpPr txBox="1"/>
          <p:nvPr>
            <p:ph idx="2" type="body"/>
          </p:nvPr>
        </p:nvSpPr>
        <p:spPr>
          <a:xfrm>
            <a:off x="4832400" y="1862349"/>
            <a:ext cx="3999900" cy="27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6" name="Google Shape;376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7" name="Google Shape;377;p7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7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9" name="Google Shape;379;p72"/>
          <p:cNvSpPr txBox="1"/>
          <p:nvPr>
            <p:ph idx="3" type="subTitle"/>
          </p:nvPr>
        </p:nvSpPr>
        <p:spPr>
          <a:xfrm>
            <a:off x="311700" y="1212425"/>
            <a:ext cx="8520600" cy="4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2" name="Google Shape;382;p7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7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6" name="Google Shape;386;p7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7" name="Google Shape;387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0" name="Google Shape;390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split.png" id="392" name="Google Shape;392;p7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7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4" name="Google Shape;394;p7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5" name="Google Shape;395;p7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397" name="Google Shape;397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76"/>
          <p:cNvSpPr txBox="1"/>
          <p:nvPr/>
        </p:nvSpPr>
        <p:spPr>
          <a:xfrm>
            <a:off x="2381675" y="4761375"/>
            <a:ext cx="55089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  </a:t>
            </a:r>
            <a:r>
              <a:rPr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Background Tasks - Lesson 7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77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01" name="Google Shape;401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7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4" name="Google Shape;404;p7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5" name="Google Shape;405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407" name="Google Shape;407;p7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9" name="Google Shape;409;p79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0" name="Google Shape;410;p79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1" name="Google Shape;411;p79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2" name="Google Shape;412;p79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413" name="Google Shape;413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79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5" name="Google Shape;415;p79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79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417" name="Google Shape;417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4575" y="4777363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79"/>
          <p:cNvSpPr txBox="1"/>
          <p:nvPr/>
        </p:nvSpPr>
        <p:spPr>
          <a:xfrm>
            <a:off x="4394425" y="47642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image" Target="../media/image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47.xml"/><Relationship Id="rId12" Type="http://schemas.openxmlformats.org/officeDocument/2006/relationships/slideLayout" Target="../slideLayouts/slideLayout46.xml"/><Relationship Id="rId1" Type="http://schemas.openxmlformats.org/officeDocument/2006/relationships/image" Target="../media/image1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49.xml"/><Relationship Id="rId14" Type="http://schemas.openxmlformats.org/officeDocument/2006/relationships/slideLayout" Target="../slideLayouts/slideLayout48.xml"/><Relationship Id="rId16" Type="http://schemas.openxmlformats.org/officeDocument/2006/relationships/theme" Target="../theme/theme7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/Relationships>
</file>

<file path=ppt/slideMasters/_rels/slideMaster5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" Type="http://schemas.openxmlformats.org/officeDocument/2006/relationships/image" Target="../media/image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/Relationships>
</file>

<file path=ppt/slideMasters/_rels/slideMaster6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1.xml"/><Relationship Id="rId12" Type="http://schemas.openxmlformats.org/officeDocument/2006/relationships/slideLayout" Target="../slideLayouts/slideLayout70.xml"/><Relationship Id="rId1" Type="http://schemas.openxmlformats.org/officeDocument/2006/relationships/image" Target="../media/image6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62.xml"/><Relationship Id="rId9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73.xml"/><Relationship Id="rId14" Type="http://schemas.openxmlformats.org/officeDocument/2006/relationships/slideLayout" Target="../slideLayouts/slideLayout72.xml"/><Relationship Id="rId17" Type="http://schemas.openxmlformats.org/officeDocument/2006/relationships/theme" Target="../theme/theme4.xml"/><Relationship Id="rId1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44072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0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81" name="Google Shape;8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5" name="Google Shape;85;p15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 txBox="1"/>
          <p:nvPr/>
        </p:nvSpPr>
        <p:spPr>
          <a:xfrm>
            <a:off x="44072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5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9" name="Google Shape;8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8" name="Google Shape;148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51" name="Google Shape;151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/>
        </p:nvSpPr>
        <p:spPr>
          <a:xfrm>
            <a:off x="44834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12" name="Google Shape;212;p4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4" name="Google Shape;214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5" name="Google Shape;215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4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41"/>
          <p:cNvSpPr txBox="1"/>
          <p:nvPr/>
        </p:nvSpPr>
        <p:spPr>
          <a:xfrm>
            <a:off x="44072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41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9" name="Google Shape;219;p4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20" name="Google Shape;220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79" name="Google Shape;279;p5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1" name="Google Shape;281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82" name="Google Shape;282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5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54"/>
          <p:cNvSpPr txBox="1"/>
          <p:nvPr/>
        </p:nvSpPr>
        <p:spPr>
          <a:xfrm>
            <a:off x="44072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5" name="Google Shape;285;p54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6" name="Google Shape;286;p54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87" name="Google Shape;28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346" name="Google Shape;346;p6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8" name="Google Shape;348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49" name="Google Shape;349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6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67"/>
          <p:cNvSpPr txBox="1"/>
          <p:nvPr/>
        </p:nvSpPr>
        <p:spPr>
          <a:xfrm>
            <a:off x="4407225" y="4663650"/>
            <a:ext cx="12876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AsyncTask and AsyncTaskLoader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67"/>
          <p:cNvSpPr txBox="1"/>
          <p:nvPr/>
        </p:nvSpPr>
        <p:spPr>
          <a:xfrm>
            <a:off x="2229275" y="4761375"/>
            <a:ext cx="23142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67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54" name="Google Shape;354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94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19" r:id="rId14"/>
    <p:sldLayoutId id="2147483720" r:id="rId15"/>
    <p:sldLayoutId id="2147483721" r:id="rId16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os/AsyncTask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content/AsyncTaskLoader.html" TargetMode="External"/><Relationship Id="rId4" Type="http://schemas.openxmlformats.org/officeDocument/2006/relationships/hyperlink" Target="https://developer.android.com/reference/android/content/CursorLoader.html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developer.android.com/reference/android/content/AsyncTaskLoader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Relationship Id="rId3" Type="http://schemas.openxmlformats.org/officeDocument/2006/relationships/hyperlink" Target="https://developer.android.com/reference/android/os/AsyncTask.html" TargetMode="External"/><Relationship Id="rId4" Type="http://schemas.openxmlformats.org/officeDocument/2006/relationships/hyperlink" Target="https://developer.android.com/reference/android/content/AsyncTaskLoader.html" TargetMode="External"/><Relationship Id="rId5" Type="http://schemas.openxmlformats.org/officeDocument/2006/relationships/hyperlink" Target="https://developer.android.com/reference/android/app/LoaderManager.html" TargetMode="External"/><Relationship Id="rId6" Type="http://schemas.openxmlformats.org/officeDocument/2006/relationships/hyperlink" Target="https://developer.android.com/guide/components/processes-and-threads.html" TargetMode="External"/><Relationship Id="rId7" Type="http://schemas.openxmlformats.org/officeDocument/2006/relationships/hyperlink" Target="https://developer.android.com/guide/components/loaders.html" TargetMode="External"/><Relationship Id="rId8" Type="http://schemas.openxmlformats.org/officeDocument/2006/relationships/hyperlink" Target="https://medium.com/google-developers/exceed-the-android-speed-limit-b73a0692abc1#.6nobg01yp" TargetMode="Externa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3.xml"/><Relationship Id="rId3" Type="http://schemas.openxmlformats.org/officeDocument/2006/relationships/hyperlink" Target="https://google-developer-training.gitbooks.io/android-developer-fundamentals-course-concepts/content/en/Unit%203/71c_asynctask_and_asynctaskloader_md.html" TargetMode="External"/><Relationship Id="rId4" Type="http://schemas.openxmlformats.org/officeDocument/2006/relationships/hyperlink" Target="https://codelabs.developers.google.com/codelabs/android-training-create-asynctask" TargetMode="Externa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81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7" name="Google Shape;427;p81"/>
          <p:cNvSpPr txBox="1"/>
          <p:nvPr>
            <p:ph type="title"/>
          </p:nvPr>
        </p:nvSpPr>
        <p:spPr>
          <a:xfrm>
            <a:off x="265500" y="14708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Background Tasks</a:t>
            </a:r>
            <a:endParaRPr/>
          </a:p>
        </p:txBody>
      </p:sp>
      <p:sp>
        <p:nvSpPr>
          <p:cNvPr id="428" name="Google Shape;428;p8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7</a:t>
            </a:r>
            <a:endParaRPr/>
          </a:p>
        </p:txBody>
      </p:sp>
      <p:sp>
        <p:nvSpPr>
          <p:cNvPr id="429" name="Google Shape;429;p81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0" name="Google Shape;430;p8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82"/>
          <p:cNvSpPr txBox="1"/>
          <p:nvPr>
            <p:ph type="ctrTitle"/>
          </p:nvPr>
        </p:nvSpPr>
        <p:spPr>
          <a:xfrm>
            <a:off x="311700" y="473401"/>
            <a:ext cx="8520600" cy="3209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7.1 AsyncTask </a:t>
            </a:r>
            <a:br>
              <a:rPr lang="en"/>
            </a:br>
            <a:r>
              <a:rPr lang="en"/>
              <a:t>and</a:t>
            </a:r>
            <a:br>
              <a:rPr lang="en"/>
            </a:br>
            <a:r>
              <a:rPr lang="en"/>
              <a:t> AsyncTaskLoader</a:t>
            </a:r>
            <a:endParaRPr/>
          </a:p>
        </p:txBody>
      </p:sp>
      <p:sp>
        <p:nvSpPr>
          <p:cNvPr id="436" name="Google Shape;436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8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2" name="Google Shape;442;p83"/>
          <p:cNvSpPr txBox="1"/>
          <p:nvPr>
            <p:ph idx="1" type="body"/>
          </p:nvPr>
        </p:nvSpPr>
        <p:spPr>
          <a:xfrm>
            <a:off x="387900" y="1381075"/>
            <a:ext cx="8291100" cy="30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Threads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AsyncTask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Loaders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AsyncTaskLoader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43" name="Google Shape;443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84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Threads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8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main thread</a:t>
            </a:r>
            <a:endParaRPr/>
          </a:p>
        </p:txBody>
      </p:sp>
      <p:sp>
        <p:nvSpPr>
          <p:cNvPr id="455" name="Google Shape;455;p8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Independent path of execution in a running program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Code is executed line by line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</a:t>
            </a:r>
            <a:r>
              <a:rPr lang="en"/>
              <a:t>pp runs on Java thread called "main" or "UI thread"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Draws UI on the screen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Responds to user actions by handling UI events</a:t>
            </a:r>
            <a:endParaRPr/>
          </a:p>
        </p:txBody>
      </p:sp>
      <p:sp>
        <p:nvSpPr>
          <p:cNvPr id="456" name="Google Shape;456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lang="en"/>
              <a:t>Main thread must be fast</a:t>
            </a:r>
            <a:endParaRPr/>
          </a:p>
        </p:txBody>
      </p:sp>
      <p:sp>
        <p:nvSpPr>
          <p:cNvPr id="462" name="Google Shape;462;p86"/>
          <p:cNvSpPr txBox="1"/>
          <p:nvPr>
            <p:ph idx="1" type="body"/>
          </p:nvPr>
        </p:nvSpPr>
        <p:spPr>
          <a:xfrm>
            <a:off x="311700" y="1076275"/>
            <a:ext cx="8520600" cy="18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H</a:t>
            </a:r>
            <a:r>
              <a:rPr lang="en"/>
              <a:t>ardware updates screen every 16 milliseconds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UI thread has 16 ms to do all its work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it takes too long, app stutters or hangs</a:t>
            </a:r>
            <a:endParaRPr/>
          </a:p>
        </p:txBody>
      </p:sp>
      <p:sp>
        <p:nvSpPr>
          <p:cNvPr id="463" name="Google Shape;463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4" name="Google Shape;464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830375"/>
            <a:ext cx="7907711" cy="175664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86"/>
          <p:cNvSpPr/>
          <p:nvPr/>
        </p:nvSpPr>
        <p:spPr>
          <a:xfrm>
            <a:off x="4539150" y="2875300"/>
            <a:ext cx="1138428" cy="824634"/>
          </a:xfrm>
          <a:prstGeom prst="irregularSeal1">
            <a:avLst/>
          </a:prstGeom>
          <a:solidFill>
            <a:srgbClr val="CC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FFFF"/>
                </a:solidFill>
              </a:rPr>
              <a:t>WAIT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Users uninstall unresponsive apps </a:t>
            </a:r>
            <a:endParaRPr/>
          </a:p>
        </p:txBody>
      </p:sp>
      <p:sp>
        <p:nvSpPr>
          <p:cNvPr id="471" name="Google Shape;471;p87"/>
          <p:cNvSpPr txBox="1"/>
          <p:nvPr>
            <p:ph idx="1" type="body"/>
          </p:nvPr>
        </p:nvSpPr>
        <p:spPr>
          <a:xfrm>
            <a:off x="311700" y="1076275"/>
            <a:ext cx="517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If the UI waits too long for an operation to finish, it becomes unresponsive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/>
              <a:t>The framework shows an Application Not Responding (ANR) dialog</a:t>
            </a:r>
            <a:endParaRPr/>
          </a:p>
        </p:txBody>
      </p:sp>
      <p:sp>
        <p:nvSpPr>
          <p:cNvPr id="472" name="Google Shape;472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73" name="Google Shape;473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2925" y="1882800"/>
            <a:ext cx="3332150" cy="178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9" name="Google Shape;479;p88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long running task?</a:t>
            </a:r>
            <a:endParaRPr/>
          </a:p>
        </p:txBody>
      </p:sp>
      <p:sp>
        <p:nvSpPr>
          <p:cNvPr id="480" name="Google Shape;480;p88"/>
          <p:cNvSpPr txBox="1"/>
          <p:nvPr>
            <p:ph idx="1" type="body"/>
          </p:nvPr>
        </p:nvSpPr>
        <p:spPr>
          <a:xfrm>
            <a:off x="311700" y="1076275"/>
            <a:ext cx="8058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Network operations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Long calculations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Downloading/uploading files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Processing images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Loading data </a:t>
            </a:r>
            <a:endParaRPr/>
          </a:p>
        </p:txBody>
      </p:sp>
      <p:sp>
        <p:nvSpPr>
          <p:cNvPr id="481" name="Google Shape;481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long running task?</a:t>
            </a:r>
            <a:endParaRPr/>
          </a:p>
        </p:txBody>
      </p:sp>
      <p:pic>
        <p:nvPicPr>
          <p:cNvPr id="482" name="Google Shape;482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8301" y="2275700"/>
            <a:ext cx="2140401" cy="213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threads</a:t>
            </a:r>
            <a:endParaRPr/>
          </a:p>
        </p:txBody>
      </p:sp>
      <p:sp>
        <p:nvSpPr>
          <p:cNvPr id="488" name="Google Shape;488;p89"/>
          <p:cNvSpPr txBox="1"/>
          <p:nvPr>
            <p:ph idx="1" type="body"/>
          </p:nvPr>
        </p:nvSpPr>
        <p:spPr>
          <a:xfrm>
            <a:off x="311700" y="1000075"/>
            <a:ext cx="8297400" cy="243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Execute long running tasks on a </a:t>
            </a:r>
            <a:r>
              <a:rPr b="1" lang="en"/>
              <a:t>background thread</a:t>
            </a:r>
            <a:r>
              <a:rPr lang="en"/>
              <a:t> 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AsyncTask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The Loader Framework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Services</a:t>
            </a:r>
            <a:endParaRPr/>
          </a:p>
        </p:txBody>
      </p:sp>
      <p:sp>
        <p:nvSpPr>
          <p:cNvPr id="489" name="Google Shape;489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0" name="Google Shape;490;p89"/>
          <p:cNvSpPr/>
          <p:nvPr/>
        </p:nvSpPr>
        <p:spPr>
          <a:xfrm>
            <a:off x="3028938" y="1767675"/>
            <a:ext cx="5992200" cy="7413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Main Thread (UI Thread)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1" name="Google Shape;491;p89"/>
          <p:cNvSpPr/>
          <p:nvPr/>
        </p:nvSpPr>
        <p:spPr>
          <a:xfrm>
            <a:off x="3123978" y="4011904"/>
            <a:ext cx="5067900" cy="473738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Worker Thread</a:t>
            </a:r>
            <a:endParaRPr sz="24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92" name="Google Shape;492;p89"/>
          <p:cNvCxnSpPr>
            <a:endCxn id="493" idx="1"/>
          </p:cNvCxnSpPr>
          <p:nvPr/>
        </p:nvCxnSpPr>
        <p:spPr>
          <a:xfrm flipH="1" rot="-5400000">
            <a:off x="3978662" y="3009948"/>
            <a:ext cx="1908600" cy="550200"/>
          </a:xfrm>
          <a:prstGeom prst="curvedConnector2">
            <a:avLst/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3" name="Google Shape;493;p89"/>
          <p:cNvSpPr/>
          <p:nvPr/>
        </p:nvSpPr>
        <p:spPr>
          <a:xfrm>
            <a:off x="5208062" y="4106740"/>
            <a:ext cx="1533753" cy="265216"/>
          </a:xfrm>
          <a:prstGeom prst="rect">
            <a:avLst/>
          </a:prstGeom>
          <a:solidFill>
            <a:srgbClr val="68B53C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Do some work</a:t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cxnSp>
        <p:nvCxnSpPr>
          <p:cNvPr id="494" name="Google Shape;494;p89"/>
          <p:cNvCxnSpPr>
            <a:stCxn id="493" idx="3"/>
            <a:endCxn id="495" idx="1"/>
          </p:cNvCxnSpPr>
          <p:nvPr/>
        </p:nvCxnSpPr>
        <p:spPr>
          <a:xfrm flipH="1" rot="10800000">
            <a:off x="6741815" y="2330448"/>
            <a:ext cx="632700" cy="1908900"/>
          </a:xfrm>
          <a:prstGeom prst="curvedConnector3">
            <a:avLst>
              <a:gd fmla="val 49997" name="adj1"/>
            </a:avLst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95" name="Google Shape;495;p89"/>
          <p:cNvSpPr/>
          <p:nvPr/>
        </p:nvSpPr>
        <p:spPr>
          <a:xfrm>
            <a:off x="7374531" y="2197877"/>
            <a:ext cx="1533753" cy="265216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Update UI</a:t>
            </a:r>
            <a:endParaRPr sz="1800">
              <a:solidFill>
                <a:srgbClr val="FFFFFF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rules for Android threads</a:t>
            </a:r>
            <a:endParaRPr/>
          </a:p>
        </p:txBody>
      </p:sp>
      <p:sp>
        <p:nvSpPr>
          <p:cNvPr id="501" name="Google Shape;501;p90"/>
          <p:cNvSpPr txBox="1"/>
          <p:nvPr>
            <p:ph idx="1" type="body"/>
          </p:nvPr>
        </p:nvSpPr>
        <p:spPr>
          <a:xfrm>
            <a:off x="311700" y="1228675"/>
            <a:ext cx="8297400" cy="312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 not block the UI thread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Complete all work in less than 16 ms for each screen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Run slow non-UI work on a non-UI thread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 not access the Android UI toolkit from outside </a:t>
            </a:r>
            <a:br>
              <a:rPr lang="en"/>
            </a:br>
            <a:r>
              <a:rPr lang="en"/>
              <a:t>the UI thread 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Do UI work only on the UI thread</a:t>
            </a:r>
            <a:endParaRPr/>
          </a:p>
        </p:txBody>
      </p:sp>
      <p:sp>
        <p:nvSpPr>
          <p:cNvPr id="502" name="Google Shape;502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91"/>
          <p:cNvSpPr txBox="1"/>
          <p:nvPr>
            <p:ph type="title"/>
          </p:nvPr>
        </p:nvSpPr>
        <p:spPr>
          <a:xfrm>
            <a:off x="265500" y="1233175"/>
            <a:ext cx="40089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AsyncTask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9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AsyncTask?</a:t>
            </a:r>
            <a:endParaRPr/>
          </a:p>
        </p:txBody>
      </p:sp>
      <p:sp>
        <p:nvSpPr>
          <p:cNvPr id="514" name="Google Shape;514;p92"/>
          <p:cNvSpPr txBox="1"/>
          <p:nvPr>
            <p:ph idx="1" type="body"/>
          </p:nvPr>
        </p:nvSpPr>
        <p:spPr>
          <a:xfrm>
            <a:off x="311700" y="1076275"/>
            <a:ext cx="8520600" cy="10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Use </a:t>
            </a:r>
            <a:r>
              <a:rPr lang="en" u="sng">
                <a:solidFill>
                  <a:schemeClr val="hlink"/>
                </a:solidFill>
                <a:hlinkClick r:id="rId3"/>
              </a:rPr>
              <a:t>AsyncTask</a:t>
            </a:r>
            <a:r>
              <a:rPr lang="en"/>
              <a:t> to implement basic background tasks</a:t>
            </a:r>
            <a:endParaRPr/>
          </a:p>
        </p:txBody>
      </p:sp>
      <p:sp>
        <p:nvSpPr>
          <p:cNvPr id="515" name="Google Shape;515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16" name="Google Shape;516;p92"/>
          <p:cNvGrpSpPr/>
          <p:nvPr/>
        </p:nvGrpSpPr>
        <p:grpSpPr>
          <a:xfrm>
            <a:off x="732563" y="2135700"/>
            <a:ext cx="7462800" cy="2187338"/>
            <a:chOff x="427763" y="2288100"/>
            <a:chExt cx="7462800" cy="2187338"/>
          </a:xfrm>
        </p:grpSpPr>
        <p:sp>
          <p:nvSpPr>
            <p:cNvPr id="517" name="Google Shape;517;p92"/>
            <p:cNvSpPr/>
            <p:nvPr/>
          </p:nvSpPr>
          <p:spPr>
            <a:xfrm>
              <a:off x="427763" y="2288100"/>
              <a:ext cx="7462800" cy="1045500"/>
            </a:xfrm>
            <a:prstGeom prst="rect">
              <a:avLst/>
            </a:prstGeom>
            <a:solidFill>
              <a:srgbClr val="00838F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Main Thread (UI Thread)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8" name="Google Shape;518;p92"/>
            <p:cNvSpPr/>
            <p:nvPr/>
          </p:nvSpPr>
          <p:spPr>
            <a:xfrm>
              <a:off x="567745" y="3429938"/>
              <a:ext cx="5397300" cy="1045500"/>
            </a:xfrm>
            <a:prstGeom prst="rect">
              <a:avLst/>
            </a:prstGeom>
            <a:solidFill>
              <a:srgbClr val="90A4AE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Worker Thread</a:t>
              </a:r>
              <a:endParaRPr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519" name="Google Shape;519;p92"/>
            <p:cNvSpPr/>
            <p:nvPr/>
          </p:nvSpPr>
          <p:spPr>
            <a:xfrm>
              <a:off x="2830398" y="3748968"/>
              <a:ext cx="2544300" cy="522900"/>
            </a:xfrm>
            <a:prstGeom prst="rect">
              <a:avLst/>
            </a:prstGeom>
            <a:solidFill>
              <a:srgbClr val="68B53C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doInBackground()</a:t>
              </a:r>
              <a:endParaRPr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20" name="Google Shape;520;p92"/>
            <p:cNvCxnSpPr>
              <a:endCxn id="519" idx="1"/>
            </p:cNvCxnSpPr>
            <p:nvPr/>
          </p:nvCxnSpPr>
          <p:spPr>
            <a:xfrm flipH="1" rot="-5400000">
              <a:off x="2330898" y="3510918"/>
              <a:ext cx="998400" cy="600"/>
            </a:xfrm>
            <a:prstGeom prst="curvedConnector2">
              <a:avLst/>
            </a:prstGeom>
            <a:noFill/>
            <a:ln cap="flat" cmpd="sng" w="76200">
              <a:solidFill>
                <a:srgbClr val="455A6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521" name="Google Shape;521;p92"/>
            <p:cNvSpPr/>
            <p:nvPr/>
          </p:nvSpPr>
          <p:spPr>
            <a:xfrm>
              <a:off x="5332575" y="2708800"/>
              <a:ext cx="2140200" cy="522900"/>
            </a:xfrm>
            <a:prstGeom prst="rect">
              <a:avLst/>
            </a:prstGeom>
            <a:solidFill>
              <a:srgbClr val="00B8D4"/>
            </a:solidFill>
            <a:ln cap="flat" cmpd="sng" w="9525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34275" lIns="34275" spcFirstLastPara="1" rIns="34275" wrap="square" tIns="342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FFFF"/>
                  </a:solidFill>
                  <a:latin typeface="Consolas"/>
                  <a:ea typeface="Consolas"/>
                  <a:cs typeface="Consolas"/>
                  <a:sym typeface="Consolas"/>
                </a:rPr>
                <a:t>onPostExecute()</a:t>
              </a:r>
              <a:endParaRPr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522" name="Google Shape;522;p92"/>
            <p:cNvCxnSpPr>
              <a:stCxn id="519" idx="3"/>
              <a:endCxn id="521" idx="1"/>
            </p:cNvCxnSpPr>
            <p:nvPr/>
          </p:nvCxnSpPr>
          <p:spPr>
            <a:xfrm rot="10800000">
              <a:off x="5332698" y="2970318"/>
              <a:ext cx="42000" cy="1040100"/>
            </a:xfrm>
            <a:prstGeom prst="curvedConnector5">
              <a:avLst>
                <a:gd fmla="val -566964" name="adj1"/>
                <a:gd fmla="val 50003" name="adj2"/>
                <a:gd fmla="val 667258" name="adj3"/>
              </a:avLst>
            </a:prstGeom>
            <a:noFill/>
            <a:ln cap="flat" cmpd="sng" w="76200">
              <a:solidFill>
                <a:srgbClr val="455A64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9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Override two methods</a:t>
            </a:r>
            <a:endParaRPr/>
          </a:p>
        </p:txBody>
      </p:sp>
      <p:sp>
        <p:nvSpPr>
          <p:cNvPr id="528" name="Google Shape;528;p93"/>
          <p:cNvSpPr txBox="1"/>
          <p:nvPr>
            <p:ph idx="1" type="body"/>
          </p:nvPr>
        </p:nvSpPr>
        <p:spPr>
          <a:xfrm>
            <a:off x="311700" y="771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r>
              <a:rPr lang="en"/>
              <a:t>—runs on a background thread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All the work to happen in the background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onPostExecute()</a:t>
            </a:r>
            <a:r>
              <a:rPr lang="en"/>
              <a:t>—runs on main thread when work done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Process results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Publish results to the UI</a:t>
            </a:r>
            <a:endParaRPr/>
          </a:p>
        </p:txBody>
      </p:sp>
      <p:sp>
        <p:nvSpPr>
          <p:cNvPr id="529" name="Google Shape;529;p9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9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AsyncTask helper methods</a:t>
            </a:r>
            <a:endParaRPr/>
          </a:p>
        </p:txBody>
      </p:sp>
      <p:sp>
        <p:nvSpPr>
          <p:cNvPr id="535" name="Google Shape;535;p94"/>
          <p:cNvSpPr txBox="1"/>
          <p:nvPr>
            <p:ph idx="1" type="body"/>
          </p:nvPr>
        </p:nvSpPr>
        <p:spPr>
          <a:xfrm>
            <a:off x="311700" y="1076275"/>
            <a:ext cx="8520600" cy="32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onPreExecute()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Runs on the main thread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Sets up the task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onProgressUpdate()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Runs on the main thread</a:t>
            </a:r>
            <a:endParaRPr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/>
              <a:t>receives calls from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publishProgress()</a:t>
            </a:r>
            <a:r>
              <a:rPr lang="en"/>
              <a:t> from background thread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9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AsyncTask helper methods</a:t>
            </a:r>
            <a:endParaRPr/>
          </a:p>
        </p:txBody>
      </p:sp>
      <p:sp>
        <p:nvSpPr>
          <p:cNvPr id="542" name="Google Shape;542;p9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3" name="Google Shape;543;p95"/>
          <p:cNvSpPr/>
          <p:nvPr/>
        </p:nvSpPr>
        <p:spPr>
          <a:xfrm>
            <a:off x="391301" y="1724000"/>
            <a:ext cx="8288700" cy="1045500"/>
          </a:xfrm>
          <a:prstGeom prst="rect">
            <a:avLst/>
          </a:prstGeom>
          <a:solidFill>
            <a:srgbClr val="00838F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Main Thread (UI Thread)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4" name="Google Shape;544;p95"/>
          <p:cNvSpPr/>
          <p:nvPr/>
        </p:nvSpPr>
        <p:spPr>
          <a:xfrm>
            <a:off x="531275" y="2865850"/>
            <a:ext cx="6175200" cy="10455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Worker Thread</a:t>
            </a:r>
            <a:endParaRPr sz="2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5" name="Google Shape;545;p95"/>
          <p:cNvSpPr/>
          <p:nvPr/>
        </p:nvSpPr>
        <p:spPr>
          <a:xfrm>
            <a:off x="2793925" y="3413475"/>
            <a:ext cx="3257700" cy="393600"/>
          </a:xfrm>
          <a:prstGeom prst="rect">
            <a:avLst/>
          </a:prstGeom>
          <a:solidFill>
            <a:srgbClr val="68B53C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6" name="Google Shape;546;p95"/>
          <p:cNvCxnSpPr>
            <a:endCxn id="545" idx="1"/>
          </p:cNvCxnSpPr>
          <p:nvPr/>
        </p:nvCxnSpPr>
        <p:spPr>
          <a:xfrm flipH="1" rot="-5400000">
            <a:off x="2294425" y="3110775"/>
            <a:ext cx="998400" cy="600"/>
          </a:xfrm>
          <a:prstGeom prst="curvedConnector2">
            <a:avLst/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7" name="Google Shape;547;p95"/>
          <p:cNvSpPr/>
          <p:nvPr/>
        </p:nvSpPr>
        <p:spPr>
          <a:xfrm>
            <a:off x="6350825" y="2204950"/>
            <a:ext cx="2140200" cy="3936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onPostExecute()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8" name="Google Shape;548;p95"/>
          <p:cNvCxnSpPr>
            <a:stCxn id="545" idx="3"/>
            <a:endCxn id="547" idx="1"/>
          </p:cNvCxnSpPr>
          <p:nvPr/>
        </p:nvCxnSpPr>
        <p:spPr>
          <a:xfrm flipH="1" rot="10800000">
            <a:off x="6051625" y="2401875"/>
            <a:ext cx="299100" cy="1208400"/>
          </a:xfrm>
          <a:prstGeom prst="curvedConnector3">
            <a:avLst>
              <a:gd fmla="val 50017" name="adj1"/>
            </a:avLst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9" name="Google Shape;549;p95"/>
          <p:cNvSpPr/>
          <p:nvPr/>
        </p:nvSpPr>
        <p:spPr>
          <a:xfrm>
            <a:off x="3147025" y="2945775"/>
            <a:ext cx="2356500" cy="393600"/>
          </a:xfrm>
          <a:prstGeom prst="rect">
            <a:avLst/>
          </a:prstGeom>
          <a:solidFill>
            <a:srgbClr val="38761D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publishProgress</a:t>
            </a: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0" name="Google Shape;550;p95"/>
          <p:cNvSpPr/>
          <p:nvPr/>
        </p:nvSpPr>
        <p:spPr>
          <a:xfrm>
            <a:off x="3178625" y="2204950"/>
            <a:ext cx="2356500" cy="393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onProgressUpdate</a:t>
            </a: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1" name="Google Shape;551;p95"/>
          <p:cNvCxnSpPr>
            <a:endCxn id="550" idx="2"/>
          </p:cNvCxnSpPr>
          <p:nvPr/>
        </p:nvCxnSpPr>
        <p:spPr>
          <a:xfrm flipH="1" rot="10800000">
            <a:off x="3701675" y="2598550"/>
            <a:ext cx="655200" cy="332100"/>
          </a:xfrm>
          <a:prstGeom prst="curvedConnector2">
            <a:avLst/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52" name="Google Shape;552;p95"/>
          <p:cNvSpPr/>
          <p:nvPr/>
        </p:nvSpPr>
        <p:spPr>
          <a:xfrm>
            <a:off x="521925" y="2204950"/>
            <a:ext cx="2140200" cy="3936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onPreExecute()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9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Creating an AsyncTask</a:t>
            </a:r>
            <a:endParaRPr/>
          </a:p>
        </p:txBody>
      </p:sp>
      <p:sp>
        <p:nvSpPr>
          <p:cNvPr id="558" name="Google Shape;558;p96"/>
          <p:cNvSpPr txBox="1"/>
          <p:nvPr>
            <p:ph idx="1" type="body"/>
          </p:nvPr>
        </p:nvSpPr>
        <p:spPr>
          <a:xfrm>
            <a:off x="175150" y="1000075"/>
            <a:ext cx="891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Subclass AsyncTask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Provide data type sent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Provide data type of progress units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onProgressUpdate()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Provide data type of result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onPostExecute()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private class MyAsyncTask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extends AsyncTask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URL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Integer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1" lang="en">
                <a:latin typeface="Consolas"/>
                <a:ea typeface="Consolas"/>
                <a:cs typeface="Consolas"/>
                <a:sym typeface="Consolas"/>
              </a:rPr>
              <a:t>Bitmap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&gt; {...}</a:t>
            </a:r>
            <a:endParaRPr/>
          </a:p>
        </p:txBody>
      </p:sp>
      <p:sp>
        <p:nvSpPr>
          <p:cNvPr id="559" name="Google Shape;559;p9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9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MyAsyncTask class definition</a:t>
            </a:r>
            <a:endParaRPr/>
          </a:p>
        </p:txBody>
      </p:sp>
      <p:sp>
        <p:nvSpPr>
          <p:cNvPr id="565" name="Google Shape;565;p97"/>
          <p:cNvSpPr txBox="1"/>
          <p:nvPr>
            <p:ph idx="1" type="body"/>
          </p:nvPr>
        </p:nvSpPr>
        <p:spPr>
          <a:xfrm>
            <a:off x="131350" y="1047084"/>
            <a:ext cx="895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private class MyAsyncTask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   extends AsyncTask&lt;String, Integer, Bitmap&gt; {...}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doInBackground(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String—could be query, URI for filename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Integer—percentage completed, steps done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Bitmap—an image to be displayed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Use Void if no data passed</a:t>
            </a:r>
            <a:endParaRPr sz="1800"/>
          </a:p>
        </p:txBody>
      </p:sp>
      <p:sp>
        <p:nvSpPr>
          <p:cNvPr id="566" name="Google Shape;566;p9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7" name="Google Shape;567;p97"/>
          <p:cNvSpPr/>
          <p:nvPr/>
        </p:nvSpPr>
        <p:spPr>
          <a:xfrm>
            <a:off x="6880950" y="2814550"/>
            <a:ext cx="2140200" cy="393600"/>
          </a:xfrm>
          <a:prstGeom prst="rect">
            <a:avLst/>
          </a:prstGeom>
          <a:solidFill>
            <a:srgbClr val="00B8D4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onPostExecute()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97"/>
          <p:cNvSpPr/>
          <p:nvPr/>
        </p:nvSpPr>
        <p:spPr>
          <a:xfrm>
            <a:off x="1707800" y="2357350"/>
            <a:ext cx="2416500" cy="393600"/>
          </a:xfrm>
          <a:prstGeom prst="rect">
            <a:avLst/>
          </a:prstGeom>
          <a:solidFill>
            <a:srgbClr val="68B53C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9" name="Google Shape;569;p97"/>
          <p:cNvCxnSpPr/>
          <p:nvPr/>
        </p:nvCxnSpPr>
        <p:spPr>
          <a:xfrm rot="-5400000">
            <a:off x="3898100" y="1882100"/>
            <a:ext cx="481200" cy="4689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70" name="Google Shape;570;p97"/>
          <p:cNvSpPr/>
          <p:nvPr/>
        </p:nvSpPr>
        <p:spPr>
          <a:xfrm>
            <a:off x="4324375" y="2585950"/>
            <a:ext cx="2356500" cy="3936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t" bIns="34275" lIns="34275" spcFirstLastPara="1" rIns="342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onProgressUpdate()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1" name="Google Shape;571;p97"/>
          <p:cNvCxnSpPr>
            <a:stCxn id="570" idx="0"/>
          </p:cNvCxnSpPr>
          <p:nvPr/>
        </p:nvCxnSpPr>
        <p:spPr>
          <a:xfrm rot="-5400000">
            <a:off x="5333425" y="2110450"/>
            <a:ext cx="644700" cy="3063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572" name="Google Shape;572;p97"/>
          <p:cNvCxnSpPr>
            <a:stCxn id="567" idx="0"/>
          </p:cNvCxnSpPr>
          <p:nvPr/>
        </p:nvCxnSpPr>
        <p:spPr>
          <a:xfrm flipH="1" rot="5400000">
            <a:off x="7227900" y="2091400"/>
            <a:ext cx="873300" cy="573000"/>
          </a:xfrm>
          <a:prstGeom prst="curvedConnector3">
            <a:avLst>
              <a:gd fmla="val 50000" name="adj1"/>
            </a:avLst>
          </a:prstGeom>
          <a:noFill/>
          <a:ln cap="flat" cmpd="sng" w="76200">
            <a:solidFill>
              <a:srgbClr val="455A6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9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onPreExecute()</a:t>
            </a:r>
            <a:endParaRPr/>
          </a:p>
        </p:txBody>
      </p:sp>
      <p:sp>
        <p:nvSpPr>
          <p:cNvPr id="578" name="Google Shape;578;p98"/>
          <p:cNvSpPr txBox="1"/>
          <p:nvPr>
            <p:ph idx="1" type="body"/>
          </p:nvPr>
        </p:nvSpPr>
        <p:spPr>
          <a:xfrm>
            <a:off x="163550" y="1076275"/>
            <a:ext cx="898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protected void onPreExecute()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// display a progress bar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// show a toast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9" name="Google Shape;579;p9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9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doInBackground()</a:t>
            </a:r>
            <a:endParaRPr/>
          </a:p>
        </p:txBody>
      </p:sp>
      <p:sp>
        <p:nvSpPr>
          <p:cNvPr id="585" name="Google Shape;585;p99"/>
          <p:cNvSpPr txBox="1"/>
          <p:nvPr>
            <p:ph idx="1" type="body"/>
          </p:nvPr>
        </p:nvSpPr>
        <p:spPr>
          <a:xfrm>
            <a:off x="163550" y="1076275"/>
            <a:ext cx="898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protected Bitmap doInBackground(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String... query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// Get the bitmap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return bitmap;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666600"/>
              </a:solidFill>
              <a:highlight>
                <a:srgbClr val="F7F7F7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86" name="Google Shape;586;p9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onProgressUpdate()</a:t>
            </a:r>
            <a:endParaRPr/>
          </a:p>
        </p:txBody>
      </p:sp>
      <p:sp>
        <p:nvSpPr>
          <p:cNvPr id="592" name="Google Shape;592;p100"/>
          <p:cNvSpPr txBox="1"/>
          <p:nvPr>
            <p:ph idx="1" type="body"/>
          </p:nvPr>
        </p:nvSpPr>
        <p:spPr>
          <a:xfrm>
            <a:off x="163550" y="1076275"/>
            <a:ext cx="898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protected void onProgressUpdate(</a:t>
            </a: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Integer... progress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    setProgressPercent(progress[0]);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3" name="Google Shape;593;p10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onPostExecute()</a:t>
            </a:r>
            <a:endParaRPr/>
          </a:p>
        </p:txBody>
      </p:sp>
      <p:sp>
        <p:nvSpPr>
          <p:cNvPr id="599" name="Google Shape;599;p101"/>
          <p:cNvSpPr txBox="1"/>
          <p:nvPr>
            <p:ph idx="1" type="body"/>
          </p:nvPr>
        </p:nvSpPr>
        <p:spPr>
          <a:xfrm>
            <a:off x="163550" y="1076275"/>
            <a:ext cx="898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onPostExecute(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Bitmap result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// Do something with the bitmap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/>
          </a:p>
        </p:txBody>
      </p:sp>
      <p:sp>
        <p:nvSpPr>
          <p:cNvPr id="600" name="Google Shape;600;p10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background work</a:t>
            </a:r>
            <a:endParaRPr/>
          </a:p>
        </p:txBody>
      </p:sp>
      <p:sp>
        <p:nvSpPr>
          <p:cNvPr id="606" name="Google Shape;606;p102"/>
          <p:cNvSpPr txBox="1"/>
          <p:nvPr>
            <p:ph idx="1" type="body"/>
          </p:nvPr>
        </p:nvSpPr>
        <p:spPr>
          <a:xfrm>
            <a:off x="163550" y="1076275"/>
            <a:ext cx="898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loadImage (View view)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String query = 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mEditText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.getText().toString();   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 MyAsyncTask(query).execute();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303336"/>
              </a:solidFill>
              <a:highlight>
                <a:srgbClr val="EFF0F1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1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7" name="Google Shape;607;p10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0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103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AsyncTask</a:t>
            </a:r>
            <a:endParaRPr/>
          </a:p>
        </p:txBody>
      </p:sp>
      <p:sp>
        <p:nvSpPr>
          <p:cNvPr id="614" name="Google Shape;614;p10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 of AsyncTask</a:t>
            </a:r>
            <a:endParaRPr/>
          </a:p>
        </p:txBody>
      </p:sp>
      <p:sp>
        <p:nvSpPr>
          <p:cNvPr id="615" name="Google Shape;615;p10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When device configuration changes, Activity is destroyed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AsyncTask cannot connect to Activity anymore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New AsyncTask created for every config change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Old AsyncTasks stay around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App may run out of memory or crash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When to use AsyncTask</a:t>
            </a:r>
            <a:endParaRPr/>
          </a:p>
        </p:txBody>
      </p:sp>
      <p:sp>
        <p:nvSpPr>
          <p:cNvPr id="621" name="Google Shape;621;p104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</a:t>
            </a:r>
            <a:r>
              <a:rPr lang="en"/>
              <a:t>hort or interruptible tasks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/>
              <a:t>Tasks that do not need to report back to UI or user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Lower priority tasks that can be left unfinished</a:t>
            </a:r>
            <a:endParaRPr/>
          </a:p>
          <a:p>
            <a:pPr indent="-381000" lvl="0" marL="4572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AsyncTaskLoader otherwise</a:t>
            </a:r>
            <a:endParaRPr/>
          </a:p>
          <a:p>
            <a:pPr indent="0" lvl="0" marL="9144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8383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383838"/>
              </a:solidFill>
              <a:highlight>
                <a:srgbClr val="FFFFFF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622" name="Google Shape;622;p10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6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105"/>
          <p:cNvSpPr txBox="1"/>
          <p:nvPr>
            <p:ph type="title"/>
          </p:nvPr>
        </p:nvSpPr>
        <p:spPr>
          <a:xfrm>
            <a:off x="51075" y="1233175"/>
            <a:ext cx="44736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Loaders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0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0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Loader?</a:t>
            </a:r>
            <a:endParaRPr/>
          </a:p>
        </p:txBody>
      </p:sp>
      <p:sp>
        <p:nvSpPr>
          <p:cNvPr id="634" name="Google Shape;634;p106"/>
          <p:cNvSpPr txBox="1"/>
          <p:nvPr>
            <p:ph idx="1" type="body"/>
          </p:nvPr>
        </p:nvSpPr>
        <p:spPr>
          <a:xfrm>
            <a:off x="311700" y="1076275"/>
            <a:ext cx="8520600" cy="25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Provides asynchronous loading of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b="1" lang="en"/>
              <a:t>Reconnects to Activity after configuration change</a:t>
            </a:r>
            <a:endParaRPr b="1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monitor changes in data source and deliver new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Callbacks  implemented in Activity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Many types of loaders available</a:t>
            </a:r>
            <a:endParaRPr/>
          </a:p>
          <a:p>
            <a:pPr indent="-355600" lvl="1" marL="914400" rtl="0" algn="l">
              <a:spcBef>
                <a:spcPts val="1000"/>
              </a:spcBef>
              <a:spcAft>
                <a:spcPts val="0"/>
              </a:spcAft>
              <a:buSzPts val="2000"/>
              <a:buChar char="○"/>
            </a:pPr>
            <a:r>
              <a:rPr lang="en" u="sng">
                <a:solidFill>
                  <a:schemeClr val="hlink"/>
                </a:solidFill>
                <a:hlinkClick r:id="rId3"/>
              </a:rPr>
              <a:t>AsyncTaskLoader</a:t>
            </a:r>
            <a:r>
              <a:rPr lang="en"/>
              <a:t>, </a:t>
            </a:r>
            <a:r>
              <a:rPr lang="en" u="sng">
                <a:solidFill>
                  <a:schemeClr val="hlink"/>
                </a:solidFill>
                <a:hlinkClick r:id="rId4"/>
              </a:rPr>
              <a:t>CursorLoader</a:t>
            </a:r>
            <a:endParaRPr/>
          </a:p>
        </p:txBody>
      </p:sp>
      <p:sp>
        <p:nvSpPr>
          <p:cNvPr id="635" name="Google Shape;635;p10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0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use loaders?</a:t>
            </a:r>
            <a:endParaRPr/>
          </a:p>
        </p:txBody>
      </p:sp>
      <p:sp>
        <p:nvSpPr>
          <p:cNvPr id="641" name="Google Shape;641;p107"/>
          <p:cNvSpPr txBox="1"/>
          <p:nvPr>
            <p:ph idx="1" type="body"/>
          </p:nvPr>
        </p:nvSpPr>
        <p:spPr>
          <a:xfrm>
            <a:off x="311700" y="1381075"/>
            <a:ext cx="8520600" cy="274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Execute tasks OFF the UI thread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LoaderManager handles configuration changes for you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Efficiently implemented by the framework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Users don't have to wait for data to load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0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108"/>
          <p:cNvSpPr txBox="1"/>
          <p:nvPr>
            <p:ph idx="4294967295"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Anatomy of a Loader</a:t>
            </a:r>
            <a:endParaRPr/>
          </a:p>
        </p:txBody>
      </p:sp>
      <p:sp>
        <p:nvSpPr>
          <p:cNvPr id="648" name="Google Shape;648;p108"/>
          <p:cNvSpPr txBox="1"/>
          <p:nvPr>
            <p:ph idx="1" type="body"/>
          </p:nvPr>
        </p:nvSpPr>
        <p:spPr>
          <a:xfrm>
            <a:off x="311700" y="1067725"/>
            <a:ext cx="8774100" cy="353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Manages loader functions via callbacks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Can manage multiple loaders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loader for database data, for AsyncTask data, for internet data…</a:t>
            </a:r>
            <a:endParaRPr/>
          </a:p>
        </p:txBody>
      </p:sp>
      <p:sp>
        <p:nvSpPr>
          <p:cNvPr id="649" name="Google Shape;649;p10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0" name="Google Shape;650;p10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a LoaderManager?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0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a loader with initLoader()</a:t>
            </a:r>
            <a:endParaRPr/>
          </a:p>
        </p:txBody>
      </p:sp>
      <p:sp>
        <p:nvSpPr>
          <p:cNvPr id="656" name="Google Shape;656;p109"/>
          <p:cNvSpPr txBox="1"/>
          <p:nvPr>
            <p:ph idx="1" type="body"/>
          </p:nvPr>
        </p:nvSpPr>
        <p:spPr>
          <a:xfrm>
            <a:off x="311700" y="1000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Creates and starts a loader, or reuses an existing one, including its data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restartLoader() to clear data in existing loader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getLoaderManager().initLoader(Id, args, callback);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getLoaderManager().initLoader(0, null, this);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getSupportLoaderManager().initLoader(0, null, this);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7" name="Google Shape;657;p10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110"/>
          <p:cNvSpPr txBox="1"/>
          <p:nvPr>
            <p:ph type="title"/>
          </p:nvPr>
        </p:nvSpPr>
        <p:spPr>
          <a:xfrm>
            <a:off x="51075" y="1233175"/>
            <a:ext cx="4473600" cy="215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AsyncTaskLoader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1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AsyncTaskLoader Overview</a:t>
            </a:r>
            <a:endParaRPr/>
          </a:p>
        </p:txBody>
      </p:sp>
      <p:sp>
        <p:nvSpPr>
          <p:cNvPr id="669" name="Google Shape;669;p1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70" name="Google Shape;670;p111"/>
          <p:cNvSpPr/>
          <p:nvPr/>
        </p:nvSpPr>
        <p:spPr>
          <a:xfrm>
            <a:off x="517725" y="3340776"/>
            <a:ext cx="2669400" cy="1250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71" name="Google Shape;671;p111"/>
          <p:cNvSpPr/>
          <p:nvPr/>
        </p:nvSpPr>
        <p:spPr>
          <a:xfrm>
            <a:off x="517725" y="2197200"/>
            <a:ext cx="2669400" cy="7548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LoaderManager</a:t>
            </a:r>
            <a:endParaRPr sz="2400"/>
          </a:p>
        </p:txBody>
      </p:sp>
      <p:sp>
        <p:nvSpPr>
          <p:cNvPr id="672" name="Google Shape;672;p111"/>
          <p:cNvSpPr/>
          <p:nvPr/>
        </p:nvSpPr>
        <p:spPr>
          <a:xfrm>
            <a:off x="517825" y="1053625"/>
            <a:ext cx="2669400" cy="754800"/>
          </a:xfrm>
          <a:prstGeom prst="rect">
            <a:avLst/>
          </a:prstGeom>
          <a:solidFill>
            <a:srgbClr val="CCCCCC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AsyncTaskLoader</a:t>
            </a:r>
            <a:endParaRPr sz="2400"/>
          </a:p>
        </p:txBody>
      </p:sp>
      <p:sp>
        <p:nvSpPr>
          <p:cNvPr id="673" name="Google Shape;673;p111"/>
          <p:cNvSpPr/>
          <p:nvPr/>
        </p:nvSpPr>
        <p:spPr>
          <a:xfrm>
            <a:off x="3610197" y="1053625"/>
            <a:ext cx="2483700" cy="754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AsyncTask</a:t>
            </a:r>
            <a:endParaRPr sz="2400"/>
          </a:p>
        </p:txBody>
      </p:sp>
      <p:sp>
        <p:nvSpPr>
          <p:cNvPr id="674" name="Google Shape;674;p111"/>
          <p:cNvSpPr/>
          <p:nvPr/>
        </p:nvSpPr>
        <p:spPr>
          <a:xfrm>
            <a:off x="1490522" y="2951936"/>
            <a:ext cx="277200" cy="395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111"/>
          <p:cNvSpPr/>
          <p:nvPr/>
        </p:nvSpPr>
        <p:spPr>
          <a:xfrm>
            <a:off x="1490522" y="1808359"/>
            <a:ext cx="277200" cy="395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11"/>
          <p:cNvSpPr/>
          <p:nvPr/>
        </p:nvSpPr>
        <p:spPr>
          <a:xfrm rot="10800000">
            <a:off x="1806544" y="2952068"/>
            <a:ext cx="277200" cy="395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111"/>
          <p:cNvSpPr/>
          <p:nvPr/>
        </p:nvSpPr>
        <p:spPr>
          <a:xfrm rot="10800000">
            <a:off x="1806544" y="1808492"/>
            <a:ext cx="277200" cy="3951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11"/>
          <p:cNvSpPr/>
          <p:nvPr/>
        </p:nvSpPr>
        <p:spPr>
          <a:xfrm rot="5543641">
            <a:off x="3265832" y="1128301"/>
            <a:ext cx="265732" cy="412207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111"/>
          <p:cNvSpPr/>
          <p:nvPr/>
        </p:nvSpPr>
        <p:spPr>
          <a:xfrm rot="-5400000">
            <a:off x="3265696" y="1352912"/>
            <a:ext cx="265800" cy="412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111"/>
          <p:cNvSpPr/>
          <p:nvPr/>
        </p:nvSpPr>
        <p:spPr>
          <a:xfrm>
            <a:off x="6493338" y="1053625"/>
            <a:ext cx="2483700" cy="754800"/>
          </a:xfrm>
          <a:prstGeom prst="rect">
            <a:avLst/>
          </a:prstGeom>
          <a:solidFill>
            <a:srgbClr val="999999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WorkToDo</a:t>
            </a:r>
            <a:endParaRPr sz="2400"/>
          </a:p>
        </p:txBody>
      </p:sp>
      <p:sp>
        <p:nvSpPr>
          <p:cNvPr id="681" name="Google Shape;681;p111"/>
          <p:cNvSpPr/>
          <p:nvPr/>
        </p:nvSpPr>
        <p:spPr>
          <a:xfrm rot="5543641">
            <a:off x="6160894" y="1019896"/>
            <a:ext cx="265732" cy="412207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FF99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111"/>
          <p:cNvSpPr/>
          <p:nvPr/>
        </p:nvSpPr>
        <p:spPr>
          <a:xfrm rot="-5400000">
            <a:off x="6160758" y="1244507"/>
            <a:ext cx="265800" cy="4122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6AA84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11"/>
          <p:cNvSpPr txBox="1"/>
          <p:nvPr/>
        </p:nvSpPr>
        <p:spPr>
          <a:xfrm>
            <a:off x="703214" y="3297183"/>
            <a:ext cx="1103100" cy="4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Request Work</a:t>
            </a:r>
            <a:endParaRPr sz="1800"/>
          </a:p>
        </p:txBody>
      </p:sp>
      <p:sp>
        <p:nvSpPr>
          <p:cNvPr id="684" name="Google Shape;684;p111"/>
          <p:cNvSpPr txBox="1"/>
          <p:nvPr/>
        </p:nvSpPr>
        <p:spPr>
          <a:xfrm>
            <a:off x="1806520" y="3293962"/>
            <a:ext cx="10881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Receive Result</a:t>
            </a:r>
            <a:endParaRPr sz="1800"/>
          </a:p>
        </p:txBody>
      </p:sp>
      <p:sp>
        <p:nvSpPr>
          <p:cNvPr id="685" name="Google Shape;685;p111"/>
          <p:cNvSpPr txBox="1"/>
          <p:nvPr/>
        </p:nvSpPr>
        <p:spPr>
          <a:xfrm>
            <a:off x="1365599" y="4048261"/>
            <a:ext cx="15288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Activity</a:t>
            </a:r>
            <a:endParaRPr sz="2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12"/>
          <p:cNvSpPr txBox="1"/>
          <p:nvPr>
            <p:ph idx="1" type="body"/>
          </p:nvPr>
        </p:nvSpPr>
        <p:spPr>
          <a:xfrm>
            <a:off x="311700" y="1571298"/>
            <a:ext cx="3999900" cy="18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doInBackground()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onPostExecute()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1" name="Google Shape;691;p112"/>
          <p:cNvSpPr txBox="1"/>
          <p:nvPr>
            <p:ph idx="2" type="body"/>
          </p:nvPr>
        </p:nvSpPr>
        <p:spPr>
          <a:xfrm>
            <a:off x="4311600" y="1571300"/>
            <a:ext cx="4520700" cy="18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loadInBackground() 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onLoadFinished()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2" name="Google Shape;692;p1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93" name="Google Shape;693;p11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AsyncTask              AsyncTaskLoader</a:t>
            </a:r>
            <a:endParaRPr/>
          </a:p>
        </p:txBody>
      </p:sp>
      <p:sp>
        <p:nvSpPr>
          <p:cNvPr id="694" name="Google Shape;694;p112"/>
          <p:cNvSpPr/>
          <p:nvPr/>
        </p:nvSpPr>
        <p:spPr>
          <a:xfrm>
            <a:off x="3155375" y="2342380"/>
            <a:ext cx="1156200" cy="16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12"/>
          <p:cNvSpPr/>
          <p:nvPr/>
        </p:nvSpPr>
        <p:spPr>
          <a:xfrm>
            <a:off x="3059975" y="2899530"/>
            <a:ext cx="1156200" cy="16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9999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112"/>
          <p:cNvSpPr/>
          <p:nvPr/>
        </p:nvSpPr>
        <p:spPr>
          <a:xfrm>
            <a:off x="2915000" y="492930"/>
            <a:ext cx="1156200" cy="165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EFEF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1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for AsyncTaskLoader subclass</a:t>
            </a:r>
            <a:endParaRPr/>
          </a:p>
        </p:txBody>
      </p:sp>
      <p:sp>
        <p:nvSpPr>
          <p:cNvPr id="702" name="Google Shape;702;p113"/>
          <p:cNvSpPr txBox="1"/>
          <p:nvPr>
            <p:ph idx="1" type="body"/>
          </p:nvPr>
        </p:nvSpPr>
        <p:spPr>
          <a:xfrm>
            <a:off x="311700" y="1457275"/>
            <a:ext cx="8520600" cy="25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Subclass </a:t>
            </a:r>
            <a:r>
              <a:rPr lang="en" u="sng">
                <a:solidFill>
                  <a:schemeClr val="hlink"/>
                </a:solidFill>
                <a:hlinkClick r:id="rId3"/>
              </a:rPr>
              <a:t>AsyncTaskLoader</a:t>
            </a:r>
            <a:r>
              <a:rPr lang="en"/>
              <a:t>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AutoNum type="arabicPeriod"/>
            </a:pPr>
            <a:r>
              <a:rPr lang="en"/>
              <a:t>Implement constructor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AutoNum type="arabi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loadInBackground()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Consolas"/>
              <a:buAutoNum type="arabicPeriod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onStartLoading()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30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3" name="Google Shape;703;p1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1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Subclass AsyncTaskLoader</a:t>
            </a:r>
            <a:endParaRPr/>
          </a:p>
        </p:txBody>
      </p:sp>
      <p:sp>
        <p:nvSpPr>
          <p:cNvPr id="709" name="Google Shape;709;p114"/>
          <p:cNvSpPr txBox="1"/>
          <p:nvPr>
            <p:ph idx="1" type="body"/>
          </p:nvPr>
        </p:nvSpPr>
        <p:spPr>
          <a:xfrm>
            <a:off x="311700" y="1228675"/>
            <a:ext cx="8520600" cy="31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static class </a:t>
            </a: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StringListLoader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extends AsyncTaskLoader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&lt;List&lt;String&gt;&gt;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public </a:t>
            </a:r>
            <a:r>
              <a:rPr b="1"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StringListLoader</a:t>
            </a: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(Context context, String queryString) {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super(context);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   mQueryString = queryString;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10" name="Google Shape;710;p1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p11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loadInBackground()</a:t>
            </a:r>
            <a:endParaRPr/>
          </a:p>
        </p:txBody>
      </p:sp>
      <p:sp>
        <p:nvSpPr>
          <p:cNvPr id="716" name="Google Shape;716;p115"/>
          <p:cNvSpPr txBox="1"/>
          <p:nvPr>
            <p:ph idx="1" type="body"/>
          </p:nvPr>
        </p:nvSpPr>
        <p:spPr>
          <a:xfrm>
            <a:off x="311700" y="1304875"/>
            <a:ext cx="8520600" cy="297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List&lt;String&gt; loadInBackground()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List&lt;String&gt; data = new ArrayList&lt;String&gt;;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//TODO: Load the data from the network or from a database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data;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onStartLoading()</a:t>
            </a:r>
            <a:endParaRPr/>
          </a:p>
        </p:txBody>
      </p:sp>
      <p:sp>
        <p:nvSpPr>
          <p:cNvPr id="723" name="Google Shape;723;p116"/>
          <p:cNvSpPr txBox="1"/>
          <p:nvPr>
            <p:ph idx="1" type="body"/>
          </p:nvPr>
        </p:nvSpPr>
        <p:spPr>
          <a:xfrm>
            <a:off x="311700" y="1076275"/>
            <a:ext cx="877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When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restartLoader()</a:t>
            </a:r>
            <a:r>
              <a:rPr lang="en"/>
              <a:t> or i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nitLoader()</a:t>
            </a:r>
            <a:r>
              <a:rPr lang="en"/>
              <a:t> is called, the LoaderManager invokes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onStartLoading()</a:t>
            </a:r>
            <a:r>
              <a:rPr lang="en"/>
              <a:t> callback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Check for cached data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Start observing the data source (if needed)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forceLoad()</a:t>
            </a:r>
            <a:r>
              <a:rPr lang="en"/>
              <a:t> to load the data if there are changes or no cached data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 protected void onStartLoading() {  forceLoad();  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4" name="Google Shape;724;p1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1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loader callbacks in Activity</a:t>
            </a:r>
            <a:endParaRPr/>
          </a:p>
        </p:txBody>
      </p:sp>
      <p:sp>
        <p:nvSpPr>
          <p:cNvPr id="730" name="Google Shape;730;p1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onCreateLoader()</a:t>
            </a:r>
            <a:r>
              <a:rPr lang="en"/>
              <a:t> — Create and return a new Loader for the given ID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onLoadFinished()</a:t>
            </a:r>
            <a:r>
              <a:rPr lang="en"/>
              <a:t> — Called </a:t>
            </a:r>
            <a:r>
              <a:rPr lang="en"/>
              <a:t>when a previously created </a:t>
            </a:r>
            <a:r>
              <a:rPr lang="en"/>
              <a:t>loader has finished </a:t>
            </a:r>
            <a:r>
              <a:rPr lang="en"/>
              <a:t>its load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onLoaderReset()</a:t>
            </a:r>
            <a:r>
              <a:rPr lang="en"/>
              <a:t> — Called when a previously created loader is being reset making its data unavailable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1" name="Google Shape;731;p1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1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onCreateLoader()</a:t>
            </a:r>
            <a:endParaRPr/>
          </a:p>
        </p:txBody>
      </p:sp>
      <p:sp>
        <p:nvSpPr>
          <p:cNvPr id="737" name="Google Shape;737;p118"/>
          <p:cNvSpPr txBox="1"/>
          <p:nvPr>
            <p:ph idx="1" type="body"/>
          </p:nvPr>
        </p:nvSpPr>
        <p:spPr>
          <a:xfrm>
            <a:off x="223025" y="1076275"/>
            <a:ext cx="886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Loader&lt;List&lt;String&gt;&gt; onCreateLoader(int id, Bundle args)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return new StringListLoader(this,args.getString("queryString"));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onLoadFinished()</a:t>
            </a:r>
            <a:endParaRPr/>
          </a:p>
        </p:txBody>
      </p:sp>
      <p:sp>
        <p:nvSpPr>
          <p:cNvPr id="744" name="Google Shape;744;p119"/>
          <p:cNvSpPr txBox="1"/>
          <p:nvPr>
            <p:ph idx="1" type="body"/>
          </p:nvPr>
        </p:nvSpPr>
        <p:spPr>
          <a:xfrm>
            <a:off x="311700" y="1101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esults of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loadInBackground()</a:t>
            </a:r>
            <a:r>
              <a:rPr lang="en"/>
              <a:t> are passed to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onLoadFinished()</a:t>
            </a:r>
            <a:r>
              <a:rPr lang="en"/>
              <a:t> where you can display them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onLoadFinished(Loader&lt;List&lt;String&gt;&gt; loader, List&lt;String&gt; data)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 mAdapter.setData(data);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5" name="Google Shape;745;p1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2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onLoaderReset()</a:t>
            </a:r>
            <a:endParaRPr/>
          </a:p>
        </p:txBody>
      </p:sp>
      <p:sp>
        <p:nvSpPr>
          <p:cNvPr id="751" name="Google Shape;751;p120"/>
          <p:cNvSpPr txBox="1"/>
          <p:nvPr>
            <p:ph idx="1" type="body"/>
          </p:nvPr>
        </p:nvSpPr>
        <p:spPr>
          <a:xfrm>
            <a:off x="107375" y="1076275"/>
            <a:ext cx="898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called when loader is destroyed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Leave blank most of the time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 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onLoaderReset(final Loader</a:t>
            </a: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List&lt;String&gt;&gt;</a:t>
            </a: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loader) { 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12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 a loader with initLoader()</a:t>
            </a:r>
            <a:endParaRPr/>
          </a:p>
        </p:txBody>
      </p:sp>
      <p:sp>
        <p:nvSpPr>
          <p:cNvPr id="758" name="Google Shape;758;p121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Activity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Use support library to be compatible with more devices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getSupportLoaderManager().initLoader(0, null, this);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9" name="Google Shape;759;p1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p12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765" name="Google Shape;765;p122"/>
          <p:cNvSpPr txBox="1"/>
          <p:nvPr>
            <p:ph idx="1" type="body"/>
          </p:nvPr>
        </p:nvSpPr>
        <p:spPr>
          <a:xfrm>
            <a:off x="235500" y="1020075"/>
            <a:ext cx="8690100" cy="293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AsyncTask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AsyncTaskLoader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LoaderManager Reference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Processes and Threads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Loaders Guide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UI Thread Performance: </a:t>
            </a:r>
            <a:r>
              <a:rPr lang="en" u="sng">
                <a:solidFill>
                  <a:schemeClr val="hlink"/>
                </a:solidFill>
                <a:hlinkClick r:id="rId8"/>
              </a:rPr>
              <a:t>Exceed the Android Speed Limit</a:t>
            </a:r>
            <a:endParaRPr/>
          </a:p>
        </p:txBody>
      </p:sp>
      <p:sp>
        <p:nvSpPr>
          <p:cNvPr id="766" name="Google Shape;766;p1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12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772" name="Google Shape;772;p1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3" name="Google Shape;773;p123"/>
          <p:cNvSpPr txBox="1"/>
          <p:nvPr/>
        </p:nvSpPr>
        <p:spPr>
          <a:xfrm>
            <a:off x="311700" y="2139925"/>
            <a:ext cx="8520600" cy="13899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7.1 AsyncTask and AsyncTaskLoader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7.1 AsyncTask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12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779" name="Google Shape;779;p12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1" name="Google Shape;781;p12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