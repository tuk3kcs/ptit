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0" r:id="rId3"/>
    <p:sldMasterId id="2147483711" r:id="rId4"/>
    <p:sldMasterId id="2147483712" r:id="rId5"/>
    <p:sldMasterId id="2147483713" r:id="rId6"/>
    <p:sldMasterId id="2147483714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</p:sldIdLst>
  <p:sldSz cy="5143500" cx="9144000"/>
  <p:notesSz cx="6858000" cy="9144000"/>
  <p:embeddedFontLst>
    <p:embeddedFont>
      <p:font typeface="Roboto"/>
      <p:regular r:id="rId47"/>
      <p:bold r:id="rId48"/>
      <p:italic r:id="rId49"/>
      <p:boldItalic r:id="rId50"/>
    </p:embeddedFont>
    <p:embeddedFont>
      <p:font typeface="Open Sans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1.xml"/><Relationship Id="rId48" Type="http://schemas.openxmlformats.org/officeDocument/2006/relationships/font" Target="fonts/Roboto-bold.fntdata"/><Relationship Id="rId47" Type="http://schemas.openxmlformats.org/officeDocument/2006/relationships/font" Target="fonts/Roboto-regular.fntdata"/><Relationship Id="rId49" Type="http://schemas.openxmlformats.org/officeDocument/2006/relationships/font" Target="fonts/Roboto-italic.fntdata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slideMaster" Target="slideMasters/slideMaster5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font" Target="fonts/OpenSans-regular.fntdata"/><Relationship Id="rId50" Type="http://schemas.openxmlformats.org/officeDocument/2006/relationships/font" Target="fonts/Roboto-boldItalic.fntdata"/><Relationship Id="rId53" Type="http://schemas.openxmlformats.org/officeDocument/2006/relationships/font" Target="fonts/OpenSans-italic.fntdata"/><Relationship Id="rId52" Type="http://schemas.openxmlformats.org/officeDocument/2006/relationships/font" Target="fonts/OpenSans-bold.fntdata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54" Type="http://schemas.openxmlformats.org/officeDocument/2006/relationships/font" Target="fonts/OpenSans-boldItalic.fntdata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116d7d9d49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116d7d9d49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188d52e48a_1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188d52e48a_1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188d52e48a_1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188d52e48a_1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6460ca3a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16460ca3a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d3022c9e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d3022c9e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d3022c9e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d3022c9e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d3022c9e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d3022c9e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d58933c9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d58933c9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d58933c9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d58933c9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d58933c9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d58933c9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d58933c9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d58933c9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d58933c91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d58933c9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d58933c91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d58933c9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188d52e48a_1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188d52e48a_1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6460ca3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6460ca3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cba47801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cba47801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d58933c91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d58933c91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188d52e48a_1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188d52e48a_1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cba47801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cba47801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cba47801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cba47801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188d52e48a_1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188d52e48a_1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88d52e48a_1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88d52e48a_1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16460ca3a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16460ca3a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188d52e48a_1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188d52e48a_1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d58933c91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d58933c91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d58933c91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d58933c91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d58933c91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d58933c91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188d52e48a_1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188d52e48a_1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d58933c91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3d58933c91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d58933c91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3d58933c91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d58933c91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3d58933c91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d58933c91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d58933c91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d58933c91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d58933c91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16460ca3a4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16460ca3a4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188d52e48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188d52e48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188d52e48a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188d52e48a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188d52e48a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188d52e48a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hyperlink" Target="http://creativecommons.org/licenses/by-nc/4.0/" TargetMode="External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hyperlink" Target="http://creativecommons.org/licenses/by-nc/4.0/" TargetMode="Externa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jpg"/><Relationship Id="rId3" Type="http://schemas.openxmlformats.org/officeDocument/2006/relationships/image" Target="../media/image7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hyperlink" Target="http://creativecommons.org/licenses/by-nc/4.0/" TargetMode="External"/><Relationship Id="rId5" Type="http://schemas.openxmlformats.org/officeDocument/2006/relationships/image" Target="../media/image2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hyperlink" Target="http://creativecommons.org/licenses/by-nc/4.0/" TargetMode="External"/><Relationship Id="rId5" Type="http://schemas.openxmlformats.org/officeDocument/2006/relationships/image" Target="../media/image2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  <a:defRPr>
                <a:solidFill>
                  <a:srgbClr val="000000"/>
                </a:solidFill>
              </a:defRPr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lphaLcPeriod"/>
              <a:defRPr sz="2000">
                <a:solidFill>
                  <a:srgbClr val="000000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  <a:defRPr>
                <a:solidFill>
                  <a:srgbClr val="000000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>
                <a:solidFill>
                  <a:srgbClr val="000000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>
                <a:solidFill>
                  <a:srgbClr val="000000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>
                <a:solidFill>
                  <a:srgbClr val="000000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  <a:defRPr>
                <a:solidFill>
                  <a:srgbClr val="000000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>
                <a:solidFill>
                  <a:srgbClr val="000000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>
                <a:solidFill>
                  <a:srgbClr val="000000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>
                <a:solidFill>
                  <a:srgbClr val="000000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header and two columns">
  <p:cSld name="TITLE_AND_TWO_COLUMNS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" type="body"/>
          </p:nvPr>
        </p:nvSpPr>
        <p:spPr>
          <a:xfrm>
            <a:off x="311700" y="1862349"/>
            <a:ext cx="3999900" cy="27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  <a:defRPr>
                <a:solidFill>
                  <a:srgbClr val="000000"/>
                </a:solidFill>
              </a:defRPr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>
                <a:solidFill>
                  <a:srgbClr val="000000"/>
                </a:solidFill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>
                <a:solidFill>
                  <a:srgbClr val="000000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>
                <a:solidFill>
                  <a:srgbClr val="000000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4832400" y="1862349"/>
            <a:ext cx="3999900" cy="27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  <a:defRPr>
                <a:solidFill>
                  <a:srgbClr val="000000"/>
                </a:solidFill>
              </a:defRPr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>
                <a:solidFill>
                  <a:srgbClr val="000000"/>
                </a:solidFill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>
                <a:solidFill>
                  <a:srgbClr val="000000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>
                <a:solidFill>
                  <a:srgbClr val="000000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3" type="subTitle"/>
          </p:nvPr>
        </p:nvSpPr>
        <p:spPr>
          <a:xfrm>
            <a:off x="311700" y="1212425"/>
            <a:ext cx="8520600" cy="4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0" name="Google Shape;50;p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split.png" id="52" name="Google Shape;5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>
                <a:solidFill>
                  <a:schemeClr val="dk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0"/>
          <p:cNvSpPr txBox="1"/>
          <p:nvPr/>
        </p:nvSpPr>
        <p:spPr>
          <a:xfrm>
            <a:off x="4676525" y="4744075"/>
            <a:ext cx="10182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Broadcasts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p10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10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0" name="Google Shape;6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4575" y="4777363"/>
            <a:ext cx="908100" cy="31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63" name="Google Shape;63;p1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69" name="Google Shape;69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" name="Google Shape;71;p13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13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4" name="Google Shape;74;p13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75" name="Google Shape;7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3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3"/>
          <p:cNvSpPr txBox="1"/>
          <p:nvPr/>
        </p:nvSpPr>
        <p:spPr>
          <a:xfrm>
            <a:off x="4407225" y="4739525"/>
            <a:ext cx="1287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       Broadcasts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p13"/>
          <p:cNvSpPr txBox="1"/>
          <p:nvPr/>
        </p:nvSpPr>
        <p:spPr>
          <a:xfrm>
            <a:off x="23054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0" name="Google Shape;80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5" name="Google Shape;95;p16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6" name="Google Shape;96;p1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04" name="Google Shape;104;p1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7" name="Google Shape;107;p19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8" name="Google Shape;108;p1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" name="Google Shape;109;p1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" name="Google Shape;113;p2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1" name="Google Shape;121;p2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5" name="Google Shape;125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6" name="Google Shape;126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7" name="Google Shape;127;p2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30" name="Google Shape;130;p2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4" name="Google Shape;134;p2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36" name="Google Shape;136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137" name="Google Shape;13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6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p2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0" name="Google Shape;140;p26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26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2" name="Google Shape;142;p26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3" name="Google Shape;143;p26"/>
          <p:cNvSpPr txBox="1"/>
          <p:nvPr>
            <p:ph idx="3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6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145" name="Google Shape;14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6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6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Create your first Android app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9" name="Google Shape;159;p29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0" name="Google Shape;160;p2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0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3" name="Google Shape;163;p3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7" name="Google Shape;167;p31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68" name="Google Shape;168;p3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1" name="Google Shape;171;p32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2" name="Google Shape;172;p3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3" name="Google Shape;173;p3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7" name="Google Shape;177;p33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81" name="Google Shape;181;p3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2" name="Google Shape;182;p3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85" name="Google Shape;185;p3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89" name="Google Shape;189;p3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0" name="Google Shape;190;p3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1" name="Google Shape;191;p3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7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94" name="Google Shape;194;p3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7" name="Google Shape;197;p3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8" name="Google Shape;198;p3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200" name="Google Shape;200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2" name="Google Shape;202;p39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3" name="Google Shape;203;p39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04" name="Google Shape;204;p39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5" name="Google Shape;205;p39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206" name="Google Shape;20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9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8" name="Google Shape;208;p39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23" name="Google Shape;223;p4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4" name="Google Shape;224;p4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7" name="Google Shape;227;p4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4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1" name="Google Shape;231;p4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32" name="Google Shape;232;p4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5" name="Google Shape;235;p4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6" name="Google Shape;236;p4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7" name="Google Shape;237;p4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4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header and two columns">
  <p:cSld name="TITLE_AND_TWO_COLUMNS_1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6"/>
          <p:cNvSpPr txBox="1"/>
          <p:nvPr>
            <p:ph idx="1" type="body"/>
          </p:nvPr>
        </p:nvSpPr>
        <p:spPr>
          <a:xfrm>
            <a:off x="311700" y="1862349"/>
            <a:ext cx="3999900" cy="27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1" name="Google Shape;241;p46"/>
          <p:cNvSpPr txBox="1"/>
          <p:nvPr>
            <p:ph idx="2" type="body"/>
          </p:nvPr>
        </p:nvSpPr>
        <p:spPr>
          <a:xfrm>
            <a:off x="4832400" y="1862349"/>
            <a:ext cx="3999900" cy="27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2" name="Google Shape;242;p4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4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4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5" name="Google Shape;245;p46"/>
          <p:cNvSpPr txBox="1"/>
          <p:nvPr>
            <p:ph idx="3" type="subTitle"/>
          </p:nvPr>
        </p:nvSpPr>
        <p:spPr>
          <a:xfrm>
            <a:off x="311700" y="1212425"/>
            <a:ext cx="8520600" cy="4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8" name="Google Shape;248;p4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4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52" name="Google Shape;252;p4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3" name="Google Shape;253;p4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56" name="Google Shape;256;p4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split.png" id="258" name="Google Shape;258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60" name="Google Shape;260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61" name="Google Shape;261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2" name="Google Shape;262;p5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footer.png" id="263" name="Google Shape;263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50"/>
          <p:cNvSpPr txBox="1"/>
          <p:nvPr/>
        </p:nvSpPr>
        <p:spPr>
          <a:xfrm>
            <a:off x="2381675" y="4761375"/>
            <a:ext cx="55089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  </a:t>
            </a:r>
            <a:r>
              <a:rPr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Connect to the Internet - Lesson 9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1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267" name="Google Shape;267;p5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70" name="Google Shape;270;p5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1" name="Google Shape;271;p5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273" name="Google Shape;27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5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5" name="Google Shape;275;p53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6" name="Google Shape;276;p53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7" name="Google Shape;277;p53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8" name="Google Shape;278;p53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279" name="Google Shape;279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53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1" name="Google Shape;281;p53"/>
          <p:cNvSpPr txBox="1"/>
          <p:nvPr/>
        </p:nvSpPr>
        <p:spPr>
          <a:xfrm>
            <a:off x="2381682" y="4761375"/>
            <a:ext cx="21327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" name="Google Shape;282;p53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3" name="Google Shape;283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6017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53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Connect to the Internet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6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99" name="Google Shape;299;p56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00" name="Google Shape;300;p5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7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03" name="Google Shape;303;p5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5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7" name="Google Shape;307;p58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308" name="Google Shape;308;p5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9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1" name="Google Shape;311;p59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2" name="Google Shape;312;p5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3" name="Google Shape;313;p5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5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6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7" name="Google Shape;317;p6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6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6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1" name="Google Shape;321;p6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2" name="Google Shape;322;p6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25" name="Google Shape;325;p6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63"/>
          <p:cNvSpPr/>
          <p:nvPr/>
        </p:nvSpPr>
        <p:spPr>
          <a:xfrm>
            <a:off x="4572000" y="-125"/>
            <a:ext cx="4572000" cy="46497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6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29" name="Google Shape;329;p6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30" name="Google Shape;330;p6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1" name="Google Shape;331;p6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64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334" name="Google Shape;334;p6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6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37" name="Google Shape;337;p6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8" name="Google Shape;338;p6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340" name="Google Shape;340;p6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6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2" name="Google Shape;342;p66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3" name="Google Shape;343;p66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4" name="Google Shape;344;p66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5" name="Google Shape;345;p66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346" name="Google Shape;346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66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8" name="Google Shape;348;p66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9" name="Google Shape;349;p66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50" name="Google Shape;350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4575" y="4777363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66"/>
          <p:cNvSpPr txBox="1"/>
          <p:nvPr/>
        </p:nvSpPr>
        <p:spPr>
          <a:xfrm>
            <a:off x="4449813" y="4672575"/>
            <a:ext cx="11058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Testing the User Interface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7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7" Type="http://schemas.openxmlformats.org/officeDocument/2006/relationships/theme" Target="../theme/theme3.xml"/><Relationship Id="rId1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3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6" Type="http://schemas.openxmlformats.org/officeDocument/2006/relationships/theme" Target="../theme/theme5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36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heme" Target="../theme/theme4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46.xml"/><Relationship Id="rId1" Type="http://schemas.openxmlformats.org/officeDocument/2006/relationships/image" Target="../media/image7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48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/Relationships>
</file>

<file path=ppt/slideMasters/_rels/slideMaster5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59.xml"/><Relationship Id="rId1" Type="http://schemas.openxmlformats.org/officeDocument/2006/relationships/image" Target="../media/image7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2.xml"/><Relationship Id="rId14" Type="http://schemas.openxmlformats.org/officeDocument/2006/relationships/slideLayout" Target="../slideLayouts/slideLayout61.xml"/><Relationship Id="rId16" Type="http://schemas.openxmlformats.org/officeDocument/2006/relationships/theme" Target="../theme/theme6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4407225" y="4739525"/>
            <a:ext cx="1287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       </a:t>
            </a: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Broadcasts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23054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84" name="Google Shape;84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" name="Google Shape;8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7" name="Google Shape;87;p1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" name="Google Shape;88;p15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5"/>
          <p:cNvSpPr txBox="1"/>
          <p:nvPr/>
        </p:nvSpPr>
        <p:spPr>
          <a:xfrm>
            <a:off x="4407225" y="4739525"/>
            <a:ext cx="1287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       Broadcasts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23054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2" name="Google Shape;9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151" name="Google Shape;151;p2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3" name="Google Shape;153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4" name="Google Shape;154;p2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28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8"/>
          <p:cNvSpPr txBox="1"/>
          <p:nvPr/>
        </p:nvSpPr>
        <p:spPr>
          <a:xfrm>
            <a:off x="23054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212" name="Google Shape;212;p4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5" name="Google Shape;215;p4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6" name="Google Shape;216;p4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41"/>
          <p:cNvSpPr txBox="1"/>
          <p:nvPr/>
        </p:nvSpPr>
        <p:spPr>
          <a:xfrm>
            <a:off x="4407225" y="4739525"/>
            <a:ext cx="1287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       Broadcasts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41"/>
          <p:cNvSpPr txBox="1"/>
          <p:nvPr/>
        </p:nvSpPr>
        <p:spPr>
          <a:xfrm>
            <a:off x="23054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4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0" name="Google Shape;22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288" name="Google Shape;288;p5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91" name="Google Shape;291;p5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2" name="Google Shape;292;p55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55"/>
          <p:cNvSpPr txBox="1"/>
          <p:nvPr/>
        </p:nvSpPr>
        <p:spPr>
          <a:xfrm>
            <a:off x="4407225" y="4739525"/>
            <a:ext cx="1287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       Broadcasts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p55"/>
          <p:cNvSpPr txBox="1"/>
          <p:nvPr/>
        </p:nvSpPr>
        <p:spPr>
          <a:xfrm>
            <a:off x="23054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55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6" name="Google Shape;29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eveloper.android.com/reference/android/content/Intent#ACTION_HEADSET_PLUG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eveloper.android.com/reference/android/content/Intent.html#ACTION_BOOT_COMPLETED" TargetMode="External"/><Relationship Id="rId4" Type="http://schemas.openxmlformats.org/officeDocument/2006/relationships/hyperlink" Target="https://developer.android.com/reference/android/content/Intent.html#ACTION_POWER_CONNECTED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eveloper.android.com/reference/android/content/Context#sendOrderedBroadcast(android.content.Intent,%20java.lang.String)" TargetMode="External"/><Relationship Id="rId4" Type="http://schemas.openxmlformats.org/officeDocument/2006/relationships/hyperlink" Target="https://developer.android.com/reference/android/R.styleable.html#AndroidManifestIntentFilter_priority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eveloper.android.com/reference/android/content/Context#sendBroadcast(android.content.Intent)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eveloper.android.com/guide/components/broadcast-exceptions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eveloper.android.com/reference/android/content/BroadcastReceiver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developer.android.com/reference/android/content/IntentFilter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developer.android.com/reference/android/support/v4/content/LocalBroadcastManager#unregisterreceiver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developer.android.com/reference/android/support/v4/content/LocalBroadcastManager.html" TargetMode="External"/><Relationship Id="rId4" Type="http://schemas.openxmlformats.org/officeDocument/2006/relationships/hyperlink" Target="https://developer.android.com/reference/android/content/Intent.html#setPackage(java.lang.String)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developer.android.com/reference/android/R.styleable.html#AndroidManifestUsesPermission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developer.android.com/reference/android/content/BroadcastReceiver.html" TargetMode="External"/><Relationship Id="rId4" Type="http://schemas.openxmlformats.org/officeDocument/2006/relationships/hyperlink" Target="https://developer.android.com/guide/components/intents-filters.html" TargetMode="External"/><Relationship Id="rId5" Type="http://schemas.openxmlformats.org/officeDocument/2006/relationships/hyperlink" Target="https://developer.android.com/reference/android/support/v4/content/LocalBroadcastManager.html" TargetMode="External"/><Relationship Id="rId6" Type="http://schemas.openxmlformats.org/officeDocument/2006/relationships/hyperlink" Target="https://developer.android.com/training/monitoring-device-state/manifest-receivers.html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google-developer-training.github.io/android-developer-fundamentals-course-concepts-v2/unit-3-working-in-the-background/lesson-7-background-tasks/7-3-c-broadcasts/7-3-c-broadcasts.html" TargetMode="External"/><Relationship Id="rId4" Type="http://schemas.openxmlformats.org/officeDocument/2006/relationships/hyperlink" Target="https://codelabs.developers.google.com/codelabs/android-training-broadcast-receivers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6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9" name="Google Shape;359;p68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0" name="Google Shape;360;p68"/>
          <p:cNvSpPr txBox="1"/>
          <p:nvPr>
            <p:ph type="title"/>
          </p:nvPr>
        </p:nvSpPr>
        <p:spPr>
          <a:xfrm>
            <a:off x="265500" y="14708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 Tasks</a:t>
            </a:r>
            <a:endParaRPr/>
          </a:p>
        </p:txBody>
      </p:sp>
      <p:sp>
        <p:nvSpPr>
          <p:cNvPr id="361" name="Google Shape;361;p68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7</a:t>
            </a:r>
            <a:endParaRPr/>
          </a:p>
        </p:txBody>
      </p:sp>
      <p:sp>
        <p:nvSpPr>
          <p:cNvPr id="362" name="Google Shape;362;p68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3" name="Google Shape;363;p68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Developer Fundamentals V2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69"/>
          <p:cNvSpPr txBox="1"/>
          <p:nvPr>
            <p:ph type="ctrTitle"/>
          </p:nvPr>
        </p:nvSpPr>
        <p:spPr>
          <a:xfrm>
            <a:off x="311700" y="1006799"/>
            <a:ext cx="8520600" cy="183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7.3 Broadcasts</a:t>
            </a:r>
            <a:endParaRPr/>
          </a:p>
        </p:txBody>
      </p:sp>
      <p:sp>
        <p:nvSpPr>
          <p:cNvPr id="369" name="Google Shape;369;p6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7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375" name="Google Shape;375;p70"/>
          <p:cNvSpPr txBox="1"/>
          <p:nvPr>
            <p:ph idx="1" type="body"/>
          </p:nvPr>
        </p:nvSpPr>
        <p:spPr>
          <a:xfrm>
            <a:off x="311700" y="1386900"/>
            <a:ext cx="8520600" cy="29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Broadcasts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Send a custom broadcasts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Broadcast receivers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Implementing broadcast receivers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Restricting the broadcasts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Best practices</a:t>
            </a:r>
            <a:endParaRPr/>
          </a:p>
        </p:txBody>
      </p:sp>
      <p:sp>
        <p:nvSpPr>
          <p:cNvPr id="376" name="Google Shape;376;p7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71"/>
          <p:cNvSpPr txBox="1"/>
          <p:nvPr>
            <p:ph type="title"/>
          </p:nvPr>
        </p:nvSpPr>
        <p:spPr>
          <a:xfrm>
            <a:off x="265500" y="1233175"/>
            <a:ext cx="4008900" cy="137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Broadcasts</a:t>
            </a:r>
            <a:endParaRPr/>
          </a:p>
        </p:txBody>
      </p:sp>
      <p:sp>
        <p:nvSpPr>
          <p:cNvPr id="382" name="Google Shape;382;p7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72"/>
          <p:cNvSpPr txBox="1"/>
          <p:nvPr>
            <p:ph idx="4294967295"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Broadcast vs. Implicit Intents</a:t>
            </a:r>
            <a:endParaRPr/>
          </a:p>
        </p:txBody>
      </p:sp>
      <p:sp>
        <p:nvSpPr>
          <p:cNvPr id="388" name="Google Shape;388;p7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9" name="Google Shape;389;p7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Broadcasts</a:t>
            </a:r>
            <a:endParaRPr/>
          </a:p>
        </p:txBody>
      </p:sp>
      <p:sp>
        <p:nvSpPr>
          <p:cNvPr id="390" name="Google Shape;390;p72"/>
          <p:cNvSpPr txBox="1"/>
          <p:nvPr/>
        </p:nvSpPr>
        <p:spPr>
          <a:xfrm>
            <a:off x="175900" y="1052650"/>
            <a:ext cx="8695200" cy="3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Broadcasts are messages sent by Android system and other Android apps, when an event of interest occurs.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Broadcasts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are wrapped in an </a:t>
            </a:r>
            <a:r>
              <a:rPr lang="en" sz="2400">
                <a:latin typeface="Courier New"/>
                <a:ea typeface="Courier New"/>
                <a:cs typeface="Courier New"/>
                <a:sym typeface="Courier New"/>
              </a:rPr>
              <a:t>Intent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object. This Intent object’s contains the event details such as, </a:t>
            </a:r>
            <a:r>
              <a:rPr lang="en" sz="2400"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android.intent.action.HEADSET_PLUG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, sent when a wired headset is plugged or unplugged. 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73"/>
          <p:cNvSpPr txBox="1"/>
          <p:nvPr>
            <p:ph idx="4294967295"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Broadcast vs. Implicit Intents</a:t>
            </a:r>
            <a:endParaRPr/>
          </a:p>
        </p:txBody>
      </p:sp>
      <p:sp>
        <p:nvSpPr>
          <p:cNvPr id="396" name="Google Shape;396;p7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7" name="Google Shape;397;p73"/>
          <p:cNvSpPr txBox="1"/>
          <p:nvPr>
            <p:ph idx="2" type="body"/>
          </p:nvPr>
        </p:nvSpPr>
        <p:spPr>
          <a:xfrm>
            <a:off x="755000" y="1375200"/>
            <a:ext cx="5084400" cy="21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Types of broadcast:</a:t>
            </a:r>
            <a:endParaRPr sz="3000">
              <a:solidFill>
                <a:schemeClr val="dk1"/>
              </a:solidFill>
            </a:endParaRPr>
          </a:p>
          <a:p>
            <a:pPr indent="-41910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" sz="3000">
                <a:solidFill>
                  <a:schemeClr val="dk1"/>
                </a:solidFill>
              </a:rPr>
              <a:t>System broadcast. </a:t>
            </a:r>
            <a:endParaRPr sz="3000">
              <a:solidFill>
                <a:schemeClr val="dk1"/>
              </a:solidFill>
            </a:endParaRPr>
          </a:p>
          <a:p>
            <a:pPr indent="-41910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" sz="3000">
                <a:solidFill>
                  <a:schemeClr val="dk1"/>
                </a:solidFill>
              </a:rPr>
              <a:t>Custom broadcast. </a:t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398" name="Google Shape;398;p7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b</a:t>
            </a:r>
            <a:r>
              <a:rPr lang="en"/>
              <a:t>roadcasts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74"/>
          <p:cNvSpPr txBox="1"/>
          <p:nvPr>
            <p:ph idx="4294967295"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Broadcast vs. Implicit Intents</a:t>
            </a:r>
            <a:endParaRPr/>
          </a:p>
        </p:txBody>
      </p:sp>
      <p:sp>
        <p:nvSpPr>
          <p:cNvPr id="404" name="Google Shape;404;p7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5" name="Google Shape;405;p74"/>
          <p:cNvSpPr txBox="1"/>
          <p:nvPr>
            <p:ph idx="2" type="body"/>
          </p:nvPr>
        </p:nvSpPr>
        <p:spPr>
          <a:xfrm>
            <a:off x="157825" y="989950"/>
            <a:ext cx="8794800" cy="3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System broadcast are the messages sent by the Android system, when a system event occurs, that might </a:t>
            </a:r>
            <a:r>
              <a:rPr lang="en" sz="2000">
                <a:solidFill>
                  <a:schemeClr val="dk1"/>
                </a:solidFill>
              </a:rPr>
              <a:t>affect</a:t>
            </a:r>
            <a:r>
              <a:rPr lang="en" sz="2000">
                <a:solidFill>
                  <a:schemeClr val="dk1"/>
                </a:solidFill>
              </a:rPr>
              <a:t> your app.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Few examples: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An </a:t>
            </a: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Intent</a:t>
            </a:r>
            <a:r>
              <a:rPr lang="en" sz="2000">
                <a:solidFill>
                  <a:schemeClr val="dk1"/>
                </a:solidFill>
              </a:rPr>
              <a:t> with action,</a:t>
            </a:r>
            <a:r>
              <a:rPr lang="en" sz="2000"/>
              <a:t> </a:t>
            </a:r>
            <a:r>
              <a:rPr lang="en" sz="2000" u="sng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ACTION_BOOT_COMPLETED</a:t>
            </a:r>
            <a:r>
              <a:rPr lang="en" sz="2000"/>
              <a:t> </a:t>
            </a:r>
            <a:r>
              <a:rPr lang="en" sz="2000">
                <a:solidFill>
                  <a:schemeClr val="dk1"/>
                </a:solidFill>
              </a:rPr>
              <a:t>is broadcasted when the device boots.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An</a:t>
            </a:r>
            <a:r>
              <a:rPr lang="en" sz="2000">
                <a:solidFill>
                  <a:schemeClr val="dk1"/>
                </a:solidFill>
              </a:rPr>
              <a:t> </a:t>
            </a: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Intent</a:t>
            </a:r>
            <a:r>
              <a:rPr lang="e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2000">
                <a:solidFill>
                  <a:schemeClr val="dk1"/>
                </a:solidFill>
              </a:rPr>
              <a:t>with action,</a:t>
            </a:r>
            <a:r>
              <a:rPr lang="e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2000" u="sng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ACTION_POWER_CONNECTED</a:t>
            </a:r>
            <a:r>
              <a:rPr lang="en" sz="2000">
                <a:solidFill>
                  <a:schemeClr val="dk1"/>
                </a:solidFill>
              </a:rPr>
              <a:t> is broadcasted when the device is connected to the external power. 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406" name="Google Shape;406;p7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</a:t>
            </a:r>
            <a:r>
              <a:rPr lang="en"/>
              <a:t> broadcasts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75"/>
          <p:cNvSpPr txBox="1"/>
          <p:nvPr>
            <p:ph idx="4294967295"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Broadcast vs. Implicit Intents</a:t>
            </a:r>
            <a:endParaRPr/>
          </a:p>
        </p:txBody>
      </p:sp>
      <p:sp>
        <p:nvSpPr>
          <p:cNvPr id="412" name="Google Shape;412;p7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3" name="Google Shape;413;p75"/>
          <p:cNvSpPr txBox="1"/>
          <p:nvPr>
            <p:ph idx="2" type="body"/>
          </p:nvPr>
        </p:nvSpPr>
        <p:spPr>
          <a:xfrm>
            <a:off x="294925" y="963575"/>
            <a:ext cx="8520600" cy="36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Custom broadcasts are broadcasts that your app sends out, similar to the Android system. 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For example, when you want to let other app(s) know that some data has been downloaded by your app, and its available for their use.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414" name="Google Shape;414;p7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</a:t>
            </a:r>
            <a:r>
              <a:rPr lang="en"/>
              <a:t> broadcasts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76"/>
          <p:cNvSpPr txBox="1"/>
          <p:nvPr>
            <p:ph type="title"/>
          </p:nvPr>
        </p:nvSpPr>
        <p:spPr>
          <a:xfrm>
            <a:off x="0" y="1734325"/>
            <a:ext cx="4474500" cy="123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Send a custom broadcasts</a:t>
            </a:r>
            <a:endParaRPr/>
          </a:p>
        </p:txBody>
      </p:sp>
      <p:sp>
        <p:nvSpPr>
          <p:cNvPr id="420" name="Google Shape;420;p7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77"/>
          <p:cNvSpPr txBox="1"/>
          <p:nvPr>
            <p:ph idx="2" type="body"/>
          </p:nvPr>
        </p:nvSpPr>
        <p:spPr>
          <a:xfrm>
            <a:off x="247800" y="1190300"/>
            <a:ext cx="8584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Android provides three ways for sending a broadcast:</a:t>
            </a:r>
            <a:endParaRPr>
              <a:solidFill>
                <a:srgbClr val="000000"/>
              </a:solidFill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Ordered broadcast.</a:t>
            </a:r>
            <a:endParaRPr>
              <a:solidFill>
                <a:srgbClr val="000000"/>
              </a:solidFill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Normal broadcast.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Local broadcast.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6" name="Google Shape;426;p7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7" name="Google Shape;427;p7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Send a custom broadcast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78"/>
          <p:cNvSpPr txBox="1"/>
          <p:nvPr>
            <p:ph idx="2" type="body"/>
          </p:nvPr>
        </p:nvSpPr>
        <p:spPr>
          <a:xfrm>
            <a:off x="279750" y="1042075"/>
            <a:ext cx="8584500" cy="31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Ordered </a:t>
            </a:r>
            <a:r>
              <a:rPr lang="en" sz="2000">
                <a:solidFill>
                  <a:schemeClr val="dk1"/>
                </a:solidFill>
              </a:rPr>
              <a:t>broadcast is delivered to one receiver at a time.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To send a </a:t>
            </a:r>
            <a:r>
              <a:rPr lang="en" sz="2000">
                <a:solidFill>
                  <a:schemeClr val="dk1"/>
                </a:solidFill>
              </a:rPr>
              <a:t>ordered </a:t>
            </a:r>
            <a:r>
              <a:rPr lang="en" sz="2000"/>
              <a:t>broadcast, use the </a:t>
            </a:r>
            <a:r>
              <a:rPr lang="en" sz="2000" u="sng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sendOrderedBroadcast()</a:t>
            </a:r>
            <a:r>
              <a:rPr lang="en" sz="2000"/>
              <a:t> </a:t>
            </a:r>
            <a:r>
              <a:rPr lang="en" sz="2000"/>
              <a:t>method.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Receivers can propagate result to the next receiver or even abort the broadcast.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Control the broadcast order with </a:t>
            </a:r>
            <a:r>
              <a:rPr lang="en" sz="20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4"/>
              </a:rPr>
              <a:t>android:priority</a:t>
            </a:r>
            <a:r>
              <a:rPr lang="en" sz="2000"/>
              <a:t>  attribute in the manifest file.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Receivers with same priority run in arbitrary order.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7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4" name="Google Shape;434;p7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Ordered Broadcast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79"/>
          <p:cNvSpPr txBox="1"/>
          <p:nvPr>
            <p:ph idx="2" type="body"/>
          </p:nvPr>
        </p:nvSpPr>
        <p:spPr>
          <a:xfrm>
            <a:off x="86300" y="904775"/>
            <a:ext cx="8934900" cy="38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Delivered to all the registered receivers at the same time, in an undefined order.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Most efficient way to send a broadcast.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Receivers can’t propagate the results among themselves, and they can’t abort the broadcast.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The </a:t>
            </a:r>
            <a:r>
              <a:rPr lang="en" u="sng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sendBroadcast()</a:t>
            </a:r>
            <a:r>
              <a:rPr lang="en"/>
              <a:t> method is used to send a normal broadcast.</a:t>
            </a:r>
            <a:endParaRPr/>
          </a:p>
        </p:txBody>
      </p:sp>
      <p:sp>
        <p:nvSpPr>
          <p:cNvPr id="440" name="Google Shape;440;p7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1" name="Google Shape;441;p7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Normal Broadcast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80"/>
          <p:cNvSpPr txBox="1"/>
          <p:nvPr>
            <p:ph idx="2" type="body"/>
          </p:nvPr>
        </p:nvSpPr>
        <p:spPr>
          <a:xfrm>
            <a:off x="86300" y="1012600"/>
            <a:ext cx="8934900" cy="3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Sends broadcasts to receivers within your app.</a:t>
            </a:r>
            <a:endParaRPr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No security issues since no interprocess communication.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To send a local broadcast: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To get an instance of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LocalBroadcastManager</a:t>
            </a:r>
            <a:r>
              <a:rPr lang="en"/>
              <a:t>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Call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sendBroadcast()</a:t>
            </a:r>
            <a:r>
              <a:rPr lang="en"/>
              <a:t> on the instance. 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LocalBroadcastManager.getInstance(this)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4320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.sendBroadcast(customBroadcastIntent);</a:t>
            </a:r>
            <a:endParaRPr sz="2000"/>
          </a:p>
        </p:txBody>
      </p:sp>
      <p:sp>
        <p:nvSpPr>
          <p:cNvPr id="447" name="Google Shape;447;p8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8" name="Google Shape;448;p8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 Broadcast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8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 broadcasts</a:t>
            </a:r>
            <a:endParaRPr/>
          </a:p>
        </p:txBody>
      </p:sp>
      <p:sp>
        <p:nvSpPr>
          <p:cNvPr id="454" name="Google Shape;454;p81"/>
          <p:cNvSpPr txBox="1"/>
          <p:nvPr>
            <p:ph idx="1" type="body"/>
          </p:nvPr>
        </p:nvSpPr>
        <p:spPr>
          <a:xfrm>
            <a:off x="311700" y="1000075"/>
            <a:ext cx="8766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Sender and receiver must agree on unique name for intent (action name)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Define in activity and broadcast receiver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private static final String ACTION_CUSTOM_BROADCAST =   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"com.example.android.powerreceiver.ACTION_CUSTOM_BROADCAST";</a:t>
            </a:r>
            <a:endParaRPr sz="1800">
              <a:solidFill>
                <a:srgbClr val="666666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5" name="Google Shape;455;p8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82"/>
          <p:cNvSpPr txBox="1"/>
          <p:nvPr>
            <p:ph type="title"/>
          </p:nvPr>
        </p:nvSpPr>
        <p:spPr>
          <a:xfrm>
            <a:off x="265500" y="1212350"/>
            <a:ext cx="4008900" cy="181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Broadcast Receivers</a:t>
            </a:r>
            <a:endParaRPr/>
          </a:p>
        </p:txBody>
      </p:sp>
      <p:sp>
        <p:nvSpPr>
          <p:cNvPr id="461" name="Google Shape;461;p8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8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broadcast receiver?</a:t>
            </a:r>
            <a:endParaRPr/>
          </a:p>
        </p:txBody>
      </p:sp>
      <p:sp>
        <p:nvSpPr>
          <p:cNvPr id="467" name="Google Shape;467;p8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8" name="Google Shape;468;p83"/>
          <p:cNvSpPr txBox="1"/>
          <p:nvPr/>
        </p:nvSpPr>
        <p:spPr>
          <a:xfrm>
            <a:off x="219475" y="1036650"/>
            <a:ext cx="8612700" cy="34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Broadcast receivers are app components.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They register for various system broadcast and or custom broadcast.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They are notified (via an </a:t>
            </a:r>
            <a:r>
              <a:rPr lang="en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Intent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r>
              <a:rPr lang="en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By the system, when an system event occurs that your app is registered for.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By another app, including your own if your app is registered for that custom event. 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8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Register your broadcast receiver</a:t>
            </a:r>
            <a:endParaRPr/>
          </a:p>
        </p:txBody>
      </p:sp>
      <p:sp>
        <p:nvSpPr>
          <p:cNvPr id="474" name="Google Shape;474;p8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Broadcast receivers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can be registered in two ways: 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Static receivers 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Registered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</a:t>
            </a:r>
            <a:r>
              <a:rPr lang="e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your </a:t>
            </a: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AndroidManifest.xml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also called as Manifest-declared receivers.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Dynamic receivers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e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Registered using app or activities' </a:t>
            </a: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context</a:t>
            </a:r>
            <a:r>
              <a:rPr lang="e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your Java files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also called as Context-registered receivers. </a:t>
            </a:r>
            <a:endParaRPr sz="2000"/>
          </a:p>
        </p:txBody>
      </p:sp>
      <p:sp>
        <p:nvSpPr>
          <p:cNvPr id="475" name="Google Shape;475;p8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8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Receiving</a:t>
            </a:r>
            <a:r>
              <a:rPr lang="en"/>
              <a:t> a system broadcast </a:t>
            </a:r>
            <a:endParaRPr/>
          </a:p>
        </p:txBody>
      </p:sp>
      <p:sp>
        <p:nvSpPr>
          <p:cNvPr id="481" name="Google Shape;481;p85"/>
          <p:cNvSpPr txBox="1"/>
          <p:nvPr>
            <p:ph idx="1" type="body"/>
          </p:nvPr>
        </p:nvSpPr>
        <p:spPr>
          <a:xfrm>
            <a:off x="84025" y="855700"/>
            <a:ext cx="8989500" cy="37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Starting f</a:t>
            </a:r>
            <a:r>
              <a:rPr lang="en" sz="2200"/>
              <a:t>rom </a:t>
            </a:r>
            <a:r>
              <a:rPr lang="en" sz="2200"/>
              <a:t>Android 8.0 (API level 26), static receivers can't receive most of the system broadcasts.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U</a:t>
            </a:r>
            <a:r>
              <a:rPr lang="en" sz="2200"/>
              <a:t>se a dynamic receiver to register for these broadcasts. 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If you register for the system broadcasts in the manifest, the Android system won't deliver them to your app.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A few broadcasts, are excepted from this restriction</a:t>
            </a:r>
            <a:r>
              <a:rPr lang="en" sz="2200"/>
              <a:t>. See the complete list of </a:t>
            </a:r>
            <a:r>
              <a:rPr lang="en" sz="2200" u="sng">
                <a:solidFill>
                  <a:schemeClr val="hlink"/>
                </a:solidFill>
                <a:hlinkClick r:id="rId3"/>
              </a:rPr>
              <a:t>implicit broadcast exceptions</a:t>
            </a:r>
            <a:r>
              <a:rPr lang="en" sz="2200"/>
              <a:t>. </a:t>
            </a:r>
            <a:endParaRPr sz="2200"/>
          </a:p>
        </p:txBody>
      </p:sp>
      <p:sp>
        <p:nvSpPr>
          <p:cNvPr id="482" name="Google Shape;482;p8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86"/>
          <p:cNvSpPr txBox="1"/>
          <p:nvPr>
            <p:ph type="title"/>
          </p:nvPr>
        </p:nvSpPr>
        <p:spPr>
          <a:xfrm>
            <a:off x="265500" y="1233175"/>
            <a:ext cx="4008900" cy="215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Broadcast Receivers</a:t>
            </a:r>
            <a:endParaRPr/>
          </a:p>
        </p:txBody>
      </p:sp>
      <p:sp>
        <p:nvSpPr>
          <p:cNvPr id="488" name="Google Shape;488;p8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8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create a broadcast receiver</a:t>
            </a:r>
            <a:endParaRPr/>
          </a:p>
        </p:txBody>
      </p:sp>
      <p:sp>
        <p:nvSpPr>
          <p:cNvPr id="494" name="Google Shape;494;p8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Subclass the </a:t>
            </a:r>
            <a:r>
              <a:rPr lang="en" u="sng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BroadcastReceiver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class and override its 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onReceive()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method. 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 the broadcast receiver 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specify the intent-filters: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</a:pPr>
            <a:r>
              <a:rPr lang="en">
                <a:solidFill>
                  <a:srgbClr val="000000"/>
                </a:solidFill>
              </a:rPr>
              <a:t>Statically, in the Manifest.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</a:rPr>
              <a:t>Dynamically, with </a:t>
            </a:r>
            <a:r>
              <a:rPr lang="en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registerReceiver()</a:t>
            </a:r>
            <a:r>
              <a:rPr lang="en">
                <a:solidFill>
                  <a:srgbClr val="000000"/>
                </a:solidFill>
              </a:rPr>
              <a:t>.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8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8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Intent-filters</a:t>
            </a:r>
            <a:endParaRPr/>
          </a:p>
        </p:txBody>
      </p:sp>
      <p:sp>
        <p:nvSpPr>
          <p:cNvPr id="501" name="Google Shape;501;p88"/>
          <p:cNvSpPr txBox="1"/>
          <p:nvPr>
            <p:ph idx="1" type="body"/>
          </p:nvPr>
        </p:nvSpPr>
        <p:spPr>
          <a:xfrm>
            <a:off x="311700" y="927176"/>
            <a:ext cx="8520600" cy="36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Intent-filters specify the types of intents a broadcast receiver can receive. They filter the incoming intents based on the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Intent</a:t>
            </a:r>
            <a:r>
              <a:rPr lang="en"/>
              <a:t> values like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action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o add an intent-filter: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To your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AndroidManifest.xml</a:t>
            </a:r>
            <a:r>
              <a:rPr lang="en"/>
              <a:t> file, use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&lt;intent-filter&gt;</a:t>
            </a:r>
            <a:r>
              <a:rPr lang="en"/>
              <a:t> tag.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To your Java file use the </a:t>
            </a:r>
            <a:r>
              <a:rPr lang="en" u="sng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IntentFilter</a:t>
            </a: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/>
              <a:t>object.</a:t>
            </a:r>
            <a:endParaRPr/>
          </a:p>
        </p:txBody>
      </p:sp>
      <p:sp>
        <p:nvSpPr>
          <p:cNvPr id="502" name="Google Shape;502;p8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8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Subclass a broadcast receiver</a:t>
            </a:r>
            <a:endParaRPr/>
          </a:p>
        </p:txBody>
      </p:sp>
      <p:sp>
        <p:nvSpPr>
          <p:cNvPr id="508" name="Google Shape;508;p89"/>
          <p:cNvSpPr txBox="1"/>
          <p:nvPr>
            <p:ph idx="1" type="body"/>
          </p:nvPr>
        </p:nvSpPr>
        <p:spPr>
          <a:xfrm>
            <a:off x="110850" y="2042425"/>
            <a:ext cx="9033300" cy="25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public class CustomReceiver extends BroadcastReceiver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@Override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public void onReceive(Context context, Intent intent)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// This method is called when the BroadcastReceiver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// 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is receiving an Intent broadcast.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throw new UnsupportedOperationException("Not yet implemented");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09" name="Google Shape;509;p8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0" name="Google Shape;510;p89"/>
          <p:cNvSpPr txBox="1"/>
          <p:nvPr/>
        </p:nvSpPr>
        <p:spPr>
          <a:xfrm>
            <a:off x="0" y="1005175"/>
            <a:ext cx="9021300" cy="11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In Android studio, </a:t>
            </a:r>
            <a:r>
              <a:rPr b="1" lang="en" sz="2400"/>
              <a:t>File</a:t>
            </a:r>
            <a:r>
              <a:rPr lang="en" sz="2400"/>
              <a:t> &gt; </a:t>
            </a:r>
            <a:r>
              <a:rPr b="1" lang="en" sz="2400"/>
              <a:t>New</a:t>
            </a:r>
            <a:r>
              <a:rPr lang="en" sz="2400"/>
              <a:t> &gt; </a:t>
            </a:r>
            <a:r>
              <a:rPr b="1" lang="en" sz="2400"/>
              <a:t>Other</a:t>
            </a:r>
            <a:r>
              <a:rPr lang="en" sz="2400"/>
              <a:t> &gt; </a:t>
            </a:r>
            <a:r>
              <a:rPr b="1" lang="en" sz="2400"/>
              <a:t>BroadcastReceiver</a:t>
            </a:r>
            <a:endParaRPr b="1" sz="2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90"/>
          <p:cNvSpPr txBox="1"/>
          <p:nvPr>
            <p:ph idx="1" type="body"/>
          </p:nvPr>
        </p:nvSpPr>
        <p:spPr>
          <a:xfrm>
            <a:off x="311700" y="1719450"/>
            <a:ext cx="8709600" cy="30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public void onReceive(Context context, Intent intent)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String intentAction = intent.getAction();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switch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(intentAction){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case Intent.ACTION_POWER_CONNECTED: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   break;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case Intent.ACTION_POWER_DISCONNECTED: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   break;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16" name="Google Shape;516;p9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7" name="Google Shape;517;p9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 onReceive() </a:t>
            </a:r>
            <a:endParaRPr/>
          </a:p>
        </p:txBody>
      </p:sp>
      <p:sp>
        <p:nvSpPr>
          <p:cNvPr id="518" name="Google Shape;518;p90"/>
          <p:cNvSpPr txBox="1"/>
          <p:nvPr/>
        </p:nvSpPr>
        <p:spPr>
          <a:xfrm>
            <a:off x="118950" y="946450"/>
            <a:ext cx="89022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Example implementation of </a:t>
            </a:r>
            <a:r>
              <a:rPr lang="en" sz="2000">
                <a:latin typeface="Courier New"/>
                <a:ea typeface="Courier New"/>
                <a:cs typeface="Courier New"/>
                <a:sym typeface="Courier New"/>
              </a:rPr>
              <a:t>onReceive()</a:t>
            </a:r>
            <a:r>
              <a:rPr lang="en" sz="2000">
                <a:latin typeface="Roboto"/>
                <a:ea typeface="Roboto"/>
                <a:cs typeface="Roboto"/>
                <a:sym typeface="Roboto"/>
              </a:rPr>
              <a:t> method which handles power connected and disconnected.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91"/>
          <p:cNvSpPr txBox="1"/>
          <p:nvPr>
            <p:ph idx="1" type="body"/>
          </p:nvPr>
        </p:nvSpPr>
        <p:spPr>
          <a:xfrm>
            <a:off x="311700" y="1037900"/>
            <a:ext cx="8709600" cy="3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&lt;receiver&gt;</a:t>
            </a:r>
            <a:r>
              <a:rPr lang="en"/>
              <a:t> element inside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&lt;application&gt;</a:t>
            </a:r>
            <a:r>
              <a:rPr lang="en"/>
              <a:t> tag.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&lt;intent-filter&gt;</a:t>
            </a:r>
            <a:r>
              <a:rPr lang="en"/>
              <a:t> registers receiver for specific intents.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&lt;receiver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android:name=".CustomReceiver"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android:enabled="true"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android:exported="true"&gt;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&lt;intent-filter&gt;</a:t>
            </a:r>
            <a:br>
              <a:rPr b="1"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      &lt;action android:name="android.intent.action.BOOT_COMPLETED"/&gt;</a:t>
            </a:r>
            <a:br>
              <a:rPr b="1"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   &lt;/intent-filter&gt;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&lt;/receive</a:t>
            </a:r>
            <a:r>
              <a:rPr lang="en" sz="18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24" name="Google Shape;524;p9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5" name="Google Shape;525;p9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Register statically in Android manifest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92"/>
          <p:cNvSpPr txBox="1"/>
          <p:nvPr>
            <p:ph idx="2" type="body"/>
          </p:nvPr>
        </p:nvSpPr>
        <p:spPr>
          <a:xfrm>
            <a:off x="311700" y="1235126"/>
            <a:ext cx="8520600" cy="33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/>
              <a:t>Register your receiver i</a:t>
            </a:r>
            <a:r>
              <a:rPr lang="en"/>
              <a:t>n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onCreate()</a:t>
            </a:r>
            <a:r>
              <a:rPr lang="en"/>
              <a:t> or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onResume()</a:t>
            </a:r>
            <a:r>
              <a:rPr lang="en"/>
              <a:t>.</a:t>
            </a:r>
            <a:r>
              <a:rPr lang="en"/>
              <a:t> </a:t>
            </a: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 Register the receiver using the activity context.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this.registerReceiver(mReceiver, filter);</a:t>
            </a:r>
            <a:endParaRPr sz="20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</a:t>
            </a:r>
            <a:r>
              <a:rPr lang="en"/>
              <a:t>nregister in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onDestroy()</a:t>
            </a:r>
            <a:r>
              <a:rPr lang="en"/>
              <a:t> or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onPause()</a:t>
            </a:r>
            <a:r>
              <a:rPr lang="en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 Unregister the receiver </a:t>
            </a:r>
            <a:endParaRPr sz="18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this.unregisterReceiver(mReceiver);</a:t>
            </a:r>
            <a:endParaRPr/>
          </a:p>
        </p:txBody>
      </p:sp>
      <p:sp>
        <p:nvSpPr>
          <p:cNvPr id="531" name="Google Shape;531;p9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2" name="Google Shape;532;p9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Register dynamically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93"/>
          <p:cNvSpPr txBox="1"/>
          <p:nvPr>
            <p:ph idx="2" type="body"/>
          </p:nvPr>
        </p:nvSpPr>
        <p:spPr>
          <a:xfrm>
            <a:off x="311700" y="1235126"/>
            <a:ext cx="8520600" cy="33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/>
              <a:t>R</a:t>
            </a:r>
            <a:r>
              <a:rPr lang="en" sz="3000"/>
              <a:t>egister local receivers dynamically, because static registration in the manifest is not possible for a local broadcasts.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9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9" name="Google Shape;539;p9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Register a Local broadcast receiver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94"/>
          <p:cNvSpPr txBox="1"/>
          <p:nvPr>
            <p:ph idx="2" type="body"/>
          </p:nvPr>
        </p:nvSpPr>
        <p:spPr>
          <a:xfrm>
            <a:off x="311700" y="966250"/>
            <a:ext cx="8520600" cy="36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register a receiver for local broadcasts: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Get an instance of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LocalBroadcastManager.</a:t>
            </a:r>
            <a:r>
              <a:rPr lang="en"/>
              <a:t>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Call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registerReceiver()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LocalBroadcastManager.getInstance(this).registerReceiver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(mReceiver,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new IntentFilter(CustomReceiver.ACTION_CUSTOM_BROADCAST));</a:t>
            </a:r>
            <a:endParaRPr sz="1800"/>
          </a:p>
        </p:txBody>
      </p:sp>
      <p:sp>
        <p:nvSpPr>
          <p:cNvPr id="545" name="Google Shape;545;p9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6" name="Google Shape;546;p9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Register a Local broadcast receiver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95"/>
          <p:cNvSpPr txBox="1"/>
          <p:nvPr>
            <p:ph idx="2" type="body"/>
          </p:nvPr>
        </p:nvSpPr>
        <p:spPr>
          <a:xfrm>
            <a:off x="311700" y="1070400"/>
            <a:ext cx="8520600" cy="34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To unregister a local broadcast receiver: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Get an instance of the </a:t>
            </a:r>
            <a:r>
              <a:rPr lang="en" sz="2200">
                <a:latin typeface="Courier New"/>
                <a:ea typeface="Courier New"/>
                <a:cs typeface="Courier New"/>
                <a:sym typeface="Courier New"/>
              </a:rPr>
              <a:t>LocalBroadcastManager</a:t>
            </a:r>
            <a:r>
              <a:rPr lang="en" sz="2200"/>
              <a:t>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Call </a:t>
            </a:r>
            <a:r>
              <a:rPr lang="en" sz="22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LocalBroadcastManager.unregisterReceiver()</a:t>
            </a:r>
            <a:r>
              <a:rPr lang="en" sz="2200"/>
              <a:t>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LocalBroadcastManager.getInstance(this)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           .unregisterReceiver(mReceiver);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2" name="Google Shape;552;p9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3" name="Google Shape;553;p9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Unr</a:t>
            </a:r>
            <a:r>
              <a:rPr lang="en"/>
              <a:t>egister a Local broadcast receiver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96"/>
          <p:cNvSpPr txBox="1"/>
          <p:nvPr>
            <p:ph type="title"/>
          </p:nvPr>
        </p:nvSpPr>
        <p:spPr>
          <a:xfrm>
            <a:off x="265500" y="1233175"/>
            <a:ext cx="4008900" cy="215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Restricting broadcasts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9" name="Google Shape;559;p9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9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Restricting broadcasts</a:t>
            </a:r>
            <a:endParaRPr/>
          </a:p>
        </p:txBody>
      </p:sp>
      <p:sp>
        <p:nvSpPr>
          <p:cNvPr id="565" name="Google Shape;565;p97"/>
          <p:cNvSpPr txBox="1"/>
          <p:nvPr>
            <p:ph idx="1" type="body"/>
          </p:nvPr>
        </p:nvSpPr>
        <p:spPr>
          <a:xfrm>
            <a:off x="311700" y="1076275"/>
            <a:ext cx="8520600" cy="29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Restricting your broadcast is strongly recommended.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An unrestricted broadcast can pose a security threat.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For example: </a:t>
            </a:r>
            <a:r>
              <a:rPr lang="en"/>
              <a:t>If your apps’ broadcast is not restricted and includes sensitive information, an app that contains malware could register and receive your data.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9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9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Ways to restrict a broadcast</a:t>
            </a:r>
            <a:endParaRPr/>
          </a:p>
        </p:txBody>
      </p:sp>
      <p:sp>
        <p:nvSpPr>
          <p:cNvPr id="572" name="Google Shape;572;p98"/>
          <p:cNvSpPr txBox="1"/>
          <p:nvPr>
            <p:ph idx="1" type="body"/>
          </p:nvPr>
        </p:nvSpPr>
        <p:spPr>
          <a:xfrm>
            <a:off x="311700" y="873100"/>
            <a:ext cx="8520600" cy="36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If possible, use a </a:t>
            </a:r>
            <a:r>
              <a:rPr lang="en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LocalBroadcastManager</a:t>
            </a:r>
            <a:r>
              <a:rPr lang="en"/>
              <a:t>, which keeps the data inside your app, avoiding security leaks.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 the </a:t>
            </a:r>
            <a:r>
              <a:rPr lang="en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4"/>
              </a:rPr>
              <a:t>setPackage()</a:t>
            </a:r>
            <a:r>
              <a:rPr lang="en"/>
              <a:t> method and pass in the package name. Your broadcast is restricted to apps that match the specified package name.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Access permissions can be enforced by sender or receiver.</a:t>
            </a:r>
            <a:endParaRPr/>
          </a:p>
        </p:txBody>
      </p:sp>
      <p:sp>
        <p:nvSpPr>
          <p:cNvPr id="573" name="Google Shape;573;p9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9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Enforce permissions by sender</a:t>
            </a:r>
            <a:endParaRPr/>
          </a:p>
        </p:txBody>
      </p:sp>
      <p:sp>
        <p:nvSpPr>
          <p:cNvPr id="579" name="Google Shape;579;p99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enforce a permission when sending a broadcast: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Supply a non-null permission argument to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sendBroadcast()</a:t>
            </a:r>
            <a:r>
              <a:rPr lang="en"/>
              <a:t>.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Only receivers that request this permission using the </a:t>
            </a:r>
            <a:r>
              <a:rPr lang="en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&lt;uses-permission&gt;</a:t>
            </a:r>
            <a:r>
              <a:rPr lang="en"/>
              <a:t> tag in their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AndroidManifest.xml </a:t>
            </a:r>
            <a:r>
              <a:rPr lang="en"/>
              <a:t>file can receive the broadcast.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9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0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Enforce permissions by receiver</a:t>
            </a:r>
            <a:endParaRPr sz="3400"/>
          </a:p>
        </p:txBody>
      </p:sp>
      <p:sp>
        <p:nvSpPr>
          <p:cNvPr id="586" name="Google Shape;586;p100"/>
          <p:cNvSpPr txBox="1"/>
          <p:nvPr>
            <p:ph idx="1" type="body"/>
          </p:nvPr>
        </p:nvSpPr>
        <p:spPr>
          <a:xfrm>
            <a:off x="311700" y="1129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enforce a permission when receiving a broadcast: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If you register your receiver dynamically, supply a non-null permission to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registerReceiver()</a:t>
            </a:r>
            <a:r>
              <a:rPr lang="en"/>
              <a:t>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If you register your receiver statically, use the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android:permission</a:t>
            </a:r>
            <a:r>
              <a:rPr lang="en"/>
              <a:t> attribute inside the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&lt;receiver&gt;</a:t>
            </a:r>
            <a:r>
              <a:rPr lang="en"/>
              <a:t> tag in your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AndroidManifest.xml</a:t>
            </a:r>
            <a:r>
              <a:rPr lang="en"/>
              <a:t>. </a:t>
            </a:r>
            <a:endParaRPr/>
          </a:p>
        </p:txBody>
      </p:sp>
      <p:sp>
        <p:nvSpPr>
          <p:cNvPr id="587" name="Google Shape;587;p10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101"/>
          <p:cNvSpPr txBox="1"/>
          <p:nvPr>
            <p:ph type="title"/>
          </p:nvPr>
        </p:nvSpPr>
        <p:spPr>
          <a:xfrm>
            <a:off x="265500" y="1233175"/>
            <a:ext cx="4008900" cy="215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Best practices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0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0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Best practices</a:t>
            </a:r>
            <a:endParaRPr/>
          </a:p>
        </p:txBody>
      </p:sp>
      <p:sp>
        <p:nvSpPr>
          <p:cNvPr id="599" name="Google Shape;599;p102"/>
          <p:cNvSpPr txBox="1"/>
          <p:nvPr>
            <p:ph idx="1" type="body"/>
          </p:nvPr>
        </p:nvSpPr>
        <p:spPr>
          <a:xfrm>
            <a:off x="311700" y="999825"/>
            <a:ext cx="8520600" cy="30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Make sure namespace for intent is unique and you own it.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Restrict broadcast receivers.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Other apps can respond to broadcast your app sends </a:t>
            </a:r>
            <a:r>
              <a:rPr lang="en">
                <a:solidFill>
                  <a:schemeClr val="dk1"/>
                </a:solidFill>
              </a:rPr>
              <a:t>—use permissions to control this.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Prefer dynamic receivers over static receivers.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Never perform a long running operation inside your broadcast receiver.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0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0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Learn more</a:t>
            </a:r>
            <a:endParaRPr/>
          </a:p>
        </p:txBody>
      </p:sp>
      <p:sp>
        <p:nvSpPr>
          <p:cNvPr id="606" name="Google Shape;606;p103"/>
          <p:cNvSpPr txBox="1"/>
          <p:nvPr>
            <p:ph idx="1" type="body"/>
          </p:nvPr>
        </p:nvSpPr>
        <p:spPr>
          <a:xfrm>
            <a:off x="235500" y="1477275"/>
            <a:ext cx="86901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BroadcastReceiver Reference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Intents and Intent Filters Guide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LocalBroadcastManager Reference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 Broadcasts overview</a:t>
            </a:r>
            <a:endParaRPr/>
          </a:p>
        </p:txBody>
      </p:sp>
      <p:sp>
        <p:nvSpPr>
          <p:cNvPr id="607" name="Google Shape;607;p10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0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613" name="Google Shape;613;p10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4" name="Google Shape;614;p104"/>
          <p:cNvSpPr txBox="1"/>
          <p:nvPr/>
        </p:nvSpPr>
        <p:spPr>
          <a:xfrm>
            <a:off x="272975" y="1987525"/>
            <a:ext cx="8520600" cy="1228500"/>
          </a:xfrm>
          <a:prstGeom prst="rect">
            <a:avLst/>
          </a:prstGeom>
          <a:noFill/>
          <a:ln cap="flat" cmpd="sng" w="381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7.3 Broadcasts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Practical: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7.3 Broadcast Receivers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0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620" name="Google Shape;620;p10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0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2" name="Google Shape;622;p10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