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3"/>
    <p:sldMasterId id="2147483686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8e7563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8e7563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8e75634d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8e75634d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8e75634d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8e75634d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8e75634d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8e75634d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8e75634d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8e75634d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8e75634d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8e75634d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8e75634d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8e75634d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8e75634d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8e75634d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8e75634d0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8e75634d0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8e75634d0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8e75634d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8e75634d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8e75634d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64c2c15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64c2c15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64c2c15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64c2c15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e75634d0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e75634d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64c2c15d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64c2c15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 load your work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4c2c15d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4c2c15d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64c2c15d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64c2c15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rescheduling with jobfinished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64c2c15d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64c2c15d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64c2c15d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64c2c15d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64c2c15d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64c2c15d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8e75634d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8e75634d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64c2c15d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64c2c15d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8e75634d0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8e75634d0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8e75634d0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8e75634d0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8e75634d0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8e75634d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e75634d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e75634d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8e75634d0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8e75634d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8e75634d0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8e75634d0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8e75634d0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8e75634d0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8e75634d0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8e75634d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8e75634d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8e75634d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64c2c15d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64c2c15d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8e75634d0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8e75634d0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64c2c15d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64c2c15d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e75634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e75634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8e75634d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8e75634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8bbe643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8bbe643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/>
          <p:nvPr/>
        </p:nvSpPr>
        <p:spPr>
          <a:xfrm>
            <a:off x="4545725" y="46914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Efficient data transfer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70" name="Google Shape;7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" name="Google Shape;75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6" name="Google Shape;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4545725" y="46914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Efficient data transfer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6" name="Google Shape;126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7" name="Google Shape;1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8" name="Google Shape;1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3" name="Google Shape;143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26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6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" name="Google Shape;160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3" name="Google Shape;183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6" name="Google Shape;186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0" name="Google Shape;190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8" name="Google Shape;198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9" name="Google Shape;199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01" name="Google Shape;20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9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5" name="Google Shape;205;p3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6" name="Google Shape;206;p39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07" name="Google Shape;20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9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545725" y="46914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Efficient data transfer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5" name="Google Shape;8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4545725" y="46914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Efficient data transfer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52" name="Google Shape;15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" name="Google Shape;155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training/monitoring-device-state/connectivity-monitoring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os/BatteryManager.html" TargetMode="External"/><Relationship Id="rId4" Type="http://schemas.openxmlformats.org/officeDocument/2006/relationships/hyperlink" Target="https://developer.android.com/reference/android/content/Intent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app/job/JobService.html" TargetMode="External"/><Relationship Id="rId4" Type="http://schemas.openxmlformats.org/officeDocument/2006/relationships/hyperlink" Target="https://developer.android.com/reference/android/app/job/JobInfo.html" TargetMode="External"/><Relationship Id="rId5" Type="http://schemas.openxmlformats.org/officeDocument/2006/relationships/hyperlink" Target="https://developer.android.com/reference/android/app/job/JobScheduler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app/job/JobService#onStartJob(android.app.job.JobParameters)" TargetMode="External"/><Relationship Id="rId4" Type="http://schemas.openxmlformats.org/officeDocument/2006/relationships/hyperlink" Target="https://developer.android.com/reference/android/app/job/JobService#onStopJob(android.app.job.JobParameters)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app/job/JobService.html#jobFinished(android.app.job.JobParameters,%20boolean)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app/job/JobInfo.Builder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0" Type="http://schemas.openxmlformats.org/officeDocument/2006/relationships/hyperlink" Target="https://developer.android.com/reference/android/app/job/JobInfo.Builder.html#setRequiresDeviceIdle(boolean)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app/job/JobInfo.Builder.html#setRequiredNetworkType(int)" TargetMode="External"/><Relationship Id="rId4" Type="http://schemas.openxmlformats.org/officeDocument/2006/relationships/hyperlink" Target="https://developer.android.com/reference/android/app/job/JobInfo.Builder.html#setBackoffCriteria(long,%20int)" TargetMode="External"/><Relationship Id="rId9" Type="http://schemas.openxmlformats.org/officeDocument/2006/relationships/hyperlink" Target="https://developer.android.com/reference/android/app/job/JobInfo.Builder.html#setRequiresCharging(boolean)" TargetMode="External"/><Relationship Id="rId5" Type="http://schemas.openxmlformats.org/officeDocument/2006/relationships/hyperlink" Target="https://developer.android.com/reference/android/app/job/JobInfo.Builder.html#setMinimumLatency(long)" TargetMode="External"/><Relationship Id="rId6" Type="http://schemas.openxmlformats.org/officeDocument/2006/relationships/hyperlink" Target="https://developer.android.com/reference/android/app/job/JobInfo.Builder.html#setOverrideDeadline(long)" TargetMode="External"/><Relationship Id="rId7" Type="http://schemas.openxmlformats.org/officeDocument/2006/relationships/hyperlink" Target="https://developer.android.com/reference/android/app/job/JobInfo.Builder.html#setPeriodic(long)" TargetMode="External"/><Relationship Id="rId8" Type="http://schemas.openxmlformats.org/officeDocument/2006/relationships/hyperlink" Target="https://developer.android.com/reference/android/app/job/JobInfo.Builder.html#setPersisted(boolean)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app/job/JobInfo.Builder.html#setRequiredNetworkType(int)" TargetMode="External"/><Relationship Id="rId4" Type="http://schemas.openxmlformats.org/officeDocument/2006/relationships/hyperlink" Target="https://developer.android.com/reference/android/app/job/JobInfo.html#NETWORK_TYPE_NONE" TargetMode="External"/><Relationship Id="rId5" Type="http://schemas.openxmlformats.org/officeDocument/2006/relationships/hyperlink" Target="https://developer.android.com/reference/android/app/job/JobInfo.html#NETWORK_TYPE_ANY" TargetMode="External"/><Relationship Id="rId6" Type="http://schemas.openxmlformats.org/officeDocument/2006/relationships/hyperlink" Target="https://developer.android.com/reference/android/app/job/JobInfo.html#NETWORK_TYPE_NOT_ROAMING" TargetMode="External"/><Relationship Id="rId7" Type="http://schemas.openxmlformats.org/officeDocument/2006/relationships/hyperlink" Target="https://developer.android.com/reference/android/app/job/JobInfo.html#NETWORK_TYPE_UNMETERE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app/job/JobInfo.Builder.html#setMinimumLatency(long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eveloper.android.com/reference/android/app/job/JobInfo.Builder.html#setOverrideDeadline(long)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app/job/JobInfo.Builder.html#setPeriodic(long)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reference/android/app/job/JobInfo.Builder.html#setPersisted(boolean)" TargetMode="External"/><Relationship Id="rId4" Type="http://schemas.openxmlformats.org/officeDocument/2006/relationships/hyperlink" Target="https://developer.android.com/reference/android/Manifest.permission.html#RECEIVE_BOOT_COMPLETE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reference/android/app/job/JobInfo.Builder.html#setRequiresCharging(boolean)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app/job/JobInfo.Builder.html#setRequiresDeviceIdle(boolean)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reference/android/app/job/JobInfo.html" TargetMode="External"/><Relationship Id="rId10" Type="http://schemas.openxmlformats.org/officeDocument/2006/relationships/hyperlink" Target="https://developer.android.com/reference/android/app/job/JobInfo.html" TargetMode="External"/><Relationship Id="rId13" Type="http://schemas.openxmlformats.org/officeDocument/2006/relationships/hyperlink" Target="https://developer.android.com/reference/android/app/job/JobInfo.Builder.html" TargetMode="External"/><Relationship Id="rId12" Type="http://schemas.openxmlformats.org/officeDocument/2006/relationships/hyperlink" Target="https://developer.android.com/reference/android/app/job/JobInfo.Builder.html" TargetMode="Externa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eveloper.android.com/training/efficient-downloads/index.html" TargetMode="External"/><Relationship Id="rId4" Type="http://schemas.openxmlformats.org/officeDocument/2006/relationships/hyperlink" Target="https://developer.android.com/training/efficient-downloads/efficient-network-access.html" TargetMode="External"/><Relationship Id="rId9" Type="http://schemas.openxmlformats.org/officeDocument/2006/relationships/hyperlink" Target="https://developer.android.com/reference/android/app/job/JobService.html#onStartJob(android.app.job.JobParameters)" TargetMode="External"/><Relationship Id="rId15" Type="http://schemas.openxmlformats.org/officeDocument/2006/relationships/hyperlink" Target="https://developer.android.com/reference/android/app/job/JobParameters.html" TargetMode="External"/><Relationship Id="rId14" Type="http://schemas.openxmlformats.org/officeDocument/2006/relationships/hyperlink" Target="https://developer.android.com/reference/android/app/job/JobParameters.html" TargetMode="External"/><Relationship Id="rId16" Type="http://schemas.openxmlformats.org/officeDocument/2006/relationships/hyperlink" Target="https://www.youtube.com/watch?v=7maNuWjL3Wc" TargetMode="External"/><Relationship Id="rId5" Type="http://schemas.openxmlformats.org/officeDocument/2006/relationships/hyperlink" Target="https://developer.android.com/training/efficient-downloads/connectivity_patterns.html" TargetMode="External"/><Relationship Id="rId6" Type="http://schemas.openxmlformats.org/officeDocument/2006/relationships/hyperlink" Target="https://developer.android.com/reference/android/app/job/JobScheduler.html" TargetMode="External"/><Relationship Id="rId7" Type="http://schemas.openxmlformats.org/officeDocument/2006/relationships/hyperlink" Target="https://developer.android.com/reference/android/app/job/JobScheduler.html" TargetMode="External"/><Relationship Id="rId8" Type="http://schemas.openxmlformats.org/officeDocument/2006/relationships/hyperlink" Target="https://developer.android.com/reference/android/app/job/JobService.html#onStartJob(android.app.job.JobParameters)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oogle-developer-training.github.io/android-developer-fundamentals-course-concepts-v2/unit-3-working-in-the-background/lesson-8-alarms-and-schedulers/8-3-c-efficient-data-transfer/8-3-c-efficient-data-transfer.html" TargetMode="External"/><Relationship Id="rId4" Type="http://schemas.openxmlformats.org/officeDocument/2006/relationships/hyperlink" Target="https://codelabs.developers.google.com/codelabs/android-training-job-scheduler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Alarms and Schedulers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18" name="Google Shape;218;p4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8</a:t>
            </a:r>
            <a:endParaRPr/>
          </a:p>
        </p:txBody>
      </p:sp>
      <p:sp>
        <p:nvSpPr>
          <p:cNvPr id="219" name="Google Shape;219;p4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ctrTitle"/>
          </p:nvPr>
        </p:nvSpPr>
        <p:spPr>
          <a:xfrm>
            <a:off x="311700" y="1525850"/>
            <a:ext cx="8520600" cy="15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8.3 Efficient data transfer and JobScheduler </a:t>
            </a:r>
            <a:endParaRPr/>
          </a:p>
        </p:txBody>
      </p:sp>
      <p:sp>
        <p:nvSpPr>
          <p:cNvPr id="225" name="Google Shape;225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311700" y="1457275"/>
            <a:ext cx="8520600" cy="23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Transferring Data Efficiently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Job Scheduler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JobService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JobInfo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JobScheduler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Transferring Data Efficiently</a:t>
            </a:r>
            <a:endParaRPr/>
          </a:p>
        </p:txBody>
      </p:sp>
      <p:sp>
        <p:nvSpPr>
          <p:cNvPr id="238" name="Google Shape;238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Transferring data uses resources</a:t>
            </a:r>
            <a:endParaRPr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311700" y="1304875"/>
            <a:ext cx="8520600" cy="27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Wireless radio uses battery.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Device runs out of battery.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Need to let device charge.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Transferring data uses up data plans.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Costing users real money (for free apps…).</a:t>
            </a:r>
            <a:endParaRPr/>
          </a:p>
        </p:txBody>
      </p:sp>
      <p:sp>
        <p:nvSpPr>
          <p:cNvPr id="245" name="Google Shape;245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radio power states</a:t>
            </a:r>
            <a:endParaRPr/>
          </a:p>
        </p:txBody>
      </p:sp>
      <p:sp>
        <p:nvSpPr>
          <p:cNvPr id="251" name="Google Shape;251;p46"/>
          <p:cNvSpPr txBox="1"/>
          <p:nvPr>
            <p:ph idx="1" type="body"/>
          </p:nvPr>
        </p:nvSpPr>
        <p:spPr>
          <a:xfrm>
            <a:off x="311700" y="1673300"/>
            <a:ext cx="8520600" cy="1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Full power—Active  connection, highest rate data transfer.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Low power—Intermediate state that uses 50% less power.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Standby—Minimal energy, no active network connection.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radio state transitions for 3G</a:t>
            </a:r>
            <a:endParaRPr/>
          </a:p>
        </p:txBody>
      </p:sp>
      <p:sp>
        <p:nvSpPr>
          <p:cNvPr id="258" name="Google Shape;258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1709"/>
            <a:ext cx="9143999" cy="262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Bundle network transfers</a:t>
            </a:r>
            <a:endParaRPr/>
          </a:p>
        </p:txBody>
      </p:sp>
      <p:sp>
        <p:nvSpPr>
          <p:cNvPr id="265" name="Google Shape;265;p48"/>
          <p:cNvSpPr txBox="1"/>
          <p:nvPr>
            <p:ph idx="1" type="body"/>
          </p:nvPr>
        </p:nvSpPr>
        <p:spPr>
          <a:xfrm>
            <a:off x="237350" y="1272275"/>
            <a:ext cx="8520600" cy="31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a typical 3G device, every data transfer session, </a:t>
            </a:r>
            <a:br>
              <a:rPr lang="en"/>
            </a:br>
            <a:r>
              <a:rPr lang="en"/>
              <a:t>the radio draws energy for almost 20 seconds.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Send data for 1s every 18s—radio mostly on full power.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Send data in bundles of 3s—radio mostly idle.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Bundle your data transfers.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Bundled vs. unbundled</a:t>
            </a:r>
            <a:endParaRPr/>
          </a:p>
        </p:txBody>
      </p:sp>
      <p:sp>
        <p:nvSpPr>
          <p:cNvPr id="272" name="Google Shape;272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3" name="Google Shape;27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51" y="1032525"/>
            <a:ext cx="8908299" cy="35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Prefetch data</a:t>
            </a:r>
            <a:endParaRPr/>
          </a:p>
        </p:txBody>
      </p:sp>
      <p:sp>
        <p:nvSpPr>
          <p:cNvPr id="279" name="Google Shape;279;p50"/>
          <p:cNvSpPr txBox="1"/>
          <p:nvPr>
            <p:ph idx="1" type="body"/>
          </p:nvPr>
        </p:nvSpPr>
        <p:spPr>
          <a:xfrm>
            <a:off x="237350" y="1043675"/>
            <a:ext cx="8520600" cy="31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</a:t>
            </a:r>
            <a:r>
              <a:rPr lang="en"/>
              <a:t>ownload all the data you are likely to need for a given time period in a single burst, over a single connection, at full capacity.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guess right, reduces battery cost and latency.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guess wrong, may use more battery and data bandwidth.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connectivity state</a:t>
            </a:r>
            <a:endParaRPr/>
          </a:p>
        </p:txBody>
      </p:sp>
      <p:sp>
        <p:nvSpPr>
          <p:cNvPr id="286" name="Google Shape;286;p51"/>
          <p:cNvSpPr txBox="1"/>
          <p:nvPr>
            <p:ph idx="1" type="body"/>
          </p:nvPr>
        </p:nvSpPr>
        <p:spPr>
          <a:xfrm>
            <a:off x="237350" y="1043675"/>
            <a:ext cx="8520600" cy="31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Wi-Fi radio uses less battery and has more bandwidth than wireless radio.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ConnectivityManager</a:t>
            </a:r>
            <a:r>
              <a:rPr lang="en"/>
              <a:t> to determine which radio is active and adapt your strategy.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battery state</a:t>
            </a:r>
            <a:endParaRPr/>
          </a:p>
        </p:txBody>
      </p:sp>
      <p:sp>
        <p:nvSpPr>
          <p:cNvPr id="293" name="Google Shape;293;p52"/>
          <p:cNvSpPr txBox="1"/>
          <p:nvPr>
            <p:ph idx="1" type="body"/>
          </p:nvPr>
        </p:nvSpPr>
        <p:spPr>
          <a:xfrm>
            <a:off x="237350" y="1272275"/>
            <a:ext cx="8520600" cy="31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Wait for specific conditions to initiate battery intensive operation.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BatteryManager</a:t>
            </a:r>
            <a:r>
              <a:rPr lang="en"/>
              <a:t> broadcasts all battery and charging details in a broadcast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BroadcastReceiver</a:t>
            </a:r>
            <a:r>
              <a:rPr lang="en"/>
              <a:t> registered for battery status actions.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Scheduler</a:t>
            </a:r>
            <a:endParaRPr/>
          </a:p>
        </p:txBody>
      </p:sp>
      <p:sp>
        <p:nvSpPr>
          <p:cNvPr id="300" name="Google Shape;300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Job Scheduler</a:t>
            </a:r>
            <a:endParaRPr/>
          </a:p>
        </p:txBody>
      </p:sp>
      <p:sp>
        <p:nvSpPr>
          <p:cNvPr id="306" name="Google Shape;306;p54"/>
          <p:cNvSpPr txBox="1"/>
          <p:nvPr>
            <p:ph idx="1" type="body"/>
          </p:nvPr>
        </p:nvSpPr>
        <p:spPr>
          <a:xfrm>
            <a:off x="173475" y="1199575"/>
            <a:ext cx="87309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Used for intelligent scheduling of background tasks.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Based on conditions, not a time schedule.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Much more efficient than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AlarmManager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Batches tasks together to minimize battery drain.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API 21+ (</a:t>
            </a:r>
            <a:r>
              <a:rPr b="1" lang="en"/>
              <a:t>not in support library</a:t>
            </a:r>
            <a:r>
              <a:rPr lang="en"/>
              <a:t>).</a:t>
            </a:r>
            <a:endParaRPr/>
          </a:p>
        </p:txBody>
      </p:sp>
      <p:sp>
        <p:nvSpPr>
          <p:cNvPr id="307" name="Google Shape;307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Scheduler components</a:t>
            </a:r>
            <a:endParaRPr/>
          </a:p>
        </p:txBody>
      </p:sp>
      <p:sp>
        <p:nvSpPr>
          <p:cNvPr id="313" name="Google Shape;313;p55"/>
          <p:cNvSpPr txBox="1"/>
          <p:nvPr>
            <p:ph idx="1" type="body"/>
          </p:nvPr>
        </p:nvSpPr>
        <p:spPr>
          <a:xfrm>
            <a:off x="110775" y="1076275"/>
            <a:ext cx="8721600" cy="31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JobService</a:t>
            </a:r>
            <a:r>
              <a:rPr lang="en"/>
              <a:t>—Service class where the task is initiated.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JobInfo</a:t>
            </a:r>
            <a:r>
              <a:rPr lang="en"/>
              <a:t>—Builder pattern to set the conditions for the task.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JobScheduler</a:t>
            </a:r>
            <a:r>
              <a:rPr lang="en"/>
              <a:t>—Schedule and cancel tasks, launch service.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JobService</a:t>
            </a:r>
            <a:endParaRPr/>
          </a:p>
        </p:txBody>
      </p:sp>
      <p:sp>
        <p:nvSpPr>
          <p:cNvPr id="320" name="Google Shape;320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JobService</a:t>
            </a:r>
            <a:endParaRPr/>
          </a:p>
        </p:txBody>
      </p:sp>
      <p:sp>
        <p:nvSpPr>
          <p:cNvPr id="326" name="Google Shape;326;p57"/>
          <p:cNvSpPr txBox="1"/>
          <p:nvPr>
            <p:ph idx="1" type="body"/>
          </p:nvPr>
        </p:nvSpPr>
        <p:spPr>
          <a:xfrm>
            <a:off x="311700" y="1228675"/>
            <a:ext cx="8520600" cy="31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JobService</a:t>
            </a:r>
            <a:r>
              <a:rPr lang="en"/>
              <a:t> subclass, implement your task here.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Override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onStartJob()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onStopJob()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Runs on the main thread.</a:t>
            </a:r>
            <a:endParaRPr b="1"/>
          </a:p>
        </p:txBody>
      </p:sp>
      <p:sp>
        <p:nvSpPr>
          <p:cNvPr id="327" name="Google Shape;327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onStartJob()</a:t>
            </a:r>
            <a:endParaRPr/>
          </a:p>
        </p:txBody>
      </p:sp>
      <p:sp>
        <p:nvSpPr>
          <p:cNvPr id="333" name="Google Shape;333;p58"/>
          <p:cNvSpPr txBox="1"/>
          <p:nvPr>
            <p:ph idx="1" type="body"/>
          </p:nvPr>
        </p:nvSpPr>
        <p:spPr>
          <a:xfrm>
            <a:off x="311700" y="1457275"/>
            <a:ext cx="85206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w</a:t>
            </a:r>
            <a:r>
              <a:rPr lang="en"/>
              <a:t>ork to be done here.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Called by system when conditions are met.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Runs on main thread.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Off-load heavy work to another thread.</a:t>
            </a:r>
            <a:endParaRPr b="1"/>
          </a:p>
        </p:txBody>
      </p:sp>
      <p:sp>
        <p:nvSpPr>
          <p:cNvPr id="334" name="Google Shape;334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9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does a JobService finish?</a:t>
            </a:r>
            <a:endParaRPr/>
          </a:p>
        </p:txBody>
      </p:sp>
      <p:sp>
        <p:nvSpPr>
          <p:cNvPr id="340" name="Google Shape;340;p59"/>
          <p:cNvSpPr txBox="1"/>
          <p:nvPr>
            <p:ph idx="1" type="body"/>
          </p:nvPr>
        </p:nvSpPr>
        <p:spPr>
          <a:xfrm>
            <a:off x="311700" y="1190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lang="en"/>
              <a:t>—</a:t>
            </a:r>
            <a:r>
              <a:rPr lang="en"/>
              <a:t>J</a:t>
            </a:r>
            <a:r>
              <a:rPr lang="en"/>
              <a:t>ob finished.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Work has been </a:t>
            </a:r>
            <a:r>
              <a:rPr lang="en"/>
              <a:t>offloaded.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Must call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jobFinished()</a:t>
            </a:r>
            <a:r>
              <a:rPr lang="en"/>
              <a:t> from the worker thread.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JobParams</a:t>
            </a:r>
            <a:r>
              <a:rPr lang="en"/>
              <a:t> object from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onStartJob()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onStartJob() returns a boolean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onStopJob()</a:t>
            </a:r>
            <a:endParaRPr/>
          </a:p>
        </p:txBody>
      </p:sp>
      <p:sp>
        <p:nvSpPr>
          <p:cNvPr id="348" name="Google Shape;348;p60"/>
          <p:cNvSpPr txBox="1"/>
          <p:nvPr>
            <p:ph idx="1" type="body"/>
          </p:nvPr>
        </p:nvSpPr>
        <p:spPr>
          <a:xfrm>
            <a:off x="311700" y="1304875"/>
            <a:ext cx="876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Called if system has determined execution of job must stop.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… because requirements specified no longer met.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example, no longer on Wi-Fi, device not idle anymore.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Before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jobFinished(JobParameters, boolean)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Return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/>
              <a:t> to reschedule.</a:t>
            </a:r>
            <a:endParaRPr/>
          </a:p>
        </p:txBody>
      </p:sp>
      <p:sp>
        <p:nvSpPr>
          <p:cNvPr id="349" name="Google Shape;349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JobService code</a:t>
            </a:r>
            <a:endParaRPr/>
          </a:p>
        </p:txBody>
      </p:sp>
      <p:sp>
        <p:nvSpPr>
          <p:cNvPr id="355" name="Google Shape;355;p61"/>
          <p:cNvSpPr txBox="1"/>
          <p:nvPr>
            <p:ph idx="1" type="body"/>
          </p:nvPr>
        </p:nvSpPr>
        <p:spPr>
          <a:xfrm>
            <a:off x="53400" y="1025650"/>
            <a:ext cx="927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MyJobService extends JobService 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private UpdateAppsAsyncTask updateTask = new UpdateAppsAsyncTask();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@Override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public boolean onStartJob(JobParameters params) 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updateTask.execute(params);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return true; // work has been offloaded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boolean onStopJob(JobParameters jobParameters)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400"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your JobService</a:t>
            </a:r>
            <a:endParaRPr/>
          </a:p>
        </p:txBody>
      </p:sp>
      <p:sp>
        <p:nvSpPr>
          <p:cNvPr id="362" name="Google Shape;362;p62"/>
          <p:cNvSpPr txBox="1"/>
          <p:nvPr>
            <p:ph idx="1" type="body"/>
          </p:nvPr>
        </p:nvSpPr>
        <p:spPr>
          <a:xfrm>
            <a:off x="311700" y="1381075"/>
            <a:ext cx="8520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&lt;service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android:name=".NotificationJobService"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android:permission=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  "android.permission.BIND_JOB_SERVICE"/&gt;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JobInfo</a:t>
            </a:r>
            <a:endParaRPr/>
          </a:p>
        </p:txBody>
      </p:sp>
      <p:sp>
        <p:nvSpPr>
          <p:cNvPr id="369" name="Google Shape;369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4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JobInfo</a:t>
            </a:r>
            <a:endParaRPr/>
          </a:p>
        </p:txBody>
      </p:sp>
      <p:sp>
        <p:nvSpPr>
          <p:cNvPr id="375" name="Google Shape;37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JobInfo</a:t>
            </a:r>
            <a:endParaRPr/>
          </a:p>
        </p:txBody>
      </p:sp>
      <p:sp>
        <p:nvSpPr>
          <p:cNvPr id="377" name="Google Shape;377;p64"/>
          <p:cNvSpPr txBox="1"/>
          <p:nvPr>
            <p:ph idx="3" type="subTitle"/>
          </p:nvPr>
        </p:nvSpPr>
        <p:spPr>
          <a:xfrm>
            <a:off x="311700" y="1364825"/>
            <a:ext cx="8520600" cy="25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conditions of execution.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JobInfo.Builder</a:t>
            </a:r>
            <a:r>
              <a:rPr lang="en"/>
              <a:t> object.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JobInfo builder object</a:t>
            </a:r>
            <a:endParaRPr/>
          </a:p>
        </p:txBody>
      </p:sp>
      <p:sp>
        <p:nvSpPr>
          <p:cNvPr id="383" name="Google Shape;383;p6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Arg 1: Job ID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Arg 2: Service component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Arg 3: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JobService</a:t>
            </a:r>
            <a:r>
              <a:rPr lang="en"/>
              <a:t> to launch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JobInfo.Builder builder = new JobInfo.Builder(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JOB_ID,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new ComponentName(getPackageName(),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NotificationJobService.class.getName()));</a:t>
            </a:r>
            <a:endParaRPr/>
          </a:p>
        </p:txBody>
      </p:sp>
      <p:sp>
        <p:nvSpPr>
          <p:cNvPr id="384" name="Google Shape;384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conditions</a:t>
            </a:r>
            <a:endParaRPr/>
          </a:p>
        </p:txBody>
      </p:sp>
      <p:sp>
        <p:nvSpPr>
          <p:cNvPr id="390" name="Google Shape;390;p66"/>
          <p:cNvSpPr txBox="1"/>
          <p:nvPr>
            <p:ph idx="1" type="body"/>
          </p:nvPr>
        </p:nvSpPr>
        <p:spPr>
          <a:xfrm>
            <a:off x="311700" y="108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setRequiredNetworkType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(int networkType)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setBackoffCriteria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(long initialBackoffMillis, int backoffPolicy)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setMinimumLatency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(long minLatencyMillis)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setOverrideDeadline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(long maxExecutionDelayMillis)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setPeriodic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(long intervalMillis)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setPersisted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(boolean isPersisted)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setRequiresCharging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(boolean requiresCharging)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0"/>
              </a:rPr>
              <a:t>setRequiresDeviceIdle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(boolean requiresDeviceIdle)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7"/>
          <p:cNvSpPr txBox="1"/>
          <p:nvPr>
            <p:ph idx="1" type="body"/>
          </p:nvPr>
        </p:nvSpPr>
        <p:spPr>
          <a:xfrm>
            <a:off x="91200" y="847675"/>
            <a:ext cx="899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setRequiredNetworkType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 networkType)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NETWORK_TYPE_NONE</a:t>
            </a:r>
            <a:r>
              <a:rPr lang="en"/>
              <a:t>—Default, no network required.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NETWORK_TYPE_ANY</a:t>
            </a:r>
            <a:r>
              <a:rPr lang="en"/>
              <a:t>—Requires network connectivity.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NETWORK_TYPE_NOT_ROAMING</a:t>
            </a:r>
            <a:r>
              <a:rPr lang="en"/>
              <a:t>—Requires network connectivity that is not roaming.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NETWORK_TYPE_UNMETERED</a:t>
            </a:r>
            <a:r>
              <a:rPr lang="en"/>
              <a:t>—Requires network connectivity that is unmetered.</a:t>
            </a:r>
            <a:endParaRPr/>
          </a:p>
        </p:txBody>
      </p:sp>
      <p:sp>
        <p:nvSpPr>
          <p:cNvPr id="397" name="Google Shape;397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setRequiredNetworkType()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8"/>
          <p:cNvSpPr txBox="1"/>
          <p:nvPr>
            <p:ph idx="1" type="body"/>
          </p:nvPr>
        </p:nvSpPr>
        <p:spPr>
          <a:xfrm>
            <a:off x="311700" y="1609675"/>
            <a:ext cx="8520600" cy="22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setMinimumLatency(long minLatencyMillis)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Minimum milliseconds to wait before completing task.</a:t>
            </a:r>
            <a:endParaRPr/>
          </a:p>
        </p:txBody>
      </p:sp>
      <p:sp>
        <p:nvSpPr>
          <p:cNvPr id="404" name="Google Shape;404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setMinimumLatency()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"/>
          <p:cNvSpPr txBox="1"/>
          <p:nvPr>
            <p:ph idx="1" type="body"/>
          </p:nvPr>
        </p:nvSpPr>
        <p:spPr>
          <a:xfrm>
            <a:off x="311700" y="1457275"/>
            <a:ext cx="8520600" cy="19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setOverrideDeadline(long maxExecutionDelayMillis)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Maximum milliseconds to wait before running the task, even if other conditions aren't met.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setOverrideDeadline()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0"/>
          <p:cNvSpPr txBox="1"/>
          <p:nvPr>
            <p:ph idx="1" type="body"/>
          </p:nvPr>
        </p:nvSpPr>
        <p:spPr>
          <a:xfrm>
            <a:off x="311700" y="1076275"/>
            <a:ext cx="8520600" cy="3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setPeriodic(long intervalMillis)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Repeats task after a certain amount of time.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 in repetition interval.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Mutually exclusive with minimum latency and override deadline conditions.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Task is not guaranteed to run in the given period.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setPeriodic()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1"/>
          <p:cNvSpPr txBox="1"/>
          <p:nvPr>
            <p:ph idx="1" type="body"/>
          </p:nvPr>
        </p:nvSpPr>
        <p:spPr>
          <a:xfrm>
            <a:off x="311700" y="1228675"/>
            <a:ext cx="8520600" cy="19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setPersisted(boolean isPersisted)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Sets whether the job is persisted across system reboots.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Requires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RECEIVE_BOOT_COMPLETED</a:t>
            </a:r>
            <a:r>
              <a:rPr lang="en"/>
              <a:t> permission.</a:t>
            </a:r>
            <a:endParaRPr/>
          </a:p>
        </p:txBody>
      </p:sp>
      <p:sp>
        <p:nvSpPr>
          <p:cNvPr id="425" name="Google Shape;425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setPersisted()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2"/>
          <p:cNvSpPr txBox="1"/>
          <p:nvPr>
            <p:ph idx="1" type="body"/>
          </p:nvPr>
        </p:nvSpPr>
        <p:spPr>
          <a:xfrm>
            <a:off x="311700" y="1152475"/>
            <a:ext cx="85206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setRequiresCharging(boolean requiresCharging)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Whether device must be plugged in.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Defaults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/>
              <a:t>.</a:t>
            </a:r>
            <a:endParaRPr/>
          </a:p>
        </p:txBody>
      </p:sp>
      <p:sp>
        <p:nvSpPr>
          <p:cNvPr id="432" name="Google Shape;432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setRequiresCharging()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3"/>
          <p:cNvSpPr txBox="1"/>
          <p:nvPr>
            <p:ph idx="1" type="body"/>
          </p:nvPr>
        </p:nvSpPr>
        <p:spPr>
          <a:xfrm>
            <a:off x="311700" y="1000075"/>
            <a:ext cx="87498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setRequiresDeviceIdle(boolean requiresDeviceIdle)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Whether device must be in idle mode.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Idle mode is a loose definition by the system, when device is not in use, and has not been for some time.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for resource-heavy jobs.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/>
              <a:t>. Defaults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/>
              <a:t>.</a:t>
            </a:r>
            <a:endParaRPr/>
          </a:p>
        </p:txBody>
      </p:sp>
      <p:sp>
        <p:nvSpPr>
          <p:cNvPr id="439" name="Google Shape;439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setRequiresDeviceIdle()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JobInfo code </a:t>
            </a:r>
            <a:endParaRPr/>
          </a:p>
        </p:txBody>
      </p:sp>
      <p:sp>
        <p:nvSpPr>
          <p:cNvPr id="446" name="Google Shape;446;p74"/>
          <p:cNvSpPr txBox="1"/>
          <p:nvPr>
            <p:ph idx="1" type="body"/>
          </p:nvPr>
        </p:nvSpPr>
        <p:spPr>
          <a:xfrm>
            <a:off x="311700" y="1304875"/>
            <a:ext cx="8520600" cy="30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JobInfo.Builder builder = new JobInfo.Builder(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JOB_ID, new ComponentName(getPackageName(),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NotificationJobService.class.getName()))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.setRequiredNetworkType(JobInfo.NETWORK_TYPE_UNMETERED)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.setRequiresDeviceIdle(true)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.setRequiresCharging(true);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JobInfo myJobInfo = builder.build();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JobScheduler</a:t>
            </a:r>
            <a:endParaRPr/>
          </a:p>
        </p:txBody>
      </p:sp>
      <p:sp>
        <p:nvSpPr>
          <p:cNvPr id="453" name="Google Shape;453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the job</a:t>
            </a:r>
            <a:endParaRPr/>
          </a:p>
        </p:txBody>
      </p:sp>
      <p:sp>
        <p:nvSpPr>
          <p:cNvPr id="459" name="Google Shape;459;p76"/>
          <p:cNvSpPr txBox="1"/>
          <p:nvPr>
            <p:ph idx="1" type="body"/>
          </p:nvPr>
        </p:nvSpPr>
        <p:spPr>
          <a:xfrm>
            <a:off x="311700" y="1076275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Obtain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JobScheduler</a:t>
            </a:r>
            <a:r>
              <a:rPr lang="en"/>
              <a:t> object form the system.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schedule()</a:t>
            </a:r>
            <a:r>
              <a:rPr lang="en"/>
              <a:t> on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JobScheduler</a:t>
            </a:r>
            <a:r>
              <a:rPr lang="en"/>
              <a:t>,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JobInfo</a:t>
            </a:r>
            <a:r>
              <a:rPr lang="en"/>
              <a:t> object.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mScheduler =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(JobScheduler)getSystemService(JOB_SCHEDULER_SERVICE);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mScheduler.schedule(myJobInfo);</a:t>
            </a:r>
            <a:endParaRPr sz="1800">
              <a:solidFill>
                <a:srgbClr val="CC7832"/>
              </a:solidFill>
              <a:highlight>
                <a:srgbClr val="2B2B2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466" name="Google Shape;466;p77"/>
          <p:cNvSpPr txBox="1"/>
          <p:nvPr>
            <p:ph idx="1" type="body"/>
          </p:nvPr>
        </p:nvSpPr>
        <p:spPr>
          <a:xfrm>
            <a:off x="235500" y="1103150"/>
            <a:ext cx="8690100" cy="3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Transferring Data Without Draining the Battery Guide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Optimizing Downloads for Efficient Network Access Guide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Modifying your Download Patterns Based on the Connectivity Type Guide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JobScheduler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 Reference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JobService</a:t>
            </a:r>
            <a:r>
              <a:rPr lang="en" sz="1800" u="sng">
                <a:solidFill>
                  <a:schemeClr val="hlink"/>
                </a:solidFill>
                <a:hlinkClick r:id="rId9"/>
              </a:rPr>
              <a:t> Reference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0"/>
              </a:rPr>
              <a:t>JobInfo</a:t>
            </a:r>
            <a:r>
              <a:rPr lang="en" sz="1800" u="sng">
                <a:solidFill>
                  <a:schemeClr val="hlink"/>
                </a:solidFill>
                <a:hlinkClick r:id="rId11"/>
              </a:rPr>
              <a:t> Reference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2"/>
              </a:rPr>
              <a:t>JobInfo.Builder</a:t>
            </a:r>
            <a:r>
              <a:rPr lang="en" sz="1800" u="sng">
                <a:solidFill>
                  <a:schemeClr val="hlink"/>
                </a:solidFill>
                <a:hlinkClick r:id="rId13"/>
              </a:rPr>
              <a:t> Reference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4"/>
              </a:rPr>
              <a:t>JobParameters</a:t>
            </a:r>
            <a:r>
              <a:rPr lang="en" sz="1800" u="sng">
                <a:solidFill>
                  <a:schemeClr val="hlink"/>
                </a:solidFill>
                <a:hlinkClick r:id="rId15"/>
              </a:rPr>
              <a:t> Reference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16"/>
              </a:rPr>
              <a:t>Presentation on Scheduling Tasks</a:t>
            </a:r>
            <a:endParaRPr sz="1800"/>
          </a:p>
        </p:txBody>
      </p:sp>
      <p:sp>
        <p:nvSpPr>
          <p:cNvPr id="467" name="Google Shape;467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73" name="Google Shape;473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4" name="Google Shape;474;p78"/>
          <p:cNvSpPr txBox="1"/>
          <p:nvPr/>
        </p:nvSpPr>
        <p:spPr>
          <a:xfrm>
            <a:off x="311700" y="2216125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8.3 Efficient data transfer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8.3 Job Scheduler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80" name="Google Shape;480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2" name="Google Shape;482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