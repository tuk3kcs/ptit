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3"/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5143500" cx="9144000"/>
  <p:notesSz cx="6858000" cy="9144000"/>
  <p:embeddedFontLst>
    <p:embeddedFont>
      <p:font typeface="Roboto"/>
      <p:regular r:id="rId40"/>
      <p:bold r:id="rId41"/>
      <p:italic r:id="rId42"/>
      <p:boldItalic r:id="rId43"/>
    </p:embeddedFont>
    <p:embeddedFont>
      <p:font typeface="Open Sans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regular.fntdata"/><Relationship Id="rId20" Type="http://schemas.openxmlformats.org/officeDocument/2006/relationships/slide" Target="slides/slide15.xml"/><Relationship Id="rId42" Type="http://schemas.openxmlformats.org/officeDocument/2006/relationships/font" Target="fonts/Roboto-italic.fntdata"/><Relationship Id="rId41" Type="http://schemas.openxmlformats.org/officeDocument/2006/relationships/font" Target="fonts/Roboto-bold.fntdata"/><Relationship Id="rId22" Type="http://schemas.openxmlformats.org/officeDocument/2006/relationships/slide" Target="slides/slide17.xml"/><Relationship Id="rId44" Type="http://schemas.openxmlformats.org/officeDocument/2006/relationships/font" Target="fonts/OpenSans-regular.fntdata"/><Relationship Id="rId21" Type="http://schemas.openxmlformats.org/officeDocument/2006/relationships/slide" Target="slides/slide16.xml"/><Relationship Id="rId43" Type="http://schemas.openxmlformats.org/officeDocument/2006/relationships/font" Target="fonts/Roboto-boldItalic.fntdata"/><Relationship Id="rId24" Type="http://schemas.openxmlformats.org/officeDocument/2006/relationships/slide" Target="slides/slide19.xml"/><Relationship Id="rId46" Type="http://schemas.openxmlformats.org/officeDocument/2006/relationships/font" Target="fonts/OpenSans-italic.fntdata"/><Relationship Id="rId23" Type="http://schemas.openxmlformats.org/officeDocument/2006/relationships/slide" Target="slides/slide18.xml"/><Relationship Id="rId45" Type="http://schemas.openxmlformats.org/officeDocument/2006/relationships/font" Target="fonts/OpenSans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47" Type="http://schemas.openxmlformats.org/officeDocument/2006/relationships/font" Target="fonts/OpenSans-bold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dde0bc238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dde0bc238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dde0bc238_3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dde0bc238_3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dde0bc238_3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dde0bc238_3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dde0bc238_3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dde0bc238_3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dde0bc238_3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dde0bc238_3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dde0bc238_3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dde0bc238_3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dde0bc238_3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dde0bc238_3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dde0bc238_3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dde0bc238_3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dde0bc238_3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dde0bc238_3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dde0bc238_3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dde0bc238_3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dde0bc238_3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dde0bc238_3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dde0bc238_3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dde0bc238_3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dde0bc238_3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dde0bc238_3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dde0bc238_3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dde0bc238_3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dde0bc238_3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dde0bc238_3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dde0bc238_3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dde0bc238_3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dde0bc238_3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2dde0bc238_3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dde0bc238_3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dde0bc238_3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dde0bc238_3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dde0bc238_3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dde0bc238_3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2dde0bc238_3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dde0bc238_3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dde0bc238_3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dde0bc238_3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2dde0bc238_3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dde0bc238_3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dde0bc238_3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dde0bc238_3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dde0bc238_3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dde0bc238_3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2dde0bc238_3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dde0bc238_3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2dde0bc238_3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dde0bc238_3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2dde0bc238_3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dde0bc238_3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dde0bc238_3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2dde0bc238_3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2dde0bc238_3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2dde0bc238_3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2dde0bc238_3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dde0bc238_3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2dde0bc238_3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2dde0bc238_3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2dde0bc238_3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2dde0bc238_3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2dde0bc238_3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2dde0bc238_3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2dde0bc238_3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21AAC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21AAC3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2400"/>
              <a:buNone/>
              <a:defRPr sz="2400">
                <a:solidFill>
                  <a:srgbClr val="21AAC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389600"/>
            <a:ext cx="84282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800"/>
              <a:buNone/>
              <a:defRPr sz="4800">
                <a:solidFill>
                  <a:srgbClr val="21AAC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46464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200"/>
              <a:buNone/>
              <a:defRPr sz="4200">
                <a:solidFill>
                  <a:srgbClr val="21AAC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7-06-24 at 5.25.46 PM.png" id="54" name="Google Shape;54;p11"/>
          <p:cNvPicPr preferRelativeResize="0"/>
          <p:nvPr/>
        </p:nvPicPr>
        <p:blipFill rotWithShape="1">
          <a:blip r:embed="rId2">
            <a:alphaModFix/>
          </a:blip>
          <a:srcRect b="0" l="39" r="39" t="0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11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1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8" name="Google Shape;58;p11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9" name="Google Shape;59;p11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footer.png" id="61" name="Google Shape;6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038" y="-16809"/>
            <a:ext cx="9144000" cy="5173502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1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Topics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p11"/>
          <p:cNvSpPr txBox="1"/>
          <p:nvPr/>
        </p:nvSpPr>
        <p:spPr>
          <a:xfrm>
            <a:off x="4407225" y="4761525"/>
            <a:ext cx="12876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Fragments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" name="Google Shape;64;p1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5" name="Google Shape;65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21AAC3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21AAC3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1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2400"/>
              <a:buNone/>
              <a:defRPr sz="2400">
                <a:solidFill>
                  <a:srgbClr val="21AAC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1389600"/>
            <a:ext cx="84282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3" name="Google Shape;103;p1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800"/>
              <a:buNone/>
              <a:defRPr sz="4800">
                <a:solidFill>
                  <a:srgbClr val="21AAC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6" name="Google Shape;106;p2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/>
          <p:nvPr/>
        </p:nvSpPr>
        <p:spPr>
          <a:xfrm>
            <a:off x="4572000" y="-125"/>
            <a:ext cx="4572000" cy="46464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200"/>
              <a:buNone/>
              <a:defRPr sz="4200">
                <a:solidFill>
                  <a:srgbClr val="21AAC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0" name="Google Shape;110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1" name="Google Shape;111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15" name="Google Shape;115;p2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7-06-24 at 5.25.46 PM.png" id="117" name="Google Shape;117;p23"/>
          <p:cNvPicPr preferRelativeResize="0"/>
          <p:nvPr/>
        </p:nvPicPr>
        <p:blipFill rotWithShape="1">
          <a:blip r:embed="rId2">
            <a:alphaModFix/>
          </a:blip>
          <a:srcRect b="0" l="39" r="39" t="0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3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0" name="Google Shape;120;p23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1" name="Google Shape;121;p23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2" name="Google Shape;122;p23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3" name="Google Shape;123;p23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footer.png" id="124" name="Google Shape;12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038" y="-16809"/>
            <a:ext cx="9144000" cy="517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3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Development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23"/>
          <p:cNvSpPr txBox="1"/>
          <p:nvPr/>
        </p:nvSpPr>
        <p:spPr>
          <a:xfrm>
            <a:off x="4407225" y="4761525"/>
            <a:ext cx="12876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Fragments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p23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8" name="Google Shape;128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9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" Type="http://schemas.openxmlformats.org/officeDocument/2006/relationships/image" Target="../media/image9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3600"/>
              <a:buFont typeface="Roboto"/>
              <a:buNone/>
              <a:defRPr b="1" sz="3600">
                <a:solidFill>
                  <a:srgbClr val="21AAC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Topics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4407225" y="4761525"/>
            <a:ext cx="12876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Fragments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9" name="Google Shape;69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3600"/>
              <a:buFont typeface="Roboto"/>
              <a:buNone/>
              <a:defRPr b="1" sz="3600">
                <a:solidFill>
                  <a:srgbClr val="21AAC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3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3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Development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4407225" y="4761525"/>
            <a:ext cx="12876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Fragments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7" name="Google Shape;7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developer.android.com/reference/android/view/ViewGroup.html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developer.android.com/reference/android/widget/FrameLayout.html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developer.android.com/reference/android/app/FragmentManager.html" TargetMode="External"/><Relationship Id="rId4" Type="http://schemas.openxmlformats.org/officeDocument/2006/relationships/hyperlink" Target="https://developer.android.com/reference/android/support/v4/app/FragmentActivity.html#getSupportFragmentManager()" TargetMode="External"/><Relationship Id="rId5" Type="http://schemas.openxmlformats.org/officeDocument/2006/relationships/hyperlink" Target="https://developer.android.com/tools/support-library/index.html" TargetMode="External"/><Relationship Id="rId6" Type="http://schemas.openxmlformats.org/officeDocument/2006/relationships/hyperlink" Target="https://developer.android.com/reference/android/support/v4/app/FragmentActivity.html#getSupportFragmentManager()" TargetMode="External"/><Relationship Id="rId7" Type="http://schemas.openxmlformats.org/officeDocument/2006/relationships/hyperlink" Target="https://developer.android.com/reference/android/app/Activity.html#getFragmentManager()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developer.android.com/reference/android/app/FragmentManager.html#beginTransaction()" TargetMode="External"/><Relationship Id="rId4" Type="http://schemas.openxmlformats.org/officeDocument/2006/relationships/hyperlink" Target="https://developer.android.com/reference/android/app/FragmentTransaction.html#commit()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developer.android.com/reference/android/app/FragmentTransaction.html#add(int,%20android.app.Fragment)" TargetMode="External"/><Relationship Id="rId4" Type="http://schemas.openxmlformats.org/officeDocument/2006/relationships/hyperlink" Target="https://developer.android.com/reference/android/app/FragmentTransaction.html#remove(android.app.Fragment)" TargetMode="External"/><Relationship Id="rId5" Type="http://schemas.openxmlformats.org/officeDocument/2006/relationships/hyperlink" Target="https://developer.android.com/reference/android/app/FragmentTransaction.html#replace(int,%20android.app.Fragment)" TargetMode="External"/><Relationship Id="rId6" Type="http://schemas.openxmlformats.org/officeDocument/2006/relationships/hyperlink" Target="https://developer.android.com/reference/android/app/FragmentTransaction.html#hide(android.app.Fragment)" TargetMode="External"/><Relationship Id="rId7" Type="http://schemas.openxmlformats.org/officeDocument/2006/relationships/hyperlink" Target="https://developer.android.com/reference/android/app/FragmentTransaction.html#show(android.app.Fragment)" TargetMode="External"/><Relationship Id="rId8" Type="http://schemas.openxmlformats.org/officeDocument/2006/relationships/hyperlink" Target="https://developer.android.com/reference/android/app/FragmentTransaction.html#addToBackStack(java.lang.String)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developer.android.com/reference/android/view/ViewGroup.html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google-developer-training.gitbooks.io/android-developer-advanced-course-concepts/content/unit-1-expand-the-user-experience/lesson-1-fragments/1-1-c-fragments/1-1-c-fragments.html" TargetMode="External"/><Relationship Id="rId4" Type="http://schemas.openxmlformats.org/officeDocument/2006/relationships/hyperlink" Target="https://google-developer-training.gitbooks.io/android-developer-advanced-course-practicals/content/unit-1-expand-the-user-experience/lesson-1-fragments/1-1-p-creating-a-fragment-with-a-ui/1-1-p-creating-a-fragment-with-a-ui.html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6" name="Google Shape;136;p25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25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Fragments</a:t>
            </a:r>
            <a:endParaRPr/>
          </a:p>
        </p:txBody>
      </p:sp>
      <p:sp>
        <p:nvSpPr>
          <p:cNvPr id="138" name="Google Shape;138;p25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1 </a:t>
            </a:r>
            <a:endParaRPr/>
          </a:p>
        </p:txBody>
      </p:sp>
      <p:sp>
        <p:nvSpPr>
          <p:cNvPr id="139" name="Google Shape;139;p25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Android Development</a:t>
            </a:r>
            <a:endParaRPr/>
          </a:p>
        </p:txBody>
      </p:sp>
      <p:sp>
        <p:nvSpPr>
          <p:cNvPr id="140" name="Google Shape;140;p25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1.1 Fragments</a:t>
            </a:r>
            <a:endParaRPr/>
          </a:p>
        </p:txBody>
      </p:sp>
      <p:sp>
        <p:nvSpPr>
          <p:cNvPr id="146" name="Google Shape;146;p26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A reusable UI component with its own lifecycle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Contents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333600" y="1538425"/>
            <a:ext cx="8476800" cy="27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Understanding the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>
                <a:solidFill>
                  <a:srgbClr val="000000"/>
                </a:solidFill>
              </a:rPr>
              <a:t> class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Creating a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●"/>
            </a:pPr>
            <a:r>
              <a:rPr lang="en">
                <a:solidFill>
                  <a:schemeClr val="dk1"/>
                </a:solidFill>
              </a:rPr>
              <a:t>Using a layout for a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●"/>
            </a:pPr>
            <a:r>
              <a:rPr lang="en">
                <a:solidFill>
                  <a:schemeClr val="dk1"/>
                </a:solidFill>
              </a:rPr>
              <a:t>Adding a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>
                <a:solidFill>
                  <a:schemeClr val="dk1"/>
                </a:solidFill>
              </a:rPr>
              <a:t> to an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4" name="Google Shape;154;p2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265500" y="1233175"/>
            <a:ext cx="4045200" cy="205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the Fragment class</a:t>
            </a:r>
            <a:endParaRPr/>
          </a:p>
        </p:txBody>
      </p:sp>
      <p:sp>
        <p:nvSpPr>
          <p:cNvPr id="160" name="Google Shape;160;p2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1" name="Google Shape;161;p2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Fragment class</a:t>
            </a:r>
            <a:endParaRPr/>
          </a:p>
        </p:txBody>
      </p:sp>
      <p:sp>
        <p:nvSpPr>
          <p:cNvPr id="167" name="Google Shape;167;p29"/>
          <p:cNvSpPr txBox="1"/>
          <p:nvPr>
            <p:ph idx="1" type="body"/>
          </p:nvPr>
        </p:nvSpPr>
        <p:spPr>
          <a:xfrm>
            <a:off x="311700" y="1310500"/>
            <a:ext cx="8520600" cy="318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Contains a portion of the UI and its behavior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Has its own lifecycle states (like an 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)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Reusable—share across multiple activities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Each 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instance exclusively tied to host 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Activity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nsolas"/>
              <a:buChar char="○"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 </a:t>
            </a:r>
            <a:r>
              <a:rPr lang="en">
                <a:solidFill>
                  <a:schemeClr val="dk1"/>
                </a:solidFill>
              </a:rPr>
              <a:t>code defines layout and behavior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Represents sections of a UI for different layouts</a:t>
            </a:r>
            <a:endParaRPr/>
          </a:p>
        </p:txBody>
      </p:sp>
      <p:sp>
        <p:nvSpPr>
          <p:cNvPr id="168" name="Google Shape;168;p2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Pickers use DialogFragment</a:t>
            </a:r>
            <a:endParaRPr/>
          </a:p>
        </p:txBody>
      </p:sp>
      <p:sp>
        <p:nvSpPr>
          <p:cNvPr id="174" name="Google Shape;174;p30"/>
          <p:cNvSpPr txBox="1"/>
          <p:nvPr>
            <p:ph idx="1" type="body"/>
          </p:nvPr>
        </p:nvSpPr>
        <p:spPr>
          <a:xfrm>
            <a:off x="311700" y="1310500"/>
            <a:ext cx="3793800" cy="318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Date and time pickers: Extend 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DialogFragment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(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subclass)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175" name="Google Shape;175;p3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6" name="Google Shape;17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2875" y="1244195"/>
            <a:ext cx="4219575" cy="331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DialogFragment hosted by Activity</a:t>
            </a:r>
            <a:endParaRPr/>
          </a:p>
        </p:txBody>
      </p:sp>
      <p:sp>
        <p:nvSpPr>
          <p:cNvPr id="182" name="Google Shape;182;p31"/>
          <p:cNvSpPr txBox="1"/>
          <p:nvPr>
            <p:ph idx="1" type="body"/>
          </p:nvPr>
        </p:nvSpPr>
        <p:spPr>
          <a:xfrm>
            <a:off x="311700" y="1310500"/>
            <a:ext cx="4121400" cy="318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before adding date picker fragment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Date picker fragment appears on top of 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Activity</a:t>
            </a:r>
            <a:endParaRPr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3" name="Google Shape;183;p3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4" name="Google Shape;18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8875" y="1025675"/>
            <a:ext cx="2003975" cy="3562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91263" y="1025675"/>
            <a:ext cx="2052575" cy="3649051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1"/>
          <p:cNvSpPr/>
          <p:nvPr/>
        </p:nvSpPr>
        <p:spPr>
          <a:xfrm>
            <a:off x="5345168" y="1178065"/>
            <a:ext cx="371400" cy="371400"/>
          </a:xfrm>
          <a:prstGeom prst="ellipse">
            <a:avLst/>
          </a:prstGeom>
          <a:solidFill>
            <a:srgbClr val="990000"/>
          </a:solidFill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1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87" name="Google Shape;187;p31"/>
          <p:cNvSpPr/>
          <p:nvPr/>
        </p:nvSpPr>
        <p:spPr>
          <a:xfrm>
            <a:off x="7531843" y="1178065"/>
            <a:ext cx="371400" cy="371400"/>
          </a:xfrm>
          <a:prstGeom prst="ellipse">
            <a:avLst/>
          </a:prstGeom>
          <a:solidFill>
            <a:srgbClr val="990000"/>
          </a:solidFill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2</a:t>
            </a:r>
            <a:endParaRPr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 Fragment to an Activity</a:t>
            </a:r>
            <a:endParaRPr/>
          </a:p>
        </p:txBody>
      </p:sp>
      <p:sp>
        <p:nvSpPr>
          <p:cNvPr id="193" name="Google Shape;193;p32"/>
          <p:cNvSpPr txBox="1"/>
          <p:nvPr>
            <p:ph idx="1" type="body"/>
          </p:nvPr>
        </p:nvSpPr>
        <p:spPr>
          <a:xfrm>
            <a:off x="311700" y="1640675"/>
            <a:ext cx="8754900" cy="291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Static part of UI (in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>
                <a:solidFill>
                  <a:srgbClr val="000000"/>
                </a:solidFill>
              </a:rPr>
              <a:t> layout):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on screen during entire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rgbClr val="000000"/>
                </a:solidFill>
              </a:rPr>
              <a:t>lifecycle 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Dynamic part of UI: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added and removed while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>
                <a:solidFill>
                  <a:srgbClr val="000000"/>
                </a:solidFill>
              </a:rPr>
              <a:t> is running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Benefits of using fragments</a:t>
            </a:r>
            <a:endParaRPr/>
          </a:p>
        </p:txBody>
      </p:sp>
      <p:sp>
        <p:nvSpPr>
          <p:cNvPr id="200" name="Google Shape;200;p33"/>
          <p:cNvSpPr txBox="1"/>
          <p:nvPr>
            <p:ph idx="1" type="body"/>
          </p:nvPr>
        </p:nvSpPr>
        <p:spPr>
          <a:xfrm>
            <a:off x="311700" y="1187725"/>
            <a:ext cx="8754900" cy="3365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Reuse a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>
                <a:solidFill>
                  <a:srgbClr val="000000"/>
                </a:solidFill>
              </a:rPr>
              <a:t> in more than one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Add or remove dynamically as needed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Integrate a mini-UI within an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Retain data instances after a configuration change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Represent sections of a layout for different screen sizes </a:t>
            </a:r>
            <a:endParaRPr/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to using a fragment</a:t>
            </a:r>
            <a:endParaRPr/>
          </a:p>
        </p:txBody>
      </p:sp>
      <p:sp>
        <p:nvSpPr>
          <p:cNvPr id="207" name="Google Shape;207;p34"/>
          <p:cNvSpPr txBox="1"/>
          <p:nvPr>
            <p:ph idx="1" type="body"/>
          </p:nvPr>
        </p:nvSpPr>
        <p:spPr>
          <a:xfrm>
            <a:off x="311700" y="1187725"/>
            <a:ext cx="8754900" cy="3365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Create a subclass of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Create a layout for the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Add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>
                <a:solidFill>
                  <a:srgbClr val="000000"/>
                </a:solidFill>
              </a:rPr>
              <a:t> to a host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1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○"/>
            </a:pPr>
            <a:r>
              <a:rPr lang="en" sz="2400">
                <a:solidFill>
                  <a:srgbClr val="000000"/>
                </a:solidFill>
              </a:rPr>
              <a:t>Statically in layout</a:t>
            </a:r>
            <a:endParaRPr sz="2400">
              <a:solidFill>
                <a:srgbClr val="000000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○"/>
            </a:pPr>
            <a:r>
              <a:rPr lang="en" sz="2400">
                <a:solidFill>
                  <a:srgbClr val="000000"/>
                </a:solidFill>
              </a:rPr>
              <a:t>Dynamically using fragment transactions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5"/>
          <p:cNvSpPr txBox="1"/>
          <p:nvPr>
            <p:ph type="title"/>
          </p:nvPr>
        </p:nvSpPr>
        <p:spPr>
          <a:xfrm>
            <a:off x="265500" y="1233175"/>
            <a:ext cx="4045200" cy="205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 Fragment</a:t>
            </a:r>
            <a:endParaRPr/>
          </a:p>
        </p:txBody>
      </p:sp>
      <p:sp>
        <p:nvSpPr>
          <p:cNvPr id="214" name="Google Shape;214;p3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15" name="Google Shape;215;p3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new Fragment in Android Studio</a:t>
            </a:r>
            <a:endParaRPr/>
          </a:p>
        </p:txBody>
      </p:sp>
      <p:sp>
        <p:nvSpPr>
          <p:cNvPr id="221" name="Google Shape;221;p36"/>
          <p:cNvSpPr txBox="1"/>
          <p:nvPr>
            <p:ph idx="1" type="body"/>
          </p:nvPr>
        </p:nvSpPr>
        <p:spPr>
          <a:xfrm>
            <a:off x="311700" y="1187725"/>
            <a:ext cx="8754900" cy="3365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Expand </a:t>
            </a:r>
            <a:r>
              <a:rPr b="1" lang="en">
                <a:solidFill>
                  <a:srgbClr val="000000"/>
                </a:solidFill>
              </a:rPr>
              <a:t>app &gt; java</a:t>
            </a:r>
            <a:r>
              <a:rPr lang="en">
                <a:solidFill>
                  <a:srgbClr val="000000"/>
                </a:solidFill>
              </a:rPr>
              <a:t> in project and select package name</a:t>
            </a:r>
            <a:endParaRPr>
              <a:solidFill>
                <a:srgbClr val="000000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Choose </a:t>
            </a:r>
            <a:r>
              <a:rPr b="1" lang="en">
                <a:solidFill>
                  <a:srgbClr val="000000"/>
                </a:solidFill>
              </a:rPr>
              <a:t>File &gt; New &gt; Fragment &gt; Fragment (Blank)</a:t>
            </a:r>
            <a:endParaRPr>
              <a:solidFill>
                <a:srgbClr val="000000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Check the </a:t>
            </a:r>
            <a:r>
              <a:rPr b="1" lang="en">
                <a:solidFill>
                  <a:srgbClr val="000000"/>
                </a:solidFill>
              </a:rPr>
              <a:t>Create layout XML</a:t>
            </a:r>
            <a:r>
              <a:rPr lang="en">
                <a:solidFill>
                  <a:srgbClr val="000000"/>
                </a:solidFill>
              </a:rPr>
              <a:t> option for layout</a:t>
            </a:r>
            <a:endParaRPr>
              <a:solidFill>
                <a:srgbClr val="000000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Other options:</a:t>
            </a:r>
            <a:endParaRPr>
              <a:solidFill>
                <a:srgbClr val="000000"/>
              </a:solidFill>
            </a:endParaRPr>
          </a:p>
          <a:p>
            <a:pPr indent="-355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b="1" lang="en">
                <a:solidFill>
                  <a:srgbClr val="000000"/>
                </a:solidFill>
              </a:rPr>
              <a:t>Include fragment factory methods</a:t>
            </a:r>
            <a:r>
              <a:rPr lang="en">
                <a:solidFill>
                  <a:srgbClr val="000000"/>
                </a:solidFill>
              </a:rPr>
              <a:t> to include a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newInstance()</a:t>
            </a:r>
            <a:r>
              <a:rPr lang="en">
                <a:solidFill>
                  <a:srgbClr val="000000"/>
                </a:solidFill>
              </a:rPr>
              <a:t> method to instantiate the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55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b="1" lang="en">
                <a:solidFill>
                  <a:srgbClr val="000000"/>
                </a:solidFill>
              </a:rPr>
              <a:t>Include interface callbacks</a:t>
            </a:r>
            <a:r>
              <a:rPr lang="en">
                <a:solidFill>
                  <a:srgbClr val="000000"/>
                </a:solidFill>
              </a:rPr>
              <a:t> to define an interface with callbacks 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22" name="Google Shape;222;p3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Fragment</a:t>
            </a:r>
            <a:endParaRPr/>
          </a:p>
        </p:txBody>
      </p:sp>
      <p:sp>
        <p:nvSpPr>
          <p:cNvPr id="228" name="Google Shape;228;p37"/>
          <p:cNvSpPr txBox="1"/>
          <p:nvPr>
            <p:ph idx="1" type="body"/>
          </p:nvPr>
        </p:nvSpPr>
        <p:spPr>
          <a:xfrm>
            <a:off x="311700" y="1187725"/>
            <a:ext cx="8754900" cy="3365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public class SimpleFragment extends Fragment {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public SimpleFragment() {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// Required empty public constructor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29" name="Google Shape;229;p3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Extend the Fragment class</a:t>
            </a:r>
            <a:endParaRPr/>
          </a:p>
        </p:txBody>
      </p:sp>
      <p:sp>
        <p:nvSpPr>
          <p:cNvPr id="235" name="Google Shape;235;p38"/>
          <p:cNvSpPr txBox="1"/>
          <p:nvPr>
            <p:ph idx="1" type="body"/>
          </p:nvPr>
        </p:nvSpPr>
        <p:spPr>
          <a:xfrm>
            <a:off x="311700" y="1187725"/>
            <a:ext cx="8754900" cy="3365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Extend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>
                <a:solidFill>
                  <a:srgbClr val="000000"/>
                </a:solidFill>
              </a:rPr>
              <a:t> class</a:t>
            </a:r>
            <a:endParaRPr>
              <a:solidFill>
                <a:srgbClr val="000000"/>
              </a:solidFill>
            </a:endParaRPr>
          </a:p>
          <a:p>
            <a:pPr indent="-381000" lvl="1" marL="9144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○"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class SimpleFragment extends Fragment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Extend specific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>
                <a:solidFill>
                  <a:srgbClr val="000000"/>
                </a:solidFill>
              </a:rPr>
              <a:t> subclass:</a:t>
            </a:r>
            <a:endParaRPr>
              <a:solidFill>
                <a:srgbClr val="000000"/>
              </a:solidFill>
            </a:endParaRPr>
          </a:p>
          <a:p>
            <a:pPr indent="-355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Char char="○"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DialogFragment</a:t>
            </a:r>
            <a:r>
              <a:rPr lang="en">
                <a:solidFill>
                  <a:srgbClr val="000000"/>
                </a:solidFill>
              </a:rPr>
              <a:t>: Floating dialog (examples: date and time pickers)</a:t>
            </a:r>
            <a:endParaRPr>
              <a:solidFill>
                <a:srgbClr val="000000"/>
              </a:solidFill>
            </a:endParaRPr>
          </a:p>
          <a:p>
            <a:pPr indent="-355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Char char="○"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ListFragment</a:t>
            </a:r>
            <a:r>
              <a:rPr lang="en">
                <a:solidFill>
                  <a:srgbClr val="000000"/>
                </a:solidFill>
              </a:rPr>
              <a:t>: List of items managed by adapter </a:t>
            </a:r>
            <a:endParaRPr>
              <a:solidFill>
                <a:srgbClr val="000000"/>
              </a:solidFill>
            </a:endParaRPr>
          </a:p>
          <a:p>
            <a:pPr indent="-355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Char char="○"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PreferenceFragment</a:t>
            </a:r>
            <a:r>
              <a:rPr lang="en">
                <a:solidFill>
                  <a:srgbClr val="000000"/>
                </a:solidFill>
              </a:rPr>
              <a:t>: Hierarchy of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Preference</a:t>
            </a:r>
            <a:r>
              <a:rPr lang="en">
                <a:solidFill>
                  <a:srgbClr val="000000"/>
                </a:solidFill>
              </a:rPr>
              <a:t> objects (useful for Settings)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9"/>
          <p:cNvSpPr txBox="1"/>
          <p:nvPr>
            <p:ph type="title"/>
          </p:nvPr>
        </p:nvSpPr>
        <p:spPr>
          <a:xfrm>
            <a:off x="265500" y="1233175"/>
            <a:ext cx="4045200" cy="205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a layout for a Fragment</a:t>
            </a:r>
            <a:endParaRPr/>
          </a:p>
        </p:txBody>
      </p:sp>
      <p:sp>
        <p:nvSpPr>
          <p:cNvPr id="242" name="Google Shape;242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43" name="Google Shape;243;p3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a layout for a Fragment</a:t>
            </a:r>
            <a:endParaRPr/>
          </a:p>
        </p:txBody>
      </p:sp>
      <p:sp>
        <p:nvSpPr>
          <p:cNvPr id="249" name="Google Shape;249;p40"/>
          <p:cNvSpPr txBox="1"/>
          <p:nvPr>
            <p:ph idx="1" type="body"/>
          </p:nvPr>
        </p:nvSpPr>
        <p:spPr>
          <a:xfrm>
            <a:off x="311700" y="1187725"/>
            <a:ext cx="8754900" cy="3365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b="1" lang="en">
                <a:solidFill>
                  <a:srgbClr val="000000"/>
                </a:solidFill>
              </a:rPr>
              <a:t>Create layout XML</a:t>
            </a:r>
            <a:r>
              <a:rPr lang="en">
                <a:solidFill>
                  <a:srgbClr val="000000"/>
                </a:solidFill>
              </a:rPr>
              <a:t> option adds XML layout</a:t>
            </a:r>
            <a:endParaRPr>
              <a:solidFill>
                <a:srgbClr val="000000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>
                <a:solidFill>
                  <a:srgbClr val="000000"/>
                </a:solidFill>
              </a:rPr>
              <a:t> callback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onCreateView()</a:t>
            </a:r>
            <a:r>
              <a:rPr lang="en">
                <a:solidFill>
                  <a:srgbClr val="000000"/>
                </a:solidFill>
              </a:rPr>
              <a:t> creates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○"/>
            </a:pPr>
            <a:r>
              <a:rPr lang="en" sz="2400">
                <a:solidFill>
                  <a:srgbClr val="000000"/>
                </a:solidFill>
              </a:rPr>
              <a:t>Override this to inflate the </a:t>
            </a: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 sz="2400">
                <a:solidFill>
                  <a:srgbClr val="000000"/>
                </a:solidFill>
              </a:rPr>
              <a:t> layout</a:t>
            </a:r>
            <a:endParaRPr sz="2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○"/>
            </a:pPr>
            <a:r>
              <a:rPr lang="en" sz="2400">
                <a:solidFill>
                  <a:srgbClr val="000000"/>
                </a:solidFill>
              </a:rPr>
              <a:t>Return </a:t>
            </a:r>
            <a:r>
              <a:rPr lang="e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 sz="2400">
                <a:solidFill>
                  <a:srgbClr val="000000"/>
                </a:solidFill>
              </a:rPr>
              <a:t>: root of </a:t>
            </a: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 sz="2400">
                <a:solidFill>
                  <a:srgbClr val="000000"/>
                </a:solidFill>
              </a:rPr>
              <a:t> layout</a:t>
            </a:r>
            <a:endParaRPr sz="2400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0" name="Google Shape;250;p4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Inflate the layout for the Fragment (1)</a:t>
            </a:r>
            <a:endParaRPr/>
          </a:p>
        </p:txBody>
      </p:sp>
      <p:sp>
        <p:nvSpPr>
          <p:cNvPr id="256" name="Google Shape;256;p41"/>
          <p:cNvSpPr txBox="1"/>
          <p:nvPr>
            <p:ph idx="1" type="body"/>
          </p:nvPr>
        </p:nvSpPr>
        <p:spPr>
          <a:xfrm>
            <a:off x="311700" y="1187725"/>
            <a:ext cx="8754900" cy="3365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public View onCreateView(LayoutInflater inflater, 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ViewGroup container, Bundle savedInstanceState) {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// Inflate the fragment layout and return it as root view.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return inflater.inflate(R.layout.fragment_simple, 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               container, false);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7" name="Google Shape;257;p4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Inflate the layout for the Fragment (2)</a:t>
            </a:r>
            <a:endParaRPr/>
          </a:p>
        </p:txBody>
      </p:sp>
      <p:sp>
        <p:nvSpPr>
          <p:cNvPr id="263" name="Google Shape;263;p42"/>
          <p:cNvSpPr txBox="1"/>
          <p:nvPr>
            <p:ph idx="1" type="body"/>
          </p:nvPr>
        </p:nvSpPr>
        <p:spPr>
          <a:xfrm>
            <a:off x="311700" y="1187725"/>
            <a:ext cx="8754900" cy="3365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Fragment layout is inserted into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container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ViewGroup</a:t>
            </a:r>
            <a:r>
              <a:rPr lang="en">
                <a:solidFill>
                  <a:schemeClr val="dk1"/>
                </a:solidFill>
              </a:rPr>
              <a:t> in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>
                <a:solidFill>
                  <a:schemeClr val="dk1"/>
                </a:solidFill>
              </a:rPr>
              <a:t> layout</a:t>
            </a:r>
            <a:endParaRPr>
              <a:solidFill>
                <a:schemeClr val="dk1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LayoutInflater</a:t>
            </a:r>
            <a:r>
              <a:rPr lang="en">
                <a:solidFill>
                  <a:schemeClr val="dk1"/>
                </a:solidFill>
              </a:rPr>
              <a:t> inflates layout and returns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>
                <a:solidFill>
                  <a:schemeClr val="dk1"/>
                </a:solidFill>
              </a:rPr>
              <a:t> layout root to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Bundle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savedInstanceState</a:t>
            </a:r>
            <a:r>
              <a:rPr lang="en">
                <a:solidFill>
                  <a:schemeClr val="dk1"/>
                </a:solidFill>
              </a:rPr>
              <a:t> saves previous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>
                <a:solidFill>
                  <a:schemeClr val="dk1"/>
                </a:solidFill>
              </a:rPr>
              <a:t> instance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4" name="Google Shape;264;p4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Inflate the layout for the Fragment (3)</a:t>
            </a:r>
            <a:endParaRPr/>
          </a:p>
        </p:txBody>
      </p:sp>
      <p:sp>
        <p:nvSpPr>
          <p:cNvPr id="270" name="Google Shape;270;p43"/>
          <p:cNvSpPr txBox="1"/>
          <p:nvPr>
            <p:ph idx="1" type="body"/>
          </p:nvPr>
        </p:nvSpPr>
        <p:spPr>
          <a:xfrm>
            <a:off x="311700" y="1187725"/>
            <a:ext cx="8754900" cy="3365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return inflater.inflate(R.layout.fragment_simple, container, false);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Resource ID of layout (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R.layout.fragment_simple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ViewGroup</a:t>
            </a:r>
            <a:r>
              <a:rPr lang="en">
                <a:solidFill>
                  <a:schemeClr val="dk1"/>
                </a:solidFill>
              </a:rPr>
              <a:t> to be parent of inflated layout (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container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Boolean</a:t>
            </a:r>
            <a:r>
              <a:rPr lang="en">
                <a:solidFill>
                  <a:schemeClr val="dk1"/>
                </a:solidFill>
              </a:rPr>
              <a:t>: Whether layout should be attached to parent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55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○"/>
            </a:pPr>
            <a:r>
              <a:rPr lang="en">
                <a:solidFill>
                  <a:schemeClr val="dk1"/>
                </a:solidFill>
              </a:rPr>
              <a:t>Should be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-355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○"/>
            </a:pPr>
            <a:r>
              <a:rPr lang="en">
                <a:solidFill>
                  <a:schemeClr val="dk1"/>
                </a:solidFill>
              </a:rPr>
              <a:t>If adding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>
                <a:solidFill>
                  <a:schemeClr val="dk1"/>
                </a:solidFill>
              </a:rPr>
              <a:t> in code, don't pass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">
                <a:solidFill>
                  <a:schemeClr val="dk1"/>
                </a:solidFill>
              </a:rPr>
              <a:t> (creates a redundant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ViewGroup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1" name="Google Shape;271;p4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4"/>
          <p:cNvSpPr txBox="1"/>
          <p:nvPr>
            <p:ph type="title"/>
          </p:nvPr>
        </p:nvSpPr>
        <p:spPr>
          <a:xfrm>
            <a:off x="265500" y="1233175"/>
            <a:ext cx="4045200" cy="205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a Fragment to an Activity</a:t>
            </a:r>
            <a:endParaRPr/>
          </a:p>
        </p:txBody>
      </p:sp>
      <p:sp>
        <p:nvSpPr>
          <p:cNvPr id="277" name="Google Shape;277;p4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78" name="Google Shape;278;p4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 Fragment to an Activity</a:t>
            </a:r>
            <a:endParaRPr/>
          </a:p>
        </p:txBody>
      </p:sp>
      <p:sp>
        <p:nvSpPr>
          <p:cNvPr id="284" name="Google Shape;284;p45"/>
          <p:cNvSpPr txBox="1"/>
          <p:nvPr>
            <p:ph idx="1" type="body"/>
          </p:nvPr>
        </p:nvSpPr>
        <p:spPr>
          <a:xfrm>
            <a:off x="311700" y="1187725"/>
            <a:ext cx="8754900" cy="3365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Add </a:t>
            </a:r>
            <a:r>
              <a:rPr i="1" lang="en">
                <a:solidFill>
                  <a:srgbClr val="000000"/>
                </a:solidFill>
              </a:rPr>
              <a:t>statically</a:t>
            </a:r>
            <a:r>
              <a:rPr lang="en">
                <a:solidFill>
                  <a:srgbClr val="000000"/>
                </a:solidFill>
              </a:rPr>
              <a:t> in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>
                <a:solidFill>
                  <a:srgbClr val="000000"/>
                </a:solidFill>
              </a:rPr>
              <a:t> layout, visible for entire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>
                <a:solidFill>
                  <a:srgbClr val="000000"/>
                </a:solidFill>
              </a:rPr>
              <a:t> lifecycle</a:t>
            </a:r>
            <a:endParaRPr>
              <a:solidFill>
                <a:srgbClr val="000000"/>
              </a:solidFill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Char char="●"/>
            </a:pPr>
            <a:r>
              <a:rPr lang="en">
                <a:solidFill>
                  <a:srgbClr val="000000"/>
                </a:solidFill>
              </a:rPr>
              <a:t>Add (or remove) </a:t>
            </a:r>
            <a:r>
              <a:rPr i="1" lang="en">
                <a:solidFill>
                  <a:srgbClr val="000000"/>
                </a:solidFill>
              </a:rPr>
              <a:t>dynamically</a:t>
            </a:r>
            <a:r>
              <a:rPr lang="en">
                <a:solidFill>
                  <a:srgbClr val="000000"/>
                </a:solidFill>
              </a:rPr>
              <a:t> as needed during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>
                <a:solidFill>
                  <a:srgbClr val="000000"/>
                </a:solidFill>
              </a:rPr>
              <a:t> lifecycle using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>
                <a:solidFill>
                  <a:srgbClr val="000000"/>
                </a:solidFill>
              </a:rPr>
              <a:t> transactions</a:t>
            </a:r>
            <a:endParaRPr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5" name="Google Shape;285;p4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 Fragment statically</a:t>
            </a:r>
            <a:endParaRPr/>
          </a:p>
        </p:txBody>
      </p:sp>
      <p:sp>
        <p:nvSpPr>
          <p:cNvPr id="291" name="Google Shape;291;p46"/>
          <p:cNvSpPr txBox="1"/>
          <p:nvPr>
            <p:ph idx="1" type="body"/>
          </p:nvPr>
        </p:nvSpPr>
        <p:spPr>
          <a:xfrm>
            <a:off x="311700" y="1187725"/>
            <a:ext cx="8754900" cy="3365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AutoNum type="arabicPeriod"/>
            </a:pPr>
            <a:r>
              <a:rPr lang="en">
                <a:solidFill>
                  <a:srgbClr val="000000"/>
                </a:solidFill>
              </a:rPr>
              <a:t>Declare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>
                <a:solidFill>
                  <a:srgbClr val="000000"/>
                </a:solidFill>
              </a:rPr>
              <a:t> inside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>
                <a:solidFill>
                  <a:srgbClr val="000000"/>
                </a:solidFill>
              </a:rPr>
              <a:t> layout (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activity_main.xml</a:t>
            </a:r>
            <a:r>
              <a:rPr lang="en">
                <a:solidFill>
                  <a:srgbClr val="000000"/>
                </a:solidFill>
              </a:rPr>
              <a:t>) using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&lt;fragment&gt;</a:t>
            </a:r>
            <a:r>
              <a:rPr lang="en">
                <a:solidFill>
                  <a:srgbClr val="000000"/>
                </a:solidFill>
              </a:rPr>
              <a:t> tag</a:t>
            </a:r>
            <a:endParaRPr>
              <a:solidFill>
                <a:srgbClr val="000000"/>
              </a:solidFill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Roboto"/>
              <a:buAutoNum type="arabicPeriod"/>
            </a:pPr>
            <a:r>
              <a:rPr lang="en">
                <a:solidFill>
                  <a:srgbClr val="000000"/>
                </a:solidFill>
              </a:rPr>
              <a:t>Specify layout properties for the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>
                <a:solidFill>
                  <a:srgbClr val="000000"/>
                </a:solidFill>
              </a:rPr>
              <a:t> as if it were a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endParaRPr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2" name="Google Shape;292;p4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Static Fragment example</a:t>
            </a:r>
            <a:endParaRPr/>
          </a:p>
        </p:txBody>
      </p:sp>
      <p:sp>
        <p:nvSpPr>
          <p:cNvPr id="298" name="Google Shape;298;p47"/>
          <p:cNvSpPr txBox="1"/>
          <p:nvPr>
            <p:ph idx="1" type="body"/>
          </p:nvPr>
        </p:nvSpPr>
        <p:spPr>
          <a:xfrm>
            <a:off x="311700" y="1187725"/>
            <a:ext cx="8754900" cy="3365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Adding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SimpleFragment</a:t>
            </a:r>
            <a:r>
              <a:rPr lang="en">
                <a:solidFill>
                  <a:srgbClr val="000000"/>
                </a:solidFill>
              </a:rPr>
              <a:t> to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>
                <a:solidFill>
                  <a:srgbClr val="000000"/>
                </a:solidFill>
              </a:rPr>
              <a:t> layout:</a:t>
            </a:r>
            <a:endParaRPr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&lt;fragment android:name="com.example.appname.SimpleFragment"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android:id="@+id/simple_fragment"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android:layout_weight="2"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android:layout_width="0dp"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android:layout_height="match_parent" /&gt;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9" name="Google Shape;299;p4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 Fragment dynamically</a:t>
            </a:r>
            <a:endParaRPr/>
          </a:p>
        </p:txBody>
      </p:sp>
      <p:sp>
        <p:nvSpPr>
          <p:cNvPr id="305" name="Google Shape;305;p48"/>
          <p:cNvSpPr txBox="1"/>
          <p:nvPr>
            <p:ph idx="1" type="body"/>
          </p:nvPr>
        </p:nvSpPr>
        <p:spPr>
          <a:xfrm>
            <a:off x="311700" y="1187725"/>
            <a:ext cx="8754900" cy="3365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Specify </a:t>
            </a:r>
            <a:r>
              <a:rPr lang="en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ViewGroup</a:t>
            </a:r>
            <a:r>
              <a:rPr lang="en">
                <a:solidFill>
                  <a:schemeClr val="dk1"/>
                </a:solidFill>
              </a:rPr>
              <a:t> for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>
                <a:solidFill>
                  <a:schemeClr val="dk1"/>
                </a:solidFill>
              </a:rPr>
              <a:t> in layout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Instantiate the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>
                <a:solidFill>
                  <a:schemeClr val="dk1"/>
                </a:solidFill>
              </a:rPr>
              <a:t> in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Instantiate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FragmentManager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" sz="2400">
                <a:solidFill>
                  <a:schemeClr val="dk1"/>
                </a:solidFill>
              </a:rPr>
              <a:t>Use </a:t>
            </a: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getSupportFragmentManager()</a:t>
            </a:r>
            <a:r>
              <a:rPr lang="en" sz="2400">
                <a:solidFill>
                  <a:schemeClr val="dk1"/>
                </a:solidFill>
              </a:rPr>
              <a:t> for compatibility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Use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>
                <a:solidFill>
                  <a:schemeClr val="dk1"/>
                </a:solidFill>
              </a:rPr>
              <a:t> transactions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6" name="Google Shape;306;p4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Specify a ViewGroup for the Fragment</a:t>
            </a:r>
            <a:endParaRPr/>
          </a:p>
        </p:txBody>
      </p:sp>
      <p:sp>
        <p:nvSpPr>
          <p:cNvPr id="312" name="Google Shape;312;p49"/>
          <p:cNvSpPr txBox="1"/>
          <p:nvPr>
            <p:ph idx="1" type="body"/>
          </p:nvPr>
        </p:nvSpPr>
        <p:spPr>
          <a:xfrm>
            <a:off x="311700" y="1187725"/>
            <a:ext cx="8754900" cy="3365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Specify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ViewGroup</a:t>
            </a:r>
            <a:r>
              <a:rPr lang="en">
                <a:solidFill>
                  <a:schemeClr val="dk1"/>
                </a:solidFill>
              </a:rPr>
              <a:t> to place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>
                <a:solidFill>
                  <a:schemeClr val="dk1"/>
                </a:solidFill>
              </a:rPr>
              <a:t> (such as </a:t>
            </a:r>
            <a:r>
              <a:rPr lang="en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FrameLayout</a:t>
            </a:r>
            <a:r>
              <a:rPr lang="en">
                <a:solidFill>
                  <a:srgbClr val="000000"/>
                </a:solidFill>
              </a:rPr>
              <a:t>):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&lt;FrameLayout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android:id="@+id/fragment_container"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android:name="SimpleFragment"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tools:layout="@layout/fragment_simple"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... /&gt;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3" name="Google Shape;313;p4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Instantiate the Fragment</a:t>
            </a:r>
            <a:endParaRPr/>
          </a:p>
        </p:txBody>
      </p:sp>
      <p:sp>
        <p:nvSpPr>
          <p:cNvPr id="319" name="Google Shape;319;p50"/>
          <p:cNvSpPr txBox="1"/>
          <p:nvPr>
            <p:ph idx="1" type="body"/>
          </p:nvPr>
        </p:nvSpPr>
        <p:spPr>
          <a:xfrm>
            <a:off x="311700" y="1187725"/>
            <a:ext cx="8754900" cy="3365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Create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newInstance()</a:t>
            </a:r>
            <a:r>
              <a:rPr lang="en">
                <a:solidFill>
                  <a:schemeClr val="dk1"/>
                </a:solidFill>
              </a:rPr>
              <a:t> factory method in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static SimpleFragment newInstance()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return new SimpleFragment();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In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>
                <a:solidFill>
                  <a:schemeClr val="dk1"/>
                </a:solidFill>
              </a:rPr>
              <a:t>,  instantiate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>
                <a:solidFill>
                  <a:schemeClr val="dk1"/>
                </a:solidFill>
              </a:rPr>
              <a:t> by calling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newInstance()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SimpleFragment fragment = SimpleFragment.newInstance();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20" name="Google Shape;320;p5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Instantiate FragmentManager</a:t>
            </a:r>
            <a:endParaRPr/>
          </a:p>
        </p:txBody>
      </p:sp>
      <p:sp>
        <p:nvSpPr>
          <p:cNvPr id="326" name="Google Shape;326;p51"/>
          <p:cNvSpPr txBox="1"/>
          <p:nvPr>
            <p:ph idx="1" type="body"/>
          </p:nvPr>
        </p:nvSpPr>
        <p:spPr>
          <a:xfrm>
            <a:off x="132900" y="1187725"/>
            <a:ext cx="8933700" cy="3365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>
                <a:solidFill>
                  <a:schemeClr val="dk1"/>
                </a:solidFill>
              </a:rPr>
              <a:t>, get instance of </a:t>
            </a:r>
            <a:r>
              <a:rPr lang="en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FragmentManager</a:t>
            </a:r>
            <a:r>
              <a:rPr lang="en">
                <a:solidFill>
                  <a:schemeClr val="dk1"/>
                </a:solidFill>
              </a:rPr>
              <a:t> with </a:t>
            </a:r>
            <a:r>
              <a:rPr lang="en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getSupportFragmentManager()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FragmentManager fragmentManager = getSupportFragmentManager();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Use the </a:t>
            </a:r>
            <a:r>
              <a:rPr lang="en" sz="1800" u="sng">
                <a:solidFill>
                  <a:srgbClr val="1155CC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Support Library</a:t>
            </a:r>
            <a:r>
              <a:rPr lang="en" sz="1800">
                <a:solidFill>
                  <a:schemeClr val="dk1"/>
                </a:solidFill>
              </a:rPr>
              <a:t> version—</a:t>
            </a:r>
            <a:r>
              <a:rPr lang="en" sz="1800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getSupportFragmentManager()</a:t>
            </a:r>
            <a:r>
              <a:rPr lang="en" sz="1800">
                <a:solidFill>
                  <a:schemeClr val="dk1"/>
                </a:solidFill>
              </a:rPr>
              <a:t> rather than </a:t>
            </a:r>
            <a:r>
              <a:rPr lang="en" sz="1800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getFragmentManager()</a:t>
            </a:r>
            <a:r>
              <a:rPr lang="en" sz="1800">
                <a:solidFill>
                  <a:schemeClr val="dk1"/>
                </a:solidFill>
              </a:rPr>
              <a:t>—for compatibility with earlier Android versions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27" name="Google Shape;327;p5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Fragment transactions</a:t>
            </a:r>
            <a:endParaRPr/>
          </a:p>
        </p:txBody>
      </p:sp>
      <p:sp>
        <p:nvSpPr>
          <p:cNvPr id="333" name="Google Shape;333;p52"/>
          <p:cNvSpPr txBox="1"/>
          <p:nvPr>
            <p:ph idx="1" type="body"/>
          </p:nvPr>
        </p:nvSpPr>
        <p:spPr>
          <a:xfrm>
            <a:off x="311700" y="1187725"/>
            <a:ext cx="8754900" cy="3365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>
                <a:solidFill>
                  <a:schemeClr val="dk1"/>
                </a:solidFill>
              </a:rPr>
              <a:t> operations are wrapped into a </a:t>
            </a:r>
            <a:r>
              <a:rPr i="1" lang="en">
                <a:solidFill>
                  <a:schemeClr val="dk1"/>
                </a:solidFill>
              </a:rPr>
              <a:t>transaction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Start transaction with </a:t>
            </a:r>
            <a:r>
              <a:rPr lang="en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beginTransaction()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Do all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>
                <a:solidFill>
                  <a:schemeClr val="dk1"/>
                </a:solidFill>
              </a:rPr>
              <a:t> operations (add, remove, etc.)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End transaction with </a:t>
            </a:r>
            <a:r>
              <a:rPr lang="en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commit()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34" name="Google Shape;334;p5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Fragment transaction operations</a:t>
            </a:r>
            <a:endParaRPr/>
          </a:p>
        </p:txBody>
      </p:sp>
      <p:sp>
        <p:nvSpPr>
          <p:cNvPr id="340" name="Google Shape;340;p53"/>
          <p:cNvSpPr txBox="1"/>
          <p:nvPr>
            <p:ph idx="1" type="body"/>
          </p:nvPr>
        </p:nvSpPr>
        <p:spPr>
          <a:xfrm>
            <a:off x="311700" y="1187725"/>
            <a:ext cx="8754900" cy="3365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Add a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>
                <a:solidFill>
                  <a:schemeClr val="dk1"/>
                </a:solidFill>
              </a:rPr>
              <a:t> using </a:t>
            </a:r>
            <a:r>
              <a:rPr lang="en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add()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Remove a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>
                <a:solidFill>
                  <a:schemeClr val="dk1"/>
                </a:solidFill>
              </a:rPr>
              <a:t> using </a:t>
            </a:r>
            <a:r>
              <a:rPr lang="en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remove()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Replace a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>
                <a:solidFill>
                  <a:schemeClr val="dk1"/>
                </a:solidFill>
              </a:rPr>
              <a:t> with another using </a:t>
            </a:r>
            <a:r>
              <a:rPr lang="en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replace()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Hide and show a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>
                <a:solidFill>
                  <a:schemeClr val="dk1"/>
                </a:solidFill>
              </a:rPr>
              <a:t> using </a:t>
            </a:r>
            <a:r>
              <a:rPr lang="en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hide()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lang="en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show()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200"/>
              </a:spcAft>
              <a:buClr>
                <a:schemeClr val="dk1"/>
              </a:buClr>
              <a:buSzPts val="2400"/>
              <a:buFont typeface="Consolas"/>
              <a:buChar char="●"/>
            </a:pPr>
            <a:r>
              <a:rPr lang="en">
                <a:solidFill>
                  <a:schemeClr val="dk1"/>
                </a:solidFill>
              </a:rPr>
              <a:t>Add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>
                <a:solidFill>
                  <a:schemeClr val="dk1"/>
                </a:solidFill>
              </a:rPr>
              <a:t> transaction to back stack using </a:t>
            </a:r>
            <a:r>
              <a:rPr lang="en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addToBackStack(null)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41" name="Google Shape;341;p5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Fragment transaction example (1)</a:t>
            </a:r>
            <a:endParaRPr/>
          </a:p>
        </p:txBody>
      </p:sp>
      <p:sp>
        <p:nvSpPr>
          <p:cNvPr id="347" name="Google Shape;347;p54"/>
          <p:cNvSpPr txBox="1"/>
          <p:nvPr>
            <p:ph idx="1" type="body"/>
          </p:nvPr>
        </p:nvSpPr>
        <p:spPr>
          <a:xfrm>
            <a:off x="311700" y="1187725"/>
            <a:ext cx="8754900" cy="3365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FragmentTransaction fragmentTransaction =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fragmentManager.beginTransaction();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fragmentTransaction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.add(R.id.fragment_container, fragment)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.addToBackStack(null)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.commit();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8" name="Google Shape;348;p5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Fragment transaction example (2)</a:t>
            </a:r>
            <a:endParaRPr/>
          </a:p>
        </p:txBody>
      </p:sp>
      <p:sp>
        <p:nvSpPr>
          <p:cNvPr id="354" name="Google Shape;354;p55"/>
          <p:cNvSpPr txBox="1"/>
          <p:nvPr>
            <p:ph idx="1" type="body"/>
          </p:nvPr>
        </p:nvSpPr>
        <p:spPr>
          <a:xfrm>
            <a:off x="311700" y="1187725"/>
            <a:ext cx="8754900" cy="3502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the code on the previous slide: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add()</a:t>
            </a:r>
            <a:r>
              <a:rPr lang="en">
                <a:solidFill>
                  <a:schemeClr val="dk1"/>
                </a:solidFill>
              </a:rPr>
              <a:t> arguments:</a:t>
            </a:r>
            <a:endParaRPr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>
                <a:solidFill>
                  <a:schemeClr val="dk1"/>
                </a:solidFill>
              </a:rPr>
              <a:t>The </a:t>
            </a:r>
            <a:r>
              <a:rPr lang="en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ViewGroup</a:t>
            </a:r>
            <a:r>
              <a:rPr lang="en">
                <a:solidFill>
                  <a:schemeClr val="dk1"/>
                </a:solidFill>
              </a:rPr>
              <a:t> (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fragment_container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>
                <a:solidFill>
                  <a:schemeClr val="dk1"/>
                </a:solidFill>
              </a:rPr>
              <a:t>The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>
                <a:solidFill>
                  <a:schemeClr val="dk1"/>
                </a:solidFill>
              </a:rPr>
              <a:t> to add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addToBackStack(null)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>
                <a:solidFill>
                  <a:schemeClr val="dk1"/>
                </a:solidFill>
              </a:rPr>
              <a:t>Add transaction to back stack of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>
                <a:solidFill>
                  <a:schemeClr val="dk1"/>
                </a:solidFill>
              </a:rPr>
              <a:t> transactions</a:t>
            </a:r>
            <a:endParaRPr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>
                <a:solidFill>
                  <a:schemeClr val="dk1"/>
                </a:solidFill>
              </a:rPr>
              <a:t>Back stack managed by the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endParaRPr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>
                <a:solidFill>
                  <a:schemeClr val="dk1"/>
                </a:solidFill>
              </a:rPr>
              <a:t>User can press Back button to return to previous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>
                <a:solidFill>
                  <a:schemeClr val="dk1"/>
                </a:solidFill>
              </a:rPr>
              <a:t> state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5" name="Google Shape;355;p5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Fragment transaction example (3)</a:t>
            </a:r>
            <a:endParaRPr/>
          </a:p>
        </p:txBody>
      </p:sp>
      <p:sp>
        <p:nvSpPr>
          <p:cNvPr id="361" name="Google Shape;361;p56"/>
          <p:cNvSpPr txBox="1"/>
          <p:nvPr>
            <p:ph idx="1" type="body"/>
          </p:nvPr>
        </p:nvSpPr>
        <p:spPr>
          <a:xfrm>
            <a:off x="311700" y="1187725"/>
            <a:ext cx="8754900" cy="3502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Removing a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SimpleFragment fragment = (SimpleFragment) fragmentManager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.findFragmentById(R.id.fragment_container);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 (fragment != null)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FragmentTransaction fragmentTransaction =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fragmentManager.beginTransaction();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fragmentTransaction.remove(fragment).commit();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2" name="Google Shape;362;p5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What's next?</a:t>
            </a:r>
            <a:endParaRPr/>
          </a:p>
        </p:txBody>
      </p:sp>
      <p:sp>
        <p:nvSpPr>
          <p:cNvPr id="368" name="Google Shape;368;p5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9" name="Google Shape;369;p57"/>
          <p:cNvSpPr txBox="1"/>
          <p:nvPr/>
        </p:nvSpPr>
        <p:spPr>
          <a:xfrm>
            <a:off x="311700" y="2063725"/>
            <a:ext cx="8520600" cy="1777800"/>
          </a:xfrm>
          <a:prstGeom prst="rect">
            <a:avLst/>
          </a:prstGeom>
          <a:noFill/>
          <a:ln cap="flat" cmpd="sng" w="38100">
            <a:solidFill>
              <a:srgbClr val="21AA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Concept chapter: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1.1 Fragments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 </a:t>
            </a:r>
            <a:endParaRPr sz="2400"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Practical: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1.1 Creating a Fragment with a UI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375" name="Google Shape;375;p5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76" name="Google Shape;376;p5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7" name="Google Shape;377;p5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