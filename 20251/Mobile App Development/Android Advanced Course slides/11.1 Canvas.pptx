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  <p:sldMasterId id="2147483682" r:id="rId4"/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embeddedFontLst>
    <p:embeddedFont>
      <p:font typeface="Roboto"/>
      <p:regular r:id="rId66"/>
      <p:bold r:id="rId67"/>
      <p:italic r:id="rId68"/>
      <p:boldItalic r:id="rId69"/>
    </p:embeddedFont>
    <p:embeddedFont>
      <p:font typeface="Open Sans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penSans-boldItalic.fntdata"/><Relationship Id="rId72" Type="http://schemas.openxmlformats.org/officeDocument/2006/relationships/font" Target="fonts/OpenSans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-bold.fntdata"/><Relationship Id="rId70" Type="http://schemas.openxmlformats.org/officeDocument/2006/relationships/font" Target="fonts/OpenSans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oboto-italic.fntdata"/><Relationship Id="rId23" Type="http://schemas.openxmlformats.org/officeDocument/2006/relationships/slide" Target="slides/slide17.xml"/><Relationship Id="rId67" Type="http://schemas.openxmlformats.org/officeDocument/2006/relationships/font" Target="fonts/Robot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e910be9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e910be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e910be9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e910be9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e910be9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8e910be9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e910be99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e910be99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e910be99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e910be9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e910be99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e910be99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e910be99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8e910be99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e910be99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e910be99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e910be99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8e910be99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e910be99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8e910be99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list of the options. We look at each option in detail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e910be99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8e910be99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e910be99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e910be99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e910be99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e910be99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e910be99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8e910be99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e910be99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8e910be99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e910be99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8e910be99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e910be99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8e910be99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e910be99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e910be99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e910be99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e910be99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e910be99_1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8e910be99_1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8e910be99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8e910be99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e910be99_1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8e910be99_1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8e910be99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8e910be99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8e910be99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8e910be99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8e910be99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8e910be99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8e910be99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8e910be99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e910be99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e910be99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8e910be99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8e910be99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8e910be99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8e910be99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8e910be99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8e910be99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e910be99_1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8e910be99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8e910be99_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8e910be99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8e910be99_1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8e910be99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8e910be99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8e910be99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8e910be99_1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8e910be99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8e910be99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8e910be99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8e910be99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8e910be99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8e910be99_1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8e910be99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8e910be99_1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8e910be99_1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8e910be99_1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8e910be99_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8e910be99_1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8e910be99_1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8e910be99_1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8e910be99_1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8e910be99_1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8e910be99_1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8e910be99_1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8e910be99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8e910be99_1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8e910be99_1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8e910be99_1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8e910be99_1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8e910be99_1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8e910be99_1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8e910be99_1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8e910be99_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8e910be99_1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8e910be99_1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8e910be99_1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8e910be99_1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8e910be99_1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8e910be99_1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8e910be99_1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8e910be99_1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8e910be99_1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8e910be99_1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e910be99_1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8e910be99_1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8e910be99_1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8e910be99_1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8e910be99_1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8e910be99_1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8e910be99_1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8e910be99_1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8e910be99_1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8e910be99_1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8e910be99_1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8e910be99_1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4407225" y="475640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CANVAS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4407225" y="475640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Canvas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3" name="Google Shape;143;p2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4" name="Google Shape;144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5" name="Google Shape;155;p2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6" name="Google Shape;166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9" name="Google Shape;169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3" name="Google Shape;173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" name="Google Shape;174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78" name="Google Shape;178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80" name="Google Shape;180;p35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3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4" name="Google Shape;184;p3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5" name="Google Shape;185;p3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6" name="Google Shape;186;p3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87" name="Google Shape;18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" name="Google Shape;19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5"/>
          <p:cNvSpPr txBox="1"/>
          <p:nvPr/>
        </p:nvSpPr>
        <p:spPr>
          <a:xfrm>
            <a:off x="4407225" y="475640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CANVAS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image" Target="../media/image1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2" y="4754753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CANVAS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407222" y="4754753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Canvas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2" name="Google Shape;132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4407222" y="4754753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Canvas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5694825" y="4626388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675" y="47362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guide/topics/graphics/2d-graphics.html#drawables" TargetMode="External"/><Relationship Id="rId4" Type="http://schemas.openxmlformats.org/officeDocument/2006/relationships/hyperlink" Target="https://developer.android.com/reference/android/graphics/Canvas.html" TargetMode="External"/><Relationship Id="rId5" Type="http://schemas.openxmlformats.org/officeDocument/2006/relationships/hyperlink" Target="https://developer.android.com/reference/android/view/SurfaceView.html" TargetMode="External"/><Relationship Id="rId6" Type="http://schemas.openxmlformats.org/officeDocument/2006/relationships/hyperlink" Target="https://developer.android.com/guide/topics/graphics/overview.html" TargetMode="External"/><Relationship Id="rId7" Type="http://schemas.openxmlformats.org/officeDocument/2006/relationships/hyperlink" Target="https://developer.android.com/guide/topics/graphics/hardware-accel.html" TargetMode="External"/><Relationship Id="rId8" Type="http://schemas.openxmlformats.org/officeDocument/2006/relationships/hyperlink" Target="https://developer.android.com/guide/topics/graphics/opengl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reference/android/graphics/Canvas.html" TargetMode="External"/><Relationship Id="rId4" Type="http://schemas.openxmlformats.org/officeDocument/2006/relationships/hyperlink" Target="https://developer.android.com/reference/android/view/View.html#onDraw(android.graphics.Canvas)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android.com/reference/android/view/View.html" TargetMode="External"/><Relationship Id="rId4" Type="http://schemas.openxmlformats.org/officeDocument/2006/relationships/hyperlink" Target="https://developer.android.com/reference/android/graphics/Bitmap.html" TargetMode="External"/><Relationship Id="rId5" Type="http://schemas.openxmlformats.org/officeDocument/2006/relationships/hyperlink" Target="https://developer.android.com/reference/android/graphics/Canvas.html" TargetMode="External"/><Relationship Id="rId6" Type="http://schemas.openxmlformats.org/officeDocument/2006/relationships/hyperlink" Target="https://developer.android.com/reference/android/graphics/Paint.html" TargetMode="External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graphics/Paint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view/View.html" TargetMode="External"/><Relationship Id="rId4" Type="http://schemas.openxmlformats.org/officeDocument/2006/relationships/hyperlink" Target="https://developer.android.com/reference/android/view/View.html#onDraw(android.graphics.Canvas)" TargetMode="External"/><Relationship Id="rId5" Type="http://schemas.openxmlformats.org/officeDocument/2006/relationships/hyperlink" Target="https://developer.android.com/reference/android/view/View.html#onSizeChanged(int,%20int,%20int,%20int)" TargetMode="External"/><Relationship Id="rId6" Type="http://schemas.openxmlformats.org/officeDocument/2006/relationships/hyperlink" Target="https://developer.android.com/reference/android/view/View.html#onTouchEvent(android.view.MotionEvent)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eveloper.android.com/reference/android/view/View.html#onSizeChanged(int,%20int,%20int,%20int)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eveloper.android.com/reference/android/graphics/Canvas.html#drawRect(android.graphics.Rect,%20android.graphics.Paint)" TargetMode="External"/><Relationship Id="rId4" Type="http://schemas.openxmlformats.org/officeDocument/2006/relationships/hyperlink" Target="https://developer.android.com/reference/android/graphics/Canvas.html#drawOval(android.graphics.RectF,%20android.graphics.Paint)" TargetMode="External"/><Relationship Id="rId5" Type="http://schemas.openxmlformats.org/officeDocument/2006/relationships/hyperlink" Target="https://developer.android.com/reference/android/graphics/Canvas.html#drawArc(android.graphics.RectF,%20float,%20float,%20boolean,%20android.graphics.Paint)" TargetMode="External"/><Relationship Id="rId6" Type="http://schemas.openxmlformats.org/officeDocument/2006/relationships/hyperlink" Target="https://developer.android.com/reference/android/graphics/Paint.html#setStyle(android.graphics.Paint.Style)" TargetMode="External"/><Relationship Id="rId7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eveloper.android.com/reference/android/graphics/Path.html" TargetMode="External"/><Relationship Id="rId4" Type="http://schemas.openxmlformats.org/officeDocument/2006/relationships/hyperlink" Target="https://developer.android.com/reference/android/graphics/Path.html" TargetMode="External"/><Relationship Id="rId5" Type="http://schemas.openxmlformats.org/officeDocument/2006/relationships/hyperlink" Target="https://developer.android.com/reference/android/graphics/Canvas.html#drawPath(android.graphics.Path,%20android.graphics.Paint)" TargetMode="External"/><Relationship Id="rId6" Type="http://schemas.openxmlformats.org/officeDocument/2006/relationships/hyperlink" Target="https://developer.android.com/reference/android/graphics/Paint.html#setStyle(android.graphics.Paint.Style)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eveloper.android.com/reference/android/graphics/Canvas.html#drawText(char%5B%5D,%20int,%20int,%20float,%20float,%20android.graphics.Paint)" TargetMode="External"/><Relationship Id="rId4" Type="http://schemas.openxmlformats.org/officeDocument/2006/relationships/hyperlink" Target="https://developer.android.com/reference/android/graphics/Paint.html#setTypeface(android.graphics.Typeface)" TargetMode="External"/><Relationship Id="rId5" Type="http://schemas.openxmlformats.org/officeDocument/2006/relationships/hyperlink" Target="https://developer.android.com/reference/android/graphics/Paint.html#setColor(int)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eveloper.android.com/reference/android/graphics/Canvas.html#translate(float,%20float)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eveloper.android.com/reference/android/graphics/Canvas.html#rotate(float)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eveloper.android.com/reference/android/graphics/Canvas.html#skew(float,%20float)" TargetMode="External"/><Relationship Id="rId4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en.wikipedia.org/wiki/Clipping_(computer_graphics)" TargetMode="External"/><Relationship Id="rId4" Type="http://schemas.openxmlformats.org/officeDocument/2006/relationships/image" Target="../media/image1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developer.android.com/reference/android/graphics/Canvas.html#clipRect(float,%20float,%20float,%20float,%20android.graphics.Region.Op)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developer.android.com/reference/android/graphics/Canvas.html#clipPath(android.graphics.Path,%20android.graphics.Region.Op)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developer.android.com/reference/android/graphics/Canvas.html#quickReject(float,%20float,%20float,%20float,%20android.graphics.Canvas.EdgeType)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google-developer-training.gitbooks.io/android-developer-advanced-course-concepts/content/unit-5-advanced-graphics-and-views/lesson-11-canvas/11-1-c-the-canvas-class/11-1-c-the-canvas-class.html" TargetMode="External"/><Relationship Id="rId4" Type="http://schemas.openxmlformats.org/officeDocument/2006/relationships/hyperlink" Target="https://google-developer-training.gitbooks.io/android-developer-advanced-course-practicals/content/unit-5-advanced-graphics-and-views/lesson-11-canvas/11-1a-p-create-a-simple-canvas/11-1a-p-create-a-simple-canvas.html" TargetMode="External"/><Relationship Id="rId5" Type="http://schemas.openxmlformats.org/officeDocument/2006/relationships/hyperlink" Target="https://google-developer-training.gitbooks.io/android-developer-advanced-course-practicals/content/unit-5-advanced-graphics-and-views/lesson-11-canvas/11-1b-p-draw-on-a-canvas/11-1b-p-draw-on-a-canvas.html" TargetMode="External"/><Relationship Id="rId6" Type="http://schemas.openxmlformats.org/officeDocument/2006/relationships/hyperlink" Target="https://google-developer-training.gitbooks.io/android-developer-advanced-course-practicals/content/unit-5-advanced-graphics-and-views/lesson-11-canvas/11-1c-p-apply-clipping-to-a-canvas/11-1c-p-apply-clipping-to-a-canvas.html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7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Canvas</a:t>
            </a:r>
            <a:endParaRPr/>
          </a:p>
        </p:txBody>
      </p:sp>
      <p:sp>
        <p:nvSpPr>
          <p:cNvPr id="201" name="Google Shape;201;p37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11 </a:t>
            </a:r>
            <a:endParaRPr/>
          </a:p>
        </p:txBody>
      </p:sp>
      <p:sp>
        <p:nvSpPr>
          <p:cNvPr id="202" name="Google Shape;202;p37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203" name="Google Shape;203;p37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11.1 The Canvas class</a:t>
            </a:r>
            <a:endParaRPr/>
          </a:p>
        </p:txBody>
      </p:sp>
      <p:sp>
        <p:nvSpPr>
          <p:cNvPr id="209" name="Google Shape;209;p38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9"/>
          <p:cNvSpPr txBox="1"/>
          <p:nvPr>
            <p:ph idx="1" type="body"/>
          </p:nvPr>
        </p:nvSpPr>
        <p:spPr>
          <a:xfrm>
            <a:off x="333600" y="1087900"/>
            <a:ext cx="86169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Drawing in Android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Introduction to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Simple drawing in response to user action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Using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in a custom view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operations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Clipping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Saving and restoring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state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Summary</a:t>
            </a:r>
            <a:br>
              <a:rPr lang="en"/>
            </a:br>
            <a:endParaRPr/>
          </a:p>
        </p:txBody>
      </p:sp>
      <p:sp>
        <p:nvSpPr>
          <p:cNvPr id="217" name="Google Shape;217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Drawing in Android</a:t>
            </a:r>
            <a:endParaRPr/>
          </a:p>
        </p:txBody>
      </p:sp>
      <p:sp>
        <p:nvSpPr>
          <p:cNvPr id="223" name="Google Shape;223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4" name="Google Shape;224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type="title"/>
          </p:nvPr>
        </p:nvSpPr>
        <p:spPr>
          <a:xfrm>
            <a:off x="0" y="17082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Drawing 2D custom graphics &amp; animations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1"/>
          <p:cNvSpPr txBox="1"/>
          <p:nvPr>
            <p:ph idx="1" type="body"/>
          </p:nvPr>
        </p:nvSpPr>
        <p:spPr>
          <a:xfrm>
            <a:off x="333600" y="1193375"/>
            <a:ext cx="4953000" cy="3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Drawables</a:t>
            </a:r>
            <a:r>
              <a:rPr lang="en">
                <a:solidFill>
                  <a:srgbClr val="000000"/>
                </a:solidFill>
              </a:rPr>
              <a:t> (earlier lesson)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Canvas</a:t>
            </a:r>
            <a:r>
              <a:rPr lang="en">
                <a:solidFill>
                  <a:srgbClr val="000000"/>
                </a:solidFill>
              </a:rPr>
              <a:t> (this lesson)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(later lesson)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Animations</a:t>
            </a:r>
            <a:r>
              <a:rPr lang="en">
                <a:solidFill>
                  <a:srgbClr val="000000"/>
                </a:solidFill>
              </a:rPr>
              <a:t> (later lesson)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2" name="Google Shape;232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41"/>
          <p:cNvSpPr txBox="1"/>
          <p:nvPr>
            <p:ph idx="1" type="body"/>
          </p:nvPr>
        </p:nvSpPr>
        <p:spPr>
          <a:xfrm>
            <a:off x="5334450" y="1193375"/>
            <a:ext cx="3735300" cy="3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Not covered: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Hardware acceleration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OpenGL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Canvas</a:t>
            </a:r>
            <a:endParaRPr/>
          </a:p>
        </p:txBody>
      </p:sp>
      <p:sp>
        <p:nvSpPr>
          <p:cNvPr id="239" name="Google Shape;239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0" name="Google Shape;240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507025" y="1067750"/>
            <a:ext cx="78399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Write to a canvas to accomplish more complex drawing than is possible with predefined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a canvas?</a:t>
            </a:r>
            <a:endParaRPr/>
          </a:p>
        </p:txBody>
      </p:sp>
      <p:pic>
        <p:nvPicPr>
          <p:cNvPr id="249" name="Google Shape;2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6850" y="2014425"/>
            <a:ext cx="6242205" cy="26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Canvas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4"/>
          <p:cNvSpPr txBox="1"/>
          <p:nvPr>
            <p:ph idx="1" type="body"/>
          </p:nvPr>
        </p:nvSpPr>
        <p:spPr>
          <a:xfrm>
            <a:off x="257400" y="1207100"/>
            <a:ext cx="86874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Canvas</a:t>
            </a:r>
            <a:r>
              <a:rPr lang="en">
                <a:solidFill>
                  <a:srgbClr val="000000"/>
                </a:solidFill>
              </a:rPr>
              <a:t> class—logical drawing surface for 2D drawing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when app needs to redraw regularly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onDraw()</a:t>
            </a:r>
            <a:r>
              <a:rPr lang="en">
                <a:solidFill>
                  <a:schemeClr val="dk1"/>
                </a:solidFill>
              </a:rPr>
              <a:t> method runs on UI Thread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Clipping defines user-visible portions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Profile GPU Rendering tool to monitor performance of your drawing operations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6" name="Google Shape;256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Classes required to draw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5"/>
          <p:cNvSpPr txBox="1"/>
          <p:nvPr>
            <p:ph idx="1" type="body"/>
          </p:nvPr>
        </p:nvSpPr>
        <p:spPr>
          <a:xfrm>
            <a:off x="181200" y="12071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You need a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View</a:t>
            </a:r>
            <a:r>
              <a:rPr lang="en">
                <a:solidFill>
                  <a:srgbClr val="000000"/>
                </a:solidFill>
              </a:rPr>
              <a:t>,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Bitmap</a:t>
            </a:r>
            <a:r>
              <a:rPr lang="en">
                <a:solidFill>
                  <a:srgbClr val="000000"/>
                </a:solidFill>
              </a:rPr>
              <a:t>, a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Canvas</a:t>
            </a:r>
            <a:r>
              <a:rPr lang="en">
                <a:solidFill>
                  <a:srgbClr val="000000"/>
                </a:solidFill>
              </a:rPr>
              <a:t>, and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Paint</a:t>
            </a:r>
            <a:r>
              <a:rPr lang="en">
                <a:solidFill>
                  <a:srgbClr val="000000"/>
                </a:solidFill>
              </a:rPr>
              <a:t> object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displays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>
                <a:solidFill>
                  <a:srgbClr val="000000"/>
                </a:solidFill>
              </a:rPr>
              <a:t> is physical drawing surface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has API to draw on bitmap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>
                <a:solidFill>
                  <a:srgbClr val="000000"/>
                </a:solidFill>
              </a:rPr>
              <a:t> styles what you draw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3" name="Google Shape;263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4" name="Google Shape;264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8925" y="2033800"/>
            <a:ext cx="3488425" cy="25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2 ways to draw to canvas: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ImageView</a:t>
            </a:r>
            <a:r>
              <a:rPr lang="en"/>
              <a:t>:</a:t>
            </a:r>
            <a:br>
              <a:rPr lang="en"/>
            </a:br>
            <a:r>
              <a:rPr lang="en"/>
              <a:t>Draw to canvas in the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/>
              <a:t> handler</a:t>
            </a:r>
            <a:br>
              <a:rPr lang="en"/>
            </a:br>
            <a:r>
              <a:rPr lang="en"/>
              <a:t>Drawing can change when user taps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ImageView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Custom</a:t>
            </a:r>
            <a:r>
              <a:rPr lang="en"/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/>
              <a:t>:</a:t>
            </a:r>
            <a:br>
              <a:rPr lang="en"/>
            </a:br>
            <a:r>
              <a:rPr lang="en"/>
              <a:t>Draw to canvas in the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onDraw()</a:t>
            </a:r>
            <a:r>
              <a:rPr lang="en"/>
              <a:t> method</a:t>
            </a:r>
            <a:br>
              <a:rPr lang="en"/>
            </a:br>
            <a:r>
              <a:rPr lang="en"/>
              <a:t>Allows more complex user interaction</a:t>
            </a:r>
            <a:br>
              <a:rPr lang="en"/>
            </a:br>
            <a:endParaRPr/>
          </a:p>
        </p:txBody>
      </p:sp>
      <p:sp>
        <p:nvSpPr>
          <p:cNvPr id="270" name="Google Shape;270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approaches to draw to Canvas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7"/>
          <p:cNvSpPr txBox="1"/>
          <p:nvPr>
            <p:ph type="title"/>
          </p:nvPr>
        </p:nvSpPr>
        <p:spPr>
          <a:xfrm>
            <a:off x="265500" y="16903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drawing in response to user action</a:t>
            </a:r>
            <a:endParaRPr/>
          </a:p>
        </p:txBody>
      </p:sp>
      <p:sp>
        <p:nvSpPr>
          <p:cNvPr id="277" name="Google Shape;277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8" name="Google Shape;278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7"/>
          <p:cNvSpPr txBox="1"/>
          <p:nvPr>
            <p:ph idx="1" type="subTitle"/>
          </p:nvPr>
        </p:nvSpPr>
        <p:spPr>
          <a:xfrm>
            <a:off x="265500" y="331342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 canvas in an ImageView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8"/>
          <p:cNvSpPr txBox="1"/>
          <p:nvPr>
            <p:ph idx="1" type="body"/>
          </p:nvPr>
        </p:nvSpPr>
        <p:spPr>
          <a:xfrm>
            <a:off x="333600" y="1121875"/>
            <a:ext cx="70887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You can use an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ImageView</a:t>
            </a:r>
            <a:r>
              <a:rPr lang="en">
                <a:solidFill>
                  <a:srgbClr val="000000"/>
                </a:solidFill>
              </a:rPr>
              <a:t> to draw to a canvas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Define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ImageView's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>
                <a:solidFill>
                  <a:srgbClr val="000000"/>
                </a:solidFill>
              </a:rPr>
              <a:t> handler to draw to the canvas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You need:</a:t>
            </a:r>
            <a:endParaRPr>
              <a:solidFill>
                <a:srgbClr val="000000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nsolas"/>
              <a:buChar char="○"/>
            </a:pP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ImageView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nsolas"/>
              <a:buChar char="○"/>
            </a:pP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nsolas"/>
              <a:buChar char="○"/>
            </a:pP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nsolas"/>
              <a:buChar char="○"/>
            </a:pP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Paint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" name="Google Shape;286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Create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ImageView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Create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/>
              <a:t> object to set drawing style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Implement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/>
              <a:t> handler for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ImageView</a:t>
            </a:r>
            <a:r>
              <a:rPr lang="en"/>
              <a:t> to draw to a canvas</a:t>
            </a:r>
            <a:endParaRPr/>
          </a:p>
        </p:txBody>
      </p:sp>
      <p:sp>
        <p:nvSpPr>
          <p:cNvPr id="292" name="Google Shape;292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49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drawing in an ImageView</a:t>
            </a:r>
            <a:endParaRPr/>
          </a:p>
        </p:txBody>
      </p:sp>
      <p:sp>
        <p:nvSpPr>
          <p:cNvPr id="294" name="Google Shape;294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ImageView in XML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50"/>
          <p:cNvSpPr txBox="1"/>
          <p:nvPr>
            <p:ph idx="1" type="body"/>
          </p:nvPr>
        </p:nvSpPr>
        <p:spPr>
          <a:xfrm>
            <a:off x="311700" y="1130900"/>
            <a:ext cx="87093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&lt;ImageView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android:id="@+id/myimageview"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android:layout_width="match_parent"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android:layout_height="match_parent"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android:onClick="drawSomething"</a:t>
            </a: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drawSomething()</a:t>
            </a:r>
            <a:r>
              <a:rPr lang="en" sz="2200">
                <a:solidFill>
                  <a:srgbClr val="000000"/>
                </a:solidFill>
              </a:rPr>
              <a:t> will draw to the canvas</a:t>
            </a:r>
            <a:endParaRPr sz="2200">
              <a:solidFill>
                <a:srgbClr val="000000"/>
              </a:solidFill>
            </a:endParaRPr>
          </a:p>
        </p:txBody>
      </p:sp>
      <p:sp>
        <p:nvSpPr>
          <p:cNvPr id="301" name="Google Shape;301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1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Paint</a:t>
            </a:r>
            <a:r>
              <a:rPr lang="en">
                <a:solidFill>
                  <a:srgbClr val="000000"/>
                </a:solidFill>
              </a:rPr>
              <a:t> object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Stores how to draw: color, style, line thickness, text size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>
                <a:solidFill>
                  <a:srgbClr val="000000"/>
                </a:solidFill>
              </a:rPr>
              <a:t> object can persist outside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>
                <a:solidFill>
                  <a:srgbClr val="000000"/>
                </a:solidFill>
              </a:rPr>
              <a:t> handler–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no need to recreate it every time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>
                <a:solidFill>
                  <a:srgbClr val="000000"/>
                </a:solidFill>
              </a:rPr>
              <a:t> triggers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8" name="Google Shape;308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 code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2"/>
          <p:cNvSpPr txBox="1"/>
          <p:nvPr>
            <p:ph idx="1" type="body"/>
          </p:nvPr>
        </p:nvSpPr>
        <p:spPr>
          <a:xfrm>
            <a:off x="551950" y="1130900"/>
            <a:ext cx="82584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private Paint mPaint = new Paint();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private Paint mPaintText = 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new Paint(Paint.UNDERLINE_TEXT_FLAG);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mPaint.setColor(Color.RED);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mPaintText.setColor(Color.BLUE);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mPaintText.setTextSize(70);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onClick handler in the ImageView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53"/>
          <p:cNvSpPr txBox="1"/>
          <p:nvPr>
            <p:ph idx="1" type="body"/>
          </p:nvPr>
        </p:nvSpPr>
        <p:spPr>
          <a:xfrm>
            <a:off x="333600" y="1175875"/>
            <a:ext cx="86874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Define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>
                <a:solidFill>
                  <a:srgbClr val="000000"/>
                </a:solidFill>
              </a:rPr>
              <a:t> handler to draw to the canvas: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53"/>
          <p:cNvSpPr txBox="1"/>
          <p:nvPr/>
        </p:nvSpPr>
        <p:spPr>
          <a:xfrm>
            <a:off x="865200" y="1681700"/>
            <a:ext cx="7513500" cy="28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Create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Bitmap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Associate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ImageView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Create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Bitmap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Draw on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Canvas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Call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invalidate()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on the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to force redraw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onClick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54"/>
          <p:cNvSpPr txBox="1"/>
          <p:nvPr>
            <p:ph idx="1" type="body"/>
          </p:nvPr>
        </p:nvSpPr>
        <p:spPr>
          <a:xfrm>
            <a:off x="486000" y="1103900"/>
            <a:ext cx="8476800" cy="3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mBitmap = Bitmap.createBitmap(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vWidth, vHeight, Bitmap.Config.ARGB_8888);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mImageView.setImageBitmap(mBitmap);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mCanvas = new Canvas(mBitmap);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mCanvas.drawColor(mColorBackground);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mCanvas.drawText(getString(R.string.my_string),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100, 100, mPaintText);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view.invalidate();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0" name="Google Shape;330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1" name="Google Shape;3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1950" y="3403475"/>
            <a:ext cx="1550350" cy="86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"/>
          <p:cNvSpPr txBox="1"/>
          <p:nvPr>
            <p:ph type="title"/>
          </p:nvPr>
        </p:nvSpPr>
        <p:spPr>
          <a:xfrm>
            <a:off x="265500" y="16903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Canvas object in a custom view</a:t>
            </a:r>
            <a:endParaRPr/>
          </a:p>
        </p:txBody>
      </p:sp>
      <p:sp>
        <p:nvSpPr>
          <p:cNvPr id="337" name="Google Shape;337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55"/>
          <p:cNvSpPr txBox="1"/>
          <p:nvPr>
            <p:ph idx="1" type="subTitle"/>
          </p:nvPr>
        </p:nvSpPr>
        <p:spPr>
          <a:xfrm>
            <a:off x="265500" y="3242200"/>
            <a:ext cx="4045200" cy="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 custom 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6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Use a custom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to allow the drawing to change in response to more complex user interaction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Subclass one of the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View</a:t>
            </a:r>
            <a:r>
              <a:rPr lang="en">
                <a:solidFill>
                  <a:srgbClr val="000000"/>
                </a:solidFill>
              </a:rPr>
              <a:t> classes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Override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onDraw()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onSizeChanged()</a:t>
            </a:r>
            <a:r>
              <a:rPr lang="en">
                <a:solidFill>
                  <a:srgbClr val="000000"/>
                </a:solidFill>
              </a:rPr>
              <a:t> to draw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Override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onTouchEvent()</a:t>
            </a:r>
            <a:r>
              <a:rPr lang="en">
                <a:solidFill>
                  <a:srgbClr val="000000"/>
                </a:solidFill>
              </a:rPr>
              <a:t> to handle user touches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6" name="Google Shape;346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7"/>
          <p:cNvSpPr txBox="1"/>
          <p:nvPr>
            <p:ph idx="1" type="body"/>
          </p:nvPr>
        </p:nvSpPr>
        <p:spPr>
          <a:xfrm>
            <a:off x="809275" y="1389925"/>
            <a:ext cx="4545900" cy="12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example, user draws a picture on the canvas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2" name="Google Shape;352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usage scenario</a:t>
            </a:r>
            <a:endParaRPr/>
          </a:p>
        </p:txBody>
      </p:sp>
      <p:pic>
        <p:nvPicPr>
          <p:cNvPr id="354" name="Google Shape;35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975" y="1043087"/>
            <a:ext cx="2264525" cy="3396775"/>
          </a:xfrm>
          <a:prstGeom prst="rect">
            <a:avLst/>
          </a:prstGeom>
          <a:noFill/>
          <a:ln cap="flat" cmpd="sng" w="9525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Overview of steps to draw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8"/>
          <p:cNvSpPr txBox="1"/>
          <p:nvPr>
            <p:ph idx="1" type="body"/>
          </p:nvPr>
        </p:nvSpPr>
        <p:spPr>
          <a:xfrm>
            <a:off x="333600" y="997725"/>
            <a:ext cx="8498700" cy="3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Create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Associate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>
                <a:solidFill>
                  <a:srgbClr val="000000"/>
                </a:solidFill>
              </a:rPr>
              <a:t> with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Create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with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>
                <a:solidFill>
                  <a:srgbClr val="000000"/>
                </a:solidFill>
              </a:rPr>
              <a:t> object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>
                <a:solidFill>
                  <a:srgbClr val="000000"/>
                </a:solidFill>
              </a:rPr>
              <a:t> for drawing style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Draw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onDraw()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Draw when size changes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onSizeChanged()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Call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invalidate()</a:t>
            </a:r>
            <a:r>
              <a:rPr lang="en">
                <a:solidFill>
                  <a:srgbClr val="000000"/>
                </a:solidFill>
              </a:rPr>
              <a:t> on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...asks Android to redraw display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Create custom View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9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Create a custom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class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Extend any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that has features you need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class MyCanvasView extends View {...}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 startAt="2"/>
            </a:pPr>
            <a:r>
              <a:rPr lang="en"/>
              <a:t>Use setContentView()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60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Set content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of activity to instance of custom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: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MyCanvasView myCanvasView;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myCanvasView = new MyCanvasView(this);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setContentView(myCanvasView);</a:t>
            </a:r>
            <a:endParaRPr sz="11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 startAt="3"/>
            </a:pPr>
            <a:r>
              <a:rPr lang="en"/>
              <a:t>Initialize Paint object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61"/>
          <p:cNvSpPr txBox="1"/>
          <p:nvPr>
            <p:ph idx="1" type="body"/>
          </p:nvPr>
        </p:nvSpPr>
        <p:spPr>
          <a:xfrm>
            <a:off x="333600" y="1207100"/>
            <a:ext cx="86874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constructor of the custom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View: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>
                <a:solidFill>
                  <a:srgbClr val="000000"/>
                </a:solidFill>
              </a:rPr>
              <a:t> object and set initial properties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Initialize member variables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Get a reference to the context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Cannot create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yet because uninflated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has no size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/>
              <a:t> code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62"/>
          <p:cNvSpPr txBox="1"/>
          <p:nvPr>
            <p:ph idx="1" type="body"/>
          </p:nvPr>
        </p:nvSpPr>
        <p:spPr>
          <a:xfrm>
            <a:off x="333600" y="1207100"/>
            <a:ext cx="88104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mPaint = new Paint();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mPaint.setColor(backgroundColor);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mPaint.setAntiAlias(true);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mPaint.setDither(true);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mPaint.setStyle(Paint.Style.STROKE); // default: FILL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mPaint.setStrokeJoin(Paint.Join.ROUND); // default: MITER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mPaint.setStrokeCap(Paint.Cap.ROUND); // default: BUTT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mPaint.setStrokeWidth(12); // default: Hairline-width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 startAt="4"/>
            </a:pPr>
            <a:r>
              <a:rPr lang="en"/>
              <a:t>Create Bitmap in onSizeChanged()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3"/>
          <p:cNvSpPr txBox="1"/>
          <p:nvPr>
            <p:ph idx="1" type="body"/>
          </p:nvPr>
        </p:nvSpPr>
        <p:spPr>
          <a:xfrm>
            <a:off x="155150" y="1090700"/>
            <a:ext cx="8865900" cy="32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custom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, override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onSizeChanged()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Create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with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Called when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is first assigned size, or its size changes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onSizeChanged()</a:t>
            </a:r>
            <a:r>
              <a:rPr lang="en">
                <a:solidFill>
                  <a:schemeClr val="dk1"/>
                </a:solidFill>
              </a:rPr>
              <a:t> c</a:t>
            </a:r>
            <a:r>
              <a:rPr lang="en">
                <a:solidFill>
                  <a:srgbClr val="000000"/>
                </a:solidFill>
              </a:rPr>
              <a:t>alculate positions, dimensions, anything related to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size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" name="Google Shape;396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onSizeChanged()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64"/>
          <p:cNvSpPr txBox="1"/>
          <p:nvPr>
            <p:ph idx="1" type="body"/>
          </p:nvPr>
        </p:nvSpPr>
        <p:spPr>
          <a:xfrm>
            <a:off x="333600" y="1160325"/>
            <a:ext cx="8687700" cy="3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onSizeChanged(int width, int height,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int oldWidth, int oldHeight)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super.onSizeChanged(width, height, oldWidth, oldHeight);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mBitmap = Bitmap.createBitmap(width, height, 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Bitmap.Config.ARGB_8888);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mCanvas = new Canvas(mBitmap);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mCanvas.drawColor(mDrawColor);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 startAt="5"/>
            </a:pPr>
            <a:r>
              <a:rPr lang="en"/>
              <a:t>Override onDraw()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5"/>
          <p:cNvSpPr txBox="1"/>
          <p:nvPr>
            <p:ph idx="1" type="body"/>
          </p:nvPr>
        </p:nvSpPr>
        <p:spPr>
          <a:xfrm>
            <a:off x="333600" y="10547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Can be simple or complex, must be fast, runs on UI Thread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protected void onDraw(Canvas canvas) {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super.onDraw(canvas);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canvas.drawBitmap(mBitmap, 0, 0, mPaint);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canvas.drawPath(mPath, mPaint);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 startAt="6"/>
            </a:pPr>
            <a:r>
              <a:rPr lang="en"/>
              <a:t>Override onTouchEvent()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66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Drawing in response to user motion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In example below,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invalidate()</a:t>
            </a:r>
            <a:r>
              <a:rPr lang="en">
                <a:solidFill>
                  <a:srgbClr val="000000"/>
                </a:solidFill>
              </a:rPr>
              <a:t> is inside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">
                <a:solidFill>
                  <a:srgbClr val="000000"/>
                </a:solidFill>
              </a:rPr>
              <a:t> statements because there are many other types of motion events passed into this listener, and we don't want to invalidate the view for those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7" name="Google Shape;417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Override onTouchEvent() code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67"/>
          <p:cNvSpPr txBox="1"/>
          <p:nvPr>
            <p:ph idx="1" type="body"/>
          </p:nvPr>
        </p:nvSpPr>
        <p:spPr>
          <a:xfrm>
            <a:off x="333600" y="978500"/>
            <a:ext cx="8476800" cy="35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switch (event.getAction())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case MotionEvent.ACTION_DOWN: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touchStart(x, y);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break;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case MotionEvent.ACTION_MOVE: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touchMove(x, y);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invalidate();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break;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case MotionEvent.ACTION_UP: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touchUp();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invalidate();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break;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68"/>
          <p:cNvSpPr txBox="1"/>
          <p:nvPr>
            <p:ph idx="1" type="body"/>
          </p:nvPr>
        </p:nvSpPr>
        <p:spPr>
          <a:xfrm>
            <a:off x="333600" y="1054700"/>
            <a:ext cx="88104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private void touchMove(float x, float y)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float dx = Math.abs(x - mX); // distance moved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float dy = Math.abs(y - mY);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if (dx &gt;= TOUCH_TOLERANCE || dy &gt;= TOUCH_TOLERANCE)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// QuadTo() adds a quadratic bezier from the last point,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// approaching control point (x1,y1), and ending at (x2,y2).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mPath.quadTo(mX, mY, (x + mX)/2, (y + mY)/2);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mX = x;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mY = y;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1" name="Google Shape;431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Canvas operations</a:t>
            </a:r>
            <a:endParaRPr/>
          </a:p>
        </p:txBody>
      </p:sp>
      <p:sp>
        <p:nvSpPr>
          <p:cNvPr id="437" name="Google Shape;437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38" name="Google Shape;438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6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can you do on a canvas?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70"/>
          <p:cNvSpPr txBox="1"/>
          <p:nvPr>
            <p:ph idx="1" type="body"/>
          </p:nvPr>
        </p:nvSpPr>
        <p:spPr>
          <a:xfrm>
            <a:off x="333600" y="1511900"/>
            <a:ext cx="8476800" cy="28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Fill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with color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 shapes, such as rectangles, arcs, paths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 text styled by the properties in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>
                <a:solidFill>
                  <a:srgbClr val="000000"/>
                </a:solidFill>
              </a:rPr>
              <a:t> object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Style shapes and text using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>
                <a:solidFill>
                  <a:srgbClr val="000000"/>
                </a:solidFill>
              </a:rPr>
              <a:t> objects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46" name="Google Shape;446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More canvas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71"/>
          <p:cNvSpPr txBox="1"/>
          <p:nvPr>
            <p:ph idx="1" type="body"/>
          </p:nvPr>
        </p:nvSpPr>
        <p:spPr>
          <a:xfrm>
            <a:off x="333600" y="1535850"/>
            <a:ext cx="8476800" cy="28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Save and restore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state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Apply transformations, such as translation, scaling, or custom transformations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Clip—apply a shape or path to define visible portions of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3" name="Google Shape;453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Filling Canvas with color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72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mCanvas.drawColor(mColorBackground);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60" name="Google Shape;460;p7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Drawing primitive shapes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73"/>
          <p:cNvSpPr txBox="1"/>
          <p:nvPr>
            <p:ph idx="1" type="body"/>
          </p:nvPr>
        </p:nvSpPr>
        <p:spPr>
          <a:xfrm>
            <a:off x="105000" y="1074050"/>
            <a:ext cx="84768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Primitive shapes: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drawRect()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drawOval()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drawArc()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Filled, outlined, or both: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setStyle()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mPaint.setStyle(Paint.Style.FILL_AND_STROKE);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mCanvas.drawCircle (x, y, radius, mPaint);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mRect.set (x, y, width, height);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mCanvas.drawRect(mRect, mPaint);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v_simple_canvas.png" id="468" name="Google Shape;468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3414" y="170825"/>
            <a:ext cx="2676525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Drawing complex shapes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74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 more complex shapes using the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Path</a:t>
            </a:r>
            <a:r>
              <a:rPr lang="en">
                <a:solidFill>
                  <a:srgbClr val="000000"/>
                </a:solidFill>
              </a:rPr>
              <a:t> class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Define a shape by adding lines and curves to a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Path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object, then draw the shape using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drawPath()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Paths can be outlined, filled, or both, depending on the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setStyle()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5" name="Google Shape;475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Drawing 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75"/>
          <p:cNvSpPr txBox="1"/>
          <p:nvPr>
            <p:ph idx="1" type="body"/>
          </p:nvPr>
        </p:nvSpPr>
        <p:spPr>
          <a:xfrm>
            <a:off x="333600" y="1054700"/>
            <a:ext cx="8687700" cy="3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 text using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drawText()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Specify typeface using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setTypeface()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Set text color using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setColor()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mPaintText.setColor(textColor);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mPaintText.setTypeface(Typeface.DEFAULT_BOLD);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mCanvas.drawText(getString(R.string.keep_tapping),</a:t>
            </a:r>
            <a:b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100, 100, mPaintText);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Transformations: translate()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6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translate()</a:t>
            </a:r>
            <a:r>
              <a:rPr lang="en">
                <a:solidFill>
                  <a:srgbClr val="000000"/>
                </a:solidFill>
              </a:rPr>
              <a:t> to move the origin of the canvas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to draw the same shape in different locations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canvas.translate(dx, dy);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7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Transformations: rotate()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77"/>
          <p:cNvSpPr txBox="1"/>
          <p:nvPr>
            <p:ph idx="1" type="body"/>
          </p:nvPr>
        </p:nvSpPr>
        <p:spPr>
          <a:xfrm>
            <a:off x="333600" y="13595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rotate()</a:t>
            </a:r>
            <a:r>
              <a:rPr lang="en">
                <a:solidFill>
                  <a:srgbClr val="000000"/>
                </a:solidFill>
              </a:rPr>
              <a:t> to turn the canvas by a number of degrees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canvas.rotate(180); 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Transformations: skew()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78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Skew the canvas by calling the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skew()</a:t>
            </a:r>
            <a:r>
              <a:rPr lang="en">
                <a:solidFill>
                  <a:srgbClr val="000000"/>
                </a:solidFill>
              </a:rPr>
              <a:t> method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You can achieve interesting text effects using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skew()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canvas.skew(0.2f, 0.3f);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7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4" name="Google Shape;504;p78"/>
          <p:cNvPicPr preferRelativeResize="0"/>
          <p:nvPr/>
        </p:nvPicPr>
        <p:blipFill rotWithShape="1">
          <a:blip r:embed="rId4">
            <a:alphaModFix/>
          </a:blip>
          <a:srcRect b="0" l="0" r="69938" t="0"/>
          <a:stretch/>
        </p:blipFill>
        <p:spPr>
          <a:xfrm>
            <a:off x="7084300" y="2947750"/>
            <a:ext cx="1173950" cy="119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Combining transformations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79"/>
          <p:cNvSpPr txBox="1"/>
          <p:nvPr>
            <p:ph idx="1" type="body"/>
          </p:nvPr>
        </p:nvSpPr>
        <p:spPr>
          <a:xfrm>
            <a:off x="333600" y="1283300"/>
            <a:ext cx="8476800" cy="23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mPaint.setTextSize(120);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canvas.translate(100, 1800);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canvas.skew(0.2f, 0.3f);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canvas.drawText("Transformed", 400, 60, mPaint);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1" name="Google Shape;511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Clipping</a:t>
            </a:r>
            <a:endParaRPr/>
          </a:p>
        </p:txBody>
      </p:sp>
      <p:sp>
        <p:nvSpPr>
          <p:cNvPr id="517" name="Google Shape;517;p8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18" name="Google Shape;518;p8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9" name="Google Shape;519;p8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clipping?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81"/>
          <p:cNvSpPr txBox="1"/>
          <p:nvPr>
            <p:ph idx="1" type="body"/>
          </p:nvPr>
        </p:nvSpPr>
        <p:spPr>
          <a:xfrm>
            <a:off x="105000" y="1130900"/>
            <a:ext cx="65025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Clipping</a:t>
            </a:r>
            <a:r>
              <a:rPr lang="en">
                <a:solidFill>
                  <a:srgbClr val="000000"/>
                </a:solidFill>
              </a:rPr>
              <a:t> is a way to define regions of an image, canvas, or bitmap that are drawn or not drawn onto screen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Reduce overdraw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Improve performance by drawing less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Create interesting UI effects and animation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26" name="Google Shape;526;p8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7" name="Google Shape;52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5200" y="518303"/>
            <a:ext cx="2435175" cy="401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clipping good for?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82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Only draw visible portions of cards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Only show relevant parts of an image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Define clipping region of any shape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8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5" name="Google Shape;53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1975" y="986475"/>
            <a:ext cx="260032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4513" y="3024850"/>
            <a:ext cx="2715250" cy="16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clipRect()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83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clipRect()</a:t>
            </a:r>
            <a:r>
              <a:rPr lang="en">
                <a:solidFill>
                  <a:srgbClr val="000000"/>
                </a:solidFill>
              </a:rPr>
              <a:t> to set a rectangular clipping region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canvas.clipRect(x, Y, right, bottom);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3" name="Google Shape;543;p8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clipPath()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84"/>
          <p:cNvSpPr txBox="1"/>
          <p:nvPr>
            <p:ph idx="1" type="body"/>
          </p:nvPr>
        </p:nvSpPr>
        <p:spPr>
          <a:xfrm>
            <a:off x="333600" y="1135900"/>
            <a:ext cx="8810400" cy="34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clipPath()</a:t>
            </a:r>
            <a:r>
              <a:rPr lang="en">
                <a:solidFill>
                  <a:srgbClr val="000000"/>
                </a:solidFill>
              </a:rPr>
              <a:t> for a custom clipping region: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mPath.addCircle(radius, x, y, Path.Direction.CCW);</a:t>
            </a:r>
            <a:b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canvas.clipPath(mPath, Region.Op.DIFFERENCE);</a:t>
            </a:r>
            <a:b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CCW</a:t>
            </a:r>
            <a:r>
              <a:rPr lang="en">
                <a:solidFill>
                  <a:srgbClr val="000000"/>
                </a:solidFill>
              </a:rPr>
              <a:t> means draw circle counterclockwise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Region.Op.DIFFERENCE</a:t>
            </a:r>
            <a:r>
              <a:rPr lang="en">
                <a:solidFill>
                  <a:srgbClr val="000000"/>
                </a:solidFill>
              </a:rPr>
              <a:t> indicates how to apply region to canvas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50" name="Google Shape;550;p8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8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quickReject()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85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quickReject()</a:t>
            </a:r>
            <a:r>
              <a:rPr lang="en">
                <a:solidFill>
                  <a:srgbClr val="000000"/>
                </a:solidFill>
              </a:rPr>
              <a:t> checks whether a specified rectangle or path would lie completely outside the currently visible regions, after all transformations have been applied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Decide efficiently which objects you do not have to draw at all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8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Complex clipping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86"/>
          <p:cNvSpPr txBox="1"/>
          <p:nvPr>
            <p:ph idx="1" type="body"/>
          </p:nvPr>
        </p:nvSpPr>
        <p:spPr>
          <a:xfrm>
            <a:off x="333600" y="1283300"/>
            <a:ext cx="43059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Combine or intersect multiple clipping regions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8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5" name="Google Shape;56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5200" y="594503"/>
            <a:ext cx="2435175" cy="4019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and restoring</a:t>
            </a:r>
            <a:endParaRPr/>
          </a:p>
        </p:txBody>
      </p:sp>
      <p:sp>
        <p:nvSpPr>
          <p:cNvPr id="571" name="Google Shape;571;p8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72" name="Google Shape;572;p8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3" name="Google Shape;573;p8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Stack of drawing states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88"/>
          <p:cNvSpPr txBox="1"/>
          <p:nvPr>
            <p:ph idx="1" type="body"/>
          </p:nvPr>
        </p:nvSpPr>
        <p:spPr>
          <a:xfrm>
            <a:off x="333600" y="1198563"/>
            <a:ext cx="84768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Activity context maintains stack of drawing states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Each state includes currently applied transformations and clipping regions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You can't remove clipping regions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Undoing a transformation by reversing it is error-prone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80" name="Google Shape;580;p8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Saving and restoring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89"/>
          <p:cNvSpPr txBox="1"/>
          <p:nvPr>
            <p:ph idx="1" type="body"/>
          </p:nvPr>
        </p:nvSpPr>
        <p:spPr>
          <a:xfrm>
            <a:off x="333600" y="1301700"/>
            <a:ext cx="8476800" cy="26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Save the state of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using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save()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Apply transformations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Draw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Restore previous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state using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restore()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87" name="Google Shape;587;p8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9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Saving and restoring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90"/>
          <p:cNvSpPr txBox="1"/>
          <p:nvPr>
            <p:ph idx="1" type="body"/>
          </p:nvPr>
        </p:nvSpPr>
        <p:spPr>
          <a:xfrm>
            <a:off x="575950" y="950025"/>
            <a:ext cx="82344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canvas.save();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mPaint.setTextSize(120);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canvas.translate(100, 1800);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canvas.skew(0.2f, 0.3f);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canvas.drawText("Skewing", 400, 60, mPaint);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canvas.restore();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canvas.save();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mPaint.setColor(Color.CYAN);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canvas.translate(600, 1800);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canvas.drawText("Save/Restore", 400, 60, mPaint);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canvas.restore();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4" name="Google Shape;594;p9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9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600" name="Google Shape;600;p9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01" name="Google Shape;601;p9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2" name="Google Shape;602;p9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9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Canvas summary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92"/>
          <p:cNvSpPr txBox="1"/>
          <p:nvPr>
            <p:ph idx="1" type="body"/>
          </p:nvPr>
        </p:nvSpPr>
        <p:spPr>
          <a:xfrm>
            <a:off x="535950" y="1071900"/>
            <a:ext cx="7936500" cy="34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You need a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>
                <a:solidFill>
                  <a:srgbClr val="000000"/>
                </a:solidFill>
              </a:rPr>
              <a:t>, a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 sz="2000">
                <a:solidFill>
                  <a:srgbClr val="000000"/>
                </a:solidFill>
              </a:rPr>
              <a:t>, a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 sz="2000">
                <a:solidFill>
                  <a:srgbClr val="000000"/>
                </a:solidFill>
              </a:rPr>
              <a:t> , and a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 sz="2000">
                <a:solidFill>
                  <a:srgbClr val="000000"/>
                </a:solidFill>
              </a:rPr>
              <a:t> object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The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 sz="2000">
                <a:solidFill>
                  <a:srgbClr val="000000"/>
                </a:solidFill>
              </a:rPr>
              <a:t> is the physical drawing surface. The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 sz="2000">
                <a:solidFill>
                  <a:srgbClr val="000000"/>
                </a:solidFill>
              </a:rPr>
              <a:t> provides an API to draw on the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 sz="2000">
                <a:solidFill>
                  <a:srgbClr val="000000"/>
                </a:solidFill>
              </a:rPr>
              <a:t>, the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 sz="2000">
                <a:solidFill>
                  <a:srgbClr val="000000"/>
                </a:solidFill>
              </a:rPr>
              <a:t> is for styling what you draw, and the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>
                <a:solidFill>
                  <a:srgbClr val="000000"/>
                </a:solidFill>
              </a:rPr>
              <a:t> displays the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You create a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 sz="2000">
                <a:solidFill>
                  <a:srgbClr val="000000"/>
                </a:solidFill>
              </a:rPr>
              <a:t>, associate it with a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>
                <a:solidFill>
                  <a:srgbClr val="000000"/>
                </a:solidFill>
              </a:rPr>
              <a:t>, create a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 sz="2000">
                <a:solidFill>
                  <a:srgbClr val="000000"/>
                </a:solidFill>
              </a:rPr>
              <a:t> with a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Paint</a:t>
            </a:r>
            <a:r>
              <a:rPr lang="en" sz="2000">
                <a:solidFill>
                  <a:srgbClr val="000000"/>
                </a:solidFill>
              </a:rPr>
              <a:t> object for the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 sz="2000">
                <a:solidFill>
                  <a:srgbClr val="000000"/>
                </a:solidFill>
              </a:rPr>
              <a:t>, and then you can draw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You must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invalidate()</a:t>
            </a:r>
            <a:r>
              <a:rPr lang="en" sz="2000">
                <a:solidFill>
                  <a:srgbClr val="000000"/>
                </a:solidFill>
              </a:rPr>
              <a:t> the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>
                <a:solidFill>
                  <a:srgbClr val="000000"/>
                </a:solidFill>
              </a:rPr>
              <a:t> when your are done drawing, so that the Android System redraws the display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All drawing happens on the UI thread, so performance matters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9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9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Clipping summary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93"/>
          <p:cNvSpPr txBox="1"/>
          <p:nvPr>
            <p:ph idx="1" type="body"/>
          </p:nvPr>
        </p:nvSpPr>
        <p:spPr>
          <a:xfrm>
            <a:off x="423950" y="1039900"/>
            <a:ext cx="8007300" cy="32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The 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r>
              <a:rPr lang="en" sz="1800">
                <a:solidFill>
                  <a:srgbClr val="000000"/>
                </a:solidFill>
              </a:rPr>
              <a:t> of an 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1800">
                <a:solidFill>
                  <a:srgbClr val="000000"/>
                </a:solidFill>
              </a:rPr>
              <a:t> maintains a state that preserves transformations and clipping regions for the 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Use 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canvas.save()</a:t>
            </a:r>
            <a:r>
              <a:rPr lang="en" sz="1800">
                <a:solidFill>
                  <a:srgbClr val="000000"/>
                </a:solidFill>
              </a:rPr>
              <a:t> and 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canvas.restore()</a:t>
            </a:r>
            <a:r>
              <a:rPr lang="en" sz="1800">
                <a:solidFill>
                  <a:srgbClr val="000000"/>
                </a:solidFill>
              </a:rPr>
              <a:t> to draw and return to original state of your 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To draw multiple shapes on a 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 sz="1800">
                <a:solidFill>
                  <a:srgbClr val="000000"/>
                </a:solidFill>
              </a:rPr>
              <a:t>, either calculate their location or move (translate) the origin of your drawing surface; the latter can make it easier to create utility methods for repeated draw sequences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Clipping regions can be any shape, combination of shapes, or path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Add, subtract, and intersect clipping regions to get exactly the region you need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You can apply transformations to text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616" name="Google Shape;616;p9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9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622" name="Google Shape;622;p9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94"/>
          <p:cNvSpPr txBox="1"/>
          <p:nvPr/>
        </p:nvSpPr>
        <p:spPr>
          <a:xfrm>
            <a:off x="311700" y="1258900"/>
            <a:ext cx="8520600" cy="31686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11.1 The Canvas class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Practicals: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11.1A Creating a simple Canvas object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○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11.1B Drawing on a Canvas object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11.1C Applying clipping to a Canvas object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9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629" name="Google Shape;629;p9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30" name="Google Shape;630;p9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1" name="Google Shape;631;p9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