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df5e7b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df5e7b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df5e7b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df5e7b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df5e7b4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df5e7b4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df5e7b4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df5e7b4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df5e7b4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df5e7b4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df5e7b4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df5e7b4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df5e7b4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df5e7b4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df5e7b4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df5e7b4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df5e7b4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df5e7b4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df5e7b4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df5e7b4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df5e7b4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df5e7b4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df5e7b4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df5e7b4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df5e7b4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df5e7b4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df5e7b4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df5e7b4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f5e7b4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ddf5e7b4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df5e7b4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df5e7b4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df5e7b4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ddf5e7b4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ddf5e7b4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ddf5e7b4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df5e7b4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ddf5e7b4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ddf5e7b4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ddf5e7b4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df5e7b4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ddf5e7b4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df5e7b4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ddf5e7b4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ddf5e7b4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ddf5e7b4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df5e7b4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ddf5e7b4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df5e7b4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df5e7b4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df5e7b4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ddf5e7b4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df5e7b4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df5e7b4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df5e7b4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ddf5e7b4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df5e7b4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ddf5e7b4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ddf5e7b4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ddf5e7b4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df5e7b4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ddf5e7b4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ddf5e7b4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ddf5e7b4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ddf5e7b4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ddf5e7b4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ddf5e7b4b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ddf5e7b4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ddf5e7b4b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ddf5e7b4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ddf5e7b4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ddf5e7b4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df5e7b4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ddf5e7b4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ddf5e7b4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ddf5e7b4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ddf5e7b4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ddf5e7b4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ddf5e7b4b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ddf5e7b4b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ddf5e7b4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ddf5e7b4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ddf5e7b4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ddf5e7b4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125" y="476814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Custom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125" y="476814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Custom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125" y="476814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Custom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125" y="476814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Custom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view/View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widget/TextView.html#setCompoundDrawables(android.graphics.drawable.Drawable,%20android.graphics.drawable.Drawable,%20android.graphics.drawable.Drawable,%20android.graphics.drawable.Drawable)" TargetMode="External"/><Relationship Id="rId4" Type="http://schemas.openxmlformats.org/officeDocument/2006/relationships/hyperlink" Target="https://developer.android.com/reference/android/widget/TextView.html#getCompoundDrawables()" TargetMode="External"/><Relationship Id="rId5" Type="http://schemas.openxmlformats.org/officeDocument/2006/relationships/hyperlink" Target="https://developer.android.com/reference/android/widget/TextView.html#setCompoundDrawablesRelativeWithIntrinsicBounds(android.graphics.drawable.Drawable,%20android.graphics.drawable.Drawable,%20android.graphics.drawable.Drawable,%20android.graphics.drawable.Drawable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view/View.html#onDraw(android.graphics.Canvas)" TargetMode="External"/><Relationship Id="rId4" Type="http://schemas.openxmlformats.org/officeDocument/2006/relationships/hyperlink" Target="https://developer.android.com/reference/android/graphics/Canvas.html" TargetMode="External"/><Relationship Id="rId5" Type="http://schemas.openxmlformats.org/officeDocument/2006/relationships/hyperlink" Target="https://developer.android.com/reference/android/graphics/Paint.html" TargetMode="External"/><Relationship Id="rId6" Type="http://schemas.openxmlformats.org/officeDocument/2006/relationships/hyperlink" Target="https://developer.android.com/reference/android/view/View.html#onSizeChanged(int,%20int,%20int,%20int)" TargetMode="External"/><Relationship Id="rId7" Type="http://schemas.openxmlformats.org/officeDocument/2006/relationships/hyperlink" Target="https://developer.android.com/reference/android/view/View.html#invalidate()" TargetMode="External"/><Relationship Id="rId8" Type="http://schemas.openxmlformats.org/officeDocument/2006/relationships/hyperlink" Target="https://developer.android.com/reference/android/view/View.html#onMeasure(int,%20int)" TargetMode="External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hyperlink" Target="https://developer.android.com/reference/android/graphics/Canvas.html#drawBitmap(android.graphics.Bitmap,%20android.graphics.Matrix,%20android.graphics.Paint)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graphics/Canvas.html#drawText(char%5B%5D,%20int,%20int,%20float,%20float,%20android.graphics.Paint)" TargetMode="External"/><Relationship Id="rId4" Type="http://schemas.openxmlformats.org/officeDocument/2006/relationships/hyperlink" Target="https://developer.android.com/reference/android/graphics/Paint.html#setTypeface(android.graphics.Typeface)" TargetMode="External"/><Relationship Id="rId9" Type="http://schemas.openxmlformats.org/officeDocument/2006/relationships/hyperlink" Target="https://developer.android.com/reference/android/graphics/Paint.html#setStyle(android.graphics.Paint.Style)" TargetMode="External"/><Relationship Id="rId5" Type="http://schemas.openxmlformats.org/officeDocument/2006/relationships/hyperlink" Target="https://developer.android.com/reference/android/graphics/Paint.html#setColor(int)" TargetMode="External"/><Relationship Id="rId6" Type="http://schemas.openxmlformats.org/officeDocument/2006/relationships/hyperlink" Target="https://developer.android.com/reference/android/graphics/Canvas.html#drawRect(android.graphics.Rect,%20android.graphics.Paint)" TargetMode="External"/><Relationship Id="rId7" Type="http://schemas.openxmlformats.org/officeDocument/2006/relationships/hyperlink" Target="https://developer.android.com/reference/android/graphics/Canvas.html#drawOval(android.graphics.RectF,%20android.graphics.Paint)" TargetMode="External"/><Relationship Id="rId8" Type="http://schemas.openxmlformats.org/officeDocument/2006/relationships/hyperlink" Target="https://developer.android.com/reference/android/graphics/Canvas.html#drawArc(android.graphics.RectF,%20float,%20float,%20boolean,%20android.graphics.Paint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graphics/Canvas.html#drawCircle(float,%20float,%20float,%20android.graphics.Paint)" TargetMode="External"/><Relationship Id="rId4" Type="http://schemas.openxmlformats.org/officeDocument/2006/relationships/hyperlink" Target="https://developer.android.com/reference/android/graphics/Canvas.html#drawText(java.lang.String,%20int,%20int,%20float,%20float,%20android.graphics.Paint)" TargetMode="External"/><Relationship Id="rId5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view/View.html#onSizeChanged(int,%20int,%20int,%20int)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view/View.OnClickListener.html" TargetMode="External"/><Relationship Id="rId4" Type="http://schemas.openxmlformats.org/officeDocument/2006/relationships/hyperlink" Target="https://developer.android.com/reference/android/view/View.html#invalidate()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view/View.OnClickListener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android.com/reference/android/content/res/Resources.Theme.html#obtainStyledAttributes(android.util.AttributeSet,%20int%5B%5D,%20int,%20int)" TargetMode="External"/><Relationship Id="rId4" Type="http://schemas.openxmlformats.org/officeDocument/2006/relationships/hyperlink" Target="https://developer.android.com/reference/android/content/res/TypedArray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content/res/TypedArray.html#getBoolean(int,%20boolean)" TargetMode="External"/><Relationship Id="rId4" Type="http://schemas.openxmlformats.org/officeDocument/2006/relationships/hyperlink" Target="https://developer.android.com/reference/android/content/res/TypedArray.html#getString(int)" TargetMode="External"/><Relationship Id="rId5" Type="http://schemas.openxmlformats.org/officeDocument/2006/relationships/hyperlink" Target="https://developer.android.com/reference/android/content/res/TypedArray.html#getColor(int,%20int)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.android.com/reference/android/view/View.html#invalidate()" TargetMode="External"/><Relationship Id="rId4" Type="http://schemas.openxmlformats.org/officeDocument/2006/relationships/hyperlink" Target="https://developer.android.com/reference/android/view/View.html#requestLayout()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oogle-developer-training.gitbooks.io/android-developer-advanced-course-concepts/content/unit-5-advanced-graphics-and-views/lesson-10-custom-views/10-1-c-custom-views/10-1-c-custom-views.html" TargetMode="External"/><Relationship Id="rId4" Type="http://schemas.openxmlformats.org/officeDocument/2006/relationships/hyperlink" Target="https://google-developer-training.gitbooks.io/android-developer-advanced-course-practicals/content/unit-5-advanced-graphics-and-views/lesson-10-custom-views/10-1a-p-using-custom-views/10-1a-p-using-custom-views.html" TargetMode="External"/><Relationship Id="rId5" Type="http://schemas.openxmlformats.org/officeDocument/2006/relationships/hyperlink" Target="https://google-developer-training.gitbooks.io/android-developer-advanced-course-practicals/content/unit-5-advanced-graphics-and-views/lesson-10-custom-views/10-1b-p-using-custom-views/10-1b-p-using-custom-views.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views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10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10.1 Custom views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or replacing a View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306725"/>
            <a:ext cx="8476800" cy="30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Overview of custom views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Creating a custom view class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Drawing the custom view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the custom view in a layout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custom attributes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custom views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and View subclasses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class is the basic building block of a UI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subclasses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(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, etc.) to enable user interaction and display information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xtend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or any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subclass to customize appearance and behavior, including user interaction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view to extend a View subclass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310500"/>
            <a:ext cx="50541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Inherit and customize the look and behavior of the subclass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for entering text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Extended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with a reset (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) button to clear text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250" y="1316325"/>
            <a:ext cx="3302325" cy="285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view to extend View itself</a:t>
            </a:r>
            <a:endParaRPr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310500"/>
            <a:ext cx="44334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any shape or size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Create your own interactive elements and behavior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300" y="1349183"/>
            <a:ext cx="3473400" cy="3012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creating custom views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Create a class that extends 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or a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subclass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Override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methods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Extending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: Draw entire view by overriding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onDraw()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Extending a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subclass: Override behavior or appearance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Use the custom view class in a layout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265500" y="1233175"/>
            <a:ext cx="4045200" cy="249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custom view class</a:t>
            </a:r>
            <a:endParaRPr/>
          </a:p>
        </p:txBody>
      </p:sp>
      <p:sp>
        <p:nvSpPr>
          <p:cNvPr id="198" name="Google Shape;198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3"/>
          <p:cNvSpPr txBox="1"/>
          <p:nvPr>
            <p:ph idx="1" type="subTitle"/>
          </p:nvPr>
        </p:nvSpPr>
        <p:spPr>
          <a:xfrm>
            <a:off x="265500" y="3730375"/>
            <a:ext cx="4045200" cy="5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custom view class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Create a new Java class in Android Studio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Choose a superclass: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To extend 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, choose 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android.view.View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To extend a 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 subclass, choose subclass (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, 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, etc.)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required constructors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214750" y="1055900"/>
            <a:ext cx="8806500" cy="3436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example: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AppCompatEditText(context:Context)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     Creates instance of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AppCompatEditText(context:Context, attrs:AttributeSet)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     Inflates view from an XML layout and applies XML attributes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AppCompatEditText(context:Context, attrs:AttributeSet, defStyleAttr:int)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     Applies a default style and attributes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the initialize helper method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208250"/>
            <a:ext cx="8520600" cy="341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 void init()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Define member variable for drawable.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mClearButtonImage = ResourcesCompat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.getDrawable(getResources(),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R.drawable.ic_clear_opaque_24dp, null);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If the X (clear) button is tapped, clear the text.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If the text changes, show or hide the X (clear) button.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helper method from constructors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 CustomViewExample(Context context)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super(context);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init();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CustomViewExample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(Context context, AttributeSet attrs)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super(context, attrs);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init();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265500" y="787750"/>
            <a:ext cx="4045200" cy="25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a custom view</a:t>
            </a:r>
            <a:endParaRPr/>
          </a:p>
        </p:txBody>
      </p:sp>
      <p:sp>
        <p:nvSpPr>
          <p:cNvPr id="234" name="Google Shape;234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8"/>
          <p:cNvSpPr txBox="1"/>
          <p:nvPr>
            <p:ph idx="1" type="subTitle"/>
          </p:nvPr>
        </p:nvSpPr>
        <p:spPr>
          <a:xfrm>
            <a:off x="265500" y="3292248"/>
            <a:ext cx="4045200" cy="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a subclass to use its appearance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No need for code to draw or redraw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Extended subclass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inherits look and behavior of subclass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Extend an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Override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subclass methods to customize appearance (add an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150" y="3426971"/>
            <a:ext cx="2110565" cy="9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386" y="3426971"/>
            <a:ext cx="2110565" cy="9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 extended EditText (1)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1152950"/>
            <a:ext cx="8520600" cy="333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Override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subclass methods: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setCompoundDrawables()</a:t>
            </a:r>
            <a:r>
              <a:rPr lang="en" sz="2000">
                <a:solidFill>
                  <a:schemeClr val="dk1"/>
                </a:solidFill>
              </a:rPr>
              <a:t> and 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getCompoundDrawables()</a:t>
            </a:r>
            <a:r>
              <a:rPr lang="en" sz="2000">
                <a:solidFill>
                  <a:schemeClr val="dk1"/>
                </a:solidFill>
              </a:rPr>
              <a:t> inherited from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sz="2000">
                <a:solidFill>
                  <a:schemeClr val="dk1"/>
                </a:solidFill>
              </a:rPr>
              <a:t> to set and retrieve drawables in custom view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setCompoundDrawablesRelativeWithIntrinsicBounds()</a:t>
            </a:r>
            <a:r>
              <a:rPr lang="en" sz="2000">
                <a:solidFill>
                  <a:schemeClr val="dk1"/>
                </a:solidFill>
              </a:rPr>
              <a:t> to accommodate RTL and LTR languages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52" name="Google Shape;252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Customize extended EditText (2)</a:t>
            </a:r>
            <a:endParaRPr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311700" y="1180825"/>
            <a:ext cx="8520600" cy="3311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Setting a drawable for the extended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At </a:t>
            </a:r>
            <a:r>
              <a:rPr i="1" lang="en" sz="1800">
                <a:solidFill>
                  <a:srgbClr val="000000"/>
                </a:solidFill>
                <a:highlight>
                  <a:srgbClr val="FFFFFF"/>
                </a:highlight>
              </a:rPr>
              <a:t>start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: left side for LTR, right side for RTL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At </a:t>
            </a:r>
            <a:r>
              <a:rPr i="1" lang="en" sz="1800">
                <a:solidFill>
                  <a:srgbClr val="000000"/>
                </a:solidFill>
                <a:highlight>
                  <a:srgbClr val="FFFFFF"/>
                </a:highlight>
              </a:rPr>
              <a:t>end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: right side for LTR, left side for RTL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Use 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</a:rPr>
              <a:t> for no drawable at that position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setCompoundDrawablesRelativeWithIntrinsicBounds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(null,                      // Start of text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null,               // Above text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mClearButtonImage,  // End of text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null);              // Below text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750" y="1874100"/>
            <a:ext cx="1790700" cy="7715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 an extended View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Override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onDraw()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using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Canvas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styled by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Paint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Override </a:t>
            </a:r>
            <a:r>
              <a:rPr lang="en" u="sng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6"/>
              </a:rPr>
              <a:t>onSizeChanged()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to calculate view's size when it first appears and when it changes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7"/>
              </a:rPr>
              <a:t>invalidate()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when responding to click, to force a redraw by forcing a call to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onDraw()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Override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8"/>
              </a:rPr>
              <a:t>onMeasure()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define custom view in view hierarchy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Canvas and Paint drawing methods</a:t>
            </a:r>
            <a:endParaRPr/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11700" y="1080725"/>
            <a:ext cx="8520600" cy="341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text with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drawText()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Typeface with </a:t>
            </a: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setTypeface()</a:t>
            </a:r>
            <a:endParaRPr sz="18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Text color with </a:t>
            </a: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setColor()</a:t>
            </a:r>
            <a:endParaRPr sz="18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shapes using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drawRect()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drawOval()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drawArc()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Shape fill and outline with </a:t>
            </a:r>
            <a:r>
              <a:rPr lang="en" sz="18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setStyle()</a:t>
            </a:r>
            <a:endParaRPr sz="18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Draw bitmaps using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drawBitmap()</a:t>
            </a:r>
            <a:endParaRPr>
              <a:solidFill>
                <a:schemeClr val="accent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drawing methods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163600" y="1078575"/>
            <a:ext cx="8857500" cy="341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 using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drawCircle()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drawText()</a:t>
            </a:r>
            <a:endParaRPr>
              <a:solidFill>
                <a:schemeClr val="accent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protected void onDraw(Canvas canvas)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super.onDraw(canvas);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Draw the dial.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canvas.drawCircle(mWidth / 2, mHeight / 2, mRadius, mDialPaint);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Draw the text labels.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canvas.drawText(Integer.toString(i), x, y, mTextPaint);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5">
            <a:alphaModFix/>
          </a:blip>
          <a:srcRect b="47487" l="53113" r="2541" t="6781"/>
          <a:stretch/>
        </p:blipFill>
        <p:spPr>
          <a:xfrm>
            <a:off x="6932150" y="1270000"/>
            <a:ext cx="1540300" cy="137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 the size</a:t>
            </a:r>
            <a:endParaRPr/>
          </a:p>
        </p:txBody>
      </p:sp>
      <p:sp>
        <p:nvSpPr>
          <p:cNvPr id="288" name="Google Shape;288;p45"/>
          <p:cNvSpPr txBox="1"/>
          <p:nvPr>
            <p:ph idx="1" type="body"/>
          </p:nvPr>
        </p:nvSpPr>
        <p:spPr>
          <a:xfrm>
            <a:off x="183975" y="1015188"/>
            <a:ext cx="8927100" cy="347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Calculate the size in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onSizeChanged()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Called when custom view first appears and when it changes size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protected void onSizeChanged(int w, int h, int oldw, int oldh)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// Calculate the radius from the width and height.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mWidth = w;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mHeight = h;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mRadius = (float) (Math.min(mWidth, mHeight) / 2 * 0.8);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Redraw after user interaction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Force a redraw after user interaction: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Add event listener such as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onClick()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from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View.OnClickListener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When change occurs, use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invalidate()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force call to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onDraw()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Redraw after user interaction (example)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7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 using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View.OnClickListener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setOnClickListener(new OnClickListener()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public void onClick(View v)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On user click, perform actions.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// Redraw the view.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invalidate();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type="title"/>
          </p:nvPr>
        </p:nvSpPr>
        <p:spPr>
          <a:xfrm>
            <a:off x="265500" y="787750"/>
            <a:ext cx="4045200" cy="28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custom view in a layout</a:t>
            </a:r>
            <a:endParaRPr/>
          </a:p>
        </p:txBody>
      </p:sp>
      <p:sp>
        <p:nvSpPr>
          <p:cNvPr id="309" name="Google Shape;309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8"/>
          <p:cNvSpPr txBox="1"/>
          <p:nvPr>
            <p:ph idx="1" type="subTitle"/>
          </p:nvPr>
        </p:nvSpPr>
        <p:spPr>
          <a:xfrm>
            <a:off x="265500" y="3602452"/>
            <a:ext cx="40452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the custom view to the UI</a:t>
            </a:r>
            <a:endParaRPr/>
          </a:p>
        </p:txBody>
      </p:sp>
      <p:sp>
        <p:nvSpPr>
          <p:cNvPr id="317" name="Google Shape;317;p49"/>
          <p:cNvSpPr txBox="1"/>
          <p:nvPr>
            <p:ph idx="1" type="body"/>
          </p:nvPr>
        </p:nvSpPr>
        <p:spPr>
          <a:xfrm>
            <a:off x="311700" y="1117750"/>
            <a:ext cx="8520600" cy="3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Add to activity's XML layout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Control appearance with inherited subclass attributes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If extending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, use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attributes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If extending a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subclass, use relevant attributes:</a:t>
            </a:r>
            <a:br>
              <a:rPr lang="en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   For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subclass, use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attributes</a:t>
            </a:r>
            <a:br>
              <a:rPr lang="en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   For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subclass, use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ImageView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attributes...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Optional: Add custom attributes and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/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methods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18" name="Google Shape;318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View attributes</a:t>
            </a:r>
            <a:endParaRPr/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311700" y="1113175"/>
            <a:ext cx="8520600" cy="348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XML attributes for extended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class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&lt;com.example.customfancontroller.DialView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android:id="@+id/dialView"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android:layout_width="@dimen/dial_width"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android:layout_height="@dimen/dial_height"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android:layout_marginTop="@dimen/standard_margin"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android:layout_marginRight="@dimen/standard_margin"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&lt;!-- More attributes ...  --&gt;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25" name="Google Shape;325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View subclass attributes</a:t>
            </a:r>
            <a:endParaRPr/>
          </a:p>
        </p:txBody>
      </p:sp>
      <p:sp>
        <p:nvSpPr>
          <p:cNvPr id="331" name="Google Shape;331;p51"/>
          <p:cNvSpPr txBox="1"/>
          <p:nvPr>
            <p:ph idx="1" type="body"/>
          </p:nvPr>
        </p:nvSpPr>
        <p:spPr>
          <a:xfrm>
            <a:off x="173825" y="1014025"/>
            <a:ext cx="8658600" cy="3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XML attributes for custom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&lt;com.example.android.customedittext.EditTextWithClear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android:layout_width="wrap_content"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android:layout_height="wrap_content"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android:inputType="textCapSentences"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android:textAppearance=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"@style/Base.TextAppearance.AppCompat.Display1"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android:hint="@string/last_name"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&lt;!-- More attributes ...  --&gt;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32" name="Google Shape;332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>
            <p:ph type="title"/>
          </p:nvPr>
        </p:nvSpPr>
        <p:spPr>
          <a:xfrm>
            <a:off x="43500" y="787750"/>
            <a:ext cx="4534500" cy="286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custom attributes</a:t>
            </a:r>
            <a:endParaRPr/>
          </a:p>
        </p:txBody>
      </p:sp>
      <p:sp>
        <p:nvSpPr>
          <p:cNvPr id="338" name="Google Shape;338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52"/>
          <p:cNvSpPr txBox="1"/>
          <p:nvPr>
            <p:ph idx="1" type="subTitle"/>
          </p:nvPr>
        </p:nvSpPr>
        <p:spPr>
          <a:xfrm>
            <a:off x="265500" y="3602452"/>
            <a:ext cx="40452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custom attributes</a:t>
            </a:r>
            <a:endParaRPr/>
          </a:p>
        </p:txBody>
      </p:sp>
      <p:sp>
        <p:nvSpPr>
          <p:cNvPr id="346" name="Google Shape;346;p53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Define an attribute and its type in XML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Set the attribute value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Retrieve the attribute value in the view's constructor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47" name="Google Shape;34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Declare custom view as styleable</a:t>
            </a:r>
            <a:endParaRPr/>
          </a:p>
        </p:txBody>
      </p:sp>
      <p:sp>
        <p:nvSpPr>
          <p:cNvPr id="353" name="Google Shape;353;p54"/>
          <p:cNvSpPr txBox="1"/>
          <p:nvPr>
            <p:ph idx="1" type="body"/>
          </p:nvPr>
        </p:nvSpPr>
        <p:spPr>
          <a:xfrm>
            <a:off x="311700" y="1051425"/>
            <a:ext cx="8520600" cy="373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Define name and type in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&lt;declare-styleable&gt;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resource in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res/values/attrs.xml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Attributes for "fan on" and "fan off" colors: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&lt;resources&gt;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&lt;declare-styleable name="DialView"&gt;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&lt;attr name="fanOnColor" format="reference|color" /&gt;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&lt;attr name="fanOffColor" format="reference|color" /&gt;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&lt;/declare-styleable&gt;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&lt;/resources&gt;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54" name="Google Shape;354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custom attributes to XML layout</a:t>
            </a:r>
            <a:endParaRPr/>
          </a:p>
        </p:txBody>
      </p:sp>
      <p:sp>
        <p:nvSpPr>
          <p:cNvPr id="360" name="Google Shape;360;p55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Specify values for custom attributes in XML layout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&lt;com.example.customfancontroller.DialView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android:id="@+id/dialView"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app:fanOffColor="@color/yellow1"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app:fanOnColor="@color/cyan1"</a:t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&lt;!-- More attributes ...  --&gt;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61" name="Google Shape;361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 txBox="1"/>
          <p:nvPr>
            <p:ph type="title"/>
          </p:nvPr>
        </p:nvSpPr>
        <p:spPr>
          <a:xfrm>
            <a:off x="311700" y="170825"/>
            <a:ext cx="870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custom attributes in view constructor</a:t>
            </a:r>
            <a:endParaRPr/>
          </a:p>
        </p:txBody>
      </p:sp>
      <p:sp>
        <p:nvSpPr>
          <p:cNvPr id="367" name="Google Shape;367;p56"/>
          <p:cNvSpPr txBox="1"/>
          <p:nvPr>
            <p:ph idx="1" type="body"/>
          </p:nvPr>
        </p:nvSpPr>
        <p:spPr>
          <a:xfrm>
            <a:off x="311700" y="1118575"/>
            <a:ext cx="8367300" cy="337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Attributes from resource bundle are passed to view's constructor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obtainStyledAttributes()</a:t>
            </a:r>
            <a:r>
              <a:rPr lang="en">
                <a:solidFill>
                  <a:schemeClr val="dk1"/>
                </a:solidFill>
              </a:rPr>
              <a:t> to get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TypedArray</a:t>
            </a:r>
            <a:r>
              <a:rPr lang="en">
                <a:solidFill>
                  <a:schemeClr val="dk1"/>
                </a:solidFill>
              </a:rPr>
              <a:t> of attribute values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 DialView(Context context, AttributeSet attrs) {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super(context, attrs);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TypedArray typedArray = context.</a:t>
            </a:r>
            <a:r>
              <a:rPr b="1"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obtainStyledAttributes</a:t>
            </a:r>
            <a:endParaRPr b="1"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(attrs, R.styleable.DialView, 0, 0);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68" name="Google Shape;368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custom attributes from TypedArray</a:t>
            </a:r>
            <a:endParaRPr/>
          </a:p>
        </p:txBody>
      </p:sp>
      <p:sp>
        <p:nvSpPr>
          <p:cNvPr id="374" name="Google Shape;374;p57"/>
          <p:cNvSpPr txBox="1"/>
          <p:nvPr>
            <p:ph idx="1" type="body"/>
          </p:nvPr>
        </p:nvSpPr>
        <p:spPr>
          <a:xfrm>
            <a:off x="311700" y="1108600"/>
            <a:ext cx="8832300" cy="338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"getter" method depending on attribute type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getBoolean()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getString()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getColor()</a:t>
            </a:r>
            <a:r>
              <a:rPr lang="en">
                <a:solidFill>
                  <a:srgbClr val="000000"/>
                </a:solidFill>
              </a:rPr>
              <a:t> and more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Specify attribute as: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R.styleable.</a:t>
            </a: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ViewName_customAttributeName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i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 colors from the attributes</a:t>
            </a:r>
            <a:endParaRPr b="1" i="1" sz="2000">
              <a:solidFill>
                <a:srgbClr val="00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mFanOnColor = </a:t>
            </a:r>
            <a:r>
              <a:rPr lang="en" sz="2000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typedArray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.getColor(</a:t>
            </a:r>
            <a:b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R.styleable.DialView_fanOnColor, defaultFanOnColor);</a:t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Recycle TypedArray</a:t>
            </a:r>
            <a:endParaRPr/>
          </a:p>
        </p:txBody>
      </p:sp>
      <p:sp>
        <p:nvSpPr>
          <p:cNvPr id="381" name="Google Shape;381;p58"/>
          <p:cNvSpPr txBox="1"/>
          <p:nvPr>
            <p:ph idx="1" type="body"/>
          </p:nvPr>
        </p:nvSpPr>
        <p:spPr>
          <a:xfrm>
            <a:off x="311700" y="1208475"/>
            <a:ext cx="8832300" cy="328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TypedArray</a:t>
            </a:r>
            <a:r>
              <a:rPr lang="en">
                <a:solidFill>
                  <a:srgbClr val="000000"/>
                </a:solidFill>
              </a:rPr>
              <a:t> is a shared resource so recycle it after use</a:t>
            </a:r>
            <a:endParaRPr>
              <a:solidFill>
                <a:srgbClr val="00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typedArray.recycle();</a:t>
            </a:r>
            <a:endParaRPr>
              <a:solidFill>
                <a:srgbClr val="00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Get attributes for fan colors</a:t>
            </a:r>
            <a:endParaRPr/>
          </a:p>
        </p:txBody>
      </p:sp>
      <p:sp>
        <p:nvSpPr>
          <p:cNvPr id="388" name="Google Shape;388;p59"/>
          <p:cNvSpPr txBox="1"/>
          <p:nvPr>
            <p:ph idx="1" type="body"/>
          </p:nvPr>
        </p:nvSpPr>
        <p:spPr>
          <a:xfrm>
            <a:off x="311700" y="1018725"/>
            <a:ext cx="8709300" cy="353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Default colors in case attributes are not found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defaultFanOnColor = Color.CYAN;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defaultFanOffColor = Color.GRAY;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 Get colors for fan on and fan off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 the attributes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mFanOnColor =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typedArray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.getColor(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R.styleable.DialView_fanOnColor, defaultFanOnColor);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mFanOffColor =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typedArray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.getColor(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R.styleable.DialView_fanOffColor, defaultFanOffColor);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Recycle the typedArray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typedArray.recycle();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89" name="Google Shape;389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custom attributes in the view</a:t>
            </a:r>
            <a:endParaRPr/>
          </a:p>
        </p:txBody>
      </p:sp>
      <p:sp>
        <p:nvSpPr>
          <p:cNvPr id="395" name="Google Shape;395;p6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retrieved attribute values in custom view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8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(fanSelection &gt;= 1) 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fan is on</a:t>
            </a:r>
            <a:endParaRPr i="1"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mDialPaint.setColor(mFanOnColor);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 else {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fan is off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mDialPaint.setColor(mFanOffColor);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96" name="Google Shape;396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get/set with custom attributes</a:t>
            </a:r>
            <a:endParaRPr/>
          </a:p>
        </p:txBody>
      </p:sp>
      <p:sp>
        <p:nvSpPr>
          <p:cNvPr id="402" name="Google Shape;402;p61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Attributes are read-only when view is initialized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For dynamic behavior, create "setter" and "getter" methods for each custom attribute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Example: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   App allows user to change "fan off" and "fan on colors"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403" name="Google Shape;403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Setter and getter for attribute</a:t>
            </a:r>
            <a:endParaRPr/>
          </a:p>
        </p:txBody>
      </p:sp>
      <p:sp>
        <p:nvSpPr>
          <p:cNvPr id="409" name="Google Shape;409;p62"/>
          <p:cNvSpPr txBox="1"/>
          <p:nvPr>
            <p:ph idx="1" type="body"/>
          </p:nvPr>
        </p:nvSpPr>
        <p:spPr>
          <a:xfrm>
            <a:off x="311700" y="1138550"/>
            <a:ext cx="8520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Setter and getter for "fan on" color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int getFanOnColor 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return mFanOnColor;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void setFanOnColor(int color)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mFanOnColor = color;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410" name="Google Shape;410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Change attributes dynamically</a:t>
            </a:r>
            <a:endParaRPr/>
          </a:p>
        </p:txBody>
      </p:sp>
      <p:sp>
        <p:nvSpPr>
          <p:cNvPr id="416" name="Google Shape;416;p63"/>
          <p:cNvSpPr txBox="1"/>
          <p:nvPr>
            <p:ph idx="1" type="body"/>
          </p:nvPr>
        </p:nvSpPr>
        <p:spPr>
          <a:xfrm>
            <a:off x="311700" y="1029475"/>
            <a:ext cx="8520600" cy="3463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Example: App allows user to change the color of the fan controller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Get the color that the user set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newFanOnColor = getColorFromUser(...);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setFanOnColor(newFanOnColor);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417" name="Google Shape;417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Redraw after property changes</a:t>
            </a:r>
            <a:endParaRPr/>
          </a:p>
        </p:txBody>
      </p:sp>
      <p:sp>
        <p:nvSpPr>
          <p:cNvPr id="423" name="Google Shape;423;p64"/>
          <p:cNvSpPr txBox="1"/>
          <p:nvPr>
            <p:ph idx="1" type="body"/>
          </p:nvPr>
        </p:nvSpPr>
        <p:spPr>
          <a:xfrm>
            <a:off x="311700" y="1167725"/>
            <a:ext cx="8520600" cy="332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invalidate()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after any change to properties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If change affects size or shape, use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requestLayout()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Always make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invalidate()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and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requestLayout()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calls from UI thread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424" name="Google Shape;424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30" name="Google Shape;430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65"/>
          <p:cNvSpPr txBox="1"/>
          <p:nvPr/>
        </p:nvSpPr>
        <p:spPr>
          <a:xfrm>
            <a:off x="311700" y="1666750"/>
            <a:ext cx="8520600" cy="24384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10.1 Custom views</a:t>
            </a:r>
            <a:endParaRPr sz="24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Practicals: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10.1A Creating a custom view from a View subclass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10.1B Creating a custom view from scratch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37" name="Google Shape;437;p6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8" name="Google Shape;438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6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