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y="5143500" cx="9144000"/>
  <p:notesSz cx="6858000" cy="9144000"/>
  <p:embeddedFontLst>
    <p:embeddedFont>
      <p:font typeface="Roboto"/>
      <p:regular r:id="rId41"/>
      <p:bold r:id="rId42"/>
      <p:italic r:id="rId43"/>
      <p:boldItalic r:id="rId44"/>
    </p:embeddedFont>
    <p:embeddedFont>
      <p:font typeface="Open Sans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7D89B5-056C-4367-9BE7-806ACA0BD8CB}">
  <a:tblStyle styleId="{417D89B5-056C-4367-9BE7-806ACA0BD8C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font" Target="fonts/Roboto-bold.fntdata"/><Relationship Id="rId41" Type="http://schemas.openxmlformats.org/officeDocument/2006/relationships/font" Target="fonts/Robot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-italic.fntdata"/><Relationship Id="rId24" Type="http://schemas.openxmlformats.org/officeDocument/2006/relationships/slide" Target="slides/slide18.xml"/><Relationship Id="rId46" Type="http://schemas.openxmlformats.org/officeDocument/2006/relationships/font" Target="fonts/OpenSans-bold.fntdata"/><Relationship Id="rId23" Type="http://schemas.openxmlformats.org/officeDocument/2006/relationships/slide" Target="slides/slide17.xml"/><Relationship Id="rId45" Type="http://schemas.openxmlformats.org/officeDocument/2006/relationships/font" Target="fonts/Open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48" Type="http://schemas.openxmlformats.org/officeDocument/2006/relationships/font" Target="fonts/OpenSans-boldItalic.fntdata"/><Relationship Id="rId25" Type="http://schemas.openxmlformats.org/officeDocument/2006/relationships/slide" Target="slides/slide19.xml"/><Relationship Id="rId47" Type="http://schemas.openxmlformats.org/officeDocument/2006/relationships/font" Target="fonts/OpenSans-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f5deb3c7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f5deb3c7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f5deb3c7a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2f5deb3c7a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2f5deb3c7a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2f5deb3c7a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2f5deb3c7a_1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f5deb3c7a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f5deb3c7a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f5deb3c7a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f5deb3c7a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f5deb3c7a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2f5deb3c7a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2f5deb3c7a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f5deb3c7a_1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2f5deb3c7a_1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f5deb3c7a_1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f5deb3c7a_1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2f5deb3c7a_1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2f5deb3c7a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2f5deb3c7a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2f5deb3c7a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5deb3c7a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f5deb3c7a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f5deb3c7a_1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f5deb3c7a_1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5deb3c7a_1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f5deb3c7a_1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f5deb3c7a_1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f5deb3c7a_1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2f5deb3c7a_1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2f5deb3c7a_1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f5deb3c7a_1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f5deb3c7a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2f5deb3c7a_1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2f5deb3c7a_1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5deb3c7a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2f5deb3c7a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f5deb3c7a_1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f5deb3c7a_1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f5deb3c7a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f5deb3c7a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f5deb3c7a_1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f5deb3c7a_1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2f5deb3c7a_1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2f5deb3c7a_1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2f5deb3c7a_1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2f5deb3c7a_1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2f5deb3c7a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2f5deb3c7a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f5deb3c7a_1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f5deb3c7a_1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2f5deb3c7a_1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2f5deb3c7a_1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5deb3c7a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2f5deb3c7a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2f5deb3c7a_1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2f5deb3c7a_1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g2f5deb3c7a_1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4" name="Google Shape;354;g2f5deb3c7a_1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f5deb3c7a_1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2f5deb3c7a_1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2f5deb3c7a_1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2f5deb3c7a_1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2f5deb3c7a_1_2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2f5deb3c7a_1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2f5deb3c7a_1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2f5deb3c7a_1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54" name="Google Shape;54;p11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11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8" name="Google Shape;58;p1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9" name="Google Shape;59;p11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61" name="Google Shape;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" name="Google Shape;63;p1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4" name="Google Shape;6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11"/>
          <p:cNvSpPr txBox="1"/>
          <p:nvPr/>
        </p:nvSpPr>
        <p:spPr>
          <a:xfrm>
            <a:off x="4407225" y="4755964"/>
            <a:ext cx="1392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21AAC3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21AAC3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2400"/>
              <a:buNone/>
              <a:defRPr sz="24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389600"/>
            <a:ext cx="8428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3" name="Google Shape;103;p1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800"/>
              <a:buNone/>
              <a:defRPr sz="4800">
                <a:solidFill>
                  <a:srgbClr val="21AAC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6" name="Google Shape;106;p2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/>
          <p:nvPr/>
        </p:nvSpPr>
        <p:spPr>
          <a:xfrm>
            <a:off x="4572000" y="-125"/>
            <a:ext cx="4572000" cy="4646400"/>
          </a:xfrm>
          <a:prstGeom prst="rect">
            <a:avLst/>
          </a:prstGeom>
          <a:solidFill>
            <a:srgbClr val="21AAC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4200"/>
              <a:buNone/>
              <a:defRPr sz="4200">
                <a:solidFill>
                  <a:srgbClr val="21AAC3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0" name="Google Shape;11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1" name="Google Shape;11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creen Shot 2017-06-24 at 5.25.46 PM.png" id="117" name="Google Shape;117;p23"/>
          <p:cNvPicPr preferRelativeResize="0"/>
          <p:nvPr/>
        </p:nvPicPr>
        <p:blipFill rotWithShape="1">
          <a:blip r:embed="rId2">
            <a:alphaModFix/>
          </a:blip>
          <a:srcRect b="0" l="39" r="39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3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3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footer.png" id="124" name="Google Shape;12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5038" y="-16809"/>
            <a:ext cx="9144000" cy="517350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27" name="Google Shape;12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3"/>
          <p:cNvSpPr txBox="1"/>
          <p:nvPr/>
        </p:nvSpPr>
        <p:spPr>
          <a:xfrm>
            <a:off x="4407225" y="4755964"/>
            <a:ext cx="1392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0.xml"/><Relationship Id="rId1" Type="http://schemas.openxmlformats.org/officeDocument/2006/relationships/image" Target="../media/image7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1.png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5.xml"/><Relationship Id="rId8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Topics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743222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755964"/>
            <a:ext cx="1392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1725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9" name="Google Shape;69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AAC3"/>
              </a:buClr>
              <a:buSzPts val="3600"/>
              <a:buFont typeface="Roboto"/>
              <a:buNone/>
              <a:defRPr b="1" sz="3600">
                <a:solidFill>
                  <a:srgbClr val="21AAC3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  <a:defRPr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Font typeface="Roboto"/>
              <a:buChar char="○"/>
              <a:defRPr sz="18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●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24242"/>
              </a:buClr>
              <a:buSzPts val="1400"/>
              <a:buFont typeface="Roboto"/>
              <a:buChar char="○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24242"/>
              </a:buClr>
              <a:buSzPts val="1400"/>
              <a:buFont typeface="Roboto"/>
              <a:buChar char="■"/>
              <a:defRPr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13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3"/>
          <p:cNvSpPr txBox="1"/>
          <p:nvPr/>
        </p:nvSpPr>
        <p:spPr>
          <a:xfrm>
            <a:off x="2381675" y="4761375"/>
            <a:ext cx="21585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Advanced Android Development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5" name="Google Shape;75;p13"/>
          <p:cNvSpPr txBox="1"/>
          <p:nvPr/>
        </p:nvSpPr>
        <p:spPr>
          <a:xfrm>
            <a:off x="5743222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" name="Google Shape;76;p13"/>
          <p:cNvSpPr txBox="1"/>
          <p:nvPr/>
        </p:nvSpPr>
        <p:spPr>
          <a:xfrm>
            <a:off x="4407225" y="4755964"/>
            <a:ext cx="13920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Fragments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7" name="Google Shape;7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1725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developer.android.com/reference/android/app/Fragment.html#onAttach(android.content.Context)" TargetMode="External"/><Relationship Id="rId4" Type="http://schemas.openxmlformats.org/officeDocument/2006/relationships/hyperlink" Target="https://developer.android.com/reference/android/app/Fragment.html#onCreate(android.os.Bundle)" TargetMode="External"/><Relationship Id="rId5" Type="http://schemas.openxmlformats.org/officeDocument/2006/relationships/hyperlink" Target="https://developer.android.com/reference/android/app/Fragment.html#onCreateView(android.view.LayoutInflater,%20android.view.ViewGroup,%20android.os.Bundle)" TargetMode="External"/><Relationship Id="rId6" Type="http://schemas.openxmlformats.org/officeDocument/2006/relationships/hyperlink" Target="https://developer.android.com/reference/android/app/Fragment.html#onActivityCreated(android.os.Bundle)" TargetMode="External"/><Relationship Id="rId7" Type="http://schemas.openxmlformats.org/officeDocument/2006/relationships/hyperlink" Target="https://developer.android.com/reference/android/app/Fragment.html#onStart()" TargetMode="External"/><Relationship Id="rId8" Type="http://schemas.openxmlformats.org/officeDocument/2006/relationships/hyperlink" Target="https://developer.android.com/reference/android/app/Fragment.html#onResume()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developer.android.com/reference/android/app/Fragment.html#onPause()" TargetMode="External"/><Relationship Id="rId4" Type="http://schemas.openxmlformats.org/officeDocument/2006/relationships/hyperlink" Target="https://developer.android.com/reference/android/app/Fragment.html#onStop()" TargetMode="External"/><Relationship Id="rId5" Type="http://schemas.openxmlformats.org/officeDocument/2006/relationships/hyperlink" Target="https://developer.android.com/reference/android/app/Fragment.html#onDestroyView()" TargetMode="External"/><Relationship Id="rId6" Type="http://schemas.openxmlformats.org/officeDocument/2006/relationships/hyperlink" Target="https://developer.android.com/reference/android/app/Fragment.html#onDestroy()" TargetMode="External"/><Relationship Id="rId7" Type="http://schemas.openxmlformats.org/officeDocument/2006/relationships/hyperlink" Target="https://developer.android.com/reference/android/app/Fragment.html#onDetach()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eveloper.android.com/reference/android/app/Fragment.html#onCreate(android.os.Bundle)" TargetMode="External"/><Relationship Id="rId4" Type="http://schemas.openxmlformats.org/officeDocument/2006/relationships/hyperlink" Target="https://developer.android.com/reference/android/app/Fragment.html#onCreateView(android.view.LayoutInflater,%20android.view.ViewGroup,%20android.os.Bundle)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eveloper.android.com/reference/android/app/Fragment.html#onCreate(android.os.Bundle)" TargetMode="Externa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eveloper.android.com/reference/android/app/Fragment.html#onCreateView(android.view.LayoutInflater,%20android.view.ViewGroup,%20android.os.Bundle)" TargetMode="External"/><Relationship Id="rId4" Type="http://schemas.openxmlformats.org/officeDocument/2006/relationships/hyperlink" Target="https://developer.android.com/reference/android/view/View.html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eveloper.android.com/reference/android/app/Fragment.html#onAttach(android.content.Context)" TargetMode="External"/><Relationship Id="rId4" Type="http://schemas.openxmlformats.org/officeDocument/2006/relationships/hyperlink" Target="https://developer.android.com/reference/android/app/Fragment.html#onPause()" TargetMode="External"/><Relationship Id="rId5" Type="http://schemas.openxmlformats.org/officeDocument/2006/relationships/hyperlink" Target="https://developer.android.com/reference/android/app/Fragment.html#onResume()" TargetMode="External"/><Relationship Id="rId6" Type="http://schemas.openxmlformats.org/officeDocument/2006/relationships/hyperlink" Target="https://developer.android.com/reference/android/app/Fragment.html#onActivityCreated(android.os.Bundle)" TargetMode="External"/><Relationship Id="rId7" Type="http://schemas.openxmlformats.org/officeDocument/2006/relationships/hyperlink" Target="https://developer.android.com/reference/android/app/Fragment.html#onDestroyView()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eveloper.android.com/reference/android/app/Fragment.html#onActivityCreated(android.os.Bundle)" TargetMode="External"/><Relationship Id="rId4" Type="http://schemas.openxmlformats.org/officeDocument/2006/relationships/hyperlink" Target="https://developer.android.com/reference/android/app/Fragment.html#onCreateView(android.view.LayoutInflater,%20android.view.ViewGroup,%20android.os.Bundle)" TargetMode="External"/><Relationship Id="rId5" Type="http://schemas.openxmlformats.org/officeDocument/2006/relationships/hyperlink" Target="https://developer.android.com/reference/android/app/Fragment.html#onViewStateRestored(android.os.Bundle)" TargetMode="External"/><Relationship Id="rId6" Type="http://schemas.openxmlformats.org/officeDocument/2006/relationships/hyperlink" Target="https://developer.android.com/reference/android/app/Fragment.html#setRetainInstance(boolean)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developer.android.com/reference/android/app/Fragment.html#onDestroyView()" TargetMode="External"/><Relationship Id="rId4" Type="http://schemas.openxmlformats.org/officeDocument/2006/relationships/hyperlink" Target="https://developer.android.com/reference/android/app/Fragment.html#onStop()" TargetMode="External"/><Relationship Id="rId5" Type="http://schemas.openxmlformats.org/officeDocument/2006/relationships/hyperlink" Target="https://developer.android.com/reference/android/app/Fragment.html#onDestroy()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developer.android.com/reference/android/app/Fragment.html#getActivity()" TargetMode="External"/><Relationship Id="rId4" Type="http://schemas.openxmlformats.org/officeDocument/2006/relationships/hyperlink" Target="https://developer.android.com/reference/android/app/Activity.html" TargetMode="External"/><Relationship Id="rId5" Type="http://schemas.openxmlformats.org/officeDocument/2006/relationships/hyperlink" Target="https://developer.android.com/reference/android/app/Activity.html#findViewById(int)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developer.android.com/reference/android/app/FragmentManager.html#findFragmentById(int)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developer.android.com/reference/android/app/FragmentTransaction.html#addToBackStack(java.lang.String)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developer.android.com/reference/android/os/Bundle.html" TargetMode="External"/><Relationship Id="rId4" Type="http://schemas.openxmlformats.org/officeDocument/2006/relationships/hyperlink" Target="https://developer.android.com/reference/android/app/Fragment.html#setArguments(android.os.Bundle)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developer.android.com/reference/android/app/Fragment.html#getArguments()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developer.android.com/reference/android/app/Fragment.html#onAttach(android.app.Activity)" TargetMode="Externa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3.xml"/><Relationship Id="rId3" Type="http://schemas.openxmlformats.org/officeDocument/2006/relationships/hyperlink" Target="https://google-developer-training.gitbooks.io/android-developer-advanced-course-concepts/content/unit-1-expand-the-user-experience/lesson-1-fragments/1-2-c-fragment-lifecycle-and-communications/1-2-c-fragment-lifecycle-and-communications.html" TargetMode="External"/><Relationship Id="rId4" Type="http://schemas.openxmlformats.org/officeDocument/2006/relationships/hyperlink" Target="https://google-developer-training.gitbooks.io/android-developer-advanced-course-practicals/content/unit-1-expand-the-user-experience/lesson-1-fragments/1-2-p-communicating-with-a-fragment/1-2-p-communicating-with-a-fragment.html" TargetMode="Externa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25"/>
          <p:cNvSpPr txBox="1"/>
          <p:nvPr>
            <p:ph idx="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Fragments</a:t>
            </a:r>
            <a:endParaRPr/>
          </a:p>
        </p:txBody>
      </p:sp>
      <p:sp>
        <p:nvSpPr>
          <p:cNvPr id="138" name="Google Shape;138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 1 </a:t>
            </a:r>
            <a:endParaRPr/>
          </a:p>
        </p:txBody>
      </p:sp>
      <p:sp>
        <p:nvSpPr>
          <p:cNvPr id="139" name="Google Shape;139;p25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 Android Development</a:t>
            </a:r>
            <a:endParaRPr/>
          </a:p>
        </p:txBody>
      </p:sp>
      <p:sp>
        <p:nvSpPr>
          <p:cNvPr id="140" name="Google Shape;140;p25"/>
          <p:cNvSpPr txBox="1"/>
          <p:nvPr>
            <p:ph idx="4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/>
          <p:nvPr>
            <p:ph type="ctrTitle"/>
          </p:nvPr>
        </p:nvSpPr>
        <p:spPr>
          <a:xfrm>
            <a:off x="311708" y="7781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1.2 Fragment lifecycle and communications</a:t>
            </a:r>
            <a:endParaRPr/>
          </a:p>
        </p:txBody>
      </p:sp>
      <p:sp>
        <p:nvSpPr>
          <p:cNvPr id="146" name="Google Shape;146;p26"/>
          <p:cNvSpPr txBox="1"/>
          <p:nvPr>
            <p:ph idx="1" type="subTitle"/>
          </p:nvPr>
        </p:nvSpPr>
        <p:spPr>
          <a:xfrm>
            <a:off x="311700" y="28677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Using the Fragment lifecycle and </a:t>
            </a:r>
            <a:br>
              <a:rPr lang="en"/>
            </a:br>
            <a:r>
              <a:rPr lang="en"/>
              <a:t>communicating with an Activity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2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Contents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90300"/>
            <a:ext cx="8579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Understanding the </a:t>
            </a:r>
            <a:r>
              <a:rPr lang="en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</a:rPr>
              <a:t> lifecycle</a:t>
            </a:r>
            <a:endParaRPr>
              <a:solidFill>
                <a:srgbClr val="000000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</a:rPr>
              <a:t>Using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lifecycle callbacks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Using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methods and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context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Communicating between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and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1800"/>
          </a:p>
        </p:txBody>
      </p:sp>
      <p:sp>
        <p:nvSpPr>
          <p:cNvPr id="154" name="Google Shape;154;p2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Fragment lifecycle</a:t>
            </a:r>
            <a:endParaRPr/>
          </a:p>
        </p:txBody>
      </p:sp>
      <p:sp>
        <p:nvSpPr>
          <p:cNvPr id="160" name="Google Shape;160;p2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1" name="Google Shape;161;p2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Fragment lifecycle</a:t>
            </a:r>
            <a:endParaRPr/>
          </a:p>
        </p:txBody>
      </p:sp>
      <p:sp>
        <p:nvSpPr>
          <p:cNvPr id="167" name="Google Shape;167;p29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olas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lifecycle is similar to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lifecycle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Lifecycle callbacks define how 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 behaves in each state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168" name="Google Shape;168;p2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lifecycle states</a:t>
            </a:r>
            <a:endParaRPr/>
          </a:p>
        </p:txBody>
      </p:sp>
      <p:sp>
        <p:nvSpPr>
          <p:cNvPr id="174" name="Google Shape;174;p3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75" name="Google Shape;175;p30"/>
          <p:cNvGrpSpPr/>
          <p:nvPr/>
        </p:nvGrpSpPr>
        <p:grpSpPr>
          <a:xfrm>
            <a:off x="3859800" y="1262525"/>
            <a:ext cx="4972500" cy="3049800"/>
            <a:chOff x="3859800" y="1262525"/>
            <a:chExt cx="4972500" cy="3049800"/>
          </a:xfrm>
        </p:grpSpPr>
        <p:sp>
          <p:nvSpPr>
            <p:cNvPr id="176" name="Google Shape;176;p30"/>
            <p:cNvSpPr/>
            <p:nvPr/>
          </p:nvSpPr>
          <p:spPr>
            <a:xfrm>
              <a:off x="3859800" y="1262525"/>
              <a:ext cx="4972500" cy="3049800"/>
            </a:xfrm>
            <a:prstGeom prst="rect">
              <a:avLst/>
            </a:prstGeom>
            <a:solidFill>
              <a:srgbClr val="EEEEEE"/>
            </a:soli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/>
                <a:t>Activity</a:t>
              </a:r>
              <a:endParaRPr b="1" sz="1200"/>
            </a:p>
          </p:txBody>
        </p:sp>
        <p:sp>
          <p:nvSpPr>
            <p:cNvPr id="177" name="Google Shape;177;p30"/>
            <p:cNvSpPr/>
            <p:nvPr/>
          </p:nvSpPr>
          <p:spPr>
            <a:xfrm>
              <a:off x="5620816" y="1805800"/>
              <a:ext cx="1459620" cy="278046"/>
            </a:xfrm>
            <a:prstGeom prst="flowChartTerminator">
              <a:avLst/>
            </a:prstGeom>
            <a:gradFill>
              <a:gsLst>
                <a:gs pos="0">
                  <a:srgbClr val="D4E5F5"/>
                </a:gs>
                <a:gs pos="100000">
                  <a:srgbClr val="70A4D5"/>
                </a:gs>
              </a:gsLst>
              <a:lin ang="5400012" scaled="0"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Fragment added</a:t>
              </a:r>
              <a:endParaRPr b="1" sz="1000"/>
            </a:p>
          </p:txBody>
        </p:sp>
        <p:sp>
          <p:nvSpPr>
            <p:cNvPr id="178" name="Google Shape;178;p30"/>
            <p:cNvSpPr/>
            <p:nvPr/>
          </p:nvSpPr>
          <p:spPr>
            <a:xfrm>
              <a:off x="4307138" y="2829825"/>
              <a:ext cx="1176984" cy="278046"/>
            </a:xfrm>
            <a:prstGeom prst="flowChartTerminator">
              <a:avLst/>
            </a:prstGeom>
            <a:gradFill>
              <a:gsLst>
                <a:gs pos="0">
                  <a:srgbClr val="DCECD5"/>
                </a:gs>
                <a:gs pos="100000">
                  <a:srgbClr val="93BC81"/>
                </a:gs>
              </a:gsLst>
              <a:lin ang="5400012" scaled="0"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Active</a:t>
              </a:r>
              <a:endParaRPr b="1" sz="1000"/>
            </a:p>
          </p:txBody>
        </p:sp>
        <p:sp>
          <p:nvSpPr>
            <p:cNvPr id="179" name="Google Shape;179;p30"/>
            <p:cNvSpPr/>
            <p:nvPr/>
          </p:nvSpPr>
          <p:spPr>
            <a:xfrm>
              <a:off x="5762138" y="3700975"/>
              <a:ext cx="1176984" cy="278046"/>
            </a:xfrm>
            <a:prstGeom prst="flowChartTerminator">
              <a:avLst/>
            </a:prstGeom>
            <a:gradFill>
              <a:gsLst>
                <a:gs pos="0">
                  <a:srgbClr val="FDECDB"/>
                </a:gs>
                <a:gs pos="100000">
                  <a:srgbClr val="F0A963"/>
                </a:gs>
              </a:gsLst>
              <a:path path="circle">
                <a:fillToRect b="50%" l="50%" r="50%" t="50%"/>
              </a:path>
              <a:tileRect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Paused</a:t>
              </a:r>
              <a:endParaRPr b="1" sz="1000"/>
            </a:p>
          </p:txBody>
        </p:sp>
        <p:sp>
          <p:nvSpPr>
            <p:cNvPr id="180" name="Google Shape;180;p30"/>
            <p:cNvSpPr/>
            <p:nvPr/>
          </p:nvSpPr>
          <p:spPr>
            <a:xfrm>
              <a:off x="7272738" y="2829825"/>
              <a:ext cx="1176984" cy="278046"/>
            </a:xfrm>
            <a:prstGeom prst="flowChartTerminator">
              <a:avLst/>
            </a:prstGeom>
            <a:gradFill>
              <a:gsLst>
                <a:gs pos="0">
                  <a:srgbClr val="F5D0D0"/>
                </a:gs>
                <a:gs pos="100000">
                  <a:srgbClr val="D96868"/>
                </a:gs>
              </a:gsLst>
              <a:lin ang="5400012" scaled="0"/>
            </a:gradFill>
            <a:ln cap="flat" cmpd="sng" w="9525">
              <a:solidFill>
                <a:srgbClr val="59595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Stopped</a:t>
              </a:r>
              <a:endParaRPr b="1" sz="1000"/>
            </a:p>
          </p:txBody>
        </p:sp>
        <p:sp>
          <p:nvSpPr>
            <p:cNvPr id="181" name="Google Shape;181;p30"/>
            <p:cNvSpPr/>
            <p:nvPr/>
          </p:nvSpPr>
          <p:spPr>
            <a:xfrm>
              <a:off x="4307138" y="2403525"/>
              <a:ext cx="1278925" cy="240950"/>
            </a:xfrm>
            <a:prstGeom prst="flowChartProcess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onCreate()</a:t>
              </a:r>
              <a:endParaRPr b="1" sz="1000"/>
            </a:p>
          </p:txBody>
        </p:sp>
        <p:sp>
          <p:nvSpPr>
            <p:cNvPr id="182" name="Google Shape;182;p30"/>
            <p:cNvSpPr/>
            <p:nvPr/>
          </p:nvSpPr>
          <p:spPr>
            <a:xfrm>
              <a:off x="4256163" y="2577200"/>
              <a:ext cx="1278925" cy="240950"/>
            </a:xfrm>
            <a:prstGeom prst="flowChartProcess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onCreateView()</a:t>
              </a:r>
              <a:endParaRPr b="1" sz="1000"/>
            </a:p>
          </p:txBody>
        </p:sp>
        <p:sp>
          <p:nvSpPr>
            <p:cNvPr id="183" name="Google Shape;183;p30"/>
            <p:cNvSpPr/>
            <p:nvPr/>
          </p:nvSpPr>
          <p:spPr>
            <a:xfrm>
              <a:off x="5998474" y="3460025"/>
              <a:ext cx="797025" cy="240950"/>
            </a:xfrm>
            <a:prstGeom prst="flowChartProcess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onPause()</a:t>
              </a:r>
              <a:endParaRPr b="1" sz="1000"/>
            </a:p>
          </p:txBody>
        </p:sp>
        <p:sp>
          <p:nvSpPr>
            <p:cNvPr id="184" name="Google Shape;184;p30"/>
            <p:cNvSpPr/>
            <p:nvPr/>
          </p:nvSpPr>
          <p:spPr>
            <a:xfrm>
              <a:off x="7221750" y="3107875"/>
              <a:ext cx="1278925" cy="240950"/>
            </a:xfrm>
            <a:prstGeom prst="flowChartProcess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/>
                <a:t>onDestroyView()</a:t>
              </a:r>
              <a:endParaRPr b="1" sz="1000"/>
            </a:p>
          </p:txBody>
        </p:sp>
        <p:cxnSp>
          <p:nvCxnSpPr>
            <p:cNvPr id="185" name="Google Shape;185;p30"/>
            <p:cNvCxnSpPr>
              <a:stCxn id="177" idx="1"/>
              <a:endCxn id="181" idx="0"/>
            </p:cNvCxnSpPr>
            <p:nvPr/>
          </p:nvCxnSpPr>
          <p:spPr>
            <a:xfrm flipH="1">
              <a:off x="4946716" y="1944823"/>
              <a:ext cx="674100" cy="458700"/>
            </a:xfrm>
            <a:prstGeom prst="curvedConnector2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6" name="Google Shape;186;p30"/>
            <p:cNvCxnSpPr>
              <a:stCxn id="178" idx="2"/>
              <a:endCxn id="183" idx="1"/>
            </p:cNvCxnSpPr>
            <p:nvPr/>
          </p:nvCxnSpPr>
          <p:spPr>
            <a:xfrm flipH="1" rot="-5400000">
              <a:off x="5210780" y="2792721"/>
              <a:ext cx="472500" cy="1102800"/>
            </a:xfrm>
            <a:prstGeom prst="curvedConnector2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7" name="Google Shape;187;p30"/>
            <p:cNvCxnSpPr>
              <a:stCxn id="179" idx="3"/>
              <a:endCxn id="184" idx="2"/>
            </p:cNvCxnSpPr>
            <p:nvPr/>
          </p:nvCxnSpPr>
          <p:spPr>
            <a:xfrm flipH="1" rot="10800000">
              <a:off x="6939122" y="3348898"/>
              <a:ext cx="922200" cy="491100"/>
            </a:xfrm>
            <a:prstGeom prst="curvedConnector2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188" name="Google Shape;188;p30"/>
            <p:cNvCxnSpPr>
              <a:endCxn id="177" idx="0"/>
            </p:cNvCxnSpPr>
            <p:nvPr/>
          </p:nvCxnSpPr>
          <p:spPr>
            <a:xfrm>
              <a:off x="6350626" y="1554400"/>
              <a:ext cx="0" cy="251400"/>
            </a:xfrm>
            <a:prstGeom prst="straightConnector1">
              <a:avLst/>
            </a:prstGeom>
            <a:noFill/>
            <a:ln cap="flat" cmpd="sng" w="9525">
              <a:solidFill>
                <a:srgbClr val="595959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89" name="Google Shape;189;p30"/>
          <p:cNvSpPr txBox="1"/>
          <p:nvPr/>
        </p:nvSpPr>
        <p:spPr>
          <a:xfrm>
            <a:off x="211375" y="1312325"/>
            <a:ext cx="36036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(host) adds 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States that a 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 can be in:</a:t>
            </a:r>
            <a:endParaRPr sz="24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Active (or resumed)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Paused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" sz="2000">
                <a:solidFill>
                  <a:schemeClr val="dk1"/>
                </a:solidFill>
                <a:highlight>
                  <a:schemeClr val="lt1"/>
                </a:highlight>
                <a:latin typeface="Roboto"/>
                <a:ea typeface="Roboto"/>
                <a:cs typeface="Roboto"/>
                <a:sym typeface="Roboto"/>
              </a:rPr>
              <a:t>Stopped</a:t>
            </a:r>
            <a:endParaRPr sz="2000">
              <a:solidFill>
                <a:schemeClr val="dk1"/>
              </a:solidFill>
              <a:highlight>
                <a:schemeClr val="lt1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Activity affects Fragment lifecycle</a:t>
            </a:r>
            <a:endParaRPr/>
          </a:p>
        </p:txBody>
      </p:sp>
      <p:sp>
        <p:nvSpPr>
          <p:cNvPr id="195" name="Google Shape;195;p3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196" name="Google Shape;196;p31"/>
          <p:cNvGraphicFramePr/>
          <p:nvPr/>
        </p:nvGraphicFramePr>
        <p:xfrm>
          <a:off x="221313" y="12431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{417D89B5-056C-4367-9BE7-806ACA0BD8CB}</a:tableStyleId>
              </a:tblPr>
              <a:tblGrid>
                <a:gridCol w="1984550"/>
                <a:gridCol w="3436775"/>
                <a:gridCol w="31896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Activity</a:t>
                      </a:r>
                      <a:r>
                        <a:rPr lang="en" sz="1800"/>
                        <a:t> 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/>
                        <a:t> 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callbacks triggered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/>
                        <a:t> 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lifecycle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Created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onAttach()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onCreate()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onCreateView()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onActivityCreated()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added and its layout is inflated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Started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onStart()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active and visible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Resumed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8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onResume()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active and ready for user interaction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Activity affects Fragment lifecycle</a:t>
            </a:r>
            <a:endParaRPr/>
          </a:p>
        </p:txBody>
      </p:sp>
      <p:sp>
        <p:nvSpPr>
          <p:cNvPr id="202" name="Google Shape;202;p3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aphicFrame>
        <p:nvGraphicFramePr>
          <p:cNvPr id="203" name="Google Shape;203;p32"/>
          <p:cNvGraphicFramePr/>
          <p:nvPr/>
        </p:nvGraphicFramePr>
        <p:xfrm>
          <a:off x="311700" y="1458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{417D89B5-056C-4367-9BE7-806ACA0BD8CB}</a:tableStyleId>
              </a:tblPr>
              <a:tblGrid>
                <a:gridCol w="1984550"/>
                <a:gridCol w="3436775"/>
                <a:gridCol w="318965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Activity</a:t>
                      </a:r>
                      <a:r>
                        <a:rPr lang="en" sz="1800"/>
                        <a:t> 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state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/>
                        <a:t> 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callbacks triggered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/>
                        <a:t> 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lifecycle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Paused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3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onPause()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paused because </a:t>
                      </a:r>
                      <a:r>
                        <a:rPr lang="en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Activity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paused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Stopped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4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onStop()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stopped and no longer visible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292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Destroyed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5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onDestroyView()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342900" lvl="0" marL="45720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6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onDestroy()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-34290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800"/>
                        <a:buFont typeface="Consolas"/>
                        <a:buChar char="●"/>
                      </a:pPr>
                      <a:r>
                        <a:rPr lang="en" sz="1800" u="sng">
                          <a:solidFill>
                            <a:srgbClr val="1155CC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  <a:hlinkClick r:id="rId7">
                            <a:extLst>
                              <a:ext uri="{A12FA001-AC4F-418D-AE19-62706E023703}">
                                <ahyp:hlinkClr val="tx"/>
                              </a:ext>
                            </a:extLst>
                          </a:hlinkClick>
                        </a:rPr>
                        <a:t>onDetach()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Fragment</a:t>
                      </a:r>
                      <a:r>
                        <a:rPr lang="en" sz="1800">
                          <a:latin typeface="Roboto"/>
                          <a:ea typeface="Roboto"/>
                          <a:cs typeface="Roboto"/>
                          <a:sym typeface="Roboto"/>
                        </a:rPr>
                        <a:t> is destroyed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3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Fragment lifecycle callbacks</a:t>
            </a:r>
            <a:endParaRPr/>
          </a:p>
        </p:txBody>
      </p:sp>
      <p:sp>
        <p:nvSpPr>
          <p:cNvPr id="209" name="Google Shape;20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0" name="Google Shape;210;p3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Callbacks to make Fragment active</a:t>
            </a:r>
            <a:endParaRPr/>
          </a:p>
        </p:txBody>
      </p:sp>
      <p:sp>
        <p:nvSpPr>
          <p:cNvPr id="216" name="Google Shape;216;p34"/>
          <p:cNvSpPr txBox="1"/>
          <p:nvPr>
            <p:ph idx="1" type="body"/>
          </p:nvPr>
        </p:nvSpPr>
        <p:spPr>
          <a:xfrm>
            <a:off x="311700" y="1310500"/>
            <a:ext cx="8709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onCreate()</a:t>
            </a:r>
            <a:r>
              <a:rPr lang="en">
                <a:solidFill>
                  <a:schemeClr val="dk1"/>
                </a:solidFill>
              </a:rPr>
              <a:t>: Initialize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components and variables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onCreateView()</a:t>
            </a:r>
            <a:r>
              <a:rPr lang="en">
                <a:solidFill>
                  <a:schemeClr val="dk1"/>
                </a:solidFill>
              </a:rPr>
              <a:t>: Inflate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XML layout </a:t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17" name="Google Shape;217;p3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Initialize the Fragment in onCreate()</a:t>
            </a:r>
            <a:endParaRPr/>
          </a:p>
        </p:txBody>
      </p:sp>
      <p:sp>
        <p:nvSpPr>
          <p:cNvPr id="223" name="Google Shape;223;p35"/>
          <p:cNvSpPr txBox="1"/>
          <p:nvPr>
            <p:ph idx="1" type="body"/>
          </p:nvPr>
        </p:nvSpPr>
        <p:spPr>
          <a:xfrm>
            <a:off x="311700" y="1167600"/>
            <a:ext cx="8520600" cy="332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Override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onCreate(Bundle savedInstanceState)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System calls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>
                <a:solidFill>
                  <a:schemeClr val="dk1"/>
                </a:solidFill>
              </a:rPr>
              <a:t> when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is created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Initialize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components and variables (preserved if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is paused and resumed)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Always include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super.onCreate(savedInstanceState)</a:t>
            </a:r>
            <a:r>
              <a:rPr lang="en">
                <a:solidFill>
                  <a:schemeClr val="dk1"/>
                </a:solidFill>
              </a:rPr>
              <a:t> in lifecycle callbacks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24" name="Google Shape;224;p3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layout in onCreateView()</a:t>
            </a:r>
            <a:endParaRPr/>
          </a:p>
        </p:txBody>
      </p:sp>
      <p:sp>
        <p:nvSpPr>
          <p:cNvPr id="230" name="Google Shape;230;p36"/>
          <p:cNvSpPr txBox="1"/>
          <p:nvPr>
            <p:ph idx="1" type="body"/>
          </p:nvPr>
        </p:nvSpPr>
        <p:spPr>
          <a:xfrm>
            <a:off x="311700" y="1167600"/>
            <a:ext cx="8520600" cy="3324900"/>
          </a:xfrm>
          <a:prstGeom prst="rect">
            <a:avLst/>
          </a:prstGeom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Override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onCreateView(LayoutInflater inflater, ViewGroup container, Bundle savedInstanceState)</a:t>
            </a:r>
            <a:r>
              <a:rPr lang="en">
                <a:solidFill>
                  <a:schemeClr val="dk1"/>
                </a:solidFill>
              </a:rPr>
              <a:t>: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Inflate XML layout—required if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has a UI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System calls this method to make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visible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Must return the root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View</a:t>
            </a:r>
            <a:r>
              <a:rPr lang="en">
                <a:solidFill>
                  <a:schemeClr val="dk1"/>
                </a:solidFill>
              </a:rPr>
              <a:t> of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layout </a:t>
            </a:r>
            <a:br>
              <a:rPr lang="en">
                <a:solidFill>
                  <a:schemeClr val="dk1"/>
                </a:solidFill>
              </a:rPr>
            </a:br>
            <a:r>
              <a:rPr lang="en">
                <a:solidFill>
                  <a:schemeClr val="dk1"/>
                </a:solidFill>
              </a:rPr>
              <a:t>or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null</a:t>
            </a:r>
            <a:r>
              <a:rPr lang="en">
                <a:solidFill>
                  <a:schemeClr val="dk1"/>
                </a:solidFill>
              </a:rPr>
              <a:t> if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does not have a UI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31" name="Google Shape;231;p3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Fragment lifecycle callbacks</a:t>
            </a:r>
            <a:endParaRPr/>
          </a:p>
        </p:txBody>
      </p:sp>
      <p:sp>
        <p:nvSpPr>
          <p:cNvPr id="237" name="Google Shape;237;p37"/>
          <p:cNvSpPr txBox="1"/>
          <p:nvPr>
            <p:ph idx="1" type="body"/>
          </p:nvPr>
        </p:nvSpPr>
        <p:spPr>
          <a:xfrm>
            <a:off x="311700" y="1114125"/>
            <a:ext cx="8520600" cy="337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onAttach()</a:t>
            </a:r>
            <a:r>
              <a:rPr lang="en" sz="2000">
                <a:solidFill>
                  <a:schemeClr val="dk1"/>
                </a:solidFill>
              </a:rPr>
              <a:t>: Called when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>
                <a:solidFill>
                  <a:schemeClr val="dk1"/>
                </a:solidFill>
              </a:rPr>
              <a:t> is first attached to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/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onPause()</a:t>
            </a:r>
            <a:r>
              <a:rPr lang="en" sz="2000">
                <a:solidFill>
                  <a:schemeClr val="dk1"/>
                </a:solidFill>
              </a:rPr>
              <a:t>: Called when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is paused 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onResume()</a:t>
            </a:r>
            <a:r>
              <a:rPr lang="en" sz="2000">
                <a:solidFill>
                  <a:schemeClr val="dk1"/>
                </a:solidFill>
              </a:rPr>
              <a:t>: Called by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to resume a visible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>
                <a:solidFill>
                  <a:schemeClr val="dk1"/>
                </a:solidFill>
              </a:rPr>
              <a:t> 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onActivityCreated()</a:t>
            </a:r>
            <a:r>
              <a:rPr lang="en" sz="2000">
                <a:solidFill>
                  <a:schemeClr val="dk1"/>
                </a:solidFill>
              </a:rPr>
              <a:t>: Called when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 sz="2000">
                <a:solidFill>
                  <a:schemeClr val="dk1"/>
                </a:solidFill>
              </a:rPr>
              <a:t> method has returned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●"/>
            </a:pP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onDestroyView()</a:t>
            </a:r>
            <a:r>
              <a:rPr lang="en" sz="2000">
                <a:solidFill>
                  <a:schemeClr val="dk1"/>
                </a:solidFill>
              </a:rPr>
              <a:t>: Called when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000">
                <a:solidFill>
                  <a:schemeClr val="dk1"/>
                </a:solidFill>
              </a:rPr>
              <a:t> previously created by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onCreateView()</a:t>
            </a:r>
            <a:r>
              <a:rPr lang="en" sz="2000">
                <a:solidFill>
                  <a:schemeClr val="dk1"/>
                </a:solidFill>
              </a:rPr>
              <a:t> is detached from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38" name="Google Shape;238;p3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Callback for final initialization</a:t>
            </a:r>
            <a:endParaRPr/>
          </a:p>
        </p:txBody>
      </p:sp>
      <p:sp>
        <p:nvSpPr>
          <p:cNvPr id="244" name="Google Shape;244;p3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38"/>
          <p:cNvSpPr txBox="1"/>
          <p:nvPr/>
        </p:nvSpPr>
        <p:spPr>
          <a:xfrm>
            <a:off x="304800" y="1268250"/>
            <a:ext cx="83718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onActivityCreated()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 Called when the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/>
              <a:t>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method has returned</a:t>
            </a:r>
            <a:r>
              <a:rPr lang="en" sz="2400"/>
              <a:t> </a:t>
            </a:r>
            <a:endParaRPr sz="2400"/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alled after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onCreateView()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before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onViewStateRestored()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Retrieve views or restore state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setRetainInstance()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to keep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instance when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is recreated</a:t>
            </a:r>
            <a:endParaRPr sz="2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onDestroyView</a:t>
            </a:r>
            <a:endParaRPr/>
          </a:p>
        </p:txBody>
      </p:sp>
      <p:sp>
        <p:nvSpPr>
          <p:cNvPr id="251" name="Google Shape;251;p3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2" name="Google Shape;252;p39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onDestroyView()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to perform action after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is no longer visible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</a:t>
            </a:r>
            <a:r>
              <a:rPr lang="en" sz="2400">
                <a:solidFill>
                  <a:schemeClr val="dk1"/>
                </a:solidFill>
              </a:rPr>
              <a:t>alled after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onStop()</a:t>
            </a:r>
            <a:r>
              <a:rPr lang="en" sz="2400">
                <a:solidFill>
                  <a:schemeClr val="dk1"/>
                </a:solidFill>
              </a:rPr>
              <a:t> and before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onDestroy()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/>
              <a:t> that was created in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onCreateView()</a:t>
            </a:r>
            <a:r>
              <a:rPr lang="en" sz="2400"/>
              <a:t> is destroyed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A new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is created next time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/>
              <a:t> needs to be displayed 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0"/>
          <p:cNvSpPr txBox="1"/>
          <p:nvPr>
            <p:ph type="title"/>
          </p:nvPr>
        </p:nvSpPr>
        <p:spPr>
          <a:xfrm>
            <a:off x="265500" y="1233175"/>
            <a:ext cx="40452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Fragment methods and Activity context</a:t>
            </a:r>
            <a:endParaRPr/>
          </a:p>
        </p:txBody>
      </p:sp>
      <p:sp>
        <p:nvSpPr>
          <p:cNvPr id="258" name="Google Shape;258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59" name="Google Shape;259;p4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Activity context</a:t>
            </a:r>
            <a:endParaRPr/>
          </a:p>
        </p:txBody>
      </p:sp>
      <p:sp>
        <p:nvSpPr>
          <p:cNvPr id="265" name="Google Shape;265;p41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When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is active or resumed: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getActivity()</a:t>
            </a:r>
            <a:r>
              <a:rPr lang="en">
                <a:solidFill>
                  <a:schemeClr val="dk1"/>
                </a:solidFill>
              </a:rPr>
              <a:t> to get the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Activity</a:t>
            </a:r>
            <a:r>
              <a:rPr lang="en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started the fragment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Find a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>
                <a:solidFill>
                  <a:schemeClr val="dk1"/>
                </a:solidFill>
              </a:rPr>
              <a:t> in the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layout:</a:t>
            </a:r>
            <a:endParaRPr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 listView = getActivity().</a:t>
            </a: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findViewById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(R.id.list);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266" name="Google Shape;266;p4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methods in the Fragment</a:t>
            </a:r>
            <a:endParaRPr/>
          </a:p>
        </p:txBody>
      </p:sp>
      <p:sp>
        <p:nvSpPr>
          <p:cNvPr id="272" name="Google Shape;272;p42"/>
          <p:cNvSpPr txBox="1"/>
          <p:nvPr>
            <p:ph idx="1" type="body"/>
          </p:nvPr>
        </p:nvSpPr>
        <p:spPr>
          <a:xfrm>
            <a:off x="311700" y="1310500"/>
            <a:ext cx="8709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Get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by calling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findFragmentById()</a:t>
            </a:r>
            <a:r>
              <a:rPr lang="en">
                <a:solidFill>
                  <a:schemeClr val="dk1"/>
                </a:solidFill>
              </a:rPr>
              <a:t> on 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FragmentManager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ExampleFragment fragment = (ExampleFragment)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getFragmentManager().findFragmentById(R.id.example_fragment);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//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mData = fragment.getSomeData();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3" name="Google Shape;273;p4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back stack (1)</a:t>
            </a:r>
            <a:endParaRPr/>
          </a:p>
        </p:txBody>
      </p:sp>
      <p:sp>
        <p:nvSpPr>
          <p:cNvPr id="279" name="Google Shape;279;p43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Consolas"/>
              <a:buChar char="●"/>
            </a:pPr>
            <a:r>
              <a:rPr lang="en">
                <a:solidFill>
                  <a:schemeClr val="dk1"/>
                </a:solidFill>
              </a:rPr>
              <a:t>Add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to back stack: </a:t>
            </a:r>
            <a:r>
              <a:rPr lang="en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addToBackStack(null)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fragmentTransaction.add(R.id.fragment_container, fragment);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fragmentTransaction.addToBackStack(null);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fragmentTransaction.commit();</a:t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80" name="Google Shape;280;p4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back stack (2)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1310500"/>
            <a:ext cx="8520600" cy="31821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Host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 maintains back stack even after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is removed</a:t>
            </a:r>
            <a:endParaRPr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>
                <a:solidFill>
                  <a:schemeClr val="dk1"/>
                </a:solidFill>
              </a:rPr>
              <a:t>User can navigate back to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>
                <a:solidFill>
                  <a:schemeClr val="dk1"/>
                </a:solidFill>
              </a:rPr>
              <a:t> with Back button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sp>
        <p:nvSpPr>
          <p:cNvPr id="287" name="Google Shape;287;p4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>
            <p:ph type="title"/>
          </p:nvPr>
        </p:nvSpPr>
        <p:spPr>
          <a:xfrm>
            <a:off x="0" y="1233175"/>
            <a:ext cx="4539600" cy="2056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Fragment communications</a:t>
            </a:r>
            <a:endParaRPr/>
          </a:p>
        </p:txBody>
      </p:sp>
      <p:sp>
        <p:nvSpPr>
          <p:cNvPr id="293" name="Google Shape;293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94" name="Google Shape;294;p4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and Fragment communications</a:t>
            </a:r>
            <a:endParaRPr/>
          </a:p>
        </p:txBody>
      </p:sp>
      <p:sp>
        <p:nvSpPr>
          <p:cNvPr id="300" name="Google Shape;300;p4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46"/>
          <p:cNvSpPr txBox="1"/>
          <p:nvPr/>
        </p:nvSpPr>
        <p:spPr>
          <a:xfrm>
            <a:off x="311700" y="1077025"/>
            <a:ext cx="4806000" cy="32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can send data to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and receive data from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All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-to-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communication is done through host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302" name="Google Shape;30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95450" y="1403475"/>
            <a:ext cx="2876550" cy="157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4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Send data to Fragment</a:t>
            </a:r>
            <a:endParaRPr/>
          </a:p>
        </p:txBody>
      </p:sp>
      <p:sp>
        <p:nvSpPr>
          <p:cNvPr id="308" name="Google Shape;308;p4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9" name="Google Shape;309;p47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newInstance()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factory method: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Create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Bundle</a:t>
            </a:r>
            <a:r>
              <a:rPr lang="en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setArguments(Bundle)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supply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construction arguments</a:t>
            </a:r>
            <a:endParaRPr sz="2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Fragment factory method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4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48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newInstance()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factory method: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static SimpleFragment newInstance(int choice)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SimpleFragment fragment = new SimpleFragment();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 arguments = new Bundle();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arguments.putInt(CHOICE, choice);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fragment.setArguments(arguments);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return fragment;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Use the Fragment factory method</a:t>
            </a:r>
            <a:endParaRPr/>
          </a:p>
        </p:txBody>
      </p:sp>
      <p:sp>
        <p:nvSpPr>
          <p:cNvPr id="322" name="Google Shape;322;p49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3" name="Google Shape;323;p49"/>
          <p:cNvSpPr txBox="1"/>
          <p:nvPr/>
        </p:nvSpPr>
        <p:spPr>
          <a:xfrm>
            <a:off x="311700" y="1390125"/>
            <a:ext cx="8371800" cy="31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Include data (such as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mRadioButtonChoice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 in call to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from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SimpleFragment fragment =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SimpleFragment.newInstance(mRadioButtonChoice);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data from Activity in Fragment</a:t>
            </a:r>
            <a:endParaRPr/>
          </a:p>
        </p:txBody>
      </p:sp>
      <p:sp>
        <p:nvSpPr>
          <p:cNvPr id="329" name="Google Shape;329;p50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0" name="Google Shape;330;p50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Before drawing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</a:rPr>
              <a:t>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View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, get arguments from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Bundle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using </a:t>
            </a:r>
            <a:r>
              <a:rPr lang="en" sz="24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getArguments()</a:t>
            </a:r>
            <a:r>
              <a:rPr lang="en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onCreateView()</a:t>
            </a:r>
            <a:r>
              <a:rPr lang="en" sz="2400">
                <a:solidFill>
                  <a:schemeClr val="dk1"/>
                </a:solidFill>
              </a:rPr>
              <a:t> </a:t>
            </a:r>
            <a:endParaRPr sz="24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if (getArguments().containsKey(CHOICE))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mRadioButtonChoice = getArguments().getInt(CHOICE);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data from Fragment</a:t>
            </a:r>
            <a:endParaRPr/>
          </a:p>
        </p:txBody>
      </p:sp>
      <p:sp>
        <p:nvSpPr>
          <p:cNvPr id="336" name="Google Shape;336;p51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7" name="Google Shape;337;p51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Define interface (such as a listener) with callback method(s)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○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Override </a:t>
            </a:r>
            <a:r>
              <a:rPr lang="en" sz="2000" u="sng">
                <a:solidFill>
                  <a:srgbClr val="1155CC"/>
                </a:solidFill>
                <a:latin typeface="Consolas"/>
                <a:ea typeface="Consolas"/>
                <a:cs typeface="Consolas"/>
                <a:sym typeface="Consola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onAttach()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to retrieve interface implementation (check if the</a:t>
            </a:r>
            <a:r>
              <a:rPr lang="en" sz="2000">
                <a:solidFill>
                  <a:schemeClr val="dk1"/>
                </a:solidFill>
              </a:rPr>
              <a:t>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implements the interface)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Call interface method to pass data as parameter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In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</a:rPr>
              <a:t>:</a:t>
            </a:r>
            <a:endParaRPr sz="24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All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000">
                <a:solidFill>
                  <a:schemeClr val="dk1"/>
                </a:solidFill>
              </a:rPr>
              <a:t> classes using </a:t>
            </a: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000">
                <a:solidFill>
                  <a:schemeClr val="dk1"/>
                </a:solidFill>
              </a:rPr>
              <a:t> must implement interface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Use the interface callback method(s) to retrieve data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Define interface and callback methods</a:t>
            </a:r>
            <a:endParaRPr/>
          </a:p>
        </p:txBody>
      </p:sp>
      <p:sp>
        <p:nvSpPr>
          <p:cNvPr id="343" name="Google Shape;343;p52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4" name="Google Shape;344;p52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Define interface (such as a listener) with callback method (such as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onRadioButtonChoice()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interface OnFragmentInteractionListener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void onRadioButtonChoice(int choice);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5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Retrieve interface implementation</a:t>
            </a:r>
            <a:endParaRPr/>
          </a:p>
        </p:txBody>
      </p:sp>
      <p:sp>
        <p:nvSpPr>
          <p:cNvPr id="350" name="Google Shape;350;p53"/>
          <p:cNvSpPr txBox="1"/>
          <p:nvPr>
            <p:ph idx="1" type="body"/>
          </p:nvPr>
        </p:nvSpPr>
        <p:spPr>
          <a:xfrm>
            <a:off x="311700" y="1167600"/>
            <a:ext cx="8520600" cy="36486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highlight>
                  <a:srgbClr val="FFFFFF"/>
                </a:highlight>
              </a:rPr>
              <a:t>R</a:t>
            </a:r>
            <a:r>
              <a:rPr lang="en">
                <a:solidFill>
                  <a:schemeClr val="dk1"/>
                </a:solidFill>
              </a:rPr>
              <a:t>etrieve interface implementation from </a:t>
            </a: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onAttach(Context context)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super.onAttach(context);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if (context instanceof OnFragmentInteractionListener)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mListener = (OnFragmentInteractionListener) context;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 else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...</a:t>
            </a:r>
            <a:endParaRPr sz="2000">
              <a:solidFill>
                <a:srgbClr val="000000"/>
              </a:solidFill>
              <a:highlight>
                <a:srgbClr val="FFFFFF"/>
              </a:highlight>
            </a:endParaRPr>
          </a:p>
        </p:txBody>
      </p:sp>
      <p:sp>
        <p:nvSpPr>
          <p:cNvPr id="351" name="Google Shape;351;p53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5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Call interface method to pass data</a:t>
            </a:r>
            <a:endParaRPr/>
          </a:p>
        </p:txBody>
      </p:sp>
      <p:sp>
        <p:nvSpPr>
          <p:cNvPr id="357" name="Google Shape;357;p54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54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onCheckedChanged(RadioGroup group, int checkedId)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switch (index) {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case YES: // User chose "Yes."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mListener.onRadioButtonChoice(YES);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break;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case NO: // User chose "No."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b="1"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mListener.onRadioButtonChoice(NO);</a:t>
            </a:r>
            <a:endParaRPr b="1"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break;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// ...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 interface in Activity</a:t>
            </a:r>
            <a:endParaRPr/>
          </a:p>
        </p:txBody>
      </p:sp>
      <p:sp>
        <p:nvSpPr>
          <p:cNvPr id="364" name="Google Shape;364;p55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5" name="Google Shape;365;p55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must implement the interface defined in the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Fragment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class MainActivity extends AppCompatActivity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implements SimpleFragment.OnFragmentInteractionListener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Use the callback in the Activity</a:t>
            </a:r>
            <a:endParaRPr/>
          </a:p>
        </p:txBody>
      </p:sp>
      <p:sp>
        <p:nvSpPr>
          <p:cNvPr id="371" name="Google Shape;371;p56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2" name="Google Shape;372;p56"/>
          <p:cNvSpPr txBox="1"/>
          <p:nvPr/>
        </p:nvSpPr>
        <p:spPr>
          <a:xfrm>
            <a:off x="311700" y="1077025"/>
            <a:ext cx="8371800" cy="3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can then use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onRadioButtonChoice()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callback:</a:t>
            </a:r>
            <a:endParaRPr sz="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onRadioButtonChoice(int choice) {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mRadioButtonChoice = choice;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Use mRadioButtonChoice in Activity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...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378" name="Google Shape;378;p57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9" name="Google Shape;379;p57"/>
          <p:cNvSpPr txBox="1"/>
          <p:nvPr/>
        </p:nvSpPr>
        <p:spPr>
          <a:xfrm>
            <a:off x="311700" y="2063725"/>
            <a:ext cx="8520600" cy="1777800"/>
          </a:xfrm>
          <a:prstGeom prst="rect">
            <a:avLst/>
          </a:prstGeom>
          <a:noFill/>
          <a:ln cap="flat" cmpd="sng" w="38100">
            <a:solidFill>
              <a:srgbClr val="21AA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1.2 Fragment lifecycle and communications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</a:t>
            </a:r>
            <a:endParaRPr sz="2400">
              <a:solidFill>
                <a:srgbClr val="FF00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24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1.2 Communicating with a Fragment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5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385" name="Google Shape;385;p5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386" name="Google Shape;386;p58"/>
          <p:cNvSpPr txBox="1"/>
          <p:nvPr>
            <p:ph idx="12" type="sldNum"/>
          </p:nvPr>
        </p:nvSpPr>
        <p:spPr>
          <a:xfrm>
            <a:off x="84724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7" name="Google Shape;387;p5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