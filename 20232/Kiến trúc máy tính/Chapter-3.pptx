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39"/>
  </p:notesMasterIdLst>
  <p:handoutMasterIdLst>
    <p:handoutMasterId r:id="rId40"/>
  </p:handoutMasterIdLst>
  <p:sldIdLst>
    <p:sldId id="390" r:id="rId3"/>
    <p:sldId id="29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3" r:id="rId12"/>
    <p:sldId id="334" r:id="rId13"/>
    <p:sldId id="337" r:id="rId14"/>
    <p:sldId id="345" r:id="rId15"/>
    <p:sldId id="346" r:id="rId16"/>
    <p:sldId id="347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3" r:id="rId30"/>
    <p:sldId id="364" r:id="rId31"/>
    <p:sldId id="365" r:id="rId32"/>
    <p:sldId id="368" r:id="rId33"/>
    <p:sldId id="369" r:id="rId34"/>
    <p:sldId id="370" r:id="rId35"/>
    <p:sldId id="373" r:id="rId36"/>
    <p:sldId id="376" r:id="rId37"/>
    <p:sldId id="380" r:id="rId38"/>
  </p:sldIdLst>
  <p:sldSz cx="9144000" cy="6858000" type="screen4x3"/>
  <p:notesSz cx="9926638" cy="66690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00"/>
    <a:srgbClr val="FF9999"/>
    <a:srgbClr val="CCFF66"/>
    <a:srgbClr val="CCCC00"/>
    <a:srgbClr val="000066"/>
    <a:srgbClr val="993300"/>
    <a:srgbClr val="6600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55" autoAdjust="0"/>
    <p:restoredTop sz="96926" autoAdjust="0"/>
  </p:normalViewPr>
  <p:slideViewPr>
    <p:cSldViewPr>
      <p:cViewPr varScale="1">
        <p:scale>
          <a:sx n="86" d="100"/>
          <a:sy n="86" d="100"/>
        </p:scale>
        <p:origin x="168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10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4125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156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334125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5B31C61-B8F1-41F9-AA36-7745343A15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79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5650" y="500063"/>
            <a:ext cx="3333750" cy="2500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167063"/>
            <a:ext cx="7942262" cy="300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4125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334125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A4B3FD02-B906-4D84-AA10-2D9CD71563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84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46D2866-9685-4BBE-BA83-360E7F07D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CB0A9849-44AE-4438-9BF4-6F266ED8B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91BBC253-5D48-47D4-AA5F-6DADA9322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341D5F-59CC-4DD0-8132-E51286FA082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DBB5DA-A8AE-4F17-B2D7-B77278CDA9A7}" type="slidenum">
              <a:rPr lang="en-US"/>
              <a:pPr/>
              <a:t>12</a:t>
            </a:fld>
            <a:endParaRPr 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</a:t>
            </a:r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D551B0-640E-40EB-8C59-F6499B2A846D}" type="slidenum">
              <a:rPr lang="en-US"/>
              <a:pPr/>
              <a:t>20</a:t>
            </a:fld>
            <a:endParaRPr lang="en-US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D08CN5 4.3, D08CN4 9.3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9D5F5-E08C-46FE-AB17-304B54229C07}" type="slidenum">
              <a:rPr lang="en-US"/>
              <a:pPr/>
              <a:t>21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D08CN6 4.3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337FE-8286-4B90-94F0-345234810C1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686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525A7-D644-4AE7-8018-C87B33F63D5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9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5A306-788D-4FE2-BAE7-6178E1CEAC57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504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5095F-57A8-4DB1-BECF-BC05B7B091CA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566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437191-DD23-448A-9EC1-61BDA0777EB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26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9B68D7-5308-4BA9-A6A4-2B4E24F1F68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282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914477-FC09-4633-BA42-B2B37B9C2B91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809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6A2E3-9168-4B65-868C-89F3856B0E5D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446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ACD662-C0CE-4D0B-8E2E-A0FF279608B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3844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6088" y="762000"/>
            <a:ext cx="2189162" cy="5364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0"/>
            <a:ext cx="6415088" cy="5364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EBCDF4-2844-4C70-B108-8F324D1B1267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01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31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0EDF5FEE-EC8B-4C2F-B2E5-47DE359A1E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C550B38-9261-4437-A12A-C8FE00ACE9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D12A443-5E8C-4421-8E18-95903E337F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DB5CF-18E3-4ED9-86AF-F2BA21A56C9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950492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F30C515-F56F-4657-BCFC-1366DB87E7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88D243D7-FF95-44E7-8DE6-3E79212B3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51B7226-AF2E-4A9F-9C0F-3EB9D0B75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55D6D-97C0-4C79-956C-763F4B85D95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1220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06DF8F74-4BE2-449B-9107-604C03E1F5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4863D34-DBC6-4471-8188-B361670E86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787FACB-0983-42CC-898D-9AFA0C1CF7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A73AC-37F5-4D1B-9376-C4A7B90135C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65256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C41F91D1-68A8-4AAB-943D-1DE923EDB6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E8B877EB-ECA9-46BB-884C-56B75B20E4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6E11AFDD-10F3-4EA6-B3C2-9555BE943E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2D71B-C893-422A-A54B-654A0D0305BD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72818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042747C1-3669-454C-801F-A5CC36BD2E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8F18BCA0-F9CF-43C9-9DB7-90717AF40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D490E875-5414-417D-A4AD-F5CD3C9CCD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35FD8-394E-41FC-8C9E-9AFBBB94C2BF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921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448F2B7C-5B3E-4427-878A-BB3482E97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7545780D-00DB-481A-BE82-C535E233E0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244F8B31-CB63-4034-9DF5-5DD31EF1C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1488C-C0FA-400A-A856-7825A0E327D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82034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ABD06FE-E5C5-4EE3-8E12-A832AEED91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FC85F4C-EC26-4ACB-954B-15469B58A2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8BC8607E-C40D-430B-B93B-F895F3A24B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9DD6A-76BD-49CA-8AAC-1A6B7648251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41771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A56C7178-51D6-444C-A5F1-8A2AE4924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8F741791-74DF-4D04-93D3-6E68363AAB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2E458D3D-2093-42AB-B81E-9630EA5D24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D46A7-D2B5-46D4-98E5-C929C438BF94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958546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AA3FFD7A-8F67-4BEF-90DB-7553B24DF9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4A41E68-2EC1-45D9-8F92-DBB4D2FD62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7A5A9EAA-7265-4DA9-8656-C47323F8B2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2D724-3030-42CF-BE46-0A8C4C6DEAF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68025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6088" y="762000"/>
            <a:ext cx="2189162" cy="5364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0"/>
            <a:ext cx="6415088" cy="5364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25A479C-7D2E-4306-A11B-AA3C081042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F5ABA4C-87A1-4B22-BDA0-53C65A26A5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EF7CD442-0EA3-4AFF-AF33-0C66AE5BED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45545-4E67-4A4C-8D64-5F8B0F0B93D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97821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756650" cy="5222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447800"/>
            <a:ext cx="8756650" cy="4678363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11AF352-78C0-4ADA-ACE6-4F3A5E9DC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231BFD0-28A1-4BCC-A802-AADC750B7B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6CFDD6F-06FD-4081-9CAA-DD4F00DC31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A5279-5A33-4110-90B6-C54027865A3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08196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6" name="Rectangle 22"/>
          <p:cNvSpPr>
            <a:spLocks noChangeArrowheads="1"/>
          </p:cNvSpPr>
          <p:nvPr userDrawn="1"/>
        </p:nvSpPr>
        <p:spPr bwMode="gray">
          <a:xfrm>
            <a:off x="0" y="6224588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06" name="Oval 2"/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ellipse">
            <a:avLst/>
          </a:prstGeom>
          <a:solidFill>
            <a:schemeClr val="bg1">
              <a:alpha val="4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gray">
          <a:xfrm>
            <a:off x="0" y="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47119" name="Picture 15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4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20" name="Line 16"/>
          <p:cNvSpPr>
            <a:spLocks noChangeShapeType="1"/>
          </p:cNvSpPr>
          <p:nvPr userDrawn="1"/>
        </p:nvSpPr>
        <p:spPr bwMode="auto"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7122" name="Text Box 18"/>
          <p:cNvSpPr txBox="1">
            <a:spLocks noChangeArrowheads="1"/>
          </p:cNvSpPr>
          <p:nvPr userDrawn="1"/>
        </p:nvSpPr>
        <p:spPr bwMode="auto">
          <a:xfrm>
            <a:off x="1600200" y="46038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BÀI GIẢNG MÔN KIẾN TRÚC MÁY TÍNH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 userDrawn="1"/>
        </p:nvSpPr>
        <p:spPr bwMode="auto">
          <a:xfrm>
            <a:off x="0" y="6396038"/>
            <a:ext cx="2057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www.ptit.edu.vn</a:t>
            </a:r>
          </a:p>
        </p:txBody>
      </p:sp>
      <p:sp>
        <p:nvSpPr>
          <p:cNvPr id="47128" name="Text Box 24"/>
          <p:cNvSpPr txBox="1">
            <a:spLocks noChangeArrowheads="1"/>
          </p:cNvSpPr>
          <p:nvPr userDrawn="1"/>
        </p:nvSpPr>
        <p:spPr bwMode="auto">
          <a:xfrm>
            <a:off x="1447800" y="6310313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GIẢNG VIÊN: TS. HOÀNG XUÂN DẬU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 userDrawn="1"/>
        </p:nvSpPr>
        <p:spPr bwMode="auto">
          <a:xfrm>
            <a:off x="1462088" y="6538913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BỘ MÔN: KHOA HỌC MÁY TÍNH - KHOA CNTT1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 userDrawn="1"/>
        </p:nvSpPr>
        <p:spPr bwMode="auto">
          <a:xfrm>
            <a:off x="8001000" y="6391275"/>
            <a:ext cx="1143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Trang </a:t>
            </a:r>
            <a:fld id="{B138B0EE-1F86-4DA5-B94F-999973A048A8}" type="slidenum">
              <a:rPr lang="en-US" sz="1400"/>
              <a:pPr>
                <a:spcBef>
                  <a:spcPct val="50000"/>
                </a:spcBef>
              </a:pPr>
              <a:t>‹#›</a:t>
            </a:fld>
            <a:endParaRPr lang="en-US" sz="1400"/>
          </a:p>
        </p:txBody>
      </p:sp>
      <p:sp>
        <p:nvSpPr>
          <p:cNvPr id="47131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7566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47132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5665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47133" name="Rectangle 2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AU"/>
          </a:p>
        </p:txBody>
      </p:sp>
      <p:sp>
        <p:nvSpPr>
          <p:cNvPr id="47134" name="Rectangle 3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AU"/>
          </a:p>
        </p:txBody>
      </p:sp>
      <p:sp>
        <p:nvSpPr>
          <p:cNvPr id="47135" name="Rectangle 3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FFAA4830-1303-428E-B84A-D1A16BD733E2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47136" name="Text Box 32"/>
          <p:cNvSpPr txBox="1">
            <a:spLocks noChangeArrowheads="1"/>
          </p:cNvSpPr>
          <p:nvPr userDrawn="1"/>
        </p:nvSpPr>
        <p:spPr bwMode="auto">
          <a:xfrm>
            <a:off x="1295400" y="304800"/>
            <a:ext cx="7086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/>
              <a:t>CHƯƠNG 4 – </a:t>
            </a:r>
            <a:r>
              <a:rPr lang="fr-FR" sz="1600"/>
              <a:t>BỘ NHỚ TRONG</a:t>
            </a: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2">
            <a:extLst>
              <a:ext uri="{FF2B5EF4-FFF2-40B4-BE49-F238E27FC236}">
                <a16:creationId xmlns:a16="http://schemas.microsoft.com/office/drawing/2014/main" id="{0EF069C9-D30E-432E-A928-951362F5C52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6224588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AU" altLang="en-US"/>
          </a:p>
        </p:txBody>
      </p:sp>
      <p:sp>
        <p:nvSpPr>
          <p:cNvPr id="1027" name="Oval 2">
            <a:extLst>
              <a:ext uri="{FF2B5EF4-FFF2-40B4-BE49-F238E27FC236}">
                <a16:creationId xmlns:a16="http://schemas.microsoft.com/office/drawing/2014/main" id="{042247EB-D4AF-48AB-92D5-2D7DBFE6058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ellipse">
            <a:avLst/>
          </a:prstGeom>
          <a:solidFill>
            <a:schemeClr val="bg1">
              <a:alpha val="43921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AU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E630493C-B6C8-4ADB-B0EA-65E11C8117B1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AU" altLang="en-US"/>
          </a:p>
        </p:txBody>
      </p:sp>
      <p:pic>
        <p:nvPicPr>
          <p:cNvPr id="1029" name="Picture 15">
            <a:extLst>
              <a:ext uri="{FF2B5EF4-FFF2-40B4-BE49-F238E27FC236}">
                <a16:creationId xmlns:a16="http://schemas.microsoft.com/office/drawing/2014/main" id="{C9676D7D-1C24-4536-A4CA-36CF1017DA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4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16">
            <a:extLst>
              <a:ext uri="{FF2B5EF4-FFF2-40B4-BE49-F238E27FC236}">
                <a16:creationId xmlns:a16="http://schemas.microsoft.com/office/drawing/2014/main" id="{5946E26B-755C-4E72-9FCF-7BF4AB3046E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31" name="Text Box 18">
            <a:extLst>
              <a:ext uri="{FF2B5EF4-FFF2-40B4-BE49-F238E27FC236}">
                <a16:creationId xmlns:a16="http://schemas.microsoft.com/office/drawing/2014/main" id="{A43A3578-6B1D-4EC9-AECC-16FF77C47A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00200" y="46038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/>
              <a:t>BÀI GIẢNG MÔN KỸ THUẬT VI XỬ LÝ</a:t>
            </a:r>
          </a:p>
        </p:txBody>
      </p:sp>
      <p:sp>
        <p:nvSpPr>
          <p:cNvPr id="1032" name="Text Box 23">
            <a:extLst>
              <a:ext uri="{FF2B5EF4-FFF2-40B4-BE49-F238E27FC236}">
                <a16:creationId xmlns:a16="http://schemas.microsoft.com/office/drawing/2014/main" id="{9BC3F953-E51F-4D88-8EFB-C4DA504B21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396038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1400"/>
              <a:t>www.ptit.edu.vn</a:t>
            </a:r>
          </a:p>
        </p:txBody>
      </p:sp>
      <p:sp>
        <p:nvSpPr>
          <p:cNvPr id="1033" name="Text Box 24">
            <a:extLst>
              <a:ext uri="{FF2B5EF4-FFF2-40B4-BE49-F238E27FC236}">
                <a16:creationId xmlns:a16="http://schemas.microsoft.com/office/drawing/2014/main" id="{95A178C0-1CC8-4033-BF53-92351BE689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47800" y="6310313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/>
              <a:t>GIẢNG VIÊN: TS. HOÀNG XUÂN DẬU</a:t>
            </a:r>
          </a:p>
        </p:txBody>
      </p:sp>
      <p:sp>
        <p:nvSpPr>
          <p:cNvPr id="1034" name="Text Box 25">
            <a:extLst>
              <a:ext uri="{FF2B5EF4-FFF2-40B4-BE49-F238E27FC236}">
                <a16:creationId xmlns:a16="http://schemas.microsoft.com/office/drawing/2014/main" id="{B385DBFD-2D38-4437-9A1F-F98D0CFBB8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62088" y="6538913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/>
              <a:t>BỘ MÔN: KHOA HỌC MÁY TÍNH - KHOA CNTT1</a:t>
            </a:r>
          </a:p>
        </p:txBody>
      </p:sp>
      <p:sp>
        <p:nvSpPr>
          <p:cNvPr id="1035" name="Text Box 26">
            <a:extLst>
              <a:ext uri="{FF2B5EF4-FFF2-40B4-BE49-F238E27FC236}">
                <a16:creationId xmlns:a16="http://schemas.microsoft.com/office/drawing/2014/main" id="{E416F80B-4E0B-4733-8F2A-94A512325F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01000" y="6391275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/>
              <a:t>Trang </a:t>
            </a:r>
            <a:fld id="{C385DEEC-F188-4A07-951B-11BE3311CDD7}" type="slidenum">
              <a:rPr lang="en-US" altLang="en-US" sz="1400" smtClean="0"/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400"/>
          </a:p>
        </p:txBody>
      </p:sp>
      <p:sp>
        <p:nvSpPr>
          <p:cNvPr id="1036" name="Rectangle 27">
            <a:extLst>
              <a:ext uri="{FF2B5EF4-FFF2-40B4-BE49-F238E27FC236}">
                <a16:creationId xmlns:a16="http://schemas.microsoft.com/office/drawing/2014/main" id="{A057CACE-15A8-49E3-9B3B-8D905F13B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7566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37" name="Rectangle 28">
            <a:extLst>
              <a:ext uri="{FF2B5EF4-FFF2-40B4-BE49-F238E27FC236}">
                <a16:creationId xmlns:a16="http://schemas.microsoft.com/office/drawing/2014/main" id="{C61DC634-C99C-451A-B8BA-FA78EDA05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5665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7133" name="Rectangle 29">
            <a:extLst>
              <a:ext uri="{FF2B5EF4-FFF2-40B4-BE49-F238E27FC236}">
                <a16:creationId xmlns:a16="http://schemas.microsoft.com/office/drawing/2014/main" id="{6F54B826-17C0-45E3-A8E1-1DE135D142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4" name="Rectangle 30">
            <a:extLst>
              <a:ext uri="{FF2B5EF4-FFF2-40B4-BE49-F238E27FC236}">
                <a16:creationId xmlns:a16="http://schemas.microsoft.com/office/drawing/2014/main" id="{2D5554D2-B751-4024-8C65-59A67A916A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5" name="Rectangle 31">
            <a:extLst>
              <a:ext uri="{FF2B5EF4-FFF2-40B4-BE49-F238E27FC236}">
                <a16:creationId xmlns:a16="http://schemas.microsoft.com/office/drawing/2014/main" id="{5AFAD73D-6848-438B-B565-3081D310AF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B9FFDA84-5BF7-46AE-B1ED-C147A6C0C0A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41" name="Text Box 32">
            <a:extLst>
              <a:ext uri="{FF2B5EF4-FFF2-40B4-BE49-F238E27FC236}">
                <a16:creationId xmlns:a16="http://schemas.microsoft.com/office/drawing/2014/main" id="{0BC227DB-52A5-42E8-9A08-17D75E1721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95400" y="304800"/>
            <a:ext cx="7086600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/>
              <a:t>CHƯƠNG 2 – </a:t>
            </a:r>
            <a:r>
              <a:rPr lang="fr-FR" sz="1600"/>
              <a:t>BỘ VI XỬ LÝ INTEL 8086/8088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186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cuongpham/home" TargetMode="Externa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upload.wikimedia.org/wikipedia/commons/3/3d/ROM_BIOS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>
            <a:extLst>
              <a:ext uri="{FF2B5EF4-FFF2-40B4-BE49-F238E27FC236}">
                <a16:creationId xmlns:a16="http://schemas.microsoft.com/office/drawing/2014/main" id="{BCF85DA4-9C37-41CF-8E1A-2753A1AEB2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10668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87" name="Rectangle 13">
            <a:extLst>
              <a:ext uri="{FF2B5EF4-FFF2-40B4-BE49-F238E27FC236}">
                <a16:creationId xmlns:a16="http://schemas.microsoft.com/office/drawing/2014/main" id="{C9BE4CF0-DD5A-4698-BC4E-CB0815B1AA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9624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88" name="Oval 14">
            <a:extLst>
              <a:ext uri="{FF2B5EF4-FFF2-40B4-BE49-F238E27FC236}">
                <a16:creationId xmlns:a16="http://schemas.microsoft.com/office/drawing/2014/main" id="{2296450E-FB1A-495B-977C-14E7ED1DA0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6389" name="Picture 15">
            <a:extLst>
              <a:ext uri="{FF2B5EF4-FFF2-40B4-BE49-F238E27FC236}">
                <a16:creationId xmlns:a16="http://schemas.microsoft.com/office/drawing/2014/main" id="{288736A2-FFB7-453C-BD17-D78C4D0B1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0" name="Group 16">
            <a:extLst>
              <a:ext uri="{FF2B5EF4-FFF2-40B4-BE49-F238E27FC236}">
                <a16:creationId xmlns:a16="http://schemas.microsoft.com/office/drawing/2014/main" id="{8968CC3B-E893-4DC0-9A53-BF6E17A9F6E2}"/>
              </a:ext>
            </a:extLst>
          </p:cNvPr>
          <p:cNvGrpSpPr>
            <a:grpSpLocks/>
          </p:cNvGrpSpPr>
          <p:nvPr/>
        </p:nvGrpSpPr>
        <p:grpSpPr bwMode="auto">
          <a:xfrm>
            <a:off x="52388" y="1004888"/>
            <a:ext cx="3529012" cy="3671887"/>
            <a:chOff x="612" y="1026"/>
            <a:chExt cx="2223" cy="2313"/>
          </a:xfrm>
        </p:grpSpPr>
        <p:sp>
          <p:nvSpPr>
            <p:cNvPr id="16395" name="Oval 17">
              <a:extLst>
                <a:ext uri="{FF2B5EF4-FFF2-40B4-BE49-F238E27FC236}">
                  <a16:creationId xmlns:a16="http://schemas.microsoft.com/office/drawing/2014/main" id="{6647E4F8-C8AF-4409-83D8-6CEFBE809D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2" y="1026"/>
              <a:ext cx="2223" cy="231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89803" dir="2700000" algn="ctr" rotWithShape="0">
                <a:srgbClr val="000000">
                  <a:alpha val="18999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2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16396" name="Picture 18" descr="HV_toancanh">
              <a:extLst>
                <a:ext uri="{FF2B5EF4-FFF2-40B4-BE49-F238E27FC236}">
                  <a16:creationId xmlns:a16="http://schemas.microsoft.com/office/drawing/2014/main" id="{534CB42E-25B1-405C-8644-550B751FE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530"/>
              <a:ext cx="1776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391" name="Text Box 19">
            <a:extLst>
              <a:ext uri="{FF2B5EF4-FFF2-40B4-BE49-F238E27FC236}">
                <a16:creationId xmlns:a16="http://schemas.microsoft.com/office/drawing/2014/main" id="{AF89CFF0-52D1-4CB4-9B04-9D6CBC061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22275"/>
            <a:ext cx="632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HỌC VIỆN CÔNG NGHỆ BƯU CHÍNH VIỄN THÔNG </a:t>
            </a:r>
          </a:p>
        </p:txBody>
      </p:sp>
      <p:sp>
        <p:nvSpPr>
          <p:cNvPr id="16392" name="Text Box 21">
            <a:extLst>
              <a:ext uri="{FF2B5EF4-FFF2-40B4-BE49-F238E27FC236}">
                <a16:creationId xmlns:a16="http://schemas.microsoft.com/office/drawing/2014/main" id="{FD621638-BBE0-416D-BD07-CAA86A962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438400"/>
            <a:ext cx="5562600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COMPUTER ARCHITECTURE</a:t>
            </a:r>
          </a:p>
        </p:txBody>
      </p:sp>
      <p:sp>
        <p:nvSpPr>
          <p:cNvPr id="16393" name="Text Box 22">
            <a:extLst>
              <a:ext uri="{FF2B5EF4-FFF2-40B4-BE49-F238E27FC236}">
                <a16:creationId xmlns:a16="http://schemas.microsoft.com/office/drawing/2014/main" id="{2D3D10E9-D834-46C2-8DF1-7CD576A38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00600"/>
            <a:ext cx="7696200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Instructor:    Associate Professor Phạm Văn Cường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E-mail:	          cuongpham.ptit@gmail.com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www: 	</a:t>
            </a: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5"/>
              </a:rPr>
              <a:t>https://sites.google.com/view/cuongpham/home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4" name="Text Box 24">
            <a:extLst>
              <a:ext uri="{FF2B5EF4-FFF2-40B4-BE49-F238E27FC236}">
                <a16:creationId xmlns:a16="http://schemas.microsoft.com/office/drawing/2014/main" id="{BFC1271F-68AB-42F1-8376-324E5CE5F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090863"/>
            <a:ext cx="5257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fr-F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    CACHE &amp; MEMORY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advTm="959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Agenda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3723" y="1635457"/>
            <a:ext cx="70104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US" sz="2800" dirty="0"/>
              <a:t>Introduction to hierarchical memory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800" dirty="0"/>
              <a:t>Memory classification</a:t>
            </a:r>
          </a:p>
          <a:p>
            <a:pPr marL="400050" lvl="1" indent="0">
              <a:buNone/>
            </a:pPr>
            <a:r>
              <a:rPr lang="en-US" dirty="0"/>
              <a:t>- ROM 	</a:t>
            </a:r>
          </a:p>
          <a:p>
            <a:pPr marL="400050" lvl="1" indent="0">
              <a:buNone/>
            </a:pPr>
            <a:r>
              <a:rPr lang="en-US" dirty="0"/>
              <a:t>- RAM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800" dirty="0"/>
              <a:t>Cache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</a:t>
            </a:r>
            <a:r>
              <a:rPr lang="en-US" dirty="0" err="1"/>
              <a:t>ierarchical</a:t>
            </a:r>
            <a:r>
              <a:rPr lang="en-US" dirty="0"/>
              <a:t> model</a:t>
            </a:r>
            <a:endParaRPr lang="en-AU" dirty="0"/>
          </a:p>
        </p:txBody>
      </p:sp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700213"/>
            <a:ext cx="7159625" cy="425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Figures</a:t>
            </a:r>
          </a:p>
        </p:txBody>
      </p:sp>
      <p:pic>
        <p:nvPicPr>
          <p:cNvPr id="2252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349500"/>
            <a:ext cx="862965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Memory system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10600" cy="4678363"/>
          </a:xfrm>
        </p:spPr>
        <p:txBody>
          <a:bodyPr/>
          <a:lstStyle/>
          <a:p>
            <a:r>
              <a:rPr lang="en-AU" dirty="0"/>
              <a:t>CPU registers:</a:t>
            </a:r>
          </a:p>
          <a:p>
            <a:pPr lvl="1"/>
            <a:r>
              <a:rPr lang="en-AU" dirty="0"/>
              <a:t>Small size, few bytes to few KB</a:t>
            </a:r>
          </a:p>
          <a:p>
            <a:pPr lvl="1"/>
            <a:r>
              <a:rPr lang="en-AU" dirty="0"/>
              <a:t>High speed access  (0,25ns)</a:t>
            </a:r>
          </a:p>
          <a:p>
            <a:pPr lvl="1"/>
            <a:r>
              <a:rPr lang="en-AU" dirty="0"/>
              <a:t>Expensive</a:t>
            </a:r>
          </a:p>
          <a:p>
            <a:pPr lvl="1"/>
            <a:endParaRPr lang="en-AU" dirty="0"/>
          </a:p>
          <a:p>
            <a:r>
              <a:rPr lang="en-AU" dirty="0"/>
              <a:t>Cache memory:</a:t>
            </a:r>
          </a:p>
          <a:p>
            <a:pPr lvl="1"/>
            <a:r>
              <a:rPr lang="en-AU" dirty="0"/>
              <a:t>Small capacity (8KB to 32MB)</a:t>
            </a:r>
          </a:p>
          <a:p>
            <a:pPr lvl="1"/>
            <a:r>
              <a:rPr lang="en-AU" dirty="0"/>
              <a:t>High speed  access (1-5ns)</a:t>
            </a:r>
          </a:p>
          <a:p>
            <a:pPr lvl="1"/>
            <a:r>
              <a:rPr lang="en-AU" dirty="0"/>
              <a:t>Expensive</a:t>
            </a:r>
          </a:p>
          <a:p>
            <a:pPr lvl="1"/>
            <a:r>
              <a:rPr lang="en-AU" dirty="0"/>
              <a:t>So called smart memory</a:t>
            </a:r>
          </a:p>
          <a:p>
            <a:pPr lvl="1"/>
            <a:r>
              <a:rPr lang="en-AU" dirty="0"/>
              <a:t>Store </a:t>
            </a:r>
            <a:r>
              <a:rPr lang="en-AU" dirty="0" err="1"/>
              <a:t>opcode</a:t>
            </a:r>
            <a:r>
              <a:rPr lang="en-AU" dirty="0"/>
              <a:t> and data to be processed by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Memory system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10600" cy="4678363"/>
          </a:xfrm>
        </p:spPr>
        <p:txBody>
          <a:bodyPr/>
          <a:lstStyle/>
          <a:p>
            <a:r>
              <a:rPr lang="en-AU" dirty="0"/>
              <a:t>Main memory:</a:t>
            </a:r>
          </a:p>
          <a:p>
            <a:pPr lvl="1"/>
            <a:r>
              <a:rPr lang="en-AU" dirty="0"/>
              <a:t>ROM and RAM,  large size, about 256MB to 16GB</a:t>
            </a:r>
          </a:p>
          <a:p>
            <a:pPr lvl="1"/>
            <a:r>
              <a:rPr lang="en-AU" dirty="0"/>
              <a:t>Low-speed  access (50 to 70ns)</a:t>
            </a:r>
          </a:p>
          <a:p>
            <a:pPr lvl="1"/>
            <a:r>
              <a:rPr lang="en-AU" dirty="0"/>
              <a:t>Cheap</a:t>
            </a:r>
          </a:p>
          <a:p>
            <a:pPr lvl="1"/>
            <a:r>
              <a:rPr lang="en-AU" dirty="0"/>
              <a:t>Store </a:t>
            </a:r>
            <a:r>
              <a:rPr lang="en-AU" dirty="0" err="1"/>
              <a:t>opcode</a:t>
            </a:r>
            <a:r>
              <a:rPr lang="en-AU" dirty="0"/>
              <a:t> and data of systems and users.</a:t>
            </a:r>
          </a:p>
          <a:p>
            <a:r>
              <a:rPr lang="en-AU" dirty="0"/>
              <a:t>Secondary memory:</a:t>
            </a:r>
          </a:p>
          <a:p>
            <a:pPr lvl="1"/>
            <a:r>
              <a:rPr lang="en-AU" dirty="0"/>
              <a:t>Very large capacity, from few  GB to few TB</a:t>
            </a:r>
          </a:p>
          <a:p>
            <a:pPr lvl="1"/>
            <a:r>
              <a:rPr lang="en-AU" dirty="0"/>
              <a:t>Very slow speed access  (5ms)</a:t>
            </a:r>
          </a:p>
          <a:p>
            <a:pPr lvl="1"/>
            <a:r>
              <a:rPr lang="en-AU" dirty="0"/>
              <a:t>Very cheap</a:t>
            </a:r>
          </a:p>
          <a:p>
            <a:pPr lvl="1"/>
            <a:r>
              <a:rPr lang="en-AU" dirty="0"/>
              <a:t>Store data (files).</a:t>
            </a:r>
          </a:p>
          <a:p>
            <a:pPr lvl="1"/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hierarchical memory ?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Performance improvement</a:t>
            </a:r>
          </a:p>
          <a:p>
            <a:pPr lvl="1"/>
            <a:r>
              <a:rPr lang="en-AU" dirty="0"/>
              <a:t>Balancing between high-speed processing of CPU and low-speed processing of main memory and secondary memory;</a:t>
            </a:r>
          </a:p>
          <a:p>
            <a:r>
              <a:rPr lang="en-AU" dirty="0"/>
              <a:t>Cost reduction</a:t>
            </a:r>
          </a:p>
          <a:p>
            <a:pPr lvl="1"/>
            <a:r>
              <a:rPr lang="en-AU" dirty="0"/>
              <a:t>Expensive memories such as registers and cache can be used with a small amount;</a:t>
            </a:r>
          </a:p>
          <a:p>
            <a:pPr lvl="1"/>
            <a:r>
              <a:rPr lang="en-AU" dirty="0"/>
              <a:t>Cheap memories such as main memory and secondary memory are used with large amount;</a:t>
            </a:r>
          </a:p>
          <a:p>
            <a:pPr lvl="1">
              <a:buFont typeface="Wingdings" pitchFamily="2" charset="2"/>
              <a:buNone/>
            </a:pPr>
            <a:r>
              <a:rPr lang="en-AU" dirty="0">
                <a:sym typeface="Wingdings" pitchFamily="2" charset="2"/>
              </a:rPr>
              <a:t> Sum of costs will be reduced.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/>
            <a:r>
              <a:rPr lang="en-AU" dirty="0"/>
              <a:t>Memory classification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AU" dirty="0"/>
              <a:t>Access types: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Random Access Memory (RAM)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Serial Access Memory (SAM)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Read Only Memory (ROM)</a:t>
            </a:r>
          </a:p>
          <a:p>
            <a:pPr>
              <a:lnSpc>
                <a:spcPct val="90000"/>
              </a:lnSpc>
            </a:pPr>
            <a:r>
              <a:rPr lang="en-AU" dirty="0"/>
              <a:t>Volatile types: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Volatile memory (RAM): data are removed if the power supply is off.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Non-volatile memory (ROM, HDD) </a:t>
            </a:r>
          </a:p>
          <a:p>
            <a:pPr>
              <a:lnSpc>
                <a:spcPct val="90000"/>
              </a:lnSpc>
            </a:pPr>
            <a:r>
              <a:rPr lang="en-AU" dirty="0"/>
              <a:t>Manufacture technology: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Semiconductor memory: ROM, RAM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Magnetic memory: HDD, FDD, tape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Optical memory: CD, DVD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Memory circuit organization</a:t>
            </a:r>
          </a:p>
        </p:txBody>
      </p:sp>
      <p:pic>
        <p:nvPicPr>
          <p:cNvPr id="2304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628775"/>
            <a:ext cx="6408738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ROM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Read Only Memory</a:t>
            </a:r>
          </a:p>
          <a:p>
            <a:pPr lvl="1"/>
            <a:r>
              <a:rPr lang="en-US" dirty="0"/>
              <a:t>Data are written in ROM using specialized technology;</a:t>
            </a:r>
          </a:p>
          <a:p>
            <a:r>
              <a:rPr lang="en-US" dirty="0"/>
              <a:t>ROM is a stable memory</a:t>
            </a:r>
          </a:p>
          <a:p>
            <a:pPr lvl="1"/>
            <a:r>
              <a:rPr lang="en-US" dirty="0"/>
              <a:t>Information stored in ROM is not losing even power supply is off</a:t>
            </a:r>
          </a:p>
          <a:p>
            <a:r>
              <a:rPr lang="en-US" dirty="0"/>
              <a:t>ROM is a semi-conductor memory; each cell is a semi-conductor gate</a:t>
            </a:r>
          </a:p>
          <a:p>
            <a:r>
              <a:rPr lang="en-US" dirty="0"/>
              <a:t>ROM is usually stored system information:</a:t>
            </a:r>
          </a:p>
          <a:p>
            <a:pPr lvl="1"/>
            <a:r>
              <a:rPr lang="en-US" dirty="0"/>
              <a:t>BIOS (Basic Input Output System).</a:t>
            </a:r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ROM example</a:t>
            </a:r>
          </a:p>
        </p:txBody>
      </p:sp>
      <p:pic>
        <p:nvPicPr>
          <p:cNvPr id="234501" name="Picture 5" descr="ROM_BIOS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87030"/>
            <a:ext cx="4104958" cy="203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502" name="Picture 6" descr="attachm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60301"/>
            <a:ext cx="3808457" cy="302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</a:t>
            </a:r>
            <a:endParaRPr lang="en-AU" dirty="0"/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200" dirty="0"/>
              <a:t>RAM (Random Access Memory)</a:t>
            </a:r>
          </a:p>
          <a:p>
            <a:pPr lvl="1"/>
            <a:r>
              <a:rPr lang="en-US" dirty="0"/>
              <a:t>Each cell in  RAM can randomly be accessed;</a:t>
            </a:r>
          </a:p>
          <a:p>
            <a:pPr lvl="1"/>
            <a:r>
              <a:rPr lang="en-US" dirty="0"/>
              <a:t>Access speed for all memory cells are equal.</a:t>
            </a:r>
          </a:p>
          <a:p>
            <a:r>
              <a:rPr lang="en-US" sz="2200" dirty="0"/>
              <a:t>RAM is not a stable:</a:t>
            </a:r>
          </a:p>
          <a:p>
            <a:pPr lvl="1"/>
            <a:r>
              <a:rPr lang="en-US" dirty="0"/>
              <a:t>Information stored in RAM is removed when power supply is off</a:t>
            </a:r>
          </a:p>
          <a:p>
            <a:r>
              <a:rPr lang="en-US" sz="2200" dirty="0"/>
              <a:t>RAM is a semi-conductor memory</a:t>
            </a:r>
          </a:p>
          <a:p>
            <a:r>
              <a:rPr lang="en-US" sz="2200" dirty="0"/>
              <a:t>RAM stores information of systems and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RAM examples</a:t>
            </a:r>
          </a:p>
        </p:txBody>
      </p:sp>
      <p:pic>
        <p:nvPicPr>
          <p:cNvPr id="246789" name="Picture 5" descr="Ram_256MB_SDRAM__48222bbb284a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5" y="1600199"/>
            <a:ext cx="3244755" cy="324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790" name="Text Box 6"/>
          <p:cNvSpPr txBox="1">
            <a:spLocks noChangeArrowheads="1"/>
          </p:cNvSpPr>
          <p:nvPr/>
        </p:nvSpPr>
        <p:spPr bwMode="auto">
          <a:xfrm>
            <a:off x="1116013" y="5013325"/>
            <a:ext cx="2160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0">
                <a:latin typeface="Verdana" pitchFamily="34" charset="0"/>
              </a:rPr>
              <a:t>SDRAM PC133</a:t>
            </a:r>
            <a:endParaRPr lang="en-AU" b="0">
              <a:latin typeface="Verdana" pitchFamily="34" charset="0"/>
            </a:endParaRPr>
          </a:p>
        </p:txBody>
      </p:sp>
      <p:pic>
        <p:nvPicPr>
          <p:cNvPr id="246791" name="Picture 7" descr="1348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648" y="1705970"/>
            <a:ext cx="3807725" cy="328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792" name="Text Box 8"/>
          <p:cNvSpPr txBox="1">
            <a:spLocks noChangeArrowheads="1"/>
          </p:cNvSpPr>
          <p:nvPr/>
        </p:nvSpPr>
        <p:spPr bwMode="auto">
          <a:xfrm>
            <a:off x="5435600" y="5084763"/>
            <a:ext cx="2736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0">
                <a:latin typeface="Verdana" pitchFamily="34" charset="0"/>
              </a:rPr>
              <a:t>DDR3 1066 SDRAM</a:t>
            </a:r>
            <a:endParaRPr lang="en-AU" b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Cache memory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600200"/>
            <a:ext cx="7461250" cy="4525963"/>
          </a:xfrm>
        </p:spPr>
        <p:txBody>
          <a:bodyPr/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What is Cache?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Cache principles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dirty="0"/>
              <a:t>Hit rate and miss rate</a:t>
            </a:r>
            <a:endParaRPr lang="en-AU" dirty="0"/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Cache architecture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Cache organization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Read/Write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Replication policies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Cache?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56650" cy="3352800"/>
          </a:xfrm>
        </p:spPr>
        <p:txBody>
          <a:bodyPr/>
          <a:lstStyle/>
          <a:p>
            <a:r>
              <a:rPr lang="en-AU" dirty="0"/>
              <a:t>Cache is a smart memory:</a:t>
            </a:r>
          </a:p>
          <a:p>
            <a:pPr lvl="1"/>
            <a:r>
              <a:rPr lang="en-AU" dirty="0"/>
              <a:t>Cache is in between main memory and CPU;</a:t>
            </a:r>
          </a:p>
          <a:p>
            <a:r>
              <a:rPr lang="en-AU" dirty="0"/>
              <a:t>Cache:</a:t>
            </a:r>
          </a:p>
          <a:p>
            <a:pPr lvl="1"/>
            <a:r>
              <a:rPr lang="en-AU" dirty="0"/>
              <a:t>is positioned out of CPU (old systems)</a:t>
            </a:r>
          </a:p>
          <a:p>
            <a:pPr lvl="1"/>
            <a:r>
              <a:rPr lang="en-AU" dirty="0"/>
              <a:t>Is integrated  inside CPU.</a:t>
            </a:r>
          </a:p>
        </p:txBody>
      </p:sp>
      <p:grpSp>
        <p:nvGrpSpPr>
          <p:cNvPr id="248841" name="Group 9"/>
          <p:cNvGrpSpPr>
            <a:grpSpLocks/>
          </p:cNvGrpSpPr>
          <p:nvPr/>
        </p:nvGrpSpPr>
        <p:grpSpPr bwMode="auto">
          <a:xfrm>
            <a:off x="1676400" y="4800600"/>
            <a:ext cx="5672138" cy="685800"/>
            <a:chOff x="1440" y="2832"/>
            <a:chExt cx="3573" cy="432"/>
          </a:xfrm>
        </p:grpSpPr>
        <p:sp>
          <p:nvSpPr>
            <p:cNvPr id="248836" name="Text Box 4"/>
            <p:cNvSpPr txBox="1">
              <a:spLocks noChangeArrowheads="1"/>
            </p:cNvSpPr>
            <p:nvPr/>
          </p:nvSpPr>
          <p:spPr bwMode="auto">
            <a:xfrm>
              <a:off x="1440" y="2832"/>
              <a:ext cx="960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AU"/>
                <a:t>CPU</a:t>
              </a:r>
            </a:p>
          </p:txBody>
        </p:sp>
        <p:sp>
          <p:nvSpPr>
            <p:cNvPr id="248837" name="Text Box 5"/>
            <p:cNvSpPr txBox="1">
              <a:spLocks noChangeArrowheads="1"/>
            </p:cNvSpPr>
            <p:nvPr/>
          </p:nvSpPr>
          <p:spPr bwMode="auto">
            <a:xfrm>
              <a:off x="2743" y="2832"/>
              <a:ext cx="960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AU"/>
                <a:t>Cache</a:t>
              </a:r>
            </a:p>
          </p:txBody>
        </p:sp>
        <p:sp>
          <p:nvSpPr>
            <p:cNvPr id="248838" name="Line 6"/>
            <p:cNvSpPr>
              <a:spLocks noChangeShapeType="1"/>
            </p:cNvSpPr>
            <p:nvPr/>
          </p:nvSpPr>
          <p:spPr bwMode="auto">
            <a:xfrm>
              <a:off x="2421" y="3045"/>
              <a:ext cx="3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839" name="Text Box 7"/>
            <p:cNvSpPr txBox="1">
              <a:spLocks noChangeArrowheads="1"/>
            </p:cNvSpPr>
            <p:nvPr/>
          </p:nvSpPr>
          <p:spPr bwMode="auto">
            <a:xfrm>
              <a:off x="4053" y="2832"/>
              <a:ext cx="960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AU"/>
                <a:t>Main memory</a:t>
              </a:r>
            </a:p>
          </p:txBody>
        </p:sp>
        <p:sp>
          <p:nvSpPr>
            <p:cNvPr id="248840" name="Line 8"/>
            <p:cNvSpPr>
              <a:spLocks noChangeShapeType="1"/>
            </p:cNvSpPr>
            <p:nvPr/>
          </p:nvSpPr>
          <p:spPr bwMode="auto">
            <a:xfrm>
              <a:off x="3731" y="3045"/>
              <a:ext cx="3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/>
            <a:r>
              <a:rPr lang="en-AU" dirty="0"/>
              <a:t>Cache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Performance improvement</a:t>
            </a:r>
          </a:p>
          <a:p>
            <a:pPr lvl="1"/>
            <a:r>
              <a:rPr lang="en-AU" dirty="0"/>
              <a:t>Balanced between high-speed CPU and low-speed main memory;</a:t>
            </a:r>
          </a:p>
          <a:p>
            <a:pPr lvl="1"/>
            <a:r>
              <a:rPr lang="en-AU" dirty="0"/>
              <a:t>Reducing time for access data and instructions.</a:t>
            </a:r>
          </a:p>
          <a:p>
            <a:r>
              <a:rPr lang="en-AU" dirty="0"/>
              <a:t>Cost reduction</a:t>
            </a:r>
          </a:p>
          <a:p>
            <a:pPr lvl="1"/>
            <a:r>
              <a:rPr lang="en-AU" dirty="0"/>
              <a:t>Two computer systems have the same cost, the one with cache has higher speed access than the other;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Principles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 is call a smart memory:</a:t>
            </a:r>
          </a:p>
          <a:p>
            <a:pPr lvl="1"/>
            <a:r>
              <a:rPr lang="en-US" dirty="0"/>
              <a:t>Cache is able to predict  data and instructions need to be executed by CPU;</a:t>
            </a:r>
          </a:p>
          <a:p>
            <a:pPr lvl="1"/>
            <a:r>
              <a:rPr lang="en-US" dirty="0"/>
              <a:t>Access data in cache is fast</a:t>
            </a:r>
            <a:r>
              <a:rPr lang="en-US" dirty="0">
                <a:sym typeface="Wingdings" pitchFamily="2" charset="2"/>
              </a:rPr>
              <a:t>.</a:t>
            </a:r>
            <a:endParaRPr lang="en-AU" dirty="0"/>
          </a:p>
          <a:p>
            <a:r>
              <a:rPr lang="en-AU" dirty="0"/>
              <a:t>Two principles:</a:t>
            </a:r>
          </a:p>
          <a:p>
            <a:pPr lvl="1"/>
            <a:r>
              <a:rPr lang="en-AU" dirty="0"/>
              <a:t>Spatial locality</a:t>
            </a:r>
          </a:p>
          <a:p>
            <a:pPr lvl="1"/>
            <a:r>
              <a:rPr lang="en-AU" dirty="0"/>
              <a:t>Temporal locality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Examples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6705600" cy="4800600"/>
          </a:xfrm>
        </p:spPr>
        <p:txBody>
          <a:bodyPr/>
          <a:lstStyle/>
          <a:p>
            <a:pPr marL="342900" lvl="1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AU" dirty="0"/>
              <a:t>Spatial locality</a:t>
            </a:r>
          </a:p>
          <a:p>
            <a:pPr lvl="1"/>
            <a:r>
              <a:rPr lang="en-US" dirty="0"/>
              <a:t>If a memory cell is accessed, its neighbors can be highly likely accessed;</a:t>
            </a:r>
          </a:p>
          <a:p>
            <a:pPr lvl="1"/>
            <a:r>
              <a:rPr lang="en-US" dirty="0"/>
              <a:t>Array, linked list etc.</a:t>
            </a:r>
          </a:p>
          <a:p>
            <a:pPr lvl="1"/>
            <a:r>
              <a:rPr lang="en-US" dirty="0"/>
              <a:t>Access by blocks</a:t>
            </a:r>
          </a:p>
          <a:p>
            <a:pPr lvl="1"/>
            <a:endParaRPr lang="en-AU" dirty="0"/>
          </a:p>
        </p:txBody>
      </p:sp>
      <p:grpSp>
        <p:nvGrpSpPr>
          <p:cNvPr id="252940" name="Group 12"/>
          <p:cNvGrpSpPr>
            <a:grpSpLocks/>
          </p:cNvGrpSpPr>
          <p:nvPr/>
        </p:nvGrpSpPr>
        <p:grpSpPr bwMode="auto">
          <a:xfrm>
            <a:off x="7315200" y="2209800"/>
            <a:ext cx="1295400" cy="2543175"/>
            <a:chOff x="4513" y="1884"/>
            <a:chExt cx="816" cy="1602"/>
          </a:xfrm>
        </p:grpSpPr>
        <p:sp>
          <p:nvSpPr>
            <p:cNvPr id="252941" name="Rectangle 13"/>
            <p:cNvSpPr>
              <a:spLocks noChangeArrowheads="1"/>
            </p:cNvSpPr>
            <p:nvPr/>
          </p:nvSpPr>
          <p:spPr bwMode="auto">
            <a:xfrm>
              <a:off x="4513" y="1884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sp>
          <p:nvSpPr>
            <p:cNvPr id="252942" name="Rectangle 14"/>
            <p:cNvSpPr>
              <a:spLocks noChangeArrowheads="1"/>
            </p:cNvSpPr>
            <p:nvPr/>
          </p:nvSpPr>
          <p:spPr bwMode="auto">
            <a:xfrm>
              <a:off x="4513" y="2206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sz="1400" b="0">
                  <a:latin typeface="Verdana" pitchFamily="34" charset="0"/>
                </a:rPr>
                <a:t>Neighbour</a:t>
              </a:r>
              <a:br>
                <a:rPr lang="en-AU" sz="1400" b="0">
                  <a:latin typeface="Verdana" pitchFamily="34" charset="0"/>
                </a:rPr>
              </a:br>
              <a:r>
                <a:rPr lang="en-AU" sz="1400" b="0">
                  <a:latin typeface="Verdana" pitchFamily="34" charset="0"/>
                </a:rPr>
                <a:t>cell</a:t>
              </a:r>
            </a:p>
          </p:txBody>
        </p:sp>
        <p:sp>
          <p:nvSpPr>
            <p:cNvPr id="252943" name="Rectangle 15"/>
            <p:cNvSpPr>
              <a:spLocks noChangeArrowheads="1"/>
            </p:cNvSpPr>
            <p:nvPr/>
          </p:nvSpPr>
          <p:spPr bwMode="auto">
            <a:xfrm>
              <a:off x="4513" y="2523"/>
              <a:ext cx="816" cy="31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sz="1400" b="0">
                  <a:latin typeface="Verdana" pitchFamily="34" charset="0"/>
                </a:rPr>
                <a:t>Current </a:t>
              </a:r>
              <a:br>
                <a:rPr lang="en-AU" sz="1400" b="0">
                  <a:latin typeface="Verdana" pitchFamily="34" charset="0"/>
                </a:rPr>
              </a:br>
              <a:r>
                <a:rPr lang="en-AU" sz="1400" b="0">
                  <a:latin typeface="Verdana" pitchFamily="34" charset="0"/>
                </a:rPr>
                <a:t>cell</a:t>
              </a:r>
            </a:p>
          </p:txBody>
        </p:sp>
        <p:sp>
          <p:nvSpPr>
            <p:cNvPr id="252944" name="Rectangle 16"/>
            <p:cNvSpPr>
              <a:spLocks noChangeArrowheads="1"/>
            </p:cNvSpPr>
            <p:nvPr/>
          </p:nvSpPr>
          <p:spPr bwMode="auto">
            <a:xfrm>
              <a:off x="4513" y="2840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sz="1400" b="0">
                  <a:latin typeface="Verdana" pitchFamily="34" charset="0"/>
                </a:rPr>
                <a:t>Neighbour</a:t>
              </a:r>
              <a:br>
                <a:rPr lang="en-AU" sz="1400" b="0">
                  <a:latin typeface="Verdana" pitchFamily="34" charset="0"/>
                </a:rPr>
              </a:br>
              <a:r>
                <a:rPr lang="en-AU" sz="1400" b="0">
                  <a:latin typeface="Verdana" pitchFamily="34" charset="0"/>
                </a:rPr>
                <a:t>cell</a:t>
              </a:r>
            </a:p>
          </p:txBody>
        </p:sp>
        <p:sp>
          <p:nvSpPr>
            <p:cNvPr id="252945" name="Rectangle 17"/>
            <p:cNvSpPr>
              <a:spLocks noChangeArrowheads="1"/>
            </p:cNvSpPr>
            <p:nvPr/>
          </p:nvSpPr>
          <p:spPr bwMode="auto">
            <a:xfrm>
              <a:off x="4513" y="3168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6172200" cy="4678363"/>
          </a:xfrm>
        </p:spPr>
        <p:txBody>
          <a:bodyPr/>
          <a:lstStyle/>
          <a:p>
            <a:pPr marL="342900" lvl="1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AU" dirty="0"/>
              <a:t>Temporal locality</a:t>
            </a:r>
          </a:p>
          <a:p>
            <a:pPr lvl="1"/>
            <a:r>
              <a:rPr lang="en-US" dirty="0"/>
              <a:t>If a memory cell has been accessed, it would be highly likely accessed again;</a:t>
            </a:r>
          </a:p>
          <a:p>
            <a:r>
              <a:rPr lang="en-US" dirty="0"/>
              <a:t>Loop, branch</a:t>
            </a:r>
          </a:p>
        </p:txBody>
      </p:sp>
      <p:grpSp>
        <p:nvGrpSpPr>
          <p:cNvPr id="253956" name="Group 4"/>
          <p:cNvGrpSpPr>
            <a:grpSpLocks/>
          </p:cNvGrpSpPr>
          <p:nvPr/>
        </p:nvGrpSpPr>
        <p:grpSpPr bwMode="auto">
          <a:xfrm>
            <a:off x="6732588" y="2327275"/>
            <a:ext cx="2159000" cy="2555875"/>
            <a:chOff x="4241" y="1466"/>
            <a:chExt cx="1360" cy="1610"/>
          </a:xfrm>
        </p:grpSpPr>
        <p:sp>
          <p:nvSpPr>
            <p:cNvPr id="253957" name="Rectangle 5"/>
            <p:cNvSpPr>
              <a:spLocks noChangeArrowheads="1"/>
            </p:cNvSpPr>
            <p:nvPr/>
          </p:nvSpPr>
          <p:spPr bwMode="auto">
            <a:xfrm>
              <a:off x="4785" y="1466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US" sz="1400" b="0">
                  <a:latin typeface="Verdana" pitchFamily="34" charset="0"/>
                </a:rPr>
                <a:t>Instruction 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3958" name="Rectangle 6"/>
            <p:cNvSpPr>
              <a:spLocks noChangeArrowheads="1"/>
            </p:cNvSpPr>
            <p:nvPr/>
          </p:nvSpPr>
          <p:spPr bwMode="auto">
            <a:xfrm>
              <a:off x="4785" y="1788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US" sz="1400" b="0">
                  <a:latin typeface="Verdana" pitchFamily="34" charset="0"/>
                </a:rPr>
                <a:t>Instruction 2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3959" name="Rectangle 7"/>
            <p:cNvSpPr>
              <a:spLocks noChangeArrowheads="1"/>
            </p:cNvSpPr>
            <p:nvPr/>
          </p:nvSpPr>
          <p:spPr bwMode="auto">
            <a:xfrm>
              <a:off x="4785" y="2105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US" sz="1400" b="0">
                  <a:latin typeface="Verdana" pitchFamily="34" charset="0"/>
                </a:rPr>
                <a:t>Instruction 3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3960" name="Rectangle 8"/>
            <p:cNvSpPr>
              <a:spLocks noChangeArrowheads="1"/>
            </p:cNvSpPr>
            <p:nvPr/>
          </p:nvSpPr>
          <p:spPr bwMode="auto">
            <a:xfrm>
              <a:off x="4785" y="2422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US" sz="1400" b="0">
                  <a:latin typeface="Verdana" pitchFamily="34" charset="0"/>
                </a:rPr>
                <a:t>Instruction 4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3961" name="Rectangle 9"/>
            <p:cNvSpPr>
              <a:spLocks noChangeArrowheads="1"/>
            </p:cNvSpPr>
            <p:nvPr/>
          </p:nvSpPr>
          <p:spPr bwMode="auto">
            <a:xfrm>
              <a:off x="4785" y="2750"/>
              <a:ext cx="816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US" sz="1400" b="0">
                  <a:latin typeface="Verdana" pitchFamily="34" charset="0"/>
                </a:rPr>
                <a:t>Instruction 5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3962" name="Text Box 10"/>
            <p:cNvSpPr txBox="1">
              <a:spLocks noChangeArrowheads="1"/>
            </p:cNvSpPr>
            <p:nvPr/>
          </p:nvSpPr>
          <p:spPr bwMode="auto">
            <a:xfrm>
              <a:off x="4241" y="2750"/>
              <a:ext cx="54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End of loop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3963" name="Text Box 11"/>
            <p:cNvSpPr txBox="1">
              <a:spLocks noChangeArrowheads="1"/>
            </p:cNvSpPr>
            <p:nvPr/>
          </p:nvSpPr>
          <p:spPr bwMode="auto">
            <a:xfrm>
              <a:off x="4241" y="1480"/>
              <a:ext cx="54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Start of loop</a:t>
              </a:r>
              <a:endParaRPr lang="en-AU" sz="1400" b="0">
                <a:latin typeface="Verdan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4.5.4 Data exchange among CPU-Cache-</a:t>
            </a:r>
            <a:r>
              <a:rPr lang="en-US" dirty="0" err="1"/>
              <a:t>Mem</a:t>
            </a:r>
            <a:endParaRPr lang="en-AU" dirty="0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756650" cy="2438400"/>
          </a:xfrm>
        </p:spPr>
        <p:txBody>
          <a:bodyPr/>
          <a:lstStyle/>
          <a:p>
            <a:r>
              <a:rPr lang="en-US" dirty="0"/>
              <a:t>CPU read/write individual data items from/to cache</a:t>
            </a:r>
          </a:p>
          <a:p>
            <a:r>
              <a:rPr lang="en-US" dirty="0"/>
              <a:t>Cache read/write data blocks (multiple words) from/to main memory</a:t>
            </a:r>
          </a:p>
          <a:p>
            <a:pPr lvl="1"/>
            <a:r>
              <a:rPr lang="en-US" dirty="0"/>
              <a:t>why?</a:t>
            </a:r>
            <a:endParaRPr lang="en-AU" dirty="0"/>
          </a:p>
        </p:txBody>
      </p:sp>
      <p:grpSp>
        <p:nvGrpSpPr>
          <p:cNvPr id="254980" name="Group 4"/>
          <p:cNvGrpSpPr>
            <a:grpSpLocks/>
          </p:cNvGrpSpPr>
          <p:nvPr/>
        </p:nvGrpSpPr>
        <p:grpSpPr bwMode="auto">
          <a:xfrm>
            <a:off x="1600200" y="4038600"/>
            <a:ext cx="5903913" cy="1377950"/>
            <a:chOff x="1096" y="3067"/>
            <a:chExt cx="3719" cy="868"/>
          </a:xfrm>
        </p:grpSpPr>
        <p:sp>
          <p:nvSpPr>
            <p:cNvPr id="254981" name="Text Box 5"/>
            <p:cNvSpPr txBox="1">
              <a:spLocks noChangeArrowheads="1"/>
            </p:cNvSpPr>
            <p:nvPr/>
          </p:nvSpPr>
          <p:spPr bwMode="auto">
            <a:xfrm>
              <a:off x="1096" y="3067"/>
              <a:ext cx="952" cy="4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50000"/>
                </a:lnSpc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CPU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54982" name="Text Box 6"/>
            <p:cNvSpPr txBox="1">
              <a:spLocks noChangeArrowheads="1"/>
            </p:cNvSpPr>
            <p:nvPr/>
          </p:nvSpPr>
          <p:spPr bwMode="auto">
            <a:xfrm>
              <a:off x="2472" y="3067"/>
              <a:ext cx="952" cy="4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50000"/>
                </a:lnSpc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Cache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54983" name="Line 7"/>
            <p:cNvSpPr>
              <a:spLocks noChangeShapeType="1"/>
            </p:cNvSpPr>
            <p:nvPr/>
          </p:nvSpPr>
          <p:spPr bwMode="auto">
            <a:xfrm>
              <a:off x="2061" y="3173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54984" name="Line 8"/>
            <p:cNvSpPr>
              <a:spLocks noChangeShapeType="1"/>
            </p:cNvSpPr>
            <p:nvPr/>
          </p:nvSpPr>
          <p:spPr bwMode="auto">
            <a:xfrm>
              <a:off x="2061" y="3382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54985" name="Text Box 9"/>
            <p:cNvSpPr txBox="1">
              <a:spLocks noChangeArrowheads="1"/>
            </p:cNvSpPr>
            <p:nvPr/>
          </p:nvSpPr>
          <p:spPr bwMode="auto">
            <a:xfrm>
              <a:off x="3863" y="3067"/>
              <a:ext cx="952" cy="4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50000"/>
                </a:lnSpc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Memory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54986" name="Line 10"/>
            <p:cNvSpPr>
              <a:spLocks noChangeShapeType="1"/>
            </p:cNvSpPr>
            <p:nvPr/>
          </p:nvSpPr>
          <p:spPr bwMode="auto">
            <a:xfrm>
              <a:off x="3452" y="3173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54987" name="Line 11"/>
            <p:cNvSpPr>
              <a:spLocks noChangeShapeType="1"/>
            </p:cNvSpPr>
            <p:nvPr/>
          </p:nvSpPr>
          <p:spPr bwMode="auto">
            <a:xfrm>
              <a:off x="3452" y="3382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54988" name="Text Box 12"/>
            <p:cNvSpPr txBox="1">
              <a:spLocks noChangeArrowheads="1"/>
            </p:cNvSpPr>
            <p:nvPr/>
          </p:nvSpPr>
          <p:spPr bwMode="auto">
            <a:xfrm>
              <a:off x="1927" y="3469"/>
              <a:ext cx="771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AU" sz="1400" b="0">
                  <a:latin typeface="Verdana" pitchFamily="34" charset="0"/>
                </a:rPr>
                <a:t>Individual </a:t>
              </a:r>
              <a:br>
                <a:rPr lang="en-AU" sz="1400" b="0">
                  <a:latin typeface="Verdana" pitchFamily="34" charset="0"/>
                </a:rPr>
              </a:br>
              <a:r>
                <a:rPr lang="en-AU" sz="1400" b="0">
                  <a:latin typeface="Verdana" pitchFamily="34" charset="0"/>
                </a:rPr>
                <a:t>data items:</a:t>
              </a:r>
              <a:br>
                <a:rPr lang="en-AU" sz="1400" b="0">
                  <a:latin typeface="Verdana" pitchFamily="34" charset="0"/>
                </a:rPr>
              </a:br>
              <a:r>
                <a:rPr lang="en-AU" sz="1400" b="0">
                  <a:latin typeface="Verdana" pitchFamily="34" charset="0"/>
                </a:rPr>
                <a:t>byte, word</a:t>
              </a:r>
            </a:p>
          </p:txBody>
        </p:sp>
        <p:sp>
          <p:nvSpPr>
            <p:cNvPr id="254989" name="Text Box 13"/>
            <p:cNvSpPr txBox="1">
              <a:spLocks noChangeArrowheads="1"/>
            </p:cNvSpPr>
            <p:nvPr/>
          </p:nvSpPr>
          <p:spPr bwMode="auto">
            <a:xfrm>
              <a:off x="3334" y="3475"/>
              <a:ext cx="847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AU" sz="1400" b="0">
                  <a:latin typeface="Verdana" pitchFamily="34" charset="0"/>
                </a:rPr>
                <a:t>Block of </a:t>
              </a:r>
              <a:br>
                <a:rPr lang="en-AU" sz="1400" b="0">
                  <a:latin typeface="Verdana" pitchFamily="34" charset="0"/>
                </a:rPr>
              </a:br>
              <a:r>
                <a:rPr lang="en-AU" sz="1400" b="0">
                  <a:latin typeface="Verdana" pitchFamily="34" charset="0"/>
                </a:rPr>
                <a:t>data: 16, 32, 64 bytes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and miss</a:t>
            </a:r>
            <a:endParaRPr lang="en-AU" dirty="0"/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i="1" dirty="0"/>
              <a:t>Hit:</a:t>
            </a:r>
            <a:r>
              <a:rPr lang="en-AU" dirty="0"/>
              <a:t> CPU accesses a data item that is available in cache:</a:t>
            </a:r>
          </a:p>
          <a:p>
            <a:pPr lvl="1"/>
            <a:r>
              <a:rPr lang="en-AU" dirty="0"/>
              <a:t>Probability of a hit called hit rate (</a:t>
            </a:r>
            <a:r>
              <a:rPr lang="en-AU" dirty="0" err="1"/>
              <a:t>standed</a:t>
            </a:r>
            <a:r>
              <a:rPr lang="en-AU" dirty="0"/>
              <a:t> for </a:t>
            </a:r>
            <a:r>
              <a:rPr lang="en-AU" i="1" dirty="0"/>
              <a:t>H)</a:t>
            </a:r>
            <a:r>
              <a:rPr lang="en-AU" dirty="0"/>
              <a:t>.</a:t>
            </a:r>
          </a:p>
          <a:p>
            <a:pPr lvl="1"/>
            <a:r>
              <a:rPr lang="en-AU" dirty="0"/>
              <a:t>0 &lt;= H &lt;= 1</a:t>
            </a:r>
          </a:p>
          <a:p>
            <a:pPr lvl="1"/>
            <a:r>
              <a:rPr lang="en-AU" dirty="0"/>
              <a:t>The bigger hit rate, the higher performance of the cache.</a:t>
            </a:r>
          </a:p>
          <a:p>
            <a:r>
              <a:rPr lang="en-AU" i="1" dirty="0"/>
              <a:t>Miss</a:t>
            </a:r>
            <a:r>
              <a:rPr lang="en-AU" dirty="0"/>
              <a:t> CPU accesses a data item that is unavailable in cache:</a:t>
            </a:r>
          </a:p>
          <a:p>
            <a:pPr lvl="1"/>
            <a:r>
              <a:rPr lang="en-AU" dirty="0"/>
              <a:t>Probability of a miss called miss rate, 1-</a:t>
            </a:r>
            <a:r>
              <a:rPr lang="en-AU" i="1" dirty="0"/>
              <a:t>H</a:t>
            </a:r>
            <a:r>
              <a:rPr lang="en-AU" dirty="0"/>
              <a:t>.</a:t>
            </a:r>
          </a:p>
          <a:p>
            <a:pPr lvl="1"/>
            <a:r>
              <a:rPr lang="en-AU" dirty="0"/>
              <a:t>0 &lt;= (1 – H) &lt;= 1</a:t>
            </a:r>
          </a:p>
          <a:p>
            <a:pPr lvl="1"/>
            <a:r>
              <a:rPr lang="en-AU" dirty="0"/>
              <a:t>The lower miss rate, the less performance of the cache.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architecture – Look aside</a:t>
            </a:r>
            <a:endParaRPr lang="en-AU" dirty="0"/>
          </a:p>
        </p:txBody>
      </p:sp>
      <p:grpSp>
        <p:nvGrpSpPr>
          <p:cNvPr id="257028" name="Group 4"/>
          <p:cNvGrpSpPr>
            <a:grpSpLocks/>
          </p:cNvGrpSpPr>
          <p:nvPr/>
        </p:nvGrpSpPr>
        <p:grpSpPr bwMode="auto">
          <a:xfrm>
            <a:off x="6162675" y="2141538"/>
            <a:ext cx="2867025" cy="3559175"/>
            <a:chOff x="3152" y="1415"/>
            <a:chExt cx="1806" cy="2242"/>
          </a:xfrm>
        </p:grpSpPr>
        <p:sp>
          <p:nvSpPr>
            <p:cNvPr id="257029" name="Rectangle 5"/>
            <p:cNvSpPr>
              <a:spLocks noChangeArrowheads="1"/>
            </p:cNvSpPr>
            <p:nvPr/>
          </p:nvSpPr>
          <p:spPr bwMode="auto">
            <a:xfrm>
              <a:off x="4005" y="1960"/>
              <a:ext cx="862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Cache</a:t>
              </a:r>
              <a:br>
                <a:rPr lang="en-AU" b="0">
                  <a:latin typeface="Verdana" pitchFamily="34" charset="0"/>
                </a:rPr>
              </a:br>
              <a:r>
                <a:rPr lang="en-AU" b="0">
                  <a:latin typeface="Verdana" pitchFamily="34" charset="0"/>
                </a:rPr>
                <a:t>controller</a:t>
              </a:r>
            </a:p>
          </p:txBody>
        </p:sp>
        <p:sp>
          <p:nvSpPr>
            <p:cNvPr id="257030" name="Rectangle 6"/>
            <p:cNvSpPr>
              <a:spLocks noChangeArrowheads="1"/>
            </p:cNvSpPr>
            <p:nvPr/>
          </p:nvSpPr>
          <p:spPr bwMode="auto">
            <a:xfrm>
              <a:off x="4005" y="2558"/>
              <a:ext cx="862" cy="3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Tag RAM</a:t>
              </a:r>
            </a:p>
          </p:txBody>
        </p:sp>
        <p:sp>
          <p:nvSpPr>
            <p:cNvPr id="257031" name="Rectangle 7"/>
            <p:cNvSpPr>
              <a:spLocks noChangeArrowheads="1"/>
            </p:cNvSpPr>
            <p:nvPr/>
          </p:nvSpPr>
          <p:spPr bwMode="auto">
            <a:xfrm>
              <a:off x="4005" y="1481"/>
              <a:ext cx="862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SRAM</a:t>
              </a:r>
            </a:p>
          </p:txBody>
        </p:sp>
        <p:sp>
          <p:nvSpPr>
            <p:cNvPr id="257032" name="AutoShape 8"/>
            <p:cNvSpPr>
              <a:spLocks noChangeArrowheads="1"/>
            </p:cNvSpPr>
            <p:nvPr/>
          </p:nvSpPr>
          <p:spPr bwMode="auto">
            <a:xfrm>
              <a:off x="4382" y="1814"/>
              <a:ext cx="120" cy="136"/>
            </a:xfrm>
            <a:prstGeom prst="upDownArrow">
              <a:avLst>
                <a:gd name="adj1" fmla="val 50000"/>
                <a:gd name="adj2" fmla="val 22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7033" name="AutoShape 9"/>
            <p:cNvSpPr>
              <a:spLocks noChangeArrowheads="1"/>
            </p:cNvSpPr>
            <p:nvPr/>
          </p:nvSpPr>
          <p:spPr bwMode="auto">
            <a:xfrm>
              <a:off x="4382" y="2419"/>
              <a:ext cx="120" cy="136"/>
            </a:xfrm>
            <a:prstGeom prst="upDownArrow">
              <a:avLst>
                <a:gd name="adj1" fmla="val 50000"/>
                <a:gd name="adj2" fmla="val 22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7034" name="Rectangle 10"/>
            <p:cNvSpPr>
              <a:spLocks noChangeArrowheads="1"/>
            </p:cNvSpPr>
            <p:nvPr/>
          </p:nvSpPr>
          <p:spPr bwMode="auto">
            <a:xfrm>
              <a:off x="3914" y="1415"/>
              <a:ext cx="1044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7035" name="Rectangle 11"/>
            <p:cNvSpPr>
              <a:spLocks noChangeArrowheads="1"/>
            </p:cNvSpPr>
            <p:nvPr/>
          </p:nvSpPr>
          <p:spPr bwMode="auto">
            <a:xfrm>
              <a:off x="3923" y="3067"/>
              <a:ext cx="1027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Main</a:t>
              </a:r>
              <a:br>
                <a:rPr lang="en-AU" b="0">
                  <a:latin typeface="Verdana" pitchFamily="34" charset="0"/>
                </a:rPr>
              </a:br>
              <a:r>
                <a:rPr lang="en-AU" b="0">
                  <a:latin typeface="Verdana" pitchFamily="34" charset="0"/>
                </a:rPr>
                <a:t>Memory</a:t>
              </a:r>
            </a:p>
          </p:txBody>
        </p:sp>
        <p:sp>
          <p:nvSpPr>
            <p:cNvPr id="257036" name="Rectangle 12"/>
            <p:cNvSpPr>
              <a:spLocks noChangeArrowheads="1"/>
            </p:cNvSpPr>
            <p:nvPr/>
          </p:nvSpPr>
          <p:spPr bwMode="auto">
            <a:xfrm>
              <a:off x="3152" y="1500"/>
              <a:ext cx="635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CPU</a:t>
              </a:r>
            </a:p>
          </p:txBody>
        </p:sp>
        <p:sp>
          <p:nvSpPr>
            <p:cNvPr id="257037" name="AutoShape 13"/>
            <p:cNvSpPr>
              <a:spLocks noChangeArrowheads="1"/>
            </p:cNvSpPr>
            <p:nvPr/>
          </p:nvSpPr>
          <p:spPr bwMode="auto">
            <a:xfrm>
              <a:off x="3334" y="1842"/>
              <a:ext cx="305" cy="1815"/>
            </a:xfrm>
            <a:prstGeom prst="upDownArrow">
              <a:avLst>
                <a:gd name="adj1" fmla="val 50000"/>
                <a:gd name="adj2" fmla="val 11901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90000" tIns="46800" rIns="90000" bIns="46800" anchor="ctr"/>
            <a:lstStyle/>
            <a:p>
              <a:pPr algn="ctr" eaLnBrk="0" hangingPunct="0"/>
              <a:r>
                <a:rPr lang="en-US" sz="1400" b="0">
                  <a:latin typeface="Verdana" pitchFamily="34" charset="0"/>
                </a:rPr>
                <a:t>System bus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57038" name="AutoShape 14"/>
            <p:cNvSpPr>
              <a:spLocks noChangeArrowheads="1"/>
            </p:cNvSpPr>
            <p:nvPr/>
          </p:nvSpPr>
          <p:spPr bwMode="auto">
            <a:xfrm>
              <a:off x="3560" y="3158"/>
              <a:ext cx="363" cy="181"/>
            </a:xfrm>
            <a:prstGeom prst="leftRightArrow">
              <a:avLst>
                <a:gd name="adj1" fmla="val 50000"/>
                <a:gd name="adj2" fmla="val 4011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7039" name="AutoShape 15"/>
            <p:cNvSpPr>
              <a:spLocks noChangeArrowheads="1"/>
            </p:cNvSpPr>
            <p:nvPr/>
          </p:nvSpPr>
          <p:spPr bwMode="auto">
            <a:xfrm>
              <a:off x="3560" y="2103"/>
              <a:ext cx="363" cy="181"/>
            </a:xfrm>
            <a:prstGeom prst="leftRightArrow">
              <a:avLst>
                <a:gd name="adj1" fmla="val 50000"/>
                <a:gd name="adj2" fmla="val 4011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</p:grpSp>
      <p:sp>
        <p:nvSpPr>
          <p:cNvPr id="257040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692150" y="1781175"/>
            <a:ext cx="4968875" cy="4349750"/>
          </a:xfrm>
          <a:noFill/>
          <a:ln/>
        </p:spPr>
        <p:txBody>
          <a:bodyPr/>
          <a:lstStyle/>
          <a:p>
            <a:r>
              <a:rPr lang="en-US" dirty="0"/>
              <a:t>Cache and main memory share the  system buses;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Simple design</a:t>
            </a:r>
          </a:p>
          <a:p>
            <a:pPr lvl="1"/>
            <a:r>
              <a:rPr lang="en-US" dirty="0"/>
              <a:t>Quick Miss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Slow hit</a:t>
            </a:r>
            <a:endParaRPr lang="en-A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Cache’s architecture – Look through</a:t>
            </a:r>
            <a:endParaRPr lang="en-AU" dirty="0"/>
          </a:p>
        </p:txBody>
      </p:sp>
      <p:sp>
        <p:nvSpPr>
          <p:cNvPr id="258063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692150" y="1781175"/>
            <a:ext cx="4641850" cy="4349750"/>
          </a:xfrm>
          <a:noFill/>
          <a:ln/>
        </p:spPr>
        <p:txBody>
          <a:bodyPr/>
          <a:lstStyle/>
          <a:p>
            <a:r>
              <a:rPr lang="en-US" dirty="0"/>
              <a:t>Cache is in between CPU and main memory;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Fast Hit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Complex design</a:t>
            </a:r>
          </a:p>
          <a:p>
            <a:pPr lvl="1"/>
            <a:r>
              <a:rPr lang="en-US" dirty="0"/>
              <a:t>Expensive</a:t>
            </a:r>
          </a:p>
          <a:p>
            <a:pPr lvl="1"/>
            <a:r>
              <a:rPr lang="en-US" dirty="0"/>
              <a:t>Slow Miss</a:t>
            </a:r>
            <a:endParaRPr lang="en-AU" dirty="0"/>
          </a:p>
        </p:txBody>
      </p:sp>
      <p:grpSp>
        <p:nvGrpSpPr>
          <p:cNvPr id="258065" name="Group 17"/>
          <p:cNvGrpSpPr>
            <a:grpSpLocks/>
          </p:cNvGrpSpPr>
          <p:nvPr/>
        </p:nvGrpSpPr>
        <p:grpSpPr bwMode="auto">
          <a:xfrm>
            <a:off x="5440363" y="1876425"/>
            <a:ext cx="3529012" cy="3068638"/>
            <a:chOff x="3061" y="1690"/>
            <a:chExt cx="2223" cy="1933"/>
          </a:xfrm>
        </p:grpSpPr>
        <p:sp>
          <p:nvSpPr>
            <p:cNvPr id="258066" name="Rectangle 18"/>
            <p:cNvSpPr>
              <a:spLocks noChangeArrowheads="1"/>
            </p:cNvSpPr>
            <p:nvPr/>
          </p:nvSpPr>
          <p:spPr bwMode="auto">
            <a:xfrm>
              <a:off x="4723" y="2387"/>
              <a:ext cx="481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Tag </a:t>
              </a:r>
              <a:br>
                <a:rPr lang="en-AU" b="0">
                  <a:latin typeface="Verdana" pitchFamily="34" charset="0"/>
                </a:rPr>
              </a:br>
              <a:r>
                <a:rPr lang="en-AU" b="0">
                  <a:latin typeface="Verdana" pitchFamily="34" charset="0"/>
                </a:rPr>
                <a:t>RAM</a:t>
              </a:r>
            </a:p>
          </p:txBody>
        </p:sp>
        <p:sp>
          <p:nvSpPr>
            <p:cNvPr id="258067" name="Rectangle 19"/>
            <p:cNvSpPr>
              <a:spLocks noChangeArrowheads="1"/>
            </p:cNvSpPr>
            <p:nvPr/>
          </p:nvSpPr>
          <p:spPr bwMode="auto">
            <a:xfrm>
              <a:off x="3061" y="2251"/>
              <a:ext cx="2223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8068" name="Rectangle 20"/>
            <p:cNvSpPr>
              <a:spLocks noChangeArrowheads="1"/>
            </p:cNvSpPr>
            <p:nvPr/>
          </p:nvSpPr>
          <p:spPr bwMode="auto">
            <a:xfrm>
              <a:off x="3694" y="3170"/>
              <a:ext cx="1027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Main</a:t>
              </a:r>
              <a:br>
                <a:rPr lang="en-AU" b="0">
                  <a:latin typeface="Verdana" pitchFamily="34" charset="0"/>
                </a:rPr>
              </a:br>
              <a:r>
                <a:rPr lang="en-AU" b="0">
                  <a:latin typeface="Verdana" pitchFamily="34" charset="0"/>
                </a:rPr>
                <a:t>Memory</a:t>
              </a:r>
            </a:p>
          </p:txBody>
        </p:sp>
        <p:sp>
          <p:nvSpPr>
            <p:cNvPr id="258069" name="Rectangle 21"/>
            <p:cNvSpPr>
              <a:spLocks noChangeArrowheads="1"/>
            </p:cNvSpPr>
            <p:nvPr/>
          </p:nvSpPr>
          <p:spPr bwMode="auto">
            <a:xfrm>
              <a:off x="3860" y="1690"/>
              <a:ext cx="635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CPU</a:t>
              </a:r>
            </a:p>
          </p:txBody>
        </p:sp>
        <p:sp>
          <p:nvSpPr>
            <p:cNvPr id="258070" name="Rectangle 22"/>
            <p:cNvSpPr>
              <a:spLocks noChangeArrowheads="1"/>
            </p:cNvSpPr>
            <p:nvPr/>
          </p:nvSpPr>
          <p:spPr bwMode="auto">
            <a:xfrm>
              <a:off x="3789" y="2387"/>
              <a:ext cx="780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Cache</a:t>
              </a:r>
              <a:br>
                <a:rPr lang="en-AU" b="0">
                  <a:latin typeface="Verdana" pitchFamily="34" charset="0"/>
                </a:rPr>
              </a:br>
              <a:r>
                <a:rPr lang="en-AU" b="0">
                  <a:latin typeface="Verdana" pitchFamily="34" charset="0"/>
                </a:rPr>
                <a:t>controller</a:t>
              </a:r>
            </a:p>
          </p:txBody>
        </p:sp>
        <p:sp>
          <p:nvSpPr>
            <p:cNvPr id="258071" name="Rectangle 23"/>
            <p:cNvSpPr>
              <a:spLocks noChangeArrowheads="1"/>
            </p:cNvSpPr>
            <p:nvPr/>
          </p:nvSpPr>
          <p:spPr bwMode="auto">
            <a:xfrm>
              <a:off x="3145" y="2387"/>
              <a:ext cx="481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r>
                <a:rPr lang="en-AU" b="0">
                  <a:latin typeface="Verdana" pitchFamily="34" charset="0"/>
                </a:rPr>
                <a:t>SRAM</a:t>
              </a:r>
            </a:p>
          </p:txBody>
        </p:sp>
        <p:sp>
          <p:nvSpPr>
            <p:cNvPr id="258072" name="AutoShape 24"/>
            <p:cNvSpPr>
              <a:spLocks noChangeArrowheads="1"/>
            </p:cNvSpPr>
            <p:nvPr/>
          </p:nvSpPr>
          <p:spPr bwMode="auto">
            <a:xfrm>
              <a:off x="3637" y="2523"/>
              <a:ext cx="137" cy="181"/>
            </a:xfrm>
            <a:prstGeom prst="leftRightArrow">
              <a:avLst>
                <a:gd name="adj1" fmla="val 50000"/>
                <a:gd name="adj2" fmla="val 2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8073" name="AutoShape 25"/>
            <p:cNvSpPr>
              <a:spLocks noChangeArrowheads="1"/>
            </p:cNvSpPr>
            <p:nvPr/>
          </p:nvSpPr>
          <p:spPr bwMode="auto">
            <a:xfrm>
              <a:off x="4579" y="2523"/>
              <a:ext cx="137" cy="181"/>
            </a:xfrm>
            <a:prstGeom prst="leftRightArrow">
              <a:avLst>
                <a:gd name="adj1" fmla="val 50000"/>
                <a:gd name="adj2" fmla="val 2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8074" name="AutoShape 26"/>
            <p:cNvSpPr>
              <a:spLocks noChangeArrowheads="1"/>
            </p:cNvSpPr>
            <p:nvPr/>
          </p:nvSpPr>
          <p:spPr bwMode="auto">
            <a:xfrm>
              <a:off x="4114" y="2027"/>
              <a:ext cx="172" cy="210"/>
            </a:xfrm>
            <a:prstGeom prst="upDownArrow">
              <a:avLst>
                <a:gd name="adj1" fmla="val 50000"/>
                <a:gd name="adj2" fmla="val 2441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58075" name="AutoShape 27"/>
            <p:cNvSpPr>
              <a:spLocks noChangeArrowheads="1"/>
            </p:cNvSpPr>
            <p:nvPr/>
          </p:nvSpPr>
          <p:spPr bwMode="auto">
            <a:xfrm>
              <a:off x="4114" y="2947"/>
              <a:ext cx="172" cy="210"/>
            </a:xfrm>
            <a:prstGeom prst="upDownArrow">
              <a:avLst>
                <a:gd name="adj1" fmla="val 50000"/>
                <a:gd name="adj2" fmla="val 2441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organization</a:t>
            </a:r>
            <a:endParaRPr lang="en-AU" dirty="0"/>
          </a:p>
        </p:txBody>
      </p:sp>
      <p:sp>
        <p:nvSpPr>
          <p:cNvPr id="2590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436688"/>
            <a:ext cx="8229600" cy="82073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How cache and main memory can communicate?</a:t>
            </a:r>
            <a:endParaRPr lang="en-AU" dirty="0"/>
          </a:p>
        </p:txBody>
      </p:sp>
      <p:pic>
        <p:nvPicPr>
          <p:cNvPr id="259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384425"/>
            <a:ext cx="7029450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organization</a:t>
            </a:r>
            <a:endParaRPr lang="en-AU" dirty="0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8070850" cy="4678363"/>
          </a:xfrm>
        </p:spPr>
        <p:txBody>
          <a:bodyPr/>
          <a:lstStyle/>
          <a:p>
            <a:r>
              <a:rPr lang="en-US" dirty="0"/>
              <a:t>Direct mapping</a:t>
            </a:r>
          </a:p>
          <a:p>
            <a:pPr lvl="1"/>
            <a:r>
              <a:rPr lang="en-US" dirty="0"/>
              <a:t>Fast and simple</a:t>
            </a:r>
          </a:p>
          <a:p>
            <a:pPr lvl="1"/>
            <a:r>
              <a:rPr lang="en-US" dirty="0"/>
              <a:t>“Hard” mapping, more conflicted</a:t>
            </a:r>
          </a:p>
          <a:p>
            <a:pPr lvl="1"/>
            <a:endParaRPr lang="en-US" dirty="0"/>
          </a:p>
          <a:p>
            <a:r>
              <a:rPr lang="en-US" dirty="0"/>
              <a:t>Fully associative mapping</a:t>
            </a:r>
          </a:p>
          <a:p>
            <a:pPr lvl="1"/>
            <a:r>
              <a:rPr lang="en-US" dirty="0"/>
              <a:t>Slow and complex</a:t>
            </a:r>
          </a:p>
          <a:p>
            <a:pPr lvl="1"/>
            <a:r>
              <a:rPr lang="en-US" dirty="0"/>
              <a:t>“Soft” mapping,  less conflicted</a:t>
            </a:r>
          </a:p>
          <a:p>
            <a:pPr lvl="1"/>
            <a:endParaRPr lang="en-US" dirty="0"/>
          </a:p>
          <a:p>
            <a:r>
              <a:rPr lang="en-US" dirty="0"/>
              <a:t>Set associative mapping</a:t>
            </a:r>
          </a:p>
          <a:p>
            <a:pPr lvl="1"/>
            <a:r>
              <a:rPr lang="en-US" dirty="0"/>
              <a:t>Fast and complex</a:t>
            </a:r>
          </a:p>
          <a:p>
            <a:pPr lvl="1"/>
            <a:r>
              <a:rPr lang="en-US" dirty="0"/>
              <a:t>“Soft” mapping,  less conflicted</a:t>
            </a:r>
          </a:p>
          <a:p>
            <a:pPr lvl="1"/>
            <a:endParaRPr lang="en-A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Direct mapping</a:t>
            </a:r>
          </a:p>
        </p:txBody>
      </p:sp>
      <p:grpSp>
        <p:nvGrpSpPr>
          <p:cNvPr id="261124" name="Group 4"/>
          <p:cNvGrpSpPr>
            <a:grpSpLocks/>
          </p:cNvGrpSpPr>
          <p:nvPr/>
        </p:nvGrpSpPr>
        <p:grpSpPr bwMode="auto">
          <a:xfrm>
            <a:off x="1619250" y="1628775"/>
            <a:ext cx="6265863" cy="4327525"/>
            <a:chOff x="1297" y="1071"/>
            <a:chExt cx="3947" cy="2726"/>
          </a:xfrm>
        </p:grpSpPr>
        <p:sp>
          <p:nvSpPr>
            <p:cNvPr id="261125" name="Rectangle 5"/>
            <p:cNvSpPr>
              <a:spLocks noChangeArrowheads="1"/>
            </p:cNvSpPr>
            <p:nvPr/>
          </p:nvSpPr>
          <p:spPr bwMode="auto">
            <a:xfrm>
              <a:off x="2699" y="1298"/>
              <a:ext cx="1043" cy="13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sp>
          <p:nvSpPr>
            <p:cNvPr id="261126" name="Rectangle 6"/>
            <p:cNvSpPr>
              <a:spLocks noChangeArrowheads="1"/>
            </p:cNvSpPr>
            <p:nvPr/>
          </p:nvSpPr>
          <p:spPr bwMode="auto">
            <a:xfrm>
              <a:off x="2265" y="1560"/>
              <a:ext cx="1043" cy="13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sp>
          <p:nvSpPr>
            <p:cNvPr id="261127" name="Rectangle 7"/>
            <p:cNvSpPr>
              <a:spLocks noChangeArrowheads="1"/>
            </p:cNvSpPr>
            <p:nvPr/>
          </p:nvSpPr>
          <p:spPr bwMode="auto">
            <a:xfrm>
              <a:off x="1823" y="1860"/>
              <a:ext cx="1043" cy="13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grpSp>
          <p:nvGrpSpPr>
            <p:cNvPr id="261128" name="Group 8"/>
            <p:cNvGrpSpPr>
              <a:grpSpLocks/>
            </p:cNvGrpSpPr>
            <p:nvPr/>
          </p:nvGrpSpPr>
          <p:grpSpPr bwMode="auto">
            <a:xfrm>
              <a:off x="4189" y="1979"/>
              <a:ext cx="1055" cy="1361"/>
              <a:chOff x="4189" y="1979"/>
              <a:chExt cx="1055" cy="1361"/>
            </a:xfrm>
          </p:grpSpPr>
          <p:grpSp>
            <p:nvGrpSpPr>
              <p:cNvPr id="261129" name="Group 9"/>
              <p:cNvGrpSpPr>
                <a:grpSpLocks/>
              </p:cNvGrpSpPr>
              <p:nvPr/>
            </p:nvGrpSpPr>
            <p:grpSpPr bwMode="auto">
              <a:xfrm>
                <a:off x="4189" y="1979"/>
                <a:ext cx="1055" cy="1361"/>
                <a:chOff x="4189" y="1979"/>
                <a:chExt cx="1055" cy="1361"/>
              </a:xfrm>
            </p:grpSpPr>
            <p:sp>
              <p:nvSpPr>
                <p:cNvPr id="261130" name="Rectangle 10"/>
                <p:cNvSpPr>
                  <a:spLocks noChangeArrowheads="1"/>
                </p:cNvSpPr>
                <p:nvPr/>
              </p:nvSpPr>
              <p:spPr bwMode="auto">
                <a:xfrm>
                  <a:off x="4195" y="1979"/>
                  <a:ext cx="1043" cy="136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 eaLnBrk="0" hangingPunct="0"/>
                  <a:endParaRPr lang="en-AU" b="0">
                    <a:latin typeface="Verdana" pitchFamily="34" charset="0"/>
                  </a:endParaRPr>
                </a:p>
              </p:txBody>
            </p:sp>
            <p:sp>
              <p:nvSpPr>
                <p:cNvPr id="261131" name="Line 11"/>
                <p:cNvSpPr>
                  <a:spLocks noChangeShapeType="1"/>
                </p:cNvSpPr>
                <p:nvPr/>
              </p:nvSpPr>
              <p:spPr bwMode="auto">
                <a:xfrm>
                  <a:off x="4189" y="2192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61132" name="Line 12"/>
                <p:cNvSpPr>
                  <a:spLocks noChangeShapeType="1"/>
                </p:cNvSpPr>
                <p:nvPr/>
              </p:nvSpPr>
              <p:spPr bwMode="auto">
                <a:xfrm>
                  <a:off x="4189" y="3150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61133" name="Line 13"/>
                <p:cNvSpPr>
                  <a:spLocks noChangeShapeType="1"/>
                </p:cNvSpPr>
                <p:nvPr/>
              </p:nvSpPr>
              <p:spPr bwMode="auto">
                <a:xfrm>
                  <a:off x="4189" y="2933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</p:grpSp>
          <p:sp>
            <p:nvSpPr>
              <p:cNvPr id="261134" name="Text Box 14"/>
              <p:cNvSpPr txBox="1">
                <a:spLocks noChangeArrowheads="1"/>
              </p:cNvSpPr>
              <p:nvPr/>
            </p:nvSpPr>
            <p:spPr bwMode="auto">
              <a:xfrm>
                <a:off x="4372" y="198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n-1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61135" name="Text Box 15"/>
              <p:cNvSpPr txBox="1">
                <a:spLocks noChangeArrowheads="1"/>
              </p:cNvSpPr>
              <p:nvPr/>
            </p:nvSpPr>
            <p:spPr bwMode="auto">
              <a:xfrm>
                <a:off x="4372" y="2944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61136" name="Text Box 16"/>
              <p:cNvSpPr txBox="1">
                <a:spLocks noChangeArrowheads="1"/>
              </p:cNvSpPr>
              <p:nvPr/>
            </p:nvSpPr>
            <p:spPr bwMode="auto">
              <a:xfrm>
                <a:off x="4372" y="314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0</a:t>
                </a:r>
                <a:endParaRPr lang="en-AU" sz="1400" b="0">
                  <a:latin typeface="Verdana" pitchFamily="34" charset="0"/>
                </a:endParaRPr>
              </a:p>
            </p:txBody>
          </p:sp>
        </p:grpSp>
        <p:sp>
          <p:nvSpPr>
            <p:cNvPr id="261137" name="Text Box 17"/>
            <p:cNvSpPr txBox="1">
              <a:spLocks noChangeArrowheads="1"/>
            </p:cNvSpPr>
            <p:nvPr/>
          </p:nvSpPr>
          <p:spPr bwMode="auto">
            <a:xfrm>
              <a:off x="4377" y="3521"/>
              <a:ext cx="5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Cache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61138" name="Text Box 18"/>
            <p:cNvSpPr txBox="1">
              <a:spLocks noChangeArrowheads="1"/>
            </p:cNvSpPr>
            <p:nvPr/>
          </p:nvSpPr>
          <p:spPr bwMode="auto">
            <a:xfrm>
              <a:off x="2109" y="3566"/>
              <a:ext cx="7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Memory</a:t>
              </a:r>
              <a:endParaRPr lang="en-AU" b="0">
                <a:latin typeface="Verdana" pitchFamily="34" charset="0"/>
              </a:endParaRPr>
            </a:p>
          </p:txBody>
        </p:sp>
        <p:grpSp>
          <p:nvGrpSpPr>
            <p:cNvPr id="261139" name="Group 19"/>
            <p:cNvGrpSpPr>
              <a:grpSpLocks/>
            </p:cNvGrpSpPr>
            <p:nvPr/>
          </p:nvGrpSpPr>
          <p:grpSpPr bwMode="auto">
            <a:xfrm>
              <a:off x="1338" y="2069"/>
              <a:ext cx="1055" cy="1361"/>
              <a:chOff x="4189" y="1979"/>
              <a:chExt cx="1055" cy="1361"/>
            </a:xfrm>
          </p:grpSpPr>
          <p:grpSp>
            <p:nvGrpSpPr>
              <p:cNvPr id="261140" name="Group 20"/>
              <p:cNvGrpSpPr>
                <a:grpSpLocks/>
              </p:cNvGrpSpPr>
              <p:nvPr/>
            </p:nvGrpSpPr>
            <p:grpSpPr bwMode="auto">
              <a:xfrm>
                <a:off x="4189" y="1979"/>
                <a:ext cx="1055" cy="1361"/>
                <a:chOff x="4189" y="1979"/>
                <a:chExt cx="1055" cy="1361"/>
              </a:xfrm>
            </p:grpSpPr>
            <p:sp>
              <p:nvSpPr>
                <p:cNvPr id="261141" name="Rectangle 21"/>
                <p:cNvSpPr>
                  <a:spLocks noChangeArrowheads="1"/>
                </p:cNvSpPr>
                <p:nvPr/>
              </p:nvSpPr>
              <p:spPr bwMode="auto">
                <a:xfrm>
                  <a:off x="4195" y="1979"/>
                  <a:ext cx="1043" cy="136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 eaLnBrk="0" hangingPunct="0"/>
                  <a:endParaRPr lang="en-AU" b="0">
                    <a:latin typeface="Verdana" pitchFamily="34" charset="0"/>
                  </a:endParaRPr>
                </a:p>
              </p:txBody>
            </p:sp>
            <p:sp>
              <p:nvSpPr>
                <p:cNvPr id="261142" name="Line 22"/>
                <p:cNvSpPr>
                  <a:spLocks noChangeShapeType="1"/>
                </p:cNvSpPr>
                <p:nvPr/>
              </p:nvSpPr>
              <p:spPr bwMode="auto">
                <a:xfrm>
                  <a:off x="4189" y="2192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61143" name="Line 23"/>
                <p:cNvSpPr>
                  <a:spLocks noChangeShapeType="1"/>
                </p:cNvSpPr>
                <p:nvPr/>
              </p:nvSpPr>
              <p:spPr bwMode="auto">
                <a:xfrm>
                  <a:off x="4189" y="3150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61144" name="Line 24"/>
                <p:cNvSpPr>
                  <a:spLocks noChangeShapeType="1"/>
                </p:cNvSpPr>
                <p:nvPr/>
              </p:nvSpPr>
              <p:spPr bwMode="auto">
                <a:xfrm>
                  <a:off x="4189" y="2933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</p:grpSp>
          <p:sp>
            <p:nvSpPr>
              <p:cNvPr id="261145" name="Text Box 25"/>
              <p:cNvSpPr txBox="1">
                <a:spLocks noChangeArrowheads="1"/>
              </p:cNvSpPr>
              <p:nvPr/>
            </p:nvSpPr>
            <p:spPr bwMode="auto">
              <a:xfrm>
                <a:off x="4372" y="198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n-1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61146" name="Text Box 26"/>
              <p:cNvSpPr txBox="1">
                <a:spLocks noChangeArrowheads="1"/>
              </p:cNvSpPr>
              <p:nvPr/>
            </p:nvSpPr>
            <p:spPr bwMode="auto">
              <a:xfrm>
                <a:off x="4372" y="2944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61147" name="Text Box 27"/>
              <p:cNvSpPr txBox="1">
                <a:spLocks noChangeArrowheads="1"/>
              </p:cNvSpPr>
              <p:nvPr/>
            </p:nvSpPr>
            <p:spPr bwMode="auto">
              <a:xfrm>
                <a:off x="4372" y="314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0</a:t>
                </a:r>
                <a:endParaRPr lang="en-AU" sz="1400" b="0">
                  <a:latin typeface="Verdana" pitchFamily="34" charset="0"/>
                </a:endParaRPr>
              </a:p>
            </p:txBody>
          </p:sp>
        </p:grpSp>
        <p:sp>
          <p:nvSpPr>
            <p:cNvPr id="261148" name="Text Box 28"/>
            <p:cNvSpPr txBox="1">
              <a:spLocks noChangeArrowheads="1"/>
            </p:cNvSpPr>
            <p:nvPr/>
          </p:nvSpPr>
          <p:spPr bwMode="auto">
            <a:xfrm>
              <a:off x="1297" y="1868"/>
              <a:ext cx="49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Page 0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61149" name="Text Box 29"/>
            <p:cNvSpPr txBox="1">
              <a:spLocks noChangeArrowheads="1"/>
            </p:cNvSpPr>
            <p:nvPr/>
          </p:nvSpPr>
          <p:spPr bwMode="auto">
            <a:xfrm>
              <a:off x="1791" y="1661"/>
              <a:ext cx="49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Page 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61150" name="Text Box 30"/>
            <p:cNvSpPr txBox="1">
              <a:spLocks noChangeArrowheads="1"/>
            </p:cNvSpPr>
            <p:nvPr/>
          </p:nvSpPr>
          <p:spPr bwMode="auto">
            <a:xfrm>
              <a:off x="2699" y="1071"/>
              <a:ext cx="68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Page m-1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61151" name="Line 31"/>
            <p:cNvSpPr>
              <a:spLocks noChangeShapeType="1"/>
            </p:cNvSpPr>
            <p:nvPr/>
          </p:nvSpPr>
          <p:spPr bwMode="auto">
            <a:xfrm flipV="1">
              <a:off x="2356" y="3254"/>
              <a:ext cx="187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1152" name="Line 32"/>
            <p:cNvSpPr>
              <a:spLocks noChangeShapeType="1"/>
            </p:cNvSpPr>
            <p:nvPr/>
          </p:nvSpPr>
          <p:spPr bwMode="auto">
            <a:xfrm flipV="1">
              <a:off x="2341" y="3037"/>
              <a:ext cx="1923" cy="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1153" name="Line 33"/>
            <p:cNvSpPr>
              <a:spLocks noChangeShapeType="1"/>
            </p:cNvSpPr>
            <p:nvPr/>
          </p:nvSpPr>
          <p:spPr bwMode="auto">
            <a:xfrm flipV="1">
              <a:off x="2290" y="2069"/>
              <a:ext cx="199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1154" name="Line 34"/>
            <p:cNvSpPr>
              <a:spLocks noChangeShapeType="1"/>
            </p:cNvSpPr>
            <p:nvPr/>
          </p:nvSpPr>
          <p:spPr bwMode="auto">
            <a:xfrm>
              <a:off x="3696" y="1344"/>
              <a:ext cx="636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1155" name="Line 35"/>
            <p:cNvSpPr>
              <a:spLocks noChangeShapeType="1"/>
            </p:cNvSpPr>
            <p:nvPr/>
          </p:nvSpPr>
          <p:spPr bwMode="auto">
            <a:xfrm>
              <a:off x="3243" y="1616"/>
              <a:ext cx="1043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1156" name="Line 36"/>
            <p:cNvSpPr>
              <a:spLocks noChangeShapeType="1"/>
            </p:cNvSpPr>
            <p:nvPr/>
          </p:nvSpPr>
          <p:spPr bwMode="auto">
            <a:xfrm>
              <a:off x="3696" y="2568"/>
              <a:ext cx="499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1157" name="Line 37"/>
            <p:cNvSpPr>
              <a:spLocks noChangeShapeType="1"/>
            </p:cNvSpPr>
            <p:nvPr/>
          </p:nvSpPr>
          <p:spPr bwMode="auto">
            <a:xfrm>
              <a:off x="3288" y="2886"/>
              <a:ext cx="953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Direct mapping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Cache:</a:t>
            </a:r>
          </a:p>
          <a:p>
            <a:pPr lvl="1"/>
            <a:r>
              <a:rPr lang="en-US" dirty="0"/>
              <a:t>Partitioned into </a:t>
            </a:r>
            <a:r>
              <a:rPr lang="en-US" i="1" dirty="0"/>
              <a:t>n</a:t>
            </a:r>
            <a:r>
              <a:rPr lang="en-US" dirty="0"/>
              <a:t> blocks or lines Line</a:t>
            </a:r>
            <a:r>
              <a:rPr lang="en-US" baseline="-25000" dirty="0"/>
              <a:t>0</a:t>
            </a:r>
            <a:r>
              <a:rPr lang="en-US" dirty="0"/>
              <a:t> to Line</a:t>
            </a:r>
            <a:r>
              <a:rPr lang="en-US" baseline="-25000" dirty="0"/>
              <a:t>n-1</a:t>
            </a:r>
          </a:p>
          <a:p>
            <a:r>
              <a:rPr lang="en-US" dirty="0"/>
              <a:t>Memory:</a:t>
            </a:r>
          </a:p>
          <a:p>
            <a:pPr lvl="1"/>
            <a:r>
              <a:rPr lang="en-US" i="1" dirty="0"/>
              <a:t>Partitioned into m</a:t>
            </a:r>
            <a:r>
              <a:rPr lang="en-US" dirty="0"/>
              <a:t> pages, page</a:t>
            </a:r>
            <a:r>
              <a:rPr lang="en-US" baseline="-25000" dirty="0"/>
              <a:t>0</a:t>
            </a:r>
            <a:r>
              <a:rPr lang="en-US" dirty="0"/>
              <a:t> to page</a:t>
            </a:r>
            <a:r>
              <a:rPr lang="en-US" baseline="-25000" dirty="0"/>
              <a:t>m-1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page sizes equally to cache (each page has n lines)</a:t>
            </a:r>
          </a:p>
          <a:p>
            <a:pPr lvl="1"/>
            <a:endParaRPr lang="en-US" baseline="-25000" dirty="0"/>
          </a:p>
          <a:p>
            <a:r>
              <a:rPr lang="en-US" dirty="0"/>
              <a:t>Mapping:</a:t>
            </a:r>
          </a:p>
          <a:p>
            <a:pPr lvl="1"/>
            <a:r>
              <a:rPr lang="en-US" dirty="0"/>
              <a:t>Line</a:t>
            </a:r>
            <a:r>
              <a:rPr lang="en-US" baseline="-25000" dirty="0"/>
              <a:t>0</a:t>
            </a:r>
            <a:r>
              <a:rPr lang="en-US" dirty="0"/>
              <a:t> of {page</a:t>
            </a:r>
            <a:r>
              <a:rPr lang="en-US" baseline="-25000" dirty="0"/>
              <a:t>0</a:t>
            </a:r>
            <a:r>
              <a:rPr lang="en-US" dirty="0"/>
              <a:t> …page</a:t>
            </a:r>
            <a:r>
              <a:rPr lang="en-US" baseline="-25000" dirty="0"/>
              <a:t>m-1</a:t>
            </a:r>
            <a:r>
              <a:rPr lang="en-US" dirty="0"/>
              <a:t>}  is mapped to cache’s line</a:t>
            </a:r>
            <a:r>
              <a:rPr lang="en-US" baseline="-25000" dirty="0"/>
              <a:t>0</a:t>
            </a:r>
            <a:endParaRPr lang="en-US" dirty="0"/>
          </a:p>
          <a:p>
            <a:pPr lvl="1"/>
            <a:r>
              <a:rPr lang="en-US" dirty="0"/>
              <a:t>Line</a:t>
            </a:r>
            <a:r>
              <a:rPr lang="en-US" baseline="-25000" dirty="0"/>
              <a:t>1</a:t>
            </a:r>
            <a:r>
              <a:rPr lang="en-US" dirty="0"/>
              <a:t> of {page</a:t>
            </a:r>
            <a:r>
              <a:rPr lang="en-US" baseline="-25000" dirty="0"/>
              <a:t>0</a:t>
            </a:r>
            <a:r>
              <a:rPr lang="en-US" dirty="0"/>
              <a:t> …page</a:t>
            </a:r>
            <a:r>
              <a:rPr lang="en-US" baseline="-25000" dirty="0"/>
              <a:t>m-1</a:t>
            </a:r>
            <a:r>
              <a:rPr lang="en-US" dirty="0"/>
              <a:t> } is mapped  to cache’s line</a:t>
            </a:r>
            <a:r>
              <a:rPr lang="en-US" baseline="-25000" dirty="0"/>
              <a:t>1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....</a:t>
            </a:r>
          </a:p>
          <a:p>
            <a:pPr lvl="1"/>
            <a:r>
              <a:rPr lang="en-US" dirty="0"/>
              <a:t>Line</a:t>
            </a:r>
            <a:r>
              <a:rPr lang="en-US" baseline="-25000" dirty="0"/>
              <a:t>n-1</a:t>
            </a:r>
            <a:r>
              <a:rPr lang="en-US" dirty="0"/>
              <a:t> of {page</a:t>
            </a:r>
            <a:r>
              <a:rPr lang="en-US" baseline="-25000" dirty="0"/>
              <a:t>0</a:t>
            </a:r>
            <a:r>
              <a:rPr lang="en-US" dirty="0"/>
              <a:t> …page</a:t>
            </a:r>
            <a:r>
              <a:rPr lang="en-US" baseline="-25000" dirty="0"/>
              <a:t>m-1}</a:t>
            </a:r>
            <a:r>
              <a:rPr lang="en-US" dirty="0"/>
              <a:t> is mapped to cache’s Line</a:t>
            </a:r>
            <a:r>
              <a:rPr lang="en-US" baseline="-25000" dirty="0"/>
              <a:t>n-1</a:t>
            </a:r>
            <a:r>
              <a:rPr lang="en-US" dirty="0"/>
              <a:t>;</a:t>
            </a:r>
            <a:endParaRPr lang="en-A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Direct mapping</a:t>
            </a:r>
          </a:p>
        </p:txBody>
      </p:sp>
      <p:sp>
        <p:nvSpPr>
          <p:cNvPr id="2662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  <a:ln/>
        </p:spPr>
        <p:txBody>
          <a:bodyPr/>
          <a:lstStyle/>
          <a:p>
            <a:r>
              <a:rPr lang="en-AU" dirty="0"/>
              <a:t>Advantages:</a:t>
            </a:r>
          </a:p>
          <a:p>
            <a:pPr lvl="1"/>
            <a:r>
              <a:rPr lang="en-AU" dirty="0"/>
              <a:t>Simple design</a:t>
            </a:r>
          </a:p>
          <a:p>
            <a:pPr lvl="1"/>
            <a:r>
              <a:rPr lang="en-AU" dirty="0"/>
              <a:t>Fast.</a:t>
            </a:r>
          </a:p>
          <a:p>
            <a:r>
              <a:rPr lang="en-AU" dirty="0"/>
              <a:t>Disadvantages:</a:t>
            </a:r>
          </a:p>
          <a:p>
            <a:pPr lvl="1"/>
            <a:r>
              <a:rPr lang="en-AU" dirty="0"/>
              <a:t>Highly conflicted</a:t>
            </a:r>
          </a:p>
          <a:p>
            <a:pPr lvl="1"/>
            <a:r>
              <a:rPr lang="en-AU" dirty="0"/>
              <a:t>Low hit rate.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mapping</a:t>
            </a:r>
            <a:endParaRPr lang="en-AU" dirty="0"/>
          </a:p>
        </p:txBody>
      </p:sp>
      <p:grpSp>
        <p:nvGrpSpPr>
          <p:cNvPr id="269316" name="Group 4"/>
          <p:cNvGrpSpPr>
            <a:grpSpLocks/>
          </p:cNvGrpSpPr>
          <p:nvPr/>
        </p:nvGrpSpPr>
        <p:grpSpPr bwMode="auto">
          <a:xfrm>
            <a:off x="1979613" y="1700213"/>
            <a:ext cx="5562600" cy="4400550"/>
            <a:chOff x="1247" y="1071"/>
            <a:chExt cx="3504" cy="2772"/>
          </a:xfrm>
        </p:grpSpPr>
        <p:grpSp>
          <p:nvGrpSpPr>
            <p:cNvPr id="269317" name="Group 5"/>
            <p:cNvGrpSpPr>
              <a:grpSpLocks/>
            </p:cNvGrpSpPr>
            <p:nvPr/>
          </p:nvGrpSpPr>
          <p:grpSpPr bwMode="auto">
            <a:xfrm>
              <a:off x="3696" y="1570"/>
              <a:ext cx="1055" cy="1361"/>
              <a:chOff x="4189" y="1979"/>
              <a:chExt cx="1055" cy="1361"/>
            </a:xfrm>
          </p:grpSpPr>
          <p:grpSp>
            <p:nvGrpSpPr>
              <p:cNvPr id="269318" name="Group 6"/>
              <p:cNvGrpSpPr>
                <a:grpSpLocks/>
              </p:cNvGrpSpPr>
              <p:nvPr/>
            </p:nvGrpSpPr>
            <p:grpSpPr bwMode="auto">
              <a:xfrm>
                <a:off x="4189" y="1979"/>
                <a:ext cx="1055" cy="1361"/>
                <a:chOff x="4189" y="1979"/>
                <a:chExt cx="1055" cy="1361"/>
              </a:xfrm>
            </p:grpSpPr>
            <p:sp>
              <p:nvSpPr>
                <p:cNvPr id="269319" name="Rectangle 7"/>
                <p:cNvSpPr>
                  <a:spLocks noChangeArrowheads="1"/>
                </p:cNvSpPr>
                <p:nvPr/>
              </p:nvSpPr>
              <p:spPr bwMode="auto">
                <a:xfrm>
                  <a:off x="4195" y="1979"/>
                  <a:ext cx="1043" cy="136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 eaLnBrk="0" hangingPunct="0"/>
                  <a:endParaRPr lang="en-AU" b="0">
                    <a:latin typeface="Verdana" pitchFamily="34" charset="0"/>
                  </a:endParaRPr>
                </a:p>
              </p:txBody>
            </p:sp>
            <p:sp>
              <p:nvSpPr>
                <p:cNvPr id="269320" name="Line 8"/>
                <p:cNvSpPr>
                  <a:spLocks noChangeShapeType="1"/>
                </p:cNvSpPr>
                <p:nvPr/>
              </p:nvSpPr>
              <p:spPr bwMode="auto">
                <a:xfrm>
                  <a:off x="4189" y="2192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69321" name="Line 9"/>
                <p:cNvSpPr>
                  <a:spLocks noChangeShapeType="1"/>
                </p:cNvSpPr>
                <p:nvPr/>
              </p:nvSpPr>
              <p:spPr bwMode="auto">
                <a:xfrm>
                  <a:off x="4189" y="3150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69322" name="Line 10"/>
                <p:cNvSpPr>
                  <a:spLocks noChangeShapeType="1"/>
                </p:cNvSpPr>
                <p:nvPr/>
              </p:nvSpPr>
              <p:spPr bwMode="auto">
                <a:xfrm>
                  <a:off x="4189" y="2933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</p:grpSp>
          <p:sp>
            <p:nvSpPr>
              <p:cNvPr id="269323" name="Text Box 11"/>
              <p:cNvSpPr txBox="1">
                <a:spLocks noChangeArrowheads="1"/>
              </p:cNvSpPr>
              <p:nvPr/>
            </p:nvSpPr>
            <p:spPr bwMode="auto">
              <a:xfrm>
                <a:off x="4372" y="198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n-1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69324" name="Text Box 12"/>
              <p:cNvSpPr txBox="1">
                <a:spLocks noChangeArrowheads="1"/>
              </p:cNvSpPr>
              <p:nvPr/>
            </p:nvSpPr>
            <p:spPr bwMode="auto">
              <a:xfrm>
                <a:off x="4372" y="2944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69325" name="Text Box 13"/>
              <p:cNvSpPr txBox="1">
                <a:spLocks noChangeArrowheads="1"/>
              </p:cNvSpPr>
              <p:nvPr/>
            </p:nvSpPr>
            <p:spPr bwMode="auto">
              <a:xfrm>
                <a:off x="4372" y="314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0</a:t>
                </a:r>
                <a:endParaRPr lang="en-AU" sz="1400" b="0">
                  <a:latin typeface="Verdana" pitchFamily="34" charset="0"/>
                </a:endParaRPr>
              </a:p>
            </p:txBody>
          </p:sp>
        </p:grpSp>
        <p:sp>
          <p:nvSpPr>
            <p:cNvPr id="269326" name="Text Box 14"/>
            <p:cNvSpPr txBox="1">
              <a:spLocks noChangeArrowheads="1"/>
            </p:cNvSpPr>
            <p:nvPr/>
          </p:nvSpPr>
          <p:spPr bwMode="auto">
            <a:xfrm>
              <a:off x="3923" y="3022"/>
              <a:ext cx="5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Cache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69327" name="Text Box 15"/>
            <p:cNvSpPr txBox="1">
              <a:spLocks noChangeArrowheads="1"/>
            </p:cNvSpPr>
            <p:nvPr/>
          </p:nvSpPr>
          <p:spPr bwMode="auto">
            <a:xfrm>
              <a:off x="1338" y="3612"/>
              <a:ext cx="7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Memory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69328" name="Rectangle 16"/>
            <p:cNvSpPr>
              <a:spLocks noChangeArrowheads="1"/>
            </p:cNvSpPr>
            <p:nvPr/>
          </p:nvSpPr>
          <p:spPr bwMode="auto">
            <a:xfrm>
              <a:off x="1253" y="1071"/>
              <a:ext cx="1043" cy="24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sp>
          <p:nvSpPr>
            <p:cNvPr id="269329" name="Line 17"/>
            <p:cNvSpPr>
              <a:spLocks noChangeShapeType="1"/>
            </p:cNvSpPr>
            <p:nvPr/>
          </p:nvSpPr>
          <p:spPr bwMode="auto">
            <a:xfrm>
              <a:off x="1247" y="1297"/>
              <a:ext cx="1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9330" name="Line 18"/>
            <p:cNvSpPr>
              <a:spLocks noChangeShapeType="1"/>
            </p:cNvSpPr>
            <p:nvPr/>
          </p:nvSpPr>
          <p:spPr bwMode="auto">
            <a:xfrm>
              <a:off x="1247" y="3361"/>
              <a:ext cx="1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9331" name="Line 19"/>
            <p:cNvSpPr>
              <a:spLocks noChangeShapeType="1"/>
            </p:cNvSpPr>
            <p:nvPr/>
          </p:nvSpPr>
          <p:spPr bwMode="auto">
            <a:xfrm>
              <a:off x="1247" y="3156"/>
              <a:ext cx="1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9332" name="Text Box 20"/>
            <p:cNvSpPr txBox="1">
              <a:spLocks noChangeArrowheads="1"/>
            </p:cNvSpPr>
            <p:nvPr/>
          </p:nvSpPr>
          <p:spPr bwMode="auto">
            <a:xfrm>
              <a:off x="1430" y="1086"/>
              <a:ext cx="72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Line m-1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69333" name="Text Box 21"/>
            <p:cNvSpPr txBox="1">
              <a:spLocks noChangeArrowheads="1"/>
            </p:cNvSpPr>
            <p:nvPr/>
          </p:nvSpPr>
          <p:spPr bwMode="auto">
            <a:xfrm>
              <a:off x="1430" y="3143"/>
              <a:ext cx="72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Line 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69334" name="Text Box 22"/>
            <p:cNvSpPr txBox="1">
              <a:spLocks noChangeArrowheads="1"/>
            </p:cNvSpPr>
            <p:nvPr/>
          </p:nvSpPr>
          <p:spPr bwMode="auto">
            <a:xfrm>
              <a:off x="1430" y="3361"/>
              <a:ext cx="72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Line 0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69335" name="Line 23"/>
            <p:cNvSpPr>
              <a:spLocks noChangeShapeType="1"/>
            </p:cNvSpPr>
            <p:nvPr/>
          </p:nvSpPr>
          <p:spPr bwMode="auto">
            <a:xfrm flipV="1">
              <a:off x="2245" y="2614"/>
              <a:ext cx="1497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9336" name="Line 24"/>
            <p:cNvSpPr>
              <a:spLocks noChangeShapeType="1"/>
            </p:cNvSpPr>
            <p:nvPr/>
          </p:nvSpPr>
          <p:spPr bwMode="auto">
            <a:xfrm flipV="1">
              <a:off x="2245" y="1661"/>
              <a:ext cx="158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9337" name="Line 25"/>
            <p:cNvSpPr>
              <a:spLocks noChangeShapeType="1"/>
            </p:cNvSpPr>
            <p:nvPr/>
          </p:nvSpPr>
          <p:spPr bwMode="auto">
            <a:xfrm>
              <a:off x="2154" y="1162"/>
              <a:ext cx="1633" cy="1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69338" name="Line 26"/>
            <p:cNvSpPr>
              <a:spLocks noChangeShapeType="1"/>
            </p:cNvSpPr>
            <p:nvPr/>
          </p:nvSpPr>
          <p:spPr bwMode="auto">
            <a:xfrm flipV="1">
              <a:off x="2200" y="2160"/>
              <a:ext cx="1587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mapping</a:t>
            </a:r>
            <a:endParaRPr lang="en-AU" dirty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Cache:</a:t>
            </a:r>
          </a:p>
          <a:p>
            <a:pPr lvl="1"/>
            <a:r>
              <a:rPr lang="en-US" dirty="0"/>
              <a:t>Partitioned into </a:t>
            </a:r>
            <a:r>
              <a:rPr lang="en-US" i="1" dirty="0"/>
              <a:t>n</a:t>
            </a:r>
            <a:r>
              <a:rPr lang="en-US" dirty="0"/>
              <a:t> lines Line</a:t>
            </a:r>
            <a:r>
              <a:rPr lang="en-US" baseline="-25000" dirty="0"/>
              <a:t>0</a:t>
            </a:r>
            <a:r>
              <a:rPr lang="en-US" dirty="0"/>
              <a:t> to Line</a:t>
            </a:r>
            <a:r>
              <a:rPr lang="en-US" baseline="-25000" dirty="0"/>
              <a:t>n-1</a:t>
            </a:r>
          </a:p>
          <a:p>
            <a:r>
              <a:rPr lang="en-US" dirty="0"/>
              <a:t>Memory:</a:t>
            </a:r>
          </a:p>
          <a:p>
            <a:pPr lvl="1"/>
            <a:r>
              <a:rPr lang="en-US" dirty="0"/>
              <a:t>Partitioned into </a:t>
            </a:r>
            <a:r>
              <a:rPr lang="en-US" i="1" dirty="0"/>
              <a:t>m</a:t>
            </a:r>
            <a:r>
              <a:rPr lang="en-US" dirty="0"/>
              <a:t> lines Line</a:t>
            </a:r>
            <a:r>
              <a:rPr lang="en-US" baseline="-25000" dirty="0"/>
              <a:t>0</a:t>
            </a:r>
            <a:r>
              <a:rPr lang="en-US" dirty="0"/>
              <a:t> to Line</a:t>
            </a:r>
            <a:r>
              <a:rPr lang="en-US" baseline="-25000" dirty="0"/>
              <a:t>m-1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Sizes of cache’s lines and memory’s lines are equal</a:t>
            </a:r>
          </a:p>
          <a:p>
            <a:pPr lvl="1"/>
            <a:r>
              <a:rPr lang="en-US" dirty="0"/>
              <a:t>m is much greater than n (m &gt;&gt; n).</a:t>
            </a:r>
            <a:endParaRPr lang="en-US" baseline="-25000" dirty="0"/>
          </a:p>
          <a:p>
            <a:r>
              <a:rPr lang="en-US" dirty="0"/>
              <a:t>Mapping:</a:t>
            </a:r>
          </a:p>
          <a:p>
            <a:pPr lvl="1"/>
            <a:r>
              <a:rPr lang="en-US" dirty="0"/>
              <a:t>Each line in memory can be mapped into any line in cache;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mapping</a:t>
            </a:r>
            <a:endParaRPr lang="en-AU" dirty="0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756650" cy="4449763"/>
          </a:xfrm>
        </p:spPr>
        <p:txBody>
          <a:bodyPr/>
          <a:lstStyle/>
          <a:p>
            <a:r>
              <a:rPr lang="en-AU" dirty="0"/>
              <a:t>Advantages:</a:t>
            </a:r>
          </a:p>
          <a:p>
            <a:pPr lvl="1"/>
            <a:r>
              <a:rPr lang="en-AU" dirty="0"/>
              <a:t>Reduce conflicts</a:t>
            </a:r>
          </a:p>
          <a:p>
            <a:pPr lvl="1"/>
            <a:r>
              <a:rPr lang="en-AU" dirty="0"/>
              <a:t>Hit rate is higher than direct mapping. </a:t>
            </a:r>
          </a:p>
          <a:p>
            <a:r>
              <a:rPr lang="en-AU" dirty="0"/>
              <a:t>Disadvantages:</a:t>
            </a:r>
          </a:p>
          <a:p>
            <a:pPr lvl="1"/>
            <a:r>
              <a:rPr lang="en-AU" dirty="0"/>
              <a:t>Slow due to time taken for finding data in cache</a:t>
            </a:r>
          </a:p>
          <a:p>
            <a:pPr lvl="1"/>
            <a:r>
              <a:rPr lang="en-AU" dirty="0"/>
              <a:t>Complex due to address decoding.</a:t>
            </a:r>
          </a:p>
          <a:p>
            <a:r>
              <a:rPr lang="en-AU" dirty="0"/>
              <a:t>Only suitable for small caches.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mapping</a:t>
            </a:r>
            <a:br>
              <a:rPr lang="en-US" dirty="0"/>
            </a:br>
            <a:endParaRPr lang="en-AU" dirty="0"/>
          </a:p>
        </p:txBody>
      </p:sp>
      <p:grpSp>
        <p:nvGrpSpPr>
          <p:cNvPr id="274438" name="Group 6"/>
          <p:cNvGrpSpPr>
            <a:grpSpLocks/>
          </p:cNvGrpSpPr>
          <p:nvPr/>
        </p:nvGrpSpPr>
        <p:grpSpPr bwMode="auto">
          <a:xfrm>
            <a:off x="906463" y="1628775"/>
            <a:ext cx="7845425" cy="4327525"/>
            <a:chOff x="571" y="1026"/>
            <a:chExt cx="4942" cy="2726"/>
          </a:xfrm>
        </p:grpSpPr>
        <p:sp>
          <p:nvSpPr>
            <p:cNvPr id="274439" name="Rectangle 7"/>
            <p:cNvSpPr>
              <a:spLocks noChangeArrowheads="1"/>
            </p:cNvSpPr>
            <p:nvPr/>
          </p:nvSpPr>
          <p:spPr bwMode="auto">
            <a:xfrm>
              <a:off x="1973" y="1253"/>
              <a:ext cx="1043" cy="13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sp>
          <p:nvSpPr>
            <p:cNvPr id="274440" name="Rectangle 8"/>
            <p:cNvSpPr>
              <a:spLocks noChangeArrowheads="1"/>
            </p:cNvSpPr>
            <p:nvPr/>
          </p:nvSpPr>
          <p:spPr bwMode="auto">
            <a:xfrm>
              <a:off x="1539" y="1515"/>
              <a:ext cx="1043" cy="13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sp>
          <p:nvSpPr>
            <p:cNvPr id="274441" name="Rectangle 9"/>
            <p:cNvSpPr>
              <a:spLocks noChangeArrowheads="1"/>
            </p:cNvSpPr>
            <p:nvPr/>
          </p:nvSpPr>
          <p:spPr bwMode="auto">
            <a:xfrm>
              <a:off x="1097" y="1815"/>
              <a:ext cx="1043" cy="13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 eaLnBrk="0" hangingPunct="0"/>
              <a:endParaRPr lang="en-AU" b="0">
                <a:latin typeface="Verdana" pitchFamily="34" charset="0"/>
              </a:endParaRPr>
            </a:p>
          </p:txBody>
        </p:sp>
        <p:grpSp>
          <p:nvGrpSpPr>
            <p:cNvPr id="274442" name="Group 10"/>
            <p:cNvGrpSpPr>
              <a:grpSpLocks/>
            </p:cNvGrpSpPr>
            <p:nvPr/>
          </p:nvGrpSpPr>
          <p:grpSpPr bwMode="auto">
            <a:xfrm>
              <a:off x="3321" y="1934"/>
              <a:ext cx="1055" cy="1361"/>
              <a:chOff x="4189" y="1979"/>
              <a:chExt cx="1055" cy="1361"/>
            </a:xfrm>
          </p:grpSpPr>
          <p:grpSp>
            <p:nvGrpSpPr>
              <p:cNvPr id="274443" name="Group 11"/>
              <p:cNvGrpSpPr>
                <a:grpSpLocks/>
              </p:cNvGrpSpPr>
              <p:nvPr/>
            </p:nvGrpSpPr>
            <p:grpSpPr bwMode="auto">
              <a:xfrm>
                <a:off x="4189" y="1979"/>
                <a:ext cx="1055" cy="1361"/>
                <a:chOff x="4189" y="1979"/>
                <a:chExt cx="1055" cy="1361"/>
              </a:xfrm>
            </p:grpSpPr>
            <p:sp>
              <p:nvSpPr>
                <p:cNvPr id="274444" name="Rectangle 12"/>
                <p:cNvSpPr>
                  <a:spLocks noChangeArrowheads="1"/>
                </p:cNvSpPr>
                <p:nvPr/>
              </p:nvSpPr>
              <p:spPr bwMode="auto">
                <a:xfrm>
                  <a:off x="4195" y="1979"/>
                  <a:ext cx="1043" cy="136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 eaLnBrk="0" hangingPunct="0"/>
                  <a:endParaRPr lang="en-AU" b="0">
                    <a:latin typeface="Verdana" pitchFamily="34" charset="0"/>
                  </a:endParaRPr>
                </a:p>
              </p:txBody>
            </p:sp>
            <p:sp>
              <p:nvSpPr>
                <p:cNvPr id="274445" name="Line 13"/>
                <p:cNvSpPr>
                  <a:spLocks noChangeShapeType="1"/>
                </p:cNvSpPr>
                <p:nvPr/>
              </p:nvSpPr>
              <p:spPr bwMode="auto">
                <a:xfrm>
                  <a:off x="4189" y="2192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74446" name="Line 14"/>
                <p:cNvSpPr>
                  <a:spLocks noChangeShapeType="1"/>
                </p:cNvSpPr>
                <p:nvPr/>
              </p:nvSpPr>
              <p:spPr bwMode="auto">
                <a:xfrm>
                  <a:off x="4189" y="3150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74447" name="Line 15"/>
                <p:cNvSpPr>
                  <a:spLocks noChangeShapeType="1"/>
                </p:cNvSpPr>
                <p:nvPr/>
              </p:nvSpPr>
              <p:spPr bwMode="auto">
                <a:xfrm>
                  <a:off x="4189" y="2933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</p:grpSp>
          <p:sp>
            <p:nvSpPr>
              <p:cNvPr id="274448" name="Text Box 16"/>
              <p:cNvSpPr txBox="1">
                <a:spLocks noChangeArrowheads="1"/>
              </p:cNvSpPr>
              <p:nvPr/>
            </p:nvSpPr>
            <p:spPr bwMode="auto">
              <a:xfrm>
                <a:off x="4372" y="198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n-1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74449" name="Text Box 17"/>
              <p:cNvSpPr txBox="1">
                <a:spLocks noChangeArrowheads="1"/>
              </p:cNvSpPr>
              <p:nvPr/>
            </p:nvSpPr>
            <p:spPr bwMode="auto">
              <a:xfrm>
                <a:off x="4372" y="2944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74450" name="Text Box 18"/>
              <p:cNvSpPr txBox="1">
                <a:spLocks noChangeArrowheads="1"/>
              </p:cNvSpPr>
              <p:nvPr/>
            </p:nvSpPr>
            <p:spPr bwMode="auto">
              <a:xfrm>
                <a:off x="4372" y="314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0</a:t>
                </a:r>
                <a:endParaRPr lang="en-AU" sz="1400" b="0">
                  <a:latin typeface="Verdana" pitchFamily="34" charset="0"/>
                </a:endParaRPr>
              </a:p>
            </p:txBody>
          </p:sp>
        </p:grpSp>
        <p:sp>
          <p:nvSpPr>
            <p:cNvPr id="274451" name="Text Box 19"/>
            <p:cNvSpPr txBox="1">
              <a:spLocks noChangeArrowheads="1"/>
            </p:cNvSpPr>
            <p:nvPr/>
          </p:nvSpPr>
          <p:spPr bwMode="auto">
            <a:xfrm>
              <a:off x="4100" y="3476"/>
              <a:ext cx="5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Cache</a:t>
              </a:r>
              <a:endParaRPr lang="en-AU" b="0">
                <a:latin typeface="Verdana" pitchFamily="34" charset="0"/>
              </a:endParaRPr>
            </a:p>
          </p:txBody>
        </p:sp>
        <p:sp>
          <p:nvSpPr>
            <p:cNvPr id="274452" name="Text Box 20"/>
            <p:cNvSpPr txBox="1">
              <a:spLocks noChangeArrowheads="1"/>
            </p:cNvSpPr>
            <p:nvPr/>
          </p:nvSpPr>
          <p:spPr bwMode="auto">
            <a:xfrm>
              <a:off x="1383" y="3521"/>
              <a:ext cx="7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0">
                  <a:latin typeface="Verdana" pitchFamily="34" charset="0"/>
                </a:rPr>
                <a:t>Bộ nhớ</a:t>
              </a:r>
              <a:endParaRPr lang="en-AU" b="0">
                <a:latin typeface="Verdana" pitchFamily="34" charset="0"/>
              </a:endParaRPr>
            </a:p>
          </p:txBody>
        </p:sp>
        <p:grpSp>
          <p:nvGrpSpPr>
            <p:cNvPr id="274453" name="Group 21"/>
            <p:cNvGrpSpPr>
              <a:grpSpLocks/>
            </p:cNvGrpSpPr>
            <p:nvPr/>
          </p:nvGrpSpPr>
          <p:grpSpPr bwMode="auto">
            <a:xfrm>
              <a:off x="612" y="2024"/>
              <a:ext cx="1055" cy="1361"/>
              <a:chOff x="4189" y="1979"/>
              <a:chExt cx="1055" cy="1361"/>
            </a:xfrm>
          </p:grpSpPr>
          <p:grpSp>
            <p:nvGrpSpPr>
              <p:cNvPr id="274454" name="Group 22"/>
              <p:cNvGrpSpPr>
                <a:grpSpLocks/>
              </p:cNvGrpSpPr>
              <p:nvPr/>
            </p:nvGrpSpPr>
            <p:grpSpPr bwMode="auto">
              <a:xfrm>
                <a:off x="4189" y="1979"/>
                <a:ext cx="1055" cy="1361"/>
                <a:chOff x="4189" y="1979"/>
                <a:chExt cx="1055" cy="1361"/>
              </a:xfrm>
            </p:grpSpPr>
            <p:sp>
              <p:nvSpPr>
                <p:cNvPr id="274455" name="Rectangle 23"/>
                <p:cNvSpPr>
                  <a:spLocks noChangeArrowheads="1"/>
                </p:cNvSpPr>
                <p:nvPr/>
              </p:nvSpPr>
              <p:spPr bwMode="auto">
                <a:xfrm>
                  <a:off x="4195" y="1979"/>
                  <a:ext cx="1043" cy="136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 eaLnBrk="0" hangingPunct="0"/>
                  <a:endParaRPr lang="en-AU" b="0">
                    <a:latin typeface="Verdana" pitchFamily="34" charset="0"/>
                  </a:endParaRPr>
                </a:p>
              </p:txBody>
            </p:sp>
            <p:sp>
              <p:nvSpPr>
                <p:cNvPr id="274456" name="Line 24"/>
                <p:cNvSpPr>
                  <a:spLocks noChangeShapeType="1"/>
                </p:cNvSpPr>
                <p:nvPr/>
              </p:nvSpPr>
              <p:spPr bwMode="auto">
                <a:xfrm>
                  <a:off x="4189" y="2192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74457" name="Line 25"/>
                <p:cNvSpPr>
                  <a:spLocks noChangeShapeType="1"/>
                </p:cNvSpPr>
                <p:nvPr/>
              </p:nvSpPr>
              <p:spPr bwMode="auto">
                <a:xfrm>
                  <a:off x="4189" y="3150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74458" name="Line 26"/>
                <p:cNvSpPr>
                  <a:spLocks noChangeShapeType="1"/>
                </p:cNvSpPr>
                <p:nvPr/>
              </p:nvSpPr>
              <p:spPr bwMode="auto">
                <a:xfrm>
                  <a:off x="4189" y="2933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</p:grpSp>
          <p:sp>
            <p:nvSpPr>
              <p:cNvPr id="274459" name="Text Box 27"/>
              <p:cNvSpPr txBox="1">
                <a:spLocks noChangeArrowheads="1"/>
              </p:cNvSpPr>
              <p:nvPr/>
            </p:nvSpPr>
            <p:spPr bwMode="auto">
              <a:xfrm>
                <a:off x="4372" y="198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n-1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74460" name="Text Box 28"/>
              <p:cNvSpPr txBox="1">
                <a:spLocks noChangeArrowheads="1"/>
              </p:cNvSpPr>
              <p:nvPr/>
            </p:nvSpPr>
            <p:spPr bwMode="auto">
              <a:xfrm>
                <a:off x="4372" y="2944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74461" name="Text Box 29"/>
              <p:cNvSpPr txBox="1">
                <a:spLocks noChangeArrowheads="1"/>
              </p:cNvSpPr>
              <p:nvPr/>
            </p:nvSpPr>
            <p:spPr bwMode="auto">
              <a:xfrm>
                <a:off x="4372" y="314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0</a:t>
                </a:r>
                <a:endParaRPr lang="en-AU" sz="1400" b="0">
                  <a:latin typeface="Verdana" pitchFamily="34" charset="0"/>
                </a:endParaRPr>
              </a:p>
            </p:txBody>
          </p:sp>
        </p:grpSp>
        <p:sp>
          <p:nvSpPr>
            <p:cNvPr id="274462" name="Text Box 30"/>
            <p:cNvSpPr txBox="1">
              <a:spLocks noChangeArrowheads="1"/>
            </p:cNvSpPr>
            <p:nvPr/>
          </p:nvSpPr>
          <p:spPr bwMode="auto">
            <a:xfrm>
              <a:off x="571" y="1823"/>
              <a:ext cx="49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Page 0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74463" name="Text Box 31"/>
            <p:cNvSpPr txBox="1">
              <a:spLocks noChangeArrowheads="1"/>
            </p:cNvSpPr>
            <p:nvPr/>
          </p:nvSpPr>
          <p:spPr bwMode="auto">
            <a:xfrm>
              <a:off x="1065" y="1616"/>
              <a:ext cx="49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Page 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74464" name="Text Box 32"/>
            <p:cNvSpPr txBox="1">
              <a:spLocks noChangeArrowheads="1"/>
            </p:cNvSpPr>
            <p:nvPr/>
          </p:nvSpPr>
          <p:spPr bwMode="auto">
            <a:xfrm>
              <a:off x="1973" y="1026"/>
              <a:ext cx="68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Page m-1</a:t>
              </a:r>
              <a:endParaRPr lang="en-AU" sz="1400" b="0">
                <a:latin typeface="Verdana" pitchFamily="34" charset="0"/>
              </a:endParaRPr>
            </a:p>
          </p:txBody>
        </p:sp>
        <p:grpSp>
          <p:nvGrpSpPr>
            <p:cNvPr id="274465" name="Group 33"/>
            <p:cNvGrpSpPr>
              <a:grpSpLocks/>
            </p:cNvGrpSpPr>
            <p:nvPr/>
          </p:nvGrpSpPr>
          <p:grpSpPr bwMode="auto">
            <a:xfrm>
              <a:off x="4458" y="1934"/>
              <a:ext cx="1055" cy="1361"/>
              <a:chOff x="4189" y="1979"/>
              <a:chExt cx="1055" cy="1361"/>
            </a:xfrm>
          </p:grpSpPr>
          <p:grpSp>
            <p:nvGrpSpPr>
              <p:cNvPr id="274466" name="Group 34"/>
              <p:cNvGrpSpPr>
                <a:grpSpLocks/>
              </p:cNvGrpSpPr>
              <p:nvPr/>
            </p:nvGrpSpPr>
            <p:grpSpPr bwMode="auto">
              <a:xfrm>
                <a:off x="4189" y="1979"/>
                <a:ext cx="1055" cy="1361"/>
                <a:chOff x="4189" y="1979"/>
                <a:chExt cx="1055" cy="1361"/>
              </a:xfrm>
            </p:grpSpPr>
            <p:sp>
              <p:nvSpPr>
                <p:cNvPr id="274467" name="Rectangle 35"/>
                <p:cNvSpPr>
                  <a:spLocks noChangeArrowheads="1"/>
                </p:cNvSpPr>
                <p:nvPr/>
              </p:nvSpPr>
              <p:spPr bwMode="auto">
                <a:xfrm>
                  <a:off x="4195" y="1979"/>
                  <a:ext cx="1043" cy="136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 eaLnBrk="0" hangingPunct="0"/>
                  <a:endParaRPr lang="en-AU" b="0">
                    <a:latin typeface="Verdana" pitchFamily="34" charset="0"/>
                  </a:endParaRPr>
                </a:p>
              </p:txBody>
            </p:sp>
            <p:sp>
              <p:nvSpPr>
                <p:cNvPr id="274468" name="Line 36"/>
                <p:cNvSpPr>
                  <a:spLocks noChangeShapeType="1"/>
                </p:cNvSpPr>
                <p:nvPr/>
              </p:nvSpPr>
              <p:spPr bwMode="auto">
                <a:xfrm>
                  <a:off x="4189" y="2192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74469" name="Line 37"/>
                <p:cNvSpPr>
                  <a:spLocks noChangeShapeType="1"/>
                </p:cNvSpPr>
                <p:nvPr/>
              </p:nvSpPr>
              <p:spPr bwMode="auto">
                <a:xfrm>
                  <a:off x="4189" y="3150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  <p:sp>
              <p:nvSpPr>
                <p:cNvPr id="274470" name="Line 38"/>
                <p:cNvSpPr>
                  <a:spLocks noChangeShapeType="1"/>
                </p:cNvSpPr>
                <p:nvPr/>
              </p:nvSpPr>
              <p:spPr bwMode="auto">
                <a:xfrm>
                  <a:off x="4189" y="2933"/>
                  <a:ext cx="1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/>
                <a:p>
                  <a:endParaRPr lang="en-AU"/>
                </a:p>
              </p:txBody>
            </p:sp>
          </p:grpSp>
          <p:sp>
            <p:nvSpPr>
              <p:cNvPr id="274471" name="Text Box 39"/>
              <p:cNvSpPr txBox="1">
                <a:spLocks noChangeArrowheads="1"/>
              </p:cNvSpPr>
              <p:nvPr/>
            </p:nvSpPr>
            <p:spPr bwMode="auto">
              <a:xfrm>
                <a:off x="4372" y="198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n-1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74472" name="Text Box 40"/>
              <p:cNvSpPr txBox="1">
                <a:spLocks noChangeArrowheads="1"/>
              </p:cNvSpPr>
              <p:nvPr/>
            </p:nvSpPr>
            <p:spPr bwMode="auto">
              <a:xfrm>
                <a:off x="4372" y="2944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1</a:t>
                </a:r>
                <a:endParaRPr lang="en-AU" sz="1400" b="0">
                  <a:latin typeface="Verdana" pitchFamily="34" charset="0"/>
                </a:endParaRPr>
              </a:p>
            </p:txBody>
          </p:sp>
          <p:sp>
            <p:nvSpPr>
              <p:cNvPr id="274473" name="Text Box 41"/>
              <p:cNvSpPr txBox="1">
                <a:spLocks noChangeArrowheads="1"/>
              </p:cNvSpPr>
              <p:nvPr/>
            </p:nvSpPr>
            <p:spPr bwMode="auto">
              <a:xfrm>
                <a:off x="4372" y="3146"/>
                <a:ext cx="72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400" b="0">
                    <a:latin typeface="Verdana" pitchFamily="34" charset="0"/>
                  </a:rPr>
                  <a:t>Line 0</a:t>
                </a:r>
                <a:endParaRPr lang="en-AU" sz="1400" b="0">
                  <a:latin typeface="Verdana" pitchFamily="34" charset="0"/>
                </a:endParaRPr>
              </a:p>
            </p:txBody>
          </p:sp>
        </p:grpSp>
        <p:sp>
          <p:nvSpPr>
            <p:cNvPr id="274474" name="Text Box 42"/>
            <p:cNvSpPr txBox="1">
              <a:spLocks noChangeArrowheads="1"/>
            </p:cNvSpPr>
            <p:nvPr/>
          </p:nvSpPr>
          <p:spPr bwMode="auto">
            <a:xfrm>
              <a:off x="3515" y="1706"/>
              <a:ext cx="68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Way 0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74475" name="Text Box 43"/>
            <p:cNvSpPr txBox="1">
              <a:spLocks noChangeArrowheads="1"/>
            </p:cNvSpPr>
            <p:nvPr/>
          </p:nvSpPr>
          <p:spPr bwMode="auto">
            <a:xfrm>
              <a:off x="4600" y="1706"/>
              <a:ext cx="68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0">
                  <a:latin typeface="Verdana" pitchFamily="34" charset="0"/>
                </a:rPr>
                <a:t>Way 1</a:t>
              </a:r>
              <a:endParaRPr lang="en-AU" sz="1400" b="0">
                <a:latin typeface="Verdana" pitchFamily="34" charset="0"/>
              </a:endParaRPr>
            </a:p>
          </p:txBody>
        </p:sp>
        <p:sp>
          <p:nvSpPr>
            <p:cNvPr id="274476" name="Line 44"/>
            <p:cNvSpPr>
              <a:spLocks noChangeShapeType="1"/>
            </p:cNvSpPr>
            <p:nvPr/>
          </p:nvSpPr>
          <p:spPr bwMode="auto">
            <a:xfrm flipV="1">
              <a:off x="1565" y="3203"/>
              <a:ext cx="1814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74477" name="Line 45"/>
            <p:cNvSpPr>
              <a:spLocks noChangeShapeType="1"/>
            </p:cNvSpPr>
            <p:nvPr/>
          </p:nvSpPr>
          <p:spPr bwMode="auto">
            <a:xfrm flipV="1">
              <a:off x="1565" y="3022"/>
              <a:ext cx="1814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74478" name="Line 46"/>
            <p:cNvSpPr>
              <a:spLocks noChangeShapeType="1"/>
            </p:cNvSpPr>
            <p:nvPr/>
          </p:nvSpPr>
          <p:spPr bwMode="auto">
            <a:xfrm flipV="1">
              <a:off x="1519" y="2024"/>
              <a:ext cx="1905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74479" name="Line 47"/>
            <p:cNvSpPr>
              <a:spLocks noChangeShapeType="1"/>
            </p:cNvSpPr>
            <p:nvPr/>
          </p:nvSpPr>
          <p:spPr bwMode="auto">
            <a:xfrm>
              <a:off x="2880" y="1298"/>
              <a:ext cx="1769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74480" name="Line 48"/>
            <p:cNvSpPr>
              <a:spLocks noChangeShapeType="1"/>
            </p:cNvSpPr>
            <p:nvPr/>
          </p:nvSpPr>
          <p:spPr bwMode="auto">
            <a:xfrm>
              <a:off x="2880" y="2523"/>
              <a:ext cx="1678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74481" name="Line 49"/>
            <p:cNvSpPr>
              <a:spLocks noChangeShapeType="1"/>
            </p:cNvSpPr>
            <p:nvPr/>
          </p:nvSpPr>
          <p:spPr bwMode="auto">
            <a:xfrm>
              <a:off x="2925" y="2296"/>
              <a:ext cx="1633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mapping</a:t>
            </a:r>
            <a:br>
              <a:rPr lang="en-US" dirty="0"/>
            </a:br>
            <a:endParaRPr lang="en-AU" dirty="0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Cache: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Partitioned into k way (same sizes);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Each way has </a:t>
            </a:r>
            <a:r>
              <a:rPr lang="en-US" sz="1800" i="1" dirty="0"/>
              <a:t>n </a:t>
            </a:r>
            <a:r>
              <a:rPr lang="en-US" sz="1800" dirty="0"/>
              <a:t>lines, Line</a:t>
            </a:r>
            <a:r>
              <a:rPr lang="en-US" sz="1800" baseline="-25000" dirty="0"/>
              <a:t>0</a:t>
            </a:r>
            <a:r>
              <a:rPr lang="en-US" sz="1800" dirty="0"/>
              <a:t> to Line</a:t>
            </a:r>
            <a:r>
              <a:rPr lang="en-US" sz="1800" baseline="-25000" dirty="0"/>
              <a:t>n-1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Memory: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Partitioned into</a:t>
            </a:r>
            <a:r>
              <a:rPr lang="en-US" sz="1800" i="1" dirty="0"/>
              <a:t> m</a:t>
            </a:r>
            <a:r>
              <a:rPr lang="en-US" sz="1800" dirty="0"/>
              <a:t> pages, page</a:t>
            </a:r>
            <a:r>
              <a:rPr lang="en-US" sz="1800" baseline="-25000" dirty="0"/>
              <a:t>0</a:t>
            </a:r>
            <a:r>
              <a:rPr lang="en-US" sz="1800" dirty="0"/>
              <a:t> to page</a:t>
            </a:r>
            <a:r>
              <a:rPr lang="en-US" sz="1800" baseline="-25000" dirty="0"/>
              <a:t>m-1</a:t>
            </a:r>
            <a:r>
              <a:rPr lang="en-US" sz="1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Page size equals to cache’s way size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Each page has </a:t>
            </a:r>
            <a:r>
              <a:rPr lang="en-US" sz="1800" i="1" dirty="0"/>
              <a:t>n </a:t>
            </a:r>
            <a:r>
              <a:rPr lang="en-US" sz="1800" dirty="0"/>
              <a:t>lines, Line</a:t>
            </a:r>
            <a:r>
              <a:rPr lang="en-US" sz="1800" baseline="-25000" dirty="0"/>
              <a:t>0</a:t>
            </a:r>
            <a:r>
              <a:rPr lang="en-US" sz="1800" dirty="0"/>
              <a:t> to Line</a:t>
            </a:r>
            <a:r>
              <a:rPr lang="en-US" sz="1800" baseline="-25000" dirty="0"/>
              <a:t>n-1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Mapping: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Page is mapped to any way (flexible): 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Each page can be mapped onto any way in cache.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Mapping from fine in memory to line in way is fixed:</a:t>
            </a:r>
          </a:p>
          <a:p>
            <a:pPr lvl="2">
              <a:lnSpc>
                <a:spcPct val="90000"/>
              </a:lnSpc>
            </a:pPr>
            <a:r>
              <a:rPr lang="en-US" sz="1600" dirty="0" err="1"/>
              <a:t>Line</a:t>
            </a:r>
            <a:r>
              <a:rPr lang="en-US" sz="1600" baseline="-25000" dirty="0" err="1"/>
              <a:t>k</a:t>
            </a:r>
            <a:r>
              <a:rPr lang="en-US" sz="1600" dirty="0"/>
              <a:t> of </a:t>
            </a:r>
            <a:r>
              <a:rPr lang="en-US" sz="1600" dirty="0" err="1"/>
              <a:t>page</a:t>
            </a:r>
            <a:r>
              <a:rPr lang="en-US" sz="1600" baseline="-25000" dirty="0" err="1"/>
              <a:t>i</a:t>
            </a:r>
            <a:r>
              <a:rPr lang="en-US" sz="1600" dirty="0"/>
              <a:t> is mapped into </a:t>
            </a:r>
            <a:r>
              <a:rPr lang="en-US" sz="1600" dirty="0" err="1"/>
              <a:t>Line</a:t>
            </a:r>
            <a:r>
              <a:rPr lang="en-US" sz="1600" baseline="-25000" dirty="0" err="1"/>
              <a:t>k</a:t>
            </a:r>
            <a:r>
              <a:rPr lang="en-US" sz="1600" dirty="0"/>
              <a:t> of </a:t>
            </a:r>
            <a:r>
              <a:rPr lang="en-US" sz="1600" dirty="0" err="1"/>
              <a:t>way</a:t>
            </a:r>
            <a:r>
              <a:rPr lang="en-US" sz="1600" baseline="-25000" dirty="0" err="1"/>
              <a:t>j</a:t>
            </a:r>
            <a:r>
              <a:rPr lang="en-US" sz="1600" dirty="0"/>
              <a:t>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mapping</a:t>
            </a:r>
            <a:br>
              <a:rPr lang="en-US" dirty="0"/>
            </a:br>
            <a:endParaRPr lang="en-AU" dirty="0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Advantages:</a:t>
            </a:r>
          </a:p>
          <a:p>
            <a:pPr lvl="1"/>
            <a:r>
              <a:rPr lang="en-AU" dirty="0"/>
              <a:t>Fast (as direct mapping);</a:t>
            </a:r>
          </a:p>
          <a:p>
            <a:pPr lvl="1"/>
            <a:r>
              <a:rPr lang="en-AU" dirty="0"/>
              <a:t>Reduce conflicts.</a:t>
            </a:r>
          </a:p>
          <a:p>
            <a:pPr lvl="1"/>
            <a:r>
              <a:rPr lang="en-AU" dirty="0"/>
              <a:t>High hit rate.</a:t>
            </a:r>
          </a:p>
          <a:p>
            <a:r>
              <a:rPr lang="en-AU" dirty="0"/>
              <a:t>Disadvantages:</a:t>
            </a:r>
          </a:p>
          <a:p>
            <a:pPr lvl="1"/>
            <a:r>
              <a:rPr lang="en-AU" dirty="0"/>
              <a:t>Complex (design and control).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Cache’s lines replacement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AU" dirty="0"/>
              <a:t>Why?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Mapping between memory to cache is many-to-one</a:t>
            </a:r>
            <a:r>
              <a:rPr lang="en-AU" dirty="0">
                <a:sym typeface="Wingdings" pitchFamily="2" charset="2"/>
              </a:rPr>
              <a:t>;</a:t>
            </a:r>
          </a:p>
          <a:p>
            <a:pPr lvl="1">
              <a:lnSpc>
                <a:spcPct val="90000"/>
              </a:lnSpc>
            </a:pPr>
            <a:r>
              <a:rPr lang="en-AU" dirty="0">
                <a:sym typeface="Wingdings" pitchFamily="2" charset="2"/>
              </a:rPr>
              <a:t>Many lines in memory share one line in cache.</a:t>
            </a:r>
          </a:p>
          <a:p>
            <a:pPr>
              <a:lnSpc>
                <a:spcPct val="90000"/>
              </a:lnSpc>
            </a:pPr>
            <a:r>
              <a:rPr lang="en-AU" dirty="0">
                <a:sym typeface="Wingdings" pitchFamily="2" charset="2"/>
              </a:rPr>
              <a:t>Replacement is to </a:t>
            </a:r>
            <a:r>
              <a:rPr lang="en-AU" dirty="0" err="1">
                <a:sym typeface="Wingdings" pitchFamily="2" charset="2"/>
              </a:rPr>
              <a:t>determind</a:t>
            </a:r>
            <a:r>
              <a:rPr lang="en-AU" dirty="0">
                <a:sym typeface="Wingdings" pitchFamily="2" charset="2"/>
              </a:rPr>
              <a:t> which line in cache is replaced with lines from memory.</a:t>
            </a:r>
          </a:p>
          <a:p>
            <a:pPr>
              <a:lnSpc>
                <a:spcPct val="90000"/>
              </a:lnSpc>
            </a:pPr>
            <a:r>
              <a:rPr lang="en-AU" dirty="0">
                <a:sym typeface="Wingdings" pitchFamily="2" charset="2"/>
              </a:rPr>
              <a:t>Replacement policies :</a:t>
            </a:r>
          </a:p>
          <a:p>
            <a:pPr lvl="1">
              <a:lnSpc>
                <a:spcPct val="90000"/>
              </a:lnSpc>
            </a:pPr>
            <a:r>
              <a:rPr lang="en-AU" dirty="0">
                <a:sym typeface="Wingdings" pitchFamily="2" charset="2"/>
              </a:rPr>
              <a:t>Random</a:t>
            </a:r>
          </a:p>
          <a:p>
            <a:pPr lvl="1">
              <a:lnSpc>
                <a:spcPct val="90000"/>
              </a:lnSpc>
            </a:pPr>
            <a:r>
              <a:rPr lang="en-AU" dirty="0">
                <a:sym typeface="Wingdings" pitchFamily="2" charset="2"/>
              </a:rPr>
              <a:t>First in first out (FIFO)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Least Recently Used (LRU).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Cache performance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56650" cy="4648200"/>
          </a:xfrm>
        </p:spPr>
        <p:txBody>
          <a:bodyPr/>
          <a:lstStyle/>
          <a:p>
            <a:r>
              <a:rPr lang="en-AU" dirty="0"/>
              <a:t>Access time (</a:t>
            </a:r>
            <a:r>
              <a:rPr lang="en-AU" dirty="0" err="1"/>
              <a:t>t</a:t>
            </a:r>
            <a:r>
              <a:rPr lang="en-AU" baseline="-25000" dirty="0" err="1"/>
              <a:t>access</a:t>
            </a:r>
            <a:r>
              <a:rPr lang="en-AU" dirty="0"/>
              <a:t>) of a cache-memory system:</a:t>
            </a:r>
          </a:p>
          <a:p>
            <a:pPr marL="522288" lvl="1" indent="-65088">
              <a:buFont typeface="Wingdings" pitchFamily="2" charset="2"/>
              <a:buNone/>
            </a:pPr>
            <a:r>
              <a:rPr lang="en-AU" dirty="0" err="1"/>
              <a:t>t</a:t>
            </a:r>
            <a:r>
              <a:rPr lang="en-AU" baseline="-25000" dirty="0" err="1"/>
              <a:t>access</a:t>
            </a:r>
            <a:r>
              <a:rPr lang="en-AU" dirty="0"/>
              <a:t> = (Hit cost) + (miss rate) * (miss penalty)</a:t>
            </a:r>
          </a:p>
          <a:p>
            <a:pPr marL="522288" lvl="1" indent="-65088">
              <a:buFont typeface="Wingdings" pitchFamily="2" charset="2"/>
              <a:buNone/>
            </a:pPr>
            <a:r>
              <a:rPr lang="en-AU" dirty="0" err="1"/>
              <a:t>t</a:t>
            </a:r>
            <a:r>
              <a:rPr lang="en-AU" baseline="-25000" dirty="0" err="1"/>
              <a:t>access</a:t>
            </a:r>
            <a:r>
              <a:rPr lang="en-AU" dirty="0"/>
              <a:t> = </a:t>
            </a:r>
            <a:r>
              <a:rPr lang="en-AU" dirty="0" err="1"/>
              <a:t>t</a:t>
            </a:r>
            <a:r>
              <a:rPr lang="en-AU" baseline="-25000" dirty="0" err="1"/>
              <a:t>cache</a:t>
            </a:r>
            <a:r>
              <a:rPr lang="en-AU" dirty="0"/>
              <a:t> + (1 - H) * (</a:t>
            </a:r>
            <a:r>
              <a:rPr lang="en-AU" dirty="0" err="1"/>
              <a:t>t</a:t>
            </a:r>
            <a:r>
              <a:rPr lang="en-AU" baseline="-25000" dirty="0" err="1"/>
              <a:t>memory</a:t>
            </a:r>
            <a:r>
              <a:rPr lang="en-AU" dirty="0"/>
              <a:t>)</a:t>
            </a:r>
          </a:p>
          <a:p>
            <a:pPr marL="522288" lvl="1" indent="-65088">
              <a:spcBef>
                <a:spcPct val="50000"/>
              </a:spcBef>
              <a:buFont typeface="Wingdings" pitchFamily="2" charset="2"/>
              <a:buNone/>
            </a:pPr>
            <a:r>
              <a:rPr lang="en-AU" dirty="0"/>
              <a:t>H is the hit-rate, </a:t>
            </a:r>
            <a:r>
              <a:rPr lang="en-AU" dirty="0" err="1"/>
              <a:t>t</a:t>
            </a:r>
            <a:r>
              <a:rPr lang="en-AU" baseline="-25000" dirty="0" err="1"/>
              <a:t>cache</a:t>
            </a:r>
            <a:r>
              <a:rPr lang="en-AU" dirty="0"/>
              <a:t> is cache access time, </a:t>
            </a:r>
            <a:br>
              <a:rPr lang="en-AU" dirty="0"/>
            </a:br>
            <a:r>
              <a:rPr lang="en-AU" dirty="0" err="1"/>
              <a:t>t</a:t>
            </a:r>
            <a:r>
              <a:rPr lang="en-AU" baseline="-25000" dirty="0" err="1"/>
              <a:t>memory</a:t>
            </a:r>
            <a:r>
              <a:rPr lang="en-AU" dirty="0"/>
              <a:t> is memory access time.</a:t>
            </a:r>
          </a:p>
          <a:p>
            <a:pPr marL="522288" lvl="1" indent="-65088">
              <a:buFont typeface="Wingdings" pitchFamily="2" charset="2"/>
              <a:buNone/>
            </a:pPr>
            <a:endParaRPr lang="en-AU" sz="1200" dirty="0"/>
          </a:p>
          <a:p>
            <a:pPr marL="522288" lvl="1" indent="-65088">
              <a:buFont typeface="Wingdings" pitchFamily="2" charset="2"/>
              <a:buNone/>
            </a:pPr>
            <a:r>
              <a:rPr lang="en-AU" sz="1800" dirty="0"/>
              <a:t>If </a:t>
            </a:r>
            <a:r>
              <a:rPr lang="en-AU" sz="1800" dirty="0" err="1"/>
              <a:t>t</a:t>
            </a:r>
            <a:r>
              <a:rPr lang="en-AU" sz="1800" baseline="-25000" dirty="0" err="1"/>
              <a:t>cache</a:t>
            </a:r>
            <a:r>
              <a:rPr lang="en-AU" sz="1800" dirty="0"/>
              <a:t> = 5ns, </a:t>
            </a:r>
            <a:r>
              <a:rPr lang="en-AU" sz="1800" dirty="0" err="1"/>
              <a:t>t</a:t>
            </a:r>
            <a:r>
              <a:rPr lang="en-AU" sz="1800" baseline="-25000" dirty="0" err="1"/>
              <a:t>memory</a:t>
            </a:r>
            <a:r>
              <a:rPr lang="en-AU" sz="1800" dirty="0"/>
              <a:t> = 60ns </a:t>
            </a:r>
            <a:r>
              <a:rPr lang="en-AU" sz="1800" dirty="0" err="1"/>
              <a:t>và</a:t>
            </a:r>
            <a:r>
              <a:rPr lang="en-AU" sz="1800" dirty="0"/>
              <a:t> H=80%, then:</a:t>
            </a:r>
          </a:p>
          <a:p>
            <a:pPr marL="522288" lvl="1" indent="-65088">
              <a:buFont typeface="Wingdings" pitchFamily="2" charset="2"/>
              <a:buNone/>
            </a:pPr>
            <a:r>
              <a:rPr lang="en-AU" dirty="0" err="1"/>
              <a:t>t</a:t>
            </a:r>
            <a:r>
              <a:rPr lang="en-AU" baseline="-25000" dirty="0" err="1"/>
              <a:t>access</a:t>
            </a:r>
            <a:r>
              <a:rPr lang="en-AU" dirty="0"/>
              <a:t> = 5 + (1 – 0.8) * (60) = 5+12 = 17ns</a:t>
            </a:r>
          </a:p>
          <a:p>
            <a:pPr marL="522288" lvl="1" indent="-65088">
              <a:buFont typeface="Wingdings" pitchFamily="2" charset="2"/>
              <a:buNone/>
            </a:pPr>
            <a:endParaRPr lang="en-AU" sz="1200" dirty="0"/>
          </a:p>
          <a:p>
            <a:pPr marL="522288" lvl="1" indent="-65088">
              <a:buFont typeface="Wingdings" pitchFamily="2" charset="2"/>
              <a:buNone/>
            </a:pPr>
            <a:r>
              <a:rPr lang="en-AU" sz="1800" dirty="0"/>
              <a:t>If </a:t>
            </a:r>
            <a:r>
              <a:rPr lang="en-AU" sz="1800" dirty="0" err="1"/>
              <a:t>t</a:t>
            </a:r>
            <a:r>
              <a:rPr lang="en-AU" sz="1800" baseline="-25000" dirty="0" err="1"/>
              <a:t>cache</a:t>
            </a:r>
            <a:r>
              <a:rPr lang="en-AU" sz="1800" dirty="0"/>
              <a:t> = 5ns, </a:t>
            </a:r>
            <a:r>
              <a:rPr lang="en-AU" sz="1800" dirty="0" err="1"/>
              <a:t>t</a:t>
            </a:r>
            <a:r>
              <a:rPr lang="en-AU" sz="1800" baseline="-25000" dirty="0" err="1"/>
              <a:t>memory</a:t>
            </a:r>
            <a:r>
              <a:rPr lang="en-AU" sz="1800" dirty="0"/>
              <a:t> = 60ns </a:t>
            </a:r>
            <a:r>
              <a:rPr lang="en-AU" sz="1800" dirty="0" err="1"/>
              <a:t>và</a:t>
            </a:r>
            <a:r>
              <a:rPr lang="en-AU" sz="1800" dirty="0"/>
              <a:t> H=95%, then:</a:t>
            </a:r>
          </a:p>
          <a:p>
            <a:pPr marL="522288" lvl="1" indent="-65088">
              <a:buFont typeface="Wingdings" pitchFamily="2" charset="2"/>
              <a:buNone/>
            </a:pPr>
            <a:r>
              <a:rPr lang="en-AU" dirty="0" err="1"/>
              <a:t>t</a:t>
            </a:r>
            <a:r>
              <a:rPr lang="en-AU" baseline="-25000" dirty="0" err="1"/>
              <a:t>access</a:t>
            </a:r>
            <a:r>
              <a:rPr lang="en-AU" dirty="0"/>
              <a:t> = 5 + (1 – 0.95) * (60) = 5+3 = 8ns</a:t>
            </a:r>
          </a:p>
          <a:p>
            <a:pPr marL="522288" lvl="1" indent="-65088">
              <a:buFont typeface="Wingdings" pitchFamily="2" charset="2"/>
              <a:buNone/>
            </a:pPr>
            <a:endParaRPr lang="en-A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213TGp_natural_light_v2</Template>
  <TotalTime>6068</TotalTime>
  <Words>1490</Words>
  <Application>Microsoft Office PowerPoint</Application>
  <PresentationFormat>On-screen Show (4:3)</PresentationFormat>
  <Paragraphs>305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Verdana</vt:lpstr>
      <vt:lpstr>Wingdings</vt:lpstr>
      <vt:lpstr>213TGp_natural_light_v2</vt:lpstr>
      <vt:lpstr>1_213TGp_natural_light_v2</vt:lpstr>
      <vt:lpstr>PowerPoint Presentation</vt:lpstr>
      <vt:lpstr>Agenda</vt:lpstr>
      <vt:lpstr>Hierarchical model</vt:lpstr>
      <vt:lpstr>Figures</vt:lpstr>
      <vt:lpstr>Memory system</vt:lpstr>
      <vt:lpstr>Memory system</vt:lpstr>
      <vt:lpstr>Why hierarchical memory ?</vt:lpstr>
      <vt:lpstr>Memory classification</vt:lpstr>
      <vt:lpstr>Memory circuit organization</vt:lpstr>
      <vt:lpstr>ROM</vt:lpstr>
      <vt:lpstr>ROM example</vt:lpstr>
      <vt:lpstr>RAM</vt:lpstr>
      <vt:lpstr>RAM examples</vt:lpstr>
      <vt:lpstr>Cache memory</vt:lpstr>
      <vt:lpstr>What is a Cache?</vt:lpstr>
      <vt:lpstr>Cache</vt:lpstr>
      <vt:lpstr>Principles</vt:lpstr>
      <vt:lpstr>Examples</vt:lpstr>
      <vt:lpstr>Example</vt:lpstr>
      <vt:lpstr>4.5.4 Data exchange among CPU-Cache-Mem</vt:lpstr>
      <vt:lpstr>hit and miss</vt:lpstr>
      <vt:lpstr>Cache architecture – Look aside</vt:lpstr>
      <vt:lpstr>Cache’s architecture – Look through</vt:lpstr>
      <vt:lpstr>Cache organization</vt:lpstr>
      <vt:lpstr>Cache organization</vt:lpstr>
      <vt:lpstr>Direct mapping</vt:lpstr>
      <vt:lpstr>Direct mapping</vt:lpstr>
      <vt:lpstr>Direct mapping</vt:lpstr>
      <vt:lpstr>Fully associative mapping</vt:lpstr>
      <vt:lpstr>Fully associative mapping</vt:lpstr>
      <vt:lpstr>Fully associative mapping</vt:lpstr>
      <vt:lpstr>Set associative mapping </vt:lpstr>
      <vt:lpstr>Set associative mapping </vt:lpstr>
      <vt:lpstr>Set associative mapping </vt:lpstr>
      <vt:lpstr>Cache’s lines replacement</vt:lpstr>
      <vt:lpstr>Cache performance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Dau Hoang</dc:creator>
  <cp:lastModifiedBy>Phạm Văn Cường (VinAI-NC-TGMT)</cp:lastModifiedBy>
  <cp:revision>314</cp:revision>
  <dcterms:created xsi:type="dcterms:W3CDTF">2008-09-11T07:24:50Z</dcterms:created>
  <dcterms:modified xsi:type="dcterms:W3CDTF">2022-12-07T02:37:40Z</dcterms:modified>
</cp:coreProperties>
</file>