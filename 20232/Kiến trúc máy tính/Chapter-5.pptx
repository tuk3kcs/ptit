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9"/>
  </p:notesMasterIdLst>
  <p:handoutMasterIdLst>
    <p:handoutMasterId r:id="rId20"/>
  </p:handoutMasterIdLst>
  <p:sldIdLst>
    <p:sldId id="292" r:id="rId2"/>
    <p:sldId id="293" r:id="rId3"/>
    <p:sldId id="294" r:id="rId4"/>
    <p:sldId id="312" r:id="rId5"/>
    <p:sldId id="313" r:id="rId6"/>
    <p:sldId id="314" r:id="rId7"/>
    <p:sldId id="315" r:id="rId8"/>
    <p:sldId id="334" r:id="rId9"/>
    <p:sldId id="317" r:id="rId10"/>
    <p:sldId id="349" r:id="rId11"/>
    <p:sldId id="342" r:id="rId12"/>
    <p:sldId id="352" r:id="rId13"/>
    <p:sldId id="351" r:id="rId14"/>
    <p:sldId id="344" r:id="rId15"/>
    <p:sldId id="343" r:id="rId16"/>
    <p:sldId id="353" r:id="rId17"/>
    <p:sldId id="355" r:id="rId18"/>
  </p:sldIdLst>
  <p:sldSz cx="9144000" cy="6858000" type="screen4x3"/>
  <p:notesSz cx="9929813" cy="66706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1">
          <p15:clr>
            <a:srgbClr val="A4A3A4"/>
          </p15:clr>
        </p15:guide>
        <p15:guide id="2" pos="312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96600"/>
    <a:srgbClr val="FF9999"/>
    <a:srgbClr val="CCFF66"/>
    <a:srgbClr val="CCCC00"/>
    <a:srgbClr val="000066"/>
    <a:srgbClr val="993300"/>
    <a:srgbClr val="6600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3" autoAdjust="0"/>
    <p:restoredTop sz="94992" autoAdjust="0"/>
  </p:normalViewPr>
  <p:slideViewPr>
    <p:cSldViewPr>
      <p:cViewPr varScale="1">
        <p:scale>
          <a:sx n="105" d="100"/>
          <a:sy n="105" d="100"/>
        </p:scale>
        <p:origin x="188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-2736" y="-90"/>
      </p:cViewPr>
      <p:guideLst>
        <p:guide orient="horz" pos="2101"/>
        <p:guide pos="312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3713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4513" y="0"/>
            <a:ext cx="4303712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6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335713"/>
            <a:ext cx="4303713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6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4513" y="6335713"/>
            <a:ext cx="4303712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3667133E-ED33-4657-96FA-DA093A6C1B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3563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3713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4513" y="0"/>
            <a:ext cx="4303712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97238" y="500063"/>
            <a:ext cx="3335337" cy="25019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3775" y="3168650"/>
            <a:ext cx="7943850" cy="300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78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335713"/>
            <a:ext cx="4303713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8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4513" y="6335713"/>
            <a:ext cx="4303712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A3ECB32E-4D0E-49F4-92BC-0FBCB0CD24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3483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A80D06A-9F51-4676-BF8A-4EE5A3D0FF0C}" type="slidenum">
              <a:rPr lang="en-US" b="0" smtClean="0"/>
              <a:pPr eaLnBrk="1" hangingPunct="1"/>
              <a:t>4</a:t>
            </a:fld>
            <a:endParaRPr lang="en-US" b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AU"/>
              <a:t>D08.1 6.9</a:t>
            </a: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EBBBB7E-E212-4B0F-AE54-DFE808637C6F}" type="slidenum">
              <a:rPr lang="en-US" b="0" smtClean="0"/>
              <a:pPr eaLnBrk="1" hangingPunct="1"/>
              <a:t>5</a:t>
            </a:fld>
            <a:endParaRPr lang="en-US" b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AU"/>
              <a:t>D08.3 5.9</a:t>
            </a:r>
          </a:p>
          <a:p>
            <a:endParaRPr lang="en-AU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E57E667-66C6-4887-88B8-8006536631BD}" type="slidenum">
              <a:rPr lang="en-US" b="0" smtClean="0"/>
              <a:pPr eaLnBrk="1" hangingPunct="1"/>
              <a:t>10</a:t>
            </a:fld>
            <a:endParaRPr lang="en-US" b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724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2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3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3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2B27DC-5A72-418E-A026-12B5463666CA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0426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3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3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874A11-B221-4747-9C08-0DAC838C1AAB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7613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447800"/>
            <a:ext cx="4302125" cy="4678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3125" y="1447800"/>
            <a:ext cx="4302125" cy="4678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Rectangle 2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3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Rectangle 3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8D37ED-4426-4C7A-8654-2FFD76C591C8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5028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Rectangle 2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8" name="Rectangle 3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9" name="Rectangle 3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6C605E-79AC-44AC-AB1E-96B7E4DA59BA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686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Rectangle 2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Rectangle 3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3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0FF3C4-4681-4714-88A0-F7C3D5638EF4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582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" name="Rectangle 3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Rectangle 3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82E115-CEA7-46BC-A028-DAA48CD98841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3634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3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Rectangle 3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298AC5-7FD6-4559-81AB-738B92A8A0B3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1823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3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Rectangle 3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0FFDDF-5308-423F-BDA8-34B017EF6925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2404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2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3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3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3415A0-858D-46E7-880A-FF744C0EFA7B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5701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96088" y="762000"/>
            <a:ext cx="2189162" cy="53641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762000"/>
            <a:ext cx="6415088" cy="53641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2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3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3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D22EC2-BA63-4689-8BE6-42119EEF3E15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64263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0"/>
            <a:ext cx="8756650" cy="5222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228600" y="1447800"/>
            <a:ext cx="8756650" cy="4678363"/>
          </a:xfrm>
        </p:spPr>
        <p:txBody>
          <a:bodyPr/>
          <a:lstStyle/>
          <a:p>
            <a:pPr lvl="0"/>
            <a:endParaRPr lang="en-AU" noProof="0"/>
          </a:p>
        </p:txBody>
      </p:sp>
      <p:sp>
        <p:nvSpPr>
          <p:cNvPr id="4" name="Rectangle 2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3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3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0B7971-DD37-4D8C-9214-D0D3CD3F7225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7546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2"/>
          <p:cNvSpPr>
            <a:spLocks noChangeArrowheads="1"/>
          </p:cNvSpPr>
          <p:nvPr userDrawn="1"/>
        </p:nvSpPr>
        <p:spPr bwMode="gray">
          <a:xfrm>
            <a:off x="0" y="6224588"/>
            <a:ext cx="9144000" cy="6477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027" name="Oval 2"/>
          <p:cNvSpPr>
            <a:spLocks noChangeArrowheads="1"/>
          </p:cNvSpPr>
          <p:nvPr userDrawn="1"/>
        </p:nvSpPr>
        <p:spPr bwMode="gray">
          <a:xfrm>
            <a:off x="0" y="0"/>
            <a:ext cx="9144000" cy="6858000"/>
          </a:xfrm>
          <a:prstGeom prst="ellipse">
            <a:avLst/>
          </a:prstGeom>
          <a:solidFill>
            <a:schemeClr val="bg1">
              <a:alpha val="43921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028" name="Rectangle 3"/>
          <p:cNvSpPr>
            <a:spLocks noChangeArrowheads="1"/>
          </p:cNvSpPr>
          <p:nvPr/>
        </p:nvSpPr>
        <p:spPr bwMode="gray">
          <a:xfrm>
            <a:off x="0" y="0"/>
            <a:ext cx="9144000" cy="71913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AU"/>
          </a:p>
        </p:txBody>
      </p:sp>
      <p:pic>
        <p:nvPicPr>
          <p:cNvPr id="1029" name="Picture 15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341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Line 16"/>
          <p:cNvSpPr>
            <a:spLocks noChangeShapeType="1"/>
          </p:cNvSpPr>
          <p:nvPr userDrawn="1"/>
        </p:nvSpPr>
        <p:spPr bwMode="auto">
          <a:xfrm>
            <a:off x="0" y="747713"/>
            <a:ext cx="9144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031" name="Text Box 18"/>
          <p:cNvSpPr txBox="1">
            <a:spLocks noChangeArrowheads="1"/>
          </p:cNvSpPr>
          <p:nvPr userDrawn="1"/>
        </p:nvSpPr>
        <p:spPr bwMode="auto">
          <a:xfrm>
            <a:off x="1600200" y="46038"/>
            <a:ext cx="6400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400"/>
              <a:t>BÀI GIẢNG MÔN KỸ THUẬT VI XỬ LÝ</a:t>
            </a:r>
          </a:p>
        </p:txBody>
      </p:sp>
      <p:sp>
        <p:nvSpPr>
          <p:cNvPr id="1032" name="Text Box 23"/>
          <p:cNvSpPr txBox="1">
            <a:spLocks noChangeArrowheads="1"/>
          </p:cNvSpPr>
          <p:nvPr userDrawn="1"/>
        </p:nvSpPr>
        <p:spPr bwMode="auto">
          <a:xfrm>
            <a:off x="0" y="6396038"/>
            <a:ext cx="2057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/>
              <a:t>www.ptit.edu.vn</a:t>
            </a:r>
          </a:p>
        </p:txBody>
      </p:sp>
      <p:sp>
        <p:nvSpPr>
          <p:cNvPr id="1033" name="Text Box 24"/>
          <p:cNvSpPr txBox="1">
            <a:spLocks noChangeArrowheads="1"/>
          </p:cNvSpPr>
          <p:nvPr userDrawn="1"/>
        </p:nvSpPr>
        <p:spPr bwMode="auto">
          <a:xfrm>
            <a:off x="1447800" y="6310313"/>
            <a:ext cx="6400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400"/>
              <a:t>GIẢNG VIÊN: TS. HOÀNG XUÂN DẬU</a:t>
            </a:r>
          </a:p>
        </p:txBody>
      </p:sp>
      <p:sp>
        <p:nvSpPr>
          <p:cNvPr id="1034" name="Text Box 25"/>
          <p:cNvSpPr txBox="1">
            <a:spLocks noChangeArrowheads="1"/>
          </p:cNvSpPr>
          <p:nvPr userDrawn="1"/>
        </p:nvSpPr>
        <p:spPr bwMode="auto">
          <a:xfrm>
            <a:off x="1462088" y="6538913"/>
            <a:ext cx="6400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400"/>
              <a:t>BỘ MÔN: KHOA HỌC MÁY TÍNH - KHOA CNTT1</a:t>
            </a:r>
          </a:p>
        </p:txBody>
      </p:sp>
      <p:sp>
        <p:nvSpPr>
          <p:cNvPr id="1035" name="Text Box 26"/>
          <p:cNvSpPr txBox="1">
            <a:spLocks noChangeArrowheads="1"/>
          </p:cNvSpPr>
          <p:nvPr userDrawn="1"/>
        </p:nvSpPr>
        <p:spPr bwMode="auto">
          <a:xfrm>
            <a:off x="8001000" y="6391275"/>
            <a:ext cx="1143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/>
              <a:t>Trang </a:t>
            </a:r>
            <a:fld id="{F1CEF630-8823-405B-BC20-0CAC16B61D94}" type="slidenum">
              <a:rPr lang="en-US" sz="1400"/>
              <a:pPr eaLnBrk="1" hangingPunct="1">
                <a:spcBef>
                  <a:spcPct val="50000"/>
                </a:spcBef>
              </a:pPr>
              <a:t>‹#›</a:t>
            </a:fld>
            <a:endParaRPr lang="en-US" sz="1400"/>
          </a:p>
        </p:txBody>
      </p:sp>
      <p:sp>
        <p:nvSpPr>
          <p:cNvPr id="1036" name="Rectangle 27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762000"/>
            <a:ext cx="87566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/>
              <a:t>Click to edit Master title style</a:t>
            </a:r>
          </a:p>
        </p:txBody>
      </p:sp>
      <p:sp>
        <p:nvSpPr>
          <p:cNvPr id="1037" name="Rectangle 28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447800"/>
            <a:ext cx="8756650" cy="467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</a:p>
        </p:txBody>
      </p:sp>
      <p:sp>
        <p:nvSpPr>
          <p:cNvPr id="47133" name="Rectangle 2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7134" name="Rectangle 3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7135" name="Rectangle 3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pPr>
              <a:defRPr/>
            </a:pPr>
            <a:fld id="{1B556D50-E85F-428F-86E9-E5A2C3D6B674}" type="slidenum">
              <a:rPr lang="en-AU"/>
              <a:pPr>
                <a:defRPr/>
              </a:pPr>
              <a:t>‹#›</a:t>
            </a:fld>
            <a:endParaRPr lang="en-AU"/>
          </a:p>
        </p:txBody>
      </p:sp>
      <p:sp>
        <p:nvSpPr>
          <p:cNvPr id="1041" name="Text Box 32"/>
          <p:cNvSpPr txBox="1">
            <a:spLocks noChangeArrowheads="1"/>
          </p:cNvSpPr>
          <p:nvPr userDrawn="1"/>
        </p:nvSpPr>
        <p:spPr bwMode="auto">
          <a:xfrm>
            <a:off x="1295400" y="304800"/>
            <a:ext cx="7086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600"/>
              <a:t>CHƯƠNG 4 – </a:t>
            </a:r>
            <a:r>
              <a:rPr lang="fr-FR" sz="1600"/>
              <a:t>PHỐI GHÉP VỚI BỘ NHỚ VÀ THIẾT BỊ VÀO RA</a:t>
            </a:r>
            <a:endParaRPr lang="en-US" sz="16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v"/>
        <a:defRPr sz="24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200">
          <a:solidFill>
            <a:schemeClr val="tx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ites.google.com/view/cuongpham/home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2"/>
          <p:cNvSpPr>
            <a:spLocks noChangeArrowheads="1"/>
          </p:cNvSpPr>
          <p:nvPr/>
        </p:nvSpPr>
        <p:spPr bwMode="ltGray">
          <a:xfrm>
            <a:off x="0" y="1066800"/>
            <a:ext cx="9144000" cy="71913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075" name="Rectangle 13"/>
          <p:cNvSpPr>
            <a:spLocks noChangeArrowheads="1"/>
          </p:cNvSpPr>
          <p:nvPr/>
        </p:nvSpPr>
        <p:spPr bwMode="ltGray">
          <a:xfrm>
            <a:off x="0" y="3962400"/>
            <a:ext cx="9144000" cy="71913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076" name="Oval 14"/>
          <p:cNvSpPr>
            <a:spLocks noChangeArrowheads="1"/>
          </p:cNvSpPr>
          <p:nvPr/>
        </p:nvSpPr>
        <p:spPr bwMode="gray">
          <a:xfrm>
            <a:off x="4211638" y="2636838"/>
            <a:ext cx="1223962" cy="1223962"/>
          </a:xfrm>
          <a:prstGeom prst="ellipse">
            <a:avLst/>
          </a:prstGeom>
          <a:solidFill>
            <a:srgbClr val="1BABE5">
              <a:alpha val="1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AU"/>
          </a:p>
        </p:txBody>
      </p:sp>
      <p:pic>
        <p:nvPicPr>
          <p:cNvPr id="3077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0"/>
            <a:ext cx="914400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78" name="Group 16"/>
          <p:cNvGrpSpPr>
            <a:grpSpLocks/>
          </p:cNvGrpSpPr>
          <p:nvPr/>
        </p:nvGrpSpPr>
        <p:grpSpPr bwMode="auto">
          <a:xfrm>
            <a:off x="52388" y="1004888"/>
            <a:ext cx="3529012" cy="3671887"/>
            <a:chOff x="612" y="1026"/>
            <a:chExt cx="2223" cy="2313"/>
          </a:xfrm>
        </p:grpSpPr>
        <p:sp>
          <p:nvSpPr>
            <p:cNvPr id="3084" name="Oval 17"/>
            <p:cNvSpPr>
              <a:spLocks noChangeArrowheads="1"/>
            </p:cNvSpPr>
            <p:nvPr/>
          </p:nvSpPr>
          <p:spPr bwMode="gray">
            <a:xfrm>
              <a:off x="612" y="1026"/>
              <a:ext cx="2223" cy="2313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  <a:round/>
              <a:headEnd/>
              <a:tailEnd/>
            </a:ln>
            <a:effectLst>
              <a:outerShdw dist="89803" dir="2700000" algn="ctr" rotWithShape="0">
                <a:srgbClr val="000000">
                  <a:alpha val="18999"/>
                </a:srgbClr>
              </a:outerShdw>
            </a:effectLst>
          </p:spPr>
          <p:txBody>
            <a:bodyPr wrap="none" anchor="ctr"/>
            <a:lstStyle/>
            <a:p>
              <a:endParaRPr lang="en-AU"/>
            </a:p>
          </p:txBody>
        </p:sp>
        <p:pic>
          <p:nvPicPr>
            <p:cNvPr id="3085" name="Picture 18" descr="HV_toancanh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" y="1530"/>
              <a:ext cx="1776" cy="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079" name="Text Box 19"/>
          <p:cNvSpPr txBox="1">
            <a:spLocks noChangeArrowheads="1"/>
          </p:cNvSpPr>
          <p:nvPr/>
        </p:nvSpPr>
        <p:spPr bwMode="auto">
          <a:xfrm>
            <a:off x="2362200" y="422275"/>
            <a:ext cx="632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>
                <a:solidFill>
                  <a:schemeClr val="tx2"/>
                </a:solidFill>
              </a:rPr>
              <a:t> HỌC VIỆN CÔNG NGHỆ BƯU CHÍNH VIỄN THÔNG </a:t>
            </a:r>
          </a:p>
        </p:txBody>
      </p:sp>
      <p:sp>
        <p:nvSpPr>
          <p:cNvPr id="3081" name="Text Box 21"/>
          <p:cNvSpPr txBox="1">
            <a:spLocks noChangeArrowheads="1"/>
          </p:cNvSpPr>
          <p:nvPr/>
        </p:nvSpPr>
        <p:spPr bwMode="auto">
          <a:xfrm>
            <a:off x="3429000" y="2438400"/>
            <a:ext cx="5562600" cy="1409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3200" dirty="0">
                <a:solidFill>
                  <a:schemeClr val="tx2"/>
                </a:solidFill>
              </a:rPr>
              <a:t>COMPUTER ARCHITECTURE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000" dirty="0">
                <a:solidFill>
                  <a:schemeClr val="tx2"/>
                </a:solidFill>
              </a:rPr>
              <a:t>                            Interface programming</a:t>
            </a:r>
          </a:p>
        </p:txBody>
      </p:sp>
      <p:sp>
        <p:nvSpPr>
          <p:cNvPr id="3082" name="Text Box 22"/>
          <p:cNvSpPr txBox="1">
            <a:spLocks noChangeArrowheads="1"/>
          </p:cNvSpPr>
          <p:nvPr/>
        </p:nvSpPr>
        <p:spPr bwMode="auto">
          <a:xfrm>
            <a:off x="1066800" y="4800600"/>
            <a:ext cx="7315200" cy="1661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000" dirty="0">
                <a:solidFill>
                  <a:schemeClr val="tx2"/>
                </a:solidFill>
              </a:rPr>
              <a:t>Instructor: 	Associate Professor Phạm Văn Cường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000" dirty="0">
                <a:solidFill>
                  <a:schemeClr val="tx2"/>
                </a:solidFill>
              </a:rPr>
              <a:t>E-mail:	</a:t>
            </a:r>
            <a:r>
              <a:rPr lang="en-US" sz="2000">
                <a:solidFill>
                  <a:schemeClr val="tx2"/>
                </a:solidFill>
              </a:rPr>
              <a:t>                   cuongpham</a:t>
            </a:r>
            <a:r>
              <a:rPr lang="en-US" sz="2000" dirty="0">
                <a:solidFill>
                  <a:schemeClr val="tx2"/>
                </a:solidFill>
              </a:rPr>
              <a:t>.ptit@gmail.com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000" dirty="0">
                <a:solidFill>
                  <a:schemeClr val="tx2"/>
                </a:solidFill>
              </a:rPr>
              <a:t>www:  </a:t>
            </a:r>
            <a:r>
              <a:rPr lang="en-US" sz="2000" dirty="0">
                <a:solidFill>
                  <a:schemeClr val="tx2"/>
                </a:solidFill>
                <a:hlinkClick r:id="rId4"/>
              </a:rPr>
              <a:t>https://sites.google.com/view/cuongpham/home</a:t>
            </a:r>
            <a:endParaRPr lang="en-US" sz="2000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endParaRPr lang="en-US" sz="2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advTm="9594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dirty="0"/>
              <a:t>CONTENT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6400" y="2057400"/>
            <a:ext cx="7308850" cy="4068763"/>
          </a:xfrm>
        </p:spPr>
        <p:txBody>
          <a:bodyPr/>
          <a:lstStyle/>
          <a:p>
            <a:pPr marL="457200" indent="-457200" eaLnBrk="1" hangingPunct="1">
              <a:buFont typeface="Wingdings" pitchFamily="2" charset="2"/>
              <a:buAutoNum type="arabicPeriod"/>
            </a:pPr>
            <a:r>
              <a:rPr lang="en-US" b="1" dirty="0"/>
              <a:t>CPU spin signals</a:t>
            </a:r>
          </a:p>
          <a:p>
            <a:pPr marL="457200" indent="-457200" eaLnBrk="1" hangingPunct="1">
              <a:buFont typeface="Wingdings" pitchFamily="2" charset="2"/>
              <a:buAutoNum type="arabicPeriod"/>
            </a:pPr>
            <a:r>
              <a:rPr lang="en-US" b="1" dirty="0"/>
              <a:t>CPU-memory interfacing</a:t>
            </a:r>
          </a:p>
          <a:p>
            <a:pPr marL="457200" indent="-457200" eaLnBrk="1" hangingPunct="1">
              <a:buFont typeface="Wingdings" pitchFamily="2" charset="2"/>
              <a:buAutoNum type="arabicPeriod"/>
            </a:pPr>
            <a:r>
              <a:rPr lang="en-US" b="1" dirty="0"/>
              <a:t>I/O Interface programming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8088 spin signals</a:t>
            </a:r>
            <a:endParaRPr lang="en-AU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5297488" cy="4678363"/>
          </a:xfrm>
        </p:spPr>
        <p:txBody>
          <a:bodyPr/>
          <a:lstStyle/>
          <a:p>
            <a:pPr eaLnBrk="1" hangingPunct="1"/>
            <a:r>
              <a:rPr lang="en-AU" dirty="0"/>
              <a:t>8088 has 40 spin signals:</a:t>
            </a:r>
          </a:p>
          <a:p>
            <a:pPr lvl="1" eaLnBrk="1" hangingPunct="1"/>
            <a:r>
              <a:rPr lang="en-AU" dirty="0"/>
              <a:t>Address:</a:t>
            </a:r>
          </a:p>
          <a:p>
            <a:pPr lvl="2" eaLnBrk="1" hangingPunct="1"/>
            <a:r>
              <a:rPr lang="en-AU" sz="1800" dirty="0"/>
              <a:t>AD</a:t>
            </a:r>
            <a:r>
              <a:rPr lang="en-AU" sz="1800" baseline="-25000" dirty="0"/>
              <a:t>0</a:t>
            </a:r>
            <a:r>
              <a:rPr lang="en-AU" sz="1800" dirty="0"/>
              <a:t>-AD</a:t>
            </a:r>
            <a:r>
              <a:rPr lang="en-AU" sz="1800" baseline="-25000" dirty="0"/>
              <a:t>7</a:t>
            </a:r>
            <a:r>
              <a:rPr lang="en-AU" sz="1800" dirty="0"/>
              <a:t>: shared with bus D;</a:t>
            </a:r>
          </a:p>
          <a:p>
            <a:pPr lvl="2" eaLnBrk="1" hangingPunct="1"/>
            <a:r>
              <a:rPr lang="en-AU" sz="1800" dirty="0"/>
              <a:t>A</a:t>
            </a:r>
            <a:r>
              <a:rPr lang="en-AU" sz="1800" baseline="-25000" dirty="0"/>
              <a:t>8</a:t>
            </a:r>
            <a:r>
              <a:rPr lang="en-AU" sz="1800" dirty="0"/>
              <a:t>-A</a:t>
            </a:r>
            <a:r>
              <a:rPr lang="en-AU" sz="1800" baseline="-25000" dirty="0"/>
              <a:t>15; </a:t>
            </a:r>
            <a:r>
              <a:rPr lang="en-AU" sz="1800" dirty="0"/>
              <a:t>A</a:t>
            </a:r>
            <a:r>
              <a:rPr lang="en-AU" sz="1800" baseline="-25000" dirty="0"/>
              <a:t>16</a:t>
            </a:r>
            <a:r>
              <a:rPr lang="en-AU" sz="1800" dirty="0"/>
              <a:t>/S</a:t>
            </a:r>
            <a:r>
              <a:rPr lang="en-AU" sz="1800" baseline="-25000" dirty="0"/>
              <a:t>3</a:t>
            </a:r>
            <a:r>
              <a:rPr lang="en-AU" sz="1800" dirty="0"/>
              <a:t>-A</a:t>
            </a:r>
            <a:r>
              <a:rPr lang="en-AU" sz="1800" baseline="-25000" dirty="0"/>
              <a:t>19</a:t>
            </a:r>
            <a:r>
              <a:rPr lang="en-AU" sz="1800" dirty="0"/>
              <a:t>/S</a:t>
            </a:r>
            <a:r>
              <a:rPr lang="en-AU" sz="1800" baseline="-25000" dirty="0"/>
              <a:t>6</a:t>
            </a:r>
            <a:r>
              <a:rPr lang="en-AU" sz="1800" dirty="0"/>
              <a:t>;</a:t>
            </a:r>
          </a:p>
          <a:p>
            <a:pPr lvl="1" eaLnBrk="1" hangingPunct="1"/>
            <a:r>
              <a:rPr lang="en-AU" dirty="0"/>
              <a:t>Data:</a:t>
            </a:r>
          </a:p>
          <a:p>
            <a:pPr lvl="2" eaLnBrk="1" hangingPunct="1"/>
            <a:r>
              <a:rPr lang="en-AU" sz="1800" dirty="0"/>
              <a:t>AD</a:t>
            </a:r>
            <a:r>
              <a:rPr lang="en-AU" sz="1800" baseline="-25000" dirty="0"/>
              <a:t>0</a:t>
            </a:r>
            <a:r>
              <a:rPr lang="en-AU" sz="1800" dirty="0"/>
              <a:t>-AD</a:t>
            </a:r>
            <a:r>
              <a:rPr lang="en-AU" sz="1800" baseline="-25000" dirty="0"/>
              <a:t>7</a:t>
            </a:r>
            <a:r>
              <a:rPr lang="en-AU" sz="1800" dirty="0"/>
              <a:t>: shared with bus A </a:t>
            </a:r>
            <a:r>
              <a:rPr lang="en-AU" sz="1800" dirty="0" err="1">
                <a:highlight>
                  <a:srgbClr val="FFFF00"/>
                </a:highlight>
              </a:rPr>
              <a:t>và</a:t>
            </a:r>
            <a:r>
              <a:rPr lang="en-AU" sz="1800" dirty="0"/>
              <a:t> bus D;</a:t>
            </a:r>
          </a:p>
          <a:p>
            <a:pPr lvl="2" eaLnBrk="1" hangingPunct="1"/>
            <a:r>
              <a:rPr lang="en-AU" sz="1800" dirty="0"/>
              <a:t>ALE=0</a:t>
            </a:r>
            <a:r>
              <a:rPr lang="en-AU" sz="1800" dirty="0">
                <a:sym typeface="Wingdings" pitchFamily="2" charset="2"/>
              </a:rPr>
              <a:t>data, ALE=1address.</a:t>
            </a:r>
          </a:p>
          <a:p>
            <a:pPr lvl="1" eaLnBrk="1" hangingPunct="1"/>
            <a:r>
              <a:rPr lang="en-AU" dirty="0"/>
              <a:t>Control:</a:t>
            </a:r>
          </a:p>
          <a:p>
            <a:pPr lvl="2" eaLnBrk="1" hangingPunct="1"/>
            <a:r>
              <a:rPr lang="en-AU" sz="1800" dirty="0"/>
              <a:t>others</a:t>
            </a:r>
          </a:p>
        </p:txBody>
      </p:sp>
      <p:pic>
        <p:nvPicPr>
          <p:cNvPr id="512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4688" y="1355725"/>
            <a:ext cx="3154362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762000"/>
            <a:ext cx="8909050" cy="522288"/>
          </a:xfrm>
        </p:spPr>
        <p:txBody>
          <a:bodyPr/>
          <a:lstStyle/>
          <a:p>
            <a:pPr eaLnBrk="1" hangingPunct="1"/>
            <a:r>
              <a:rPr lang="en-US" dirty="0"/>
              <a:t>Memory decoding using logical circuits</a:t>
            </a:r>
            <a:endParaRPr lang="en-AU" dirty="0"/>
          </a:p>
        </p:txBody>
      </p:sp>
      <p:sp>
        <p:nvSpPr>
          <p:cNvPr id="23555" name="Content Placeholder 2"/>
          <p:cNvSpPr>
            <a:spLocks/>
          </p:cNvSpPr>
          <p:nvPr/>
        </p:nvSpPr>
        <p:spPr bwMode="auto">
          <a:xfrm>
            <a:off x="457200" y="1371600"/>
            <a:ext cx="8229600" cy="478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v"/>
            </a:pPr>
            <a:r>
              <a:rPr lang="en-US" sz="2400" b="0" dirty="0">
                <a:solidFill>
                  <a:schemeClr val="tx2"/>
                </a:solidFill>
              </a:rPr>
              <a:t>Memory ROM 2K</a:t>
            </a:r>
            <a:r>
              <a:rPr lang="en-US" sz="2400" b="0" dirty="0">
                <a:solidFill>
                  <a:schemeClr val="tx2"/>
                </a:solidFill>
                <a:sym typeface="Symbol" pitchFamily="18" charset="2"/>
              </a:rPr>
              <a:t>8 </a:t>
            </a: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v"/>
            </a:pPr>
            <a:r>
              <a:rPr lang="en-US" sz="2200" b="0" dirty="0">
                <a:solidFill>
                  <a:schemeClr val="tx2"/>
                </a:solidFill>
                <a:sym typeface="Symbol" pitchFamily="18" charset="2"/>
              </a:rPr>
              <a:t>Address range: FF800FFFFF</a:t>
            </a: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v"/>
            </a:pPr>
            <a:r>
              <a:rPr lang="en-US" sz="2400" b="0" dirty="0">
                <a:solidFill>
                  <a:schemeClr val="tx2"/>
                </a:solidFill>
              </a:rPr>
              <a:t>Bits used for addressing cells within the chip ROM 2K: 11bit (A</a:t>
            </a:r>
            <a:r>
              <a:rPr lang="en-US" sz="2400" b="0" baseline="-25000" dirty="0">
                <a:solidFill>
                  <a:schemeClr val="tx2"/>
                </a:solidFill>
              </a:rPr>
              <a:t>0</a:t>
            </a:r>
            <a:r>
              <a:rPr lang="en-US" sz="2400" b="0" dirty="0">
                <a:solidFill>
                  <a:schemeClr val="tx2"/>
                </a:solidFill>
              </a:rPr>
              <a:t>-A</a:t>
            </a:r>
            <a:r>
              <a:rPr lang="en-US" sz="2400" b="0" baseline="-25000" dirty="0">
                <a:solidFill>
                  <a:schemeClr val="tx2"/>
                </a:solidFill>
              </a:rPr>
              <a:t>10</a:t>
            </a:r>
            <a:r>
              <a:rPr lang="en-US" sz="2400" b="0" dirty="0">
                <a:solidFill>
                  <a:schemeClr val="tx2"/>
                </a:solidFill>
              </a:rPr>
              <a:t>).</a:t>
            </a: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v"/>
            </a:pPr>
            <a:r>
              <a:rPr lang="en-US" sz="2400" b="0" dirty="0">
                <a:solidFill>
                  <a:schemeClr val="tx2"/>
                </a:solidFill>
              </a:rPr>
              <a:t> Bits for chip select</a:t>
            </a:r>
          </a:p>
          <a:p>
            <a:pPr marL="742950" lvl="1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sz="2200" b="0" dirty="0">
                <a:solidFill>
                  <a:schemeClr val="tx2"/>
                </a:solidFill>
              </a:rPr>
              <a:t>A</a:t>
            </a:r>
            <a:r>
              <a:rPr lang="en-US" sz="2200" b="0" baseline="-25000" dirty="0">
                <a:solidFill>
                  <a:schemeClr val="tx2"/>
                </a:solidFill>
              </a:rPr>
              <a:t>19</a:t>
            </a:r>
            <a:r>
              <a:rPr lang="en-US" sz="2200" b="0" dirty="0">
                <a:solidFill>
                  <a:schemeClr val="tx2"/>
                </a:solidFill>
              </a:rPr>
              <a:t>…A</a:t>
            </a:r>
            <a:r>
              <a:rPr lang="en-US" sz="2200" b="0" baseline="-25000" dirty="0">
                <a:solidFill>
                  <a:schemeClr val="tx2"/>
                </a:solidFill>
              </a:rPr>
              <a:t>16</a:t>
            </a:r>
            <a:r>
              <a:rPr lang="en-US" sz="2200" b="0" dirty="0">
                <a:solidFill>
                  <a:schemeClr val="tx2"/>
                </a:solidFill>
              </a:rPr>
              <a:t>A</a:t>
            </a:r>
            <a:r>
              <a:rPr lang="en-US" sz="2200" b="0" baseline="-25000" dirty="0">
                <a:solidFill>
                  <a:schemeClr val="tx2"/>
                </a:solidFill>
              </a:rPr>
              <a:t>15</a:t>
            </a:r>
            <a:r>
              <a:rPr lang="en-US" sz="2200" b="0" dirty="0">
                <a:solidFill>
                  <a:schemeClr val="tx2"/>
                </a:solidFill>
              </a:rPr>
              <a:t>A</a:t>
            </a:r>
            <a:r>
              <a:rPr lang="en-US" sz="2200" b="0" baseline="-25000" dirty="0">
                <a:solidFill>
                  <a:schemeClr val="tx2"/>
                </a:solidFill>
              </a:rPr>
              <a:t>12</a:t>
            </a:r>
            <a:r>
              <a:rPr lang="en-US" sz="2200" b="0" dirty="0">
                <a:solidFill>
                  <a:schemeClr val="tx2"/>
                </a:solidFill>
              </a:rPr>
              <a:t>A</a:t>
            </a:r>
            <a:r>
              <a:rPr lang="en-US" sz="2200" b="0" baseline="-25000" dirty="0">
                <a:solidFill>
                  <a:schemeClr val="tx2"/>
                </a:solidFill>
              </a:rPr>
              <a:t>11 </a:t>
            </a:r>
          </a:p>
          <a:p>
            <a:pPr marL="742950" lvl="1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sz="2200" b="0" dirty="0">
                <a:solidFill>
                  <a:schemeClr val="tx2"/>
                </a:solidFill>
              </a:rPr>
              <a:t>1111 1111 1000 0000 0000 </a:t>
            </a:r>
            <a:r>
              <a:rPr lang="en-US" sz="2200" b="0" dirty="0">
                <a:solidFill>
                  <a:schemeClr val="tx2"/>
                </a:solidFill>
                <a:sym typeface="Symbol" pitchFamily="18" charset="2"/>
              </a:rPr>
              <a:t> 1111 1111 1111 1111 1111</a:t>
            </a:r>
            <a:endParaRPr lang="en-US" sz="2200" b="0" dirty="0">
              <a:solidFill>
                <a:schemeClr val="tx2"/>
              </a:solidFill>
            </a:endParaRPr>
          </a:p>
          <a:p>
            <a:pPr marL="742950" lvl="1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</a:pPr>
            <a:endParaRPr lang="en-US" sz="2200" b="0" dirty="0">
              <a:solidFill>
                <a:schemeClr val="tx2"/>
              </a:solidFill>
            </a:endParaRPr>
          </a:p>
          <a:p>
            <a:pPr marL="742950" lvl="1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</a:pPr>
            <a:endParaRPr lang="en-US" sz="2200" b="0" dirty="0">
              <a:solidFill>
                <a:schemeClr val="tx2"/>
              </a:solidFill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v"/>
            </a:pPr>
            <a:r>
              <a:rPr lang="en-US" sz="2400" b="0" dirty="0">
                <a:solidFill>
                  <a:schemeClr val="tx2"/>
                </a:solidFill>
              </a:rPr>
              <a:t>CS = RD OR NOT((A</a:t>
            </a:r>
            <a:r>
              <a:rPr lang="en-US" sz="2400" b="0" baseline="-25000" dirty="0">
                <a:solidFill>
                  <a:schemeClr val="tx2"/>
                </a:solidFill>
              </a:rPr>
              <a:t>19</a:t>
            </a:r>
            <a:r>
              <a:rPr lang="en-US" sz="2400" b="0" dirty="0">
                <a:solidFill>
                  <a:schemeClr val="tx2"/>
                </a:solidFill>
              </a:rPr>
              <a:t>…A</a:t>
            </a:r>
            <a:r>
              <a:rPr lang="en-US" sz="2400" b="0" baseline="-25000" dirty="0">
                <a:solidFill>
                  <a:schemeClr val="tx2"/>
                </a:solidFill>
              </a:rPr>
              <a:t>16</a:t>
            </a:r>
            <a:r>
              <a:rPr lang="en-US" sz="2400" b="0" dirty="0">
                <a:solidFill>
                  <a:schemeClr val="tx2"/>
                </a:solidFill>
              </a:rPr>
              <a:t>A</a:t>
            </a:r>
            <a:r>
              <a:rPr lang="en-US" sz="2400" b="0" baseline="-25000" dirty="0">
                <a:solidFill>
                  <a:schemeClr val="tx2"/>
                </a:solidFill>
              </a:rPr>
              <a:t>15</a:t>
            </a:r>
            <a:r>
              <a:rPr lang="en-US" sz="2400" b="0" dirty="0">
                <a:solidFill>
                  <a:schemeClr val="tx2"/>
                </a:solidFill>
              </a:rPr>
              <a:t>A</a:t>
            </a:r>
            <a:r>
              <a:rPr lang="en-US" sz="2400" b="0" baseline="-25000" dirty="0">
                <a:solidFill>
                  <a:schemeClr val="tx2"/>
                </a:solidFill>
              </a:rPr>
              <a:t>12</a:t>
            </a:r>
            <a:r>
              <a:rPr lang="en-US" sz="2400" b="0" dirty="0">
                <a:solidFill>
                  <a:schemeClr val="tx2"/>
                </a:solidFill>
              </a:rPr>
              <a:t>A</a:t>
            </a:r>
            <a:r>
              <a:rPr lang="en-US" sz="2400" b="0" baseline="-25000" dirty="0">
                <a:solidFill>
                  <a:schemeClr val="tx2"/>
                </a:solidFill>
              </a:rPr>
              <a:t>11</a:t>
            </a:r>
            <a:r>
              <a:rPr lang="en-US" sz="2400" b="0" dirty="0">
                <a:solidFill>
                  <a:schemeClr val="tx2"/>
                </a:solidFill>
              </a:rPr>
              <a:t>)AND(IO/M))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333500" y="4191000"/>
            <a:ext cx="1435100" cy="762000"/>
            <a:chOff x="1333500" y="4191000"/>
            <a:chExt cx="1435100" cy="762000"/>
          </a:xfrm>
        </p:grpSpPr>
        <p:sp>
          <p:nvSpPr>
            <p:cNvPr id="4" name="Left Brace 3"/>
            <p:cNvSpPr/>
            <p:nvPr/>
          </p:nvSpPr>
          <p:spPr>
            <a:xfrm rot="16200000">
              <a:off x="1892300" y="3632200"/>
              <a:ext cx="266700" cy="1384300"/>
            </a:xfrm>
            <a:prstGeom prst="leftBrace">
              <a:avLst>
                <a:gd name="adj1" fmla="val 8333"/>
                <a:gd name="adj2" fmla="val 50000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3557" name="TextBox 4"/>
            <p:cNvSpPr txBox="1">
              <a:spLocks noChangeArrowheads="1"/>
            </p:cNvSpPr>
            <p:nvPr/>
          </p:nvSpPr>
          <p:spPr bwMode="auto">
            <a:xfrm>
              <a:off x="1397000" y="4572000"/>
              <a:ext cx="13716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/>
                <a:t>NOT AND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762000"/>
            <a:ext cx="8909050" cy="522288"/>
          </a:xfrm>
        </p:spPr>
        <p:txBody>
          <a:bodyPr/>
          <a:lstStyle/>
          <a:p>
            <a:pPr eaLnBrk="1" hangingPunct="1"/>
            <a:r>
              <a:rPr lang="en-US" dirty="0"/>
              <a:t>Memory decoding using logic circuits</a:t>
            </a:r>
            <a:endParaRPr lang="en-AU" dirty="0"/>
          </a:p>
        </p:txBody>
      </p:sp>
      <p:pic>
        <p:nvPicPr>
          <p:cNvPr id="24579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3" y="1219200"/>
            <a:ext cx="7839075" cy="493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Memory decoding using 74LS138</a:t>
            </a:r>
            <a:endParaRPr lang="en-AU" dirty="0"/>
          </a:p>
        </p:txBody>
      </p:sp>
      <p:sp>
        <p:nvSpPr>
          <p:cNvPr id="25603" name="Content Placeholder 2"/>
          <p:cNvSpPr>
            <a:spLocks/>
          </p:cNvSpPr>
          <p:nvPr/>
        </p:nvSpPr>
        <p:spPr bwMode="auto">
          <a:xfrm>
            <a:off x="457200" y="1447800"/>
            <a:ext cx="42672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v"/>
            </a:pPr>
            <a:endParaRPr lang="en-US" sz="2400" b="0" dirty="0">
              <a:solidFill>
                <a:schemeClr val="tx2"/>
              </a:solidFill>
            </a:endParaRPr>
          </a:p>
        </p:txBody>
      </p:sp>
      <p:pic>
        <p:nvPicPr>
          <p:cNvPr id="2560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447800"/>
            <a:ext cx="44958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86200"/>
            <a:ext cx="3952875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Memory decoding using 74LS138</a:t>
            </a:r>
            <a:endParaRPr lang="en-AU" dirty="0"/>
          </a:p>
        </p:txBody>
      </p:sp>
      <p:sp>
        <p:nvSpPr>
          <p:cNvPr id="26627" name="Content Placeholder 2"/>
          <p:cNvSpPr>
            <a:spLocks/>
          </p:cNvSpPr>
          <p:nvPr/>
        </p:nvSpPr>
        <p:spPr bwMode="auto">
          <a:xfrm>
            <a:off x="457200" y="1447800"/>
            <a:ext cx="3429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v"/>
            </a:pPr>
            <a:r>
              <a:rPr lang="en-US" sz="2400" b="0" dirty="0">
                <a:solidFill>
                  <a:schemeClr val="tx2"/>
                </a:solidFill>
              </a:rPr>
              <a:t>74LS138</a:t>
            </a:r>
            <a:endParaRPr lang="en-US" sz="2400" b="0" dirty="0">
              <a:solidFill>
                <a:schemeClr val="tx2"/>
              </a:solidFill>
              <a:sym typeface="Symbol" pitchFamily="18" charset="2"/>
            </a:endParaRPr>
          </a:p>
        </p:txBody>
      </p:sp>
      <p:pic>
        <p:nvPicPr>
          <p:cNvPr id="2662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524000"/>
            <a:ext cx="4524375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311400"/>
            <a:ext cx="1981200" cy="3909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decoding using 74LS138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686800" cy="4754563"/>
          </a:xfrm>
        </p:spPr>
        <p:txBody>
          <a:bodyPr/>
          <a:lstStyle/>
          <a:p>
            <a:r>
              <a:rPr lang="en-US" dirty="0"/>
              <a:t>Memory EPROM 4K</a:t>
            </a:r>
            <a:r>
              <a:rPr lang="en-US" dirty="0">
                <a:sym typeface="Symbol" pitchFamily="18" charset="2"/>
              </a:rPr>
              <a:t>8</a:t>
            </a:r>
          </a:p>
          <a:p>
            <a:pPr>
              <a:buClr>
                <a:schemeClr val="accent1"/>
              </a:buClr>
            </a:pPr>
            <a:r>
              <a:rPr lang="en-US" sz="2200" dirty="0">
                <a:sym typeface="Symbol" pitchFamily="18" charset="2"/>
              </a:rPr>
              <a:t>Address range: F8000FFFFF (32KB)</a:t>
            </a:r>
          </a:p>
          <a:p>
            <a:r>
              <a:rPr lang="en-US" dirty="0"/>
              <a:t>Address signals used for addressing cells in chip EPROM 4K: 12bit (A</a:t>
            </a:r>
            <a:r>
              <a:rPr lang="en-US" baseline="-25000" dirty="0"/>
              <a:t>0</a:t>
            </a:r>
            <a:r>
              <a:rPr lang="en-US" dirty="0"/>
              <a:t>-A</a:t>
            </a:r>
            <a:r>
              <a:rPr lang="en-US" baseline="-25000" dirty="0"/>
              <a:t>11</a:t>
            </a:r>
            <a:r>
              <a:rPr lang="en-US" dirty="0"/>
              <a:t>).</a:t>
            </a:r>
          </a:p>
          <a:p>
            <a:r>
              <a:rPr lang="en-US" dirty="0"/>
              <a:t>Address signals used for chip select : A</a:t>
            </a:r>
            <a:r>
              <a:rPr lang="en-US" baseline="-25000" dirty="0"/>
              <a:t>19</a:t>
            </a:r>
            <a:r>
              <a:rPr lang="en-US" dirty="0"/>
              <a:t>…A</a:t>
            </a:r>
            <a:r>
              <a:rPr lang="en-US" baseline="-25000" dirty="0"/>
              <a:t>16</a:t>
            </a:r>
            <a:r>
              <a:rPr lang="en-US" dirty="0"/>
              <a:t>A</a:t>
            </a:r>
            <a:r>
              <a:rPr lang="en-US" baseline="-25000" dirty="0"/>
              <a:t>15</a:t>
            </a:r>
            <a:r>
              <a:rPr lang="en-US" dirty="0"/>
              <a:t>…..A</a:t>
            </a:r>
            <a:r>
              <a:rPr lang="en-US" baseline="-25000" dirty="0"/>
              <a:t>12</a:t>
            </a:r>
          </a:p>
          <a:p>
            <a:pPr lvl="1"/>
            <a:r>
              <a:rPr lang="en-US" sz="2000" dirty="0"/>
              <a:t>A</a:t>
            </a:r>
            <a:r>
              <a:rPr lang="en-US" sz="2000" baseline="-25000" dirty="0"/>
              <a:t>12</a:t>
            </a:r>
            <a:r>
              <a:rPr lang="en-US" sz="2000" dirty="0"/>
              <a:t>A</a:t>
            </a:r>
            <a:r>
              <a:rPr lang="en-US" sz="2000" baseline="-25000" dirty="0"/>
              <a:t>13</a:t>
            </a:r>
            <a:r>
              <a:rPr lang="en-US" sz="2000" dirty="0"/>
              <a:t>A</a:t>
            </a:r>
            <a:r>
              <a:rPr lang="en-US" sz="2000" baseline="-25000" dirty="0"/>
              <a:t>14</a:t>
            </a:r>
            <a:r>
              <a:rPr lang="en-US" sz="2000" dirty="0"/>
              <a:t> can be changed while </a:t>
            </a:r>
            <a:r>
              <a:rPr lang="en-AU" sz="2000" dirty="0"/>
              <a:t>A</a:t>
            </a:r>
            <a:r>
              <a:rPr lang="en-AU" sz="2000" baseline="-25000" dirty="0"/>
              <a:t>15</a:t>
            </a:r>
            <a:r>
              <a:rPr lang="en-AU" sz="2000" dirty="0"/>
              <a:t>-A</a:t>
            </a:r>
            <a:r>
              <a:rPr lang="en-AU" sz="2000" baseline="-25000" dirty="0"/>
              <a:t>19</a:t>
            </a:r>
            <a:r>
              <a:rPr lang="en-AU" sz="2000" dirty="0"/>
              <a:t> are unchanged (=1).</a:t>
            </a:r>
          </a:p>
          <a:p>
            <a:pPr marL="457200" lvl="1" indent="0">
              <a:buNone/>
            </a:pPr>
            <a:r>
              <a:rPr lang="en-AU" sz="2000" dirty="0">
                <a:sym typeface="Wingdings" pitchFamily="2" charset="2"/>
              </a:rPr>
              <a:t> Connect </a:t>
            </a:r>
            <a:r>
              <a:rPr lang="en-US" sz="2000" dirty="0"/>
              <a:t>A</a:t>
            </a:r>
            <a:r>
              <a:rPr lang="en-US" sz="2000" baseline="-25000" dirty="0"/>
              <a:t>12</a:t>
            </a:r>
            <a:r>
              <a:rPr lang="en-US" sz="2000" dirty="0"/>
              <a:t>A</a:t>
            </a:r>
            <a:r>
              <a:rPr lang="en-US" sz="2000" baseline="-25000" dirty="0"/>
              <a:t>13</a:t>
            </a:r>
            <a:r>
              <a:rPr lang="en-US" sz="2000" dirty="0"/>
              <a:t>A</a:t>
            </a:r>
            <a:r>
              <a:rPr lang="en-US" sz="2000" baseline="-25000" dirty="0"/>
              <a:t>14</a:t>
            </a:r>
            <a:r>
              <a:rPr lang="en-US" sz="2000" dirty="0"/>
              <a:t> to A, B, C respectively;</a:t>
            </a:r>
            <a:r>
              <a:rPr lang="vi-VN" sz="2000" dirty="0"/>
              <a:t>  A</a:t>
            </a:r>
            <a:r>
              <a:rPr lang="vi-VN" sz="2000" baseline="-25000" dirty="0"/>
              <a:t>15</a:t>
            </a:r>
            <a:r>
              <a:rPr lang="vi-VN" sz="2000" dirty="0"/>
              <a:t>-A</a:t>
            </a:r>
            <a:r>
              <a:rPr lang="vi-VN" sz="2000" baseline="-25000" dirty="0"/>
              <a:t>19</a:t>
            </a:r>
            <a:r>
              <a:rPr lang="vi-VN" sz="2000" dirty="0"/>
              <a:t> </a:t>
            </a:r>
            <a:r>
              <a:rPr lang="en-US" sz="2000" dirty="0"/>
              <a:t>and </a:t>
            </a:r>
            <a:r>
              <a:rPr lang="vi-VN" sz="2000" dirty="0"/>
              <a:t>IO/</a:t>
            </a:r>
            <a:r>
              <a:rPr lang="en-AU" sz="2000" dirty="0"/>
              <a:t>M connected to </a:t>
            </a:r>
            <a:r>
              <a:rPr lang="vi-VN" sz="2000" dirty="0"/>
              <a:t>(G2A, G2B).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3807289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Memory decoding using 74LS138</a:t>
            </a:r>
            <a:endParaRPr lang="en-AU" dirty="0"/>
          </a:p>
        </p:txBody>
      </p:sp>
      <p:pic>
        <p:nvPicPr>
          <p:cNvPr id="27651" name="Content Placeholder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71600"/>
            <a:ext cx="7785100" cy="493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CPU-I/O interfacing</a:t>
            </a:r>
            <a:endParaRPr lang="en-AU" dirty="0"/>
          </a:p>
        </p:txBody>
      </p:sp>
      <p:grpSp>
        <p:nvGrpSpPr>
          <p:cNvPr id="26" name="Group 25"/>
          <p:cNvGrpSpPr>
            <a:grpSpLocks/>
          </p:cNvGrpSpPr>
          <p:nvPr/>
        </p:nvGrpSpPr>
        <p:grpSpPr bwMode="auto">
          <a:xfrm>
            <a:off x="2055813" y="1447803"/>
            <a:ext cx="5638800" cy="4632325"/>
            <a:chOff x="3200400" y="1311476"/>
            <a:chExt cx="5638800" cy="4632124"/>
          </a:xfrm>
        </p:grpSpPr>
        <p:sp>
          <p:nvSpPr>
            <p:cNvPr id="27" name="TextBox 21"/>
            <p:cNvSpPr txBox="1">
              <a:spLocks noChangeArrowheads="1"/>
            </p:cNvSpPr>
            <p:nvPr/>
          </p:nvSpPr>
          <p:spPr bwMode="auto">
            <a:xfrm>
              <a:off x="6781800" y="4800600"/>
              <a:ext cx="2057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dirty="0"/>
                <a:t>I/O controller</a:t>
              </a:r>
            </a:p>
          </p:txBody>
        </p:sp>
        <p:grpSp>
          <p:nvGrpSpPr>
            <p:cNvPr id="28" name="Group 24"/>
            <p:cNvGrpSpPr>
              <a:grpSpLocks/>
            </p:cNvGrpSpPr>
            <p:nvPr/>
          </p:nvGrpSpPr>
          <p:grpSpPr bwMode="auto">
            <a:xfrm>
              <a:off x="3200400" y="1311476"/>
              <a:ext cx="5638800" cy="4632124"/>
              <a:chOff x="2895601" y="1311476"/>
              <a:chExt cx="5956357" cy="4632124"/>
            </a:xfrm>
          </p:grpSpPr>
          <p:sp>
            <p:nvSpPr>
              <p:cNvPr id="29" name="Rectangle 28"/>
              <p:cNvSpPr/>
              <p:nvPr/>
            </p:nvSpPr>
            <p:spPr>
              <a:xfrm>
                <a:off x="4342768" y="2057569"/>
                <a:ext cx="2669628" cy="388603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4649641" y="2606820"/>
                <a:ext cx="2020668" cy="369316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dirty="0">
                    <a:latin typeface="Arial" pitchFamily="34" charset="0"/>
                    <a:cs typeface="+mn-cs"/>
                  </a:rPr>
                  <a:t>Buffer reg.</a:t>
                </a: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4649641" y="3444983"/>
                <a:ext cx="2020668" cy="369316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dirty="0">
                    <a:latin typeface="Arial" pitchFamily="34" charset="0"/>
                  </a:rPr>
                  <a:t>Status reg.</a:t>
                </a:r>
                <a:endParaRPr lang="en-US" dirty="0">
                  <a:latin typeface="Arial" pitchFamily="34" charset="0"/>
                  <a:cs typeface="+mn-cs"/>
                </a:endParaRP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4649641" y="4257748"/>
                <a:ext cx="2020668" cy="369316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dirty="0">
                    <a:latin typeface="Arial" pitchFamily="34" charset="0"/>
                    <a:cs typeface="+mn-cs"/>
                  </a:rPr>
                  <a:t>I/O protocol</a:t>
                </a:r>
              </a:p>
            </p:txBody>
          </p:sp>
          <p:sp>
            <p:nvSpPr>
              <p:cNvPr id="33" name="Left-Right Arrow 32"/>
              <p:cNvSpPr/>
              <p:nvPr/>
            </p:nvSpPr>
            <p:spPr>
              <a:xfrm>
                <a:off x="2895601" y="2819536"/>
                <a:ext cx="1371706" cy="457180"/>
              </a:xfrm>
              <a:prstGeom prst="left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4" name="TextBox 8"/>
              <p:cNvSpPr txBox="1">
                <a:spLocks noChangeArrowheads="1"/>
              </p:cNvSpPr>
              <p:nvPr/>
            </p:nvSpPr>
            <p:spPr bwMode="auto">
              <a:xfrm>
                <a:off x="2971801" y="2438400"/>
                <a:ext cx="12954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n-US" dirty="0"/>
                  <a:t>Data</a:t>
                </a:r>
              </a:p>
            </p:txBody>
          </p:sp>
          <p:sp>
            <p:nvSpPr>
              <p:cNvPr id="35" name="Left-Right Arrow 34"/>
              <p:cNvSpPr/>
              <p:nvPr/>
            </p:nvSpPr>
            <p:spPr>
              <a:xfrm>
                <a:off x="2895601" y="3810093"/>
                <a:ext cx="1371706" cy="457180"/>
              </a:xfrm>
              <a:prstGeom prst="left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6" name="TextBox 10"/>
              <p:cNvSpPr txBox="1">
                <a:spLocks noChangeArrowheads="1"/>
              </p:cNvSpPr>
              <p:nvPr/>
            </p:nvSpPr>
            <p:spPr bwMode="auto">
              <a:xfrm>
                <a:off x="2971801" y="3429000"/>
                <a:ext cx="12954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n-US" dirty="0"/>
                  <a:t>Address</a:t>
                </a:r>
              </a:p>
            </p:txBody>
          </p:sp>
          <p:sp>
            <p:nvSpPr>
              <p:cNvPr id="37" name="Left-Right Arrow 36"/>
              <p:cNvSpPr/>
              <p:nvPr/>
            </p:nvSpPr>
            <p:spPr>
              <a:xfrm>
                <a:off x="2895601" y="5029240"/>
                <a:ext cx="1371706" cy="457180"/>
              </a:xfrm>
              <a:prstGeom prst="left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8" name="TextBox 12"/>
              <p:cNvSpPr txBox="1">
                <a:spLocks noChangeArrowheads="1"/>
              </p:cNvSpPr>
              <p:nvPr/>
            </p:nvSpPr>
            <p:spPr bwMode="auto">
              <a:xfrm>
                <a:off x="2971801" y="4648200"/>
                <a:ext cx="12954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n-US" dirty="0"/>
                  <a:t>Control</a:t>
                </a:r>
              </a:p>
            </p:txBody>
          </p:sp>
          <p:sp>
            <p:nvSpPr>
              <p:cNvPr id="39" name="TextBox 13"/>
              <p:cNvSpPr txBox="1">
                <a:spLocks noChangeArrowheads="1"/>
              </p:cNvSpPr>
              <p:nvPr/>
            </p:nvSpPr>
            <p:spPr bwMode="auto">
              <a:xfrm>
                <a:off x="2897660" y="1311476"/>
                <a:ext cx="15240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n-US" dirty="0"/>
                  <a:t>CPU</a:t>
                </a:r>
              </a:p>
            </p:txBody>
          </p:sp>
          <p:sp>
            <p:nvSpPr>
              <p:cNvPr id="40" name="Left-Right Arrow 39"/>
              <p:cNvSpPr/>
              <p:nvPr/>
            </p:nvSpPr>
            <p:spPr>
              <a:xfrm>
                <a:off x="7012397" y="2911607"/>
                <a:ext cx="1371706" cy="457180"/>
              </a:xfrm>
              <a:prstGeom prst="left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1" name="TextBox 17"/>
              <p:cNvSpPr txBox="1">
                <a:spLocks noChangeArrowheads="1"/>
              </p:cNvSpPr>
              <p:nvPr/>
            </p:nvSpPr>
            <p:spPr bwMode="auto">
              <a:xfrm>
                <a:off x="7088660" y="2530676"/>
                <a:ext cx="1524000" cy="369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n-US" dirty="0"/>
                  <a:t>Input ports</a:t>
                </a:r>
              </a:p>
            </p:txBody>
          </p:sp>
          <p:sp>
            <p:nvSpPr>
              <p:cNvPr id="42" name="Left-Right Arrow 41"/>
              <p:cNvSpPr/>
              <p:nvPr/>
            </p:nvSpPr>
            <p:spPr>
              <a:xfrm>
                <a:off x="7012397" y="3902164"/>
                <a:ext cx="1371706" cy="457180"/>
              </a:xfrm>
              <a:prstGeom prst="left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3" name="TextBox 19"/>
              <p:cNvSpPr txBox="1">
                <a:spLocks noChangeArrowheads="1"/>
              </p:cNvSpPr>
              <p:nvPr/>
            </p:nvSpPr>
            <p:spPr bwMode="auto">
              <a:xfrm>
                <a:off x="7088660" y="3521276"/>
                <a:ext cx="1763298" cy="369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n-US" dirty="0"/>
                  <a:t>Output ports</a:t>
                </a:r>
              </a:p>
            </p:txBody>
          </p:sp>
          <p:sp>
            <p:nvSpPr>
              <p:cNvPr id="44" name="Left-Right Arrow 43"/>
              <p:cNvSpPr/>
              <p:nvPr/>
            </p:nvSpPr>
            <p:spPr>
              <a:xfrm>
                <a:off x="7012397" y="5121311"/>
                <a:ext cx="1371706" cy="457180"/>
              </a:xfrm>
              <a:prstGeom prst="left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5" name="TextBox 22"/>
              <p:cNvSpPr txBox="1">
                <a:spLocks noChangeArrowheads="1"/>
              </p:cNvSpPr>
              <p:nvPr/>
            </p:nvSpPr>
            <p:spPr bwMode="auto">
              <a:xfrm>
                <a:off x="7088660" y="1387676"/>
                <a:ext cx="1524000" cy="369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n-US" dirty="0"/>
                  <a:t>I/O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20112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0"/>
            <a:ext cx="8909050" cy="522288"/>
          </a:xfrm>
        </p:spPr>
        <p:txBody>
          <a:bodyPr/>
          <a:lstStyle/>
          <a:p>
            <a:r>
              <a:rPr lang="en-AU" dirty="0"/>
              <a:t>Keyboard-CPU 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219200"/>
            <a:ext cx="7280275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6001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0"/>
            <a:ext cx="8909050" cy="522288"/>
          </a:xfrm>
        </p:spPr>
        <p:txBody>
          <a:bodyPr/>
          <a:lstStyle/>
          <a:p>
            <a:r>
              <a:rPr lang="en-AU" dirty="0"/>
              <a:t>Keyboard-CPU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47800"/>
            <a:ext cx="8915400" cy="4678363"/>
          </a:xfrm>
        </p:spPr>
        <p:txBody>
          <a:bodyPr/>
          <a:lstStyle/>
          <a:p>
            <a:r>
              <a:rPr lang="en-AU" dirty="0"/>
              <a:t>16 keys:</a:t>
            </a:r>
          </a:p>
          <a:p>
            <a:pPr lvl="1"/>
            <a:r>
              <a:rPr lang="vi-VN" sz="2000" dirty="0"/>
              <a:t>74LS374 </a:t>
            </a:r>
            <a:r>
              <a:rPr lang="en-US" sz="2000" dirty="0"/>
              <a:t>for row and </a:t>
            </a:r>
            <a:r>
              <a:rPr lang="vi-VN" sz="2000" dirty="0"/>
              <a:t>74LS244 </a:t>
            </a:r>
            <a:r>
              <a:rPr lang="en-US" sz="2000" dirty="0"/>
              <a:t>for column</a:t>
            </a:r>
            <a:r>
              <a:rPr lang="en-AU" sz="2000" dirty="0"/>
              <a:t>;</a:t>
            </a:r>
          </a:p>
          <a:p>
            <a:r>
              <a:rPr lang="en-AU" dirty="0"/>
              <a:t>How to determine of a key is pressed: scan rows and read columns.  If a key is pressed than D</a:t>
            </a:r>
            <a:r>
              <a:rPr lang="en-AU" baseline="-25000" dirty="0"/>
              <a:t>i</a:t>
            </a:r>
            <a:r>
              <a:rPr lang="en-AU" dirty="0"/>
              <a:t> = 0.</a:t>
            </a:r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85241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Code to check if key C (row D0, column D3) is pressed. Port address for row is 0Ah and port for column is 0Bh.</a:t>
            </a:r>
            <a:endParaRPr lang="en-AU" sz="2000" dirty="0"/>
          </a:p>
          <a:p>
            <a:pPr marL="0" indent="0">
              <a:buNone/>
            </a:pPr>
            <a:endParaRPr lang="en-AU" sz="1100" dirty="0"/>
          </a:p>
          <a:p>
            <a:pPr marL="0" indent="0">
              <a:buNone/>
            </a:pPr>
            <a:r>
              <a:rPr lang="en-AU" sz="2000" dirty="0"/>
              <a:t>	Hang	EQU 0AH		; row port address</a:t>
            </a:r>
          </a:p>
          <a:p>
            <a:pPr marL="0" indent="0">
              <a:buNone/>
            </a:pPr>
            <a:r>
              <a:rPr lang="en-AU" sz="2000" dirty="0"/>
              <a:t>	Cot	EQU 0BH		; column port address</a:t>
            </a:r>
          </a:p>
          <a:p>
            <a:pPr marL="0" indent="0">
              <a:buNone/>
            </a:pPr>
            <a:r>
              <a:rPr lang="en-AU" sz="2000" dirty="0"/>
              <a:t>		MOV AL,11111110b	; D0=0 – scan row 0</a:t>
            </a:r>
          </a:p>
          <a:p>
            <a:pPr marL="0" indent="0">
              <a:buNone/>
            </a:pPr>
            <a:r>
              <a:rPr lang="en-AU" sz="2000" dirty="0"/>
              <a:t>		OUT Hang, AL</a:t>
            </a:r>
          </a:p>
          <a:p>
            <a:pPr marL="0" indent="0">
              <a:buNone/>
            </a:pPr>
            <a:r>
              <a:rPr lang="en-AU" sz="2000" dirty="0"/>
              <a:t>	</a:t>
            </a:r>
            <a:r>
              <a:rPr lang="en-AU" sz="2000" dirty="0" err="1"/>
              <a:t>Ktra</a:t>
            </a:r>
            <a:r>
              <a:rPr lang="en-AU" sz="2000" dirty="0"/>
              <a:t>:	IN AL, Cot		; read the column port</a:t>
            </a:r>
          </a:p>
          <a:p>
            <a:pPr marL="0" indent="0">
              <a:buNone/>
            </a:pPr>
            <a:r>
              <a:rPr lang="en-AU" sz="2000" dirty="0"/>
              <a:t>		AND AL,00001000b	; check D3 ( key C)</a:t>
            </a:r>
          </a:p>
          <a:p>
            <a:pPr marL="0" indent="0">
              <a:buNone/>
            </a:pPr>
            <a:r>
              <a:rPr lang="en-AU" sz="2000" dirty="0"/>
              <a:t>		JNZ </a:t>
            </a:r>
            <a:r>
              <a:rPr lang="en-AU" sz="2000" dirty="0" err="1"/>
              <a:t>Ktra</a:t>
            </a:r>
            <a:r>
              <a:rPr lang="en-AU" sz="2000" dirty="0"/>
              <a:t>		; not pressed yet</a:t>
            </a:r>
          </a:p>
          <a:p>
            <a:pPr marL="0" indent="0">
              <a:buNone/>
            </a:pPr>
            <a:r>
              <a:rPr lang="en-AU" sz="2000" dirty="0"/>
              <a:t>		...			; pressed</a:t>
            </a:r>
          </a:p>
          <a:p>
            <a:pPr marL="0" indent="0">
              <a:buNone/>
            </a:pP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4213356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LED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7447 and LED interfacing:</a:t>
            </a:r>
          </a:p>
          <a:p>
            <a:pPr lvl="1"/>
            <a:r>
              <a:rPr lang="en-AU" dirty="0"/>
              <a:t>Port A: address 0AH, receives the control signals (ON/OFF).</a:t>
            </a:r>
          </a:p>
          <a:p>
            <a:pPr lvl="1"/>
            <a:r>
              <a:rPr lang="en-AU" dirty="0"/>
              <a:t>Port B: address 0BH, receives the number to be displayed on LED in BCD format.</a:t>
            </a:r>
          </a:p>
          <a:p>
            <a:pPr lvl="1"/>
            <a:r>
              <a:rPr lang="en-AU" dirty="0"/>
              <a:t>Turn LED </a:t>
            </a:r>
            <a:r>
              <a:rPr lang="en-AU" dirty="0" err="1"/>
              <a:t>i</a:t>
            </a:r>
            <a:r>
              <a:rPr lang="en-AU" dirty="0"/>
              <a:t> ON : send D</a:t>
            </a:r>
            <a:r>
              <a:rPr lang="en-AU" baseline="-25000" dirty="0"/>
              <a:t>i</a:t>
            </a:r>
            <a:r>
              <a:rPr lang="en-AU" dirty="0"/>
              <a:t> = 0 to port A</a:t>
            </a:r>
          </a:p>
          <a:p>
            <a:pPr lvl="1"/>
            <a:r>
              <a:rPr lang="en-AU" dirty="0"/>
              <a:t>Turn LED </a:t>
            </a:r>
            <a:r>
              <a:rPr lang="en-AU" dirty="0" err="1"/>
              <a:t>i</a:t>
            </a:r>
            <a:r>
              <a:rPr lang="en-AU" dirty="0"/>
              <a:t> OFF: send D</a:t>
            </a:r>
            <a:r>
              <a:rPr lang="en-AU" baseline="-25000" dirty="0"/>
              <a:t>i</a:t>
            </a:r>
            <a:r>
              <a:rPr lang="en-AU" dirty="0"/>
              <a:t> = 1 to port A</a:t>
            </a:r>
          </a:p>
          <a:p>
            <a:pPr lvl="1"/>
            <a:r>
              <a:rPr lang="en-AU" dirty="0"/>
              <a:t>Display the number n:  send n to port B, then turn LED </a:t>
            </a:r>
            <a:r>
              <a:rPr lang="en-AU" dirty="0" err="1"/>
              <a:t>i</a:t>
            </a:r>
            <a:r>
              <a:rPr lang="en-AU" dirty="0"/>
              <a:t> ON.</a:t>
            </a:r>
          </a:p>
        </p:txBody>
      </p:sp>
    </p:spTree>
    <p:extLst>
      <p:ext uri="{BB962C8B-B14F-4D97-AF65-F5344CB8AC3E}">
        <p14:creationId xmlns:p14="http://schemas.microsoft.com/office/powerpoint/2010/main" val="3204139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LED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6999" y="1371600"/>
            <a:ext cx="3876675" cy="517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461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LED interfacing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95400"/>
            <a:ext cx="807354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1134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08100"/>
            <a:ext cx="8756650" cy="4818063"/>
          </a:xfrm>
        </p:spPr>
        <p:txBody>
          <a:bodyPr/>
          <a:lstStyle/>
          <a:p>
            <a:r>
              <a:rPr lang="en-AU" dirty="0"/>
              <a:t>Code to display 8 on all 7 LEDs. Control port is 0Ah and data port is 0Bh.</a:t>
            </a:r>
            <a:endParaRPr lang="en-AU" sz="2000" dirty="0"/>
          </a:p>
          <a:p>
            <a:pPr marL="0" indent="0">
              <a:buNone/>
            </a:pPr>
            <a:endParaRPr lang="en-AU" sz="800" dirty="0"/>
          </a:p>
          <a:p>
            <a:pPr marL="0" indent="0">
              <a:buNone/>
            </a:pPr>
            <a:r>
              <a:rPr lang="en-AU" sz="1800" dirty="0"/>
              <a:t>	DK_LED	EQU 0AH	; </a:t>
            </a:r>
            <a:r>
              <a:rPr lang="en-AU" sz="1800" dirty="0" err="1"/>
              <a:t>Cổng</a:t>
            </a:r>
            <a:r>
              <a:rPr lang="en-AU" sz="1800" dirty="0"/>
              <a:t> </a:t>
            </a:r>
            <a:r>
              <a:rPr lang="en-AU" sz="1800" dirty="0" err="1"/>
              <a:t>điều</a:t>
            </a:r>
            <a:r>
              <a:rPr lang="en-AU" sz="1800" dirty="0"/>
              <a:t> </a:t>
            </a:r>
            <a:r>
              <a:rPr lang="en-AU" sz="1800" dirty="0" err="1"/>
              <a:t>khiển</a:t>
            </a:r>
            <a:r>
              <a:rPr lang="en-AU" sz="1800" dirty="0"/>
              <a:t> LED</a:t>
            </a:r>
          </a:p>
          <a:p>
            <a:pPr marL="0" indent="0">
              <a:buNone/>
            </a:pPr>
            <a:r>
              <a:rPr lang="en-AU" sz="1800" dirty="0"/>
              <a:t>	DL_LED	EQU 0BH	; </a:t>
            </a:r>
            <a:r>
              <a:rPr lang="en-AU" sz="1800" dirty="0" err="1"/>
              <a:t>Cổng</a:t>
            </a:r>
            <a:r>
              <a:rPr lang="en-AU" sz="1800" dirty="0"/>
              <a:t> </a:t>
            </a:r>
            <a:r>
              <a:rPr lang="en-AU" sz="1800" dirty="0" err="1"/>
              <a:t>dữ</a:t>
            </a:r>
            <a:r>
              <a:rPr lang="en-AU" sz="1800" dirty="0"/>
              <a:t> </a:t>
            </a:r>
            <a:r>
              <a:rPr lang="en-AU" sz="1800" dirty="0" err="1"/>
              <a:t>liệu</a:t>
            </a:r>
            <a:r>
              <a:rPr lang="en-AU" sz="1800" dirty="0"/>
              <a:t> </a:t>
            </a:r>
            <a:r>
              <a:rPr lang="en-AU" sz="1800" dirty="0" err="1"/>
              <a:t>hiển</a:t>
            </a:r>
            <a:r>
              <a:rPr lang="en-AU" sz="1800" dirty="0"/>
              <a:t> </a:t>
            </a:r>
            <a:r>
              <a:rPr lang="en-AU" sz="1800" dirty="0" err="1"/>
              <a:t>thị</a:t>
            </a:r>
            <a:endParaRPr lang="en-AU" sz="1800" dirty="0"/>
          </a:p>
          <a:p>
            <a:pPr marL="0" indent="0">
              <a:buNone/>
            </a:pPr>
            <a:r>
              <a:rPr lang="en-AU" sz="1800" dirty="0"/>
              <a:t>		MOV AL,FFH	; </a:t>
            </a:r>
            <a:r>
              <a:rPr lang="en-AU" sz="1800" dirty="0" err="1"/>
              <a:t>Tắt</a:t>
            </a:r>
            <a:r>
              <a:rPr lang="en-AU" sz="1800" dirty="0"/>
              <a:t> </a:t>
            </a:r>
            <a:r>
              <a:rPr lang="en-AU" sz="1800" dirty="0" err="1"/>
              <a:t>tất</a:t>
            </a:r>
            <a:r>
              <a:rPr lang="en-AU" sz="1800" dirty="0"/>
              <a:t> </a:t>
            </a:r>
            <a:r>
              <a:rPr lang="en-AU" sz="1800" dirty="0" err="1"/>
              <a:t>cả</a:t>
            </a:r>
            <a:r>
              <a:rPr lang="en-AU" sz="1800" dirty="0"/>
              <a:t> </a:t>
            </a:r>
            <a:r>
              <a:rPr lang="en-AU" sz="1800" dirty="0" err="1"/>
              <a:t>các</a:t>
            </a:r>
            <a:r>
              <a:rPr lang="en-AU" sz="1800" dirty="0"/>
              <a:t> LED</a:t>
            </a:r>
          </a:p>
          <a:p>
            <a:pPr marL="0" indent="0">
              <a:buNone/>
            </a:pPr>
            <a:r>
              <a:rPr lang="en-AU" sz="1800" dirty="0"/>
              <a:t>		OUT DK_LED, AL</a:t>
            </a:r>
          </a:p>
          <a:p>
            <a:pPr marL="0" indent="0">
              <a:buNone/>
            </a:pPr>
            <a:r>
              <a:rPr lang="en-AU" sz="1800" dirty="0"/>
              <a:t>		MOV CX,64	; </a:t>
            </a:r>
            <a:r>
              <a:rPr lang="en-AU" sz="1800" dirty="0" err="1"/>
              <a:t>Trễ</a:t>
            </a:r>
            <a:r>
              <a:rPr lang="en-AU" sz="1800" dirty="0"/>
              <a:t> </a:t>
            </a:r>
            <a:r>
              <a:rPr lang="en-AU" sz="1800" dirty="0" err="1"/>
              <a:t>bằng</a:t>
            </a:r>
            <a:r>
              <a:rPr lang="en-AU" sz="1800" dirty="0"/>
              <a:t> 64 </a:t>
            </a:r>
            <a:r>
              <a:rPr lang="en-AU" sz="1800" dirty="0" err="1"/>
              <a:t>lệnh</a:t>
            </a:r>
            <a:r>
              <a:rPr lang="en-AU" sz="1800" dirty="0"/>
              <a:t> NOP</a:t>
            </a:r>
          </a:p>
          <a:p>
            <a:pPr marL="0" indent="0">
              <a:buNone/>
            </a:pPr>
            <a:r>
              <a:rPr lang="en-AU" sz="1800" dirty="0"/>
              <a:t>	</a:t>
            </a:r>
            <a:r>
              <a:rPr lang="en-AU" sz="1800" dirty="0" err="1"/>
              <a:t>Tre</a:t>
            </a:r>
            <a:r>
              <a:rPr lang="en-AU" sz="1800" dirty="0"/>
              <a:t>:	NOP</a:t>
            </a:r>
          </a:p>
          <a:p>
            <a:pPr marL="0" indent="0">
              <a:buNone/>
            </a:pPr>
            <a:r>
              <a:rPr lang="en-AU" sz="1800" dirty="0"/>
              <a:t>		LOOP </a:t>
            </a:r>
            <a:r>
              <a:rPr lang="en-AU" sz="1800" dirty="0" err="1"/>
              <a:t>Tre</a:t>
            </a:r>
            <a:endParaRPr lang="en-AU" sz="1800" dirty="0"/>
          </a:p>
          <a:p>
            <a:pPr marL="0" indent="0">
              <a:buNone/>
            </a:pPr>
            <a:r>
              <a:rPr lang="en-AU" sz="1800" dirty="0"/>
              <a:t>		MOV AL,8	; </a:t>
            </a:r>
            <a:r>
              <a:rPr lang="en-AU" sz="1800" dirty="0" err="1"/>
              <a:t>Đưa</a:t>
            </a:r>
            <a:r>
              <a:rPr lang="en-AU" sz="1800" dirty="0"/>
              <a:t> </a:t>
            </a:r>
            <a:r>
              <a:rPr lang="en-AU" sz="1800" dirty="0" err="1"/>
              <a:t>số</a:t>
            </a:r>
            <a:r>
              <a:rPr lang="en-AU" sz="1800" dirty="0"/>
              <a:t> 8 </a:t>
            </a:r>
            <a:r>
              <a:rPr lang="en-AU" sz="1800" dirty="0" err="1"/>
              <a:t>ra</a:t>
            </a:r>
            <a:r>
              <a:rPr lang="en-AU" sz="1800" dirty="0"/>
              <a:t> 7447</a:t>
            </a:r>
          </a:p>
          <a:p>
            <a:pPr marL="0" indent="0">
              <a:buNone/>
            </a:pPr>
            <a:r>
              <a:rPr lang="en-AU" sz="1800" dirty="0"/>
              <a:t>		OUT DL_LED,AL</a:t>
            </a:r>
          </a:p>
          <a:p>
            <a:pPr marL="0" indent="0">
              <a:buNone/>
            </a:pPr>
            <a:r>
              <a:rPr lang="en-AU" sz="1800" dirty="0"/>
              <a:t>		XOR AL,AL	; </a:t>
            </a:r>
            <a:r>
              <a:rPr lang="en-AU" sz="1800" dirty="0" err="1"/>
              <a:t>Đặt</a:t>
            </a:r>
            <a:r>
              <a:rPr lang="en-AU" sz="1800" dirty="0"/>
              <a:t> AL=0</a:t>
            </a:r>
          </a:p>
          <a:p>
            <a:pPr marL="0" indent="0">
              <a:buNone/>
            </a:pPr>
            <a:r>
              <a:rPr lang="en-AU" sz="1800" dirty="0"/>
              <a:t>		OUT DK_LED,AL	; </a:t>
            </a:r>
            <a:r>
              <a:rPr lang="en-AU" sz="1800" dirty="0" err="1"/>
              <a:t>Bật</a:t>
            </a:r>
            <a:r>
              <a:rPr lang="en-AU" sz="1800" dirty="0"/>
              <a:t> </a:t>
            </a:r>
            <a:r>
              <a:rPr lang="en-AU" sz="1800" dirty="0" err="1"/>
              <a:t>tất</a:t>
            </a:r>
            <a:r>
              <a:rPr lang="en-AU" sz="1800" dirty="0"/>
              <a:t> </a:t>
            </a:r>
            <a:r>
              <a:rPr lang="en-AU" sz="1800" dirty="0" err="1"/>
              <a:t>cả</a:t>
            </a:r>
            <a:r>
              <a:rPr lang="en-AU" sz="1800" dirty="0"/>
              <a:t> </a:t>
            </a:r>
            <a:r>
              <a:rPr lang="en-AU" sz="1800" dirty="0" err="1"/>
              <a:t>các</a:t>
            </a:r>
            <a:r>
              <a:rPr lang="en-AU" sz="1800" dirty="0"/>
              <a:t> LED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479995421"/>
      </p:ext>
    </p:extLst>
  </p:cSld>
  <p:clrMapOvr>
    <a:masterClrMapping/>
  </p:clrMapOvr>
</p:sld>
</file>

<file path=ppt/theme/theme1.xml><?xml version="1.0" encoding="utf-8"?>
<a:theme xmlns:a="http://schemas.openxmlformats.org/drawingml/2006/main" name="213TGp_natural_light_v2">
  <a:themeElements>
    <a:clrScheme name="213TGp_natural_light_v2 2">
      <a:dk1>
        <a:srgbClr val="000000"/>
      </a:dk1>
      <a:lt1>
        <a:srgbClr val="FFFFFF"/>
      </a:lt1>
      <a:dk2>
        <a:srgbClr val="003399"/>
      </a:dk2>
      <a:lt2>
        <a:srgbClr val="C0C0C0"/>
      </a:lt2>
      <a:accent1>
        <a:srgbClr val="5E9CDA"/>
      </a:accent1>
      <a:accent2>
        <a:srgbClr val="93C052"/>
      </a:accent2>
      <a:accent3>
        <a:srgbClr val="FFFFFF"/>
      </a:accent3>
      <a:accent4>
        <a:srgbClr val="000000"/>
      </a:accent4>
      <a:accent5>
        <a:srgbClr val="B6CBEA"/>
      </a:accent5>
      <a:accent6>
        <a:srgbClr val="85AE49"/>
      </a:accent6>
      <a:hlink>
        <a:srgbClr val="FF9933"/>
      </a:hlink>
      <a:folHlink>
        <a:srgbClr val="855ADA"/>
      </a:folHlink>
    </a:clrScheme>
    <a:fontScheme name="213TGp_natural_light_v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213TGp_natural_light_v2 1">
        <a:dk1>
          <a:srgbClr val="000000"/>
        </a:dk1>
        <a:lt1>
          <a:srgbClr val="FFFFFF"/>
        </a:lt1>
        <a:dk2>
          <a:srgbClr val="142288"/>
        </a:dk2>
        <a:lt2>
          <a:srgbClr val="C0C0C0"/>
        </a:lt2>
        <a:accent1>
          <a:srgbClr val="39998E"/>
        </a:accent1>
        <a:accent2>
          <a:srgbClr val="14CAEE"/>
        </a:accent2>
        <a:accent3>
          <a:srgbClr val="FFFFFF"/>
        </a:accent3>
        <a:accent4>
          <a:srgbClr val="000000"/>
        </a:accent4>
        <a:accent5>
          <a:srgbClr val="AECAC6"/>
        </a:accent5>
        <a:accent6>
          <a:srgbClr val="11B7D8"/>
        </a:accent6>
        <a:hlink>
          <a:srgbClr val="8963E9"/>
        </a:hlink>
        <a:folHlink>
          <a:srgbClr val="3067B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3TGp_natural_light_v2 2">
        <a:dk1>
          <a:srgbClr val="000000"/>
        </a:dk1>
        <a:lt1>
          <a:srgbClr val="FFFFFF"/>
        </a:lt1>
        <a:dk2>
          <a:srgbClr val="003399"/>
        </a:dk2>
        <a:lt2>
          <a:srgbClr val="C0C0C0"/>
        </a:lt2>
        <a:accent1>
          <a:srgbClr val="5E9CDA"/>
        </a:accent1>
        <a:accent2>
          <a:srgbClr val="93C052"/>
        </a:accent2>
        <a:accent3>
          <a:srgbClr val="FFFFFF"/>
        </a:accent3>
        <a:accent4>
          <a:srgbClr val="000000"/>
        </a:accent4>
        <a:accent5>
          <a:srgbClr val="B6CBEA"/>
        </a:accent5>
        <a:accent6>
          <a:srgbClr val="85AE49"/>
        </a:accent6>
        <a:hlink>
          <a:srgbClr val="FF9933"/>
        </a:hlink>
        <a:folHlink>
          <a:srgbClr val="855AD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3TGp_natural_light_v2 3">
        <a:dk1>
          <a:srgbClr val="000000"/>
        </a:dk1>
        <a:lt1>
          <a:srgbClr val="FFFFFF"/>
        </a:lt1>
        <a:dk2>
          <a:srgbClr val="124458"/>
        </a:dk2>
        <a:lt2>
          <a:srgbClr val="C0C0C0"/>
        </a:lt2>
        <a:accent1>
          <a:srgbClr val="98C13D"/>
        </a:accent1>
        <a:accent2>
          <a:srgbClr val="40BAD2"/>
        </a:accent2>
        <a:accent3>
          <a:srgbClr val="FFFFFF"/>
        </a:accent3>
        <a:accent4>
          <a:srgbClr val="000000"/>
        </a:accent4>
        <a:accent5>
          <a:srgbClr val="CADDAF"/>
        </a:accent5>
        <a:accent6>
          <a:srgbClr val="39A8BE"/>
        </a:accent6>
        <a:hlink>
          <a:srgbClr val="715EE6"/>
        </a:hlink>
        <a:folHlink>
          <a:srgbClr val="238DD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213TGp_natural_light_v2</Template>
  <TotalTime>6005</TotalTime>
  <Words>693</Words>
  <Application>Microsoft Macintosh PowerPoint</Application>
  <PresentationFormat>On-screen Show (4:3)</PresentationFormat>
  <Paragraphs>99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Wingdings</vt:lpstr>
      <vt:lpstr>213TGp_natural_light_v2</vt:lpstr>
      <vt:lpstr>PowerPoint Presentation</vt:lpstr>
      <vt:lpstr>CONTENT</vt:lpstr>
      <vt:lpstr>8088 spin signals</vt:lpstr>
      <vt:lpstr>Memory decoding using logical circuits</vt:lpstr>
      <vt:lpstr>Memory decoding using logic circuits</vt:lpstr>
      <vt:lpstr>Memory decoding using 74LS138</vt:lpstr>
      <vt:lpstr>Memory decoding using 74LS138</vt:lpstr>
      <vt:lpstr>Memory decoding using 74LS138</vt:lpstr>
      <vt:lpstr>Memory decoding using 74LS138</vt:lpstr>
      <vt:lpstr>CPU-I/O interfacing</vt:lpstr>
      <vt:lpstr>Keyboard-CPU </vt:lpstr>
      <vt:lpstr>Keyboard-CPU</vt:lpstr>
      <vt:lpstr>Example code</vt:lpstr>
      <vt:lpstr>LED interface</vt:lpstr>
      <vt:lpstr>LED</vt:lpstr>
      <vt:lpstr>LED interfacing</vt:lpstr>
      <vt:lpstr>Example code</vt:lpstr>
    </vt:vector>
  </TitlesOfParts>
  <Company>PTIT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Hoang Minh</dc:creator>
  <cp:lastModifiedBy>Truong. Dinh Xuan - CMC Corp CIST</cp:lastModifiedBy>
  <cp:revision>172</cp:revision>
  <dcterms:created xsi:type="dcterms:W3CDTF">2008-09-11T07:24:50Z</dcterms:created>
  <dcterms:modified xsi:type="dcterms:W3CDTF">2022-12-26T02:54:25Z</dcterms:modified>
</cp:coreProperties>
</file>