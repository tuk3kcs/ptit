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57" r:id="rId3"/>
    <p:sldId id="258" r:id="rId4"/>
    <p:sldId id="261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9E92-C158-4A8D-BCA6-E01E8FEC2FE6}" type="datetimeFigureOut">
              <a:rPr lang="en-US" smtClean="0"/>
              <a:pPr/>
              <a:t>12/7/2022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212D-9243-4538-B01D-B0801231DF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9E92-C158-4A8D-BCA6-E01E8FEC2FE6}" type="datetimeFigureOut">
              <a:rPr lang="en-US" smtClean="0"/>
              <a:pPr/>
              <a:t>12/7/2022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212D-9243-4538-B01D-B0801231DF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9E92-C158-4A8D-BCA6-E01E8FEC2FE6}" type="datetimeFigureOut">
              <a:rPr lang="en-US" smtClean="0"/>
              <a:pPr/>
              <a:t>12/7/2022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212D-9243-4538-B01D-B0801231DF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9E92-C158-4A8D-BCA6-E01E8FEC2FE6}" type="datetimeFigureOut">
              <a:rPr lang="en-US" smtClean="0"/>
              <a:pPr/>
              <a:t>12/7/2022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212D-9243-4538-B01D-B0801231DF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9E92-C158-4A8D-BCA6-E01E8FEC2FE6}" type="datetimeFigureOut">
              <a:rPr lang="en-US" smtClean="0"/>
              <a:pPr/>
              <a:t>12/7/2022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212D-9243-4538-B01D-B0801231DF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9E92-C158-4A8D-BCA6-E01E8FEC2FE6}" type="datetimeFigureOut">
              <a:rPr lang="en-US" smtClean="0"/>
              <a:pPr/>
              <a:t>12/7/2022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212D-9243-4538-B01D-B0801231DF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9E92-C158-4A8D-BCA6-E01E8FEC2FE6}" type="datetimeFigureOut">
              <a:rPr lang="en-US" smtClean="0"/>
              <a:pPr/>
              <a:t>12/7/2022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212D-9243-4538-B01D-B0801231DF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9E92-C158-4A8D-BCA6-E01E8FEC2FE6}" type="datetimeFigureOut">
              <a:rPr lang="en-US" smtClean="0"/>
              <a:pPr/>
              <a:t>12/7/2022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212D-9243-4538-B01D-B0801231DF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9E92-C158-4A8D-BCA6-E01E8FEC2FE6}" type="datetimeFigureOut">
              <a:rPr lang="en-US" smtClean="0"/>
              <a:pPr/>
              <a:t>12/7/2022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212D-9243-4538-B01D-B0801231DF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9E92-C158-4A8D-BCA6-E01E8FEC2FE6}" type="datetimeFigureOut">
              <a:rPr lang="en-US" smtClean="0"/>
              <a:pPr/>
              <a:t>12/7/2022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212D-9243-4538-B01D-B0801231DF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9E92-C158-4A8D-BCA6-E01E8FEC2FE6}" type="datetimeFigureOut">
              <a:rPr lang="en-US" smtClean="0"/>
              <a:pPr/>
              <a:t>12/7/2022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212D-9243-4538-B01D-B0801231DF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400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79E92-C158-4A8D-BCA6-E01E8FEC2FE6}" type="datetimeFigureOut">
              <a:rPr lang="en-US" smtClean="0"/>
              <a:pPr/>
              <a:t>12/7/2022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D212D-9243-4538-B01D-B0801231DF0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sites.google.com/view/cuongpham/home" TargetMode="External"/><Relationship Id="rId4" Type="http://schemas.openxmlformats.org/officeDocument/2006/relationships/hyperlink" Target="mailto:cuongpham.ptit@gmail.co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ocw.mit.edu/courses/electrical-engineering-and-computer-science/6-823-computer-system-architecture-fall-2005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2">
            <a:extLst>
              <a:ext uri="{FF2B5EF4-FFF2-40B4-BE49-F238E27FC236}">
                <a16:creationId xmlns:a16="http://schemas.microsoft.com/office/drawing/2014/main" id="{E9EA0074-1ED1-48D4-B0FB-99E1F2D140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1066800"/>
            <a:ext cx="9144000" cy="7191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AU" altLang="en-US">
              <a:solidFill>
                <a:schemeClr val="tx1"/>
              </a:solidFill>
            </a:endParaRPr>
          </a:p>
        </p:txBody>
      </p:sp>
      <p:sp>
        <p:nvSpPr>
          <p:cNvPr id="15363" name="Rectangle 13">
            <a:extLst>
              <a:ext uri="{FF2B5EF4-FFF2-40B4-BE49-F238E27FC236}">
                <a16:creationId xmlns:a16="http://schemas.microsoft.com/office/drawing/2014/main" id="{81ABB2BF-8221-4AA0-A8FE-7250C2770B1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3962400"/>
            <a:ext cx="9144000" cy="7191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AU" altLang="en-US">
              <a:solidFill>
                <a:schemeClr val="tx1"/>
              </a:solidFill>
            </a:endParaRPr>
          </a:p>
        </p:txBody>
      </p:sp>
      <p:sp>
        <p:nvSpPr>
          <p:cNvPr id="15364" name="Oval 14">
            <a:extLst>
              <a:ext uri="{FF2B5EF4-FFF2-40B4-BE49-F238E27FC236}">
                <a16:creationId xmlns:a16="http://schemas.microsoft.com/office/drawing/2014/main" id="{96DA954B-D543-460F-97AD-13AC77F13B5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11638" y="2636838"/>
            <a:ext cx="1223962" cy="1223962"/>
          </a:xfrm>
          <a:prstGeom prst="ellipse">
            <a:avLst/>
          </a:prstGeom>
          <a:solidFill>
            <a:srgbClr val="1BABE5">
              <a:alpha val="1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AU" altLang="en-US">
              <a:solidFill>
                <a:schemeClr val="tx1"/>
              </a:solidFill>
            </a:endParaRPr>
          </a:p>
        </p:txBody>
      </p:sp>
      <p:pic>
        <p:nvPicPr>
          <p:cNvPr id="15365" name="Picture 15">
            <a:extLst>
              <a:ext uri="{FF2B5EF4-FFF2-40B4-BE49-F238E27FC236}">
                <a16:creationId xmlns:a16="http://schemas.microsoft.com/office/drawing/2014/main" id="{CA993B38-12F8-4AC6-A6B2-6881B982E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9144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366" name="Group 16">
            <a:extLst>
              <a:ext uri="{FF2B5EF4-FFF2-40B4-BE49-F238E27FC236}">
                <a16:creationId xmlns:a16="http://schemas.microsoft.com/office/drawing/2014/main" id="{6CB465DB-A784-411D-9A28-FCFA74FFF231}"/>
              </a:ext>
            </a:extLst>
          </p:cNvPr>
          <p:cNvGrpSpPr>
            <a:grpSpLocks/>
          </p:cNvGrpSpPr>
          <p:nvPr/>
        </p:nvGrpSpPr>
        <p:grpSpPr bwMode="auto">
          <a:xfrm>
            <a:off x="52388" y="1004888"/>
            <a:ext cx="3529012" cy="3671887"/>
            <a:chOff x="612" y="1026"/>
            <a:chExt cx="2223" cy="2313"/>
          </a:xfrm>
        </p:grpSpPr>
        <p:sp>
          <p:nvSpPr>
            <p:cNvPr id="15372" name="Oval 17">
              <a:extLst>
                <a:ext uri="{FF2B5EF4-FFF2-40B4-BE49-F238E27FC236}">
                  <a16:creationId xmlns:a16="http://schemas.microsoft.com/office/drawing/2014/main" id="{660BFF6A-4581-4B4F-97D2-420F4D3B37F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12" y="1026"/>
              <a:ext cx="2223" cy="2313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  <a:round/>
              <a:headEnd/>
              <a:tailEnd/>
            </a:ln>
            <a:effectLst>
              <a:outerShdw dist="89803" dir="2700000" algn="ctr" rotWithShape="0">
                <a:srgbClr val="000000">
                  <a:alpha val="18999"/>
                </a:srgb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2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AU" altLang="en-US">
                <a:solidFill>
                  <a:schemeClr val="tx1"/>
                </a:solidFill>
              </a:endParaRPr>
            </a:p>
          </p:txBody>
        </p:sp>
        <p:pic>
          <p:nvPicPr>
            <p:cNvPr id="15373" name="Picture 18" descr="HV_toancanh">
              <a:extLst>
                <a:ext uri="{FF2B5EF4-FFF2-40B4-BE49-F238E27FC236}">
                  <a16:creationId xmlns:a16="http://schemas.microsoft.com/office/drawing/2014/main" id="{0C3F5D50-440F-402E-9722-BCFDE2476D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1530"/>
              <a:ext cx="1776" cy="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367" name="Text Box 19">
            <a:extLst>
              <a:ext uri="{FF2B5EF4-FFF2-40B4-BE49-F238E27FC236}">
                <a16:creationId xmlns:a16="http://schemas.microsoft.com/office/drawing/2014/main" id="{DA092610-8172-4FA9-A29D-FC6D173F3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22275"/>
            <a:ext cx="632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/>
              <a:t> HỌC VIỆN CÔNG NGHỆ BƯU CHÍNH VIỄN THÔNG </a:t>
            </a:r>
          </a:p>
        </p:txBody>
      </p:sp>
      <p:sp>
        <p:nvSpPr>
          <p:cNvPr id="15368" name="Text Box 20">
            <a:extLst>
              <a:ext uri="{FF2B5EF4-FFF2-40B4-BE49-F238E27FC236}">
                <a16:creationId xmlns:a16="http://schemas.microsoft.com/office/drawing/2014/main" id="{8EBAA3FB-F02C-480B-BC32-18FFE0006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981200"/>
            <a:ext cx="5410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/>
              <a:t>Chapter 1</a:t>
            </a:r>
          </a:p>
        </p:txBody>
      </p:sp>
      <p:sp>
        <p:nvSpPr>
          <p:cNvPr id="15369" name="Text Box 21">
            <a:extLst>
              <a:ext uri="{FF2B5EF4-FFF2-40B4-BE49-F238E27FC236}">
                <a16:creationId xmlns:a16="http://schemas.microsoft.com/office/drawing/2014/main" id="{7EF79965-A96A-4FA3-88DB-070CE8696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438400"/>
            <a:ext cx="5486400" cy="97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en-US" sz="3200"/>
              <a:t>Introduction to Microprocessors</a:t>
            </a:r>
          </a:p>
        </p:txBody>
      </p:sp>
      <p:sp>
        <p:nvSpPr>
          <p:cNvPr id="15370" name="Text Box 22">
            <a:extLst>
              <a:ext uri="{FF2B5EF4-FFF2-40B4-BE49-F238E27FC236}">
                <a16:creationId xmlns:a16="http://schemas.microsoft.com/office/drawing/2014/main" id="{59687D50-3A01-4927-A467-09D2D64C4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800600"/>
            <a:ext cx="7315200" cy="166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en-US" sz="2000"/>
              <a:t>Instructor: Associate Professor Phạm Văn Cường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en-US" sz="2000"/>
              <a:t>E-mail:	</a:t>
            </a:r>
            <a:r>
              <a:rPr lang="en-US" altLang="en-US" sz="2000">
                <a:hlinkClick r:id="rId4"/>
              </a:rPr>
              <a:t>cuongpham.ptit@gmail.com</a:t>
            </a:r>
            <a:endParaRPr lang="en-US" altLang="en-US" sz="2000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en-US" sz="2000"/>
              <a:t>Web: </a:t>
            </a:r>
            <a:r>
              <a:rPr lang="en-US" altLang="en-US" sz="2000">
                <a:hlinkClick r:id="rId5"/>
              </a:rPr>
              <a:t>https://sites.google.com/view/cuongpham/home</a:t>
            </a:r>
            <a:endParaRPr lang="en-US" altLang="en-US" sz="2000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endParaRPr lang="en-US" altLang="en-US" sz="2000"/>
          </a:p>
        </p:txBody>
      </p:sp>
      <p:sp>
        <p:nvSpPr>
          <p:cNvPr id="15371" name="Text Box 24">
            <a:extLst>
              <a:ext uri="{FF2B5EF4-FFF2-40B4-BE49-F238E27FC236}">
                <a16:creationId xmlns:a16="http://schemas.microsoft.com/office/drawing/2014/main" id="{34E31025-0E78-45D7-972D-F1436A89F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057525"/>
            <a:ext cx="5257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2000"/>
          </a:p>
        </p:txBody>
      </p:sp>
    </p:spTree>
  </p:cSld>
  <p:clrMapOvr>
    <a:masterClrMapping/>
  </p:clrMapOvr>
  <p:transition advTm="9594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6320"/>
          </a:xfrm>
        </p:spPr>
        <p:txBody>
          <a:bodyPr>
            <a:normAutofit/>
          </a:bodyPr>
          <a:lstStyle/>
          <a:p>
            <a:r>
              <a:rPr lang="en-GB" dirty="0"/>
              <a:t>Introduction</a:t>
            </a:r>
          </a:p>
          <a:p>
            <a:r>
              <a:rPr lang="en-GB" dirty="0"/>
              <a:t>Central Processing Unit &amp; </a:t>
            </a:r>
            <a:r>
              <a:rPr lang="en-US" dirty="0"/>
              <a:t>pipelining </a:t>
            </a:r>
            <a:r>
              <a:rPr lang="vi-VN" dirty="0"/>
              <a:t> </a:t>
            </a:r>
          </a:p>
          <a:p>
            <a:r>
              <a:rPr lang="en-GB" dirty="0"/>
              <a:t>Cache &amp; memory systems`</a:t>
            </a:r>
          </a:p>
          <a:p>
            <a:r>
              <a:rPr lang="en-GB" dirty="0"/>
              <a:t>8088/8086 architecture &amp; components</a:t>
            </a:r>
          </a:p>
          <a:p>
            <a:r>
              <a:rPr lang="en-GB" dirty="0"/>
              <a:t>Assembly language programming</a:t>
            </a:r>
          </a:p>
          <a:p>
            <a:r>
              <a:rPr lang="en-GB" dirty="0"/>
              <a:t>CPU-I/O interface programming</a:t>
            </a:r>
          </a:p>
          <a:p>
            <a:r>
              <a:rPr lang="en-GB" dirty="0"/>
              <a:t>I/O interfacing methods</a:t>
            </a:r>
          </a:p>
          <a:p>
            <a:pPr marL="457200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>
              <a:buNone/>
            </a:pPr>
            <a:endParaRPr lang="en-GB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Textbook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GB" dirty="0"/>
              <a:t>Hoang </a:t>
            </a:r>
            <a:r>
              <a:rPr lang="en-GB" dirty="0" err="1"/>
              <a:t>Xuan</a:t>
            </a:r>
            <a:r>
              <a:rPr lang="en-GB" dirty="0"/>
              <a:t> </a:t>
            </a:r>
            <a:r>
              <a:rPr lang="en-GB" dirty="0" err="1"/>
              <a:t>Dau</a:t>
            </a:r>
            <a:r>
              <a:rPr lang="en-GB" dirty="0"/>
              <a:t>: </a:t>
            </a:r>
            <a:r>
              <a:rPr lang="en-GB" dirty="0" err="1"/>
              <a:t>Bài</a:t>
            </a:r>
            <a:r>
              <a:rPr lang="en-GB" dirty="0"/>
              <a:t> </a:t>
            </a:r>
            <a:r>
              <a:rPr lang="en-GB" dirty="0" err="1"/>
              <a:t>giảng</a:t>
            </a:r>
            <a:r>
              <a:rPr lang="en-GB" dirty="0"/>
              <a:t> </a:t>
            </a:r>
            <a:r>
              <a:rPr lang="en-GB" dirty="0" err="1"/>
              <a:t>môn</a:t>
            </a:r>
            <a:r>
              <a:rPr lang="en-GB" dirty="0"/>
              <a:t> </a:t>
            </a:r>
            <a:r>
              <a:rPr lang="en-GB" dirty="0" err="1"/>
              <a:t>Kiến</a:t>
            </a:r>
            <a:r>
              <a:rPr lang="en-GB" dirty="0"/>
              <a:t> </a:t>
            </a:r>
            <a:r>
              <a:rPr lang="en-GB" dirty="0" err="1"/>
              <a:t>trúc</a:t>
            </a:r>
            <a:r>
              <a:rPr lang="en-GB" dirty="0"/>
              <a:t> </a:t>
            </a:r>
            <a:r>
              <a:rPr lang="en-GB" dirty="0" err="1"/>
              <a:t>máy</a:t>
            </a:r>
            <a:r>
              <a:rPr lang="en-GB" dirty="0"/>
              <a:t> </a:t>
            </a:r>
            <a:r>
              <a:rPr lang="en-GB" dirty="0" err="1"/>
              <a:t>tính</a:t>
            </a:r>
            <a:r>
              <a:rPr lang="en-GB" dirty="0"/>
              <a:t>. </a:t>
            </a:r>
            <a:r>
              <a:rPr lang="en-GB" dirty="0" err="1"/>
              <a:t>Học</a:t>
            </a:r>
            <a:r>
              <a:rPr lang="en-GB" dirty="0"/>
              <a:t> </a:t>
            </a:r>
            <a:r>
              <a:rPr lang="en-GB" dirty="0" err="1"/>
              <a:t>viện</a:t>
            </a:r>
            <a:r>
              <a:rPr lang="en-GB" dirty="0"/>
              <a:t> </a:t>
            </a:r>
            <a:r>
              <a:rPr lang="en-GB" dirty="0" err="1"/>
              <a:t>Công</a:t>
            </a:r>
            <a:r>
              <a:rPr lang="en-GB" dirty="0"/>
              <a:t> </a:t>
            </a:r>
            <a:r>
              <a:rPr lang="en-GB" dirty="0" err="1"/>
              <a:t>nghệ</a:t>
            </a:r>
            <a:r>
              <a:rPr lang="en-GB" dirty="0"/>
              <a:t> BCVT. 2010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GB" dirty="0"/>
              <a:t>Pham Hoang Duy: </a:t>
            </a:r>
            <a:r>
              <a:rPr lang="en-GB" dirty="0" err="1"/>
              <a:t>Bài</a:t>
            </a:r>
            <a:r>
              <a:rPr lang="en-GB" dirty="0"/>
              <a:t> </a:t>
            </a:r>
            <a:r>
              <a:rPr lang="en-GB" dirty="0" err="1"/>
              <a:t>giảng</a:t>
            </a:r>
            <a:r>
              <a:rPr lang="en-GB" dirty="0"/>
              <a:t> </a:t>
            </a:r>
            <a:r>
              <a:rPr lang="en-GB" dirty="0" err="1"/>
              <a:t>môn</a:t>
            </a:r>
            <a:r>
              <a:rPr lang="en-GB" dirty="0"/>
              <a:t> </a:t>
            </a:r>
            <a:r>
              <a:rPr lang="en-GB" dirty="0" err="1"/>
              <a:t>Kỹ</a:t>
            </a:r>
            <a:r>
              <a:rPr lang="en-GB" dirty="0"/>
              <a:t> </a:t>
            </a:r>
            <a:r>
              <a:rPr lang="en-GB" dirty="0" err="1"/>
              <a:t>thuật</a:t>
            </a:r>
            <a:r>
              <a:rPr lang="en-GB" dirty="0"/>
              <a:t> Vi </a:t>
            </a:r>
            <a:r>
              <a:rPr lang="en-GB" dirty="0" err="1"/>
              <a:t>xử</a:t>
            </a:r>
            <a:r>
              <a:rPr lang="en-GB" dirty="0"/>
              <a:t> </a:t>
            </a:r>
            <a:r>
              <a:rPr lang="en-GB" dirty="0" err="1"/>
              <a:t>lý</a:t>
            </a:r>
            <a:r>
              <a:rPr lang="en-GB" dirty="0"/>
              <a:t>. </a:t>
            </a:r>
            <a:r>
              <a:rPr lang="en-GB" dirty="0" err="1"/>
              <a:t>Học</a:t>
            </a:r>
            <a:r>
              <a:rPr lang="en-GB" dirty="0"/>
              <a:t> </a:t>
            </a:r>
            <a:r>
              <a:rPr lang="en-GB" dirty="0" err="1"/>
              <a:t>viện</a:t>
            </a:r>
            <a:r>
              <a:rPr lang="en-GB" dirty="0"/>
              <a:t> </a:t>
            </a:r>
            <a:r>
              <a:rPr lang="en-GB" dirty="0" err="1"/>
              <a:t>Công</a:t>
            </a:r>
            <a:r>
              <a:rPr lang="en-GB" dirty="0"/>
              <a:t> </a:t>
            </a:r>
            <a:r>
              <a:rPr lang="en-GB" dirty="0" err="1"/>
              <a:t>nghệ</a:t>
            </a:r>
            <a:r>
              <a:rPr lang="en-GB" dirty="0"/>
              <a:t> BCVT. 2012</a:t>
            </a:r>
          </a:p>
          <a:p>
            <a:pPr marL="514350" indent="-514350">
              <a:buAutoNum type="arabicPeriod"/>
            </a:pPr>
            <a:r>
              <a:rPr lang="en-US" dirty="0">
                <a:hlinkClick r:id="rId2"/>
              </a:rPr>
              <a:t>http://ocw.mit.edu/courses/electrical-engineering-and-computer-science/6-823-computer-system-architecture-fall-2005/</a:t>
            </a:r>
            <a:r>
              <a:rPr lang="en-US" dirty="0"/>
              <a:t> (course code: 6823)</a:t>
            </a:r>
          </a:p>
          <a:p>
            <a:pPr marL="514350" indent="-514350">
              <a:buAutoNum type="arabicPeriod"/>
            </a:pPr>
            <a:r>
              <a:rPr lang="en-US" dirty="0"/>
              <a:t>Patterson, D. A., and J. L. Hennessy. </a:t>
            </a:r>
            <a:r>
              <a:rPr lang="en-US" i="1" dirty="0"/>
              <a:t>Computer Organization and Design: The Hardware/Software Interface</a:t>
            </a:r>
            <a:r>
              <a:rPr lang="en-US" dirty="0"/>
              <a:t>, 3rd ed. San Mateo, CA: Morgan Kaufman, 2004. ISBN: 1558606041.</a:t>
            </a:r>
          </a:p>
          <a:p>
            <a:pPr marL="514350" indent="-514350">
              <a:buAutoNum type="arabicPeriod"/>
            </a:pPr>
            <a:r>
              <a:rPr lang="en-US" dirty="0"/>
              <a:t>Video lectures on YouTube (TBA).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Emu8086</a:t>
            </a:r>
          </a:p>
          <a:p>
            <a:pPr marL="0" indent="0">
              <a:buNone/>
            </a:pPr>
            <a:r>
              <a:rPr lang="en-US" dirty="0"/>
              <a:t>License Name: nasa8x </a:t>
            </a:r>
          </a:p>
          <a:p>
            <a:pPr marL="0" indent="0">
              <a:buNone/>
            </a:pPr>
            <a:r>
              <a:rPr lang="en-US" dirty="0"/>
              <a:t>Registration Key: YFE1QZXJKASERKKN8373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362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Grades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Attendance: 10%</a:t>
            </a:r>
          </a:p>
          <a:p>
            <a:r>
              <a:rPr lang="en-GB" dirty="0"/>
              <a:t>Test: 10%</a:t>
            </a:r>
          </a:p>
          <a:p>
            <a:r>
              <a:rPr lang="en-GB" dirty="0"/>
              <a:t>Quiz: 20%</a:t>
            </a:r>
          </a:p>
          <a:p>
            <a:r>
              <a:rPr lang="en-GB" dirty="0"/>
              <a:t>Final exam: 60%</a:t>
            </a:r>
          </a:p>
          <a:p>
            <a:endParaRPr lang="en-GB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211</Words>
  <Application>Microsoft Office PowerPoint</Application>
  <PresentationFormat>On-screen Show (4:3)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Description</vt:lpstr>
      <vt:lpstr>Textbook </vt:lpstr>
      <vt:lpstr>Tools</vt:lpstr>
      <vt:lpstr>Grades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Thuật toán nâng cao</dc:title>
  <dc:creator>Cuong</dc:creator>
  <cp:lastModifiedBy>Phạm Văn Cường (VinAI-NC-TGMT)</cp:lastModifiedBy>
  <cp:revision>36</cp:revision>
  <dcterms:created xsi:type="dcterms:W3CDTF">2013-03-01T02:27:57Z</dcterms:created>
  <dcterms:modified xsi:type="dcterms:W3CDTF">2022-12-07T02:35:49Z</dcterms:modified>
</cp:coreProperties>
</file>