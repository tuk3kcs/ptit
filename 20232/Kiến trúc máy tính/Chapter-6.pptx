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9"/>
  </p:notesMasterIdLst>
  <p:handoutMasterIdLst>
    <p:handoutMasterId r:id="rId20"/>
  </p:handoutMasterIdLst>
  <p:sldIdLst>
    <p:sldId id="292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10" r:id="rId11"/>
    <p:sldId id="311" r:id="rId12"/>
    <p:sldId id="303" r:id="rId13"/>
    <p:sldId id="307" r:id="rId14"/>
    <p:sldId id="309" r:id="rId15"/>
    <p:sldId id="312" r:id="rId16"/>
    <p:sldId id="314" r:id="rId17"/>
    <p:sldId id="317" r:id="rId18"/>
  </p:sldIdLst>
  <p:sldSz cx="9144000" cy="6858000" type="screen4x3"/>
  <p:notesSz cx="9929813" cy="66706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1">
          <p15:clr>
            <a:srgbClr val="A4A3A4"/>
          </p15:clr>
        </p15:guide>
        <p15:guide id="2" pos="312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6600"/>
    <a:srgbClr val="FF9999"/>
    <a:srgbClr val="CCFF66"/>
    <a:srgbClr val="CCCC00"/>
    <a:srgbClr val="000066"/>
    <a:srgbClr val="993300"/>
    <a:srgbClr val="6600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93584" autoAdjust="0"/>
  </p:normalViewPr>
  <p:slideViewPr>
    <p:cSldViewPr>
      <p:cViewPr varScale="1">
        <p:scale>
          <a:sx n="103" d="100"/>
          <a:sy n="103" d="100"/>
        </p:scale>
        <p:origin x="192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2736" y="-90"/>
      </p:cViewPr>
      <p:guideLst>
        <p:guide orient="horz" pos="2101"/>
        <p:guide pos="31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3713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4513" y="0"/>
            <a:ext cx="4303712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6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35713"/>
            <a:ext cx="4303713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6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4513" y="6335713"/>
            <a:ext cx="4303712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E9C460CD-9923-4B80-A750-D84F75B796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8841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3713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4513" y="0"/>
            <a:ext cx="4303712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97238" y="500063"/>
            <a:ext cx="3335337" cy="2501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3775" y="3168650"/>
            <a:ext cx="7943850" cy="300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35713"/>
            <a:ext cx="4303713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4513" y="6335713"/>
            <a:ext cx="4303712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9C00E65E-CBD8-4004-96F3-DE009303C5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2630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7391B6A-D917-4D2E-92C7-80511F912182}" type="slidenum">
              <a:rPr lang="en-US" b="0" smtClean="0"/>
              <a:pPr eaLnBrk="1" hangingPunct="1"/>
              <a:t>10</a:t>
            </a:fld>
            <a:endParaRPr lang="en-US" b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AU"/>
              <a:t>D08.1 13.10</a:t>
            </a: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1D9637B-F5B8-444E-AC5E-118FEDEFD127}" type="slidenum">
              <a:rPr lang="en-US" b="0" smtClean="0"/>
              <a:pPr eaLnBrk="1" hangingPunct="1"/>
              <a:t>12</a:t>
            </a:fld>
            <a:endParaRPr lang="en-US" b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AU"/>
              <a:t>D08.2,3 13.10</a:t>
            </a: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7E6459B-8D9C-42D6-B0E7-F83F4B46816D}" type="slidenum">
              <a:rPr lang="en-US" b="0" smtClean="0"/>
              <a:pPr eaLnBrk="1" hangingPunct="1"/>
              <a:t>16</a:t>
            </a:fld>
            <a:endParaRPr lang="en-US" b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572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E6299A-9629-4BF4-BC53-BE89BFC4488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8650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35EC7-CB14-4F9B-8A3D-ABB0E018AA1F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91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447800"/>
            <a:ext cx="4302125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3125" y="1447800"/>
            <a:ext cx="4302125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7BB977-638A-419B-93EF-1E37E6D0802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5738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Rectangle 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" name="Rectangle 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Rectangle 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D03368-334A-4D5B-B3DE-CDFECF40C81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9145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Rectangle 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Rectangle 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5E2A11-8C5D-48F3-B1B1-C0CD09DD79E8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7349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Rectangle 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Rectangle 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881E1-2162-4ACF-9A08-09337AD0C167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0459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464DBB-25F4-45CD-B997-E8BA6AED514B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477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9B4EC6-2AE8-4CA4-81E2-8BCDDEC28035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4197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3AC273-298E-44D7-B8FF-C0052EACE7B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9864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96088" y="762000"/>
            <a:ext cx="2189162" cy="5364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762000"/>
            <a:ext cx="6415088" cy="5364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3E3069-86C8-4A3A-915F-7C3B2FC35D8F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055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2"/>
          <p:cNvSpPr>
            <a:spLocks noChangeArrowheads="1"/>
          </p:cNvSpPr>
          <p:nvPr userDrawn="1"/>
        </p:nvSpPr>
        <p:spPr bwMode="gray">
          <a:xfrm>
            <a:off x="0" y="6224588"/>
            <a:ext cx="9144000" cy="6477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027" name="Oval 2"/>
          <p:cNvSpPr>
            <a:spLocks noChangeArrowheads="1"/>
          </p:cNvSpPr>
          <p:nvPr userDrawn="1"/>
        </p:nvSpPr>
        <p:spPr bwMode="gray">
          <a:xfrm>
            <a:off x="0" y="0"/>
            <a:ext cx="9144000" cy="6858000"/>
          </a:xfrm>
          <a:prstGeom prst="ellipse">
            <a:avLst/>
          </a:prstGeom>
          <a:solidFill>
            <a:schemeClr val="bg1">
              <a:alpha val="4392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028" name="Rectangle 3"/>
          <p:cNvSpPr>
            <a:spLocks noChangeArrowheads="1"/>
          </p:cNvSpPr>
          <p:nvPr/>
        </p:nvSpPr>
        <p:spPr bwMode="gray">
          <a:xfrm>
            <a:off x="0" y="0"/>
            <a:ext cx="9144000" cy="7191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AU"/>
          </a:p>
        </p:txBody>
      </p:sp>
      <p:pic>
        <p:nvPicPr>
          <p:cNvPr id="1029" name="Picture 15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341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Line 16"/>
          <p:cNvSpPr>
            <a:spLocks noChangeShapeType="1"/>
          </p:cNvSpPr>
          <p:nvPr userDrawn="1"/>
        </p:nvSpPr>
        <p:spPr bwMode="auto">
          <a:xfrm>
            <a:off x="0" y="747713"/>
            <a:ext cx="914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031" name="Text Box 18"/>
          <p:cNvSpPr txBox="1">
            <a:spLocks noChangeArrowheads="1"/>
          </p:cNvSpPr>
          <p:nvPr userDrawn="1"/>
        </p:nvSpPr>
        <p:spPr bwMode="auto">
          <a:xfrm>
            <a:off x="1600200" y="46038"/>
            <a:ext cx="6400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400"/>
              <a:t>BÀI GIẢNG MÔN KỸ THUẬT VI XỬ LÝ</a:t>
            </a:r>
          </a:p>
        </p:txBody>
      </p:sp>
      <p:sp>
        <p:nvSpPr>
          <p:cNvPr id="1032" name="Text Box 23"/>
          <p:cNvSpPr txBox="1">
            <a:spLocks noChangeArrowheads="1"/>
          </p:cNvSpPr>
          <p:nvPr userDrawn="1"/>
        </p:nvSpPr>
        <p:spPr bwMode="auto">
          <a:xfrm>
            <a:off x="0" y="6396038"/>
            <a:ext cx="2057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/>
              <a:t>www.ptit.edu.vn</a:t>
            </a:r>
          </a:p>
        </p:txBody>
      </p:sp>
      <p:sp>
        <p:nvSpPr>
          <p:cNvPr id="1033" name="Text Box 24"/>
          <p:cNvSpPr txBox="1">
            <a:spLocks noChangeArrowheads="1"/>
          </p:cNvSpPr>
          <p:nvPr userDrawn="1"/>
        </p:nvSpPr>
        <p:spPr bwMode="auto">
          <a:xfrm>
            <a:off x="1447800" y="6310313"/>
            <a:ext cx="6400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400"/>
              <a:t>GIẢNG VIÊN: TS. HOÀNG XUÂN DẬU</a:t>
            </a:r>
          </a:p>
        </p:txBody>
      </p:sp>
      <p:sp>
        <p:nvSpPr>
          <p:cNvPr id="1034" name="Text Box 25"/>
          <p:cNvSpPr txBox="1">
            <a:spLocks noChangeArrowheads="1"/>
          </p:cNvSpPr>
          <p:nvPr userDrawn="1"/>
        </p:nvSpPr>
        <p:spPr bwMode="auto">
          <a:xfrm>
            <a:off x="1462088" y="6538913"/>
            <a:ext cx="6400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400"/>
              <a:t>BỘ MÔN: KHOA HỌC MÁY TÍNH - KHOA CNTT1</a:t>
            </a:r>
          </a:p>
        </p:txBody>
      </p:sp>
      <p:sp>
        <p:nvSpPr>
          <p:cNvPr id="1035" name="Text Box 26"/>
          <p:cNvSpPr txBox="1">
            <a:spLocks noChangeArrowheads="1"/>
          </p:cNvSpPr>
          <p:nvPr userDrawn="1"/>
        </p:nvSpPr>
        <p:spPr bwMode="auto">
          <a:xfrm>
            <a:off x="8001000" y="6391275"/>
            <a:ext cx="1143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/>
              <a:t>Trang </a:t>
            </a:r>
            <a:fld id="{2C36EFAF-26AB-4483-B406-F1ED505455BF}" type="slidenum">
              <a:rPr lang="en-US" sz="1400"/>
              <a:pPr eaLnBrk="1" hangingPunct="1">
                <a:spcBef>
                  <a:spcPct val="50000"/>
                </a:spcBef>
              </a:pPr>
              <a:t>‹#›</a:t>
            </a:fld>
            <a:endParaRPr lang="en-US" sz="1400"/>
          </a:p>
        </p:txBody>
      </p:sp>
      <p:sp>
        <p:nvSpPr>
          <p:cNvPr id="1036" name="Rectangle 27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762000"/>
            <a:ext cx="87566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title style</a:t>
            </a:r>
          </a:p>
        </p:txBody>
      </p:sp>
      <p:sp>
        <p:nvSpPr>
          <p:cNvPr id="1037" name="Rectangle 28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447800"/>
            <a:ext cx="8756650" cy="46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</a:p>
        </p:txBody>
      </p:sp>
      <p:sp>
        <p:nvSpPr>
          <p:cNvPr id="47133" name="Rectangle 2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7134" name="Rectangle 3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7135" name="Rectangle 3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>
              <a:defRPr/>
            </a:pPr>
            <a:fld id="{D2FF7161-8E88-4265-9C19-00BBF0649D00}" type="slidenum">
              <a:rPr lang="en-AU"/>
              <a:pPr>
                <a:defRPr/>
              </a:pPr>
              <a:t>‹#›</a:t>
            </a:fld>
            <a:endParaRPr lang="en-AU"/>
          </a:p>
        </p:txBody>
      </p:sp>
      <p:sp>
        <p:nvSpPr>
          <p:cNvPr id="1041" name="Text Box 32"/>
          <p:cNvSpPr txBox="1">
            <a:spLocks noChangeArrowheads="1"/>
          </p:cNvSpPr>
          <p:nvPr userDrawn="1"/>
        </p:nvSpPr>
        <p:spPr bwMode="auto">
          <a:xfrm>
            <a:off x="1295400" y="304800"/>
            <a:ext cx="7086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600"/>
              <a:t>CHƯƠNG 5 – </a:t>
            </a:r>
            <a:r>
              <a:rPr lang="fr-FR" sz="1600"/>
              <a:t>CÁC PHƯƠNG PHÁP VÀO RA DỮ LIỆU</a:t>
            </a:r>
            <a:endParaRPr 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v"/>
        <a:defRPr sz="24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200">
          <a:solidFill>
            <a:schemeClr val="tx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ites.google.com/view/cuongpham/home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2"/>
          <p:cNvSpPr>
            <a:spLocks noChangeArrowheads="1"/>
          </p:cNvSpPr>
          <p:nvPr/>
        </p:nvSpPr>
        <p:spPr bwMode="ltGray">
          <a:xfrm>
            <a:off x="0" y="1066800"/>
            <a:ext cx="9144000" cy="7191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5" name="Rectangle 13"/>
          <p:cNvSpPr>
            <a:spLocks noChangeArrowheads="1"/>
          </p:cNvSpPr>
          <p:nvPr/>
        </p:nvSpPr>
        <p:spPr bwMode="ltGray">
          <a:xfrm>
            <a:off x="0" y="3962400"/>
            <a:ext cx="9144000" cy="7191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6" name="Oval 14"/>
          <p:cNvSpPr>
            <a:spLocks noChangeArrowheads="1"/>
          </p:cNvSpPr>
          <p:nvPr/>
        </p:nvSpPr>
        <p:spPr bwMode="gray">
          <a:xfrm>
            <a:off x="4211638" y="2636838"/>
            <a:ext cx="1223962" cy="1223962"/>
          </a:xfrm>
          <a:prstGeom prst="ellipse">
            <a:avLst/>
          </a:prstGeom>
          <a:solidFill>
            <a:srgbClr val="1BABE5">
              <a:alpha val="1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AU"/>
          </a:p>
        </p:txBody>
      </p:sp>
      <p:pic>
        <p:nvPicPr>
          <p:cNvPr id="3077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914400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8" name="Group 16"/>
          <p:cNvGrpSpPr>
            <a:grpSpLocks/>
          </p:cNvGrpSpPr>
          <p:nvPr/>
        </p:nvGrpSpPr>
        <p:grpSpPr bwMode="auto">
          <a:xfrm>
            <a:off x="52388" y="1004888"/>
            <a:ext cx="3529012" cy="3671887"/>
            <a:chOff x="612" y="1026"/>
            <a:chExt cx="2223" cy="2313"/>
          </a:xfrm>
        </p:grpSpPr>
        <p:sp>
          <p:nvSpPr>
            <p:cNvPr id="3084" name="Oval 17"/>
            <p:cNvSpPr>
              <a:spLocks noChangeArrowheads="1"/>
            </p:cNvSpPr>
            <p:nvPr/>
          </p:nvSpPr>
          <p:spPr bwMode="gray">
            <a:xfrm>
              <a:off x="612" y="1026"/>
              <a:ext cx="2223" cy="2313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  <a:round/>
              <a:headEnd/>
              <a:tailEnd/>
            </a:ln>
            <a:effectLst>
              <a:outerShdw dist="89803" dir="2700000" algn="ctr" rotWithShape="0">
                <a:srgbClr val="000000">
                  <a:alpha val="18999"/>
                </a:srgbClr>
              </a:outerShdw>
            </a:effectLst>
          </p:spPr>
          <p:txBody>
            <a:bodyPr wrap="none" anchor="ctr"/>
            <a:lstStyle/>
            <a:p>
              <a:endParaRPr lang="en-AU"/>
            </a:p>
          </p:txBody>
        </p:sp>
        <p:pic>
          <p:nvPicPr>
            <p:cNvPr id="3085" name="Picture 18" descr="HV_toancanh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" y="1530"/>
              <a:ext cx="1776" cy="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79" name="Text Box 19"/>
          <p:cNvSpPr txBox="1">
            <a:spLocks noChangeArrowheads="1"/>
          </p:cNvSpPr>
          <p:nvPr/>
        </p:nvSpPr>
        <p:spPr bwMode="auto">
          <a:xfrm>
            <a:off x="2362200" y="422275"/>
            <a:ext cx="632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chemeClr val="tx2"/>
                </a:solidFill>
              </a:rPr>
              <a:t> HỌC VIỆN CÔNG NGHỆ BƯU CHÍNH VIỄN THÔNG </a:t>
            </a:r>
          </a:p>
        </p:txBody>
      </p:sp>
      <p:sp>
        <p:nvSpPr>
          <p:cNvPr id="3081" name="Text Box 21"/>
          <p:cNvSpPr txBox="1">
            <a:spLocks noChangeArrowheads="1"/>
          </p:cNvSpPr>
          <p:nvPr/>
        </p:nvSpPr>
        <p:spPr bwMode="auto">
          <a:xfrm>
            <a:off x="3429000" y="2438400"/>
            <a:ext cx="556260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3200" dirty="0">
                <a:solidFill>
                  <a:schemeClr val="tx2"/>
                </a:solidFill>
              </a:rPr>
              <a:t>COMPUTER ARCHITECTURE</a:t>
            </a:r>
          </a:p>
        </p:txBody>
      </p:sp>
      <p:sp>
        <p:nvSpPr>
          <p:cNvPr id="3082" name="Text Box 22"/>
          <p:cNvSpPr txBox="1">
            <a:spLocks noChangeArrowheads="1"/>
          </p:cNvSpPr>
          <p:nvPr/>
        </p:nvSpPr>
        <p:spPr bwMode="auto">
          <a:xfrm>
            <a:off x="1066800" y="4800600"/>
            <a:ext cx="7315200" cy="166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000" dirty="0">
                <a:solidFill>
                  <a:schemeClr val="tx2"/>
                </a:solidFill>
              </a:rPr>
              <a:t>Instructor:  Associate Professor  Phạm Văn Cường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000" dirty="0">
                <a:solidFill>
                  <a:schemeClr val="tx2"/>
                </a:solidFill>
              </a:rPr>
              <a:t>E-mail:	                cuongpham.ptit@gmail.com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000">
                <a:solidFill>
                  <a:schemeClr val="tx2"/>
                </a:solidFill>
              </a:rPr>
              <a:t>www:  </a:t>
            </a:r>
            <a:r>
              <a:rPr lang="en-US" sz="2000">
                <a:solidFill>
                  <a:schemeClr val="tx2"/>
                </a:solidFill>
                <a:hlinkClick r:id="rId4"/>
              </a:rPr>
              <a:t>https://sites.google.com/view/cuongpham/home</a:t>
            </a:r>
            <a:endParaRPr lang="en-US" sz="200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3083" name="Text Box 24"/>
          <p:cNvSpPr txBox="1">
            <a:spLocks noChangeArrowheads="1"/>
          </p:cNvSpPr>
          <p:nvPr/>
        </p:nvSpPr>
        <p:spPr bwMode="auto">
          <a:xfrm>
            <a:off x="3905250" y="3417129"/>
            <a:ext cx="5086350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dirty="0">
                <a:solidFill>
                  <a:schemeClr val="tx2"/>
                </a:solidFill>
              </a:rPr>
              <a:t>                   I/O INTERFACING METHODS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	</a:t>
            </a:r>
          </a:p>
        </p:txBody>
      </p:sp>
    </p:spTree>
  </p:cSld>
  <p:clrMapOvr>
    <a:masterClrMapping/>
  </p:clrMapOvr>
  <p:transition advTm="9594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dirty="0"/>
              <a:t>Content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447800"/>
            <a:ext cx="7918450" cy="4678363"/>
          </a:xfrm>
        </p:spPr>
        <p:txBody>
          <a:bodyPr/>
          <a:lstStyle/>
          <a:p>
            <a:pPr marL="457200" indent="-457200" eaLnBrk="1" hangingPunct="1">
              <a:buFont typeface="Wingdings" pitchFamily="2" charset="2"/>
              <a:buAutoNum type="arabicPeriod"/>
            </a:pPr>
            <a:r>
              <a:rPr lang="en-US" dirty="0"/>
              <a:t>Introduction</a:t>
            </a:r>
          </a:p>
          <a:p>
            <a:pPr marL="457200" indent="-457200" eaLnBrk="1" hangingPunct="1">
              <a:buFont typeface="Wingdings" pitchFamily="2" charset="2"/>
              <a:buAutoNum type="arabicPeriod"/>
            </a:pPr>
            <a:r>
              <a:rPr lang="en-US" dirty="0"/>
              <a:t>Polling</a:t>
            </a:r>
          </a:p>
          <a:p>
            <a:pPr marL="457200" indent="-457200" eaLnBrk="1" hangingPunct="1">
              <a:buFont typeface="Wingdings" pitchFamily="2" charset="2"/>
              <a:buAutoNum type="arabicPeriod"/>
            </a:pPr>
            <a:r>
              <a:rPr lang="en-US" dirty="0"/>
              <a:t>Interrupt</a:t>
            </a:r>
          </a:p>
          <a:p>
            <a:pPr marL="457200" indent="-457200" eaLnBrk="1" hangingPunct="1">
              <a:buFont typeface="Wingdings" pitchFamily="2" charset="2"/>
              <a:buAutoNum type="arabicPeriod"/>
            </a:pPr>
            <a:r>
              <a:rPr lang="en-US" dirty="0"/>
              <a:t>Direct Memory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dirty="0"/>
              <a:t>Introduction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Why I/O:</a:t>
            </a:r>
          </a:p>
          <a:p>
            <a:pPr lvl="1" eaLnBrk="1" hangingPunct="1"/>
            <a:r>
              <a:rPr lang="en-US" dirty="0"/>
              <a:t>Interfacing between CPU and other devices</a:t>
            </a:r>
          </a:p>
          <a:p>
            <a:pPr lvl="1" eaLnBrk="1" hangingPunct="1"/>
            <a:r>
              <a:rPr lang="en-US" dirty="0"/>
              <a:t>Providing data stream for  CPU</a:t>
            </a:r>
          </a:p>
          <a:p>
            <a:pPr lvl="1" eaLnBrk="1" hangingPunct="1"/>
            <a:r>
              <a:rPr lang="en-US" dirty="0"/>
              <a:t>Providing </a:t>
            </a:r>
            <a:r>
              <a:rPr lang="en-US" dirty="0" err="1"/>
              <a:t>sevices</a:t>
            </a:r>
            <a:r>
              <a:rPr lang="en-US" dirty="0"/>
              <a:t> for CPU outputting data</a:t>
            </a:r>
          </a:p>
          <a:p>
            <a:pPr eaLnBrk="1" hangingPunct="1"/>
            <a:r>
              <a:rPr lang="en-US" dirty="0"/>
              <a:t>methods:</a:t>
            </a:r>
          </a:p>
          <a:p>
            <a:pPr lvl="1" eaLnBrk="1" hangingPunct="1"/>
            <a:r>
              <a:rPr lang="en-US" dirty="0"/>
              <a:t>polling</a:t>
            </a:r>
          </a:p>
          <a:p>
            <a:pPr lvl="1" eaLnBrk="1" hangingPunct="1"/>
            <a:r>
              <a:rPr lang="en-US" dirty="0"/>
              <a:t>Interrupt</a:t>
            </a:r>
          </a:p>
          <a:p>
            <a:pPr lvl="1" eaLnBrk="1" hangingPunct="1"/>
            <a:r>
              <a:rPr lang="en-US" dirty="0"/>
              <a:t>DMA-Direct Memory Access</a:t>
            </a:r>
          </a:p>
          <a:p>
            <a:pPr lvl="1" eaLnBrk="1" hangingPunct="1"/>
            <a:endParaRPr lang="en-A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dirty="0"/>
              <a:t>Ports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 dirty="0"/>
              <a:t>PS/2: for </a:t>
            </a:r>
            <a:r>
              <a:rPr lang="en-US" dirty="0" err="1"/>
              <a:t>keybooard</a:t>
            </a:r>
            <a:r>
              <a:rPr lang="en-US" dirty="0"/>
              <a:t> and mouse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COM: serial port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LPT:  parallel port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IDE, SATA, SCSI: for hard drives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LAN: for local network card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Audio: for speaker, </a:t>
            </a:r>
            <a:r>
              <a:rPr lang="en-US" dirty="0" err="1"/>
              <a:t>mic</a:t>
            </a:r>
            <a:r>
              <a:rPr lang="en-US" dirty="0"/>
              <a:t> </a:t>
            </a:r>
            <a:r>
              <a:rPr lang="en-US" dirty="0" err="1"/>
              <a:t>vnd</a:t>
            </a:r>
            <a:r>
              <a:rPr lang="en-US" dirty="0"/>
              <a:t> line-in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Video: for monitor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DVI : for digital monitor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USB: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dirty="0"/>
              <a:t>USB 1.0: 12Mb/s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dirty="0"/>
              <a:t>USB 2.0: 480Mb/s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dirty="0"/>
              <a:t>USB 3.0: 1.5Gb/s</a:t>
            </a:r>
            <a:endParaRPr lang="en-AU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33400" indent="-533400" eaLnBrk="1" hangingPunct="1"/>
            <a:r>
              <a:rPr lang="en-AU" dirty="0"/>
              <a:t>Polling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678363"/>
          </a:xfrm>
        </p:spPr>
        <p:txBody>
          <a:bodyPr/>
          <a:lstStyle/>
          <a:p>
            <a:pPr lvl="1" eaLnBrk="1" hangingPunct="1"/>
            <a:r>
              <a:rPr lang="en-US" dirty="0"/>
              <a:t>CPU manages devices and port addresses;</a:t>
            </a:r>
          </a:p>
          <a:p>
            <a:pPr lvl="1" eaLnBrk="1" hangingPunct="1"/>
            <a:r>
              <a:rPr lang="en-US" dirty="0"/>
              <a:t>CPU scans devices for checking if they are ready:</a:t>
            </a:r>
          </a:p>
          <a:p>
            <a:pPr lvl="2" eaLnBrk="1" hangingPunct="1"/>
            <a:r>
              <a:rPr lang="en-US" sz="2000" dirty="0"/>
              <a:t>If one device is ready, data are exchanged;</a:t>
            </a:r>
          </a:p>
          <a:p>
            <a:pPr lvl="1" eaLnBrk="1" hangingPunct="1"/>
            <a:r>
              <a:rPr lang="en-US" dirty="0"/>
              <a:t>CPU is controlling during data exchange process </a:t>
            </a:r>
          </a:p>
          <a:p>
            <a:pPr eaLnBrk="1" hangingPunct="1"/>
            <a:endParaRPr lang="en-A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33400" indent="-533400" eaLnBrk="1" hangingPunct="1"/>
            <a:r>
              <a:rPr lang="en-AU" dirty="0"/>
              <a:t>Polling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467836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dirty="0"/>
              <a:t>Advantages: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Simple, easy to deploy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Can be programmable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Disadvantages: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Low-effectiveness as time-consuming for polling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Non-feasible for too many devices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Applications: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System starting up: CPU checks device for configurations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New devices plugged into the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Non-priority polling</a:t>
            </a:r>
            <a:endParaRPr lang="en-AU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76400"/>
            <a:ext cx="4191000" cy="4449763"/>
          </a:xfrm>
        </p:spPr>
        <p:txBody>
          <a:bodyPr/>
          <a:lstStyle/>
          <a:p>
            <a:pPr eaLnBrk="1" hangingPunct="1"/>
            <a:r>
              <a:rPr lang="en-AU" sz="2000" dirty="0"/>
              <a:t>Three devices A, B, C</a:t>
            </a:r>
          </a:p>
          <a:p>
            <a:pPr eaLnBrk="1" hangingPunct="1"/>
            <a:r>
              <a:rPr lang="en-AU" sz="2000" dirty="0"/>
              <a:t>CPU scans all devices in  a polling cycle</a:t>
            </a:r>
          </a:p>
          <a:p>
            <a:pPr eaLnBrk="1" hangingPunct="1"/>
            <a:r>
              <a:rPr lang="en-AU" sz="2000" dirty="0"/>
              <a:t>CPU can exchange one more devices within a polling cycle</a:t>
            </a:r>
          </a:p>
          <a:p>
            <a:pPr eaLnBrk="1" hangingPunct="1"/>
            <a:r>
              <a:rPr lang="en-AU" sz="2000" dirty="0"/>
              <a:t>Devices are scanned one by one.</a:t>
            </a:r>
          </a:p>
        </p:txBody>
      </p:sp>
      <p:sp>
        <p:nvSpPr>
          <p:cNvPr id="9220" name="Rectangle 9"/>
          <p:cNvSpPr>
            <a:spLocks noChangeArrowheads="1"/>
          </p:cNvSpPr>
          <p:nvPr/>
        </p:nvSpPr>
        <p:spPr bwMode="auto">
          <a:xfrm>
            <a:off x="5629275" y="1752600"/>
            <a:ext cx="685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600" b="0">
                <a:solidFill>
                  <a:schemeClr val="tx2"/>
                </a:solidFill>
              </a:rPr>
              <a:t>Start</a:t>
            </a:r>
            <a:endParaRPr lang="en-AU" sz="1600" b="0">
              <a:solidFill>
                <a:schemeClr val="tx2"/>
              </a:solidFill>
            </a:endParaRPr>
          </a:p>
        </p:txBody>
      </p:sp>
      <p:grpSp>
        <p:nvGrpSpPr>
          <p:cNvPr id="9221" name="Group 37"/>
          <p:cNvGrpSpPr>
            <a:grpSpLocks/>
          </p:cNvGrpSpPr>
          <p:nvPr/>
        </p:nvGrpSpPr>
        <p:grpSpPr bwMode="auto">
          <a:xfrm>
            <a:off x="4876800" y="2109788"/>
            <a:ext cx="3735388" cy="3360737"/>
            <a:chOff x="3072" y="1329"/>
            <a:chExt cx="2353" cy="2117"/>
          </a:xfrm>
        </p:grpSpPr>
        <p:sp>
          <p:nvSpPr>
            <p:cNvPr id="9222" name="Line 8"/>
            <p:cNvSpPr>
              <a:spLocks noChangeShapeType="1"/>
            </p:cNvSpPr>
            <p:nvPr/>
          </p:nvSpPr>
          <p:spPr bwMode="auto">
            <a:xfrm>
              <a:off x="3762" y="1329"/>
              <a:ext cx="0" cy="1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223" name="AutoShape 4"/>
            <p:cNvSpPr>
              <a:spLocks noChangeArrowheads="1"/>
            </p:cNvSpPr>
            <p:nvPr/>
          </p:nvSpPr>
          <p:spPr bwMode="auto">
            <a:xfrm>
              <a:off x="3312" y="1526"/>
              <a:ext cx="912" cy="384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b="0">
                  <a:solidFill>
                    <a:schemeClr val="tx2"/>
                  </a:solidFill>
                </a:rPr>
                <a:t>A Ready?</a:t>
              </a:r>
              <a:endParaRPr lang="en-AU" sz="1600" b="0">
                <a:solidFill>
                  <a:schemeClr val="tx2"/>
                </a:solidFill>
              </a:endParaRPr>
            </a:p>
          </p:txBody>
        </p:sp>
        <p:sp>
          <p:nvSpPr>
            <p:cNvPr id="9224" name="Rectangle 5"/>
            <p:cNvSpPr>
              <a:spLocks noChangeArrowheads="1"/>
            </p:cNvSpPr>
            <p:nvPr/>
          </p:nvSpPr>
          <p:spPr bwMode="auto">
            <a:xfrm>
              <a:off x="4609" y="1556"/>
              <a:ext cx="816" cy="32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b="0">
                  <a:solidFill>
                    <a:schemeClr val="tx2"/>
                  </a:solidFill>
                </a:rPr>
                <a:t>Exchange </a:t>
              </a:r>
              <a:br>
                <a:rPr lang="en-US" sz="1600" b="0">
                  <a:solidFill>
                    <a:schemeClr val="tx2"/>
                  </a:solidFill>
                </a:rPr>
              </a:br>
              <a:r>
                <a:rPr lang="en-US" sz="1600" b="0">
                  <a:solidFill>
                    <a:schemeClr val="tx2"/>
                  </a:solidFill>
                </a:rPr>
                <a:t>data with A</a:t>
              </a:r>
              <a:endParaRPr lang="en-AU" sz="1600" b="0">
                <a:solidFill>
                  <a:schemeClr val="tx2"/>
                </a:solidFill>
              </a:endParaRPr>
            </a:p>
          </p:txBody>
        </p:sp>
        <p:sp>
          <p:nvSpPr>
            <p:cNvPr id="9225" name="Line 6"/>
            <p:cNvSpPr>
              <a:spLocks noChangeShapeType="1"/>
            </p:cNvSpPr>
            <p:nvPr/>
          </p:nvSpPr>
          <p:spPr bwMode="auto">
            <a:xfrm>
              <a:off x="4224" y="1718"/>
              <a:ext cx="3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226" name="Line 7"/>
            <p:cNvSpPr>
              <a:spLocks noChangeShapeType="1"/>
            </p:cNvSpPr>
            <p:nvPr/>
          </p:nvSpPr>
          <p:spPr bwMode="auto">
            <a:xfrm>
              <a:off x="3762" y="1912"/>
              <a:ext cx="0" cy="2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227" name="Rectangle 10"/>
            <p:cNvSpPr>
              <a:spLocks noChangeArrowheads="1"/>
            </p:cNvSpPr>
            <p:nvPr/>
          </p:nvSpPr>
          <p:spPr bwMode="auto">
            <a:xfrm>
              <a:off x="4176" y="1498"/>
              <a:ext cx="35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b="0">
                  <a:solidFill>
                    <a:schemeClr val="tx2"/>
                  </a:solidFill>
                </a:rPr>
                <a:t>Yes</a:t>
              </a:r>
              <a:endParaRPr lang="en-AU" sz="1600" b="0">
                <a:solidFill>
                  <a:schemeClr val="tx2"/>
                </a:solidFill>
              </a:endParaRPr>
            </a:p>
          </p:txBody>
        </p:sp>
        <p:sp>
          <p:nvSpPr>
            <p:cNvPr id="9228" name="Rectangle 11"/>
            <p:cNvSpPr>
              <a:spLocks noChangeArrowheads="1"/>
            </p:cNvSpPr>
            <p:nvPr/>
          </p:nvSpPr>
          <p:spPr bwMode="auto">
            <a:xfrm>
              <a:off x="3483" y="1874"/>
              <a:ext cx="30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AU" sz="1600" b="0">
                  <a:solidFill>
                    <a:schemeClr val="tx2"/>
                  </a:solidFill>
                </a:rPr>
                <a:t>No</a:t>
              </a:r>
            </a:p>
          </p:txBody>
        </p:sp>
        <p:cxnSp>
          <p:nvCxnSpPr>
            <p:cNvPr id="9229" name="AutoShape 17"/>
            <p:cNvCxnSpPr>
              <a:cxnSpLocks noChangeShapeType="1"/>
              <a:stCxn id="9224" idx="3"/>
            </p:cNvCxnSpPr>
            <p:nvPr/>
          </p:nvCxnSpPr>
          <p:spPr bwMode="auto">
            <a:xfrm flipH="1">
              <a:off x="3801" y="1717"/>
              <a:ext cx="1624" cy="371"/>
            </a:xfrm>
            <a:prstGeom prst="bentConnector3">
              <a:avLst>
                <a:gd name="adj1" fmla="val -886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230" name="AutoShape 20"/>
            <p:cNvSpPr>
              <a:spLocks noChangeArrowheads="1"/>
            </p:cNvSpPr>
            <p:nvPr/>
          </p:nvSpPr>
          <p:spPr bwMode="auto">
            <a:xfrm>
              <a:off x="3312" y="2189"/>
              <a:ext cx="912" cy="384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b="0">
                  <a:solidFill>
                    <a:schemeClr val="tx2"/>
                  </a:solidFill>
                </a:rPr>
                <a:t>B Ready?</a:t>
              </a:r>
              <a:endParaRPr lang="en-AU" sz="1600" b="0">
                <a:solidFill>
                  <a:schemeClr val="tx2"/>
                </a:solidFill>
              </a:endParaRPr>
            </a:p>
          </p:txBody>
        </p:sp>
        <p:sp>
          <p:nvSpPr>
            <p:cNvPr id="9231" name="Rectangle 21"/>
            <p:cNvSpPr>
              <a:spLocks noChangeArrowheads="1"/>
            </p:cNvSpPr>
            <p:nvPr/>
          </p:nvSpPr>
          <p:spPr bwMode="auto">
            <a:xfrm>
              <a:off x="4609" y="2219"/>
              <a:ext cx="816" cy="32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b="0">
                  <a:solidFill>
                    <a:schemeClr val="tx2"/>
                  </a:solidFill>
                </a:rPr>
                <a:t>Exchange </a:t>
              </a:r>
              <a:br>
                <a:rPr lang="en-US" sz="1600" b="0">
                  <a:solidFill>
                    <a:schemeClr val="tx2"/>
                  </a:solidFill>
                </a:rPr>
              </a:br>
              <a:r>
                <a:rPr lang="en-US" sz="1600" b="0">
                  <a:solidFill>
                    <a:schemeClr val="tx2"/>
                  </a:solidFill>
                </a:rPr>
                <a:t>data with B</a:t>
              </a:r>
              <a:endParaRPr lang="en-AU" sz="1600" b="0">
                <a:solidFill>
                  <a:schemeClr val="tx2"/>
                </a:solidFill>
              </a:endParaRPr>
            </a:p>
          </p:txBody>
        </p:sp>
        <p:sp>
          <p:nvSpPr>
            <p:cNvPr id="9232" name="Line 22"/>
            <p:cNvSpPr>
              <a:spLocks noChangeShapeType="1"/>
            </p:cNvSpPr>
            <p:nvPr/>
          </p:nvSpPr>
          <p:spPr bwMode="auto">
            <a:xfrm>
              <a:off x="4224" y="2381"/>
              <a:ext cx="3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233" name="Line 23"/>
            <p:cNvSpPr>
              <a:spLocks noChangeShapeType="1"/>
            </p:cNvSpPr>
            <p:nvPr/>
          </p:nvSpPr>
          <p:spPr bwMode="auto">
            <a:xfrm>
              <a:off x="3762" y="2575"/>
              <a:ext cx="0" cy="2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234" name="Rectangle 24"/>
            <p:cNvSpPr>
              <a:spLocks noChangeArrowheads="1"/>
            </p:cNvSpPr>
            <p:nvPr/>
          </p:nvSpPr>
          <p:spPr bwMode="auto">
            <a:xfrm>
              <a:off x="4176" y="2161"/>
              <a:ext cx="35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b="0">
                  <a:solidFill>
                    <a:schemeClr val="tx2"/>
                  </a:solidFill>
                </a:rPr>
                <a:t>Yes</a:t>
              </a:r>
              <a:endParaRPr lang="en-AU" sz="1600" b="0">
                <a:solidFill>
                  <a:schemeClr val="tx2"/>
                </a:solidFill>
              </a:endParaRPr>
            </a:p>
          </p:txBody>
        </p:sp>
        <p:sp>
          <p:nvSpPr>
            <p:cNvPr id="9235" name="Rectangle 25"/>
            <p:cNvSpPr>
              <a:spLocks noChangeArrowheads="1"/>
            </p:cNvSpPr>
            <p:nvPr/>
          </p:nvSpPr>
          <p:spPr bwMode="auto">
            <a:xfrm>
              <a:off x="3484" y="2537"/>
              <a:ext cx="30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AU" sz="1600" b="0">
                  <a:solidFill>
                    <a:schemeClr val="tx2"/>
                  </a:solidFill>
                </a:rPr>
                <a:t>No</a:t>
              </a:r>
            </a:p>
          </p:txBody>
        </p:sp>
        <p:cxnSp>
          <p:nvCxnSpPr>
            <p:cNvPr id="9236" name="AutoShape 26"/>
            <p:cNvCxnSpPr>
              <a:cxnSpLocks noChangeShapeType="1"/>
              <a:stCxn id="9231" idx="3"/>
            </p:cNvCxnSpPr>
            <p:nvPr/>
          </p:nvCxnSpPr>
          <p:spPr bwMode="auto">
            <a:xfrm flipH="1">
              <a:off x="3801" y="2380"/>
              <a:ext cx="1624" cy="371"/>
            </a:xfrm>
            <a:prstGeom prst="bentConnector3">
              <a:avLst>
                <a:gd name="adj1" fmla="val -886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237" name="AutoShape 28"/>
            <p:cNvSpPr>
              <a:spLocks noChangeArrowheads="1"/>
            </p:cNvSpPr>
            <p:nvPr/>
          </p:nvSpPr>
          <p:spPr bwMode="auto">
            <a:xfrm>
              <a:off x="3312" y="2865"/>
              <a:ext cx="912" cy="384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b="0">
                  <a:solidFill>
                    <a:schemeClr val="tx2"/>
                  </a:solidFill>
                </a:rPr>
                <a:t>C Ready?</a:t>
              </a:r>
              <a:endParaRPr lang="en-AU" sz="1600" b="0">
                <a:solidFill>
                  <a:schemeClr val="tx2"/>
                </a:solidFill>
              </a:endParaRPr>
            </a:p>
          </p:txBody>
        </p:sp>
        <p:sp>
          <p:nvSpPr>
            <p:cNvPr id="9238" name="Rectangle 29"/>
            <p:cNvSpPr>
              <a:spLocks noChangeArrowheads="1"/>
            </p:cNvSpPr>
            <p:nvPr/>
          </p:nvSpPr>
          <p:spPr bwMode="auto">
            <a:xfrm>
              <a:off x="4609" y="2895"/>
              <a:ext cx="816" cy="32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b="0">
                  <a:solidFill>
                    <a:schemeClr val="tx2"/>
                  </a:solidFill>
                </a:rPr>
                <a:t>Exchange </a:t>
              </a:r>
              <a:br>
                <a:rPr lang="en-US" sz="1600" b="0">
                  <a:solidFill>
                    <a:schemeClr val="tx2"/>
                  </a:solidFill>
                </a:rPr>
              </a:br>
              <a:r>
                <a:rPr lang="en-US" sz="1600" b="0">
                  <a:solidFill>
                    <a:schemeClr val="tx2"/>
                  </a:solidFill>
                </a:rPr>
                <a:t>data with C</a:t>
              </a:r>
              <a:endParaRPr lang="en-AU" sz="1600" b="0">
                <a:solidFill>
                  <a:schemeClr val="tx2"/>
                </a:solidFill>
              </a:endParaRPr>
            </a:p>
          </p:txBody>
        </p:sp>
        <p:sp>
          <p:nvSpPr>
            <p:cNvPr id="9239" name="Line 30"/>
            <p:cNvSpPr>
              <a:spLocks noChangeShapeType="1"/>
            </p:cNvSpPr>
            <p:nvPr/>
          </p:nvSpPr>
          <p:spPr bwMode="auto">
            <a:xfrm>
              <a:off x="4224" y="3057"/>
              <a:ext cx="3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240" name="Line 31"/>
            <p:cNvSpPr>
              <a:spLocks noChangeShapeType="1"/>
            </p:cNvSpPr>
            <p:nvPr/>
          </p:nvSpPr>
          <p:spPr bwMode="auto">
            <a:xfrm>
              <a:off x="3762" y="3251"/>
              <a:ext cx="0" cy="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9241" name="Rectangle 32"/>
            <p:cNvSpPr>
              <a:spLocks noChangeArrowheads="1"/>
            </p:cNvSpPr>
            <p:nvPr/>
          </p:nvSpPr>
          <p:spPr bwMode="auto">
            <a:xfrm>
              <a:off x="4176" y="2837"/>
              <a:ext cx="35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b="0">
                  <a:solidFill>
                    <a:schemeClr val="tx2"/>
                  </a:solidFill>
                </a:rPr>
                <a:t>Yes</a:t>
              </a:r>
              <a:endParaRPr lang="en-AU" sz="1600" b="0">
                <a:solidFill>
                  <a:schemeClr val="tx2"/>
                </a:solidFill>
              </a:endParaRPr>
            </a:p>
          </p:txBody>
        </p:sp>
        <p:sp>
          <p:nvSpPr>
            <p:cNvPr id="9242" name="Rectangle 33"/>
            <p:cNvSpPr>
              <a:spLocks noChangeArrowheads="1"/>
            </p:cNvSpPr>
            <p:nvPr/>
          </p:nvSpPr>
          <p:spPr bwMode="auto">
            <a:xfrm>
              <a:off x="3496" y="3206"/>
              <a:ext cx="30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AU" sz="1600" b="0">
                  <a:solidFill>
                    <a:schemeClr val="tx2"/>
                  </a:solidFill>
                </a:rPr>
                <a:t>No</a:t>
              </a:r>
            </a:p>
          </p:txBody>
        </p:sp>
        <p:cxnSp>
          <p:nvCxnSpPr>
            <p:cNvPr id="9243" name="AutoShape 34"/>
            <p:cNvCxnSpPr>
              <a:cxnSpLocks noChangeShapeType="1"/>
              <a:stCxn id="9238" idx="3"/>
            </p:cNvCxnSpPr>
            <p:nvPr/>
          </p:nvCxnSpPr>
          <p:spPr bwMode="auto">
            <a:xfrm flipH="1">
              <a:off x="3072" y="3056"/>
              <a:ext cx="2353" cy="390"/>
            </a:xfrm>
            <a:prstGeom prst="bentConnector3">
              <a:avLst>
                <a:gd name="adj1" fmla="val -612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44" name="AutoShape 35"/>
            <p:cNvCxnSpPr>
              <a:cxnSpLocks noChangeShapeType="1"/>
            </p:cNvCxnSpPr>
            <p:nvPr/>
          </p:nvCxnSpPr>
          <p:spPr bwMode="auto">
            <a:xfrm rot="-5400000">
              <a:off x="2352" y="2102"/>
              <a:ext cx="2064" cy="624"/>
            </a:xfrm>
            <a:prstGeom prst="bentConnector3">
              <a:avLst>
                <a:gd name="adj1" fmla="val 10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priority polling</a:t>
            </a:r>
            <a:endParaRPr lang="en-AU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4343400" cy="46021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sz="2000" dirty="0"/>
              <a:t>Three devices A, B, C in order of priority A, B, C;</a:t>
            </a:r>
          </a:p>
          <a:p>
            <a:pPr eaLnBrk="1" hangingPunct="1">
              <a:lnSpc>
                <a:spcPct val="90000"/>
              </a:lnSpc>
            </a:pPr>
            <a:r>
              <a:rPr lang="en-AU" sz="2000" dirty="0"/>
              <a:t>CPU can scan all devices in a polling cycle</a:t>
            </a:r>
          </a:p>
          <a:p>
            <a:pPr eaLnBrk="1" hangingPunct="1">
              <a:lnSpc>
                <a:spcPct val="90000"/>
              </a:lnSpc>
            </a:pPr>
            <a:r>
              <a:rPr lang="en-AU" sz="2000" dirty="0"/>
              <a:t>CPU can only exchange data at most one device within a polling cycle</a:t>
            </a:r>
          </a:p>
          <a:p>
            <a:pPr eaLnBrk="1" hangingPunct="1">
              <a:lnSpc>
                <a:spcPct val="90000"/>
              </a:lnSpc>
            </a:pPr>
            <a:r>
              <a:rPr lang="en-AU" sz="2000" dirty="0"/>
              <a:t>Device with high priority is firstly scanned</a:t>
            </a:r>
          </a:p>
        </p:txBody>
      </p:sp>
      <p:grpSp>
        <p:nvGrpSpPr>
          <p:cNvPr id="10244" name="Group 32"/>
          <p:cNvGrpSpPr>
            <a:grpSpLocks/>
          </p:cNvGrpSpPr>
          <p:nvPr/>
        </p:nvGrpSpPr>
        <p:grpSpPr bwMode="auto">
          <a:xfrm>
            <a:off x="4876800" y="1752600"/>
            <a:ext cx="3968750" cy="3717925"/>
            <a:chOff x="3072" y="1104"/>
            <a:chExt cx="2500" cy="2342"/>
          </a:xfrm>
        </p:grpSpPr>
        <p:sp>
          <p:nvSpPr>
            <p:cNvPr id="10245" name="Rectangle 4"/>
            <p:cNvSpPr>
              <a:spLocks noChangeArrowheads="1"/>
            </p:cNvSpPr>
            <p:nvPr/>
          </p:nvSpPr>
          <p:spPr bwMode="auto">
            <a:xfrm>
              <a:off x="3546" y="1104"/>
              <a:ext cx="43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b="0">
                  <a:solidFill>
                    <a:schemeClr val="tx2"/>
                  </a:solidFill>
                </a:rPr>
                <a:t>Start</a:t>
              </a:r>
              <a:endParaRPr lang="en-AU" sz="1600" b="0">
                <a:solidFill>
                  <a:schemeClr val="tx2"/>
                </a:solidFill>
              </a:endParaRPr>
            </a:p>
          </p:txBody>
        </p:sp>
        <p:sp>
          <p:nvSpPr>
            <p:cNvPr id="10246" name="Line 6"/>
            <p:cNvSpPr>
              <a:spLocks noChangeShapeType="1"/>
            </p:cNvSpPr>
            <p:nvPr/>
          </p:nvSpPr>
          <p:spPr bwMode="auto">
            <a:xfrm>
              <a:off x="3762" y="1329"/>
              <a:ext cx="0" cy="1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247" name="AutoShape 7"/>
            <p:cNvSpPr>
              <a:spLocks noChangeArrowheads="1"/>
            </p:cNvSpPr>
            <p:nvPr/>
          </p:nvSpPr>
          <p:spPr bwMode="auto">
            <a:xfrm>
              <a:off x="3312" y="1526"/>
              <a:ext cx="912" cy="384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b="0">
                  <a:solidFill>
                    <a:schemeClr val="tx2"/>
                  </a:solidFill>
                </a:rPr>
                <a:t>A Ready?</a:t>
              </a:r>
              <a:endParaRPr lang="en-AU" sz="1600" b="0">
                <a:solidFill>
                  <a:schemeClr val="tx2"/>
                </a:solidFill>
              </a:endParaRPr>
            </a:p>
          </p:txBody>
        </p:sp>
        <p:sp>
          <p:nvSpPr>
            <p:cNvPr id="10248" name="Rectangle 8"/>
            <p:cNvSpPr>
              <a:spLocks noChangeArrowheads="1"/>
            </p:cNvSpPr>
            <p:nvPr/>
          </p:nvSpPr>
          <p:spPr bwMode="auto">
            <a:xfrm>
              <a:off x="4609" y="1556"/>
              <a:ext cx="816" cy="32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b="0">
                  <a:solidFill>
                    <a:schemeClr val="tx2"/>
                  </a:solidFill>
                </a:rPr>
                <a:t>Exchange </a:t>
              </a:r>
              <a:br>
                <a:rPr lang="en-US" sz="1600" b="0">
                  <a:solidFill>
                    <a:schemeClr val="tx2"/>
                  </a:solidFill>
                </a:rPr>
              </a:br>
              <a:r>
                <a:rPr lang="en-US" sz="1600" b="0">
                  <a:solidFill>
                    <a:schemeClr val="tx2"/>
                  </a:solidFill>
                </a:rPr>
                <a:t>data with A</a:t>
              </a:r>
              <a:endParaRPr lang="en-AU" sz="1600" b="0">
                <a:solidFill>
                  <a:schemeClr val="tx2"/>
                </a:solidFill>
              </a:endParaRPr>
            </a:p>
          </p:txBody>
        </p:sp>
        <p:sp>
          <p:nvSpPr>
            <p:cNvPr id="10249" name="Line 9"/>
            <p:cNvSpPr>
              <a:spLocks noChangeShapeType="1"/>
            </p:cNvSpPr>
            <p:nvPr/>
          </p:nvSpPr>
          <p:spPr bwMode="auto">
            <a:xfrm>
              <a:off x="4224" y="1718"/>
              <a:ext cx="3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250" name="Line 10"/>
            <p:cNvSpPr>
              <a:spLocks noChangeShapeType="1"/>
            </p:cNvSpPr>
            <p:nvPr/>
          </p:nvSpPr>
          <p:spPr bwMode="auto">
            <a:xfrm>
              <a:off x="3762" y="1912"/>
              <a:ext cx="0" cy="2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251" name="Rectangle 11"/>
            <p:cNvSpPr>
              <a:spLocks noChangeArrowheads="1"/>
            </p:cNvSpPr>
            <p:nvPr/>
          </p:nvSpPr>
          <p:spPr bwMode="auto">
            <a:xfrm>
              <a:off x="4176" y="1498"/>
              <a:ext cx="35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b="0">
                  <a:solidFill>
                    <a:schemeClr val="tx2"/>
                  </a:solidFill>
                </a:rPr>
                <a:t>Yes</a:t>
              </a:r>
              <a:endParaRPr lang="en-AU" sz="1600" b="0">
                <a:solidFill>
                  <a:schemeClr val="tx2"/>
                </a:solidFill>
              </a:endParaRPr>
            </a:p>
          </p:txBody>
        </p:sp>
        <p:sp>
          <p:nvSpPr>
            <p:cNvPr id="10252" name="Rectangle 12"/>
            <p:cNvSpPr>
              <a:spLocks noChangeArrowheads="1"/>
            </p:cNvSpPr>
            <p:nvPr/>
          </p:nvSpPr>
          <p:spPr bwMode="auto">
            <a:xfrm>
              <a:off x="3483" y="1874"/>
              <a:ext cx="30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AU" sz="1600" b="0">
                  <a:solidFill>
                    <a:schemeClr val="tx2"/>
                  </a:solidFill>
                </a:rPr>
                <a:t>No</a:t>
              </a:r>
            </a:p>
          </p:txBody>
        </p:sp>
        <p:sp>
          <p:nvSpPr>
            <p:cNvPr id="10253" name="AutoShape 14"/>
            <p:cNvSpPr>
              <a:spLocks noChangeArrowheads="1"/>
            </p:cNvSpPr>
            <p:nvPr/>
          </p:nvSpPr>
          <p:spPr bwMode="auto">
            <a:xfrm>
              <a:off x="3312" y="2189"/>
              <a:ext cx="912" cy="384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b="0">
                  <a:solidFill>
                    <a:schemeClr val="tx2"/>
                  </a:solidFill>
                </a:rPr>
                <a:t>B Ready?</a:t>
              </a:r>
              <a:endParaRPr lang="en-AU" sz="1600" b="0">
                <a:solidFill>
                  <a:schemeClr val="tx2"/>
                </a:solidFill>
              </a:endParaRPr>
            </a:p>
          </p:txBody>
        </p:sp>
        <p:sp>
          <p:nvSpPr>
            <p:cNvPr id="10254" name="Rectangle 15"/>
            <p:cNvSpPr>
              <a:spLocks noChangeArrowheads="1"/>
            </p:cNvSpPr>
            <p:nvPr/>
          </p:nvSpPr>
          <p:spPr bwMode="auto">
            <a:xfrm>
              <a:off x="4609" y="2219"/>
              <a:ext cx="816" cy="32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b="0">
                  <a:solidFill>
                    <a:schemeClr val="tx2"/>
                  </a:solidFill>
                </a:rPr>
                <a:t>Exchange </a:t>
              </a:r>
              <a:br>
                <a:rPr lang="en-US" sz="1600" b="0">
                  <a:solidFill>
                    <a:schemeClr val="tx2"/>
                  </a:solidFill>
                </a:rPr>
              </a:br>
              <a:r>
                <a:rPr lang="en-US" sz="1600" b="0">
                  <a:solidFill>
                    <a:schemeClr val="tx2"/>
                  </a:solidFill>
                </a:rPr>
                <a:t>data with B</a:t>
              </a:r>
              <a:endParaRPr lang="en-AU" sz="1600" b="0">
                <a:solidFill>
                  <a:schemeClr val="tx2"/>
                </a:solidFill>
              </a:endParaRPr>
            </a:p>
          </p:txBody>
        </p:sp>
        <p:sp>
          <p:nvSpPr>
            <p:cNvPr id="10255" name="Line 16"/>
            <p:cNvSpPr>
              <a:spLocks noChangeShapeType="1"/>
            </p:cNvSpPr>
            <p:nvPr/>
          </p:nvSpPr>
          <p:spPr bwMode="auto">
            <a:xfrm>
              <a:off x="4224" y="2381"/>
              <a:ext cx="3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256" name="Line 17"/>
            <p:cNvSpPr>
              <a:spLocks noChangeShapeType="1"/>
            </p:cNvSpPr>
            <p:nvPr/>
          </p:nvSpPr>
          <p:spPr bwMode="auto">
            <a:xfrm>
              <a:off x="3762" y="2575"/>
              <a:ext cx="0" cy="2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257" name="Rectangle 18"/>
            <p:cNvSpPr>
              <a:spLocks noChangeArrowheads="1"/>
            </p:cNvSpPr>
            <p:nvPr/>
          </p:nvSpPr>
          <p:spPr bwMode="auto">
            <a:xfrm>
              <a:off x="4176" y="2161"/>
              <a:ext cx="35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b="0">
                  <a:solidFill>
                    <a:schemeClr val="tx2"/>
                  </a:solidFill>
                </a:rPr>
                <a:t>Yes</a:t>
              </a:r>
              <a:endParaRPr lang="en-AU" sz="1600" b="0">
                <a:solidFill>
                  <a:schemeClr val="tx2"/>
                </a:solidFill>
              </a:endParaRPr>
            </a:p>
          </p:txBody>
        </p:sp>
        <p:sp>
          <p:nvSpPr>
            <p:cNvPr id="10258" name="Rectangle 19"/>
            <p:cNvSpPr>
              <a:spLocks noChangeArrowheads="1"/>
            </p:cNvSpPr>
            <p:nvPr/>
          </p:nvSpPr>
          <p:spPr bwMode="auto">
            <a:xfrm>
              <a:off x="3484" y="2537"/>
              <a:ext cx="30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AU" sz="1600" b="0">
                  <a:solidFill>
                    <a:schemeClr val="tx2"/>
                  </a:solidFill>
                </a:rPr>
                <a:t>No</a:t>
              </a:r>
            </a:p>
          </p:txBody>
        </p:sp>
        <p:sp>
          <p:nvSpPr>
            <p:cNvPr id="10259" name="AutoShape 21"/>
            <p:cNvSpPr>
              <a:spLocks noChangeArrowheads="1"/>
            </p:cNvSpPr>
            <p:nvPr/>
          </p:nvSpPr>
          <p:spPr bwMode="auto">
            <a:xfrm>
              <a:off x="3312" y="2865"/>
              <a:ext cx="912" cy="384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b="0">
                  <a:solidFill>
                    <a:schemeClr val="tx2"/>
                  </a:solidFill>
                </a:rPr>
                <a:t>C Ready?</a:t>
              </a:r>
              <a:endParaRPr lang="en-AU" sz="1600" b="0">
                <a:solidFill>
                  <a:schemeClr val="tx2"/>
                </a:solidFill>
              </a:endParaRPr>
            </a:p>
          </p:txBody>
        </p:sp>
        <p:sp>
          <p:nvSpPr>
            <p:cNvPr id="10260" name="Rectangle 22"/>
            <p:cNvSpPr>
              <a:spLocks noChangeArrowheads="1"/>
            </p:cNvSpPr>
            <p:nvPr/>
          </p:nvSpPr>
          <p:spPr bwMode="auto">
            <a:xfrm>
              <a:off x="4609" y="2895"/>
              <a:ext cx="816" cy="32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b="0">
                  <a:solidFill>
                    <a:schemeClr val="tx2"/>
                  </a:solidFill>
                </a:rPr>
                <a:t>Exchange </a:t>
              </a:r>
              <a:br>
                <a:rPr lang="en-US" sz="1600" b="0">
                  <a:solidFill>
                    <a:schemeClr val="tx2"/>
                  </a:solidFill>
                </a:rPr>
              </a:br>
              <a:r>
                <a:rPr lang="en-US" sz="1600" b="0">
                  <a:solidFill>
                    <a:schemeClr val="tx2"/>
                  </a:solidFill>
                </a:rPr>
                <a:t>data with C</a:t>
              </a:r>
              <a:endParaRPr lang="en-AU" sz="1600" b="0">
                <a:solidFill>
                  <a:schemeClr val="tx2"/>
                </a:solidFill>
              </a:endParaRPr>
            </a:p>
          </p:txBody>
        </p:sp>
        <p:sp>
          <p:nvSpPr>
            <p:cNvPr id="10261" name="Line 23"/>
            <p:cNvSpPr>
              <a:spLocks noChangeShapeType="1"/>
            </p:cNvSpPr>
            <p:nvPr/>
          </p:nvSpPr>
          <p:spPr bwMode="auto">
            <a:xfrm>
              <a:off x="4224" y="3057"/>
              <a:ext cx="3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262" name="Line 24"/>
            <p:cNvSpPr>
              <a:spLocks noChangeShapeType="1"/>
            </p:cNvSpPr>
            <p:nvPr/>
          </p:nvSpPr>
          <p:spPr bwMode="auto">
            <a:xfrm>
              <a:off x="3762" y="3251"/>
              <a:ext cx="0" cy="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263" name="Rectangle 25"/>
            <p:cNvSpPr>
              <a:spLocks noChangeArrowheads="1"/>
            </p:cNvSpPr>
            <p:nvPr/>
          </p:nvSpPr>
          <p:spPr bwMode="auto">
            <a:xfrm>
              <a:off x="4176" y="2837"/>
              <a:ext cx="35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 b="0">
                  <a:solidFill>
                    <a:schemeClr val="tx2"/>
                  </a:solidFill>
                </a:rPr>
                <a:t>Yes</a:t>
              </a:r>
              <a:endParaRPr lang="en-AU" sz="1600" b="0">
                <a:solidFill>
                  <a:schemeClr val="tx2"/>
                </a:solidFill>
              </a:endParaRPr>
            </a:p>
          </p:txBody>
        </p:sp>
        <p:sp>
          <p:nvSpPr>
            <p:cNvPr id="10264" name="Rectangle 26"/>
            <p:cNvSpPr>
              <a:spLocks noChangeArrowheads="1"/>
            </p:cNvSpPr>
            <p:nvPr/>
          </p:nvSpPr>
          <p:spPr bwMode="auto">
            <a:xfrm>
              <a:off x="3496" y="3206"/>
              <a:ext cx="30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AU" sz="1600" b="0">
                  <a:solidFill>
                    <a:schemeClr val="tx2"/>
                  </a:solidFill>
                </a:rPr>
                <a:t>No</a:t>
              </a:r>
            </a:p>
          </p:txBody>
        </p:sp>
        <p:cxnSp>
          <p:nvCxnSpPr>
            <p:cNvPr id="10265" name="AutoShape 27"/>
            <p:cNvCxnSpPr>
              <a:cxnSpLocks noChangeShapeType="1"/>
              <a:stCxn id="10260" idx="3"/>
            </p:cNvCxnSpPr>
            <p:nvPr/>
          </p:nvCxnSpPr>
          <p:spPr bwMode="auto">
            <a:xfrm flipH="1">
              <a:off x="3072" y="3056"/>
              <a:ext cx="2353" cy="390"/>
            </a:xfrm>
            <a:prstGeom prst="bentConnector3">
              <a:avLst>
                <a:gd name="adj1" fmla="val -612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66" name="AutoShape 28"/>
            <p:cNvCxnSpPr>
              <a:cxnSpLocks noChangeShapeType="1"/>
            </p:cNvCxnSpPr>
            <p:nvPr/>
          </p:nvCxnSpPr>
          <p:spPr bwMode="auto">
            <a:xfrm rot="-5400000">
              <a:off x="2352" y="2102"/>
              <a:ext cx="2064" cy="624"/>
            </a:xfrm>
            <a:prstGeom prst="bentConnector3">
              <a:avLst>
                <a:gd name="adj1" fmla="val 10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267" name="Line 29"/>
            <p:cNvSpPr>
              <a:spLocks noChangeShapeType="1"/>
            </p:cNvSpPr>
            <p:nvPr/>
          </p:nvSpPr>
          <p:spPr bwMode="auto">
            <a:xfrm>
              <a:off x="5418" y="1708"/>
              <a:ext cx="1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268" name="Line 30"/>
            <p:cNvSpPr>
              <a:spLocks noChangeShapeType="1"/>
            </p:cNvSpPr>
            <p:nvPr/>
          </p:nvSpPr>
          <p:spPr bwMode="auto">
            <a:xfrm>
              <a:off x="5572" y="1708"/>
              <a:ext cx="0" cy="13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269" name="Line 31"/>
            <p:cNvSpPr>
              <a:spLocks noChangeShapeType="1"/>
            </p:cNvSpPr>
            <p:nvPr/>
          </p:nvSpPr>
          <p:spPr bwMode="auto">
            <a:xfrm>
              <a:off x="5418" y="2371"/>
              <a:ext cx="1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dirty="0"/>
              <a:t>Interrupt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What is an interrupt?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Interrupt is an event that CPU temporary stops an executing program in order to execute another one for a request (so-called interrupt request) from I/O;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The program runs while CPU interrupted call interrupt sub routine (ISR).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ISRs are stored on ROM and are often used for I/O or controlling I/O devices</a:t>
            </a:r>
            <a:endParaRPr lang="en-A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dirty="0"/>
              <a:t>Interrupt vector table (IVT)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8086/8088 has 256 interrupts numbered from 0 to 255</a:t>
            </a:r>
          </a:p>
          <a:p>
            <a:pPr eaLnBrk="1" hangingPunct="1"/>
            <a:r>
              <a:rPr lang="en-US" dirty="0"/>
              <a:t>An interrupt vector consists of:</a:t>
            </a:r>
          </a:p>
          <a:p>
            <a:pPr lvl="1" eaLnBrk="1" hangingPunct="1"/>
            <a:r>
              <a:rPr lang="en-US" dirty="0"/>
              <a:t>A number of N, N=0-255 </a:t>
            </a:r>
            <a:r>
              <a:rPr lang="en-US" dirty="0" err="1">
                <a:highlight>
                  <a:srgbClr val="FFFF00"/>
                </a:highlight>
              </a:rPr>
              <a:t>hoặc</a:t>
            </a:r>
            <a:r>
              <a:rPr lang="en-US" dirty="0"/>
              <a:t> 00-FFH</a:t>
            </a:r>
          </a:p>
          <a:p>
            <a:pPr lvl="1" eaLnBrk="1" hangingPunct="1"/>
            <a:r>
              <a:rPr lang="en-US" dirty="0"/>
              <a:t>An address of ISR in ROM:</a:t>
            </a:r>
          </a:p>
          <a:p>
            <a:pPr lvl="2" eaLnBrk="1" hangingPunct="1"/>
            <a:r>
              <a:rPr lang="en-US" sz="1800" dirty="0"/>
              <a:t>Code segment (CS)</a:t>
            </a:r>
          </a:p>
          <a:p>
            <a:pPr lvl="2" eaLnBrk="1" hangingPunct="1"/>
            <a:r>
              <a:rPr lang="en-US" sz="1800" dirty="0"/>
              <a:t>Instruction Pointer (IP)</a:t>
            </a:r>
          </a:p>
          <a:p>
            <a:pPr eaLnBrk="1" hangingPunct="1"/>
            <a:r>
              <a:rPr lang="en-US" dirty="0"/>
              <a:t>IVT stores the information of all 256 interrupt vectors.</a:t>
            </a:r>
            <a:endParaRPr lang="en-A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dirty="0"/>
              <a:t>Interrupt vector table</a:t>
            </a:r>
          </a:p>
        </p:txBody>
      </p:sp>
      <p:grpSp>
        <p:nvGrpSpPr>
          <p:cNvPr id="15363" name="Group 37"/>
          <p:cNvGrpSpPr>
            <a:grpSpLocks/>
          </p:cNvGrpSpPr>
          <p:nvPr/>
        </p:nvGrpSpPr>
        <p:grpSpPr bwMode="auto">
          <a:xfrm>
            <a:off x="1301750" y="1447800"/>
            <a:ext cx="6764338" cy="4572000"/>
            <a:chOff x="820" y="912"/>
            <a:chExt cx="4261" cy="2880"/>
          </a:xfrm>
        </p:grpSpPr>
        <p:sp>
          <p:nvSpPr>
            <p:cNvPr id="15364" name="Rectangle 5"/>
            <p:cNvSpPr>
              <a:spLocks noChangeArrowheads="1"/>
            </p:cNvSpPr>
            <p:nvPr/>
          </p:nvSpPr>
          <p:spPr bwMode="auto">
            <a:xfrm>
              <a:off x="1104" y="1392"/>
              <a:ext cx="912" cy="2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5365" name="Line 6"/>
            <p:cNvSpPr>
              <a:spLocks noChangeShapeType="1"/>
            </p:cNvSpPr>
            <p:nvPr/>
          </p:nvSpPr>
          <p:spPr bwMode="auto">
            <a:xfrm>
              <a:off x="1098" y="3590"/>
              <a:ext cx="9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366" name="Line 7"/>
            <p:cNvSpPr>
              <a:spLocks noChangeShapeType="1"/>
            </p:cNvSpPr>
            <p:nvPr/>
          </p:nvSpPr>
          <p:spPr bwMode="auto">
            <a:xfrm>
              <a:off x="1098" y="3375"/>
              <a:ext cx="9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367" name="Text Box 8"/>
            <p:cNvSpPr txBox="1">
              <a:spLocks noChangeArrowheads="1"/>
            </p:cNvSpPr>
            <p:nvPr/>
          </p:nvSpPr>
          <p:spPr bwMode="auto">
            <a:xfrm>
              <a:off x="1422" y="3596"/>
              <a:ext cx="2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AU" sz="1400"/>
                <a:t>CS</a:t>
              </a:r>
            </a:p>
          </p:txBody>
        </p:sp>
        <p:sp>
          <p:nvSpPr>
            <p:cNvPr id="15368" name="Text Box 9"/>
            <p:cNvSpPr txBox="1">
              <a:spLocks noChangeArrowheads="1"/>
            </p:cNvSpPr>
            <p:nvPr/>
          </p:nvSpPr>
          <p:spPr bwMode="auto">
            <a:xfrm>
              <a:off x="1423" y="3395"/>
              <a:ext cx="2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AU" sz="1400"/>
                <a:t>IP</a:t>
              </a:r>
            </a:p>
          </p:txBody>
        </p:sp>
        <p:sp>
          <p:nvSpPr>
            <p:cNvPr id="15369" name="Line 10"/>
            <p:cNvSpPr>
              <a:spLocks noChangeShapeType="1"/>
            </p:cNvSpPr>
            <p:nvPr/>
          </p:nvSpPr>
          <p:spPr bwMode="auto">
            <a:xfrm>
              <a:off x="1098" y="3161"/>
              <a:ext cx="9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370" name="Line 11"/>
            <p:cNvSpPr>
              <a:spLocks noChangeShapeType="1"/>
            </p:cNvSpPr>
            <p:nvPr/>
          </p:nvSpPr>
          <p:spPr bwMode="auto">
            <a:xfrm>
              <a:off x="1098" y="2946"/>
              <a:ext cx="9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371" name="Text Box 12"/>
            <p:cNvSpPr txBox="1">
              <a:spLocks noChangeArrowheads="1"/>
            </p:cNvSpPr>
            <p:nvPr/>
          </p:nvSpPr>
          <p:spPr bwMode="auto">
            <a:xfrm>
              <a:off x="1422" y="3167"/>
              <a:ext cx="2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AU" sz="1400"/>
                <a:t>CS</a:t>
              </a:r>
            </a:p>
          </p:txBody>
        </p:sp>
        <p:sp>
          <p:nvSpPr>
            <p:cNvPr id="15372" name="Text Box 13"/>
            <p:cNvSpPr txBox="1">
              <a:spLocks noChangeArrowheads="1"/>
            </p:cNvSpPr>
            <p:nvPr/>
          </p:nvSpPr>
          <p:spPr bwMode="auto">
            <a:xfrm>
              <a:off x="1423" y="2966"/>
              <a:ext cx="2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AU" sz="1400"/>
                <a:t>IP</a:t>
              </a:r>
            </a:p>
          </p:txBody>
        </p:sp>
        <p:sp>
          <p:nvSpPr>
            <p:cNvPr id="15373" name="Text Box 14"/>
            <p:cNvSpPr txBox="1">
              <a:spLocks noChangeArrowheads="1"/>
            </p:cNvSpPr>
            <p:nvPr/>
          </p:nvSpPr>
          <p:spPr bwMode="auto">
            <a:xfrm>
              <a:off x="820" y="3464"/>
              <a:ext cx="2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AU" dirty="0">
                  <a:solidFill>
                    <a:schemeClr val="tx2"/>
                  </a:solidFill>
                </a:rPr>
                <a:t>00</a:t>
              </a:r>
            </a:p>
          </p:txBody>
        </p:sp>
        <p:sp>
          <p:nvSpPr>
            <p:cNvPr id="15374" name="Text Box 15"/>
            <p:cNvSpPr txBox="1">
              <a:spLocks noChangeArrowheads="1"/>
            </p:cNvSpPr>
            <p:nvPr/>
          </p:nvSpPr>
          <p:spPr bwMode="auto">
            <a:xfrm>
              <a:off x="820" y="3022"/>
              <a:ext cx="2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AU">
                  <a:solidFill>
                    <a:schemeClr val="tx2"/>
                  </a:solidFill>
                </a:rPr>
                <a:t>01</a:t>
              </a:r>
              <a:endParaRPr lang="en-AU" dirty="0">
                <a:solidFill>
                  <a:schemeClr val="tx2"/>
                </a:solidFill>
              </a:endParaRPr>
            </a:p>
          </p:txBody>
        </p:sp>
        <p:sp>
          <p:nvSpPr>
            <p:cNvPr id="15375" name="Text Box 16"/>
            <p:cNvSpPr txBox="1">
              <a:spLocks noChangeArrowheads="1"/>
            </p:cNvSpPr>
            <p:nvPr/>
          </p:nvSpPr>
          <p:spPr bwMode="auto">
            <a:xfrm>
              <a:off x="820" y="1441"/>
              <a:ext cx="2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AU">
                  <a:solidFill>
                    <a:schemeClr val="tx2"/>
                  </a:solidFill>
                </a:rPr>
                <a:t>FF</a:t>
              </a:r>
            </a:p>
          </p:txBody>
        </p:sp>
        <p:sp>
          <p:nvSpPr>
            <p:cNvPr id="15376" name="Text Box 17"/>
            <p:cNvSpPr txBox="1">
              <a:spLocks noChangeArrowheads="1"/>
            </p:cNvSpPr>
            <p:nvPr/>
          </p:nvSpPr>
          <p:spPr bwMode="auto">
            <a:xfrm>
              <a:off x="1025" y="954"/>
              <a:ext cx="110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AU" b="0" dirty="0" err="1">
                  <a:solidFill>
                    <a:schemeClr val="tx2"/>
                  </a:solidFill>
                  <a:highlight>
                    <a:srgbClr val="FFFF00"/>
                  </a:highlight>
                </a:rPr>
                <a:t>Bảng</a:t>
              </a:r>
              <a:r>
                <a:rPr lang="en-AU" b="0" dirty="0">
                  <a:solidFill>
                    <a:schemeClr val="tx2"/>
                  </a:solidFill>
                  <a:highlight>
                    <a:srgbClr val="FFFF00"/>
                  </a:highlight>
                </a:rPr>
                <a:t> </a:t>
              </a:r>
              <a:br>
                <a:rPr lang="en-AU" b="0" dirty="0">
                  <a:solidFill>
                    <a:schemeClr val="tx2"/>
                  </a:solidFill>
                  <a:highlight>
                    <a:srgbClr val="FFFF00"/>
                  </a:highlight>
                </a:rPr>
              </a:br>
              <a:r>
                <a:rPr lang="en-AU" b="0" dirty="0">
                  <a:solidFill>
                    <a:schemeClr val="tx2"/>
                  </a:solidFill>
                  <a:highlight>
                    <a:srgbClr val="FFFF00"/>
                  </a:highlight>
                </a:rPr>
                <a:t>vector </a:t>
              </a:r>
              <a:r>
                <a:rPr lang="en-AU" b="0" dirty="0" err="1">
                  <a:solidFill>
                    <a:schemeClr val="tx2"/>
                  </a:solidFill>
                  <a:highlight>
                    <a:srgbClr val="FFFF00"/>
                  </a:highlight>
                </a:rPr>
                <a:t>ngắt</a:t>
              </a:r>
              <a:endParaRPr lang="en-AU" b="0" dirty="0">
                <a:solidFill>
                  <a:schemeClr val="tx2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5377" name="Rectangle 19"/>
            <p:cNvSpPr>
              <a:spLocks noChangeArrowheads="1"/>
            </p:cNvSpPr>
            <p:nvPr/>
          </p:nvSpPr>
          <p:spPr bwMode="auto">
            <a:xfrm>
              <a:off x="3936" y="1152"/>
              <a:ext cx="1014" cy="2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5378" name="Text Box 31"/>
            <p:cNvSpPr txBox="1">
              <a:spLocks noChangeArrowheads="1"/>
            </p:cNvSpPr>
            <p:nvPr/>
          </p:nvSpPr>
          <p:spPr bwMode="auto">
            <a:xfrm>
              <a:off x="4080" y="912"/>
              <a:ext cx="5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AU">
                  <a:solidFill>
                    <a:schemeClr val="tx2"/>
                  </a:solidFill>
                </a:rPr>
                <a:t>ROM</a:t>
              </a:r>
            </a:p>
          </p:txBody>
        </p:sp>
        <p:cxnSp>
          <p:nvCxnSpPr>
            <p:cNvPr id="15379" name="AutoShape 33"/>
            <p:cNvCxnSpPr>
              <a:cxnSpLocks noChangeShapeType="1"/>
            </p:cNvCxnSpPr>
            <p:nvPr/>
          </p:nvCxnSpPr>
          <p:spPr bwMode="auto">
            <a:xfrm flipV="1">
              <a:off x="2016" y="3088"/>
              <a:ext cx="1922" cy="602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0" name="AutoShape 34"/>
            <p:cNvCxnSpPr>
              <a:cxnSpLocks noChangeShapeType="1"/>
            </p:cNvCxnSpPr>
            <p:nvPr/>
          </p:nvCxnSpPr>
          <p:spPr bwMode="auto">
            <a:xfrm flipV="1">
              <a:off x="2016" y="2184"/>
              <a:ext cx="1908" cy="1292"/>
            </a:xfrm>
            <a:prstGeom prst="bentConnector3">
              <a:avLst>
                <a:gd name="adj1" fmla="val 3595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81" name="Text Box 35"/>
            <p:cNvSpPr txBox="1">
              <a:spLocks noChangeArrowheads="1"/>
            </p:cNvSpPr>
            <p:nvPr/>
          </p:nvSpPr>
          <p:spPr bwMode="auto">
            <a:xfrm>
              <a:off x="3954" y="2993"/>
              <a:ext cx="84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1400" b="0" dirty="0" err="1">
                  <a:highlight>
                    <a:srgbClr val="FFFF00"/>
                  </a:highlight>
                </a:rPr>
                <a:t>Bắt</a:t>
              </a:r>
              <a:r>
                <a:rPr lang="en-AU" sz="1400" b="0" dirty="0">
                  <a:highlight>
                    <a:srgbClr val="FFFF00"/>
                  </a:highlight>
                </a:rPr>
                <a:t> </a:t>
              </a:r>
              <a:r>
                <a:rPr lang="en-AU" sz="1400" b="0" dirty="0" err="1">
                  <a:highlight>
                    <a:srgbClr val="FFFF00"/>
                  </a:highlight>
                </a:rPr>
                <a:t>đầu</a:t>
              </a:r>
              <a:r>
                <a:rPr lang="en-AU" sz="1400" b="0" dirty="0">
                  <a:highlight>
                    <a:srgbClr val="FFFF00"/>
                  </a:highlight>
                </a:rPr>
                <a:t> </a:t>
              </a:r>
              <a:r>
                <a:rPr lang="en-AU" sz="1400" b="0" dirty="0" err="1">
                  <a:highlight>
                    <a:srgbClr val="FFFF00"/>
                  </a:highlight>
                </a:rPr>
                <a:t>đoạn</a:t>
              </a:r>
              <a:endParaRPr lang="en-AU" sz="1400" b="0" dirty="0">
                <a:highlight>
                  <a:srgbClr val="FFFF00"/>
                </a:highlight>
              </a:endParaRPr>
            </a:p>
          </p:txBody>
        </p:sp>
        <p:sp>
          <p:nvSpPr>
            <p:cNvPr id="15382" name="Text Box 36"/>
            <p:cNvSpPr txBox="1">
              <a:spLocks noChangeArrowheads="1"/>
            </p:cNvSpPr>
            <p:nvPr/>
          </p:nvSpPr>
          <p:spPr bwMode="auto">
            <a:xfrm>
              <a:off x="3954" y="2095"/>
              <a:ext cx="112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sz="1400" b="0" dirty="0" err="1">
                  <a:highlight>
                    <a:srgbClr val="FFFF00"/>
                  </a:highlight>
                </a:rPr>
                <a:t>Bắt</a:t>
              </a:r>
              <a:r>
                <a:rPr lang="en-AU" sz="1400" b="0" dirty="0">
                  <a:highlight>
                    <a:srgbClr val="FFFF00"/>
                  </a:highlight>
                </a:rPr>
                <a:t> </a:t>
              </a:r>
              <a:r>
                <a:rPr lang="en-AU" sz="1400" b="0" dirty="0" err="1">
                  <a:highlight>
                    <a:srgbClr val="FFFF00"/>
                  </a:highlight>
                </a:rPr>
                <a:t>đầu</a:t>
              </a:r>
              <a:r>
                <a:rPr lang="en-AU" sz="1400" b="0" dirty="0">
                  <a:highlight>
                    <a:srgbClr val="FFFF00"/>
                  </a:highlight>
                </a:rPr>
                <a:t> CTCPVN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dirty="0"/>
              <a:t>Interrupt response of CPU</a:t>
            </a:r>
          </a:p>
        </p:txBody>
      </p:sp>
      <p:grpSp>
        <p:nvGrpSpPr>
          <p:cNvPr id="16387" name="Group 28"/>
          <p:cNvGrpSpPr>
            <a:grpSpLocks/>
          </p:cNvGrpSpPr>
          <p:nvPr/>
        </p:nvGrpSpPr>
        <p:grpSpPr bwMode="auto">
          <a:xfrm>
            <a:off x="838200" y="1905000"/>
            <a:ext cx="7316788" cy="3387725"/>
            <a:chOff x="507" y="960"/>
            <a:chExt cx="4609" cy="2134"/>
          </a:xfrm>
        </p:grpSpPr>
        <p:sp>
          <p:nvSpPr>
            <p:cNvPr id="16388" name="Text Box 4"/>
            <p:cNvSpPr txBox="1">
              <a:spLocks noChangeArrowheads="1"/>
            </p:cNvSpPr>
            <p:nvPr/>
          </p:nvSpPr>
          <p:spPr bwMode="auto">
            <a:xfrm>
              <a:off x="1131" y="960"/>
              <a:ext cx="5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CTC</a:t>
              </a:r>
              <a:endParaRPr lang="en-AU" sz="1600">
                <a:solidFill>
                  <a:schemeClr val="tx2"/>
                </a:solidFill>
              </a:endParaRPr>
            </a:p>
          </p:txBody>
        </p:sp>
        <p:sp>
          <p:nvSpPr>
            <p:cNvPr id="16389" name="Text Box 5"/>
            <p:cNvSpPr txBox="1">
              <a:spLocks noChangeArrowheads="1"/>
            </p:cNvSpPr>
            <p:nvPr/>
          </p:nvSpPr>
          <p:spPr bwMode="auto">
            <a:xfrm>
              <a:off x="970" y="1436"/>
              <a:ext cx="86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 b="0" dirty="0">
                  <a:solidFill>
                    <a:schemeClr val="tx2"/>
                  </a:solidFill>
                </a:rPr>
                <a:t>CODE</a:t>
              </a:r>
              <a:endParaRPr lang="en-AU" sz="1600" b="0" dirty="0">
                <a:solidFill>
                  <a:schemeClr val="tx2"/>
                </a:solidFill>
              </a:endParaRPr>
            </a:p>
          </p:txBody>
        </p:sp>
        <p:sp>
          <p:nvSpPr>
            <p:cNvPr id="16390" name="Line 6"/>
            <p:cNvSpPr>
              <a:spLocks noChangeShapeType="1"/>
            </p:cNvSpPr>
            <p:nvPr/>
          </p:nvSpPr>
          <p:spPr bwMode="auto">
            <a:xfrm>
              <a:off x="1407" y="1165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391" name="Line 7"/>
            <p:cNvSpPr>
              <a:spLocks noChangeShapeType="1"/>
            </p:cNvSpPr>
            <p:nvPr/>
          </p:nvSpPr>
          <p:spPr bwMode="auto">
            <a:xfrm>
              <a:off x="1407" y="166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392" name="Line 8"/>
            <p:cNvSpPr>
              <a:spLocks noChangeShapeType="1"/>
            </p:cNvSpPr>
            <p:nvPr/>
          </p:nvSpPr>
          <p:spPr bwMode="auto">
            <a:xfrm>
              <a:off x="1407" y="2538"/>
              <a:ext cx="0" cy="5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393" name="Line 9"/>
            <p:cNvSpPr>
              <a:spLocks noChangeShapeType="1"/>
            </p:cNvSpPr>
            <p:nvPr/>
          </p:nvSpPr>
          <p:spPr bwMode="auto">
            <a:xfrm>
              <a:off x="939" y="1728"/>
              <a:ext cx="414" cy="18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394" name="Text Box 10"/>
            <p:cNvSpPr txBox="1">
              <a:spLocks noChangeArrowheads="1"/>
            </p:cNvSpPr>
            <p:nvPr/>
          </p:nvSpPr>
          <p:spPr bwMode="auto">
            <a:xfrm>
              <a:off x="507" y="1728"/>
              <a:ext cx="62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 b="0" dirty="0">
                  <a:solidFill>
                    <a:srgbClr val="FF0000"/>
                  </a:solidFill>
                </a:rPr>
                <a:t>Interrupt request</a:t>
              </a:r>
              <a:endParaRPr lang="en-AU" sz="1600" b="0" dirty="0">
                <a:solidFill>
                  <a:srgbClr val="FF0000"/>
                </a:solidFill>
              </a:endParaRPr>
            </a:p>
          </p:txBody>
        </p:sp>
        <p:sp>
          <p:nvSpPr>
            <p:cNvPr id="16395" name="Line 11"/>
            <p:cNvSpPr>
              <a:spLocks noChangeShapeType="1"/>
            </p:cNvSpPr>
            <p:nvPr/>
          </p:nvSpPr>
          <p:spPr bwMode="auto">
            <a:xfrm flipV="1">
              <a:off x="1467" y="1621"/>
              <a:ext cx="442" cy="3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396" name="Text Box 12"/>
            <p:cNvSpPr txBox="1">
              <a:spLocks noChangeArrowheads="1"/>
            </p:cNvSpPr>
            <p:nvPr/>
          </p:nvSpPr>
          <p:spPr bwMode="auto">
            <a:xfrm>
              <a:off x="1820" y="1410"/>
              <a:ext cx="6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 b="0" dirty="0">
                  <a:solidFill>
                    <a:schemeClr val="tx2"/>
                  </a:solidFill>
                </a:rPr>
                <a:t>CPU:</a:t>
              </a:r>
              <a:endParaRPr lang="en-AU" sz="1600" b="0" dirty="0">
                <a:solidFill>
                  <a:schemeClr val="tx2"/>
                </a:solidFill>
              </a:endParaRPr>
            </a:p>
          </p:txBody>
        </p:sp>
        <p:sp>
          <p:nvSpPr>
            <p:cNvPr id="16397" name="Text Box 13"/>
            <p:cNvSpPr txBox="1">
              <a:spLocks noChangeArrowheads="1"/>
            </p:cNvSpPr>
            <p:nvPr/>
          </p:nvSpPr>
          <p:spPr bwMode="auto">
            <a:xfrm>
              <a:off x="1933" y="1618"/>
              <a:ext cx="1059" cy="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buFontTx/>
                <a:buChar char="•"/>
              </a:pPr>
              <a:r>
                <a:rPr lang="en-US" sz="1400" b="0" dirty="0">
                  <a:solidFill>
                    <a:schemeClr val="tx2"/>
                  </a:solidFill>
                </a:rPr>
                <a:t> </a:t>
              </a:r>
              <a:r>
                <a:rPr lang="en-US" sz="1400" b="0" dirty="0" err="1">
                  <a:solidFill>
                    <a:schemeClr val="tx2"/>
                  </a:solidFill>
                  <a:highlight>
                    <a:srgbClr val="FFFF00"/>
                  </a:highlight>
                </a:rPr>
                <a:t>pust</a:t>
              </a:r>
              <a:r>
                <a:rPr lang="en-US" sz="1400" b="0" dirty="0">
                  <a:solidFill>
                    <a:schemeClr val="tx2"/>
                  </a:solidFill>
                </a:rPr>
                <a:t> FR</a:t>
              </a:r>
            </a:p>
            <a:p>
              <a:pPr eaLnBrk="1" hangingPunct="1">
                <a:buFontTx/>
                <a:buChar char="•"/>
              </a:pPr>
              <a:r>
                <a:rPr lang="en-US" sz="1400" b="0" dirty="0">
                  <a:solidFill>
                    <a:schemeClr val="tx2"/>
                  </a:solidFill>
                </a:rPr>
                <a:t> disable IF and TF</a:t>
              </a:r>
            </a:p>
            <a:p>
              <a:pPr eaLnBrk="1" hangingPunct="1">
                <a:buFontTx/>
                <a:buChar char="•"/>
              </a:pPr>
              <a:r>
                <a:rPr lang="en-US" sz="1400" b="0" dirty="0">
                  <a:solidFill>
                    <a:schemeClr val="tx2"/>
                  </a:solidFill>
                </a:rPr>
                <a:t> push CS and IP</a:t>
              </a:r>
            </a:p>
            <a:p>
              <a:pPr eaLnBrk="1" hangingPunct="1">
                <a:buFontTx/>
                <a:buChar char="•"/>
              </a:pPr>
              <a:r>
                <a:rPr lang="en-US" sz="1400" b="0" dirty="0">
                  <a:solidFill>
                    <a:schemeClr val="tx2"/>
                  </a:solidFill>
                </a:rPr>
                <a:t> get the interrupt route address from IVT</a:t>
              </a:r>
              <a:endParaRPr lang="en-AU" sz="1400" b="0" dirty="0">
                <a:solidFill>
                  <a:schemeClr val="tx2"/>
                </a:solidFill>
              </a:endParaRPr>
            </a:p>
          </p:txBody>
        </p:sp>
        <p:sp>
          <p:nvSpPr>
            <p:cNvPr id="16398" name="Text Box 14"/>
            <p:cNvSpPr txBox="1">
              <a:spLocks noChangeArrowheads="1"/>
            </p:cNvSpPr>
            <p:nvPr/>
          </p:nvSpPr>
          <p:spPr bwMode="auto">
            <a:xfrm>
              <a:off x="3550" y="1255"/>
              <a:ext cx="6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CTCPVN</a:t>
              </a:r>
              <a:endParaRPr lang="en-AU" sz="1600">
                <a:solidFill>
                  <a:schemeClr val="tx2"/>
                </a:solidFill>
              </a:endParaRPr>
            </a:p>
          </p:txBody>
        </p:sp>
        <p:sp>
          <p:nvSpPr>
            <p:cNvPr id="16399" name="Text Box 15"/>
            <p:cNvSpPr txBox="1">
              <a:spLocks noChangeArrowheads="1"/>
            </p:cNvSpPr>
            <p:nvPr/>
          </p:nvSpPr>
          <p:spPr bwMode="auto">
            <a:xfrm>
              <a:off x="3462" y="1965"/>
              <a:ext cx="86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 b="0" dirty="0">
                  <a:solidFill>
                    <a:schemeClr val="tx2"/>
                  </a:solidFill>
                </a:rPr>
                <a:t>CTCPVN code</a:t>
              </a:r>
              <a:endParaRPr lang="en-AU" sz="1600" b="0" dirty="0">
                <a:solidFill>
                  <a:schemeClr val="tx2"/>
                </a:solidFill>
              </a:endParaRPr>
            </a:p>
          </p:txBody>
        </p:sp>
        <p:sp>
          <p:nvSpPr>
            <p:cNvPr id="16400" name="Line 16"/>
            <p:cNvSpPr>
              <a:spLocks noChangeShapeType="1"/>
            </p:cNvSpPr>
            <p:nvPr/>
          </p:nvSpPr>
          <p:spPr bwMode="auto">
            <a:xfrm>
              <a:off x="3899" y="1480"/>
              <a:ext cx="0" cy="4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401" name="Line 17"/>
            <p:cNvSpPr>
              <a:spLocks noChangeShapeType="1"/>
            </p:cNvSpPr>
            <p:nvPr/>
          </p:nvSpPr>
          <p:spPr bwMode="auto">
            <a:xfrm>
              <a:off x="3899" y="2407"/>
              <a:ext cx="0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402" name="Text Box 18"/>
            <p:cNvSpPr txBox="1">
              <a:spLocks noChangeArrowheads="1"/>
            </p:cNvSpPr>
            <p:nvPr/>
          </p:nvSpPr>
          <p:spPr bwMode="auto">
            <a:xfrm>
              <a:off x="3616" y="2849"/>
              <a:ext cx="5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IRET</a:t>
              </a:r>
              <a:endParaRPr lang="en-AU" sz="1600">
                <a:solidFill>
                  <a:schemeClr val="tx2"/>
                </a:solidFill>
              </a:endParaRPr>
            </a:p>
          </p:txBody>
        </p:sp>
        <p:sp>
          <p:nvSpPr>
            <p:cNvPr id="16403" name="Line 19"/>
            <p:cNvSpPr>
              <a:spLocks noChangeShapeType="1"/>
            </p:cNvSpPr>
            <p:nvPr/>
          </p:nvSpPr>
          <p:spPr bwMode="auto">
            <a:xfrm flipV="1">
              <a:off x="2954" y="1489"/>
              <a:ext cx="838" cy="6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404" name="Text Box 20"/>
            <p:cNvSpPr txBox="1">
              <a:spLocks noChangeArrowheads="1"/>
            </p:cNvSpPr>
            <p:nvPr/>
          </p:nvSpPr>
          <p:spPr bwMode="auto">
            <a:xfrm>
              <a:off x="1820" y="2348"/>
              <a:ext cx="6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 b="0" dirty="0">
                  <a:solidFill>
                    <a:schemeClr val="tx2"/>
                  </a:solidFill>
                </a:rPr>
                <a:t>CPU:</a:t>
              </a:r>
              <a:endParaRPr lang="en-AU" sz="1600" b="0" dirty="0">
                <a:solidFill>
                  <a:schemeClr val="tx2"/>
                </a:solidFill>
              </a:endParaRPr>
            </a:p>
          </p:txBody>
        </p:sp>
        <p:sp>
          <p:nvSpPr>
            <p:cNvPr id="16405" name="Text Box 21"/>
            <p:cNvSpPr txBox="1">
              <a:spLocks noChangeArrowheads="1"/>
            </p:cNvSpPr>
            <p:nvPr/>
          </p:nvSpPr>
          <p:spPr bwMode="auto">
            <a:xfrm>
              <a:off x="1933" y="2556"/>
              <a:ext cx="1173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buFontTx/>
                <a:buChar char="•"/>
              </a:pPr>
              <a:r>
                <a:rPr lang="en-US" sz="1400" b="0" dirty="0">
                  <a:solidFill>
                    <a:schemeClr val="tx2"/>
                  </a:solidFill>
                </a:rPr>
                <a:t> pop IP and CS</a:t>
              </a:r>
            </a:p>
            <a:p>
              <a:pPr eaLnBrk="1" hangingPunct="1">
                <a:buFontTx/>
                <a:buChar char="•"/>
              </a:pPr>
              <a:r>
                <a:rPr lang="en-US" sz="1400" b="0" dirty="0">
                  <a:solidFill>
                    <a:schemeClr val="tx2"/>
                  </a:solidFill>
                </a:rPr>
                <a:t> pop FR</a:t>
              </a:r>
            </a:p>
            <a:p>
              <a:pPr eaLnBrk="1" hangingPunct="1">
                <a:buFontTx/>
                <a:buChar char="•"/>
              </a:pPr>
              <a:r>
                <a:rPr lang="en-US" sz="1400" b="0" dirty="0">
                  <a:solidFill>
                    <a:schemeClr val="tx2"/>
                  </a:solidFill>
                </a:rPr>
                <a:t> enable IF and TF</a:t>
              </a:r>
            </a:p>
          </p:txBody>
        </p:sp>
        <p:sp>
          <p:nvSpPr>
            <p:cNvPr id="16406" name="Line 22"/>
            <p:cNvSpPr>
              <a:spLocks noChangeShapeType="1"/>
            </p:cNvSpPr>
            <p:nvPr/>
          </p:nvSpPr>
          <p:spPr bwMode="auto">
            <a:xfrm flipH="1" flipV="1">
              <a:off x="2940" y="2478"/>
              <a:ext cx="783" cy="4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407" name="Line 23"/>
            <p:cNvSpPr>
              <a:spLocks noChangeShapeType="1"/>
            </p:cNvSpPr>
            <p:nvPr/>
          </p:nvSpPr>
          <p:spPr bwMode="auto">
            <a:xfrm flipH="1" flipV="1">
              <a:off x="1407" y="2505"/>
              <a:ext cx="540" cy="4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408" name="Text Box 24"/>
            <p:cNvSpPr txBox="1">
              <a:spLocks noChangeArrowheads="1"/>
            </p:cNvSpPr>
            <p:nvPr/>
          </p:nvSpPr>
          <p:spPr bwMode="auto">
            <a:xfrm>
              <a:off x="3902" y="1421"/>
              <a:ext cx="121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200" b="0" dirty="0">
                  <a:solidFill>
                    <a:schemeClr val="tx2"/>
                  </a:solidFill>
                </a:rPr>
                <a:t>Store shared </a:t>
              </a:r>
              <a:r>
                <a:rPr lang="en-US" sz="1200" b="0" dirty="0" err="1">
                  <a:solidFill>
                    <a:schemeClr val="tx2"/>
                  </a:solidFill>
                  <a:highlight>
                    <a:srgbClr val="FFFF00"/>
                  </a:highlight>
                </a:rPr>
                <a:t>resgisters</a:t>
              </a:r>
              <a:endParaRPr lang="en-AU" sz="1200" b="0" dirty="0">
                <a:solidFill>
                  <a:schemeClr val="tx2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6409" name="Text Box 25"/>
            <p:cNvSpPr txBox="1">
              <a:spLocks noChangeArrowheads="1"/>
            </p:cNvSpPr>
            <p:nvPr/>
          </p:nvSpPr>
          <p:spPr bwMode="auto">
            <a:xfrm>
              <a:off x="3902" y="2553"/>
              <a:ext cx="121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200" b="0" dirty="0">
                  <a:solidFill>
                    <a:schemeClr val="tx2"/>
                  </a:solidFill>
                </a:rPr>
                <a:t>Restore shared registers</a:t>
              </a:r>
              <a:endParaRPr lang="en-AU" sz="1200" b="0" dirty="0">
                <a:solidFill>
                  <a:schemeClr val="tx2"/>
                </a:solidFill>
              </a:endParaRPr>
            </a:p>
          </p:txBody>
        </p:sp>
        <p:sp>
          <p:nvSpPr>
            <p:cNvPr id="16410" name="Text Box 26"/>
            <p:cNvSpPr txBox="1">
              <a:spLocks noChangeArrowheads="1"/>
            </p:cNvSpPr>
            <p:nvPr/>
          </p:nvSpPr>
          <p:spPr bwMode="auto">
            <a:xfrm>
              <a:off x="1010" y="1963"/>
              <a:ext cx="86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200" b="0" dirty="0">
                  <a:solidFill>
                    <a:srgbClr val="FF0000"/>
                  </a:solidFill>
                </a:rPr>
                <a:t>Temporary terminates</a:t>
              </a:r>
              <a:endParaRPr lang="en-AU" sz="1200" b="0" dirty="0">
                <a:solidFill>
                  <a:srgbClr val="FF0000"/>
                </a:solidFill>
              </a:endParaRPr>
            </a:p>
          </p:txBody>
        </p:sp>
        <p:sp>
          <p:nvSpPr>
            <p:cNvPr id="16411" name="Text Box 27"/>
            <p:cNvSpPr txBox="1">
              <a:spLocks noChangeArrowheads="1"/>
            </p:cNvSpPr>
            <p:nvPr/>
          </p:nvSpPr>
          <p:spPr bwMode="auto">
            <a:xfrm>
              <a:off x="1010" y="2345"/>
              <a:ext cx="8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200" b="0" dirty="0">
                  <a:solidFill>
                    <a:schemeClr val="tx2"/>
                  </a:solidFill>
                </a:rPr>
                <a:t>continue CTC</a:t>
              </a:r>
              <a:endParaRPr lang="en-AU" sz="1200" b="0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dirty="0"/>
              <a:t>Interrupts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Advantages</a:t>
            </a:r>
          </a:p>
          <a:p>
            <a:pPr lvl="1" eaLnBrk="1" hangingPunct="1"/>
            <a:r>
              <a:rPr lang="en-US" dirty="0"/>
              <a:t>More effective than polling</a:t>
            </a:r>
          </a:p>
          <a:p>
            <a:pPr eaLnBrk="1" hangingPunct="1"/>
            <a:r>
              <a:rPr lang="en-US" dirty="0"/>
              <a:t>Disadvantages</a:t>
            </a:r>
          </a:p>
          <a:p>
            <a:pPr lvl="1" eaLnBrk="1" hangingPunct="1"/>
            <a:r>
              <a:rPr lang="en-US" dirty="0"/>
              <a:t>More complicated than polling</a:t>
            </a:r>
          </a:p>
          <a:p>
            <a:pPr lvl="1" eaLnBrk="1" hangingPunct="1"/>
            <a:r>
              <a:rPr lang="en-US" dirty="0"/>
              <a:t>Need more hardware</a:t>
            </a:r>
          </a:p>
          <a:p>
            <a:pPr eaLnBrk="1" hangingPunct="1"/>
            <a:r>
              <a:rPr lang="en-US" dirty="0"/>
              <a:t>CPU is subjective to control I/O: </a:t>
            </a:r>
          </a:p>
          <a:p>
            <a:pPr lvl="1" eaLnBrk="1" hangingPunct="1"/>
            <a:endParaRPr lang="en-A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33400" indent="-533400" eaLnBrk="1" hangingPunct="1"/>
            <a:r>
              <a:rPr lang="en-US" dirty="0"/>
              <a:t>Direct Memory Access- DMA</a:t>
            </a:r>
            <a:endParaRPr lang="en-AU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3998913" cy="46783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200" dirty="0"/>
              <a:t>CPU handles over for I/O by polling and interrupt.</a:t>
            </a:r>
          </a:p>
          <a:p>
            <a:pPr eaLnBrk="1" hangingPunct="1">
              <a:lnSpc>
                <a:spcPct val="90000"/>
              </a:lnSpc>
            </a:pPr>
            <a:r>
              <a:rPr lang="en-AU" sz="2200" dirty="0"/>
              <a:t>DMA (</a:t>
            </a:r>
            <a:r>
              <a:rPr lang="en-US" sz="2200" dirty="0"/>
              <a:t>Direct Memory Access) allows exchange data between memory and I/O without CPU;</a:t>
            </a:r>
            <a:endParaRPr lang="en-AU" sz="2200" dirty="0"/>
          </a:p>
          <a:p>
            <a:pPr eaLnBrk="1" hangingPunct="1">
              <a:lnSpc>
                <a:spcPct val="90000"/>
              </a:lnSpc>
            </a:pPr>
            <a:r>
              <a:rPr lang="en-AU" sz="2200" dirty="0"/>
              <a:t>DMA can be suitable for large data size exchanged in short time.</a:t>
            </a:r>
          </a:p>
        </p:txBody>
      </p:sp>
      <p:grpSp>
        <p:nvGrpSpPr>
          <p:cNvPr id="36868" name="Group 25"/>
          <p:cNvGrpSpPr>
            <a:grpSpLocks/>
          </p:cNvGrpSpPr>
          <p:nvPr/>
        </p:nvGrpSpPr>
        <p:grpSpPr bwMode="auto">
          <a:xfrm>
            <a:off x="4310063" y="1447800"/>
            <a:ext cx="4576762" cy="4392613"/>
            <a:chOff x="2488" y="912"/>
            <a:chExt cx="2883" cy="2767"/>
          </a:xfrm>
        </p:grpSpPr>
        <p:sp>
          <p:nvSpPr>
            <p:cNvPr id="36869" name="Rectangle 4"/>
            <p:cNvSpPr>
              <a:spLocks noChangeArrowheads="1"/>
            </p:cNvSpPr>
            <p:nvPr/>
          </p:nvSpPr>
          <p:spPr bwMode="auto">
            <a:xfrm>
              <a:off x="2709" y="1281"/>
              <a:ext cx="592" cy="3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AU" sz="1600">
                  <a:solidFill>
                    <a:schemeClr val="tx2"/>
                  </a:solidFill>
                </a:rPr>
                <a:t>CPU</a:t>
              </a:r>
            </a:p>
          </p:txBody>
        </p:sp>
        <p:sp>
          <p:nvSpPr>
            <p:cNvPr id="36870" name="Rectangle 5"/>
            <p:cNvSpPr>
              <a:spLocks noChangeArrowheads="1"/>
            </p:cNvSpPr>
            <p:nvPr/>
          </p:nvSpPr>
          <p:spPr bwMode="auto">
            <a:xfrm>
              <a:off x="3835" y="912"/>
              <a:ext cx="592" cy="3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AU" sz="1600">
                  <a:solidFill>
                    <a:schemeClr val="tx2"/>
                  </a:solidFill>
                </a:rPr>
                <a:t>Memory</a:t>
              </a:r>
            </a:p>
          </p:txBody>
        </p:sp>
        <p:sp>
          <p:nvSpPr>
            <p:cNvPr id="36871" name="AutoShape 6"/>
            <p:cNvSpPr>
              <a:spLocks noChangeArrowheads="1"/>
            </p:cNvSpPr>
            <p:nvPr/>
          </p:nvSpPr>
          <p:spPr bwMode="auto">
            <a:xfrm>
              <a:off x="3840" y="1632"/>
              <a:ext cx="576" cy="528"/>
            </a:xfrm>
            <a:prstGeom prst="can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>
                  <a:solidFill>
                    <a:schemeClr val="tx2"/>
                  </a:solidFill>
                </a:rPr>
                <a:t>I/O</a:t>
              </a:r>
              <a:endParaRPr lang="en-AU" sz="1600">
                <a:solidFill>
                  <a:schemeClr val="tx2"/>
                </a:solidFill>
              </a:endParaRPr>
            </a:p>
          </p:txBody>
        </p:sp>
        <p:sp>
          <p:nvSpPr>
            <p:cNvPr id="36872" name="Line 7"/>
            <p:cNvSpPr>
              <a:spLocks noChangeShapeType="1"/>
            </p:cNvSpPr>
            <p:nvPr/>
          </p:nvSpPr>
          <p:spPr bwMode="auto">
            <a:xfrm flipH="1" flipV="1">
              <a:off x="3312" y="1682"/>
              <a:ext cx="515" cy="3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873" name="Line 8"/>
            <p:cNvSpPr>
              <a:spLocks noChangeShapeType="1"/>
            </p:cNvSpPr>
            <p:nvPr/>
          </p:nvSpPr>
          <p:spPr bwMode="auto">
            <a:xfrm flipV="1">
              <a:off x="3312" y="1012"/>
              <a:ext cx="509" cy="2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874" name="Line 9"/>
            <p:cNvSpPr>
              <a:spLocks noChangeShapeType="1"/>
            </p:cNvSpPr>
            <p:nvPr/>
          </p:nvSpPr>
          <p:spPr bwMode="auto">
            <a:xfrm flipH="1">
              <a:off x="3318" y="1213"/>
              <a:ext cx="496" cy="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875" name="Line 10"/>
            <p:cNvSpPr>
              <a:spLocks noChangeShapeType="1"/>
            </p:cNvSpPr>
            <p:nvPr/>
          </p:nvSpPr>
          <p:spPr bwMode="auto">
            <a:xfrm>
              <a:off x="3325" y="1542"/>
              <a:ext cx="502" cy="2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876" name="Rectangle 11"/>
            <p:cNvSpPr>
              <a:spLocks noChangeArrowheads="1"/>
            </p:cNvSpPr>
            <p:nvPr/>
          </p:nvSpPr>
          <p:spPr bwMode="auto">
            <a:xfrm>
              <a:off x="2709" y="2795"/>
              <a:ext cx="592" cy="3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AU" sz="1600">
                  <a:solidFill>
                    <a:schemeClr val="tx2"/>
                  </a:solidFill>
                </a:rPr>
                <a:t>CPU</a:t>
              </a:r>
            </a:p>
          </p:txBody>
        </p:sp>
        <p:sp>
          <p:nvSpPr>
            <p:cNvPr id="36877" name="Rectangle 12"/>
            <p:cNvSpPr>
              <a:spLocks noChangeArrowheads="1"/>
            </p:cNvSpPr>
            <p:nvPr/>
          </p:nvSpPr>
          <p:spPr bwMode="auto">
            <a:xfrm>
              <a:off x="3835" y="2426"/>
              <a:ext cx="592" cy="3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AU" sz="1600">
                  <a:solidFill>
                    <a:schemeClr val="tx2"/>
                  </a:solidFill>
                </a:rPr>
                <a:t>Memory</a:t>
              </a:r>
            </a:p>
          </p:txBody>
        </p:sp>
        <p:sp>
          <p:nvSpPr>
            <p:cNvPr id="36878" name="AutoShape 13"/>
            <p:cNvSpPr>
              <a:spLocks noChangeArrowheads="1"/>
            </p:cNvSpPr>
            <p:nvPr/>
          </p:nvSpPr>
          <p:spPr bwMode="auto">
            <a:xfrm>
              <a:off x="3840" y="3146"/>
              <a:ext cx="576" cy="528"/>
            </a:xfrm>
            <a:prstGeom prst="can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>
                  <a:solidFill>
                    <a:schemeClr val="tx2"/>
                  </a:solidFill>
                </a:rPr>
                <a:t>I/O</a:t>
              </a:r>
              <a:endParaRPr lang="en-AU" sz="1600">
                <a:solidFill>
                  <a:schemeClr val="tx2"/>
                </a:solidFill>
              </a:endParaRPr>
            </a:p>
          </p:txBody>
        </p:sp>
        <p:sp>
          <p:nvSpPr>
            <p:cNvPr id="36879" name="Line 18"/>
            <p:cNvSpPr>
              <a:spLocks noChangeShapeType="1"/>
            </p:cNvSpPr>
            <p:nvPr/>
          </p:nvSpPr>
          <p:spPr bwMode="auto">
            <a:xfrm>
              <a:off x="3985" y="2833"/>
              <a:ext cx="0" cy="4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880" name="Line 19"/>
            <p:cNvSpPr>
              <a:spLocks noChangeShapeType="1"/>
            </p:cNvSpPr>
            <p:nvPr/>
          </p:nvSpPr>
          <p:spPr bwMode="auto">
            <a:xfrm>
              <a:off x="4240" y="2826"/>
              <a:ext cx="0" cy="3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881" name="Rectangle 20"/>
            <p:cNvSpPr>
              <a:spLocks noChangeArrowheads="1"/>
            </p:cNvSpPr>
            <p:nvPr/>
          </p:nvSpPr>
          <p:spPr bwMode="auto">
            <a:xfrm>
              <a:off x="4779" y="2795"/>
              <a:ext cx="592" cy="3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AU" sz="1600">
                  <a:solidFill>
                    <a:schemeClr val="tx2"/>
                  </a:solidFill>
                </a:rPr>
                <a:t>DMAC</a:t>
              </a:r>
            </a:p>
          </p:txBody>
        </p:sp>
        <p:cxnSp>
          <p:nvCxnSpPr>
            <p:cNvPr id="36882" name="AutoShape 21"/>
            <p:cNvCxnSpPr>
              <a:cxnSpLocks noChangeShapeType="1"/>
              <a:stCxn id="36881" idx="0"/>
            </p:cNvCxnSpPr>
            <p:nvPr/>
          </p:nvCxnSpPr>
          <p:spPr bwMode="auto">
            <a:xfrm rot="5400000" flipH="1">
              <a:off x="4666" y="2386"/>
              <a:ext cx="170" cy="648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83" name="AutoShape 22"/>
            <p:cNvCxnSpPr>
              <a:cxnSpLocks noChangeShapeType="1"/>
              <a:stCxn id="36881" idx="2"/>
            </p:cNvCxnSpPr>
            <p:nvPr/>
          </p:nvCxnSpPr>
          <p:spPr bwMode="auto">
            <a:xfrm rot="5400000">
              <a:off x="4634" y="2983"/>
              <a:ext cx="233" cy="648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884" name="Rectangle 23"/>
            <p:cNvSpPr>
              <a:spLocks noChangeArrowheads="1"/>
            </p:cNvSpPr>
            <p:nvPr/>
          </p:nvSpPr>
          <p:spPr bwMode="auto">
            <a:xfrm>
              <a:off x="2488" y="1766"/>
              <a:ext cx="1056" cy="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AU" sz="1600" b="0" dirty="0">
                  <a:solidFill>
                    <a:schemeClr val="tx2"/>
                  </a:solidFill>
                </a:rPr>
                <a:t>Polling and interrupt</a:t>
              </a:r>
            </a:p>
          </p:txBody>
        </p:sp>
        <p:sp>
          <p:nvSpPr>
            <p:cNvPr id="36885" name="Rectangle 24"/>
            <p:cNvSpPr>
              <a:spLocks noChangeArrowheads="1"/>
            </p:cNvSpPr>
            <p:nvPr/>
          </p:nvSpPr>
          <p:spPr bwMode="auto">
            <a:xfrm>
              <a:off x="2593" y="3284"/>
              <a:ext cx="1056" cy="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AU" sz="1600" b="0" dirty="0">
                  <a:solidFill>
                    <a:schemeClr val="tx2"/>
                  </a:solidFill>
                </a:rPr>
                <a:t>DMA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Direct Memory Access- DMA</a:t>
            </a:r>
            <a:endParaRPr lang="en-AU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DMAC (DMA Controller) takes over CPU for controlling data exchanged between I/O and memory;</a:t>
            </a:r>
            <a:endParaRPr lang="en-AU" dirty="0"/>
          </a:p>
          <a:p>
            <a:pPr eaLnBrk="1" hangingPunct="1">
              <a:lnSpc>
                <a:spcPct val="90000"/>
              </a:lnSpc>
            </a:pPr>
            <a:r>
              <a:rPr lang="en-AU" dirty="0"/>
              <a:t>DMA is much higher speedy than polling and interrupt</a:t>
            </a:r>
            <a:r>
              <a:rPr lang="en-US" dirty="0"/>
              <a:t>. Example (8088):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It does take 4 clock cycles to transfer 1 byte from I/O to memory for DMA;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With the same task, it takes up to 39 clock cycles for the use of CPU to exchange data: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sz="1800" dirty="0"/>
              <a:t>				; clock cycles 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sz="1800" dirty="0"/>
              <a:t>	LAP:	MOV AL, [SI];	 10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sz="1800" dirty="0"/>
              <a:t>		OUT PORT, AL;	 10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sz="1800" dirty="0"/>
              <a:t>		INC SI;		   2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sz="1800" dirty="0"/>
              <a:t>		LOOP LAP;	 17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sz="1800" dirty="0"/>
              <a:t>			; Sum:	 39 clock cycles</a:t>
            </a:r>
            <a:endParaRPr lang="en-AU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Direct Memory Access- DMA</a:t>
            </a:r>
            <a:endParaRPr lang="en-AU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66800" y="2247900"/>
            <a:ext cx="1214438" cy="3286125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4371A0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38916" name="TextBox 5"/>
          <p:cNvSpPr txBox="1">
            <a:spLocks noChangeArrowheads="1"/>
          </p:cNvSpPr>
          <p:nvPr/>
        </p:nvSpPr>
        <p:spPr bwMode="auto">
          <a:xfrm>
            <a:off x="1209675" y="3676650"/>
            <a:ext cx="857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/>
              <a:t>CPU</a:t>
            </a:r>
          </a:p>
        </p:txBody>
      </p:sp>
      <p:sp>
        <p:nvSpPr>
          <p:cNvPr id="38917" name="TextBox 30"/>
          <p:cNvSpPr txBox="1">
            <a:spLocks noChangeArrowheads="1"/>
          </p:cNvSpPr>
          <p:nvPr/>
        </p:nvSpPr>
        <p:spPr bwMode="auto">
          <a:xfrm>
            <a:off x="2495550" y="4462463"/>
            <a:ext cx="857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/>
              <a:t>HOLD</a:t>
            </a:r>
          </a:p>
        </p:txBody>
      </p:sp>
      <p:grpSp>
        <p:nvGrpSpPr>
          <p:cNvPr id="38918" name="Group 11"/>
          <p:cNvGrpSpPr>
            <a:grpSpLocks/>
          </p:cNvGrpSpPr>
          <p:nvPr/>
        </p:nvGrpSpPr>
        <p:grpSpPr bwMode="auto">
          <a:xfrm>
            <a:off x="6210300" y="1676400"/>
            <a:ext cx="1785938" cy="1071563"/>
            <a:chOff x="4071934" y="1928802"/>
            <a:chExt cx="1785950" cy="1071570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4071934" y="1928802"/>
              <a:ext cx="1785950" cy="1071570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rgbClr val="4371A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  <a:latin typeface="+mn-lt"/>
              </a:endParaRPr>
            </a:p>
          </p:txBody>
        </p:sp>
        <p:sp>
          <p:nvSpPr>
            <p:cNvPr id="38936" name="TextBox 7"/>
            <p:cNvSpPr txBox="1">
              <a:spLocks noChangeArrowheads="1"/>
            </p:cNvSpPr>
            <p:nvPr/>
          </p:nvSpPr>
          <p:spPr bwMode="auto">
            <a:xfrm>
              <a:off x="4429124" y="2285992"/>
              <a:ext cx="1260484" cy="3667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dirty="0"/>
                <a:t>Memory</a:t>
              </a:r>
            </a:p>
          </p:txBody>
        </p:sp>
      </p:grpSp>
      <p:grpSp>
        <p:nvGrpSpPr>
          <p:cNvPr id="38919" name="Group 10"/>
          <p:cNvGrpSpPr>
            <a:grpSpLocks/>
          </p:cNvGrpSpPr>
          <p:nvPr/>
        </p:nvGrpSpPr>
        <p:grpSpPr bwMode="auto">
          <a:xfrm>
            <a:off x="6281738" y="4676775"/>
            <a:ext cx="1785937" cy="1071563"/>
            <a:chOff x="4071934" y="4286256"/>
            <a:chExt cx="1785950" cy="1071570"/>
          </a:xfrm>
        </p:grpSpPr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4071934" y="4286256"/>
              <a:ext cx="1785950" cy="1071570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rgbClr val="4371A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  <a:latin typeface="+mn-lt"/>
              </a:endParaRPr>
            </a:p>
          </p:txBody>
        </p:sp>
        <p:sp>
          <p:nvSpPr>
            <p:cNvPr id="38934" name="TextBox 9"/>
            <p:cNvSpPr txBox="1">
              <a:spLocks noChangeArrowheads="1"/>
            </p:cNvSpPr>
            <p:nvPr/>
          </p:nvSpPr>
          <p:spPr bwMode="auto">
            <a:xfrm>
              <a:off x="4357686" y="4429132"/>
              <a:ext cx="1260484" cy="3693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dirty="0"/>
                <a:t>I/O</a:t>
              </a:r>
            </a:p>
          </p:txBody>
        </p:sp>
      </p:grpSp>
      <p:grpSp>
        <p:nvGrpSpPr>
          <p:cNvPr id="38920" name="Group 17"/>
          <p:cNvGrpSpPr>
            <a:grpSpLocks/>
          </p:cNvGrpSpPr>
          <p:nvPr/>
        </p:nvGrpSpPr>
        <p:grpSpPr bwMode="auto">
          <a:xfrm>
            <a:off x="3567113" y="4676775"/>
            <a:ext cx="1785937" cy="1071563"/>
            <a:chOff x="3500430" y="4500570"/>
            <a:chExt cx="1785950" cy="1071570"/>
          </a:xfrm>
        </p:grpSpPr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3500430" y="4500570"/>
              <a:ext cx="1785950" cy="1071570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rgbClr val="4371A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  <a:latin typeface="+mn-lt"/>
              </a:endParaRPr>
            </a:p>
          </p:txBody>
        </p:sp>
        <p:sp>
          <p:nvSpPr>
            <p:cNvPr id="38932" name="TextBox 16"/>
            <p:cNvSpPr txBox="1">
              <a:spLocks noChangeArrowheads="1"/>
            </p:cNvSpPr>
            <p:nvPr/>
          </p:nvSpPr>
          <p:spPr bwMode="auto">
            <a:xfrm>
              <a:off x="3571868" y="4714884"/>
              <a:ext cx="1714512" cy="3693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dirty="0"/>
                <a:t>DMAC</a:t>
              </a:r>
            </a:p>
          </p:txBody>
        </p:sp>
      </p:grpSp>
      <p:cxnSp>
        <p:nvCxnSpPr>
          <p:cNvPr id="23" name="Straight Arrow Connector 22"/>
          <p:cNvCxnSpPr/>
          <p:nvPr/>
        </p:nvCxnSpPr>
        <p:spPr>
          <a:xfrm rot="10800000">
            <a:off x="2281238" y="4892675"/>
            <a:ext cx="1285875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rot="10800000">
            <a:off x="5353050" y="4894263"/>
            <a:ext cx="928688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2281238" y="5319713"/>
            <a:ext cx="1214437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5353050" y="5321300"/>
            <a:ext cx="92868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25" name="TextBox 31"/>
          <p:cNvSpPr txBox="1">
            <a:spLocks noChangeArrowheads="1"/>
          </p:cNvSpPr>
          <p:nvPr/>
        </p:nvSpPr>
        <p:spPr bwMode="auto">
          <a:xfrm>
            <a:off x="2495550" y="4962525"/>
            <a:ext cx="857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/>
              <a:t>HLDA</a:t>
            </a:r>
          </a:p>
        </p:txBody>
      </p:sp>
      <p:sp>
        <p:nvSpPr>
          <p:cNvPr id="38926" name="TextBox 32"/>
          <p:cNvSpPr txBox="1">
            <a:spLocks noChangeArrowheads="1"/>
          </p:cNvSpPr>
          <p:nvPr/>
        </p:nvSpPr>
        <p:spPr bwMode="auto">
          <a:xfrm>
            <a:off x="5424488" y="4462463"/>
            <a:ext cx="857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/>
              <a:t>DRQ</a:t>
            </a:r>
          </a:p>
        </p:txBody>
      </p:sp>
      <p:sp>
        <p:nvSpPr>
          <p:cNvPr id="38927" name="TextBox 33"/>
          <p:cNvSpPr txBox="1">
            <a:spLocks noChangeArrowheads="1"/>
          </p:cNvSpPr>
          <p:nvPr/>
        </p:nvSpPr>
        <p:spPr bwMode="auto">
          <a:xfrm>
            <a:off x="5424488" y="4962525"/>
            <a:ext cx="857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/>
              <a:t>DACK</a:t>
            </a:r>
          </a:p>
        </p:txBody>
      </p:sp>
      <p:sp>
        <p:nvSpPr>
          <p:cNvPr id="38928" name="Left-Right-Up Arrow 13"/>
          <p:cNvSpPr>
            <a:spLocks/>
          </p:cNvSpPr>
          <p:nvPr/>
        </p:nvSpPr>
        <p:spPr bwMode="auto">
          <a:xfrm rot="-5400000">
            <a:off x="4138613" y="890588"/>
            <a:ext cx="1928812" cy="5643562"/>
          </a:xfrm>
          <a:custGeom>
            <a:avLst/>
            <a:gdLst>
              <a:gd name="T0" fmla="*/ 964392 w 1928826"/>
              <a:gd name="T1" fmla="*/ 0 h 5643602"/>
              <a:gd name="T2" fmla="*/ 0 w 1928826"/>
              <a:gd name="T3" fmla="*/ 5161288 h 5643602"/>
              <a:gd name="T4" fmla="*/ 964392 w 1928826"/>
              <a:gd name="T5" fmla="*/ 5341618 h 5643602"/>
              <a:gd name="T6" fmla="*/ 1928784 w 1928826"/>
              <a:gd name="T7" fmla="*/ 5161288 h 5643602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151922 w 1928826"/>
              <a:gd name="T13" fmla="*/ 4981062 h 5643602"/>
              <a:gd name="T14" fmla="*/ 1776904 w 1928826"/>
              <a:gd name="T15" fmla="*/ 5341730 h 56436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8826" h="5643602">
                <a:moveTo>
                  <a:pt x="0" y="5161396"/>
                </a:moveTo>
                <a:lnTo>
                  <a:pt x="406230" y="4679189"/>
                </a:lnTo>
                <a:lnTo>
                  <a:pt x="406230" y="4981060"/>
                </a:lnTo>
                <a:lnTo>
                  <a:pt x="784077" y="4981060"/>
                </a:lnTo>
                <a:lnTo>
                  <a:pt x="784077" y="406230"/>
                </a:lnTo>
                <a:lnTo>
                  <a:pt x="482207" y="406230"/>
                </a:lnTo>
                <a:lnTo>
                  <a:pt x="964413" y="0"/>
                </a:lnTo>
                <a:lnTo>
                  <a:pt x="1446620" y="406230"/>
                </a:lnTo>
                <a:lnTo>
                  <a:pt x="1144749" y="406230"/>
                </a:lnTo>
                <a:lnTo>
                  <a:pt x="1144749" y="4981060"/>
                </a:lnTo>
                <a:lnTo>
                  <a:pt x="1522596" y="4981060"/>
                </a:lnTo>
                <a:lnTo>
                  <a:pt x="1522596" y="4679189"/>
                </a:lnTo>
                <a:lnTo>
                  <a:pt x="1928826" y="5161396"/>
                </a:lnTo>
                <a:lnTo>
                  <a:pt x="1522596" y="5643602"/>
                </a:lnTo>
                <a:lnTo>
                  <a:pt x="1522596" y="5341731"/>
                </a:lnTo>
                <a:lnTo>
                  <a:pt x="406230" y="5341731"/>
                </a:lnTo>
                <a:lnTo>
                  <a:pt x="406230" y="5643602"/>
                </a:lnTo>
                <a:lnTo>
                  <a:pt x="0" y="5161396"/>
                </a:lnTo>
                <a:close/>
              </a:path>
            </a:pathLst>
          </a:custGeom>
          <a:solidFill>
            <a:schemeClr val="bg1"/>
          </a:solidFill>
          <a:ln w="25400" algn="ctr">
            <a:solidFill>
              <a:srgbClr val="4371A0"/>
            </a:solidFill>
            <a:round/>
            <a:headEnd/>
            <a:tailEnd/>
          </a:ln>
        </p:spPr>
        <p:txBody>
          <a:bodyPr anchor="ctr"/>
          <a:lstStyle/>
          <a:p>
            <a:endParaRPr lang="en-AU"/>
          </a:p>
        </p:txBody>
      </p:sp>
      <p:sp>
        <p:nvSpPr>
          <p:cNvPr id="40" name="Down Arrow 39"/>
          <p:cNvSpPr>
            <a:spLocks noChangeArrowheads="1"/>
          </p:cNvSpPr>
          <p:nvPr/>
        </p:nvSpPr>
        <p:spPr bwMode="auto">
          <a:xfrm>
            <a:off x="4138613" y="3890963"/>
            <a:ext cx="785812" cy="785812"/>
          </a:xfrm>
          <a:prstGeom prst="downArrow">
            <a:avLst>
              <a:gd name="adj1" fmla="val 42843"/>
              <a:gd name="adj2" fmla="val 51792"/>
            </a:avLst>
          </a:prstGeom>
          <a:solidFill>
            <a:schemeClr val="bg1"/>
          </a:solidFill>
          <a:ln w="25400" algn="ctr">
            <a:solidFill>
              <a:srgbClr val="4371A0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38930" name="TextBox 41"/>
          <p:cNvSpPr txBox="1">
            <a:spLocks noChangeArrowheads="1"/>
          </p:cNvSpPr>
          <p:nvPr/>
        </p:nvSpPr>
        <p:spPr bwMode="auto">
          <a:xfrm>
            <a:off x="3209925" y="3533775"/>
            <a:ext cx="3143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dirty="0"/>
              <a:t>System Bus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Direct Memory Access- DMA</a:t>
            </a:r>
            <a:endParaRPr lang="en-AU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Advantages:</a:t>
            </a:r>
          </a:p>
          <a:p>
            <a:pPr lvl="1" eaLnBrk="1" hangingPunct="1"/>
            <a:r>
              <a:rPr lang="en-US" dirty="0"/>
              <a:t>Effective as data are exchanged in blocks (without CPU);</a:t>
            </a:r>
          </a:p>
          <a:p>
            <a:pPr eaLnBrk="1" hangingPunct="1"/>
            <a:r>
              <a:rPr lang="en-US" dirty="0"/>
              <a:t>Disadvantages:</a:t>
            </a:r>
          </a:p>
          <a:p>
            <a:pPr lvl="1" eaLnBrk="1" hangingPunct="1"/>
            <a:r>
              <a:rPr lang="en-US" dirty="0"/>
              <a:t>More complicated than polling and interrupt;</a:t>
            </a:r>
          </a:p>
          <a:p>
            <a:pPr lvl="1" eaLnBrk="1" hangingPunct="1"/>
            <a:r>
              <a:rPr lang="en-US" dirty="0"/>
              <a:t>Need hardware (DMAC)</a:t>
            </a:r>
          </a:p>
          <a:p>
            <a:pPr eaLnBrk="1" hangingPunct="1"/>
            <a:r>
              <a:rPr lang="en-US" dirty="0"/>
              <a:t>subjective</a:t>
            </a:r>
            <a:r>
              <a:rPr lang="en-US"/>
              <a:t>: I/O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13TGp_natural_light_v2">
  <a:themeElements>
    <a:clrScheme name="213TGp_natural_light_v2 2">
      <a:dk1>
        <a:srgbClr val="000000"/>
      </a:dk1>
      <a:lt1>
        <a:srgbClr val="FFFFFF"/>
      </a:lt1>
      <a:dk2>
        <a:srgbClr val="003399"/>
      </a:dk2>
      <a:lt2>
        <a:srgbClr val="C0C0C0"/>
      </a:lt2>
      <a:accent1>
        <a:srgbClr val="5E9CDA"/>
      </a:accent1>
      <a:accent2>
        <a:srgbClr val="93C052"/>
      </a:accent2>
      <a:accent3>
        <a:srgbClr val="FFFFFF"/>
      </a:accent3>
      <a:accent4>
        <a:srgbClr val="000000"/>
      </a:accent4>
      <a:accent5>
        <a:srgbClr val="B6CBEA"/>
      </a:accent5>
      <a:accent6>
        <a:srgbClr val="85AE49"/>
      </a:accent6>
      <a:hlink>
        <a:srgbClr val="FF9933"/>
      </a:hlink>
      <a:folHlink>
        <a:srgbClr val="855ADA"/>
      </a:folHlink>
    </a:clrScheme>
    <a:fontScheme name="213TGp_natural_light_v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13TGp_natural_light_v2 1">
        <a:dk1>
          <a:srgbClr val="000000"/>
        </a:dk1>
        <a:lt1>
          <a:srgbClr val="FFFFFF"/>
        </a:lt1>
        <a:dk2>
          <a:srgbClr val="142288"/>
        </a:dk2>
        <a:lt2>
          <a:srgbClr val="C0C0C0"/>
        </a:lt2>
        <a:accent1>
          <a:srgbClr val="39998E"/>
        </a:accent1>
        <a:accent2>
          <a:srgbClr val="14CAEE"/>
        </a:accent2>
        <a:accent3>
          <a:srgbClr val="FFFFFF"/>
        </a:accent3>
        <a:accent4>
          <a:srgbClr val="000000"/>
        </a:accent4>
        <a:accent5>
          <a:srgbClr val="AECAC6"/>
        </a:accent5>
        <a:accent6>
          <a:srgbClr val="11B7D8"/>
        </a:accent6>
        <a:hlink>
          <a:srgbClr val="8963E9"/>
        </a:hlink>
        <a:folHlink>
          <a:srgbClr val="3067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3TGp_natural_light_v2 2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5E9CDA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6CBEA"/>
        </a:accent5>
        <a:accent6>
          <a:srgbClr val="85AE49"/>
        </a:accent6>
        <a:hlink>
          <a:srgbClr val="FF9933"/>
        </a:hlink>
        <a:folHlink>
          <a:srgbClr val="855AD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3TGp_natural_light_v2 3">
        <a:dk1>
          <a:srgbClr val="000000"/>
        </a:dk1>
        <a:lt1>
          <a:srgbClr val="FFFFFF"/>
        </a:lt1>
        <a:dk2>
          <a:srgbClr val="124458"/>
        </a:dk2>
        <a:lt2>
          <a:srgbClr val="C0C0C0"/>
        </a:lt2>
        <a:accent1>
          <a:srgbClr val="98C13D"/>
        </a:accent1>
        <a:accent2>
          <a:srgbClr val="40BAD2"/>
        </a:accent2>
        <a:accent3>
          <a:srgbClr val="FFFFFF"/>
        </a:accent3>
        <a:accent4>
          <a:srgbClr val="000000"/>
        </a:accent4>
        <a:accent5>
          <a:srgbClr val="CADDAF"/>
        </a:accent5>
        <a:accent6>
          <a:srgbClr val="39A8BE"/>
        </a:accent6>
        <a:hlink>
          <a:srgbClr val="715EE6"/>
        </a:hlink>
        <a:folHlink>
          <a:srgbClr val="238DD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213TGp_natural_light_v2</Template>
  <TotalTime>8853</TotalTime>
  <Words>863</Words>
  <Application>Microsoft Macintosh PowerPoint</Application>
  <PresentationFormat>On-screen Show (4:3)</PresentationFormat>
  <Paragraphs>182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Wingdings</vt:lpstr>
      <vt:lpstr>213TGp_natural_light_v2</vt:lpstr>
      <vt:lpstr>PowerPoint Presentation</vt:lpstr>
      <vt:lpstr>Content</vt:lpstr>
      <vt:lpstr>Introduction</vt:lpstr>
      <vt:lpstr>Ports</vt:lpstr>
      <vt:lpstr>Polling</vt:lpstr>
      <vt:lpstr>Polling</vt:lpstr>
      <vt:lpstr>Non-priority polling</vt:lpstr>
      <vt:lpstr>priority polling</vt:lpstr>
      <vt:lpstr>Interrupt</vt:lpstr>
      <vt:lpstr>Interrupt vector table (IVT)</vt:lpstr>
      <vt:lpstr>Interrupt vector table</vt:lpstr>
      <vt:lpstr>Interrupt response of CPU</vt:lpstr>
      <vt:lpstr>Interrupts</vt:lpstr>
      <vt:lpstr>Direct Memory Access- DMA</vt:lpstr>
      <vt:lpstr>Direct Memory Access- DMA</vt:lpstr>
      <vt:lpstr>Direct Memory Access- DMA</vt:lpstr>
      <vt:lpstr>Direct Memory Access- DMA</vt:lpstr>
    </vt:vector>
  </TitlesOfParts>
  <Company>PTIT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Hoang Minh</dc:creator>
  <cp:lastModifiedBy>Truong. Dinh Xuan - CMC Corp CIST</cp:lastModifiedBy>
  <cp:revision>192</cp:revision>
  <dcterms:created xsi:type="dcterms:W3CDTF">2008-09-11T07:24:50Z</dcterms:created>
  <dcterms:modified xsi:type="dcterms:W3CDTF">2022-12-27T05:35:28Z</dcterms:modified>
</cp:coreProperties>
</file>