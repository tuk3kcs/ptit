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61" r:id="rId2"/>
  </p:sldMasterIdLst>
  <p:notesMasterIdLst>
    <p:notesMasterId r:id="rId44"/>
  </p:notesMasterIdLst>
  <p:handoutMasterIdLst>
    <p:handoutMasterId r:id="rId45"/>
  </p:handoutMasterIdLst>
  <p:sldIdLst>
    <p:sldId id="292" r:id="rId3"/>
    <p:sldId id="293" r:id="rId4"/>
    <p:sldId id="294" r:id="rId5"/>
    <p:sldId id="295" r:id="rId6"/>
    <p:sldId id="296" r:id="rId7"/>
    <p:sldId id="297" r:id="rId8"/>
    <p:sldId id="298" r:id="rId9"/>
    <p:sldId id="300" r:id="rId10"/>
    <p:sldId id="301" r:id="rId11"/>
    <p:sldId id="302" r:id="rId12"/>
    <p:sldId id="321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18" r:id="rId29"/>
    <p:sldId id="320" r:id="rId30"/>
    <p:sldId id="322" r:id="rId31"/>
    <p:sldId id="323" r:id="rId32"/>
    <p:sldId id="324" r:id="rId33"/>
    <p:sldId id="325" r:id="rId34"/>
    <p:sldId id="360" r:id="rId35"/>
    <p:sldId id="357" r:id="rId36"/>
    <p:sldId id="330" r:id="rId37"/>
    <p:sldId id="337" r:id="rId38"/>
    <p:sldId id="327" r:id="rId39"/>
    <p:sldId id="331" r:id="rId40"/>
    <p:sldId id="338" r:id="rId41"/>
    <p:sldId id="339" r:id="rId42"/>
    <p:sldId id="347" r:id="rId43"/>
  </p:sldIdLst>
  <p:sldSz cx="9144000" cy="6858000" type="screen4x3"/>
  <p:notesSz cx="9872663" cy="67976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2">
          <p15:clr>
            <a:srgbClr val="A4A3A4"/>
          </p15:clr>
        </p15:guide>
        <p15:guide id="2" pos="311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96600"/>
    <a:srgbClr val="FF9999"/>
    <a:srgbClr val="CCFF66"/>
    <a:srgbClr val="CCCC00"/>
    <a:srgbClr val="000066"/>
    <a:srgbClr val="993300"/>
    <a:srgbClr val="6600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3" autoAdjust="0"/>
    <p:restoredTop sz="91250" autoAdjust="0"/>
  </p:normalViewPr>
  <p:slideViewPr>
    <p:cSldViewPr>
      <p:cViewPr varScale="1">
        <p:scale>
          <a:sx n="100" d="100"/>
          <a:sy n="100" d="100"/>
        </p:scale>
        <p:origin x="200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182" y="-84"/>
      </p:cViewPr>
      <p:guideLst>
        <p:guide orient="horz" pos="2142"/>
        <p:guide pos="311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8313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3" tIns="45706" rIns="91413" bIns="45706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/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92763" y="0"/>
            <a:ext cx="4278312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3" tIns="45706" rIns="91413" bIns="45706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/>
          </a:p>
        </p:txBody>
      </p:sp>
      <p:sp>
        <p:nvSpPr>
          <p:cNvPr id="156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6363"/>
            <a:ext cx="4278313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3" tIns="45706" rIns="91413" bIns="45706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/>
          </a:p>
        </p:txBody>
      </p:sp>
      <p:sp>
        <p:nvSpPr>
          <p:cNvPr id="156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92763" y="6456363"/>
            <a:ext cx="4278312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3" tIns="45706" rIns="91413" bIns="45706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BE18EFB7-7A26-4022-8F60-57001AD8A7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2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8313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3" tIns="45706" rIns="91413" bIns="45706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92763" y="0"/>
            <a:ext cx="4278312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3" tIns="45706" rIns="91413" bIns="45706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/>
          </a:p>
        </p:txBody>
      </p:sp>
      <p:sp>
        <p:nvSpPr>
          <p:cNvPr id="778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36913" y="509588"/>
            <a:ext cx="3398837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78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9013" y="3228975"/>
            <a:ext cx="7896225" cy="305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3" tIns="45706" rIns="91413" bIns="457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6363"/>
            <a:ext cx="4278313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3" tIns="45706" rIns="91413" bIns="45706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/>
          </a:p>
        </p:txBody>
      </p:sp>
      <p:sp>
        <p:nvSpPr>
          <p:cNvPr id="778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92763" y="6456363"/>
            <a:ext cx="4278312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3" tIns="45706" rIns="91413" bIns="45706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7FFD190E-7CA2-4788-B730-CF1BAC3B640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701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C727B567-077A-4FB5-BAAF-F2D84F5047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2816FB40-6D51-4C92-8FA5-B1796B579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>
              <a:latin typeface="Arial" panose="020B0604020202020204" pitchFamily="34" charset="0"/>
            </a:endParaRP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C996AB44-CE16-42C7-B9EE-78C7ED5223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D1A3F3F-C406-4286-A7C2-CC4295AA314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0A3361-95CB-4921-ABB2-56B44EF2A8FC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668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31510E-DDE2-4A47-916C-29CCD4E8520F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4991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447800"/>
            <a:ext cx="4302125" cy="4678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3125" y="1447800"/>
            <a:ext cx="4302125" cy="4678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ED6F6E-705C-4E4E-A6F7-BAD9EE39633E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767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0645EA-B38A-4CED-A480-3CA2F7D1AA1E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8676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A0382A-A68A-4403-B71E-768A182AD46D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8686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69E816-AE4C-42D1-A5F2-BE97C0D4E188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8866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F7FB7C-C19B-4175-AE6F-AFA177B5F53F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2318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2618B9-25B2-45D8-9F1A-B7797CE0DA3F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6389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8C2962-05A6-41CD-9BFA-E437706C9B82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8925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96088" y="762000"/>
            <a:ext cx="2189162" cy="5364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762000"/>
            <a:ext cx="6415088" cy="5364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DF0740-FB84-4441-B2C4-4AC28183670D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5591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2976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54548107-53F0-4226-AEBE-2737443F3C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1DBDB950-AC1F-45E8-8A7D-3C9006F613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3B692323-0653-4F74-BD8F-4D441E847B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4DB173-6C7F-4C72-94F8-B0CB7B75F0B2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388422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D140E620-9D8D-4718-B1FC-8082A4BAD4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00A8DEDB-A820-4C30-A097-C36957A510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F1E9DE56-B956-416C-8B6E-CBAD975BCE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712E56-A826-41AA-9F05-0178C3E23C6B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861824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447800"/>
            <a:ext cx="4302125" cy="4678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3125" y="1447800"/>
            <a:ext cx="4302125" cy="4678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1A47DF16-FBB3-48A5-A5AE-9C6F98AC99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4AA3A036-103C-4E02-8AE6-41769469FB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FD9337A0-A85F-4EF7-9ED1-57B3C71BBE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49DBC6-3751-463A-B254-178C9AA509E8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966593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A68F2AA3-A878-4CB2-A81B-942D7B06EA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AACCBD3E-E720-412C-9164-5A2BFB110D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1B01662A-88D0-4366-B64D-90602E1846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367834-607C-402E-A6EB-7962745D789B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214351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Rectangle 29">
            <a:extLst>
              <a:ext uri="{FF2B5EF4-FFF2-40B4-BE49-F238E27FC236}">
                <a16:creationId xmlns:a16="http://schemas.microsoft.com/office/drawing/2014/main" id="{91FFC566-B335-4A2E-BF74-9ADD147F2B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EDE46C1A-CF7C-4C0C-8530-35569AA95F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F5AE39D7-8AA4-4BFC-BE62-9E87FD1839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FCA5D4-A209-4A29-AD54-A499626CBAE6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96158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>
            <a:extLst>
              <a:ext uri="{FF2B5EF4-FFF2-40B4-BE49-F238E27FC236}">
                <a16:creationId xmlns:a16="http://schemas.microsoft.com/office/drawing/2014/main" id="{45B29EFE-C287-4A9F-A721-0E03618EBF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1A91BF9C-1BC1-43F5-B609-B158A84E07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3AC01B72-C52F-45E0-8E85-3BB985FA20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0CF91C-8E34-42A1-8A36-4645524BC015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7757679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E9CF4292-C4C1-45C5-B75F-07216CFA33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620945F7-EEFC-4CD6-877B-689FD3A998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94033CE2-B0D5-4718-95C6-7C450A6500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3EA517-3DCD-4BB2-8516-6E11EE6EC98A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1349296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701AF863-DE5F-4338-8344-180B7F91FB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CC3E13D8-C31F-4AF0-94D7-7243D8A964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F104F893-622A-4019-A412-B470ABC8D7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6D191F-3D23-49FB-85B3-4A47596B894A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8782019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18BA367D-38B8-40B2-9CA4-283D05F845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2930C974-664B-415A-BF49-32872103C6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F44BEDCA-DF49-4DEA-AFCD-383E4097CC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2754C0-2C48-44DE-B6A1-F65C4F973655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4404329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96088" y="762000"/>
            <a:ext cx="2189162" cy="5364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762000"/>
            <a:ext cx="6415088" cy="5364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C2B3A6E4-7608-484F-AA7A-F95A9BD3C7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7F6B719B-EEF6-4F5E-A4EA-E305AF6A42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A8297271-1489-44B2-B111-A60589C048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186D5-27B6-4EC4-80EB-D614A2AABBDF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0942435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0"/>
            <a:ext cx="8756650" cy="5222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28600" y="1447800"/>
            <a:ext cx="8756650" cy="4678363"/>
          </a:xfrm>
        </p:spPr>
        <p:txBody>
          <a:bodyPr/>
          <a:lstStyle/>
          <a:p>
            <a:pPr lvl="0"/>
            <a:endParaRPr lang="en-AU" noProof="0"/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50535B28-B3A0-4DC4-B0FB-7A7F33DF93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57F19606-B249-480B-A37C-FFB4471AF2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D1B6F3E2-0577-468D-8DDD-382B563DC1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D611E-B0F5-4A27-BE45-2495AF06C516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384846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26" name="Rectangle 22"/>
          <p:cNvSpPr>
            <a:spLocks noChangeArrowheads="1"/>
          </p:cNvSpPr>
          <p:nvPr userDrawn="1"/>
        </p:nvSpPr>
        <p:spPr bwMode="gray">
          <a:xfrm>
            <a:off x="0" y="6224588"/>
            <a:ext cx="9144000" cy="647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7106" name="Oval 2"/>
          <p:cNvSpPr>
            <a:spLocks noChangeArrowheads="1"/>
          </p:cNvSpPr>
          <p:nvPr userDrawn="1"/>
        </p:nvSpPr>
        <p:spPr bwMode="gray">
          <a:xfrm>
            <a:off x="0" y="0"/>
            <a:ext cx="9144000" cy="6858000"/>
          </a:xfrm>
          <a:prstGeom prst="ellipse">
            <a:avLst/>
          </a:prstGeom>
          <a:solidFill>
            <a:schemeClr val="bg1">
              <a:alpha val="44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7107" name="Rectangle 3"/>
          <p:cNvSpPr>
            <a:spLocks noChangeArrowheads="1"/>
          </p:cNvSpPr>
          <p:nvPr/>
        </p:nvSpPr>
        <p:spPr bwMode="gray">
          <a:xfrm>
            <a:off x="0" y="0"/>
            <a:ext cx="9144000" cy="71913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pic>
        <p:nvPicPr>
          <p:cNvPr id="47119" name="Picture 15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341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20" name="Line 16"/>
          <p:cNvSpPr>
            <a:spLocks noChangeShapeType="1"/>
          </p:cNvSpPr>
          <p:nvPr userDrawn="1"/>
        </p:nvSpPr>
        <p:spPr bwMode="auto">
          <a:xfrm>
            <a:off x="0" y="747713"/>
            <a:ext cx="914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7122" name="Text Box 18"/>
          <p:cNvSpPr txBox="1">
            <a:spLocks noChangeArrowheads="1"/>
          </p:cNvSpPr>
          <p:nvPr userDrawn="1"/>
        </p:nvSpPr>
        <p:spPr bwMode="auto">
          <a:xfrm>
            <a:off x="1600200" y="46038"/>
            <a:ext cx="6400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BÀI GIẢNG MÔN KIẾN TRÚC MÁY TÍNH</a:t>
            </a:r>
          </a:p>
        </p:txBody>
      </p:sp>
      <p:sp>
        <p:nvSpPr>
          <p:cNvPr id="47127" name="Text Box 23"/>
          <p:cNvSpPr txBox="1">
            <a:spLocks noChangeArrowheads="1"/>
          </p:cNvSpPr>
          <p:nvPr userDrawn="1"/>
        </p:nvSpPr>
        <p:spPr bwMode="auto">
          <a:xfrm>
            <a:off x="0" y="6396038"/>
            <a:ext cx="2057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www.ptit.edu.vn</a:t>
            </a:r>
          </a:p>
        </p:txBody>
      </p:sp>
      <p:sp>
        <p:nvSpPr>
          <p:cNvPr id="47128" name="Text Box 24"/>
          <p:cNvSpPr txBox="1">
            <a:spLocks noChangeArrowheads="1"/>
          </p:cNvSpPr>
          <p:nvPr userDrawn="1"/>
        </p:nvSpPr>
        <p:spPr bwMode="auto">
          <a:xfrm>
            <a:off x="1447800" y="6310313"/>
            <a:ext cx="6400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GIẢNG VIÊN: TS. HOÀNG XUÂN DẬU</a:t>
            </a:r>
          </a:p>
        </p:txBody>
      </p:sp>
      <p:sp>
        <p:nvSpPr>
          <p:cNvPr id="47129" name="Text Box 25"/>
          <p:cNvSpPr txBox="1">
            <a:spLocks noChangeArrowheads="1"/>
          </p:cNvSpPr>
          <p:nvPr userDrawn="1"/>
        </p:nvSpPr>
        <p:spPr bwMode="auto">
          <a:xfrm>
            <a:off x="1462088" y="6538913"/>
            <a:ext cx="6400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BỘ MÔN: KHOA HỌC MÁY TÍNH - KHOA CNTT1</a:t>
            </a:r>
          </a:p>
        </p:txBody>
      </p:sp>
      <p:sp>
        <p:nvSpPr>
          <p:cNvPr id="47130" name="Text Box 26"/>
          <p:cNvSpPr txBox="1">
            <a:spLocks noChangeArrowheads="1"/>
          </p:cNvSpPr>
          <p:nvPr userDrawn="1"/>
        </p:nvSpPr>
        <p:spPr bwMode="auto">
          <a:xfrm>
            <a:off x="8001000" y="6391275"/>
            <a:ext cx="1143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Trang </a:t>
            </a:r>
            <a:fld id="{8026F1B3-8BA4-4BB8-9F17-23FBA43D4C55}" type="slidenum">
              <a:rPr lang="en-US" sz="1400"/>
              <a:pPr>
                <a:spcBef>
                  <a:spcPct val="50000"/>
                </a:spcBef>
              </a:pPr>
              <a:t>‹#›</a:t>
            </a:fld>
            <a:endParaRPr lang="en-US" sz="1400"/>
          </a:p>
        </p:txBody>
      </p:sp>
      <p:sp>
        <p:nvSpPr>
          <p:cNvPr id="47131" name="Rectangle 27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762000"/>
            <a:ext cx="87566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/>
              <a:t>Click to edit Master title style</a:t>
            </a:r>
          </a:p>
        </p:txBody>
      </p:sp>
      <p:sp>
        <p:nvSpPr>
          <p:cNvPr id="47132" name="Rectangle 28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447800"/>
            <a:ext cx="8756650" cy="467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</a:p>
        </p:txBody>
      </p:sp>
      <p:sp>
        <p:nvSpPr>
          <p:cNvPr id="47133" name="Rectangle 2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endParaRPr lang="en-AU"/>
          </a:p>
        </p:txBody>
      </p:sp>
      <p:sp>
        <p:nvSpPr>
          <p:cNvPr id="47134" name="Rectangle 3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endParaRPr lang="en-AU"/>
          </a:p>
        </p:txBody>
      </p:sp>
      <p:sp>
        <p:nvSpPr>
          <p:cNvPr id="47135" name="Rectangle 3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fld id="{B27892F2-1625-4FDF-A9EB-F030B15E8B26}" type="slidenum">
              <a:rPr lang="en-AU"/>
              <a:pPr/>
              <a:t>‹#›</a:t>
            </a:fld>
            <a:endParaRPr lang="en-AU"/>
          </a:p>
        </p:txBody>
      </p:sp>
      <p:sp>
        <p:nvSpPr>
          <p:cNvPr id="47136" name="Text Box 32"/>
          <p:cNvSpPr txBox="1">
            <a:spLocks noChangeArrowheads="1"/>
          </p:cNvSpPr>
          <p:nvPr userDrawn="1"/>
        </p:nvSpPr>
        <p:spPr bwMode="auto">
          <a:xfrm>
            <a:off x="1295400" y="304800"/>
            <a:ext cx="7086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/>
              <a:t>CHƯƠNG 2 – KHỐI XỬ LÝ TRUNG TÂM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v"/>
        <a:defRPr sz="24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200">
          <a:solidFill>
            <a:schemeClr val="tx2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>
          <a:solidFill>
            <a:schemeClr val="tx2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1600">
          <a:solidFill>
            <a:schemeClr val="tx2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2">
            <a:extLst>
              <a:ext uri="{FF2B5EF4-FFF2-40B4-BE49-F238E27FC236}">
                <a16:creationId xmlns:a16="http://schemas.microsoft.com/office/drawing/2014/main" id="{C6DD2772-512F-4D40-884E-7B3EE320D3E6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0" y="6224588"/>
            <a:ext cx="9144000" cy="64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AU" altLang="en-US"/>
          </a:p>
        </p:txBody>
      </p:sp>
      <p:sp>
        <p:nvSpPr>
          <p:cNvPr id="1027" name="Oval 2">
            <a:extLst>
              <a:ext uri="{FF2B5EF4-FFF2-40B4-BE49-F238E27FC236}">
                <a16:creationId xmlns:a16="http://schemas.microsoft.com/office/drawing/2014/main" id="{96ED3E99-1599-4409-8CB2-C97462BEE05F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0" y="0"/>
            <a:ext cx="9144000" cy="6858000"/>
          </a:xfrm>
          <a:prstGeom prst="ellipse">
            <a:avLst/>
          </a:prstGeom>
          <a:solidFill>
            <a:schemeClr val="bg1">
              <a:alpha val="43921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AU" altLang="en-US"/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E2F88FDE-74F0-4CCB-9CD3-1CA5F6342CDC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0"/>
            <a:ext cx="9144000" cy="7191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AU" altLang="en-US"/>
          </a:p>
        </p:txBody>
      </p:sp>
      <p:pic>
        <p:nvPicPr>
          <p:cNvPr id="1029" name="Picture 15">
            <a:extLst>
              <a:ext uri="{FF2B5EF4-FFF2-40B4-BE49-F238E27FC236}">
                <a16:creationId xmlns:a16="http://schemas.microsoft.com/office/drawing/2014/main" id="{E5988397-8AD4-45E4-A4F9-FE8D1FC0B5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341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Line 16">
            <a:extLst>
              <a:ext uri="{FF2B5EF4-FFF2-40B4-BE49-F238E27FC236}">
                <a16:creationId xmlns:a16="http://schemas.microsoft.com/office/drawing/2014/main" id="{873CBF10-88B7-4B7D-8D8D-A4E6DC61247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747713"/>
            <a:ext cx="914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031" name="Text Box 18">
            <a:extLst>
              <a:ext uri="{FF2B5EF4-FFF2-40B4-BE49-F238E27FC236}">
                <a16:creationId xmlns:a16="http://schemas.microsoft.com/office/drawing/2014/main" id="{52D4C8A5-E5A5-4EEF-9C2B-73420E673F7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00200" y="46038"/>
            <a:ext cx="6400800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sz="1400"/>
              <a:t>BÀI GIẢNG MÔN KỸ THUẬT VI XỬ LÝ</a:t>
            </a:r>
          </a:p>
        </p:txBody>
      </p:sp>
      <p:sp>
        <p:nvSpPr>
          <p:cNvPr id="1032" name="Text Box 23">
            <a:extLst>
              <a:ext uri="{FF2B5EF4-FFF2-40B4-BE49-F238E27FC236}">
                <a16:creationId xmlns:a16="http://schemas.microsoft.com/office/drawing/2014/main" id="{F379D426-BEC3-4B54-A648-F410CDE510C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396038"/>
            <a:ext cx="2057400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1400"/>
              <a:t>www.ptit.edu.vn</a:t>
            </a:r>
          </a:p>
        </p:txBody>
      </p:sp>
      <p:sp>
        <p:nvSpPr>
          <p:cNvPr id="1033" name="Text Box 24">
            <a:extLst>
              <a:ext uri="{FF2B5EF4-FFF2-40B4-BE49-F238E27FC236}">
                <a16:creationId xmlns:a16="http://schemas.microsoft.com/office/drawing/2014/main" id="{BBA4C82A-EE85-4851-B7A7-764FCF0FE25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447800" y="6310313"/>
            <a:ext cx="6400800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sz="1400"/>
              <a:t>GIẢNG VIÊN: TS. HOÀNG XUÂN DẬU</a:t>
            </a:r>
          </a:p>
        </p:txBody>
      </p:sp>
      <p:sp>
        <p:nvSpPr>
          <p:cNvPr id="1034" name="Text Box 25">
            <a:extLst>
              <a:ext uri="{FF2B5EF4-FFF2-40B4-BE49-F238E27FC236}">
                <a16:creationId xmlns:a16="http://schemas.microsoft.com/office/drawing/2014/main" id="{A6583369-E3C8-491B-A713-1E95D0DD5D2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462088" y="6538913"/>
            <a:ext cx="6400800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sz="1400"/>
              <a:t>BỘ MÔN: KHOA HỌC MÁY TÍNH - KHOA CNTT1</a:t>
            </a:r>
          </a:p>
        </p:txBody>
      </p:sp>
      <p:sp>
        <p:nvSpPr>
          <p:cNvPr id="1035" name="Text Box 26">
            <a:extLst>
              <a:ext uri="{FF2B5EF4-FFF2-40B4-BE49-F238E27FC236}">
                <a16:creationId xmlns:a16="http://schemas.microsoft.com/office/drawing/2014/main" id="{B106A584-8057-426E-B2C3-C4C4377D4A4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001000" y="6391275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/>
              <a:t>Trang </a:t>
            </a:r>
            <a:fld id="{44F876B1-3BD7-4958-ACD0-254A45922AF3}" type="slidenum">
              <a:rPr lang="en-US" altLang="en-US" sz="1400" smtClean="0"/>
              <a:pPr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en-US" sz="1400"/>
          </a:p>
        </p:txBody>
      </p:sp>
      <p:sp>
        <p:nvSpPr>
          <p:cNvPr id="1036" name="Rectangle 27">
            <a:extLst>
              <a:ext uri="{FF2B5EF4-FFF2-40B4-BE49-F238E27FC236}">
                <a16:creationId xmlns:a16="http://schemas.microsoft.com/office/drawing/2014/main" id="{35B05012-3593-47D1-A0F8-316BB94EFB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762000"/>
            <a:ext cx="87566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en-US"/>
              <a:t>Click to edit Master title style</a:t>
            </a:r>
          </a:p>
        </p:txBody>
      </p:sp>
      <p:sp>
        <p:nvSpPr>
          <p:cNvPr id="1037" name="Rectangle 28">
            <a:extLst>
              <a:ext uri="{FF2B5EF4-FFF2-40B4-BE49-F238E27FC236}">
                <a16:creationId xmlns:a16="http://schemas.microsoft.com/office/drawing/2014/main" id="{992926A8-7896-46F4-8116-A24C9DD5F3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447800"/>
            <a:ext cx="8756650" cy="467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en-US"/>
              <a:t>Click to edit Master text styles</a:t>
            </a:r>
          </a:p>
          <a:p>
            <a:pPr lvl="1"/>
            <a:r>
              <a:rPr lang="en-AU" altLang="en-US"/>
              <a:t>Second level</a:t>
            </a:r>
          </a:p>
          <a:p>
            <a:pPr lvl="2"/>
            <a:r>
              <a:rPr lang="en-AU" altLang="en-US"/>
              <a:t>Third level</a:t>
            </a:r>
          </a:p>
          <a:p>
            <a:pPr lvl="3"/>
            <a:r>
              <a:rPr lang="en-AU" altLang="en-US"/>
              <a:t>Fourth level</a:t>
            </a:r>
          </a:p>
          <a:p>
            <a:pPr lvl="4"/>
            <a:r>
              <a:rPr lang="en-AU" altLang="en-US"/>
              <a:t>Fifth level</a:t>
            </a:r>
          </a:p>
        </p:txBody>
      </p:sp>
      <p:sp>
        <p:nvSpPr>
          <p:cNvPr id="47133" name="Rectangle 29">
            <a:extLst>
              <a:ext uri="{FF2B5EF4-FFF2-40B4-BE49-F238E27FC236}">
                <a16:creationId xmlns:a16="http://schemas.microsoft.com/office/drawing/2014/main" id="{14302BDB-EF98-43A3-BC4C-BAD83D58846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7134" name="Rectangle 30">
            <a:extLst>
              <a:ext uri="{FF2B5EF4-FFF2-40B4-BE49-F238E27FC236}">
                <a16:creationId xmlns:a16="http://schemas.microsoft.com/office/drawing/2014/main" id="{6843B6EE-D95B-4C67-8F6C-E369E0F94E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7135" name="Rectangle 31">
            <a:extLst>
              <a:ext uri="{FF2B5EF4-FFF2-40B4-BE49-F238E27FC236}">
                <a16:creationId xmlns:a16="http://schemas.microsoft.com/office/drawing/2014/main" id="{5DACE187-07CF-449D-AD59-CEFBEB63FFE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/>
            </a:lvl1pPr>
          </a:lstStyle>
          <a:p>
            <a:pPr>
              <a:defRPr/>
            </a:pPr>
            <a:fld id="{C7469E05-3E3E-4239-A95A-B418A749AE16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  <p:sp>
        <p:nvSpPr>
          <p:cNvPr id="1041" name="Text Box 32">
            <a:extLst>
              <a:ext uri="{FF2B5EF4-FFF2-40B4-BE49-F238E27FC236}">
                <a16:creationId xmlns:a16="http://schemas.microsoft.com/office/drawing/2014/main" id="{E6DA8B92-9AC7-4CAA-AF29-1BEDAF7345E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95400" y="304800"/>
            <a:ext cx="7086600" cy="3365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sz="1600"/>
              <a:t>CHƯƠNG 2 – </a:t>
            </a:r>
            <a:r>
              <a:rPr lang="fr-FR" sz="1600"/>
              <a:t>BỘ VI XỬ LÝ INTEL 8086/8088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721812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rgbClr val="00006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v"/>
        <a:defRPr sz="24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200">
          <a:solidFill>
            <a:schemeClr val="tx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sites.google.com/view/cuongpham/home" TargetMode="Externa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2">
            <a:extLst>
              <a:ext uri="{FF2B5EF4-FFF2-40B4-BE49-F238E27FC236}">
                <a16:creationId xmlns:a16="http://schemas.microsoft.com/office/drawing/2014/main" id="{6DCBF289-E3FA-4EF4-829A-D109DC88260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0" y="1066800"/>
            <a:ext cx="9144000" cy="71913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387" name="Rectangle 13">
            <a:extLst>
              <a:ext uri="{FF2B5EF4-FFF2-40B4-BE49-F238E27FC236}">
                <a16:creationId xmlns:a16="http://schemas.microsoft.com/office/drawing/2014/main" id="{B772ACE3-D5CA-4B25-BF1B-D3EA0DD982E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0" y="3962400"/>
            <a:ext cx="9144000" cy="71913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388" name="Oval 14">
            <a:extLst>
              <a:ext uri="{FF2B5EF4-FFF2-40B4-BE49-F238E27FC236}">
                <a16:creationId xmlns:a16="http://schemas.microsoft.com/office/drawing/2014/main" id="{7FB98225-C214-4EBA-BE6C-DD2874E6E14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211638" y="2636838"/>
            <a:ext cx="1223962" cy="1223962"/>
          </a:xfrm>
          <a:prstGeom prst="ellipse">
            <a:avLst/>
          </a:prstGeom>
          <a:solidFill>
            <a:srgbClr val="1BABE5">
              <a:alpha val="1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16389" name="Picture 15">
            <a:extLst>
              <a:ext uri="{FF2B5EF4-FFF2-40B4-BE49-F238E27FC236}">
                <a16:creationId xmlns:a16="http://schemas.microsoft.com/office/drawing/2014/main" id="{A6B51843-8C31-4EA6-A6E2-A8CBBD83D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0"/>
            <a:ext cx="914400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390" name="Group 16">
            <a:extLst>
              <a:ext uri="{FF2B5EF4-FFF2-40B4-BE49-F238E27FC236}">
                <a16:creationId xmlns:a16="http://schemas.microsoft.com/office/drawing/2014/main" id="{70568CD4-3CCA-426B-9BDF-CA913638E05A}"/>
              </a:ext>
            </a:extLst>
          </p:cNvPr>
          <p:cNvGrpSpPr>
            <a:grpSpLocks/>
          </p:cNvGrpSpPr>
          <p:nvPr/>
        </p:nvGrpSpPr>
        <p:grpSpPr bwMode="auto">
          <a:xfrm>
            <a:off x="52388" y="1004888"/>
            <a:ext cx="3529012" cy="3671887"/>
            <a:chOff x="612" y="1026"/>
            <a:chExt cx="2223" cy="2313"/>
          </a:xfrm>
        </p:grpSpPr>
        <p:sp>
          <p:nvSpPr>
            <p:cNvPr id="16395" name="Oval 17">
              <a:extLst>
                <a:ext uri="{FF2B5EF4-FFF2-40B4-BE49-F238E27FC236}">
                  <a16:creationId xmlns:a16="http://schemas.microsoft.com/office/drawing/2014/main" id="{C5112D91-80C8-4DCA-B6B3-06019B3D4BE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12" y="1026"/>
              <a:ext cx="2223" cy="2313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  <a:round/>
              <a:headEnd/>
              <a:tailEnd/>
            </a:ln>
            <a:effectLst>
              <a:outerShdw dist="89803" dir="2700000" algn="ctr" rotWithShape="0">
                <a:srgbClr val="000000">
                  <a:alpha val="18999"/>
                </a:srgbClr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2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2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2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pic>
          <p:nvPicPr>
            <p:cNvPr id="16396" name="Picture 18" descr="HV_toancanh">
              <a:extLst>
                <a:ext uri="{FF2B5EF4-FFF2-40B4-BE49-F238E27FC236}">
                  <a16:creationId xmlns:a16="http://schemas.microsoft.com/office/drawing/2014/main" id="{8F0EF4A0-FC60-4899-AF5E-0899F0BD18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" y="1530"/>
              <a:ext cx="1776" cy="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6391" name="Text Box 19">
            <a:extLst>
              <a:ext uri="{FF2B5EF4-FFF2-40B4-BE49-F238E27FC236}">
                <a16:creationId xmlns:a16="http://schemas.microsoft.com/office/drawing/2014/main" id="{F60F2F5D-6623-47E7-8F3F-CCFB82B9E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22275"/>
            <a:ext cx="632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HỌC VIỆN CÔNG NGHỆ BƯU CHÍNH VIỄN THÔNG </a:t>
            </a:r>
          </a:p>
        </p:txBody>
      </p:sp>
      <p:sp>
        <p:nvSpPr>
          <p:cNvPr id="16392" name="Text Box 21">
            <a:extLst>
              <a:ext uri="{FF2B5EF4-FFF2-40B4-BE49-F238E27FC236}">
                <a16:creationId xmlns:a16="http://schemas.microsoft.com/office/drawing/2014/main" id="{CCC655A8-1D0C-4754-8434-D5872B729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438400"/>
            <a:ext cx="5562600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COMPUTER ARCHITECTURE</a:t>
            </a:r>
          </a:p>
        </p:txBody>
      </p:sp>
      <p:sp>
        <p:nvSpPr>
          <p:cNvPr id="16393" name="Text Box 22">
            <a:extLst>
              <a:ext uri="{FF2B5EF4-FFF2-40B4-BE49-F238E27FC236}">
                <a16:creationId xmlns:a16="http://schemas.microsoft.com/office/drawing/2014/main" id="{E78BED04-5560-49FD-8C6D-21CC3B9D8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800600"/>
            <a:ext cx="7696200" cy="166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Instructor:    Associate Professor Phạm Văn Cường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E-mail:	          cuongpham.ptit@gmail.com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www: 	</a:t>
            </a: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rId5"/>
              </a:rPr>
              <a:t>https://sites.google.com/view/cuongpham/home</a:t>
            </a:r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394" name="Text Box 24">
            <a:extLst>
              <a:ext uri="{FF2B5EF4-FFF2-40B4-BE49-F238E27FC236}">
                <a16:creationId xmlns:a16="http://schemas.microsoft.com/office/drawing/2014/main" id="{7213DE82-8DE4-4DD7-895C-3A9E1DB8B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3090863"/>
            <a:ext cx="52578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fr-F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fr-F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           CENTRAL PROCESSING UNIT</a:t>
            </a: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 advTm="9594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CHAPTER 2: CENTRAL PROCESSING UNIT</a:t>
            </a:r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1676400"/>
            <a:ext cx="6699250" cy="4449763"/>
          </a:xfrm>
        </p:spPr>
        <p:txBody>
          <a:bodyPr/>
          <a:lstStyle/>
          <a:p>
            <a:pPr marL="457200" indent="-457200">
              <a:buFont typeface="Wingdings" pitchFamily="2" charset="2"/>
              <a:buAutoNum type="arabicPeriod"/>
            </a:pPr>
            <a:r>
              <a:rPr lang="en-AU" dirty="0"/>
              <a:t>CPU diagram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AU" dirty="0"/>
              <a:t>Instruction execution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AU" dirty="0"/>
              <a:t>Registers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AU" dirty="0"/>
              <a:t>Control Unit (CU)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AU" dirty="0"/>
              <a:t>Arithmetic Logic Unit (ALU)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AU" dirty="0"/>
              <a:t>Internal bus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AU" dirty="0"/>
              <a:t>Examples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CPU DIAGRAM</a:t>
            </a:r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3973513" cy="467836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000" dirty="0">
                <a:solidFill>
                  <a:schemeClr val="tx1"/>
                </a:solidFill>
              </a:rPr>
              <a:t>CU: Control Unit</a:t>
            </a:r>
          </a:p>
          <a:p>
            <a:pPr>
              <a:buFont typeface="Wingdings" pitchFamily="2" charset="2"/>
              <a:buNone/>
            </a:pPr>
            <a:r>
              <a:rPr lang="en-US" sz="2000" dirty="0">
                <a:solidFill>
                  <a:schemeClr val="tx1"/>
                </a:solidFill>
              </a:rPr>
              <a:t>IR: Instruction Register</a:t>
            </a:r>
          </a:p>
          <a:p>
            <a:pPr>
              <a:buFont typeface="Wingdings" pitchFamily="2" charset="2"/>
              <a:buNone/>
            </a:pPr>
            <a:r>
              <a:rPr lang="en-US" sz="2000" dirty="0">
                <a:solidFill>
                  <a:schemeClr val="tx1"/>
                </a:solidFill>
              </a:rPr>
              <a:t>PC: Program Counter</a:t>
            </a:r>
          </a:p>
          <a:p>
            <a:pPr>
              <a:buFont typeface="Wingdings" pitchFamily="2" charset="2"/>
              <a:buNone/>
            </a:pPr>
            <a:r>
              <a:rPr lang="en-US" sz="2000" dirty="0">
                <a:solidFill>
                  <a:schemeClr val="tx1"/>
                </a:solidFill>
              </a:rPr>
              <a:t>MAR: Memory Address Register</a:t>
            </a:r>
          </a:p>
          <a:p>
            <a:pPr>
              <a:buFont typeface="Wingdings" pitchFamily="2" charset="2"/>
              <a:buNone/>
            </a:pPr>
            <a:r>
              <a:rPr lang="en-US" sz="2000" dirty="0">
                <a:solidFill>
                  <a:schemeClr val="tx1"/>
                </a:solidFill>
              </a:rPr>
              <a:t>MBR: Memory Buffer Register</a:t>
            </a:r>
          </a:p>
          <a:p>
            <a:pPr>
              <a:buFont typeface="Wingdings" pitchFamily="2" charset="2"/>
              <a:buNone/>
            </a:pPr>
            <a:r>
              <a:rPr lang="en-US" sz="2000" dirty="0">
                <a:solidFill>
                  <a:schemeClr val="tx1"/>
                </a:solidFill>
              </a:rPr>
              <a:t>A: Accumulator Register</a:t>
            </a:r>
          </a:p>
          <a:p>
            <a:pPr>
              <a:buFont typeface="Wingdings" pitchFamily="2" charset="2"/>
              <a:buNone/>
            </a:pPr>
            <a:r>
              <a:rPr lang="en-US" sz="2000" dirty="0">
                <a:solidFill>
                  <a:schemeClr val="tx1"/>
                </a:solidFill>
              </a:rPr>
              <a:t>Y, Z: Temporary Register</a:t>
            </a:r>
          </a:p>
          <a:p>
            <a:pPr>
              <a:buFont typeface="Wingdings" pitchFamily="2" charset="2"/>
              <a:buNone/>
            </a:pPr>
            <a:r>
              <a:rPr lang="en-US" sz="2000" dirty="0">
                <a:solidFill>
                  <a:schemeClr val="tx1"/>
                </a:solidFill>
              </a:rPr>
              <a:t>FR: Flag Register</a:t>
            </a:r>
          </a:p>
          <a:p>
            <a:pPr>
              <a:buFont typeface="Wingdings" pitchFamily="2" charset="2"/>
              <a:buNone/>
            </a:pPr>
            <a:r>
              <a:rPr lang="en-US" sz="2000" dirty="0">
                <a:solidFill>
                  <a:schemeClr val="tx1"/>
                </a:solidFill>
              </a:rPr>
              <a:t>ALU: Arithmetic and 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       Logic Unit</a:t>
            </a:r>
            <a:endParaRPr lang="en-AU" sz="2000" dirty="0">
              <a:solidFill>
                <a:schemeClr val="tx1"/>
              </a:solidFill>
            </a:endParaRPr>
          </a:p>
        </p:txBody>
      </p:sp>
      <p:grpSp>
        <p:nvGrpSpPr>
          <p:cNvPr id="208900" name="Group 4"/>
          <p:cNvGrpSpPr>
            <a:grpSpLocks/>
          </p:cNvGrpSpPr>
          <p:nvPr/>
        </p:nvGrpSpPr>
        <p:grpSpPr bwMode="auto">
          <a:xfrm>
            <a:off x="3571875" y="1758950"/>
            <a:ext cx="5218113" cy="3922713"/>
            <a:chOff x="994" y="1051"/>
            <a:chExt cx="3287" cy="2471"/>
          </a:xfrm>
        </p:grpSpPr>
        <p:sp>
          <p:nvSpPr>
            <p:cNvPr id="208901" name="Text Box 5"/>
            <p:cNvSpPr txBox="1">
              <a:spLocks noChangeArrowheads="1"/>
            </p:cNvSpPr>
            <p:nvPr/>
          </p:nvSpPr>
          <p:spPr bwMode="auto">
            <a:xfrm>
              <a:off x="1791" y="1189"/>
              <a:ext cx="635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AU" sz="1800" b="0">
                  <a:latin typeface="Verdana" pitchFamily="34" charset="0"/>
                </a:rPr>
                <a:t>CU</a:t>
              </a:r>
            </a:p>
          </p:txBody>
        </p:sp>
        <p:sp>
          <p:nvSpPr>
            <p:cNvPr id="208902" name="Text Box 6"/>
            <p:cNvSpPr txBox="1">
              <a:spLocks noChangeArrowheads="1"/>
            </p:cNvSpPr>
            <p:nvPr/>
          </p:nvSpPr>
          <p:spPr bwMode="auto">
            <a:xfrm>
              <a:off x="1791" y="1594"/>
              <a:ext cx="635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AU" sz="1800" b="0">
                  <a:latin typeface="Verdana" pitchFamily="34" charset="0"/>
                </a:rPr>
                <a:t>IR</a:t>
              </a:r>
            </a:p>
          </p:txBody>
        </p:sp>
        <p:sp>
          <p:nvSpPr>
            <p:cNvPr id="208903" name="AutoShape 7"/>
            <p:cNvSpPr>
              <a:spLocks noChangeArrowheads="1"/>
            </p:cNvSpPr>
            <p:nvPr/>
          </p:nvSpPr>
          <p:spPr bwMode="auto">
            <a:xfrm>
              <a:off x="2043" y="1423"/>
              <a:ext cx="142" cy="171"/>
            </a:xfrm>
            <a:prstGeom prst="upArrow">
              <a:avLst>
                <a:gd name="adj1" fmla="val 50000"/>
                <a:gd name="adj2" fmla="val 3010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  <p:sp>
          <p:nvSpPr>
            <p:cNvPr id="208904" name="Text Box 8"/>
            <p:cNvSpPr txBox="1">
              <a:spLocks noChangeArrowheads="1"/>
            </p:cNvSpPr>
            <p:nvPr/>
          </p:nvSpPr>
          <p:spPr bwMode="auto">
            <a:xfrm>
              <a:off x="1791" y="2020"/>
              <a:ext cx="635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AU" sz="1800" b="0">
                  <a:latin typeface="Verdana" pitchFamily="34" charset="0"/>
                </a:rPr>
                <a:t>PC</a:t>
              </a:r>
            </a:p>
          </p:txBody>
        </p:sp>
        <p:sp>
          <p:nvSpPr>
            <p:cNvPr id="208905" name="Text Box 9"/>
            <p:cNvSpPr txBox="1">
              <a:spLocks noChangeArrowheads="1"/>
            </p:cNvSpPr>
            <p:nvPr/>
          </p:nvSpPr>
          <p:spPr bwMode="auto">
            <a:xfrm>
              <a:off x="1791" y="2510"/>
              <a:ext cx="635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AU" sz="1800" b="0">
                  <a:latin typeface="Verdana" pitchFamily="34" charset="0"/>
                </a:rPr>
                <a:t>MAR</a:t>
              </a:r>
            </a:p>
          </p:txBody>
        </p:sp>
        <p:sp>
          <p:nvSpPr>
            <p:cNvPr id="208906" name="Text Box 10"/>
            <p:cNvSpPr txBox="1">
              <a:spLocks noChangeArrowheads="1"/>
            </p:cNvSpPr>
            <p:nvPr/>
          </p:nvSpPr>
          <p:spPr bwMode="auto">
            <a:xfrm>
              <a:off x="1791" y="3022"/>
              <a:ext cx="635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AU" sz="1800" b="0">
                  <a:latin typeface="Verdana" pitchFamily="34" charset="0"/>
                </a:rPr>
                <a:t>MBR</a:t>
              </a:r>
            </a:p>
          </p:txBody>
        </p:sp>
        <p:sp>
          <p:nvSpPr>
            <p:cNvPr id="208907" name="Text Box 11"/>
            <p:cNvSpPr txBox="1">
              <a:spLocks noChangeArrowheads="1"/>
            </p:cNvSpPr>
            <p:nvPr/>
          </p:nvSpPr>
          <p:spPr bwMode="auto">
            <a:xfrm>
              <a:off x="2834" y="1051"/>
              <a:ext cx="356" cy="247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lIns="90000" tIns="46800" rIns="90000" bIns="46800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800" b="0">
                  <a:latin typeface="Verdana" pitchFamily="34" charset="0"/>
                </a:rPr>
                <a:t>Internal Bus</a:t>
              </a:r>
              <a:endParaRPr lang="en-AU" sz="1800" b="0">
                <a:latin typeface="Verdana" pitchFamily="34" charset="0"/>
              </a:endParaRPr>
            </a:p>
          </p:txBody>
        </p:sp>
        <p:sp>
          <p:nvSpPr>
            <p:cNvPr id="208908" name="AutoShape 12"/>
            <p:cNvSpPr>
              <a:spLocks noChangeArrowheads="1"/>
            </p:cNvSpPr>
            <p:nvPr/>
          </p:nvSpPr>
          <p:spPr bwMode="auto">
            <a:xfrm>
              <a:off x="2450" y="1246"/>
              <a:ext cx="379" cy="152"/>
            </a:xfrm>
            <a:prstGeom prst="leftRightArrow">
              <a:avLst>
                <a:gd name="adj1" fmla="val 50000"/>
                <a:gd name="adj2" fmla="val 49868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  <p:sp>
          <p:nvSpPr>
            <p:cNvPr id="208909" name="AutoShape 13"/>
            <p:cNvSpPr>
              <a:spLocks noChangeArrowheads="1"/>
            </p:cNvSpPr>
            <p:nvPr/>
          </p:nvSpPr>
          <p:spPr bwMode="auto">
            <a:xfrm>
              <a:off x="2439" y="1621"/>
              <a:ext cx="384" cy="163"/>
            </a:xfrm>
            <a:prstGeom prst="leftArrow">
              <a:avLst>
                <a:gd name="adj1" fmla="val 50000"/>
                <a:gd name="adj2" fmla="val 5889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  <p:sp>
          <p:nvSpPr>
            <p:cNvPr id="208910" name="AutoShape 14"/>
            <p:cNvSpPr>
              <a:spLocks noChangeArrowheads="1"/>
            </p:cNvSpPr>
            <p:nvPr/>
          </p:nvSpPr>
          <p:spPr bwMode="auto">
            <a:xfrm>
              <a:off x="2450" y="2064"/>
              <a:ext cx="379" cy="152"/>
            </a:xfrm>
            <a:prstGeom prst="leftRightArrow">
              <a:avLst>
                <a:gd name="adj1" fmla="val 50000"/>
                <a:gd name="adj2" fmla="val 49868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  <p:sp>
          <p:nvSpPr>
            <p:cNvPr id="208911" name="AutoShape 15"/>
            <p:cNvSpPr>
              <a:spLocks noChangeArrowheads="1"/>
            </p:cNvSpPr>
            <p:nvPr/>
          </p:nvSpPr>
          <p:spPr bwMode="auto">
            <a:xfrm>
              <a:off x="2450" y="3059"/>
              <a:ext cx="379" cy="152"/>
            </a:xfrm>
            <a:prstGeom prst="leftRightArrow">
              <a:avLst>
                <a:gd name="adj1" fmla="val 50000"/>
                <a:gd name="adj2" fmla="val 49868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  <p:sp>
          <p:nvSpPr>
            <p:cNvPr id="208912" name="AutoShape 16"/>
            <p:cNvSpPr>
              <a:spLocks noChangeArrowheads="1"/>
            </p:cNvSpPr>
            <p:nvPr/>
          </p:nvSpPr>
          <p:spPr bwMode="auto">
            <a:xfrm>
              <a:off x="1383" y="3059"/>
              <a:ext cx="379" cy="152"/>
            </a:xfrm>
            <a:prstGeom prst="leftRightArrow">
              <a:avLst>
                <a:gd name="adj1" fmla="val 50000"/>
                <a:gd name="adj2" fmla="val 49868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  <p:sp>
          <p:nvSpPr>
            <p:cNvPr id="208913" name="AutoShape 17"/>
            <p:cNvSpPr>
              <a:spLocks noChangeArrowheads="1"/>
            </p:cNvSpPr>
            <p:nvPr/>
          </p:nvSpPr>
          <p:spPr bwMode="auto">
            <a:xfrm>
              <a:off x="2439" y="2538"/>
              <a:ext cx="384" cy="163"/>
            </a:xfrm>
            <a:prstGeom prst="leftArrow">
              <a:avLst>
                <a:gd name="adj1" fmla="val 50000"/>
                <a:gd name="adj2" fmla="val 5889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  <p:sp>
          <p:nvSpPr>
            <p:cNvPr id="208914" name="AutoShape 18"/>
            <p:cNvSpPr>
              <a:spLocks noChangeArrowheads="1"/>
            </p:cNvSpPr>
            <p:nvPr/>
          </p:nvSpPr>
          <p:spPr bwMode="auto">
            <a:xfrm>
              <a:off x="1383" y="2538"/>
              <a:ext cx="384" cy="163"/>
            </a:xfrm>
            <a:prstGeom prst="leftArrow">
              <a:avLst>
                <a:gd name="adj1" fmla="val 50000"/>
                <a:gd name="adj2" fmla="val 5889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  <p:sp>
          <p:nvSpPr>
            <p:cNvPr id="208915" name="AutoShape 19"/>
            <p:cNvSpPr>
              <a:spLocks noChangeArrowheads="1"/>
            </p:cNvSpPr>
            <p:nvPr/>
          </p:nvSpPr>
          <p:spPr bwMode="auto">
            <a:xfrm>
              <a:off x="3198" y="1246"/>
              <a:ext cx="379" cy="152"/>
            </a:xfrm>
            <a:prstGeom prst="leftRightArrow">
              <a:avLst>
                <a:gd name="adj1" fmla="val 50000"/>
                <a:gd name="adj2" fmla="val 49868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  <p:sp>
          <p:nvSpPr>
            <p:cNvPr id="208916" name="Text Box 20"/>
            <p:cNvSpPr txBox="1">
              <a:spLocks noChangeArrowheads="1"/>
            </p:cNvSpPr>
            <p:nvPr/>
          </p:nvSpPr>
          <p:spPr bwMode="auto">
            <a:xfrm>
              <a:off x="3590" y="1189"/>
              <a:ext cx="635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800" b="0">
                  <a:latin typeface="Verdana" pitchFamily="34" charset="0"/>
                </a:rPr>
                <a:t>A</a:t>
              </a:r>
              <a:endParaRPr lang="en-AU" sz="1800" b="0">
                <a:latin typeface="Verdana" pitchFamily="34" charset="0"/>
              </a:endParaRPr>
            </a:p>
          </p:txBody>
        </p:sp>
        <p:sp>
          <p:nvSpPr>
            <p:cNvPr id="208917" name="Text Box 21"/>
            <p:cNvSpPr txBox="1">
              <a:spLocks noChangeArrowheads="1"/>
            </p:cNvSpPr>
            <p:nvPr/>
          </p:nvSpPr>
          <p:spPr bwMode="auto">
            <a:xfrm>
              <a:off x="3590" y="1580"/>
              <a:ext cx="635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800" b="0">
                  <a:latin typeface="Verdana" pitchFamily="34" charset="0"/>
                </a:rPr>
                <a:t>Y</a:t>
              </a:r>
              <a:endParaRPr lang="en-AU" sz="1800" b="0">
                <a:latin typeface="Verdana" pitchFamily="34" charset="0"/>
              </a:endParaRPr>
            </a:p>
          </p:txBody>
        </p:sp>
        <p:sp>
          <p:nvSpPr>
            <p:cNvPr id="208918" name="AutoShape 22"/>
            <p:cNvSpPr>
              <a:spLocks noChangeArrowheads="1"/>
            </p:cNvSpPr>
            <p:nvPr/>
          </p:nvSpPr>
          <p:spPr bwMode="auto">
            <a:xfrm>
              <a:off x="3207" y="1607"/>
              <a:ext cx="363" cy="160"/>
            </a:xfrm>
            <a:prstGeom prst="rightArrow">
              <a:avLst>
                <a:gd name="adj1" fmla="val 50000"/>
                <a:gd name="adj2" fmla="val 56719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  <p:sp>
          <p:nvSpPr>
            <p:cNvPr id="208919" name="AutoShape 23"/>
            <p:cNvSpPr>
              <a:spLocks noChangeArrowheads="1"/>
            </p:cNvSpPr>
            <p:nvPr/>
          </p:nvSpPr>
          <p:spPr bwMode="auto">
            <a:xfrm rot="10681178" flipH="1">
              <a:off x="3201" y="1885"/>
              <a:ext cx="246" cy="232"/>
            </a:xfrm>
            <a:custGeom>
              <a:avLst/>
              <a:gdLst>
                <a:gd name="G0" fmla="+- 9257 0 0"/>
                <a:gd name="G1" fmla="+- 18514 0 0"/>
                <a:gd name="G2" fmla="+- 7200 0 0"/>
                <a:gd name="G3" fmla="*/ 9257 1 2"/>
                <a:gd name="G4" fmla="+- G3 10800 0"/>
                <a:gd name="G5" fmla="+- 21600 9257 18514"/>
                <a:gd name="G6" fmla="+- 18514 7200 0"/>
                <a:gd name="G7" fmla="*/ G6 1 2"/>
                <a:gd name="G8" fmla="*/ 18514 2 1"/>
                <a:gd name="G9" fmla="+- G8 0 21600"/>
                <a:gd name="G10" fmla="*/ 21600 G0 G1"/>
                <a:gd name="G11" fmla="*/ 21600 G4 G1"/>
                <a:gd name="G12" fmla="*/ 21600 G5 G1"/>
                <a:gd name="G13" fmla="*/ 21600 G7 G1"/>
                <a:gd name="G14" fmla="*/ 18514 1 2"/>
                <a:gd name="G15" fmla="+- G5 0 G4"/>
                <a:gd name="G16" fmla="+- G0 0 G4"/>
                <a:gd name="G17" fmla="*/ G2 G15 G16"/>
                <a:gd name="T0" fmla="*/ 15429 w 21600"/>
                <a:gd name="T1" fmla="*/ 0 h 21600"/>
                <a:gd name="T2" fmla="*/ 9257 w 21600"/>
                <a:gd name="T3" fmla="*/ 7200 h 21600"/>
                <a:gd name="T4" fmla="*/ 0 w 21600"/>
                <a:gd name="T5" fmla="*/ 18001 h 21600"/>
                <a:gd name="T6" fmla="*/ 9257 w 21600"/>
                <a:gd name="T7" fmla="*/ 21600 h 21600"/>
                <a:gd name="T8" fmla="*/ 18514 w 21600"/>
                <a:gd name="T9" fmla="*/ 15000 h 21600"/>
                <a:gd name="T10" fmla="*/ 21600 w 21600"/>
                <a:gd name="T11" fmla="*/ 7200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G12 h 21600"/>
                <a:gd name="T20" fmla="*/ G1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5429" y="0"/>
                  </a:moveTo>
                  <a:lnTo>
                    <a:pt x="9257" y="7200"/>
                  </a:lnTo>
                  <a:lnTo>
                    <a:pt x="12343" y="7200"/>
                  </a:lnTo>
                  <a:lnTo>
                    <a:pt x="12343" y="14400"/>
                  </a:lnTo>
                  <a:lnTo>
                    <a:pt x="0" y="14400"/>
                  </a:lnTo>
                  <a:lnTo>
                    <a:pt x="0" y="21600"/>
                  </a:lnTo>
                  <a:lnTo>
                    <a:pt x="18514" y="21600"/>
                  </a:lnTo>
                  <a:lnTo>
                    <a:pt x="18514" y="7200"/>
                  </a:lnTo>
                  <a:lnTo>
                    <a:pt x="21600" y="72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  <p:sp>
          <p:nvSpPr>
            <p:cNvPr id="208920" name="AutoShape 24"/>
            <p:cNvSpPr>
              <a:spLocks noChangeArrowheads="1"/>
            </p:cNvSpPr>
            <p:nvPr/>
          </p:nvSpPr>
          <p:spPr bwMode="auto">
            <a:xfrm>
              <a:off x="4059" y="1842"/>
              <a:ext cx="137" cy="263"/>
            </a:xfrm>
            <a:prstGeom prst="downArrow">
              <a:avLst>
                <a:gd name="adj1" fmla="val 50000"/>
                <a:gd name="adj2" fmla="val 47993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  <p:grpSp>
          <p:nvGrpSpPr>
            <p:cNvPr id="208921" name="Group 25"/>
            <p:cNvGrpSpPr>
              <a:grpSpLocks/>
            </p:cNvGrpSpPr>
            <p:nvPr/>
          </p:nvGrpSpPr>
          <p:grpSpPr bwMode="auto">
            <a:xfrm>
              <a:off x="3250" y="2120"/>
              <a:ext cx="1031" cy="426"/>
              <a:chOff x="3250" y="2120"/>
              <a:chExt cx="1031" cy="426"/>
            </a:xfrm>
          </p:grpSpPr>
          <p:sp>
            <p:nvSpPr>
              <p:cNvPr id="208922" name="Line 26"/>
              <p:cNvSpPr>
                <a:spLocks noChangeShapeType="1"/>
              </p:cNvSpPr>
              <p:nvPr/>
            </p:nvSpPr>
            <p:spPr bwMode="auto">
              <a:xfrm>
                <a:off x="3491" y="2546"/>
                <a:ext cx="58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en-AU"/>
              </a:p>
            </p:txBody>
          </p:sp>
          <p:sp>
            <p:nvSpPr>
              <p:cNvPr id="208923" name="Line 27"/>
              <p:cNvSpPr>
                <a:spLocks noChangeShapeType="1"/>
              </p:cNvSpPr>
              <p:nvPr/>
            </p:nvSpPr>
            <p:spPr bwMode="auto">
              <a:xfrm flipV="1">
                <a:off x="4082" y="2120"/>
                <a:ext cx="199" cy="4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en-AU"/>
              </a:p>
            </p:txBody>
          </p:sp>
          <p:sp>
            <p:nvSpPr>
              <p:cNvPr id="208924" name="Line 28"/>
              <p:cNvSpPr>
                <a:spLocks noChangeShapeType="1"/>
              </p:cNvSpPr>
              <p:nvPr/>
            </p:nvSpPr>
            <p:spPr bwMode="auto">
              <a:xfrm flipH="1" flipV="1">
                <a:off x="3250" y="2134"/>
                <a:ext cx="227" cy="40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en-AU"/>
              </a:p>
            </p:txBody>
          </p:sp>
          <p:sp>
            <p:nvSpPr>
              <p:cNvPr id="208925" name="Line 29"/>
              <p:cNvSpPr>
                <a:spLocks noChangeShapeType="1"/>
              </p:cNvSpPr>
              <p:nvPr/>
            </p:nvSpPr>
            <p:spPr bwMode="auto">
              <a:xfrm>
                <a:off x="3250" y="2127"/>
                <a:ext cx="27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en-AU"/>
              </a:p>
            </p:txBody>
          </p:sp>
          <p:sp>
            <p:nvSpPr>
              <p:cNvPr id="208926" name="Line 30"/>
              <p:cNvSpPr>
                <a:spLocks noChangeShapeType="1"/>
              </p:cNvSpPr>
              <p:nvPr/>
            </p:nvSpPr>
            <p:spPr bwMode="auto">
              <a:xfrm>
                <a:off x="3997" y="2127"/>
                <a:ext cx="27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en-AU"/>
              </a:p>
            </p:txBody>
          </p:sp>
          <p:sp>
            <p:nvSpPr>
              <p:cNvPr id="208927" name="Line 31"/>
              <p:cNvSpPr>
                <a:spLocks noChangeShapeType="1"/>
              </p:cNvSpPr>
              <p:nvPr/>
            </p:nvSpPr>
            <p:spPr bwMode="auto">
              <a:xfrm>
                <a:off x="3648" y="2268"/>
                <a:ext cx="269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en-AU"/>
              </a:p>
            </p:txBody>
          </p:sp>
          <p:sp>
            <p:nvSpPr>
              <p:cNvPr id="208928" name="Line 32"/>
              <p:cNvSpPr>
                <a:spLocks noChangeShapeType="1"/>
              </p:cNvSpPr>
              <p:nvPr/>
            </p:nvSpPr>
            <p:spPr bwMode="auto">
              <a:xfrm flipV="1">
                <a:off x="3925" y="2120"/>
                <a:ext cx="84" cy="1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en-AU"/>
              </a:p>
            </p:txBody>
          </p:sp>
          <p:sp>
            <p:nvSpPr>
              <p:cNvPr id="208929" name="Line 33"/>
              <p:cNvSpPr>
                <a:spLocks noChangeShapeType="1"/>
              </p:cNvSpPr>
              <p:nvPr/>
            </p:nvSpPr>
            <p:spPr bwMode="auto">
              <a:xfrm flipH="1" flipV="1">
                <a:off x="3520" y="2120"/>
                <a:ext cx="135" cy="1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en-AU"/>
              </a:p>
            </p:txBody>
          </p:sp>
          <p:sp>
            <p:nvSpPr>
              <p:cNvPr id="208930" name="Text Box 34"/>
              <p:cNvSpPr txBox="1">
                <a:spLocks noChangeArrowheads="1"/>
              </p:cNvSpPr>
              <p:nvPr/>
            </p:nvSpPr>
            <p:spPr bwMode="auto">
              <a:xfrm>
                <a:off x="3601" y="2284"/>
                <a:ext cx="45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sz="1800" b="0">
                    <a:latin typeface="Verdana" pitchFamily="34" charset="0"/>
                  </a:rPr>
                  <a:t>ALU</a:t>
                </a:r>
                <a:endParaRPr lang="en-AU" sz="1800" b="0">
                  <a:latin typeface="Verdana" pitchFamily="34" charset="0"/>
                </a:endParaRPr>
              </a:p>
            </p:txBody>
          </p:sp>
        </p:grpSp>
        <p:sp>
          <p:nvSpPr>
            <p:cNvPr id="208931" name="Text Box 35"/>
            <p:cNvSpPr txBox="1">
              <a:spLocks noChangeArrowheads="1"/>
            </p:cNvSpPr>
            <p:nvPr/>
          </p:nvSpPr>
          <p:spPr bwMode="auto">
            <a:xfrm>
              <a:off x="3476" y="2775"/>
              <a:ext cx="635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800" b="0">
                  <a:latin typeface="Verdana" pitchFamily="34" charset="0"/>
                </a:rPr>
                <a:t>Z</a:t>
              </a:r>
              <a:endParaRPr lang="en-AU" sz="1800" b="0">
                <a:latin typeface="Verdana" pitchFamily="34" charset="0"/>
              </a:endParaRPr>
            </a:p>
          </p:txBody>
        </p:sp>
        <p:sp>
          <p:nvSpPr>
            <p:cNvPr id="208932" name="AutoShape 36"/>
            <p:cNvSpPr>
              <a:spLocks noChangeArrowheads="1"/>
            </p:cNvSpPr>
            <p:nvPr/>
          </p:nvSpPr>
          <p:spPr bwMode="auto">
            <a:xfrm>
              <a:off x="3193" y="2808"/>
              <a:ext cx="270" cy="163"/>
            </a:xfrm>
            <a:prstGeom prst="leftArrow">
              <a:avLst>
                <a:gd name="adj1" fmla="val 50000"/>
                <a:gd name="adj2" fmla="val 41411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  <p:sp>
          <p:nvSpPr>
            <p:cNvPr id="208933" name="AutoShape 37"/>
            <p:cNvSpPr>
              <a:spLocks noChangeArrowheads="1"/>
            </p:cNvSpPr>
            <p:nvPr/>
          </p:nvSpPr>
          <p:spPr bwMode="auto">
            <a:xfrm>
              <a:off x="3710" y="2561"/>
              <a:ext cx="179" cy="211"/>
            </a:xfrm>
            <a:prstGeom prst="downArrow">
              <a:avLst>
                <a:gd name="adj1" fmla="val 50000"/>
                <a:gd name="adj2" fmla="val 29469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  <p:sp>
          <p:nvSpPr>
            <p:cNvPr id="208934" name="Text Box 38"/>
            <p:cNvSpPr txBox="1">
              <a:spLocks noChangeArrowheads="1"/>
            </p:cNvSpPr>
            <p:nvPr/>
          </p:nvSpPr>
          <p:spPr bwMode="auto">
            <a:xfrm>
              <a:off x="3476" y="3180"/>
              <a:ext cx="635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800" b="0">
                  <a:latin typeface="Verdana" pitchFamily="34" charset="0"/>
                </a:rPr>
                <a:t>FR</a:t>
              </a:r>
              <a:endParaRPr lang="en-AU" sz="1800" b="0">
                <a:latin typeface="Verdana" pitchFamily="34" charset="0"/>
              </a:endParaRPr>
            </a:p>
          </p:txBody>
        </p:sp>
        <p:sp>
          <p:nvSpPr>
            <p:cNvPr id="208935" name="AutoShape 39"/>
            <p:cNvSpPr>
              <a:spLocks noChangeArrowheads="1"/>
            </p:cNvSpPr>
            <p:nvPr/>
          </p:nvSpPr>
          <p:spPr bwMode="auto">
            <a:xfrm>
              <a:off x="3207" y="3207"/>
              <a:ext cx="241" cy="160"/>
            </a:xfrm>
            <a:prstGeom prst="rightArrow">
              <a:avLst>
                <a:gd name="adj1" fmla="val 50000"/>
                <a:gd name="adj2" fmla="val 3765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  <p:sp>
          <p:nvSpPr>
            <p:cNvPr id="208936" name="Text Box 40"/>
            <p:cNvSpPr txBox="1">
              <a:spLocks noChangeArrowheads="1"/>
            </p:cNvSpPr>
            <p:nvPr/>
          </p:nvSpPr>
          <p:spPr bwMode="auto">
            <a:xfrm>
              <a:off x="994" y="2383"/>
              <a:ext cx="393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AU" sz="1800" b="0">
                  <a:latin typeface="Verdana" pitchFamily="34" charset="0"/>
                </a:rPr>
                <a:t>A </a:t>
              </a:r>
              <a:br>
                <a:rPr lang="en-AU" sz="1800" b="0">
                  <a:latin typeface="Verdana" pitchFamily="34" charset="0"/>
                </a:rPr>
              </a:br>
              <a:r>
                <a:rPr lang="en-AU" sz="1800" b="0">
                  <a:latin typeface="Verdana" pitchFamily="34" charset="0"/>
                </a:rPr>
                <a:t>Bus</a:t>
              </a:r>
            </a:p>
          </p:txBody>
        </p:sp>
        <p:sp>
          <p:nvSpPr>
            <p:cNvPr id="208937" name="Text Box 41"/>
            <p:cNvSpPr txBox="1">
              <a:spLocks noChangeArrowheads="1"/>
            </p:cNvSpPr>
            <p:nvPr/>
          </p:nvSpPr>
          <p:spPr bwMode="auto">
            <a:xfrm>
              <a:off x="994" y="2895"/>
              <a:ext cx="393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AU" sz="1800" b="0">
                  <a:latin typeface="Verdana" pitchFamily="34" charset="0"/>
                </a:rPr>
                <a:t>D </a:t>
              </a:r>
              <a:br>
                <a:rPr lang="en-AU" sz="1800" b="0">
                  <a:latin typeface="Verdana" pitchFamily="34" charset="0"/>
                </a:rPr>
              </a:br>
              <a:r>
                <a:rPr lang="en-AU" sz="1800" b="0">
                  <a:latin typeface="Verdana" pitchFamily="34" charset="0"/>
                </a:rPr>
                <a:t>Bus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INSTRUCTION EXECUTION</a:t>
            </a:r>
          </a:p>
        </p:txBody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Wingdings" pitchFamily="2" charset="2"/>
              <a:buAutoNum type="arabicPeriod"/>
            </a:pPr>
            <a:r>
              <a:rPr lang="en-US" dirty="0"/>
              <a:t>Operating System loads the program code into the memory;</a:t>
            </a:r>
            <a:endParaRPr lang="en-AU" dirty="0"/>
          </a:p>
          <a:p>
            <a:pPr marL="457200" indent="-457200">
              <a:buFont typeface="Wingdings" pitchFamily="2" charset="2"/>
              <a:buAutoNum type="arabicPeriod"/>
            </a:pPr>
            <a:r>
              <a:rPr lang="en-AU" dirty="0"/>
              <a:t>Program Counter (PC) = address of the memory cell that stores the 1</a:t>
            </a:r>
            <a:r>
              <a:rPr lang="en-AU" baseline="30000" dirty="0"/>
              <a:t>st</a:t>
            </a:r>
            <a:r>
              <a:rPr lang="en-AU" dirty="0"/>
              <a:t> instruction of the program;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AU" dirty="0"/>
              <a:t>MAR = PC then uploaded to bus A;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AU" dirty="0"/>
              <a:t>Bus A passes the cell address to MMU - </a:t>
            </a:r>
            <a:r>
              <a:rPr lang="en-US" dirty="0"/>
              <a:t>Memory Management Unit</a:t>
            </a:r>
            <a:r>
              <a:rPr lang="en-AU" dirty="0"/>
              <a:t>;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AU" dirty="0"/>
              <a:t>MMU selects and reads data from the cell;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AU" dirty="0"/>
              <a:t>Instruction code or data (stored on the cell) is uploaded on bus D and then stored on the MBR register;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INSTRUCTION EXECUTION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Wingdings" pitchFamily="2" charset="2"/>
              <a:buAutoNum type="arabicPeriod" startAt="7"/>
            </a:pPr>
            <a:r>
              <a:rPr lang="en-AU" dirty="0"/>
              <a:t>MBR transfers the instruction code to IR (as an input  for CU);</a:t>
            </a:r>
          </a:p>
          <a:p>
            <a:pPr marL="457200" indent="-457200">
              <a:buFont typeface="Wingdings" pitchFamily="2" charset="2"/>
              <a:buAutoNum type="arabicPeriod" startAt="7"/>
            </a:pPr>
            <a:r>
              <a:rPr lang="en-AU" dirty="0"/>
              <a:t>CU decodes the instruction code, and generates the control signals and send them to other components (such as ALU), for making the instruction be executed;</a:t>
            </a:r>
          </a:p>
          <a:p>
            <a:pPr marL="457200" indent="-457200">
              <a:buFont typeface="Wingdings" pitchFamily="2" charset="2"/>
              <a:buAutoNum type="arabicPeriod" startAt="7"/>
            </a:pPr>
            <a:r>
              <a:rPr lang="en-AU" dirty="0"/>
              <a:t>PC is increased by 1 and points to the memory cell that is stored the next instruction to be executed;</a:t>
            </a:r>
          </a:p>
          <a:p>
            <a:pPr marL="457200" indent="-457200">
              <a:buFont typeface="Wingdings" pitchFamily="2" charset="2"/>
              <a:buAutoNum type="arabicPeriod" startAt="7"/>
            </a:pPr>
            <a:r>
              <a:rPr lang="en-AU" dirty="0"/>
              <a:t>Repeat step 3</a:t>
            </a:r>
            <a:r>
              <a:rPr lang="en-AU" baseline="30000" dirty="0"/>
              <a:t>rd</a:t>
            </a:r>
            <a:r>
              <a:rPr lang="en-AU" dirty="0"/>
              <a:t> -9</a:t>
            </a:r>
            <a:r>
              <a:rPr lang="en-AU" baseline="30000" dirty="0"/>
              <a:t>th</a:t>
            </a:r>
            <a:r>
              <a:rPr lang="en-AU" dirty="0"/>
              <a:t> for all instructions </a:t>
            </a:r>
            <a:r>
              <a:rPr lang="en-AU"/>
              <a:t>of program.</a:t>
            </a:r>
            <a:endParaRPr lang="en-A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CPU registers</a:t>
            </a:r>
          </a:p>
        </p:txBody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AU" dirty="0"/>
              <a:t>Act as memory cells, registers can:</a:t>
            </a:r>
          </a:p>
          <a:p>
            <a:pPr lvl="1">
              <a:lnSpc>
                <a:spcPct val="90000"/>
              </a:lnSpc>
            </a:pPr>
            <a:r>
              <a:rPr lang="en-AU" dirty="0"/>
              <a:t>Temporarily store instructions and data to be processed by CPU;</a:t>
            </a:r>
          </a:p>
          <a:p>
            <a:pPr lvl="1">
              <a:lnSpc>
                <a:spcPct val="90000"/>
              </a:lnSpc>
            </a:pPr>
            <a:r>
              <a:rPr lang="en-AU" dirty="0"/>
              <a:t>Small size;</a:t>
            </a:r>
          </a:p>
          <a:p>
            <a:pPr lvl="1">
              <a:lnSpc>
                <a:spcPct val="90000"/>
              </a:lnSpc>
            </a:pPr>
            <a:r>
              <a:rPr lang="en-AU" dirty="0"/>
              <a:t>High-speed access</a:t>
            </a:r>
          </a:p>
          <a:p>
            <a:pPr>
              <a:lnSpc>
                <a:spcPct val="90000"/>
              </a:lnSpc>
            </a:pPr>
            <a:r>
              <a:rPr lang="en-AU" dirty="0"/>
              <a:t>CPU can have tens (80x86) to hundreds of registers;</a:t>
            </a:r>
          </a:p>
          <a:p>
            <a:pPr>
              <a:lnSpc>
                <a:spcPct val="90000"/>
              </a:lnSpc>
            </a:pPr>
            <a:r>
              <a:rPr lang="en-AU" dirty="0"/>
              <a:t>Size can vary </a:t>
            </a:r>
            <a:r>
              <a:rPr lang="en-US" dirty="0"/>
              <a:t>8, 16, 32, 64, 128 and 256 bits:</a:t>
            </a:r>
          </a:p>
          <a:p>
            <a:pPr lvl="1">
              <a:lnSpc>
                <a:spcPct val="90000"/>
              </a:lnSpc>
            </a:pPr>
            <a:r>
              <a:rPr lang="en-AU" dirty="0"/>
              <a:t>8086-80286: 8 and 6 bit</a:t>
            </a:r>
          </a:p>
          <a:p>
            <a:pPr lvl="1">
              <a:lnSpc>
                <a:spcPct val="90000"/>
              </a:lnSpc>
            </a:pPr>
            <a:r>
              <a:rPr lang="en-AU" dirty="0"/>
              <a:t>80386-Pentium II: 16-32 bit</a:t>
            </a:r>
          </a:p>
          <a:p>
            <a:pPr lvl="1">
              <a:lnSpc>
                <a:spcPct val="90000"/>
              </a:lnSpc>
            </a:pPr>
            <a:r>
              <a:rPr lang="en-AU" dirty="0"/>
              <a:t> Pentium 4, Core Duo: 32, 64 and 128 bit.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Accumulator (A)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Present in most CPU, A can be used for:</a:t>
            </a:r>
          </a:p>
          <a:p>
            <a:pPr lvl="1"/>
            <a:r>
              <a:rPr lang="en-AU" dirty="0"/>
              <a:t>Storing the input operands</a:t>
            </a:r>
          </a:p>
          <a:p>
            <a:pPr lvl="1"/>
            <a:r>
              <a:rPr lang="en-AU" dirty="0"/>
              <a:t>Storing the results</a:t>
            </a:r>
          </a:p>
          <a:p>
            <a:pPr lvl="1"/>
            <a:r>
              <a:rPr lang="en-AU" dirty="0"/>
              <a:t>Communicating between CPU and I/O devices</a:t>
            </a:r>
          </a:p>
          <a:p>
            <a:pPr lvl="1"/>
            <a:endParaRPr lang="en-AU" dirty="0"/>
          </a:p>
          <a:p>
            <a:r>
              <a:rPr lang="en-AU" dirty="0"/>
              <a:t>Sized can be: 8, 16, 32 and 64 bit.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Program Counter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Program Counter (PC) or so-called IP(Instruction Pointer) contains the address of memory cell stored the next instruction to be executed;</a:t>
            </a:r>
          </a:p>
          <a:p>
            <a:r>
              <a:rPr lang="en-AU" dirty="0"/>
              <a:t>When a program is activated, PC contains the address of the memory storing the first instruction of the program;</a:t>
            </a:r>
          </a:p>
          <a:p>
            <a:r>
              <a:rPr lang="en-AU" dirty="0"/>
              <a:t>Size of PC can vary </a:t>
            </a:r>
            <a:r>
              <a:rPr lang="en-US" dirty="0"/>
              <a:t>8, 16, 32 or 64 bits.</a:t>
            </a:r>
            <a:endParaRPr lang="en-A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Flag Register (FR)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Stores the status of CPU in which each bit presents a “flag” derived from the computation output  of ALU;</a:t>
            </a:r>
          </a:p>
          <a:p>
            <a:r>
              <a:rPr lang="en-AU" dirty="0"/>
              <a:t>Two types of flags:</a:t>
            </a:r>
          </a:p>
          <a:p>
            <a:pPr lvl="1"/>
            <a:r>
              <a:rPr lang="en-AU" dirty="0"/>
              <a:t>Status flags: </a:t>
            </a:r>
            <a:r>
              <a:rPr lang="en-US" dirty="0"/>
              <a:t>CF, OF, AF, ZF, PF, SF</a:t>
            </a:r>
            <a:endParaRPr lang="en-AU" dirty="0"/>
          </a:p>
          <a:p>
            <a:pPr lvl="1"/>
            <a:r>
              <a:rPr lang="en-AU" dirty="0"/>
              <a:t>Control flags: I</a:t>
            </a:r>
            <a:r>
              <a:rPr lang="en-US" dirty="0"/>
              <a:t>F</a:t>
            </a:r>
            <a:r>
              <a:rPr lang="en-AU" dirty="0"/>
              <a:t>, T</a:t>
            </a:r>
            <a:r>
              <a:rPr lang="en-US" dirty="0"/>
              <a:t>F</a:t>
            </a:r>
            <a:r>
              <a:rPr lang="en-AU" dirty="0"/>
              <a:t>, D</a:t>
            </a:r>
            <a:r>
              <a:rPr lang="en-US" dirty="0"/>
              <a:t>F</a:t>
            </a:r>
            <a:endParaRPr lang="en-AU" dirty="0"/>
          </a:p>
          <a:p>
            <a:r>
              <a:rPr lang="en-AU" dirty="0"/>
              <a:t>Flags often are used for branch or condition in the program;</a:t>
            </a:r>
          </a:p>
          <a:p>
            <a:r>
              <a:rPr lang="en-AU" dirty="0"/>
              <a:t>Size of FR relies on the design of CPU.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Flag Register</a:t>
            </a:r>
          </a:p>
        </p:txBody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2765425"/>
            <a:ext cx="8756650" cy="3360738"/>
          </a:xfrm>
        </p:spPr>
        <p:txBody>
          <a:bodyPr/>
          <a:lstStyle/>
          <a:p>
            <a:r>
              <a:rPr lang="en-US" sz="2000" dirty="0"/>
              <a:t>ZF: Zero flag, ZF=1 if result (from ALU)=0 and ZF=0 if result &lt;&gt;0.</a:t>
            </a:r>
          </a:p>
          <a:p>
            <a:r>
              <a:rPr lang="en-US" sz="2000" dirty="0"/>
              <a:t>SF: Sign flag, SF=1 if result is negative. SF=0 otherwise.</a:t>
            </a:r>
          </a:p>
          <a:p>
            <a:r>
              <a:rPr lang="en-US" sz="2000" dirty="0"/>
              <a:t>CF: Carry flag, CF=1 if carried, CF=0 otherwise.</a:t>
            </a:r>
          </a:p>
          <a:p>
            <a:r>
              <a:rPr lang="en-US" sz="2000" dirty="0"/>
              <a:t>AF: </a:t>
            </a:r>
            <a:r>
              <a:rPr lang="en-US" sz="2000" dirty="0" err="1">
                <a:highlight>
                  <a:srgbClr val="FFFF00"/>
                </a:highlight>
              </a:rPr>
              <a:t>Auxilary</a:t>
            </a:r>
            <a:r>
              <a:rPr lang="en-US" sz="2000" dirty="0"/>
              <a:t> flag, AF=1 if carried of an addition or borrowing of a subtraction to/from lower nibble (four lower bits).</a:t>
            </a:r>
          </a:p>
          <a:p>
            <a:r>
              <a:rPr lang="en-US" sz="2000" dirty="0"/>
              <a:t>OF: Overflow flag, OF=1 if overflow, OF=0 otherwise.</a:t>
            </a:r>
          </a:p>
          <a:p>
            <a:r>
              <a:rPr lang="en-US" sz="2000" dirty="0"/>
              <a:t>PF: parity flag, PF=1 if the sum of bits ‘1’ is odd, and PF=0 if the sum of bits ‘1’ is even.</a:t>
            </a:r>
          </a:p>
          <a:p>
            <a:r>
              <a:rPr lang="en-US" sz="2000" dirty="0"/>
              <a:t>IF: Interrupt flag, IF=1: interrupt enable, IF=0: interrupt disable .</a:t>
            </a:r>
            <a:endParaRPr lang="en-AU" sz="2000" dirty="0"/>
          </a:p>
        </p:txBody>
      </p:sp>
      <p:pic>
        <p:nvPicPr>
          <p:cNvPr id="2170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488" y="1468438"/>
            <a:ext cx="7199312" cy="108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8086’s FR</a:t>
            </a:r>
          </a:p>
        </p:txBody>
      </p:sp>
      <p:pic>
        <p:nvPicPr>
          <p:cNvPr id="23655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09800"/>
            <a:ext cx="8458200" cy="277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Stack Pointer (SP)</a:t>
            </a:r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6705600" cy="4678363"/>
          </a:xfrm>
        </p:spPr>
        <p:txBody>
          <a:bodyPr/>
          <a:lstStyle/>
          <a:p>
            <a:r>
              <a:rPr lang="en-AU" dirty="0"/>
              <a:t>Stack works under last in first out (LIFO) rule;</a:t>
            </a:r>
          </a:p>
          <a:p>
            <a:r>
              <a:rPr lang="en-AU" dirty="0"/>
              <a:t>SP contains the address of the top of the stack;</a:t>
            </a:r>
          </a:p>
          <a:p>
            <a:r>
              <a:rPr lang="en-AU" dirty="0"/>
              <a:t>Two operations:</a:t>
            </a:r>
          </a:p>
          <a:p>
            <a:pPr lvl="1"/>
            <a:r>
              <a:rPr lang="en-US" dirty="0"/>
              <a:t>Push:</a:t>
            </a:r>
          </a:p>
          <a:p>
            <a:pPr lvl="2">
              <a:buFontTx/>
              <a:buNone/>
            </a:pPr>
            <a:r>
              <a:rPr lang="en-US" dirty="0"/>
              <a:t>SP </a:t>
            </a:r>
            <a:r>
              <a:rPr lang="en-US" dirty="0">
                <a:sym typeface="Wingdings" pitchFamily="2" charset="2"/>
              </a:rPr>
              <a:t> SP + 1</a:t>
            </a:r>
          </a:p>
          <a:p>
            <a:pPr lvl="2">
              <a:buFontTx/>
              <a:buNone/>
            </a:pPr>
            <a:r>
              <a:rPr lang="en-US" dirty="0">
                <a:sym typeface="Wingdings" pitchFamily="2" charset="2"/>
              </a:rPr>
              <a:t>{SP}  Data</a:t>
            </a:r>
            <a:endParaRPr lang="en-US" dirty="0"/>
          </a:p>
          <a:p>
            <a:pPr lvl="1"/>
            <a:r>
              <a:rPr lang="en-US" dirty="0"/>
              <a:t>Pop:</a:t>
            </a:r>
          </a:p>
          <a:p>
            <a:pPr lvl="2">
              <a:buFontTx/>
              <a:buNone/>
            </a:pPr>
            <a:r>
              <a:rPr lang="en-US" dirty="0"/>
              <a:t>Register </a:t>
            </a:r>
            <a:r>
              <a:rPr lang="en-US" dirty="0">
                <a:sym typeface="Wingdings" pitchFamily="2" charset="2"/>
              </a:rPr>
              <a:t> {SP}</a:t>
            </a:r>
          </a:p>
          <a:p>
            <a:pPr lvl="2">
              <a:buFontTx/>
              <a:buNone/>
            </a:pPr>
            <a:r>
              <a:rPr lang="en-US" dirty="0">
                <a:sym typeface="Wingdings" pitchFamily="2" charset="2"/>
              </a:rPr>
              <a:t>SP  SP - 1</a:t>
            </a:r>
            <a:endParaRPr lang="en-AU" dirty="0">
              <a:sym typeface="Wingdings" pitchFamily="2" charset="2"/>
            </a:endParaRPr>
          </a:p>
        </p:txBody>
      </p:sp>
      <p:grpSp>
        <p:nvGrpSpPr>
          <p:cNvPr id="218116" name="Group 4"/>
          <p:cNvGrpSpPr>
            <a:grpSpLocks/>
          </p:cNvGrpSpPr>
          <p:nvPr/>
        </p:nvGrpSpPr>
        <p:grpSpPr bwMode="auto">
          <a:xfrm>
            <a:off x="6934200" y="2514600"/>
            <a:ext cx="1984375" cy="2159000"/>
            <a:chOff x="3898" y="1711"/>
            <a:chExt cx="1250" cy="1360"/>
          </a:xfrm>
        </p:grpSpPr>
        <p:sp>
          <p:nvSpPr>
            <p:cNvPr id="218117" name="Line 5"/>
            <p:cNvSpPr>
              <a:spLocks noChangeShapeType="1"/>
            </p:cNvSpPr>
            <p:nvPr/>
          </p:nvSpPr>
          <p:spPr bwMode="auto">
            <a:xfrm>
              <a:off x="4377" y="1711"/>
              <a:ext cx="0" cy="10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18118" name="Line 6"/>
            <p:cNvSpPr>
              <a:spLocks noChangeShapeType="1"/>
            </p:cNvSpPr>
            <p:nvPr/>
          </p:nvSpPr>
          <p:spPr bwMode="auto">
            <a:xfrm>
              <a:off x="4377" y="2750"/>
              <a:ext cx="7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18119" name="Line 7"/>
            <p:cNvSpPr>
              <a:spLocks noChangeShapeType="1"/>
            </p:cNvSpPr>
            <p:nvPr/>
          </p:nvSpPr>
          <p:spPr bwMode="auto">
            <a:xfrm>
              <a:off x="5148" y="1711"/>
              <a:ext cx="0" cy="10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18120" name="Line 8"/>
            <p:cNvSpPr>
              <a:spLocks noChangeShapeType="1"/>
            </p:cNvSpPr>
            <p:nvPr/>
          </p:nvSpPr>
          <p:spPr bwMode="auto">
            <a:xfrm>
              <a:off x="4377" y="2600"/>
              <a:ext cx="7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18121" name="Line 9"/>
            <p:cNvSpPr>
              <a:spLocks noChangeShapeType="1"/>
            </p:cNvSpPr>
            <p:nvPr/>
          </p:nvSpPr>
          <p:spPr bwMode="auto">
            <a:xfrm>
              <a:off x="4377" y="2421"/>
              <a:ext cx="7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18122" name="Line 10"/>
            <p:cNvSpPr>
              <a:spLocks noChangeShapeType="1"/>
            </p:cNvSpPr>
            <p:nvPr/>
          </p:nvSpPr>
          <p:spPr bwMode="auto">
            <a:xfrm>
              <a:off x="4377" y="2241"/>
              <a:ext cx="7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18123" name="Line 11"/>
            <p:cNvSpPr>
              <a:spLocks noChangeShapeType="1"/>
            </p:cNvSpPr>
            <p:nvPr/>
          </p:nvSpPr>
          <p:spPr bwMode="auto">
            <a:xfrm>
              <a:off x="4377" y="2062"/>
              <a:ext cx="7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18124" name="Line 12"/>
            <p:cNvSpPr>
              <a:spLocks noChangeShapeType="1"/>
            </p:cNvSpPr>
            <p:nvPr/>
          </p:nvSpPr>
          <p:spPr bwMode="auto">
            <a:xfrm>
              <a:off x="4377" y="1860"/>
              <a:ext cx="7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18125" name="Text Box 13"/>
            <p:cNvSpPr txBox="1">
              <a:spLocks noChangeArrowheads="1"/>
            </p:cNvSpPr>
            <p:nvPr/>
          </p:nvSpPr>
          <p:spPr bwMode="auto">
            <a:xfrm>
              <a:off x="3898" y="1752"/>
              <a:ext cx="31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800" b="0">
                  <a:latin typeface="Verdana" pitchFamily="34" charset="0"/>
                </a:rPr>
                <a:t>SP</a:t>
              </a:r>
              <a:endParaRPr lang="en-AU" sz="1800" b="0">
                <a:latin typeface="Verdana" pitchFamily="34" charset="0"/>
              </a:endParaRPr>
            </a:p>
          </p:txBody>
        </p:sp>
        <p:sp>
          <p:nvSpPr>
            <p:cNvPr id="218126" name="Line 14"/>
            <p:cNvSpPr>
              <a:spLocks noChangeShapeType="1"/>
            </p:cNvSpPr>
            <p:nvPr/>
          </p:nvSpPr>
          <p:spPr bwMode="auto">
            <a:xfrm>
              <a:off x="4159" y="1900"/>
              <a:ext cx="202" cy="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18127" name="Text Box 15"/>
            <p:cNvSpPr txBox="1">
              <a:spLocks noChangeArrowheads="1"/>
            </p:cNvSpPr>
            <p:nvPr/>
          </p:nvSpPr>
          <p:spPr bwMode="auto">
            <a:xfrm>
              <a:off x="4513" y="2840"/>
              <a:ext cx="54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800" b="0">
                  <a:latin typeface="Verdana" pitchFamily="34" charset="0"/>
                </a:rPr>
                <a:t>Stack</a:t>
              </a:r>
              <a:endParaRPr lang="en-AU" sz="1800" b="0">
                <a:latin typeface="Verdana" pitchFamily="34" charset="0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General Purpose Registers</a:t>
            </a:r>
          </a:p>
        </p:txBody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General Purpose Registers are registers used for multi purposes:</a:t>
            </a:r>
          </a:p>
          <a:p>
            <a:r>
              <a:rPr lang="en-AU" dirty="0"/>
              <a:t>Examples: CPU Intel 8086 has four general purpose registers:</a:t>
            </a:r>
          </a:p>
          <a:p>
            <a:pPr lvl="1"/>
            <a:r>
              <a:rPr lang="en-AU" dirty="0"/>
              <a:t>AX: Accumulator register</a:t>
            </a:r>
          </a:p>
          <a:p>
            <a:pPr lvl="1"/>
            <a:r>
              <a:rPr lang="en-AU" dirty="0"/>
              <a:t>BX: Base register</a:t>
            </a:r>
          </a:p>
          <a:p>
            <a:pPr lvl="1"/>
            <a:r>
              <a:rPr lang="en-AU" dirty="0"/>
              <a:t>CX: Counter register</a:t>
            </a:r>
          </a:p>
          <a:p>
            <a:pPr lvl="1"/>
            <a:r>
              <a:rPr lang="en-AU" dirty="0"/>
              <a:t>DX: Data register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Instruction Register</a:t>
            </a:r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76400"/>
            <a:ext cx="8756650" cy="2057400"/>
          </a:xfrm>
        </p:spPr>
        <p:txBody>
          <a:bodyPr/>
          <a:lstStyle/>
          <a:p>
            <a:r>
              <a:rPr lang="en-AU" dirty="0"/>
              <a:t>Instruction register (IR) store op-code being executed;</a:t>
            </a:r>
          </a:p>
          <a:p>
            <a:r>
              <a:rPr lang="en-AU" dirty="0"/>
              <a:t>IR loads an op-code from MBR and pass it to CU for decoding and executing.</a:t>
            </a:r>
          </a:p>
        </p:txBody>
      </p:sp>
      <p:grpSp>
        <p:nvGrpSpPr>
          <p:cNvPr id="220164" name="Group 4"/>
          <p:cNvGrpSpPr>
            <a:grpSpLocks/>
          </p:cNvGrpSpPr>
          <p:nvPr/>
        </p:nvGrpSpPr>
        <p:grpSpPr bwMode="auto">
          <a:xfrm>
            <a:off x="2133600" y="4114800"/>
            <a:ext cx="4905375" cy="376238"/>
            <a:chOff x="1338" y="2523"/>
            <a:chExt cx="3090" cy="237"/>
          </a:xfrm>
        </p:grpSpPr>
        <p:sp>
          <p:nvSpPr>
            <p:cNvPr id="220165" name="Text Box 5"/>
            <p:cNvSpPr txBox="1">
              <a:spLocks noChangeArrowheads="1"/>
            </p:cNvSpPr>
            <p:nvPr/>
          </p:nvSpPr>
          <p:spPr bwMode="auto">
            <a:xfrm>
              <a:off x="1338" y="2523"/>
              <a:ext cx="771" cy="2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AU" sz="1800" b="0">
                  <a:latin typeface="Verdana" pitchFamily="34" charset="0"/>
                </a:rPr>
                <a:t>MBR</a:t>
              </a:r>
            </a:p>
          </p:txBody>
        </p:sp>
        <p:sp>
          <p:nvSpPr>
            <p:cNvPr id="220166" name="Text Box 6"/>
            <p:cNvSpPr txBox="1">
              <a:spLocks noChangeArrowheads="1"/>
            </p:cNvSpPr>
            <p:nvPr/>
          </p:nvSpPr>
          <p:spPr bwMode="auto">
            <a:xfrm>
              <a:off x="2490" y="2523"/>
              <a:ext cx="771" cy="2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AU" sz="1800" b="0">
                  <a:latin typeface="Verdana" pitchFamily="34" charset="0"/>
                </a:rPr>
                <a:t>IR</a:t>
              </a:r>
            </a:p>
          </p:txBody>
        </p:sp>
        <p:sp>
          <p:nvSpPr>
            <p:cNvPr id="220167" name="Line 7"/>
            <p:cNvSpPr>
              <a:spLocks noChangeShapeType="1"/>
            </p:cNvSpPr>
            <p:nvPr/>
          </p:nvSpPr>
          <p:spPr bwMode="auto">
            <a:xfrm>
              <a:off x="2110" y="2641"/>
              <a:ext cx="37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20168" name="Text Box 8"/>
            <p:cNvSpPr txBox="1">
              <a:spLocks noChangeArrowheads="1"/>
            </p:cNvSpPr>
            <p:nvPr/>
          </p:nvSpPr>
          <p:spPr bwMode="auto">
            <a:xfrm>
              <a:off x="3657" y="2523"/>
              <a:ext cx="771" cy="2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AU" sz="1800" b="0">
                  <a:latin typeface="Verdana" pitchFamily="34" charset="0"/>
                </a:rPr>
                <a:t>CU</a:t>
              </a:r>
            </a:p>
          </p:txBody>
        </p:sp>
        <p:sp>
          <p:nvSpPr>
            <p:cNvPr id="220169" name="Line 9"/>
            <p:cNvSpPr>
              <a:spLocks noChangeShapeType="1"/>
            </p:cNvSpPr>
            <p:nvPr/>
          </p:nvSpPr>
          <p:spPr bwMode="auto">
            <a:xfrm>
              <a:off x="3277" y="2641"/>
              <a:ext cx="37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MAR and MBR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MAR – (Memory address register):</a:t>
            </a:r>
          </a:p>
          <a:p>
            <a:pPr lvl="1"/>
            <a:r>
              <a:rPr lang="en-AU" dirty="0"/>
              <a:t>Interface between CPU and bus A</a:t>
            </a:r>
          </a:p>
          <a:p>
            <a:pPr lvl="1"/>
            <a:r>
              <a:rPr lang="en-AU" dirty="0"/>
              <a:t>Receive cell memory address from PC and pass it to bus A.</a:t>
            </a:r>
          </a:p>
          <a:p>
            <a:r>
              <a:rPr lang="en-AU" dirty="0"/>
              <a:t>MBR –(Memory buffer register):</a:t>
            </a:r>
          </a:p>
          <a:p>
            <a:pPr lvl="1"/>
            <a:r>
              <a:rPr lang="en-AU" dirty="0"/>
              <a:t>Interface between CPU and bus D</a:t>
            </a:r>
          </a:p>
          <a:p>
            <a:pPr lvl="1"/>
            <a:r>
              <a:rPr lang="en-AU" dirty="0"/>
              <a:t>Receive  op-code from bus D and pass it to IR through internal </a:t>
            </a:r>
            <a:r>
              <a:rPr lang="en-AU"/>
              <a:t>bus in CPU</a:t>
            </a:r>
            <a:r>
              <a:rPr lang="en-AU"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Temporary Registers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Temporary registers can be used for:</a:t>
            </a:r>
          </a:p>
          <a:p>
            <a:pPr lvl="1"/>
            <a:r>
              <a:rPr lang="en-AU" dirty="0"/>
              <a:t>Storing input </a:t>
            </a:r>
            <a:r>
              <a:rPr lang="en-AU" dirty="0" err="1">
                <a:highlight>
                  <a:srgbClr val="FFFF00"/>
                </a:highlight>
              </a:rPr>
              <a:t>operants</a:t>
            </a:r>
            <a:endParaRPr lang="en-AU" dirty="0">
              <a:highlight>
                <a:srgbClr val="FFFF00"/>
              </a:highlight>
            </a:endParaRPr>
          </a:p>
          <a:p>
            <a:pPr lvl="1"/>
            <a:r>
              <a:rPr lang="en-AU" dirty="0"/>
              <a:t>Storing output results</a:t>
            </a:r>
          </a:p>
          <a:p>
            <a:pPr lvl="1"/>
            <a:r>
              <a:rPr lang="en-AU" dirty="0"/>
              <a:t>Concurrent execution</a:t>
            </a:r>
          </a:p>
          <a:p>
            <a:pPr lvl="1"/>
            <a:r>
              <a:rPr lang="en-US" dirty="0"/>
              <a:t>Out Of Order execution (OOO</a:t>
            </a:r>
            <a:r>
              <a:rPr lang="en-AU" dirty="0"/>
              <a:t>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Control Unit</a:t>
            </a:r>
          </a:p>
        </p:txBody>
      </p:sp>
      <p:grpSp>
        <p:nvGrpSpPr>
          <p:cNvPr id="223236" name="Group 4"/>
          <p:cNvGrpSpPr>
            <a:grpSpLocks/>
          </p:cNvGrpSpPr>
          <p:nvPr/>
        </p:nvGrpSpPr>
        <p:grpSpPr bwMode="auto">
          <a:xfrm>
            <a:off x="1692275" y="1989138"/>
            <a:ext cx="5975350" cy="3395662"/>
            <a:chOff x="1066" y="1042"/>
            <a:chExt cx="3764" cy="2139"/>
          </a:xfrm>
        </p:grpSpPr>
        <p:sp>
          <p:nvSpPr>
            <p:cNvPr id="223237" name="Text Box 5"/>
            <p:cNvSpPr txBox="1">
              <a:spLocks noChangeArrowheads="1"/>
            </p:cNvSpPr>
            <p:nvPr/>
          </p:nvSpPr>
          <p:spPr bwMode="auto">
            <a:xfrm>
              <a:off x="2109" y="1933"/>
              <a:ext cx="1588" cy="59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154800" rIns="90000" bIns="46800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AU" sz="1800" b="0">
                  <a:latin typeface="Verdana" pitchFamily="34" charset="0"/>
                </a:rPr>
                <a:t>Control Unit</a:t>
              </a:r>
              <a:br>
                <a:rPr lang="en-AU" sz="1800" b="0">
                  <a:latin typeface="Verdana" pitchFamily="34" charset="0"/>
                </a:rPr>
              </a:br>
              <a:r>
                <a:rPr lang="en-AU" sz="1800" b="0">
                  <a:latin typeface="Verdana" pitchFamily="34" charset="0"/>
                </a:rPr>
                <a:t>CU</a:t>
              </a:r>
            </a:p>
          </p:txBody>
        </p:sp>
        <p:sp>
          <p:nvSpPr>
            <p:cNvPr id="223238" name="Text Box 6"/>
            <p:cNvSpPr txBox="1">
              <a:spLocks noChangeArrowheads="1"/>
            </p:cNvSpPr>
            <p:nvPr/>
          </p:nvSpPr>
          <p:spPr bwMode="auto">
            <a:xfrm>
              <a:off x="2390" y="2860"/>
              <a:ext cx="1008" cy="3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82800" rIns="90000" bIns="46800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AU" sz="1800" b="0">
                  <a:latin typeface="Verdana" pitchFamily="34" charset="0"/>
                </a:rPr>
                <a:t>IR</a:t>
              </a:r>
            </a:p>
          </p:txBody>
        </p:sp>
        <p:sp>
          <p:nvSpPr>
            <p:cNvPr id="223239" name="AutoShape 7"/>
            <p:cNvSpPr>
              <a:spLocks noChangeArrowheads="1"/>
            </p:cNvSpPr>
            <p:nvPr/>
          </p:nvSpPr>
          <p:spPr bwMode="auto">
            <a:xfrm>
              <a:off x="2782" y="2526"/>
              <a:ext cx="246" cy="328"/>
            </a:xfrm>
            <a:prstGeom prst="upArrow">
              <a:avLst>
                <a:gd name="adj1" fmla="val 50000"/>
                <a:gd name="adj2" fmla="val 33333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  <p:sp>
          <p:nvSpPr>
            <p:cNvPr id="223240" name="AutoShape 8"/>
            <p:cNvSpPr>
              <a:spLocks noChangeArrowheads="1"/>
            </p:cNvSpPr>
            <p:nvPr/>
          </p:nvSpPr>
          <p:spPr bwMode="auto">
            <a:xfrm>
              <a:off x="1660" y="2117"/>
              <a:ext cx="427" cy="212"/>
            </a:xfrm>
            <a:prstGeom prst="rightArrow">
              <a:avLst>
                <a:gd name="adj1" fmla="val 50000"/>
                <a:gd name="adj2" fmla="val 5035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  <p:sp>
          <p:nvSpPr>
            <p:cNvPr id="223241" name="Text Box 9"/>
            <p:cNvSpPr txBox="1">
              <a:spLocks noChangeArrowheads="1"/>
            </p:cNvSpPr>
            <p:nvPr/>
          </p:nvSpPr>
          <p:spPr bwMode="auto">
            <a:xfrm>
              <a:off x="1066" y="2115"/>
              <a:ext cx="45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800" b="0">
                  <a:latin typeface="Verdana" pitchFamily="34" charset="0"/>
                </a:rPr>
                <a:t>CLK</a:t>
              </a:r>
              <a:endParaRPr lang="en-AU" sz="1800" b="0">
                <a:latin typeface="Verdana" pitchFamily="34" charset="0"/>
              </a:endParaRPr>
            </a:p>
          </p:txBody>
        </p:sp>
        <p:sp>
          <p:nvSpPr>
            <p:cNvPr id="223242" name="AutoShape 10"/>
            <p:cNvSpPr>
              <a:spLocks noChangeArrowheads="1"/>
            </p:cNvSpPr>
            <p:nvPr/>
          </p:nvSpPr>
          <p:spPr bwMode="auto">
            <a:xfrm>
              <a:off x="3695" y="2107"/>
              <a:ext cx="427" cy="212"/>
            </a:xfrm>
            <a:prstGeom prst="leftArrow">
              <a:avLst>
                <a:gd name="adj1" fmla="val 50000"/>
                <a:gd name="adj2" fmla="val 5035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  <p:sp>
          <p:nvSpPr>
            <p:cNvPr id="223243" name="Text Box 11"/>
            <p:cNvSpPr txBox="1">
              <a:spLocks noChangeArrowheads="1"/>
            </p:cNvSpPr>
            <p:nvPr/>
          </p:nvSpPr>
          <p:spPr bwMode="auto">
            <a:xfrm>
              <a:off x="4195" y="2024"/>
              <a:ext cx="635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800" b="0">
                  <a:latin typeface="Verdana" pitchFamily="34" charset="0"/>
                </a:rPr>
                <a:t>ALU Flags</a:t>
              </a:r>
              <a:endParaRPr lang="en-AU" sz="1800" b="0">
                <a:latin typeface="Verdana" pitchFamily="34" charset="0"/>
              </a:endParaRPr>
            </a:p>
          </p:txBody>
        </p:sp>
        <p:sp>
          <p:nvSpPr>
            <p:cNvPr id="223244" name="AutoShape 12"/>
            <p:cNvSpPr>
              <a:spLocks noChangeArrowheads="1"/>
            </p:cNvSpPr>
            <p:nvPr/>
          </p:nvSpPr>
          <p:spPr bwMode="auto">
            <a:xfrm>
              <a:off x="2244" y="1591"/>
              <a:ext cx="246" cy="328"/>
            </a:xfrm>
            <a:prstGeom prst="upArrow">
              <a:avLst>
                <a:gd name="adj1" fmla="val 50000"/>
                <a:gd name="adj2" fmla="val 33333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  <p:sp>
          <p:nvSpPr>
            <p:cNvPr id="223245" name="AutoShape 13"/>
            <p:cNvSpPr>
              <a:spLocks noChangeArrowheads="1"/>
            </p:cNvSpPr>
            <p:nvPr/>
          </p:nvSpPr>
          <p:spPr bwMode="auto">
            <a:xfrm>
              <a:off x="3277" y="1591"/>
              <a:ext cx="246" cy="328"/>
            </a:xfrm>
            <a:prstGeom prst="upArrow">
              <a:avLst>
                <a:gd name="adj1" fmla="val 50000"/>
                <a:gd name="adj2" fmla="val 33333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  <p:sp>
          <p:nvSpPr>
            <p:cNvPr id="223246" name="Text Box 14"/>
            <p:cNvSpPr txBox="1">
              <a:spLocks noChangeArrowheads="1"/>
            </p:cNvSpPr>
            <p:nvPr/>
          </p:nvSpPr>
          <p:spPr bwMode="auto">
            <a:xfrm>
              <a:off x="2009" y="1042"/>
              <a:ext cx="680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AU" sz="1600" b="0">
                  <a:latin typeface="Verdana" pitchFamily="34" charset="0"/>
                </a:rPr>
                <a:t>Internal control signal</a:t>
              </a:r>
            </a:p>
          </p:txBody>
        </p:sp>
        <p:sp>
          <p:nvSpPr>
            <p:cNvPr id="223247" name="Text Box 15"/>
            <p:cNvSpPr txBox="1">
              <a:spLocks noChangeArrowheads="1"/>
            </p:cNvSpPr>
            <p:nvPr/>
          </p:nvSpPr>
          <p:spPr bwMode="auto">
            <a:xfrm>
              <a:off x="3034" y="1042"/>
              <a:ext cx="680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AU" sz="1600" b="0">
                  <a:latin typeface="Verdana" pitchFamily="34" charset="0"/>
                </a:rPr>
                <a:t>External control signal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Control Unit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Control Unit </a:t>
            </a:r>
            <a:r>
              <a:rPr lang="en-AU" dirty="0" err="1"/>
              <a:t>controlizes</a:t>
            </a:r>
            <a:r>
              <a:rPr lang="en-AU" dirty="0"/>
              <a:t> operations of CPU using CPU clock cycles;</a:t>
            </a:r>
          </a:p>
          <a:p>
            <a:r>
              <a:rPr lang="en-AU" dirty="0"/>
              <a:t>CU’s inputs:</a:t>
            </a:r>
          </a:p>
          <a:p>
            <a:pPr lvl="1"/>
            <a:r>
              <a:rPr lang="en-AU" dirty="0"/>
              <a:t>Op-code stored in IR</a:t>
            </a:r>
          </a:p>
          <a:p>
            <a:pPr lvl="1"/>
            <a:r>
              <a:rPr lang="en-AU" dirty="0"/>
              <a:t>FR</a:t>
            </a:r>
          </a:p>
          <a:p>
            <a:pPr lvl="1"/>
            <a:r>
              <a:rPr lang="en-AU" dirty="0"/>
              <a:t>Clock cycles</a:t>
            </a:r>
          </a:p>
          <a:p>
            <a:r>
              <a:rPr lang="en-AU" dirty="0"/>
              <a:t>CU’s outputs:</a:t>
            </a:r>
          </a:p>
          <a:p>
            <a:pPr lvl="1"/>
            <a:r>
              <a:rPr lang="en-AU" dirty="0" err="1"/>
              <a:t>Controlizes</a:t>
            </a:r>
            <a:r>
              <a:rPr lang="en-AU" dirty="0"/>
              <a:t> units inside CPU;</a:t>
            </a:r>
          </a:p>
          <a:p>
            <a:pPr lvl="1"/>
            <a:r>
              <a:rPr lang="en-AU" dirty="0" err="1"/>
              <a:t>Controlizes</a:t>
            </a:r>
            <a:r>
              <a:rPr lang="en-AU" dirty="0"/>
              <a:t> units outside CPU</a:t>
            </a:r>
          </a:p>
          <a:p>
            <a:r>
              <a:rPr lang="en-AU" dirty="0"/>
              <a:t>CU </a:t>
            </a:r>
            <a:r>
              <a:rPr lang="en-AU" dirty="0" err="1"/>
              <a:t>generizes</a:t>
            </a:r>
            <a:r>
              <a:rPr lang="en-AU" dirty="0"/>
              <a:t> clock cycles for synchronizing units inside and outside CPU.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Arithmetic Logic Unit (ALU)</a:t>
            </a:r>
          </a:p>
        </p:txBody>
      </p:sp>
      <p:grpSp>
        <p:nvGrpSpPr>
          <p:cNvPr id="225284" name="Group 4"/>
          <p:cNvGrpSpPr>
            <a:grpSpLocks/>
          </p:cNvGrpSpPr>
          <p:nvPr/>
        </p:nvGrpSpPr>
        <p:grpSpPr bwMode="auto">
          <a:xfrm>
            <a:off x="2025650" y="1700213"/>
            <a:ext cx="5641975" cy="4471987"/>
            <a:chOff x="1276" y="1071"/>
            <a:chExt cx="3554" cy="2817"/>
          </a:xfrm>
        </p:grpSpPr>
        <p:sp>
          <p:nvSpPr>
            <p:cNvPr id="225285" name="Line 5"/>
            <p:cNvSpPr>
              <a:spLocks noChangeShapeType="1"/>
            </p:cNvSpPr>
            <p:nvPr/>
          </p:nvSpPr>
          <p:spPr bwMode="auto">
            <a:xfrm>
              <a:off x="1965" y="3136"/>
              <a:ext cx="21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25286" name="Line 6"/>
            <p:cNvSpPr>
              <a:spLocks noChangeShapeType="1"/>
            </p:cNvSpPr>
            <p:nvPr/>
          </p:nvSpPr>
          <p:spPr bwMode="auto">
            <a:xfrm flipV="1">
              <a:off x="4090" y="1841"/>
              <a:ext cx="729" cy="12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25287" name="Line 7"/>
            <p:cNvSpPr>
              <a:spLocks noChangeShapeType="1"/>
            </p:cNvSpPr>
            <p:nvPr/>
          </p:nvSpPr>
          <p:spPr bwMode="auto">
            <a:xfrm flipH="1" flipV="1">
              <a:off x="1288" y="1857"/>
              <a:ext cx="677" cy="12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25288" name="Line 8"/>
            <p:cNvSpPr>
              <a:spLocks noChangeShapeType="1"/>
            </p:cNvSpPr>
            <p:nvPr/>
          </p:nvSpPr>
          <p:spPr bwMode="auto">
            <a:xfrm>
              <a:off x="1815" y="2837"/>
              <a:ext cx="24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25289" name="Line 9"/>
            <p:cNvSpPr>
              <a:spLocks noChangeShapeType="1"/>
            </p:cNvSpPr>
            <p:nvPr/>
          </p:nvSpPr>
          <p:spPr bwMode="auto">
            <a:xfrm>
              <a:off x="1644" y="2545"/>
              <a:ext cx="2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25290" name="Line 10"/>
            <p:cNvSpPr>
              <a:spLocks noChangeShapeType="1"/>
            </p:cNvSpPr>
            <p:nvPr/>
          </p:nvSpPr>
          <p:spPr bwMode="auto">
            <a:xfrm>
              <a:off x="1486" y="2223"/>
              <a:ext cx="3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25291" name="Line 11"/>
            <p:cNvSpPr>
              <a:spLocks noChangeShapeType="1"/>
            </p:cNvSpPr>
            <p:nvPr/>
          </p:nvSpPr>
          <p:spPr bwMode="auto">
            <a:xfrm>
              <a:off x="1276" y="1850"/>
              <a:ext cx="126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25292" name="Line 12"/>
            <p:cNvSpPr>
              <a:spLocks noChangeShapeType="1"/>
            </p:cNvSpPr>
            <p:nvPr/>
          </p:nvSpPr>
          <p:spPr bwMode="auto">
            <a:xfrm>
              <a:off x="3587" y="1850"/>
              <a:ext cx="12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25293" name="Line 13"/>
            <p:cNvSpPr>
              <a:spLocks noChangeShapeType="1"/>
            </p:cNvSpPr>
            <p:nvPr/>
          </p:nvSpPr>
          <p:spPr bwMode="auto">
            <a:xfrm flipH="1">
              <a:off x="3342" y="1849"/>
              <a:ext cx="239" cy="3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25294" name="Line 14"/>
            <p:cNvSpPr>
              <a:spLocks noChangeShapeType="1"/>
            </p:cNvSpPr>
            <p:nvPr/>
          </p:nvSpPr>
          <p:spPr bwMode="auto">
            <a:xfrm>
              <a:off x="2527" y="1857"/>
              <a:ext cx="239" cy="3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25295" name="Line 15"/>
            <p:cNvSpPr>
              <a:spLocks noChangeShapeType="1"/>
            </p:cNvSpPr>
            <p:nvPr/>
          </p:nvSpPr>
          <p:spPr bwMode="auto">
            <a:xfrm>
              <a:off x="1951" y="1857"/>
              <a:ext cx="770" cy="12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25296" name="Line 16"/>
            <p:cNvSpPr>
              <a:spLocks noChangeShapeType="1"/>
            </p:cNvSpPr>
            <p:nvPr/>
          </p:nvSpPr>
          <p:spPr bwMode="auto">
            <a:xfrm flipH="1">
              <a:off x="3506" y="1849"/>
              <a:ext cx="651" cy="12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25297" name="Line 17"/>
            <p:cNvSpPr>
              <a:spLocks noChangeShapeType="1"/>
            </p:cNvSpPr>
            <p:nvPr/>
          </p:nvSpPr>
          <p:spPr bwMode="auto">
            <a:xfrm>
              <a:off x="3050" y="2216"/>
              <a:ext cx="0" cy="6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endParaRPr lang="en-AU"/>
            </a:p>
          </p:txBody>
        </p:sp>
        <p:sp>
          <p:nvSpPr>
            <p:cNvPr id="225298" name="Text Box 18"/>
            <p:cNvSpPr txBox="1">
              <a:spLocks noChangeArrowheads="1"/>
            </p:cNvSpPr>
            <p:nvPr/>
          </p:nvSpPr>
          <p:spPr bwMode="auto">
            <a:xfrm>
              <a:off x="1449" y="1913"/>
              <a:ext cx="4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800" b="0">
                  <a:latin typeface="Verdana" pitchFamily="34" charset="0"/>
                </a:rPr>
                <a:t>ADD</a:t>
              </a:r>
              <a:endParaRPr lang="en-AU" sz="1800" b="0">
                <a:latin typeface="Verdana" pitchFamily="34" charset="0"/>
              </a:endParaRPr>
            </a:p>
          </p:txBody>
        </p:sp>
        <p:sp>
          <p:nvSpPr>
            <p:cNvPr id="225299" name="Text Box 19"/>
            <p:cNvSpPr txBox="1">
              <a:spLocks noChangeArrowheads="1"/>
            </p:cNvSpPr>
            <p:nvPr/>
          </p:nvSpPr>
          <p:spPr bwMode="auto">
            <a:xfrm>
              <a:off x="2102" y="1921"/>
              <a:ext cx="4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800" b="0">
                  <a:latin typeface="Verdana" pitchFamily="34" charset="0"/>
                </a:rPr>
                <a:t>SUB</a:t>
              </a:r>
              <a:endParaRPr lang="en-AU" sz="1800" b="0">
                <a:latin typeface="Verdana" pitchFamily="34" charset="0"/>
              </a:endParaRPr>
            </a:p>
          </p:txBody>
        </p:sp>
        <p:sp>
          <p:nvSpPr>
            <p:cNvPr id="225300" name="Text Box 20"/>
            <p:cNvSpPr txBox="1">
              <a:spLocks noChangeArrowheads="1"/>
            </p:cNvSpPr>
            <p:nvPr/>
          </p:nvSpPr>
          <p:spPr bwMode="auto">
            <a:xfrm>
              <a:off x="1675" y="2265"/>
              <a:ext cx="4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800" b="0">
                  <a:latin typeface="Verdana" pitchFamily="34" charset="0"/>
                </a:rPr>
                <a:t>MUL</a:t>
              </a:r>
              <a:endParaRPr lang="en-AU" sz="1800" b="0">
                <a:latin typeface="Verdana" pitchFamily="34" charset="0"/>
              </a:endParaRPr>
            </a:p>
          </p:txBody>
        </p:sp>
        <p:sp>
          <p:nvSpPr>
            <p:cNvPr id="225301" name="Text Box 21"/>
            <p:cNvSpPr txBox="1">
              <a:spLocks noChangeArrowheads="1"/>
            </p:cNvSpPr>
            <p:nvPr/>
          </p:nvSpPr>
          <p:spPr bwMode="auto">
            <a:xfrm>
              <a:off x="2400" y="2265"/>
              <a:ext cx="4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800" b="0">
                  <a:latin typeface="Verdana" pitchFamily="34" charset="0"/>
                </a:rPr>
                <a:t>DIV</a:t>
              </a:r>
              <a:endParaRPr lang="en-AU" sz="1800" b="0">
                <a:latin typeface="Verdana" pitchFamily="34" charset="0"/>
              </a:endParaRPr>
            </a:p>
          </p:txBody>
        </p:sp>
        <p:sp>
          <p:nvSpPr>
            <p:cNvPr id="225302" name="Text Box 22"/>
            <p:cNvSpPr txBox="1">
              <a:spLocks noChangeArrowheads="1"/>
            </p:cNvSpPr>
            <p:nvPr/>
          </p:nvSpPr>
          <p:spPr bwMode="auto">
            <a:xfrm>
              <a:off x="3208" y="2265"/>
              <a:ext cx="4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800" b="0">
                  <a:latin typeface="Verdana" pitchFamily="34" charset="0"/>
                </a:rPr>
                <a:t>SHR</a:t>
              </a:r>
              <a:endParaRPr lang="en-AU" sz="1800" b="0">
                <a:latin typeface="Verdana" pitchFamily="34" charset="0"/>
              </a:endParaRPr>
            </a:p>
          </p:txBody>
        </p:sp>
        <p:sp>
          <p:nvSpPr>
            <p:cNvPr id="225303" name="Text Box 23"/>
            <p:cNvSpPr txBox="1">
              <a:spLocks noChangeArrowheads="1"/>
            </p:cNvSpPr>
            <p:nvPr/>
          </p:nvSpPr>
          <p:spPr bwMode="auto">
            <a:xfrm>
              <a:off x="3919" y="2265"/>
              <a:ext cx="4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800" b="0">
                  <a:latin typeface="Verdana" pitchFamily="34" charset="0"/>
                </a:rPr>
                <a:t>ROL</a:t>
              </a:r>
              <a:endParaRPr lang="en-AU" sz="1800" b="0">
                <a:latin typeface="Verdana" pitchFamily="34" charset="0"/>
              </a:endParaRPr>
            </a:p>
          </p:txBody>
        </p:sp>
        <p:sp>
          <p:nvSpPr>
            <p:cNvPr id="225304" name="Text Box 24"/>
            <p:cNvSpPr txBox="1">
              <a:spLocks noChangeArrowheads="1"/>
            </p:cNvSpPr>
            <p:nvPr/>
          </p:nvSpPr>
          <p:spPr bwMode="auto">
            <a:xfrm>
              <a:off x="3747" y="2572"/>
              <a:ext cx="4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800" b="0">
                  <a:latin typeface="Verdana" pitchFamily="34" charset="0"/>
                </a:rPr>
                <a:t>OR</a:t>
              </a:r>
              <a:endParaRPr lang="en-AU" sz="1800" b="0">
                <a:latin typeface="Verdana" pitchFamily="34" charset="0"/>
              </a:endParaRPr>
            </a:p>
          </p:txBody>
        </p:sp>
        <p:sp>
          <p:nvSpPr>
            <p:cNvPr id="225305" name="Text Box 25"/>
            <p:cNvSpPr txBox="1">
              <a:spLocks noChangeArrowheads="1"/>
            </p:cNvSpPr>
            <p:nvPr/>
          </p:nvSpPr>
          <p:spPr bwMode="auto">
            <a:xfrm>
              <a:off x="1885" y="2572"/>
              <a:ext cx="4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800" b="0">
                  <a:latin typeface="Verdana" pitchFamily="34" charset="0"/>
                </a:rPr>
                <a:t>NOT</a:t>
              </a:r>
              <a:endParaRPr lang="en-AU" sz="1800" b="0">
                <a:latin typeface="Verdana" pitchFamily="34" charset="0"/>
              </a:endParaRPr>
            </a:p>
          </p:txBody>
        </p:sp>
        <p:sp>
          <p:nvSpPr>
            <p:cNvPr id="225306" name="Text Box 26"/>
            <p:cNvSpPr txBox="1">
              <a:spLocks noChangeArrowheads="1"/>
            </p:cNvSpPr>
            <p:nvPr/>
          </p:nvSpPr>
          <p:spPr bwMode="auto">
            <a:xfrm>
              <a:off x="2012" y="2878"/>
              <a:ext cx="4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800" b="0">
                  <a:latin typeface="Verdana" pitchFamily="34" charset="0"/>
                </a:rPr>
                <a:t>AND</a:t>
              </a:r>
              <a:endParaRPr lang="en-AU" sz="1800" b="0">
                <a:latin typeface="Verdana" pitchFamily="34" charset="0"/>
              </a:endParaRPr>
            </a:p>
          </p:txBody>
        </p:sp>
        <p:sp>
          <p:nvSpPr>
            <p:cNvPr id="225307" name="Text Box 27"/>
            <p:cNvSpPr txBox="1">
              <a:spLocks noChangeArrowheads="1"/>
            </p:cNvSpPr>
            <p:nvPr/>
          </p:nvSpPr>
          <p:spPr bwMode="auto">
            <a:xfrm>
              <a:off x="3606" y="2886"/>
              <a:ext cx="4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800" b="0">
                  <a:latin typeface="Verdana" pitchFamily="34" charset="0"/>
                </a:rPr>
                <a:t>XOR</a:t>
              </a:r>
              <a:endParaRPr lang="en-AU" sz="1800" b="0">
                <a:latin typeface="Verdana" pitchFamily="34" charset="0"/>
              </a:endParaRPr>
            </a:p>
          </p:txBody>
        </p:sp>
        <p:sp>
          <p:nvSpPr>
            <p:cNvPr id="225308" name="Text Box 28"/>
            <p:cNvSpPr txBox="1">
              <a:spLocks noChangeArrowheads="1"/>
            </p:cNvSpPr>
            <p:nvPr/>
          </p:nvSpPr>
          <p:spPr bwMode="auto">
            <a:xfrm>
              <a:off x="4130" y="1914"/>
              <a:ext cx="4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800" b="0">
                  <a:latin typeface="Verdana" pitchFamily="34" charset="0"/>
                </a:rPr>
                <a:t>SHL</a:t>
              </a:r>
              <a:endParaRPr lang="en-AU" sz="1800" b="0">
                <a:latin typeface="Verdana" pitchFamily="34" charset="0"/>
              </a:endParaRPr>
            </a:p>
          </p:txBody>
        </p:sp>
        <p:sp>
          <p:nvSpPr>
            <p:cNvPr id="225309" name="Text Box 29"/>
            <p:cNvSpPr txBox="1">
              <a:spLocks noChangeArrowheads="1"/>
            </p:cNvSpPr>
            <p:nvPr/>
          </p:nvSpPr>
          <p:spPr bwMode="auto">
            <a:xfrm>
              <a:off x="3517" y="1922"/>
              <a:ext cx="4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800" b="0">
                  <a:latin typeface="Verdana" pitchFamily="34" charset="0"/>
                </a:rPr>
                <a:t>NEG</a:t>
              </a:r>
              <a:endParaRPr lang="en-AU" sz="1800" b="0">
                <a:latin typeface="Verdana" pitchFamily="34" charset="0"/>
              </a:endParaRPr>
            </a:p>
          </p:txBody>
        </p:sp>
        <p:sp>
          <p:nvSpPr>
            <p:cNvPr id="225310" name="Text Box 30"/>
            <p:cNvSpPr txBox="1">
              <a:spLocks noChangeArrowheads="1"/>
            </p:cNvSpPr>
            <p:nvPr/>
          </p:nvSpPr>
          <p:spPr bwMode="auto">
            <a:xfrm>
              <a:off x="2878" y="2874"/>
              <a:ext cx="4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800" b="0">
                  <a:latin typeface="Verdana" pitchFamily="34" charset="0"/>
                </a:rPr>
                <a:t>ROR</a:t>
              </a:r>
              <a:endParaRPr lang="en-AU" sz="1800" b="0">
                <a:latin typeface="Verdana" pitchFamily="34" charset="0"/>
              </a:endParaRPr>
            </a:p>
          </p:txBody>
        </p:sp>
        <p:sp>
          <p:nvSpPr>
            <p:cNvPr id="225311" name="AutoShape 31"/>
            <p:cNvSpPr>
              <a:spLocks noChangeArrowheads="1"/>
            </p:cNvSpPr>
            <p:nvPr/>
          </p:nvSpPr>
          <p:spPr bwMode="auto">
            <a:xfrm>
              <a:off x="2971" y="3158"/>
              <a:ext cx="492" cy="455"/>
            </a:xfrm>
            <a:prstGeom prst="down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  <p:sp>
          <p:nvSpPr>
            <p:cNvPr id="225312" name="AutoShape 32"/>
            <p:cNvSpPr>
              <a:spLocks noChangeArrowheads="1"/>
            </p:cNvSpPr>
            <p:nvPr/>
          </p:nvSpPr>
          <p:spPr bwMode="auto">
            <a:xfrm>
              <a:off x="1610" y="1363"/>
              <a:ext cx="492" cy="455"/>
            </a:xfrm>
            <a:prstGeom prst="down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  <p:sp>
          <p:nvSpPr>
            <p:cNvPr id="225313" name="AutoShape 33"/>
            <p:cNvSpPr>
              <a:spLocks noChangeArrowheads="1"/>
            </p:cNvSpPr>
            <p:nvPr/>
          </p:nvSpPr>
          <p:spPr bwMode="auto">
            <a:xfrm>
              <a:off x="3936" y="1363"/>
              <a:ext cx="492" cy="455"/>
            </a:xfrm>
            <a:prstGeom prst="down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AU"/>
            </a:p>
          </p:txBody>
        </p:sp>
        <p:sp>
          <p:nvSpPr>
            <p:cNvPr id="225314" name="Text Box 34"/>
            <p:cNvSpPr txBox="1">
              <a:spLocks noChangeArrowheads="1"/>
            </p:cNvSpPr>
            <p:nvPr/>
          </p:nvSpPr>
          <p:spPr bwMode="auto">
            <a:xfrm>
              <a:off x="1610" y="1071"/>
              <a:ext cx="4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800" b="0">
                  <a:latin typeface="Verdana" pitchFamily="34" charset="0"/>
                </a:rPr>
                <a:t>IN</a:t>
              </a:r>
              <a:endParaRPr lang="en-AU" sz="1800" b="0">
                <a:latin typeface="Verdana" pitchFamily="34" charset="0"/>
              </a:endParaRPr>
            </a:p>
          </p:txBody>
        </p:sp>
        <p:sp>
          <p:nvSpPr>
            <p:cNvPr id="225315" name="Text Box 35"/>
            <p:cNvSpPr txBox="1">
              <a:spLocks noChangeArrowheads="1"/>
            </p:cNvSpPr>
            <p:nvPr/>
          </p:nvSpPr>
          <p:spPr bwMode="auto">
            <a:xfrm>
              <a:off x="3923" y="1071"/>
              <a:ext cx="4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800" b="0">
                  <a:latin typeface="Verdana" pitchFamily="34" charset="0"/>
                </a:rPr>
                <a:t>IN</a:t>
              </a:r>
              <a:endParaRPr lang="en-AU" sz="1800" b="0">
                <a:latin typeface="Verdana" pitchFamily="34" charset="0"/>
              </a:endParaRPr>
            </a:p>
          </p:txBody>
        </p:sp>
        <p:sp>
          <p:nvSpPr>
            <p:cNvPr id="225316" name="Text Box 36"/>
            <p:cNvSpPr txBox="1">
              <a:spLocks noChangeArrowheads="1"/>
            </p:cNvSpPr>
            <p:nvPr/>
          </p:nvSpPr>
          <p:spPr bwMode="auto">
            <a:xfrm>
              <a:off x="2971" y="3657"/>
              <a:ext cx="4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1800" b="0">
                  <a:latin typeface="Verdana" pitchFamily="34" charset="0"/>
                </a:rPr>
                <a:t>OUT</a:t>
              </a:r>
              <a:endParaRPr lang="en-AU" sz="1800" b="0">
                <a:latin typeface="Verdana" pitchFamily="34" charset="0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ALU</a:t>
            </a:r>
          </a:p>
        </p:txBody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ALU (Arithmetic and Logic Unit) comprises of computing sub-units:</a:t>
            </a:r>
          </a:p>
          <a:p>
            <a:pPr lvl="1"/>
            <a:r>
              <a:rPr lang="en-AU" dirty="0"/>
              <a:t>ADD, SUB, MUL, DIV</a:t>
            </a:r>
          </a:p>
          <a:p>
            <a:pPr lvl="1"/>
            <a:r>
              <a:rPr lang="en-AU" dirty="0"/>
              <a:t>SHIFT, ROTATE</a:t>
            </a:r>
          </a:p>
          <a:p>
            <a:pPr lvl="1"/>
            <a:r>
              <a:rPr lang="en-AU" dirty="0"/>
              <a:t>NOT, AND, OR, XOR</a:t>
            </a:r>
          </a:p>
          <a:p>
            <a:r>
              <a:rPr lang="en-AU" dirty="0"/>
              <a:t>ALU has </a:t>
            </a:r>
          </a:p>
          <a:p>
            <a:pPr lvl="1"/>
            <a:r>
              <a:rPr lang="en-AU" dirty="0"/>
              <a:t>Two inputs (registers);</a:t>
            </a:r>
          </a:p>
          <a:p>
            <a:pPr lvl="1"/>
            <a:r>
              <a:rPr lang="en-AU" dirty="0"/>
              <a:t>One output: to transfer computation results to registers.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Internal Bus</a:t>
            </a:r>
          </a:p>
        </p:txBody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 channel for communicating among units inside of CPU (CU – Registers – ALU);</a:t>
            </a:r>
          </a:p>
          <a:p>
            <a:r>
              <a:rPr lang="en-AU" dirty="0"/>
              <a:t>full duplex</a:t>
            </a:r>
          </a:p>
          <a:p>
            <a:r>
              <a:rPr lang="en-AU" dirty="0"/>
              <a:t>Interfacing between internal and system bus;</a:t>
            </a:r>
          </a:p>
          <a:p>
            <a:r>
              <a:rPr lang="en-AU" dirty="0"/>
              <a:t>Has high-speed broadband (much more than system bus).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Intel 8086</a:t>
            </a:r>
          </a:p>
        </p:txBody>
      </p:sp>
      <p:pic>
        <p:nvPicPr>
          <p:cNvPr id="228356" name="Picture 4" descr="8086-struc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95400"/>
            <a:ext cx="54864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AMD K62</a:t>
            </a:r>
          </a:p>
        </p:txBody>
      </p:sp>
      <p:pic>
        <p:nvPicPr>
          <p:cNvPr id="229380" name="Picture 4" descr="800px-Amdk62_arc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50" y="1338263"/>
            <a:ext cx="6973888" cy="493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AMD K62</a:t>
            </a:r>
          </a:p>
        </p:txBody>
      </p:sp>
      <p:pic>
        <p:nvPicPr>
          <p:cNvPr id="230403" name="Picture 3" descr="800px-Amdk62_arc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963" y="1349375"/>
            <a:ext cx="7527925" cy="5326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Intel Pen III</a:t>
            </a:r>
          </a:p>
        </p:txBody>
      </p:sp>
      <p:pic>
        <p:nvPicPr>
          <p:cNvPr id="231428" name="Picture 4" descr="p3-di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350963"/>
            <a:ext cx="6203950" cy="539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Intel Pen IV</a:t>
            </a:r>
          </a:p>
        </p:txBody>
      </p:sp>
      <p:pic>
        <p:nvPicPr>
          <p:cNvPr id="232453" name="Picture 5" descr="pentium4-sche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349375"/>
            <a:ext cx="6980238" cy="527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AMD Athlon XP</a:t>
            </a:r>
          </a:p>
        </p:txBody>
      </p:sp>
      <p:pic>
        <p:nvPicPr>
          <p:cNvPr id="233476" name="Picture 4" descr="athlon-di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" y="1339850"/>
            <a:ext cx="7793038" cy="534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Intel Core 2 Duo</a:t>
            </a:r>
          </a:p>
        </p:txBody>
      </p:sp>
      <p:pic>
        <p:nvPicPr>
          <p:cNvPr id="235524" name="Picture 4" descr="intel-core2duo-diagram-440x37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239838"/>
            <a:ext cx="5978525" cy="5408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0"/>
            <a:ext cx="8756650" cy="914400"/>
          </a:xfrm>
        </p:spPr>
        <p:txBody>
          <a:bodyPr/>
          <a:lstStyle/>
          <a:p>
            <a:r>
              <a:rPr lang="en-AU" dirty="0"/>
              <a:t>Nehalem used in Intel Core i5/i7 (2008)</a:t>
            </a:r>
          </a:p>
        </p:txBody>
      </p:sp>
      <p:pic>
        <p:nvPicPr>
          <p:cNvPr id="1026" name="Picture 2" descr="http://s3.amazonaws.com/memebox/uploads/3130/Nahela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828800"/>
            <a:ext cx="6858000" cy="4766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02681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0"/>
            <a:ext cx="8756650" cy="914400"/>
          </a:xfrm>
        </p:spPr>
        <p:txBody>
          <a:bodyPr/>
          <a:lstStyle/>
          <a:p>
            <a:r>
              <a:rPr lang="en-AU" dirty="0"/>
              <a:t>Sandy Bridge used in Intel Core i5/i7 (2010)</a:t>
            </a:r>
          </a:p>
        </p:txBody>
      </p:sp>
      <p:pic>
        <p:nvPicPr>
          <p:cNvPr id="2050" name="Picture 2" descr="http://zapp5.staticworld.net/news/graphics/215190-sandy-bridge-die-map_606_origina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65300"/>
            <a:ext cx="874452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90613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z="2400" dirty="0"/>
              <a:t>Introduction to pipeline</a:t>
            </a:r>
          </a:p>
        </p:txBody>
      </p:sp>
      <p:pic>
        <p:nvPicPr>
          <p:cNvPr id="5123" name="Picture 4" descr="797px-Hyundai_car_assembly_l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304925"/>
            <a:ext cx="8405813" cy="488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dirty="0"/>
              <a:t>CPU pipeline</a:t>
            </a:r>
          </a:p>
        </p:txBody>
      </p:sp>
      <p:pic>
        <p:nvPicPr>
          <p:cNvPr id="6147" name="Picture 5" descr="800px-Fivestagespipel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549650"/>
            <a:ext cx="6577013" cy="190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7" descr="500px-Nopipelin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263" y="1600200"/>
            <a:ext cx="6740525" cy="125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Text Box 8"/>
          <p:cNvSpPr txBox="1">
            <a:spLocks noChangeArrowheads="1"/>
          </p:cNvSpPr>
          <p:nvPr/>
        </p:nvSpPr>
        <p:spPr bwMode="auto">
          <a:xfrm>
            <a:off x="3276600" y="2611438"/>
            <a:ext cx="20367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000" b="0" dirty="0">
                <a:solidFill>
                  <a:schemeClr val="tx2"/>
                </a:solidFill>
              </a:rPr>
              <a:t>No pipeline</a:t>
            </a:r>
          </a:p>
        </p:txBody>
      </p:sp>
      <p:sp>
        <p:nvSpPr>
          <p:cNvPr id="6150" name="Text Box 9"/>
          <p:cNvSpPr txBox="1">
            <a:spLocks noChangeArrowheads="1"/>
          </p:cNvSpPr>
          <p:nvPr/>
        </p:nvSpPr>
        <p:spPr bwMode="auto">
          <a:xfrm>
            <a:off x="3276600" y="5614988"/>
            <a:ext cx="20367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2000" b="0" dirty="0">
                <a:solidFill>
                  <a:schemeClr val="tx2"/>
                </a:solidFill>
              </a:rPr>
              <a:t>pipeline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dirty="0"/>
              <a:t>CPU pipeline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3700" y="1524000"/>
            <a:ext cx="8607425" cy="4572000"/>
          </a:xfrm>
          <a:noFill/>
        </p:spPr>
        <p:txBody>
          <a:bodyPr/>
          <a:lstStyle/>
          <a:p>
            <a:pPr eaLnBrk="1" hangingPunct="1"/>
            <a:r>
              <a:rPr lang="en-US" dirty="0"/>
              <a:t>An instruction is executed within 5 steps</a:t>
            </a:r>
          </a:p>
          <a:p>
            <a:pPr eaLnBrk="1" hangingPunct="1"/>
            <a:r>
              <a:rPr lang="en-US" dirty="0"/>
              <a:t>5 steps:</a:t>
            </a:r>
          </a:p>
          <a:p>
            <a:pPr lvl="1" eaLnBrk="1" hangingPunct="1"/>
            <a:r>
              <a:rPr lang="en-US" sz="2000" dirty="0"/>
              <a:t>Instruction Fetch - IF</a:t>
            </a:r>
          </a:p>
          <a:p>
            <a:pPr lvl="1" eaLnBrk="1" hangingPunct="1"/>
            <a:r>
              <a:rPr lang="en-US" sz="2000" dirty="0"/>
              <a:t>Instruction Decode - ID</a:t>
            </a:r>
          </a:p>
          <a:p>
            <a:pPr lvl="1" eaLnBrk="1" hangingPunct="1"/>
            <a:r>
              <a:rPr lang="en-US" sz="2000" dirty="0"/>
              <a:t>Execute - EX</a:t>
            </a:r>
          </a:p>
          <a:p>
            <a:pPr lvl="1" eaLnBrk="1" hangingPunct="1"/>
            <a:r>
              <a:rPr lang="en-US" sz="2000" dirty="0"/>
              <a:t>Memory Access - MEM:</a:t>
            </a:r>
          </a:p>
          <a:p>
            <a:pPr lvl="1" eaLnBrk="1" hangingPunct="1"/>
            <a:r>
              <a:rPr lang="en-US" sz="2000" dirty="0"/>
              <a:t>Write Back - WB: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dirty="0"/>
              <a:t>CPU pipeline’s hardware</a:t>
            </a:r>
          </a:p>
        </p:txBody>
      </p:sp>
      <p:pic>
        <p:nvPicPr>
          <p:cNvPr id="8195" name="Picture 6" descr="500px-Pipeline-ba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4413" y="1293813"/>
            <a:ext cx="4373562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7" descr="500px-Pipeline_MIP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514600"/>
            <a:ext cx="5975350" cy="375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dirty="0"/>
              <a:t>P</a:t>
            </a:r>
            <a:r>
              <a:rPr lang="en-US" dirty="0" err="1"/>
              <a:t>ipeline</a:t>
            </a:r>
            <a:r>
              <a:rPr lang="en-US" dirty="0"/>
              <a:t> hazards</a:t>
            </a:r>
            <a:endParaRPr lang="en-AU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756650" cy="4602163"/>
          </a:xfrm>
        </p:spPr>
        <p:txBody>
          <a:bodyPr/>
          <a:lstStyle/>
          <a:p>
            <a:pPr eaLnBrk="1" hangingPunct="1"/>
            <a:r>
              <a:rPr lang="en-US" dirty="0"/>
              <a:t>Resource conflicts</a:t>
            </a:r>
          </a:p>
          <a:p>
            <a:pPr lvl="1" eaLnBrk="1" hangingPunct="1"/>
            <a:r>
              <a:rPr lang="en-US" dirty="0"/>
              <a:t>Memory access</a:t>
            </a:r>
          </a:p>
          <a:p>
            <a:pPr lvl="1" eaLnBrk="1" hangingPunct="1"/>
            <a:r>
              <a:rPr lang="en-US" dirty="0"/>
              <a:t>Register access</a:t>
            </a:r>
          </a:p>
          <a:p>
            <a:pPr eaLnBrk="1" hangingPunct="1"/>
            <a:r>
              <a:rPr lang="en-US" dirty="0"/>
              <a:t>Data hazards </a:t>
            </a:r>
          </a:p>
          <a:p>
            <a:pPr eaLnBrk="1" hangingPunct="1"/>
            <a:r>
              <a:rPr lang="en-US" dirty="0"/>
              <a:t>Branch instructions</a:t>
            </a:r>
          </a:p>
          <a:p>
            <a:pPr lvl="1" eaLnBrk="1" hangingPunct="1"/>
            <a:r>
              <a:rPr lang="en-AU" dirty="0"/>
              <a:t>Unconditional jumps</a:t>
            </a:r>
          </a:p>
          <a:p>
            <a:pPr lvl="1" eaLnBrk="1" hangingPunct="1"/>
            <a:r>
              <a:rPr lang="en-AU" dirty="0"/>
              <a:t>Conditional jumps</a:t>
            </a:r>
          </a:p>
          <a:p>
            <a:pPr lvl="1" eaLnBrk="1" hangingPunct="1"/>
            <a:r>
              <a:rPr lang="en-AU" dirty="0"/>
              <a:t>Call and return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Data hazards and solutions</a:t>
            </a:r>
            <a:endParaRPr lang="en-AU" dirty="0"/>
          </a:p>
        </p:txBody>
      </p:sp>
      <p:pic>
        <p:nvPicPr>
          <p:cNvPr id="20484" name="Picture 7" descr="RAW-hardward-oth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700213"/>
            <a:ext cx="8569325" cy="268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36DF0A-1749-4859-99C3-F9CC81E3C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dirty="0"/>
              <a:t>Pipeline example – P6 (PIII, M)</a:t>
            </a:r>
          </a:p>
        </p:txBody>
      </p:sp>
      <p:pic>
        <p:nvPicPr>
          <p:cNvPr id="10243" name="Picture 5" descr="imagevie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1628775"/>
            <a:ext cx="3646488" cy="446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Resource hazards</a:t>
            </a:r>
            <a:endParaRPr lang="en-AU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756650" cy="2286000"/>
          </a:xfrm>
        </p:spPr>
        <p:txBody>
          <a:bodyPr/>
          <a:lstStyle/>
          <a:p>
            <a:pPr eaLnBrk="1" hangingPunct="1"/>
            <a:r>
              <a:rPr lang="en-AU" dirty="0"/>
              <a:t>insufficient computing resource;</a:t>
            </a:r>
          </a:p>
          <a:p>
            <a:pPr eaLnBrk="1" hangingPunct="1"/>
            <a:r>
              <a:rPr lang="en-AU" dirty="0"/>
              <a:t>If memory allows one access at one time, but there are two or more accesses, pipeline requests two memory accesses (i.e. IF and ID) </a:t>
            </a:r>
            <a:r>
              <a:rPr lang="en-AU" dirty="0">
                <a:sym typeface="Wingdings" pitchFamily="2" charset="2"/>
              </a:rPr>
              <a:t> memory hazard.</a:t>
            </a:r>
          </a:p>
        </p:txBody>
      </p:sp>
      <p:pic>
        <p:nvPicPr>
          <p:cNvPr id="14340" name="Picture 4" descr="800px-Fivestagespipel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4114800"/>
            <a:ext cx="6337300" cy="183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Branch hazards</a:t>
            </a:r>
            <a:endParaRPr lang="en-AU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Branch dominates about 10-30% of instructions. Branch can cause the following issues: </a:t>
            </a:r>
          </a:p>
          <a:p>
            <a:pPr lvl="1" eaLnBrk="1" hangingPunct="1"/>
            <a:r>
              <a:rPr lang="en-US" dirty="0"/>
              <a:t>Interruption of program execution;</a:t>
            </a:r>
          </a:p>
          <a:p>
            <a:pPr lvl="1" eaLnBrk="1" hangingPunct="1"/>
            <a:r>
              <a:rPr lang="en-US" dirty="0"/>
              <a:t>Make the pipeline be emptied.</a:t>
            </a:r>
          </a:p>
          <a:p>
            <a:pPr eaLnBrk="1" hangingPunct="1"/>
            <a:r>
              <a:rPr lang="en-US" dirty="0"/>
              <a:t>The more pipeline stages, the more complicated is (i.e. more paralleled instruction executions) :</a:t>
            </a:r>
          </a:p>
          <a:p>
            <a:pPr lvl="1" eaLnBrk="1" hangingPunct="1"/>
            <a:r>
              <a:rPr lang="en-US" dirty="0"/>
              <a:t>The pipeline bubbles need to be filled out;</a:t>
            </a:r>
          </a:p>
          <a:p>
            <a:pPr lvl="1" eaLnBrk="1" hangingPunct="1"/>
            <a:r>
              <a:rPr lang="en-US" dirty="0"/>
              <a:t>Branch prediction.</a:t>
            </a:r>
            <a:endParaRPr lang="en-AU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Branch hazard example</a:t>
            </a:r>
            <a:endParaRPr lang="en-AU" dirty="0"/>
          </a:p>
        </p:txBody>
      </p:sp>
      <p:sp>
        <p:nvSpPr>
          <p:cNvPr id="2253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27088" y="5556250"/>
            <a:ext cx="7632700" cy="647700"/>
          </a:xfrm>
          <a:noFill/>
        </p:spPr>
        <p:txBody>
          <a:bodyPr/>
          <a:lstStyle/>
          <a:p>
            <a:pPr algn="ctr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000" dirty="0"/>
          </a:p>
        </p:txBody>
      </p:sp>
      <p:pic>
        <p:nvPicPr>
          <p:cNvPr id="22532" name="Picture 6" descr="branch-empt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341438"/>
            <a:ext cx="7993062" cy="398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Branch hazard example</a:t>
            </a:r>
            <a:endParaRPr lang="en-AU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Code example:</a:t>
            </a:r>
          </a:p>
          <a:p>
            <a:pPr lvl="2" eaLnBrk="1" hangingPunct="1">
              <a:buFontTx/>
              <a:buNone/>
            </a:pPr>
            <a:r>
              <a:rPr lang="pt-BR" sz="1800" dirty="0"/>
              <a:t>ADD R2, R3, R4</a:t>
            </a:r>
          </a:p>
          <a:p>
            <a:pPr lvl="2" eaLnBrk="1" hangingPunct="1">
              <a:buFontTx/>
              <a:buNone/>
            </a:pPr>
            <a:r>
              <a:rPr lang="pt-BR" sz="1800" dirty="0"/>
              <a:t>CMP R1,0</a:t>
            </a:r>
          </a:p>
          <a:p>
            <a:pPr lvl="2" eaLnBrk="1" hangingPunct="1">
              <a:buFontTx/>
              <a:buNone/>
            </a:pPr>
            <a:r>
              <a:rPr lang="pt-BR" sz="1800" dirty="0"/>
              <a:t>JNE somewhere</a:t>
            </a:r>
            <a:endParaRPr lang="en-US" sz="1800" dirty="0"/>
          </a:p>
          <a:p>
            <a:pPr eaLnBrk="1" hangingPunct="1"/>
            <a:r>
              <a:rPr lang="en-US" dirty="0"/>
              <a:t>Insert NO-OP right below the branch</a:t>
            </a:r>
          </a:p>
          <a:p>
            <a:pPr lvl="2" eaLnBrk="1" hangingPunct="1">
              <a:buFontTx/>
              <a:buNone/>
            </a:pPr>
            <a:r>
              <a:rPr lang="pt-BR" sz="1800" dirty="0"/>
              <a:t>ADD R2, R3, R4</a:t>
            </a:r>
          </a:p>
          <a:p>
            <a:pPr lvl="2" eaLnBrk="1" hangingPunct="1">
              <a:buFontTx/>
              <a:buNone/>
            </a:pPr>
            <a:r>
              <a:rPr lang="pt-BR" sz="1800" dirty="0"/>
              <a:t>CMP R1,0</a:t>
            </a:r>
          </a:p>
          <a:p>
            <a:pPr lvl="2" eaLnBrk="1" hangingPunct="1">
              <a:buFontTx/>
              <a:buNone/>
            </a:pPr>
            <a:r>
              <a:rPr lang="pt-BR" sz="1800" dirty="0"/>
              <a:t>JNE somewhere</a:t>
            </a:r>
          </a:p>
          <a:p>
            <a:pPr lvl="2" eaLnBrk="1" hangingPunct="1">
              <a:buFontTx/>
              <a:buNone/>
            </a:pPr>
            <a:r>
              <a:rPr lang="pt-BR" sz="1800" dirty="0"/>
              <a:t>NO-OP</a:t>
            </a:r>
            <a:endParaRPr lang="en-US" sz="1800" dirty="0"/>
          </a:p>
          <a:p>
            <a:pPr eaLnBrk="1" hangingPunct="1"/>
            <a:r>
              <a:rPr lang="en-US" dirty="0"/>
              <a:t>Move the independent instructions to right before the branch:</a:t>
            </a:r>
            <a:endParaRPr lang="pt-BR" dirty="0"/>
          </a:p>
          <a:p>
            <a:pPr lvl="2" eaLnBrk="1" hangingPunct="1">
              <a:buFontTx/>
              <a:buNone/>
            </a:pPr>
            <a:r>
              <a:rPr lang="pt-BR" sz="1800" dirty="0"/>
              <a:t>CMP R1,0</a:t>
            </a:r>
          </a:p>
          <a:p>
            <a:pPr lvl="2" eaLnBrk="1" hangingPunct="1">
              <a:buFontTx/>
              <a:buNone/>
            </a:pPr>
            <a:r>
              <a:rPr lang="pt-BR" sz="1800" dirty="0"/>
              <a:t>JNE somewhere</a:t>
            </a:r>
          </a:p>
          <a:p>
            <a:pPr lvl="2" eaLnBrk="1" hangingPunct="1">
              <a:buFontTx/>
              <a:buNone/>
            </a:pPr>
            <a:r>
              <a:rPr lang="pt-BR" sz="1800" dirty="0"/>
              <a:t>ADD R2, R3, R4</a:t>
            </a:r>
            <a:endParaRPr lang="en-AU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13TGp_natural_light_v2">
  <a:themeElements>
    <a:clrScheme name="213TGp_natural_light_v2 2">
      <a:dk1>
        <a:srgbClr val="000000"/>
      </a:dk1>
      <a:lt1>
        <a:srgbClr val="FFFFFF"/>
      </a:lt1>
      <a:dk2>
        <a:srgbClr val="003399"/>
      </a:dk2>
      <a:lt2>
        <a:srgbClr val="C0C0C0"/>
      </a:lt2>
      <a:accent1>
        <a:srgbClr val="5E9CDA"/>
      </a:accent1>
      <a:accent2>
        <a:srgbClr val="93C052"/>
      </a:accent2>
      <a:accent3>
        <a:srgbClr val="FFFFFF"/>
      </a:accent3>
      <a:accent4>
        <a:srgbClr val="000000"/>
      </a:accent4>
      <a:accent5>
        <a:srgbClr val="B6CBEA"/>
      </a:accent5>
      <a:accent6>
        <a:srgbClr val="85AE49"/>
      </a:accent6>
      <a:hlink>
        <a:srgbClr val="FF9933"/>
      </a:hlink>
      <a:folHlink>
        <a:srgbClr val="855ADA"/>
      </a:folHlink>
    </a:clrScheme>
    <a:fontScheme name="213TGp_natural_light_v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213TGp_natural_light_v2 1">
        <a:dk1>
          <a:srgbClr val="000000"/>
        </a:dk1>
        <a:lt1>
          <a:srgbClr val="FFFFFF"/>
        </a:lt1>
        <a:dk2>
          <a:srgbClr val="142288"/>
        </a:dk2>
        <a:lt2>
          <a:srgbClr val="C0C0C0"/>
        </a:lt2>
        <a:accent1>
          <a:srgbClr val="39998E"/>
        </a:accent1>
        <a:accent2>
          <a:srgbClr val="14CAEE"/>
        </a:accent2>
        <a:accent3>
          <a:srgbClr val="FFFFFF"/>
        </a:accent3>
        <a:accent4>
          <a:srgbClr val="000000"/>
        </a:accent4>
        <a:accent5>
          <a:srgbClr val="AECAC6"/>
        </a:accent5>
        <a:accent6>
          <a:srgbClr val="11B7D8"/>
        </a:accent6>
        <a:hlink>
          <a:srgbClr val="8963E9"/>
        </a:hlink>
        <a:folHlink>
          <a:srgbClr val="3067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3TGp_natural_light_v2 2">
        <a:dk1>
          <a:srgbClr val="000000"/>
        </a:dk1>
        <a:lt1>
          <a:srgbClr val="FFFFFF"/>
        </a:lt1>
        <a:dk2>
          <a:srgbClr val="003399"/>
        </a:dk2>
        <a:lt2>
          <a:srgbClr val="C0C0C0"/>
        </a:lt2>
        <a:accent1>
          <a:srgbClr val="5E9CDA"/>
        </a:accent1>
        <a:accent2>
          <a:srgbClr val="93C052"/>
        </a:accent2>
        <a:accent3>
          <a:srgbClr val="FFFFFF"/>
        </a:accent3>
        <a:accent4>
          <a:srgbClr val="000000"/>
        </a:accent4>
        <a:accent5>
          <a:srgbClr val="B6CBEA"/>
        </a:accent5>
        <a:accent6>
          <a:srgbClr val="85AE49"/>
        </a:accent6>
        <a:hlink>
          <a:srgbClr val="FF9933"/>
        </a:hlink>
        <a:folHlink>
          <a:srgbClr val="855AD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3TGp_natural_light_v2 3">
        <a:dk1>
          <a:srgbClr val="000000"/>
        </a:dk1>
        <a:lt1>
          <a:srgbClr val="FFFFFF"/>
        </a:lt1>
        <a:dk2>
          <a:srgbClr val="124458"/>
        </a:dk2>
        <a:lt2>
          <a:srgbClr val="C0C0C0"/>
        </a:lt2>
        <a:accent1>
          <a:srgbClr val="98C13D"/>
        </a:accent1>
        <a:accent2>
          <a:srgbClr val="40BAD2"/>
        </a:accent2>
        <a:accent3>
          <a:srgbClr val="FFFFFF"/>
        </a:accent3>
        <a:accent4>
          <a:srgbClr val="000000"/>
        </a:accent4>
        <a:accent5>
          <a:srgbClr val="CADDAF"/>
        </a:accent5>
        <a:accent6>
          <a:srgbClr val="39A8BE"/>
        </a:accent6>
        <a:hlink>
          <a:srgbClr val="715EE6"/>
        </a:hlink>
        <a:folHlink>
          <a:srgbClr val="238DD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213TGp_natural_light_v2">
  <a:themeElements>
    <a:clrScheme name="213TGp_natural_light_v2 2">
      <a:dk1>
        <a:srgbClr val="000000"/>
      </a:dk1>
      <a:lt1>
        <a:srgbClr val="FFFFFF"/>
      </a:lt1>
      <a:dk2>
        <a:srgbClr val="003399"/>
      </a:dk2>
      <a:lt2>
        <a:srgbClr val="C0C0C0"/>
      </a:lt2>
      <a:accent1>
        <a:srgbClr val="5E9CDA"/>
      </a:accent1>
      <a:accent2>
        <a:srgbClr val="93C052"/>
      </a:accent2>
      <a:accent3>
        <a:srgbClr val="FFFFFF"/>
      </a:accent3>
      <a:accent4>
        <a:srgbClr val="000000"/>
      </a:accent4>
      <a:accent5>
        <a:srgbClr val="B6CBEA"/>
      </a:accent5>
      <a:accent6>
        <a:srgbClr val="85AE49"/>
      </a:accent6>
      <a:hlink>
        <a:srgbClr val="FF9933"/>
      </a:hlink>
      <a:folHlink>
        <a:srgbClr val="855ADA"/>
      </a:folHlink>
    </a:clrScheme>
    <a:fontScheme name="213TGp_natural_light_v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213TGp_natural_light_v2 1">
        <a:dk1>
          <a:srgbClr val="000000"/>
        </a:dk1>
        <a:lt1>
          <a:srgbClr val="FFFFFF"/>
        </a:lt1>
        <a:dk2>
          <a:srgbClr val="142288"/>
        </a:dk2>
        <a:lt2>
          <a:srgbClr val="C0C0C0"/>
        </a:lt2>
        <a:accent1>
          <a:srgbClr val="39998E"/>
        </a:accent1>
        <a:accent2>
          <a:srgbClr val="14CAEE"/>
        </a:accent2>
        <a:accent3>
          <a:srgbClr val="FFFFFF"/>
        </a:accent3>
        <a:accent4>
          <a:srgbClr val="000000"/>
        </a:accent4>
        <a:accent5>
          <a:srgbClr val="AECAC6"/>
        </a:accent5>
        <a:accent6>
          <a:srgbClr val="11B7D8"/>
        </a:accent6>
        <a:hlink>
          <a:srgbClr val="8963E9"/>
        </a:hlink>
        <a:folHlink>
          <a:srgbClr val="3067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3TGp_natural_light_v2 2">
        <a:dk1>
          <a:srgbClr val="000000"/>
        </a:dk1>
        <a:lt1>
          <a:srgbClr val="FFFFFF"/>
        </a:lt1>
        <a:dk2>
          <a:srgbClr val="003399"/>
        </a:dk2>
        <a:lt2>
          <a:srgbClr val="C0C0C0"/>
        </a:lt2>
        <a:accent1>
          <a:srgbClr val="5E9CDA"/>
        </a:accent1>
        <a:accent2>
          <a:srgbClr val="93C052"/>
        </a:accent2>
        <a:accent3>
          <a:srgbClr val="FFFFFF"/>
        </a:accent3>
        <a:accent4>
          <a:srgbClr val="000000"/>
        </a:accent4>
        <a:accent5>
          <a:srgbClr val="B6CBEA"/>
        </a:accent5>
        <a:accent6>
          <a:srgbClr val="85AE49"/>
        </a:accent6>
        <a:hlink>
          <a:srgbClr val="FF9933"/>
        </a:hlink>
        <a:folHlink>
          <a:srgbClr val="855AD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3TGp_natural_light_v2 3">
        <a:dk1>
          <a:srgbClr val="000000"/>
        </a:dk1>
        <a:lt1>
          <a:srgbClr val="FFFFFF"/>
        </a:lt1>
        <a:dk2>
          <a:srgbClr val="124458"/>
        </a:dk2>
        <a:lt2>
          <a:srgbClr val="C0C0C0"/>
        </a:lt2>
        <a:accent1>
          <a:srgbClr val="98C13D"/>
        </a:accent1>
        <a:accent2>
          <a:srgbClr val="40BAD2"/>
        </a:accent2>
        <a:accent3>
          <a:srgbClr val="FFFFFF"/>
        </a:accent3>
        <a:accent4>
          <a:srgbClr val="000000"/>
        </a:accent4>
        <a:accent5>
          <a:srgbClr val="CADDAF"/>
        </a:accent5>
        <a:accent6>
          <a:srgbClr val="39A8BE"/>
        </a:accent6>
        <a:hlink>
          <a:srgbClr val="715EE6"/>
        </a:hlink>
        <a:folHlink>
          <a:srgbClr val="238DD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213TGp_natural_light_v2</Template>
  <TotalTime>3608</TotalTime>
  <Words>1380</Words>
  <Application>Microsoft Macintosh PowerPoint</Application>
  <PresentationFormat>On-screen Show (4:3)</PresentationFormat>
  <Paragraphs>230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Verdana</vt:lpstr>
      <vt:lpstr>Wingdings</vt:lpstr>
      <vt:lpstr>213TGp_natural_light_v2</vt:lpstr>
      <vt:lpstr>1_213TGp_natural_light_v2</vt:lpstr>
      <vt:lpstr>PowerPoint Presentation</vt:lpstr>
      <vt:lpstr>CHAPTER 2: CENTRAL PROCESSING UNIT</vt:lpstr>
      <vt:lpstr>CPU DIAGRAM</vt:lpstr>
      <vt:lpstr>INSTRUCTION EXECUTION</vt:lpstr>
      <vt:lpstr>INSTRUCTION EXECUTION</vt:lpstr>
      <vt:lpstr>CPU registers</vt:lpstr>
      <vt:lpstr>Accumulator (A)</vt:lpstr>
      <vt:lpstr>Program Counter</vt:lpstr>
      <vt:lpstr>Flag Register (FR)</vt:lpstr>
      <vt:lpstr>Flag Register</vt:lpstr>
      <vt:lpstr>8086’s FR</vt:lpstr>
      <vt:lpstr>Stack Pointer (SP)</vt:lpstr>
      <vt:lpstr>General Purpose Registers</vt:lpstr>
      <vt:lpstr>Instruction Register</vt:lpstr>
      <vt:lpstr>MAR and MBR</vt:lpstr>
      <vt:lpstr>Temporary Registers</vt:lpstr>
      <vt:lpstr>Control Unit</vt:lpstr>
      <vt:lpstr>Control Unit</vt:lpstr>
      <vt:lpstr>Arithmetic Logic Unit (ALU)</vt:lpstr>
      <vt:lpstr>ALU</vt:lpstr>
      <vt:lpstr>Internal Bus</vt:lpstr>
      <vt:lpstr>Intel 8086</vt:lpstr>
      <vt:lpstr>AMD K62</vt:lpstr>
      <vt:lpstr>AMD K62</vt:lpstr>
      <vt:lpstr>Intel Pen III</vt:lpstr>
      <vt:lpstr>Intel Pen IV</vt:lpstr>
      <vt:lpstr>AMD Athlon XP</vt:lpstr>
      <vt:lpstr>Intel Core 2 Duo</vt:lpstr>
      <vt:lpstr>Nehalem used in Intel Core i5/i7 (2008)</vt:lpstr>
      <vt:lpstr>Sandy Bridge used in Intel Core i5/i7 (2010)</vt:lpstr>
      <vt:lpstr>Introduction to pipeline</vt:lpstr>
      <vt:lpstr>CPU pipeline</vt:lpstr>
      <vt:lpstr>CPU pipeline</vt:lpstr>
      <vt:lpstr>CPU pipeline’s hardware</vt:lpstr>
      <vt:lpstr>Pipeline hazards</vt:lpstr>
      <vt:lpstr>Data hazards and solutions</vt:lpstr>
      <vt:lpstr>Pipeline example – P6 (PIII, M)</vt:lpstr>
      <vt:lpstr>Resource hazards</vt:lpstr>
      <vt:lpstr>Branch hazards</vt:lpstr>
      <vt:lpstr>Branch hazard example</vt:lpstr>
      <vt:lpstr>Branch hazard example</vt:lpstr>
    </vt:vector>
  </TitlesOfParts>
  <Company>PTIT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Dau Hoang</dc:creator>
  <cp:lastModifiedBy>Truong. Dinh Xuan - CMC Corp CIST</cp:lastModifiedBy>
  <cp:revision>185</cp:revision>
  <dcterms:created xsi:type="dcterms:W3CDTF">2008-09-11T07:24:50Z</dcterms:created>
  <dcterms:modified xsi:type="dcterms:W3CDTF">2022-12-25T18:17:06Z</dcterms:modified>
</cp:coreProperties>
</file>