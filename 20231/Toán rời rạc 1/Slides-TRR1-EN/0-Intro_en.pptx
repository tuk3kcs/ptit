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7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2" r:id="rId3"/>
    <p:sldId id="257" r:id="rId4"/>
    <p:sldId id="263" r:id="rId5"/>
    <p:sldId id="264" r:id="rId6"/>
    <p:sldId id="265" r:id="rId7"/>
    <p:sldId id="266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6F4E3-F401-4DC3-88B8-6423B362AAD2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Ngô Xuân Bách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3EF8E-F52D-4609-913F-23254647D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01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2C9E9-F47F-43FB-BD67-61E05AD56ABC}" type="datetimeFigureOut">
              <a:rPr lang="en-US" smtClean="0"/>
              <a:t>11/7/2022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Ngô Xuân Bách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3A30B-9554-4543-B09D-457694D42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619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1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499"/>
            <a:ext cx="160020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50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" name="Picture 1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50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http://www.ptit.edu.vn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Picture 15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350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Courier New" pitchFamily="49" charset="0"/>
        <a:buChar char="o"/>
        <a:defRPr kumimoji="0" sz="2000" kern="1200">
          <a:solidFill>
            <a:schemeClr val="tx2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" pitchFamily="2" charset="2"/>
        <a:buChar char="§"/>
        <a:defRPr kumimoji="0" sz="18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bachnx@ptit.edu.vn" TargetMode="External"/><Relationship Id="rId2" Type="http://schemas.openxmlformats.org/officeDocument/2006/relationships/hyperlink" Target="https://sites.google.com/site/nxbachcs/ho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goxuanbachkcn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962400"/>
            <a:ext cx="6858000" cy="762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ctr"/>
            <a:r>
              <a:rPr lang="en-US" sz="1800" dirty="0"/>
              <a:t>Ngo Xuan Bach</a:t>
            </a:r>
          </a:p>
          <a:p>
            <a:pPr algn="ctr"/>
            <a:r>
              <a:rPr lang="en-US" sz="1800" dirty="0"/>
              <a:t>Dao </a:t>
            </a:r>
            <a:r>
              <a:rPr lang="en-US" sz="1800" dirty="0" err="1"/>
              <a:t>Thi</a:t>
            </a:r>
            <a:r>
              <a:rPr lang="en-US" sz="1800" dirty="0"/>
              <a:t> Thuy Quynh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04800"/>
            <a:ext cx="6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Posts and Telecommunication Institute of Technology</a:t>
            </a:r>
          </a:p>
          <a:p>
            <a:pPr algn="ctr"/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Faculty of Information Technology 1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71600" y="1981200"/>
            <a:ext cx="6858000" cy="609600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Mathematic discrete1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2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chemeClr val="tx1"/>
                </a:solidFill>
              </a:rPr>
              <a:t>What is discrete mathematics?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fundamental field of study that plays an important role in many other areas of IT</a:t>
            </a:r>
          </a:p>
          <a:p>
            <a:pPr lvl="1"/>
            <a:r>
              <a:rPr lang="en-US" dirty="0"/>
              <a:t>Artificial Intelligence</a:t>
            </a:r>
          </a:p>
          <a:p>
            <a:pPr lvl="1"/>
            <a:r>
              <a:rPr lang="en-US" dirty="0"/>
              <a:t>Algorithms</a:t>
            </a:r>
          </a:p>
          <a:p>
            <a:pPr lvl="1"/>
            <a:r>
              <a:rPr lang="en-US" dirty="0"/>
              <a:t>Optimization theory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r>
              <a:rPr lang="en-US" dirty="0"/>
              <a:t>A basic subject in IT, the foundation of many other subjects</a:t>
            </a:r>
          </a:p>
          <a:p>
            <a:pPr lvl="1"/>
            <a:r>
              <a:rPr lang="en-US" dirty="0"/>
              <a:t>Programming subjects (C++, Python,…)</a:t>
            </a:r>
          </a:p>
          <a:p>
            <a:pPr lvl="1"/>
            <a:r>
              <a:rPr lang="en-US" dirty="0"/>
              <a:t>Data Structures and Algorithms</a:t>
            </a:r>
          </a:p>
          <a:p>
            <a:pPr lvl="1"/>
            <a:r>
              <a:rPr lang="en-US" dirty="0"/>
              <a:t>Introduction to Artificial Intelligence</a:t>
            </a:r>
          </a:p>
          <a:p>
            <a:pPr lvl="1"/>
            <a:r>
              <a:rPr lang="en-US" dirty="0"/>
              <a:t>Database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80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Chapter 1: </a:t>
            </a:r>
            <a:r>
              <a:rPr lang="en-US" altLang="en-US" sz="2400" dirty="0"/>
              <a:t>The foundations: Logic and Set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altLang="en-US" dirty="0"/>
              <a:t>Sets</a:t>
            </a:r>
          </a:p>
          <a:p>
            <a:pPr lvl="1"/>
            <a:r>
              <a:rPr lang="en-US" altLang="en-US" sz="2000" dirty="0"/>
              <a:t>Propositional Logic </a:t>
            </a:r>
          </a:p>
          <a:p>
            <a:pPr lvl="1"/>
            <a:r>
              <a:rPr lang="en-US" altLang="en-US" sz="2000" dirty="0"/>
              <a:t>Predicates </a:t>
            </a:r>
            <a:r>
              <a:rPr lang="en-US" dirty="0"/>
              <a:t>Logic</a:t>
            </a:r>
          </a:p>
          <a:p>
            <a:pPr lvl="1"/>
            <a:r>
              <a:rPr lang="en-US" altLang="en-US" dirty="0"/>
              <a:t>Complexity of Algorithms</a:t>
            </a:r>
          </a:p>
          <a:p>
            <a:pPr lvl="1"/>
            <a:r>
              <a:rPr lang="en-US" dirty="0"/>
              <a:t>Exercise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 (2/5)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problem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lvl="1"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</a:rPr>
              <a:t>Basic Counting Principle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Return to the subproblem</a:t>
            </a:r>
          </a:p>
          <a:p>
            <a:pPr lvl="1"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</a:rPr>
              <a:t>Recurrence Relations 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Generating function method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Exercise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3: Listing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Introduction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Generation method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Back-tracking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</a:rPr>
              <a:t>Exercise</a:t>
            </a:r>
            <a:endParaRPr lang="en-US" sz="2000" dirty="0">
              <a:solidFill>
                <a:schemeClr val="tx1"/>
              </a:solidFill>
            </a:endParaRPr>
          </a:p>
          <a:p>
            <a:pPr lvl="1">
              <a:spcBef>
                <a:spcPct val="50000"/>
              </a:spcBef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88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 (4/5)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4: Optimization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dirty="0"/>
              <a:t>Introduction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Brute-force method 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Branch-and-bound algorithm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Exercise</a:t>
            </a:r>
          </a:p>
          <a:p>
            <a:pPr lvl="1">
              <a:spcBef>
                <a:spcPct val="50000"/>
              </a:spcBef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 (5/5)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Chapter 5: Existing problem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Introduction</a:t>
            </a:r>
          </a:p>
          <a:p>
            <a:pPr lvl="1">
              <a:spcBef>
                <a:spcPct val="50000"/>
              </a:spcBef>
            </a:pPr>
            <a:r>
              <a:rPr lang="en-US" b="0" i="0" dirty="0">
                <a:solidFill>
                  <a:srgbClr val="202124"/>
                </a:solidFill>
                <a:effectLst/>
              </a:rPr>
              <a:t>Reductio ad absurdum </a:t>
            </a:r>
            <a:r>
              <a:rPr lang="en-US" dirty="0"/>
              <a:t>method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Dirichlet’s principle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Exercise</a:t>
            </a:r>
            <a:endParaRPr lang="en-US" sz="2000" dirty="0">
              <a:solidFill>
                <a:schemeClr val="tx1"/>
              </a:solidFill>
            </a:endParaRPr>
          </a:p>
          <a:p>
            <a:pPr lvl="1">
              <a:spcBef>
                <a:spcPct val="50000"/>
              </a:spcBef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9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Course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Lecturer 1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PGS.TS.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Ngô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Xuân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Bách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Phó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trưởng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khoa CNTT1</a:t>
            </a:r>
          </a:p>
          <a:p>
            <a:pPr lvl="1"/>
            <a:r>
              <a:rPr lang="en-US" dirty="0"/>
              <a:t>Website: </a:t>
            </a:r>
            <a:r>
              <a:rPr lang="en-US" dirty="0">
                <a:hlinkClick r:id="rId2"/>
              </a:rPr>
              <a:t>https://sites.google.com/site/nxbachcs/home</a:t>
            </a:r>
            <a:endParaRPr lang="en-US" dirty="0"/>
          </a:p>
          <a:p>
            <a:pPr lvl="1">
              <a:buFont typeface="Courier New" pitchFamily="49" charset="0"/>
              <a:buChar char="o"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Email: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  <a:hlinkClick r:id="rId3"/>
              </a:rPr>
              <a:t>bachnx@ptit.edu.vn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  <a:hlinkClick r:id="rId4"/>
              </a:rPr>
              <a:t>ngoxuanbachkcn@gmail.com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dirty="0"/>
              <a:t>Lecturer 1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TS.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Đào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Thị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Thúy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Quỳnh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Bộ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môn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KHMT, khoa CNTT1</a:t>
            </a:r>
          </a:p>
          <a:p>
            <a:pPr lvl="1">
              <a:buFont typeface="Courier New" pitchFamily="49" charset="0"/>
              <a:buChar char="o"/>
            </a:pP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Email: 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  <a:hlinkClick r:id="rId3"/>
              </a:rPr>
              <a:t>quynhdtt@ptit.edu.vn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en-US" dirty="0"/>
          </a:p>
          <a:p>
            <a:r>
              <a:rPr lang="en-US" dirty="0"/>
              <a:t>References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.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r>
              <a:rPr lang="en-US" dirty="0"/>
              <a:t>.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Bưu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Viễn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Đức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,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.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r>
              <a:rPr lang="en-US" dirty="0"/>
              <a:t>.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 </a:t>
            </a:r>
            <a:r>
              <a:rPr lang="en-US" dirty="0" err="1"/>
              <a:t>dục</a:t>
            </a:r>
            <a:r>
              <a:rPr lang="en-US" dirty="0"/>
              <a:t>, 2005.</a:t>
            </a:r>
          </a:p>
          <a:p>
            <a:pPr lvl="1"/>
            <a:r>
              <a:rPr lang="en-US" dirty="0" err="1"/>
              <a:t>Đỗ</a:t>
            </a:r>
            <a:r>
              <a:rPr lang="en-US" dirty="0"/>
              <a:t> </a:t>
            </a:r>
            <a:r>
              <a:rPr lang="en-US" dirty="0" err="1"/>
              <a:t>Đức</a:t>
            </a:r>
            <a:r>
              <a:rPr lang="en-US" dirty="0"/>
              <a:t> </a:t>
            </a:r>
            <a:r>
              <a:rPr lang="en-US" dirty="0" err="1"/>
              <a:t>Giáo</a:t>
            </a:r>
            <a:r>
              <a:rPr lang="en-US" dirty="0"/>
              <a:t>.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r>
              <a:rPr lang="en-US" dirty="0"/>
              <a:t>.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ĐHQG </a:t>
            </a:r>
            <a:r>
              <a:rPr lang="en-US" dirty="0" err="1"/>
              <a:t>Hà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, 2003.</a:t>
            </a:r>
          </a:p>
          <a:p>
            <a:r>
              <a:rPr lang="en-US" sz="2800" dirty="0"/>
              <a:t>Assessment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Diligence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(10%)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Exercises (10%)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Mid-term test</a:t>
            </a:r>
            <a:r>
              <a:rPr lang="en-US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(10%)</a:t>
            </a:r>
          </a:p>
          <a:p>
            <a:pPr lvl="1">
              <a:buFont typeface="Courier New" pitchFamily="49" charset="0"/>
              <a:buChar char="o"/>
            </a:pPr>
            <a:r>
              <a:rPr lang="en-US" dirty="0"/>
              <a:t>Final exam (70%)</a:t>
            </a:r>
            <a:endParaRPr lang="en-US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http://www.ptit.edu.vn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267200" y="4876800"/>
            <a:ext cx="3733800" cy="1295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Missing any component points or missing more than 20% of the lessons will not be able to take exam!!!</a:t>
            </a:r>
          </a:p>
        </p:txBody>
      </p:sp>
    </p:spTree>
    <p:extLst>
      <p:ext uri="{BB962C8B-B14F-4D97-AF65-F5344CB8AC3E}">
        <p14:creationId xmlns:p14="http://schemas.microsoft.com/office/powerpoint/2010/main" val="20467520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730</TotalTime>
  <Words>404</Words>
  <Application>Microsoft Office PowerPoint</Application>
  <PresentationFormat>On-screen Show (4:3)</PresentationFormat>
  <Paragraphs>84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Bookman Old Style</vt:lpstr>
      <vt:lpstr>Calibri</vt:lpstr>
      <vt:lpstr>Courier New</vt:lpstr>
      <vt:lpstr>Gill Sans MT</vt:lpstr>
      <vt:lpstr>Tahoma</vt:lpstr>
      <vt:lpstr>Times New Roman</vt:lpstr>
      <vt:lpstr>Wingdings</vt:lpstr>
      <vt:lpstr>Wingdings 3</vt:lpstr>
      <vt:lpstr>Origin</vt:lpstr>
      <vt:lpstr>Introduction</vt:lpstr>
      <vt:lpstr>What is discrete mathematics?</vt:lpstr>
      <vt:lpstr>Content (1/5)</vt:lpstr>
      <vt:lpstr>Contents (2/5)</vt:lpstr>
      <vt:lpstr>Contents (3/5)</vt:lpstr>
      <vt:lpstr>Contents (4/5)</vt:lpstr>
      <vt:lpstr>Contents (5/5)</vt:lpstr>
      <vt:lpstr>Course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bachnx</dc:creator>
  <cp:lastModifiedBy>Thuy Quynh</cp:lastModifiedBy>
  <cp:revision>77</cp:revision>
  <dcterms:created xsi:type="dcterms:W3CDTF">2006-08-16T00:00:00Z</dcterms:created>
  <dcterms:modified xsi:type="dcterms:W3CDTF">2022-11-07T05:08:49Z</dcterms:modified>
</cp:coreProperties>
</file>