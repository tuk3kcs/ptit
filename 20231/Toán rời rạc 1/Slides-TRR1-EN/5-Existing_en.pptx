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6" r:id="rId1"/>
  </p:sldMasterIdLst>
  <p:notesMasterIdLst>
    <p:notesMasterId r:id="rId23"/>
  </p:notesMasterIdLst>
  <p:handoutMasterIdLst>
    <p:handoutMasterId r:id="rId24"/>
  </p:handoutMasterIdLst>
  <p:sldIdLst>
    <p:sldId id="256" r:id="rId2"/>
    <p:sldId id="257" r:id="rId3"/>
    <p:sldId id="258" r:id="rId4"/>
    <p:sldId id="262" r:id="rId5"/>
    <p:sldId id="259" r:id="rId6"/>
    <p:sldId id="260" r:id="rId7"/>
    <p:sldId id="263" r:id="rId8"/>
    <p:sldId id="277" r:id="rId9"/>
    <p:sldId id="264" r:id="rId10"/>
    <p:sldId id="274" r:id="rId11"/>
    <p:sldId id="265" r:id="rId12"/>
    <p:sldId id="278" r:id="rId13"/>
    <p:sldId id="267" r:id="rId14"/>
    <p:sldId id="268" r:id="rId15"/>
    <p:sldId id="275" r:id="rId16"/>
    <p:sldId id="269" r:id="rId17"/>
    <p:sldId id="276" r:id="rId18"/>
    <p:sldId id="270" r:id="rId19"/>
    <p:sldId id="279" r:id="rId20"/>
    <p:sldId id="272" r:id="rId21"/>
    <p:sldId id="27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D26F4E3-F401-4DC3-88B8-6423B362AAD2}" type="datetimeFigureOut">
              <a:rPr lang="en-US" smtClean="0"/>
              <a:t>11/7/2022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43EF8E-F52D-4609-913F-23254647DF12}" type="slidenum">
              <a:rPr lang="en-US" smtClean="0"/>
              <a:t>‹#›</a:t>
            </a:fld>
            <a:endParaRPr lang="en-US"/>
          </a:p>
        </p:txBody>
      </p:sp>
    </p:spTree>
    <p:extLst>
      <p:ext uri="{BB962C8B-B14F-4D97-AF65-F5344CB8AC3E}">
        <p14:creationId xmlns:p14="http://schemas.microsoft.com/office/powerpoint/2010/main" val="97970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72C9E9-F47F-43FB-BD67-61E05AD56ABC}" type="datetimeFigureOut">
              <a:rPr lang="en-US" smtClean="0"/>
              <a:t>11/7/2022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13A30B-9554-4543-B09D-457694D42B7A}" type="slidenum">
              <a:rPr lang="en-US" smtClean="0"/>
              <a:t>‹#›</a:t>
            </a:fld>
            <a:endParaRPr lang="en-US"/>
          </a:p>
        </p:txBody>
      </p:sp>
    </p:spTree>
    <p:extLst>
      <p:ext uri="{BB962C8B-B14F-4D97-AF65-F5344CB8AC3E}">
        <p14:creationId xmlns:p14="http://schemas.microsoft.com/office/powerpoint/2010/main" val="18672619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2510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499"/>
            <a:ext cx="16002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8" name="Footer Placeholder 7"/>
          <p:cNvSpPr>
            <a:spLocks noGrp="1"/>
          </p:cNvSpPr>
          <p:nvPr>
            <p:ph type="ftr" sz="quarter" idx="11"/>
          </p:nvPr>
        </p:nvSpPr>
        <p:spPr/>
        <p:txBody>
          <a:bodyPr/>
          <a:lstStyle/>
          <a:p>
            <a:r>
              <a:rPr lang="en-US"/>
              <a:t>http://www.ptit.edu.vn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3" name="Footer Placeholder 2"/>
          <p:cNvSpPr>
            <a:spLocks noGrp="1"/>
          </p:cNvSpPr>
          <p:nvPr>
            <p:ph type="ftr" sz="quarter" idx="3"/>
          </p:nvPr>
        </p:nvSpPr>
        <p:spPr>
          <a:xfrm>
            <a:off x="5181600"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http://www.ptit.edu.vn</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ctr"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2"/>
        </a:buClr>
        <a:buSzPct val="76000"/>
        <a:buFont typeface="Courier New" pitchFamily="49" charset="0"/>
        <a:buChar char="o"/>
        <a:defRPr kumimoji="0" sz="2000" kern="1200">
          <a:solidFill>
            <a:schemeClr val="tx2"/>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pitchFamily="2" charset="2"/>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962400"/>
            <a:ext cx="6858000" cy="762000"/>
          </a:xfrm>
        </p:spPr>
        <p:txBody>
          <a:bodyPr>
            <a:normAutofit/>
          </a:bodyPr>
          <a:lstStyle/>
          <a:p>
            <a:pPr algn="ctr"/>
            <a:r>
              <a:rPr lang="en-US" dirty="0"/>
              <a:t>Existing problem</a:t>
            </a:r>
          </a:p>
        </p:txBody>
      </p:sp>
      <p:sp>
        <p:nvSpPr>
          <p:cNvPr id="3" name="Subtitle 2"/>
          <p:cNvSpPr>
            <a:spLocks noGrp="1"/>
          </p:cNvSpPr>
          <p:nvPr>
            <p:ph type="subTitle" idx="1"/>
          </p:nvPr>
        </p:nvSpPr>
        <p:spPr/>
        <p:txBody>
          <a:bodyPr>
            <a:normAutofit fontScale="85000" lnSpcReduction="20000"/>
          </a:bodyPr>
          <a:lstStyle/>
          <a:p>
            <a:pPr algn="ctr"/>
            <a:r>
              <a:rPr lang="en-US" sz="1800" dirty="0"/>
              <a:t>Ngo Xuan Bach</a:t>
            </a:r>
          </a:p>
          <a:p>
            <a:pPr algn="ctr"/>
            <a:r>
              <a:rPr lang="en-US" sz="1800" dirty="0"/>
              <a:t>Dao </a:t>
            </a:r>
            <a:r>
              <a:rPr lang="en-US" sz="1800" dirty="0" err="1"/>
              <a:t>Thi</a:t>
            </a:r>
            <a:r>
              <a:rPr lang="en-US" sz="1800"/>
              <a:t> Thuy Quynh</a:t>
            </a:r>
          </a:p>
          <a:p>
            <a:pPr algn="ctr"/>
            <a:endParaRPr lang="en-US" sz="1800" dirty="0"/>
          </a:p>
        </p:txBody>
      </p:sp>
      <p:sp>
        <p:nvSpPr>
          <p:cNvPr id="5" name="TextBox 4"/>
          <p:cNvSpPr txBox="1"/>
          <p:nvPr/>
        </p:nvSpPr>
        <p:spPr>
          <a:xfrm>
            <a:off x="1600200" y="304800"/>
            <a:ext cx="6324600" cy="646331"/>
          </a:xfrm>
          <a:prstGeom prst="rect">
            <a:avLst/>
          </a:prstGeom>
          <a:noFill/>
        </p:spPr>
        <p:txBody>
          <a:bodyPr wrap="square" rtlCol="0">
            <a:spAutoFit/>
          </a:bodyPr>
          <a:lstStyle/>
          <a:p>
            <a:pPr algn="ctr"/>
            <a:r>
              <a:rPr lang="en-US" dirty="0">
                <a:latin typeface="Tahoma" pitchFamily="34" charset="0"/>
                <a:ea typeface="Tahoma" pitchFamily="34" charset="0"/>
                <a:cs typeface="Tahoma" pitchFamily="34" charset="0"/>
              </a:rPr>
              <a:t>Posts and Telecommunication Institute of Technology</a:t>
            </a:r>
          </a:p>
          <a:p>
            <a:pPr algn="ctr"/>
            <a:r>
              <a:rPr lang="en-US" dirty="0">
                <a:latin typeface="Tahoma" pitchFamily="34" charset="0"/>
                <a:ea typeface="Tahoma" pitchFamily="34" charset="0"/>
                <a:cs typeface="Tahoma" pitchFamily="34" charset="0"/>
              </a:rPr>
              <a:t>Faculty of Information Technology 1</a:t>
            </a:r>
          </a:p>
        </p:txBody>
      </p:sp>
      <p:sp>
        <p:nvSpPr>
          <p:cNvPr id="8" name="Title 1"/>
          <p:cNvSpPr txBox="1">
            <a:spLocks/>
          </p:cNvSpPr>
          <p:nvPr/>
        </p:nvSpPr>
        <p:spPr>
          <a:xfrm>
            <a:off x="1371600" y="1981200"/>
            <a:ext cx="6858000" cy="609600"/>
          </a:xfrm>
          <a:prstGeom prst="rect">
            <a:avLst/>
          </a:prstGeom>
        </p:spPr>
        <p:txBody>
          <a:bodyPr vert="horz" anchor="t" anchorCtr="0">
            <a:norm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algn="ctr"/>
            <a:r>
              <a:rPr lang="en-US" sz="2400" dirty="0"/>
              <a:t>Mathematic discrete1</a:t>
            </a:r>
            <a:endParaRPr lang="en-US" sz="1400" dirty="0"/>
          </a:p>
        </p:txBody>
      </p:sp>
    </p:spTree>
    <p:extLst>
      <p:ext uri="{BB962C8B-B14F-4D97-AF65-F5344CB8AC3E}">
        <p14:creationId xmlns:p14="http://schemas.microsoft.com/office/powerpoint/2010/main" val="166442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Content Placeholder 4"/>
          <p:cNvSpPr>
            <a:spLocks noGrp="1"/>
          </p:cNvSpPr>
          <p:nvPr>
            <p:ph sz="quarter" idx="1"/>
          </p:nvPr>
        </p:nvSpPr>
        <p:spPr>
          <a:xfrm>
            <a:off x="457200" y="1219200"/>
            <a:ext cx="8458200" cy="4937760"/>
          </a:xfrm>
        </p:spPr>
        <p:txBody>
          <a:bodyPr/>
          <a:lstStyle/>
          <a:p>
            <a:pPr>
              <a:spcBef>
                <a:spcPct val="50000"/>
              </a:spcBef>
            </a:pPr>
            <a:r>
              <a:rPr lang="en-US" dirty="0"/>
              <a:t>Introduction</a:t>
            </a:r>
          </a:p>
          <a:p>
            <a:pPr>
              <a:spcBef>
                <a:spcPct val="50000"/>
              </a:spcBef>
            </a:pPr>
            <a:r>
              <a:rPr lang="en-US" b="0" i="0" dirty="0">
                <a:solidFill>
                  <a:srgbClr val="202124"/>
                </a:solidFill>
                <a:effectLst/>
              </a:rPr>
              <a:t>Reductio ad absurdum </a:t>
            </a:r>
            <a:r>
              <a:rPr lang="en-US" dirty="0"/>
              <a:t>method </a:t>
            </a:r>
          </a:p>
          <a:p>
            <a:pPr>
              <a:spcBef>
                <a:spcPct val="50000"/>
              </a:spcBef>
            </a:pPr>
            <a:r>
              <a:rPr lang="en-US" dirty="0"/>
              <a:t>Dirichlet’s principle</a:t>
            </a:r>
          </a:p>
          <a:p>
            <a:pPr>
              <a:spcBef>
                <a:spcPct val="50000"/>
              </a:spcBef>
            </a:pPr>
            <a:r>
              <a:rPr lang="en-US" dirty="0"/>
              <a:t>Exercise</a:t>
            </a:r>
          </a:p>
          <a:p>
            <a:pPr>
              <a:spcBef>
                <a:spcPct val="50000"/>
              </a:spcBef>
            </a:pPr>
            <a:endParaRPr lang="en-US" dirty="0"/>
          </a:p>
          <a:p>
            <a:endParaRPr lang="en-US" dirty="0"/>
          </a:p>
        </p:txBody>
      </p:sp>
    </p:spTree>
    <p:extLst>
      <p:ext uri="{BB962C8B-B14F-4D97-AF65-F5344CB8AC3E}">
        <p14:creationId xmlns:p14="http://schemas.microsoft.com/office/powerpoint/2010/main" val="169563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existing 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Content Placeholder 4"/>
          <p:cNvSpPr>
            <a:spLocks noGrp="1"/>
          </p:cNvSpPr>
          <p:nvPr>
            <p:ph sz="quarter" idx="1"/>
          </p:nvPr>
        </p:nvSpPr>
        <p:spPr>
          <a:xfrm>
            <a:off x="140677" y="1219200"/>
            <a:ext cx="8546123" cy="4937760"/>
          </a:xfrm>
        </p:spPr>
        <p:txBody>
          <a:bodyPr>
            <a:normAutofit fontScale="85000" lnSpcReduction="10000"/>
          </a:bodyPr>
          <a:lstStyle/>
          <a:p>
            <a:pPr algn="just">
              <a:spcBef>
                <a:spcPct val="50000"/>
              </a:spcBef>
            </a:pPr>
            <a:r>
              <a:rPr lang="en-US" b="1" dirty="0"/>
              <a:t>Counting problem: </a:t>
            </a:r>
            <a:r>
              <a:rPr lang="en-US" dirty="0"/>
              <a:t>Count all combinatorial configurations that satisfy the constrains of problem. The desired solution is to build a formula to find out result of the problem.</a:t>
            </a:r>
          </a:p>
          <a:p>
            <a:pPr algn="just">
              <a:spcBef>
                <a:spcPct val="50000"/>
              </a:spcBef>
            </a:pPr>
            <a:r>
              <a:rPr lang="en-US" b="1" dirty="0"/>
              <a:t>Listing problem</a:t>
            </a:r>
            <a:r>
              <a:rPr lang="en-US" dirty="0"/>
              <a:t>: Consider all combinatorial configurations that satisfy the constrains of the problem. The solution method usually returns a brute force algorithm (generation algorithm, backtracking algorithm,…)</a:t>
            </a:r>
          </a:p>
          <a:p>
            <a:pPr algn="just">
              <a:spcBef>
                <a:spcPct val="50000"/>
              </a:spcBef>
            </a:pPr>
            <a:r>
              <a:rPr lang="en-US" b="1" dirty="0"/>
              <a:t>Optimization problem:</a:t>
            </a:r>
            <a:r>
              <a:rPr lang="en-US" dirty="0"/>
              <a:t> Among the combinatorial configurations that satisfy the requirements of problem, choose the solution with the best use value (optimize the objective function)</a:t>
            </a:r>
          </a:p>
          <a:p>
            <a:pPr algn="just">
              <a:spcBef>
                <a:spcPct val="50000"/>
              </a:spcBef>
            </a:pPr>
            <a:r>
              <a:rPr lang="en-US" b="1"/>
              <a:t>Existing problem:</a:t>
            </a:r>
            <a:r>
              <a:rPr lang="en-US"/>
              <a:t> </a:t>
            </a:r>
            <a:r>
              <a:rPr lang="en-US" dirty="0"/>
              <a:t>Consider whether or not there exist combinatorial configurations satisfying the given properties. The solution of the problem is simply to show a combinational configuration that satisfies the given properties or to prove that there is no combinatorial configuration that satisfies the given properties.</a:t>
            </a:r>
          </a:p>
          <a:p>
            <a:endParaRPr lang="en-US" dirty="0"/>
          </a:p>
        </p:txBody>
      </p:sp>
    </p:spTree>
    <p:extLst>
      <p:ext uri="{BB962C8B-B14F-4D97-AF65-F5344CB8AC3E}">
        <p14:creationId xmlns:p14="http://schemas.microsoft.com/office/powerpoint/2010/main" val="210738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Content Placeholder 4"/>
          <p:cNvSpPr>
            <a:spLocks noGrp="1"/>
          </p:cNvSpPr>
          <p:nvPr>
            <p:ph sz="quarter" idx="1"/>
          </p:nvPr>
        </p:nvSpPr>
        <p:spPr>
          <a:xfrm>
            <a:off x="457200" y="1219200"/>
            <a:ext cx="8229600" cy="5181600"/>
          </a:xfrm>
        </p:spPr>
        <p:txBody>
          <a:bodyPr>
            <a:normAutofit/>
          </a:bodyPr>
          <a:lstStyle/>
          <a:p>
            <a:pPr algn="just"/>
            <a:r>
              <a:rPr lang="en-US" sz="1800" b="1" dirty="0"/>
              <a:t>The problem of 36 officer in army (Euler)</a:t>
            </a:r>
            <a:r>
              <a:rPr lang="en-US" sz="1800" dirty="0"/>
              <a:t>: 6 regiments are summoned, each regiment has 6 </a:t>
            </a:r>
            <a:r>
              <a:rPr lang="en-US" sz="1800" dirty="0" err="1"/>
              <a:t>officiers</a:t>
            </a:r>
            <a:r>
              <a:rPr lang="en-US" sz="1800" dirty="0"/>
              <a:t> with difference ranks: </a:t>
            </a:r>
            <a:r>
              <a:rPr lang="en-US" sz="1800" dirty="0">
                <a:solidFill>
                  <a:srgbClr val="FF0000"/>
                </a:solidFill>
              </a:rPr>
              <a:t>second</a:t>
            </a:r>
            <a:r>
              <a:rPr lang="en-US" sz="1800" dirty="0"/>
              <a:t> </a:t>
            </a:r>
            <a:r>
              <a:rPr lang="en-US" sz="1800" dirty="0">
                <a:solidFill>
                  <a:srgbClr val="FF0000"/>
                </a:solidFill>
              </a:rPr>
              <a:t>lieutenant</a:t>
            </a:r>
            <a:r>
              <a:rPr lang="en-US" sz="1800" dirty="0"/>
              <a:t>, </a:t>
            </a:r>
            <a:r>
              <a:rPr lang="en-US" sz="1800" dirty="0">
                <a:solidFill>
                  <a:srgbClr val="FF0000"/>
                </a:solidFill>
              </a:rPr>
              <a:t>lieutenant</a:t>
            </a:r>
            <a:r>
              <a:rPr lang="en-US" sz="1800" dirty="0"/>
              <a:t>, </a:t>
            </a:r>
            <a:r>
              <a:rPr lang="en-US" sz="1800" dirty="0">
                <a:solidFill>
                  <a:srgbClr val="FF0000"/>
                </a:solidFill>
              </a:rPr>
              <a:t>first lieutenant</a:t>
            </a:r>
            <a:r>
              <a:rPr lang="en-US" sz="1800" dirty="0"/>
              <a:t>, </a:t>
            </a:r>
            <a:r>
              <a:rPr lang="en-US" sz="1800" dirty="0">
                <a:solidFill>
                  <a:srgbClr val="FF0000"/>
                </a:solidFill>
              </a:rPr>
              <a:t>captain</a:t>
            </a:r>
            <a:r>
              <a:rPr lang="en-US" sz="1800" dirty="0"/>
              <a:t>, </a:t>
            </a:r>
            <a:r>
              <a:rPr lang="en-US" sz="1800" dirty="0">
                <a:solidFill>
                  <a:srgbClr val="FF0000"/>
                </a:solidFill>
              </a:rPr>
              <a:t>major</a:t>
            </a:r>
            <a:r>
              <a:rPr lang="en-US" sz="1800" dirty="0"/>
              <a:t>, </a:t>
            </a:r>
            <a:r>
              <a:rPr lang="en-US" sz="1800" dirty="0">
                <a:solidFill>
                  <a:srgbClr val="FF0000"/>
                </a:solidFill>
              </a:rPr>
              <a:t>lieutenant colonel</a:t>
            </a:r>
            <a:r>
              <a:rPr lang="en-US" sz="1800" dirty="0"/>
              <a:t> attend the military parade. Can 36 officers be arranged into a square team so that each horizontal row and each vertical line have representatives of all 6 regiments with 6 different ranks? </a:t>
            </a:r>
            <a:endParaRPr lang="en-US" sz="2000" dirty="0"/>
          </a:p>
          <a:p>
            <a:endParaRPr lang="en-US" sz="2000" dirty="0"/>
          </a:p>
          <a:p>
            <a:endParaRPr lang="en-US" sz="2000" dirty="0"/>
          </a:p>
          <a:p>
            <a:endParaRPr lang="en-US" sz="2000" dirty="0"/>
          </a:p>
          <a:p>
            <a:endParaRPr lang="en-US" dirty="0"/>
          </a:p>
        </p:txBody>
      </p:sp>
    </p:spTree>
    <p:extLst>
      <p:ext uri="{BB962C8B-B14F-4D97-AF65-F5344CB8AC3E}">
        <p14:creationId xmlns:p14="http://schemas.microsoft.com/office/powerpoint/2010/main" val="3126683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(2/2) </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a:xfrm>
                <a:off x="457200" y="1219200"/>
                <a:ext cx="8229600" cy="5181600"/>
              </a:xfrm>
            </p:spPr>
            <p:txBody>
              <a:bodyPr>
                <a:normAutofit/>
              </a:bodyPr>
              <a:lstStyle/>
              <a:p>
                <a:pPr algn="just"/>
                <a:r>
                  <a:rPr lang="en-US" sz="1800" b="1" dirty="0"/>
                  <a:t>The problem of 36 officer in army (Euler) </a:t>
                </a:r>
                <a:r>
                  <a:rPr lang="en-US" sz="1800" dirty="0"/>
                  <a:t>: 6 regiments are summoned, each regiment has 6 </a:t>
                </a:r>
                <a:r>
                  <a:rPr lang="en-US" sz="1800" dirty="0" err="1"/>
                  <a:t>officiers</a:t>
                </a:r>
                <a:r>
                  <a:rPr lang="en-US" sz="1800" dirty="0"/>
                  <a:t> with difference ranks: </a:t>
                </a:r>
                <a:r>
                  <a:rPr lang="en-US" sz="1800" dirty="0">
                    <a:solidFill>
                      <a:srgbClr val="FF0000"/>
                    </a:solidFill>
                  </a:rPr>
                  <a:t>second</a:t>
                </a:r>
                <a:r>
                  <a:rPr lang="en-US" sz="1800" dirty="0"/>
                  <a:t> </a:t>
                </a:r>
                <a:r>
                  <a:rPr lang="en-US" sz="1800" dirty="0">
                    <a:solidFill>
                      <a:srgbClr val="FF0000"/>
                    </a:solidFill>
                  </a:rPr>
                  <a:t>lieutenant</a:t>
                </a:r>
                <a:r>
                  <a:rPr lang="en-US" sz="1800" dirty="0"/>
                  <a:t>, </a:t>
                </a:r>
                <a:r>
                  <a:rPr lang="en-US" sz="1800" dirty="0">
                    <a:solidFill>
                      <a:srgbClr val="FF0000"/>
                    </a:solidFill>
                  </a:rPr>
                  <a:t>lieutenant</a:t>
                </a:r>
                <a:r>
                  <a:rPr lang="en-US" sz="1800" dirty="0"/>
                  <a:t>, </a:t>
                </a:r>
                <a:r>
                  <a:rPr lang="en-US" sz="1800" dirty="0">
                    <a:solidFill>
                      <a:srgbClr val="FF0000"/>
                    </a:solidFill>
                  </a:rPr>
                  <a:t>first lieutenant</a:t>
                </a:r>
                <a:r>
                  <a:rPr lang="en-US" sz="1800" dirty="0"/>
                  <a:t>, </a:t>
                </a:r>
                <a:r>
                  <a:rPr lang="en-US" sz="1800" dirty="0">
                    <a:solidFill>
                      <a:srgbClr val="FF0000"/>
                    </a:solidFill>
                  </a:rPr>
                  <a:t>captain</a:t>
                </a:r>
                <a:r>
                  <a:rPr lang="en-US" sz="1800" dirty="0"/>
                  <a:t>, </a:t>
                </a:r>
                <a:r>
                  <a:rPr lang="en-US" sz="1800" dirty="0">
                    <a:solidFill>
                      <a:srgbClr val="FF0000"/>
                    </a:solidFill>
                  </a:rPr>
                  <a:t>major</a:t>
                </a:r>
                <a:r>
                  <a:rPr lang="en-US" sz="1800" dirty="0"/>
                  <a:t>, </a:t>
                </a:r>
                <a:r>
                  <a:rPr lang="en-US" sz="1800" dirty="0">
                    <a:solidFill>
                      <a:srgbClr val="FF0000"/>
                    </a:solidFill>
                  </a:rPr>
                  <a:t>lieutenant colonel</a:t>
                </a:r>
                <a:r>
                  <a:rPr lang="en-US" sz="1800" dirty="0"/>
                  <a:t> attend the military parade. Can 36 officers be arranged into a square team so that each horizontal row and each vertical line have representatives of all 6 regiments with 6 different ranks? Below is a solution with </a:t>
                </a:r>
                <a14:m>
                  <m:oMath xmlns:m="http://schemas.openxmlformats.org/officeDocument/2006/math">
                    <m:r>
                      <a:rPr lang="en-US" sz="1800" i="1" dirty="0" smtClean="0">
                        <a:latin typeface="Cambria Math"/>
                      </a:rPr>
                      <m:t>𝑛</m:t>
                    </m:r>
                    <m:r>
                      <a:rPr lang="en-US" sz="1800" i="1" dirty="0" smtClean="0">
                        <a:latin typeface="Cambria Math"/>
                      </a:rPr>
                      <m:t>=4</m:t>
                    </m:r>
                  </m:oMath>
                </a14:m>
                <a:r>
                  <a:rPr lang="en-US" sz="1800" dirty="0"/>
                  <a:t>.</a:t>
                </a:r>
              </a:p>
              <a:p>
                <a:endParaRPr lang="en-US" sz="2000" dirty="0"/>
              </a:p>
              <a:p>
                <a:endParaRPr lang="en-US" sz="2000" dirty="0"/>
              </a:p>
              <a:p>
                <a:endParaRPr lang="en-US" sz="2000" dirty="0"/>
              </a:p>
              <a:p>
                <a:endParaRPr lang="en-US" sz="2000" dirty="0"/>
              </a:p>
              <a:p>
                <a:pPr algn="just"/>
                <a:r>
                  <a:rPr lang="en-US" sz="1800" dirty="0"/>
                  <a:t>Euler had lots of effort but failed and made a hypothesis that the problem did not exist any root (</a:t>
                </a:r>
                <a14:m>
                  <m:oMath xmlns:m="http://schemas.openxmlformats.org/officeDocument/2006/math">
                    <m:r>
                      <a:rPr lang="en-US" sz="1800" i="1" dirty="0" smtClean="0">
                        <a:latin typeface="Cambria Math"/>
                      </a:rPr>
                      <m:t>𝑛</m:t>
                    </m:r>
                    <m:r>
                      <a:rPr lang="en-US" sz="1800" i="1" dirty="0" smtClean="0">
                        <a:latin typeface="Cambria Math"/>
                      </a:rPr>
                      <m:t>=6</m:t>
                    </m:r>
                  </m:oMath>
                </a14:m>
                <a:r>
                  <a:rPr lang="en-US" sz="1800" dirty="0"/>
                  <a:t>). This hypothesis is proved by considering all of configurations.</a:t>
                </a:r>
              </a:p>
              <a:p>
                <a:pPr algn="just"/>
                <a:r>
                  <a:rPr lang="en-US" sz="1800" dirty="0"/>
                  <a:t>Based on the cases </a:t>
                </a:r>
                <a14:m>
                  <m:oMath xmlns:m="http://schemas.openxmlformats.org/officeDocument/2006/math">
                    <m:r>
                      <a:rPr lang="en-US" sz="1800" i="1" dirty="0" smtClean="0">
                        <a:latin typeface="Cambria Math"/>
                      </a:rPr>
                      <m:t>𝑛</m:t>
                    </m:r>
                    <m:r>
                      <a:rPr lang="en-US" sz="1800" i="1" dirty="0" smtClean="0">
                        <a:latin typeface="Cambria Math"/>
                      </a:rPr>
                      <m:t>=2, </m:t>
                    </m:r>
                    <m:r>
                      <a:rPr lang="en-US" sz="1800" i="1" dirty="0" smtClean="0">
                        <a:latin typeface="Cambria Math"/>
                      </a:rPr>
                      <m:t>𝑛</m:t>
                    </m:r>
                    <m:r>
                      <a:rPr lang="en-US" sz="1800" i="1" dirty="0" smtClean="0">
                        <a:latin typeface="Cambria Math"/>
                      </a:rPr>
                      <m:t>=6 </m:t>
                    </m:r>
                  </m:oMath>
                </a14:m>
                <a:r>
                  <a:rPr lang="en-US" sz="1800" dirty="0"/>
                  <a:t>do not exist,  Euler hypothesizes that the problem does not exist root </a:t>
                </a:r>
                <a14:m>
                  <m:oMath xmlns:m="http://schemas.openxmlformats.org/officeDocument/2006/math">
                    <m:r>
                      <a:rPr lang="en-US" sz="1800" i="1" dirty="0" smtClean="0">
                        <a:latin typeface="Cambria Math"/>
                      </a:rPr>
                      <m:t>𝑛</m:t>
                    </m:r>
                    <m:r>
                      <a:rPr lang="en-US" sz="1800" i="1" dirty="0" smtClean="0">
                        <a:latin typeface="Cambria Math"/>
                      </a:rPr>
                      <m:t>=4</m:t>
                    </m:r>
                    <m:r>
                      <a:rPr lang="en-US" sz="1800" i="1" dirty="0" smtClean="0">
                        <a:latin typeface="Cambria Math"/>
                      </a:rPr>
                      <m:t>𝑘</m:t>
                    </m:r>
                    <m:r>
                      <a:rPr lang="en-US" sz="1800" i="1" dirty="0" smtClean="0">
                        <a:latin typeface="Cambria Math"/>
                      </a:rPr>
                      <m:t>+2</m:t>
                    </m:r>
                  </m:oMath>
                </a14:m>
                <a:r>
                  <a:rPr lang="en-US" sz="1800" dirty="0"/>
                  <a:t>. In 1960, </a:t>
                </a:r>
                <a:r>
                  <a:rPr lang="en-US" sz="1800" dirty="0" err="1"/>
                  <a:t>Bloce</a:t>
                </a:r>
                <a:r>
                  <a:rPr lang="en-US" sz="1800" dirty="0"/>
                  <a:t> and Parker showed a solution </a:t>
                </a:r>
                <a14:m>
                  <m:oMath xmlns:m="http://schemas.openxmlformats.org/officeDocument/2006/math">
                    <m:r>
                      <a:rPr lang="en-US" sz="1800" i="1" dirty="0" smtClean="0">
                        <a:latin typeface="Cambria Math"/>
                      </a:rPr>
                      <m:t>𝑛</m:t>
                    </m:r>
                    <m:r>
                      <a:rPr lang="en-US" sz="1800" i="1" dirty="0" smtClean="0">
                        <a:latin typeface="Cambria Math"/>
                      </a:rPr>
                      <m:t> =10 </m:t>
                    </m:r>
                  </m:oMath>
                </a14:m>
                <a:r>
                  <a:rPr lang="en-US" sz="1800" dirty="0"/>
                  <a:t>and generalized to the case </a:t>
                </a:r>
                <a14:m>
                  <m:oMath xmlns:m="http://schemas.openxmlformats.org/officeDocument/2006/math">
                    <m:r>
                      <a:rPr lang="en-US" sz="1800" i="1" dirty="0" smtClean="0">
                        <a:latin typeface="Cambria Math"/>
                      </a:rPr>
                      <m:t>𝑛</m:t>
                    </m:r>
                    <m:r>
                      <a:rPr lang="en-US" sz="1800" i="1" dirty="0" smtClean="0">
                        <a:latin typeface="Cambria Math"/>
                      </a:rPr>
                      <m:t>=4</m:t>
                    </m:r>
                    <m:r>
                      <a:rPr lang="en-US" sz="1800" i="1" dirty="0" smtClean="0">
                        <a:latin typeface="Cambria Math"/>
                      </a:rPr>
                      <m:t>𝑘</m:t>
                    </m:r>
                    <m:r>
                      <a:rPr lang="en-US" sz="1800" i="1" dirty="0" smtClean="0">
                        <a:latin typeface="Cambria Math"/>
                      </a:rPr>
                      <m:t>+2 </m:t>
                    </m:r>
                  </m:oMath>
                </a14:m>
                <a:r>
                  <a:rPr lang="en-US" sz="1800" dirty="0"/>
                  <a:t>(k&gt;1).</a:t>
                </a:r>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81600"/>
              </a:xfrm>
              <a:blipFill>
                <a:blip r:embed="rId2"/>
                <a:stretch>
                  <a:fillRect l="-74" t="-588" r="-593"/>
                </a:stretch>
              </a:blipFill>
            </p:spPr>
            <p:txBody>
              <a:bodyPr/>
              <a:lstStyle/>
              <a:p>
                <a:r>
                  <a:rPr lang="en-US">
                    <a:noFill/>
                  </a:rPr>
                  <a:t> </a:t>
                </a:r>
              </a:p>
            </p:txBody>
          </p:sp>
        </mc:Fallback>
      </mc:AlternateContent>
      <p:graphicFrame>
        <p:nvGraphicFramePr>
          <p:cNvPr id="6" name="Group 75"/>
          <p:cNvGraphicFramePr>
            <a:graphicFrameLocks noGrp="1"/>
          </p:cNvGraphicFramePr>
          <p:nvPr>
            <p:extLst>
              <p:ext uri="{D42A27DB-BD31-4B8C-83A1-F6EECF244321}">
                <p14:modId xmlns:p14="http://schemas.microsoft.com/office/powerpoint/2010/main" val="1458579307"/>
              </p:ext>
            </p:extLst>
          </p:nvPr>
        </p:nvGraphicFramePr>
        <p:xfrm>
          <a:off x="2971800" y="2987040"/>
          <a:ext cx="2286000" cy="1463040"/>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19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Ab</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Dd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a:ln>
                            <a:noFill/>
                          </a:ln>
                          <a:solidFill>
                            <a:srgbClr val="404040"/>
                          </a:solidFill>
                          <a:effectLst/>
                          <a:latin typeface="Trebuchet MS" pitchFamily="34" charset="0"/>
                        </a:rPr>
                        <a:t>Ba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Cc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Bc</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Ca</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Db</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Cd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a:ln>
                            <a:noFill/>
                          </a:ln>
                          <a:solidFill>
                            <a:srgbClr val="404040"/>
                          </a:solidFill>
                          <a:effectLst/>
                          <a:latin typeface="Trebuchet MS" pitchFamily="34" charset="0"/>
                        </a:rPr>
                        <a:t>Bb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a:ln>
                            <a:noFill/>
                          </a:ln>
                          <a:solidFill>
                            <a:srgbClr val="404040"/>
                          </a:solidFill>
                          <a:effectLst/>
                          <a:latin typeface="Trebuchet MS" pitchFamily="34" charset="0"/>
                        </a:rPr>
                        <a:t>Dc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Aa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1950">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a:ln>
                            <a:noFill/>
                          </a:ln>
                          <a:solidFill>
                            <a:srgbClr val="404040"/>
                          </a:solidFill>
                          <a:effectLst/>
                          <a:latin typeface="Trebuchet MS" pitchFamily="34" charset="0"/>
                        </a:rPr>
                        <a:t>Da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a:ln>
                            <a:noFill/>
                          </a:ln>
                          <a:solidFill>
                            <a:srgbClr val="404040"/>
                          </a:solidFill>
                          <a:effectLst/>
                          <a:latin typeface="Trebuchet MS" pitchFamily="34" charset="0"/>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Cb</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6038" marR="0" lvl="0" indent="0" algn="ctr" defTabSz="914400" rtl="0" eaLnBrk="1" fontAlgn="base" latinLnBrk="0" hangingPunct="1">
                        <a:lnSpc>
                          <a:spcPct val="100000"/>
                        </a:lnSpc>
                        <a:spcBef>
                          <a:spcPct val="20000"/>
                        </a:spcBef>
                        <a:spcAft>
                          <a:spcPts val="300"/>
                        </a:spcAft>
                        <a:buClr>
                          <a:srgbClr val="C3260C"/>
                        </a:buClr>
                        <a:buSzPct val="130000"/>
                        <a:buFont typeface="Georgia" pitchFamily="18" charset="0"/>
                        <a:buNone/>
                        <a:tabLst/>
                      </a:pPr>
                      <a:r>
                        <a:rPr kumimoji="0" lang="en-US" sz="1800" b="0" i="0" u="none" strike="noStrike" cap="none" normalizeH="0" baseline="0" dirty="0" err="1">
                          <a:ln>
                            <a:noFill/>
                          </a:ln>
                          <a:solidFill>
                            <a:srgbClr val="404040"/>
                          </a:solidFill>
                          <a:effectLst/>
                          <a:latin typeface="Trebuchet MS" pitchFamily="34" charset="0"/>
                        </a:rPr>
                        <a:t>Bd</a:t>
                      </a:r>
                      <a:endParaRPr kumimoji="0" lang="en-US" sz="1800" b="0" i="0" u="none" strike="noStrike" cap="none" normalizeH="0" baseline="0" dirty="0">
                        <a:ln>
                          <a:noFill/>
                        </a:ln>
                        <a:solidFill>
                          <a:srgbClr val="404040"/>
                        </a:solidFill>
                        <a:effectLst/>
                        <a:latin typeface="Trebuchet MS"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79797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Content Placeholder 4"/>
          <p:cNvSpPr>
            <a:spLocks noGrp="1"/>
          </p:cNvSpPr>
          <p:nvPr>
            <p:ph sz="quarter" idx="1"/>
          </p:nvPr>
        </p:nvSpPr>
        <p:spPr/>
        <p:txBody>
          <a:bodyPr/>
          <a:lstStyle/>
          <a:p>
            <a:pPr algn="just"/>
            <a:r>
              <a:rPr lang="en-US" sz="2000" b="1" dirty="0"/>
              <a:t>Mystic hexagon problem (Clifford Adams)</a:t>
            </a:r>
            <a:r>
              <a:rPr lang="en-US" sz="2000" dirty="0"/>
              <a:t>: On the 19 cells of the hexagon, fill in the numbers 1 to 19 so that the sum in the 6 directions of the hexagon is equal (38).</a:t>
            </a:r>
          </a:p>
          <a:p>
            <a:endParaRPr lang="en-US" dirty="0"/>
          </a:p>
          <a:p>
            <a:endParaRPr lang="en-US" dirty="0"/>
          </a:p>
          <a:p>
            <a:endParaRPr lang="en-US" dirty="0"/>
          </a:p>
          <a:p>
            <a:endParaRPr lang="en-US" dirty="0"/>
          </a:p>
          <a:p>
            <a:endParaRPr lang="en-US" dirty="0"/>
          </a:p>
          <a:p>
            <a:endParaRPr lang="en-US" sz="2000" dirty="0"/>
          </a:p>
        </p:txBody>
      </p:sp>
    </p:spTree>
    <p:extLst>
      <p:ext uri="{BB962C8B-B14F-4D97-AF65-F5344CB8AC3E}">
        <p14:creationId xmlns:p14="http://schemas.microsoft.com/office/powerpoint/2010/main" val="1248990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Content Placeholder 4"/>
          <p:cNvSpPr>
            <a:spLocks noGrp="1"/>
          </p:cNvSpPr>
          <p:nvPr>
            <p:ph sz="quarter" idx="1"/>
          </p:nvPr>
        </p:nvSpPr>
        <p:spPr/>
        <p:txBody>
          <a:bodyPr>
            <a:normAutofit/>
          </a:bodyPr>
          <a:lstStyle/>
          <a:p>
            <a:pPr algn="just"/>
            <a:r>
              <a:rPr lang="en-US" sz="2000" b="1" dirty="0"/>
              <a:t>Mystic hexagon problem (Clifford Adams)</a:t>
            </a:r>
            <a:r>
              <a:rPr lang="en-US" sz="2000" dirty="0"/>
              <a:t>: On the 19 cells of the hexagon, fill in the numbers 1 to 19 so that the sum in the 6 directions of the hexagon is equal (38).</a:t>
            </a:r>
          </a:p>
          <a:p>
            <a:pPr marL="0" indent="0">
              <a:buNone/>
            </a:pPr>
            <a:endParaRPr lang="en-US" dirty="0"/>
          </a:p>
          <a:p>
            <a:endParaRPr lang="en-US" dirty="0"/>
          </a:p>
          <a:p>
            <a:endParaRPr lang="en-US" dirty="0"/>
          </a:p>
          <a:p>
            <a:endParaRPr lang="en-US" dirty="0"/>
          </a:p>
          <a:p>
            <a:endParaRPr lang="en-US" dirty="0"/>
          </a:p>
          <a:p>
            <a:endParaRPr lang="en-US" sz="2000" dirty="0"/>
          </a:p>
          <a:p>
            <a:r>
              <a:rPr lang="en-US" sz="2000" dirty="0"/>
              <a:t>After 47 years, Adams found the solution (1957), then because he lost the manuscript, he took another 5 years to recover (1962).</a:t>
            </a:r>
          </a:p>
          <a:p>
            <a:r>
              <a:rPr lang="en-US" sz="2000" dirty="0"/>
              <a:t>This is also the only solution!!!</a:t>
            </a:r>
          </a:p>
        </p:txBody>
      </p:sp>
      <p:grpSp>
        <p:nvGrpSpPr>
          <p:cNvPr id="28" name="Group 27"/>
          <p:cNvGrpSpPr/>
          <p:nvPr/>
        </p:nvGrpSpPr>
        <p:grpSpPr>
          <a:xfrm>
            <a:off x="3345180" y="2362200"/>
            <a:ext cx="1836420" cy="2286000"/>
            <a:chOff x="3345180" y="2514600"/>
            <a:chExt cx="1836420" cy="2286000"/>
          </a:xfrm>
        </p:grpSpPr>
        <p:sp>
          <p:nvSpPr>
            <p:cNvPr id="20" name="Hexagon 19"/>
            <p:cNvSpPr/>
            <p:nvPr/>
          </p:nvSpPr>
          <p:spPr>
            <a:xfrm>
              <a:off x="3688080" y="32004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6</a:t>
              </a:r>
            </a:p>
          </p:txBody>
        </p:sp>
        <p:sp>
          <p:nvSpPr>
            <p:cNvPr id="21" name="Hexagon 20"/>
            <p:cNvSpPr/>
            <p:nvPr/>
          </p:nvSpPr>
          <p:spPr>
            <a:xfrm>
              <a:off x="3695700" y="36576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mj-lt"/>
                </a:rPr>
                <a:t>1</a:t>
              </a:r>
            </a:p>
          </p:txBody>
        </p:sp>
        <p:grpSp>
          <p:nvGrpSpPr>
            <p:cNvPr id="27" name="Group 26"/>
            <p:cNvGrpSpPr/>
            <p:nvPr/>
          </p:nvGrpSpPr>
          <p:grpSpPr>
            <a:xfrm>
              <a:off x="3345180" y="2514600"/>
              <a:ext cx="1836420" cy="2286000"/>
              <a:chOff x="3345180" y="2514600"/>
              <a:chExt cx="1836420" cy="2286000"/>
            </a:xfrm>
          </p:grpSpPr>
          <p:sp>
            <p:nvSpPr>
              <p:cNvPr id="6" name="Hexagon 5"/>
              <p:cNvSpPr/>
              <p:nvPr/>
            </p:nvSpPr>
            <p:spPr>
              <a:xfrm>
                <a:off x="4030980" y="25146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15</a:t>
                </a:r>
                <a:endParaRPr lang="en-US" sz="3200" dirty="0">
                  <a:solidFill>
                    <a:srgbClr val="FF0000"/>
                  </a:solidFill>
                  <a:latin typeface="+mj-lt"/>
                </a:endParaRPr>
              </a:p>
            </p:txBody>
          </p:sp>
          <p:sp>
            <p:nvSpPr>
              <p:cNvPr id="7" name="Hexagon 6"/>
              <p:cNvSpPr/>
              <p:nvPr/>
            </p:nvSpPr>
            <p:spPr>
              <a:xfrm>
                <a:off x="3688080" y="27432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14</a:t>
                </a:r>
              </a:p>
            </p:txBody>
          </p:sp>
          <p:sp>
            <p:nvSpPr>
              <p:cNvPr id="8" name="Hexagon 7"/>
              <p:cNvSpPr/>
              <p:nvPr/>
            </p:nvSpPr>
            <p:spPr>
              <a:xfrm>
                <a:off x="3345180" y="29718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9</a:t>
                </a:r>
              </a:p>
            </p:txBody>
          </p:sp>
          <p:sp>
            <p:nvSpPr>
              <p:cNvPr id="9" name="Hexagon 8"/>
              <p:cNvSpPr/>
              <p:nvPr/>
            </p:nvSpPr>
            <p:spPr>
              <a:xfrm>
                <a:off x="3352800" y="34290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11</a:t>
                </a:r>
              </a:p>
            </p:txBody>
          </p:sp>
          <p:sp>
            <p:nvSpPr>
              <p:cNvPr id="10" name="Hexagon 9"/>
              <p:cNvSpPr/>
              <p:nvPr/>
            </p:nvSpPr>
            <p:spPr>
              <a:xfrm>
                <a:off x="3345180" y="38862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18</a:t>
                </a:r>
              </a:p>
            </p:txBody>
          </p:sp>
          <p:sp>
            <p:nvSpPr>
              <p:cNvPr id="11" name="Hexagon 10"/>
              <p:cNvSpPr/>
              <p:nvPr/>
            </p:nvSpPr>
            <p:spPr>
              <a:xfrm>
                <a:off x="3688080" y="41148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17</a:t>
                </a:r>
              </a:p>
            </p:txBody>
          </p:sp>
          <p:sp>
            <p:nvSpPr>
              <p:cNvPr id="12" name="Hexagon 11"/>
              <p:cNvSpPr/>
              <p:nvPr/>
            </p:nvSpPr>
            <p:spPr>
              <a:xfrm>
                <a:off x="4030980" y="43434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3</a:t>
                </a:r>
              </a:p>
            </p:txBody>
          </p:sp>
          <p:sp>
            <p:nvSpPr>
              <p:cNvPr id="13" name="Hexagon 12"/>
              <p:cNvSpPr/>
              <p:nvPr/>
            </p:nvSpPr>
            <p:spPr>
              <a:xfrm>
                <a:off x="4373880" y="41148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19</a:t>
                </a:r>
              </a:p>
            </p:txBody>
          </p:sp>
          <p:sp>
            <p:nvSpPr>
              <p:cNvPr id="14" name="Hexagon 13"/>
              <p:cNvSpPr/>
              <p:nvPr/>
            </p:nvSpPr>
            <p:spPr>
              <a:xfrm>
                <a:off x="4716780" y="38862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16</a:t>
                </a:r>
              </a:p>
            </p:txBody>
          </p:sp>
          <p:sp>
            <p:nvSpPr>
              <p:cNvPr id="15" name="Hexagon 14"/>
              <p:cNvSpPr/>
              <p:nvPr/>
            </p:nvSpPr>
            <p:spPr>
              <a:xfrm>
                <a:off x="4373880" y="27432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13</a:t>
                </a:r>
              </a:p>
            </p:txBody>
          </p:sp>
          <p:sp>
            <p:nvSpPr>
              <p:cNvPr id="16" name="Hexagon 15"/>
              <p:cNvSpPr/>
              <p:nvPr/>
            </p:nvSpPr>
            <p:spPr>
              <a:xfrm>
                <a:off x="4724400" y="29718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10</a:t>
                </a:r>
              </a:p>
            </p:txBody>
          </p:sp>
          <p:sp>
            <p:nvSpPr>
              <p:cNvPr id="17" name="Hexagon 16"/>
              <p:cNvSpPr/>
              <p:nvPr/>
            </p:nvSpPr>
            <p:spPr>
              <a:xfrm>
                <a:off x="4716780" y="34290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12</a:t>
                </a:r>
              </a:p>
            </p:txBody>
          </p:sp>
          <p:sp>
            <p:nvSpPr>
              <p:cNvPr id="18" name="Hexagon 17"/>
              <p:cNvSpPr/>
              <p:nvPr/>
            </p:nvSpPr>
            <p:spPr>
              <a:xfrm>
                <a:off x="4030980" y="29718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8</a:t>
                </a:r>
              </a:p>
            </p:txBody>
          </p:sp>
          <p:sp>
            <p:nvSpPr>
              <p:cNvPr id="19" name="Hexagon 18"/>
              <p:cNvSpPr/>
              <p:nvPr/>
            </p:nvSpPr>
            <p:spPr>
              <a:xfrm>
                <a:off x="4381500" y="32004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4</a:t>
                </a:r>
              </a:p>
            </p:txBody>
          </p:sp>
          <p:sp>
            <p:nvSpPr>
              <p:cNvPr id="22" name="Hexagon 21"/>
              <p:cNvSpPr/>
              <p:nvPr/>
            </p:nvSpPr>
            <p:spPr>
              <a:xfrm>
                <a:off x="4030980" y="34290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5</a:t>
                </a:r>
              </a:p>
            </p:txBody>
          </p:sp>
          <p:sp>
            <p:nvSpPr>
              <p:cNvPr id="23" name="Hexagon 22"/>
              <p:cNvSpPr/>
              <p:nvPr/>
            </p:nvSpPr>
            <p:spPr>
              <a:xfrm>
                <a:off x="4030980" y="38862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7</a:t>
                </a:r>
              </a:p>
            </p:txBody>
          </p:sp>
          <p:sp>
            <p:nvSpPr>
              <p:cNvPr id="24" name="Hexagon 23"/>
              <p:cNvSpPr/>
              <p:nvPr/>
            </p:nvSpPr>
            <p:spPr>
              <a:xfrm>
                <a:off x="4373880" y="3657600"/>
                <a:ext cx="457200" cy="457200"/>
              </a:xfrm>
              <a:prstGeom prst="hexagon">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dirty="0">
                    <a:solidFill>
                      <a:srgbClr val="FF0000"/>
                    </a:solidFill>
                    <a:latin typeface="+mj-lt"/>
                  </a:rPr>
                  <a:t>2</a:t>
                </a:r>
              </a:p>
            </p:txBody>
          </p:sp>
        </p:grpSp>
      </p:grpSp>
    </p:spTree>
    <p:extLst>
      <p:ext uri="{BB962C8B-B14F-4D97-AF65-F5344CB8AC3E}">
        <p14:creationId xmlns:p14="http://schemas.microsoft.com/office/powerpoint/2010/main" val="2545070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a:xfrm>
            <a:off x="457200" y="1219200"/>
            <a:ext cx="8458200" cy="4937760"/>
          </a:xfrm>
        </p:spPr>
        <p:txBody>
          <a:bodyPr/>
          <a:lstStyle/>
          <a:p>
            <a:pPr>
              <a:spcBef>
                <a:spcPct val="50000"/>
              </a:spcBef>
            </a:pPr>
            <a:r>
              <a:rPr lang="en-US" dirty="0">
                <a:solidFill>
                  <a:schemeClr val="bg1">
                    <a:lumMod val="75000"/>
                  </a:schemeClr>
                </a:solidFill>
              </a:rPr>
              <a:t>Introduction</a:t>
            </a:r>
          </a:p>
          <a:p>
            <a:pPr>
              <a:spcBef>
                <a:spcPct val="50000"/>
              </a:spcBef>
            </a:pPr>
            <a:r>
              <a:rPr lang="en-US" b="0" i="0" dirty="0">
                <a:solidFill>
                  <a:srgbClr val="202124"/>
                </a:solidFill>
                <a:effectLst/>
              </a:rPr>
              <a:t>Reductio ad absurdum </a:t>
            </a:r>
            <a:r>
              <a:rPr lang="en-US" dirty="0"/>
              <a:t>method </a:t>
            </a:r>
          </a:p>
          <a:p>
            <a:pPr>
              <a:spcBef>
                <a:spcPct val="50000"/>
              </a:spcBef>
            </a:pPr>
            <a:r>
              <a:rPr lang="en-US" dirty="0"/>
              <a:t>Dirichlet’s principle</a:t>
            </a:r>
          </a:p>
          <a:p>
            <a:pPr>
              <a:spcBef>
                <a:spcPct val="50000"/>
              </a:spcBef>
            </a:pPr>
            <a:r>
              <a:rPr lang="en-US" dirty="0"/>
              <a:t>Exercise</a:t>
            </a:r>
          </a:p>
          <a:p>
            <a:pPr>
              <a:spcBef>
                <a:spcPct val="50000"/>
              </a:spcBef>
            </a:pPr>
            <a:endParaRPr lang="en-US" dirty="0"/>
          </a:p>
          <a:p>
            <a:endParaRPr lang="en-US" dirty="0"/>
          </a:p>
        </p:txBody>
      </p:sp>
    </p:spTree>
    <p:extLst>
      <p:ext uri="{BB962C8B-B14F-4D97-AF65-F5344CB8AC3E}">
        <p14:creationId xmlns:p14="http://schemas.microsoft.com/office/powerpoint/2010/main" val="1625654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8229600" cy="990600"/>
          </a:xfrm>
        </p:spPr>
        <p:txBody>
          <a:bodyPr>
            <a:normAutofit/>
          </a:bodyPr>
          <a:lstStyle/>
          <a:p>
            <a:r>
              <a:rPr lang="en-US" b="0" i="0" dirty="0">
                <a:solidFill>
                  <a:srgbClr val="202124"/>
                </a:solidFill>
                <a:effectLst/>
              </a:rPr>
              <a:t>Reductio ad absurdum </a:t>
            </a:r>
            <a:r>
              <a:rPr lang="en-US" dirty="0"/>
              <a:t>method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Content Placeholder 4"/>
          <p:cNvSpPr>
            <a:spLocks noGrp="1"/>
          </p:cNvSpPr>
          <p:nvPr>
            <p:ph sz="quarter" idx="1"/>
          </p:nvPr>
        </p:nvSpPr>
        <p:spPr/>
        <p:txBody>
          <a:bodyPr/>
          <a:lstStyle/>
          <a:p>
            <a:r>
              <a:rPr lang="en-US" b="1" dirty="0"/>
              <a:t>Idea</a:t>
            </a:r>
            <a:r>
              <a:rPr lang="en-US" dirty="0"/>
              <a:t>: Assuming the thing to be proven is false, then using the argument to find out a contradiction.</a:t>
            </a:r>
          </a:p>
          <a:p>
            <a:endParaRPr lang="en-US" b="1" dirty="0"/>
          </a:p>
          <a:p>
            <a:r>
              <a:rPr lang="en-US" b="1" dirty="0"/>
              <a:t>Example 3</a:t>
            </a:r>
            <a:r>
              <a:rPr lang="en-US" dirty="0"/>
              <a:t>: Given 7 segments with lengths greater than 10 and less than 100. Prove that there are always 3 segments that make up a triangle. </a:t>
            </a:r>
          </a:p>
        </p:txBody>
      </p:sp>
    </p:spTree>
    <p:extLst>
      <p:ext uri="{BB962C8B-B14F-4D97-AF65-F5344CB8AC3E}">
        <p14:creationId xmlns:p14="http://schemas.microsoft.com/office/powerpoint/2010/main" val="2777757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990600"/>
          </a:xfrm>
        </p:spPr>
        <p:txBody>
          <a:bodyPr>
            <a:normAutofit/>
          </a:bodyPr>
          <a:lstStyle/>
          <a:p>
            <a:r>
              <a:rPr lang="en-US" b="0" i="0" dirty="0">
                <a:solidFill>
                  <a:srgbClr val="202124"/>
                </a:solidFill>
                <a:effectLst/>
              </a:rPr>
              <a:t>Reductio ad absurdum </a:t>
            </a:r>
            <a:r>
              <a:rPr lang="en-US" dirty="0"/>
              <a:t>method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Content Placeholder 4"/>
          <p:cNvSpPr>
            <a:spLocks noGrp="1"/>
          </p:cNvSpPr>
          <p:nvPr>
            <p:ph sz="quarter" idx="1"/>
          </p:nvPr>
        </p:nvSpPr>
        <p:spPr/>
        <p:txBody>
          <a:bodyPr/>
          <a:lstStyle/>
          <a:p>
            <a:r>
              <a:rPr lang="en-US" b="1" dirty="0"/>
              <a:t>Idea</a:t>
            </a:r>
            <a:r>
              <a:rPr lang="en-US" dirty="0"/>
              <a:t>: Assuming the thing to be proven is false, then using the argument to find out a contradiction.</a:t>
            </a:r>
          </a:p>
          <a:p>
            <a:pPr marL="0" indent="0">
              <a:buNone/>
            </a:pPr>
            <a:endParaRPr lang="en-US" b="1" dirty="0"/>
          </a:p>
          <a:p>
            <a:r>
              <a:rPr lang="en-US" b="1" dirty="0"/>
              <a:t>Example 3</a:t>
            </a:r>
            <a:r>
              <a:rPr lang="en-US" dirty="0"/>
              <a:t>: Given 7 segments with lengths greater than 10 and less than 100. Prove that there are always 3 segments that make up a triangle. </a:t>
            </a:r>
          </a:p>
          <a:p>
            <a:pPr marL="0" indent="0">
              <a:buNone/>
            </a:pPr>
            <a:r>
              <a:rPr lang="en-US" dirty="0"/>
              <a:t>Hint: Let the lengths of the lines be a_1, a_2,…, a_7 (in ascending order)</a:t>
            </a:r>
            <a:endParaRPr lang="en-US" b="0" dirty="0"/>
          </a:p>
          <a:p>
            <a:pPr marL="0" indent="0">
              <a:buNone/>
            </a:pPr>
            <a:r>
              <a:rPr lang="en-US" dirty="0"/>
              <a:t>Assume that no 3 segments join to form a triangle</a:t>
            </a:r>
          </a:p>
        </p:txBody>
      </p:sp>
      <mc:AlternateContent xmlns:mc="http://schemas.openxmlformats.org/markup-compatibility/2006" xmlns:a14="http://schemas.microsoft.com/office/drawing/2010/main">
        <mc:Choice Requires="a14">
          <p:sp>
            <p:nvSpPr>
              <p:cNvPr id="6" name="TextBox 5"/>
              <p:cNvSpPr txBox="1"/>
              <p:nvPr/>
            </p:nvSpPr>
            <p:spPr>
              <a:xfrm>
                <a:off x="762000" y="4847272"/>
                <a:ext cx="1580689" cy="14773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2</m:t>
                          </m:r>
                        </m:sub>
                      </m:sSub>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𝑎</m:t>
                          </m:r>
                        </m:e>
                        <m:sub>
                          <m:r>
                            <a:rPr lang="en-US" b="0" i="1" smtClean="0">
                              <a:latin typeface="Cambria Math"/>
                              <a:ea typeface="Cambria Math"/>
                            </a:rPr>
                            <m:t>3</m:t>
                          </m:r>
                        </m:sub>
                      </m:sSub>
                      <m:r>
                        <a:rPr lang="en-US" b="0" i="1" smtClean="0">
                          <a:latin typeface="Cambria Math"/>
                          <a:ea typeface="Cambria Math"/>
                        </a:rPr>
                        <m:t>,</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3</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𝑎</m:t>
                          </m:r>
                        </m:e>
                        <m:sub>
                          <m:r>
                            <a:rPr lang="en-US" b="0" i="1" smtClean="0">
                              <a:latin typeface="Cambria Math"/>
                              <a:ea typeface="Cambria Math"/>
                            </a:rPr>
                            <m:t>4</m:t>
                          </m:r>
                        </m:sub>
                      </m:sSub>
                      <m:r>
                        <a:rPr lang="en-US" i="1">
                          <a:latin typeface="Cambria Math"/>
                          <a:ea typeface="Cambria Math"/>
                        </a:rPr>
                        <m:t>,</m:t>
                      </m:r>
                    </m:oMath>
                  </m:oMathPara>
                </a14:m>
                <a:endParaRPr lang="en-US" dirty="0">
                  <a:ea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3</m:t>
                          </m:r>
                        </m:sub>
                      </m:sSub>
                      <m:r>
                        <a:rPr lang="en-US" i="1">
                          <a:latin typeface="Cambria Math"/>
                        </a:rPr>
                        <m:t>+</m:t>
                      </m:r>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4</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𝑎</m:t>
                          </m:r>
                        </m:e>
                        <m:sub>
                          <m:r>
                            <a:rPr lang="en-US" b="0" i="1" smtClean="0">
                              <a:latin typeface="Cambria Math"/>
                              <a:ea typeface="Cambria Math"/>
                            </a:rPr>
                            <m:t>5</m:t>
                          </m:r>
                        </m:sub>
                      </m:sSub>
                      <m:r>
                        <a:rPr lang="en-US" i="1">
                          <a:latin typeface="Cambria Math"/>
                          <a:ea typeface="Cambria Math"/>
                        </a:rPr>
                        <m:t>,</m:t>
                      </m:r>
                    </m:oMath>
                  </m:oMathPara>
                </a14:m>
                <a:endParaRPr lang="en-US" dirty="0">
                  <a:ea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4</m:t>
                          </m:r>
                        </m:sub>
                      </m:sSub>
                      <m:r>
                        <a:rPr lang="en-US" i="1">
                          <a:latin typeface="Cambria Math"/>
                        </a:rPr>
                        <m:t>+</m:t>
                      </m:r>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5</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𝑎</m:t>
                          </m:r>
                        </m:e>
                        <m:sub>
                          <m:r>
                            <a:rPr lang="en-US" b="0" i="1" smtClean="0">
                              <a:latin typeface="Cambria Math"/>
                              <a:ea typeface="Cambria Math"/>
                            </a:rPr>
                            <m:t>6</m:t>
                          </m:r>
                        </m:sub>
                      </m:sSub>
                      <m:r>
                        <a:rPr lang="en-US" i="1">
                          <a:latin typeface="Cambria Math"/>
                          <a:ea typeface="Cambria Math"/>
                        </a:rPr>
                        <m:t>,</m:t>
                      </m:r>
                    </m:oMath>
                  </m:oMathPara>
                </a14:m>
                <a:endParaRPr lang="en-US" dirty="0">
                  <a:ea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5</m:t>
                          </m:r>
                        </m:sub>
                      </m:sSub>
                      <m:r>
                        <a:rPr lang="en-US" i="1">
                          <a:latin typeface="Cambria Math"/>
                        </a:rPr>
                        <m:t>+</m:t>
                      </m:r>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6</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𝑎</m:t>
                          </m:r>
                        </m:e>
                        <m:sub>
                          <m:r>
                            <a:rPr lang="en-US" b="0" i="1" smtClean="0">
                              <a:latin typeface="Cambria Math"/>
                              <a:ea typeface="Cambria Math"/>
                            </a:rPr>
                            <m:t>7</m:t>
                          </m:r>
                        </m:sub>
                      </m:sSub>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62000" y="4847272"/>
                <a:ext cx="1580689" cy="1477328"/>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810000" y="5105400"/>
                <a:ext cx="3868303" cy="646331"/>
              </a:xfrm>
              <a:prstGeom prst="rect">
                <a:avLst/>
              </a:prstGeom>
              <a:noFill/>
            </p:spPr>
            <p:txBody>
              <a:bodyPr wrap="none" rtlCol="0">
                <a:spAutoFit/>
              </a:bodyPr>
              <a:lstStyle/>
              <a:p>
                <a:r>
                  <a:rPr lang="en-US" dirty="0"/>
                  <a:t>Then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2</m:t>
                        </m:r>
                      </m:sub>
                    </m:sSub>
                    <m:r>
                      <a:rPr lang="en-US" i="1" smtClean="0">
                        <a:latin typeface="Cambria Math"/>
                        <a:ea typeface="Cambria Math"/>
                      </a:rPr>
                      <m:t>&gt;</m:t>
                    </m:r>
                    <m:r>
                      <a:rPr lang="en-US" b="0" i="1" smtClean="0">
                        <a:latin typeface="Cambria Math"/>
                        <a:ea typeface="Cambria Math"/>
                      </a:rPr>
                      <m:t>10</m:t>
                    </m:r>
                  </m:oMath>
                </a14:m>
                <a:r>
                  <a:rPr lang="en-US" dirty="0"/>
                  <a:t> </a:t>
                </a:r>
                <a:r>
                  <a:rPr lang="en-US" dirty="0">
                    <a:sym typeface="Wingdings" panose="05000000000000000000" pitchFamily="2" charset="2"/>
                  </a:rPr>
                  <a:t></a:t>
                </a:r>
                <a:r>
                  <a:rPr lang="en-US" dirty="0"/>
                  <a:t> </a:t>
                </a:r>
                <a14:m>
                  <m:oMath xmlns:m="http://schemas.openxmlformats.org/officeDocument/2006/math">
                    <m:sSub>
                      <m:sSubPr>
                        <m:ctrlPr>
                          <a:rPr lang="en-US" i="1" smtClean="0">
                            <a:solidFill>
                              <a:srgbClr val="FF0000"/>
                            </a:solidFill>
                            <a:latin typeface="Cambria Math" panose="02040503050406030204" pitchFamily="18" charset="0"/>
                            <a:ea typeface="Cambria Math"/>
                          </a:rPr>
                        </m:ctrlPr>
                      </m:sSubPr>
                      <m:e>
                        <m:r>
                          <a:rPr lang="en-US" i="1">
                            <a:solidFill>
                              <a:srgbClr val="FF0000"/>
                            </a:solidFill>
                            <a:latin typeface="Cambria Math"/>
                            <a:ea typeface="Cambria Math"/>
                          </a:rPr>
                          <m:t>𝑎</m:t>
                        </m:r>
                      </m:e>
                      <m:sub>
                        <m:r>
                          <a:rPr lang="en-US" i="1">
                            <a:solidFill>
                              <a:srgbClr val="FF0000"/>
                            </a:solidFill>
                            <a:latin typeface="Cambria Math"/>
                            <a:ea typeface="Cambria Math"/>
                          </a:rPr>
                          <m:t>7</m:t>
                        </m:r>
                      </m:sub>
                    </m:sSub>
                    <m:r>
                      <a:rPr lang="en-US" i="1" smtClean="0">
                        <a:solidFill>
                          <a:srgbClr val="FF0000"/>
                        </a:solidFill>
                        <a:latin typeface="Cambria Math"/>
                        <a:ea typeface="Cambria Math"/>
                      </a:rPr>
                      <m:t>&gt;</m:t>
                    </m:r>
                    <m:r>
                      <a:rPr lang="en-US" b="0" i="1" smtClean="0">
                        <a:solidFill>
                          <a:srgbClr val="FF0000"/>
                        </a:solidFill>
                        <a:latin typeface="Cambria Math"/>
                        <a:ea typeface="Cambria Math"/>
                      </a:rPr>
                      <m:t>130 </m:t>
                    </m:r>
                  </m:oMath>
                </a14:m>
                <a:endParaRPr lang="en-US" b="0" dirty="0">
                  <a:ea typeface="Cambria Math"/>
                </a:endParaRPr>
              </a:p>
              <a:p>
                <a:r>
                  <a:rPr lang="en-US" dirty="0"/>
                  <a:t>Contradict with assumptions: </a:t>
                </a:r>
                <a14:m>
                  <m:oMath xmlns:m="http://schemas.openxmlformats.org/officeDocument/2006/math">
                    <m:sSub>
                      <m:sSubPr>
                        <m:ctrlPr>
                          <a:rPr lang="en-US" i="1" smtClean="0">
                            <a:solidFill>
                              <a:srgbClr val="FF0000"/>
                            </a:solidFill>
                            <a:latin typeface="Cambria Math" panose="02040503050406030204" pitchFamily="18" charset="0"/>
                            <a:ea typeface="Cambria Math"/>
                          </a:rPr>
                        </m:ctrlPr>
                      </m:sSubPr>
                      <m:e>
                        <m:r>
                          <a:rPr lang="en-US" i="1">
                            <a:solidFill>
                              <a:srgbClr val="FF0000"/>
                            </a:solidFill>
                            <a:latin typeface="Cambria Math"/>
                            <a:ea typeface="Cambria Math"/>
                          </a:rPr>
                          <m:t>𝑎</m:t>
                        </m:r>
                      </m:e>
                      <m:sub>
                        <m:r>
                          <a:rPr lang="en-US" i="1">
                            <a:solidFill>
                              <a:srgbClr val="FF0000"/>
                            </a:solidFill>
                            <a:latin typeface="Cambria Math"/>
                            <a:ea typeface="Cambria Math"/>
                          </a:rPr>
                          <m:t>7</m:t>
                        </m:r>
                      </m:sub>
                    </m:sSub>
                    <m:r>
                      <a:rPr lang="en-US" b="0" i="1" smtClean="0">
                        <a:solidFill>
                          <a:srgbClr val="FF0000"/>
                        </a:solidFill>
                        <a:latin typeface="Cambria Math"/>
                        <a:ea typeface="Cambria Math"/>
                      </a:rPr>
                      <m:t>&lt;100</m:t>
                    </m:r>
                  </m:oMath>
                </a14:m>
                <a:endParaRPr lang="en-US"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810000" y="5105400"/>
                <a:ext cx="3868303" cy="646331"/>
              </a:xfrm>
              <a:prstGeom prst="rect">
                <a:avLst/>
              </a:prstGeom>
              <a:blipFill>
                <a:blip r:embed="rId4"/>
                <a:stretch>
                  <a:fillRect l="-1260" t="-5660" b="-13208"/>
                </a:stretch>
              </a:blipFill>
            </p:spPr>
            <p:txBody>
              <a:bodyPr/>
              <a:lstStyle/>
              <a:p>
                <a:r>
                  <a:rPr lang="en-US">
                    <a:noFill/>
                  </a:rPr>
                  <a:t> </a:t>
                </a:r>
              </a:p>
            </p:txBody>
          </p:sp>
        </mc:Fallback>
      </mc:AlternateContent>
    </p:spTree>
    <p:extLst>
      <p:ext uri="{BB962C8B-B14F-4D97-AF65-F5344CB8AC3E}">
        <p14:creationId xmlns:p14="http://schemas.microsoft.com/office/powerpoint/2010/main" val="1167073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Exercise </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Content Placeholder 4"/>
          <p:cNvSpPr>
            <a:spLocks noGrp="1"/>
          </p:cNvSpPr>
          <p:nvPr>
            <p:ph sz="quarter" idx="1"/>
          </p:nvPr>
        </p:nvSpPr>
        <p:spPr/>
        <p:txBody>
          <a:bodyPr/>
          <a:lstStyle/>
          <a:p>
            <a:pPr algn="just"/>
            <a:r>
              <a:rPr lang="en-US" b="1" dirty="0"/>
              <a:t>Exercise 1</a:t>
            </a:r>
            <a:r>
              <a:rPr lang="en-US" dirty="0"/>
              <a:t>: The vertices of a regular hexagon are numbered by arbitrary integers 0,…,9. Prove that there are always 3 consecutive vertices whose sum is greater than 13.</a:t>
            </a:r>
          </a:p>
          <a:p>
            <a:endParaRPr lang="en-US" dirty="0"/>
          </a:p>
          <a:p>
            <a:pPr algn="just"/>
            <a:r>
              <a:rPr lang="en-US" b="1" dirty="0"/>
              <a:t>Exercise 2</a:t>
            </a:r>
            <a:r>
              <a:rPr lang="en-US" dirty="0"/>
              <a:t>: Prove that it is impossible to connect 31 computers into a network so that each computer is connected to exactly 5 other computers.</a:t>
            </a:r>
          </a:p>
        </p:txBody>
      </p:sp>
    </p:spTree>
    <p:extLst>
      <p:ext uri="{BB962C8B-B14F-4D97-AF65-F5344CB8AC3E}">
        <p14:creationId xmlns:p14="http://schemas.microsoft.com/office/powerpoint/2010/main" val="323961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a:xfrm>
            <a:off x="457200" y="1219200"/>
            <a:ext cx="8458200" cy="4937760"/>
          </a:xfrm>
        </p:spPr>
        <p:txBody>
          <a:bodyPr/>
          <a:lstStyle/>
          <a:p>
            <a:pPr>
              <a:spcBef>
                <a:spcPct val="50000"/>
              </a:spcBef>
            </a:pPr>
            <a:r>
              <a:rPr lang="en-US" dirty="0">
                <a:solidFill>
                  <a:schemeClr val="bg1">
                    <a:lumMod val="75000"/>
                  </a:schemeClr>
                </a:solidFill>
              </a:rPr>
              <a:t>Introduction</a:t>
            </a:r>
          </a:p>
          <a:p>
            <a:pPr>
              <a:spcBef>
                <a:spcPct val="50000"/>
              </a:spcBef>
            </a:pPr>
            <a:r>
              <a:rPr lang="en-US" dirty="0">
                <a:solidFill>
                  <a:schemeClr val="bg1">
                    <a:lumMod val="75000"/>
                  </a:schemeClr>
                </a:solidFill>
              </a:rPr>
              <a:t>Reductio ad absurdum method </a:t>
            </a:r>
          </a:p>
          <a:p>
            <a:pPr>
              <a:spcBef>
                <a:spcPct val="50000"/>
              </a:spcBef>
            </a:pPr>
            <a:r>
              <a:rPr lang="en-US" dirty="0"/>
              <a:t>Dirichlet’s principle</a:t>
            </a:r>
          </a:p>
          <a:p>
            <a:pPr>
              <a:spcBef>
                <a:spcPct val="50000"/>
              </a:spcBef>
            </a:pPr>
            <a:r>
              <a:rPr lang="en-US" dirty="0"/>
              <a:t>Exercise</a:t>
            </a:r>
          </a:p>
          <a:p>
            <a:pPr>
              <a:spcBef>
                <a:spcPct val="50000"/>
              </a:spcBef>
            </a:pPr>
            <a:endParaRPr lang="en-US" dirty="0"/>
          </a:p>
          <a:p>
            <a:endParaRPr lang="en-US" dirty="0"/>
          </a:p>
        </p:txBody>
      </p:sp>
    </p:spTree>
    <p:extLst>
      <p:ext uri="{BB962C8B-B14F-4D97-AF65-F5344CB8AC3E}">
        <p14:creationId xmlns:p14="http://schemas.microsoft.com/office/powerpoint/2010/main" val="309426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ct val="50000"/>
              </a:spcBef>
            </a:pPr>
            <a:r>
              <a:rPr lang="en-US" dirty="0"/>
              <a:t>Dirichlet’s principle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Content Placeholder 4"/>
          <p:cNvSpPr>
            <a:spLocks noGrp="1"/>
          </p:cNvSpPr>
          <p:nvPr>
            <p:ph sz="quarter" idx="1"/>
          </p:nvPr>
        </p:nvSpPr>
        <p:spPr/>
        <p:txBody>
          <a:bodyPr/>
          <a:lstStyle/>
          <a:p>
            <a:r>
              <a:rPr lang="en-US" dirty="0"/>
              <a:t>Dirichlet’s principle (Rabbit problem)</a:t>
            </a:r>
          </a:p>
          <a:p>
            <a:pPr lvl="1"/>
            <a:r>
              <a:rPr lang="en-US" dirty="0"/>
              <a:t>It is impossible to put 7 rabbits in 3 cages so that each cage contains no more 2 rabbits</a:t>
            </a:r>
          </a:p>
          <a:p>
            <a:endParaRPr lang="en-US" dirty="0"/>
          </a:p>
          <a:p>
            <a:r>
              <a:rPr lang="en-US" dirty="0"/>
              <a:t>Dirichlet’s principle</a:t>
            </a:r>
          </a:p>
          <a:p>
            <a:pPr lvl="1"/>
            <a:r>
              <a:rPr lang="en-US" dirty="0"/>
              <a:t>If put more than n objects in n boxes, always find a box containing no less than 2 objects</a:t>
            </a:r>
          </a:p>
          <a:p>
            <a:pPr lvl="1"/>
            <a:endParaRPr lang="en-US" dirty="0"/>
          </a:p>
          <a:p>
            <a:r>
              <a:rPr lang="en-US" dirty="0"/>
              <a:t>Dirichlet’s principle (overview)</a:t>
            </a:r>
          </a:p>
          <a:p>
            <a:pPr lvl="1"/>
            <a:r>
              <a:rPr lang="en-US" dirty="0"/>
              <a:t>If put n objects in k boxes, always find a box containing no less than n/k objects</a:t>
            </a:r>
          </a:p>
        </p:txBody>
      </p:sp>
    </p:spTree>
    <p:extLst>
      <p:ext uri="{BB962C8B-B14F-4D97-AF65-F5344CB8AC3E}">
        <p14:creationId xmlns:p14="http://schemas.microsoft.com/office/powerpoint/2010/main" val="3749315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Content Placeholder 4"/>
          <p:cNvSpPr>
            <a:spLocks noGrp="1"/>
          </p:cNvSpPr>
          <p:nvPr>
            <p:ph sz="quarter" idx="1"/>
          </p:nvPr>
        </p:nvSpPr>
        <p:spPr/>
        <p:txBody>
          <a:bodyPr/>
          <a:lstStyle/>
          <a:p>
            <a:r>
              <a:rPr lang="en-US" b="1" dirty="0"/>
              <a:t>Problem</a:t>
            </a:r>
            <a:r>
              <a:rPr lang="en-US" dirty="0"/>
              <a:t>: Prove that in a group of 367 people always find 2 people with the same birthday</a:t>
            </a:r>
          </a:p>
          <a:p>
            <a:endParaRPr lang="en-US" dirty="0"/>
          </a:p>
        </p:txBody>
      </p:sp>
    </p:spTree>
    <p:extLst>
      <p:ext uri="{BB962C8B-B14F-4D97-AF65-F5344CB8AC3E}">
        <p14:creationId xmlns:p14="http://schemas.microsoft.com/office/powerpoint/2010/main" val="819653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Content Placeholder 4"/>
          <p:cNvSpPr>
            <a:spLocks noGrp="1"/>
          </p:cNvSpPr>
          <p:nvPr>
            <p:ph sz="quarter" idx="1"/>
          </p:nvPr>
        </p:nvSpPr>
        <p:spPr/>
        <p:txBody>
          <a:bodyPr/>
          <a:lstStyle/>
          <a:p>
            <a:r>
              <a:rPr lang="en-US" b="1" dirty="0"/>
              <a:t>Problem</a:t>
            </a:r>
            <a:r>
              <a:rPr lang="en-US" dirty="0"/>
              <a:t>: Prove that in a group of 367 people always find 2 people with the same birthday</a:t>
            </a:r>
          </a:p>
          <a:p>
            <a:endParaRPr lang="en-US" dirty="0"/>
          </a:p>
          <a:p>
            <a:r>
              <a:rPr lang="en-US" b="1" dirty="0"/>
              <a:t>Solution</a:t>
            </a:r>
            <a:r>
              <a:rPr lang="en-US" dirty="0"/>
              <a:t>: </a:t>
            </a:r>
          </a:p>
          <a:p>
            <a:pPr lvl="1"/>
            <a:r>
              <a:rPr lang="en-US" dirty="0"/>
              <a:t>The number of days in the year is 365 or 366 (leap year). So, there are a total of 366 different birthdays.</a:t>
            </a:r>
          </a:p>
          <a:p>
            <a:pPr lvl="1"/>
            <a:r>
              <a:rPr lang="en-US" dirty="0"/>
              <a:t>There are 367 people and 366 different birthdays, according to the Dirichlet’s principle, there are 2 people with the same birthday.</a:t>
            </a:r>
          </a:p>
          <a:p>
            <a:pPr lvl="1"/>
            <a:endParaRPr lang="en-US" dirty="0"/>
          </a:p>
        </p:txBody>
      </p:sp>
    </p:spTree>
    <p:extLst>
      <p:ext uri="{BB962C8B-B14F-4D97-AF65-F5344CB8AC3E}">
        <p14:creationId xmlns:p14="http://schemas.microsoft.com/office/powerpoint/2010/main" val="1619187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Content Placeholder 4"/>
          <p:cNvSpPr>
            <a:spLocks noGrp="1"/>
          </p:cNvSpPr>
          <p:nvPr>
            <p:ph sz="quarter" idx="1"/>
          </p:nvPr>
        </p:nvSpPr>
        <p:spPr/>
        <p:txBody>
          <a:bodyPr/>
          <a:lstStyle/>
          <a:p>
            <a:pPr algn="just"/>
            <a:r>
              <a:rPr lang="en-US" b="1" dirty="0"/>
              <a:t>Problem</a:t>
            </a:r>
            <a:r>
              <a:rPr lang="en-US" dirty="0"/>
              <a:t>: There are 5 different types of scholarships. What is the minimum number of students required to make sure that there are at least 6 students receiving the same type of scholarship (assume that all students receive scholarship)?</a:t>
            </a:r>
          </a:p>
          <a:p>
            <a:endParaRPr lang="en-US" dirty="0"/>
          </a:p>
        </p:txBody>
      </p:sp>
    </p:spTree>
    <p:extLst>
      <p:ext uri="{BB962C8B-B14F-4D97-AF65-F5344CB8AC3E}">
        <p14:creationId xmlns:p14="http://schemas.microsoft.com/office/powerpoint/2010/main" val="2458754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Content Placeholder 4"/>
          <p:cNvSpPr>
            <a:spLocks noGrp="1"/>
          </p:cNvSpPr>
          <p:nvPr>
            <p:ph sz="quarter" idx="1"/>
          </p:nvPr>
        </p:nvSpPr>
        <p:spPr/>
        <p:txBody>
          <a:bodyPr/>
          <a:lstStyle/>
          <a:p>
            <a:pPr algn="just"/>
            <a:r>
              <a:rPr lang="en-US" b="1" dirty="0"/>
              <a:t>Problem</a:t>
            </a:r>
            <a:r>
              <a:rPr lang="en-US" dirty="0"/>
              <a:t>: There are 5 different types of scholarships. What is the minimum number of students required to make sure that there are at least 6 students receiving the same type of scholarship (assume that all students receive scholarship)?</a:t>
            </a:r>
          </a:p>
          <a:p>
            <a:pPr marL="0" indent="0">
              <a:buNone/>
            </a:pPr>
            <a:endParaRPr lang="en-US" dirty="0"/>
          </a:p>
          <a:p>
            <a:r>
              <a:rPr lang="en-US" b="1" dirty="0"/>
              <a:t>Solution</a:t>
            </a:r>
            <a:r>
              <a:rPr lang="en-US" dirty="0"/>
              <a:t>:</a:t>
            </a:r>
          </a:p>
          <a:p>
            <a:pPr lvl="1"/>
            <a:r>
              <a:rPr lang="en-US" dirty="0"/>
              <a:t>Let n be the minimum number of students to ensure that at least 6 students receive the same type of scholarship.</a:t>
            </a:r>
          </a:p>
          <a:p>
            <a:pPr lvl="1"/>
            <a:r>
              <a:rPr lang="en-US" dirty="0"/>
              <a:t>So, n is the smallest integer satisfying n/5 &gt; 5 </a:t>
            </a:r>
            <a:r>
              <a:rPr lang="en-US" dirty="0">
                <a:sym typeface="Wingdings" panose="05000000000000000000" pitchFamily="2" charset="2"/>
              </a:rPr>
              <a:t> n &gt; 25</a:t>
            </a:r>
          </a:p>
          <a:p>
            <a:pPr marL="274320" lvl="1" indent="0">
              <a:buNone/>
            </a:pPr>
            <a:r>
              <a:rPr lang="en-US" dirty="0">
                <a:sym typeface="Wingdings" panose="05000000000000000000" pitchFamily="2" charset="2"/>
              </a:rPr>
              <a:t> We need at least n = 25 + 1 = 26 students.</a:t>
            </a:r>
            <a:endParaRPr lang="en-US" dirty="0"/>
          </a:p>
        </p:txBody>
      </p:sp>
    </p:spTree>
    <p:extLst>
      <p:ext uri="{BB962C8B-B14F-4D97-AF65-F5344CB8AC3E}">
        <p14:creationId xmlns:p14="http://schemas.microsoft.com/office/powerpoint/2010/main" val="1531543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(Dirichlet)</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Content Placeholder 4"/>
          <p:cNvSpPr>
            <a:spLocks noGrp="1"/>
          </p:cNvSpPr>
          <p:nvPr>
            <p:ph sz="quarter" idx="1"/>
          </p:nvPr>
        </p:nvSpPr>
        <p:spPr>
          <a:xfrm>
            <a:off x="457200" y="1219200"/>
            <a:ext cx="8382000" cy="4937760"/>
          </a:xfrm>
        </p:spPr>
        <p:txBody>
          <a:bodyPr>
            <a:normAutofit/>
          </a:bodyPr>
          <a:lstStyle/>
          <a:p>
            <a:pPr algn="just"/>
            <a:r>
              <a:rPr lang="en-US" sz="2000" b="1" dirty="0"/>
              <a:t>Exercise 1</a:t>
            </a:r>
            <a:r>
              <a:rPr lang="en-US" sz="2000" dirty="0"/>
              <a:t>: Prove that in a meeting room we can always find 2 people who have the same number of friends among the participants.</a:t>
            </a:r>
          </a:p>
          <a:p>
            <a:endParaRPr lang="en-US" sz="2000" b="1" dirty="0"/>
          </a:p>
          <a:p>
            <a:pPr algn="just"/>
            <a:r>
              <a:rPr lang="en-US" sz="2000" b="1" dirty="0"/>
              <a:t>Exercise 2</a:t>
            </a:r>
            <a:r>
              <a:rPr lang="en-US" sz="2000" dirty="0"/>
              <a:t>: In a plane, there are 6 points connected one by one by blue or red arcs. Prove that we can always find 3 points so that the </a:t>
            </a:r>
            <a:r>
              <a:rPr lang="en-US" sz="2000" dirty="0" err="1"/>
              <a:t>acrs</a:t>
            </a:r>
            <a:r>
              <a:rPr lang="en-US" sz="2000" dirty="0"/>
              <a:t> joining them have the same color.</a:t>
            </a:r>
          </a:p>
          <a:p>
            <a:endParaRPr lang="en-US" sz="2000" b="1" dirty="0"/>
          </a:p>
          <a:p>
            <a:pPr algn="just"/>
            <a:r>
              <a:rPr lang="en-US" sz="2000" b="1" dirty="0"/>
              <a:t>Exercise 3</a:t>
            </a:r>
            <a:r>
              <a:rPr lang="en-US" sz="2000" dirty="0"/>
              <a:t>: In a month of 30 days, a volleyball team plays at least one match a day, but there are totally no more 45 matches. Prove that we can find a period including a certain number of consecutive days in a month so that during that period the team plays exactly 14 matches.</a:t>
            </a:r>
          </a:p>
        </p:txBody>
      </p:sp>
    </p:spTree>
    <p:extLst>
      <p:ext uri="{BB962C8B-B14F-4D97-AF65-F5344CB8AC3E}">
        <p14:creationId xmlns:p14="http://schemas.microsoft.com/office/powerpoint/2010/main" val="3531264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a:xfrm>
            <a:off x="457200" y="1219200"/>
            <a:ext cx="8458200" cy="4937760"/>
          </a:xfrm>
        </p:spPr>
        <p:txBody>
          <a:bodyPr/>
          <a:lstStyle/>
          <a:p>
            <a:pPr>
              <a:spcBef>
                <a:spcPct val="50000"/>
              </a:spcBef>
            </a:pPr>
            <a:r>
              <a:rPr lang="en-US" dirty="0">
                <a:solidFill>
                  <a:schemeClr val="bg1">
                    <a:lumMod val="75000"/>
                  </a:schemeClr>
                </a:solidFill>
              </a:rPr>
              <a:t>Introduction</a:t>
            </a:r>
          </a:p>
          <a:p>
            <a:pPr>
              <a:spcBef>
                <a:spcPct val="50000"/>
              </a:spcBef>
            </a:pPr>
            <a:r>
              <a:rPr lang="en-US" dirty="0">
                <a:solidFill>
                  <a:schemeClr val="bg1">
                    <a:lumMod val="75000"/>
                  </a:schemeClr>
                </a:solidFill>
              </a:rPr>
              <a:t>Reductio ad absurdum method </a:t>
            </a:r>
          </a:p>
          <a:p>
            <a:pPr>
              <a:spcBef>
                <a:spcPct val="50000"/>
              </a:spcBef>
            </a:pPr>
            <a:r>
              <a:rPr lang="en-US" dirty="0">
                <a:solidFill>
                  <a:schemeClr val="bg1">
                    <a:lumMod val="75000"/>
                  </a:schemeClr>
                </a:solidFill>
              </a:rPr>
              <a:t>Dirichlet’s principle</a:t>
            </a:r>
          </a:p>
          <a:p>
            <a:pPr>
              <a:spcBef>
                <a:spcPct val="50000"/>
              </a:spcBef>
            </a:pPr>
            <a:r>
              <a:rPr lang="en-US" dirty="0"/>
              <a:t>Exercise</a:t>
            </a:r>
          </a:p>
          <a:p>
            <a:pPr>
              <a:spcBef>
                <a:spcPct val="50000"/>
              </a:spcBef>
            </a:pPr>
            <a:endParaRPr lang="en-US" dirty="0"/>
          </a:p>
          <a:p>
            <a:endParaRPr lang="en-US" dirty="0"/>
          </a:p>
        </p:txBody>
      </p:sp>
    </p:spTree>
    <p:extLst>
      <p:ext uri="{BB962C8B-B14F-4D97-AF65-F5344CB8AC3E}">
        <p14:creationId xmlns:p14="http://schemas.microsoft.com/office/powerpoint/2010/main" val="968040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(Summary)</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en-US" sz="2000" b="1" dirty="0"/>
                  <a:t>Exercise 1</a:t>
                </a:r>
                <a:r>
                  <a:rPr lang="en-US" sz="2000" dirty="0"/>
                  <a:t>: Prove that in an undirected graph, the number of odd-level vertices must be an even number.</a:t>
                </a:r>
              </a:p>
              <a:p>
                <a:pPr algn="just"/>
                <a:r>
                  <a:rPr lang="en-US" sz="2000" b="1" dirty="0"/>
                  <a:t>Exercise 2</a:t>
                </a:r>
                <a:r>
                  <a:rPr lang="en-US" sz="2000" dirty="0"/>
                  <a:t>: A computer center has 151 computers indexed by integers from 1 to 300. Prove that there are 2 computers that are numbered by 2 consecutive integers.</a:t>
                </a:r>
              </a:p>
              <a:p>
                <a:pPr algn="just"/>
                <a:r>
                  <a:rPr lang="en-US" sz="2000" b="1" dirty="0"/>
                  <a:t>Exercise 3</a:t>
                </a:r>
                <a:r>
                  <a:rPr lang="en-US" sz="2000" dirty="0"/>
                  <a:t>: 17 scientists write letters to each other about 3 topics, each pair exchanges only 1 topic. Prove that we can always find 3 scientists who write letters to each other about 1 topic.</a:t>
                </a:r>
              </a:p>
              <a:p>
                <a:pPr algn="just"/>
                <a:r>
                  <a:rPr lang="en-US" sz="2000" b="1" dirty="0"/>
                  <a:t>Exercise 4</a:t>
                </a:r>
                <a:r>
                  <a:rPr lang="en-US" sz="2000" dirty="0"/>
                  <a:t>: Prove that in </a:t>
                </a:r>
                <a14:m>
                  <m:oMath xmlns:m="http://schemas.openxmlformats.org/officeDocument/2006/math">
                    <m:r>
                      <a:rPr lang="en-US" sz="2000" i="1" dirty="0" smtClean="0">
                        <a:latin typeface="Cambria Math"/>
                      </a:rPr>
                      <m:t>(</m:t>
                    </m:r>
                    <m:r>
                      <a:rPr lang="en-US" sz="2000" i="1" dirty="0" smtClean="0">
                        <a:latin typeface="Cambria Math"/>
                      </a:rPr>
                      <m:t>𝑛</m:t>
                    </m:r>
                    <m:r>
                      <a:rPr lang="en-US" sz="2000" i="1" dirty="0" smtClean="0">
                        <a:latin typeface="Cambria Math"/>
                      </a:rPr>
                      <m:t>+1) </m:t>
                    </m:r>
                  </m:oMath>
                </a14:m>
                <a:r>
                  <a:rPr lang="en-US" sz="2000" dirty="0"/>
                  <a:t>integers, each of which is not greater than </a:t>
                </a:r>
                <a14:m>
                  <m:oMath xmlns:m="http://schemas.openxmlformats.org/officeDocument/2006/math">
                    <m:r>
                      <a:rPr lang="en-US" sz="2000" i="1" dirty="0" smtClean="0">
                        <a:latin typeface="Cambria Math"/>
                      </a:rPr>
                      <m:t>2</m:t>
                    </m:r>
                    <m:r>
                      <a:rPr lang="en-US" sz="2000" i="1" dirty="0" smtClean="0">
                        <a:latin typeface="Cambria Math"/>
                      </a:rPr>
                      <m:t>𝑛</m:t>
                    </m:r>
                  </m:oMath>
                </a14:m>
                <a:r>
                  <a:rPr lang="en-US" sz="2000" dirty="0"/>
                  <a:t>, we can always find 2 numbers so that one of them is divisible by the other.</a:t>
                </a:r>
              </a:p>
              <a:p>
                <a:pPr algn="just"/>
                <a:r>
                  <a:rPr lang="en-US" sz="2000" b="1" dirty="0"/>
                  <a:t>Exercise 5</a:t>
                </a:r>
                <a:r>
                  <a:rPr lang="en-US" sz="2000" dirty="0"/>
                  <a:t>: A class has 45 boys and 35 girls who are arranged in a row. Prove that in that row, we can always find 2 boys so that there are exactly students between them.</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296" t="-617" r="-741"/>
                </a:stretch>
              </a:blipFill>
            </p:spPr>
            <p:txBody>
              <a:bodyPr/>
              <a:lstStyle/>
              <a:p>
                <a:r>
                  <a:rPr lang="vi-VN">
                    <a:noFill/>
                  </a:rPr>
                  <a:t> </a:t>
                </a:r>
              </a:p>
            </p:txBody>
          </p:sp>
        </mc:Fallback>
      </mc:AlternateContent>
    </p:spTree>
    <p:extLst>
      <p:ext uri="{BB962C8B-B14F-4D97-AF65-F5344CB8AC3E}">
        <p14:creationId xmlns:p14="http://schemas.microsoft.com/office/powerpoint/2010/main" val="1300103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(Summary)</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Content Placeholder 4"/>
          <p:cNvSpPr>
            <a:spLocks noGrp="1"/>
          </p:cNvSpPr>
          <p:nvPr>
            <p:ph sz="quarter" idx="1"/>
          </p:nvPr>
        </p:nvSpPr>
        <p:spPr/>
        <p:txBody>
          <a:bodyPr>
            <a:normAutofit fontScale="92500" lnSpcReduction="20000"/>
          </a:bodyPr>
          <a:lstStyle/>
          <a:p>
            <a:pPr algn="just"/>
            <a:r>
              <a:rPr lang="en-US" sz="2400" b="1" dirty="0"/>
              <a:t>Exercise </a:t>
            </a:r>
            <a:r>
              <a:rPr lang="en-US" b="1" dirty="0"/>
              <a:t>6</a:t>
            </a:r>
            <a:r>
              <a:rPr lang="en-US" dirty="0"/>
              <a:t>: Prove that among any 10 people, we can always find either 2 people whose sum of ages is divisible by 16, or 2 people whose distance of ages is divisible by 16</a:t>
            </a:r>
          </a:p>
          <a:p>
            <a:pPr algn="just"/>
            <a:r>
              <a:rPr lang="en-US" sz="2400" b="1" dirty="0"/>
              <a:t>Exercise </a:t>
            </a:r>
            <a:r>
              <a:rPr lang="en-US" b="1" dirty="0"/>
              <a:t>7</a:t>
            </a:r>
            <a:r>
              <a:rPr lang="en-US" dirty="0"/>
              <a:t>: In space, there are 9 integers coordinate points. Prove that there are 2 points whose line segment connecting them goes through at least 1 other integer coordinate point.</a:t>
            </a:r>
          </a:p>
          <a:p>
            <a:pPr algn="just"/>
            <a:r>
              <a:rPr lang="en-US" sz="2400" b="1" dirty="0"/>
              <a:t>Exercise </a:t>
            </a:r>
            <a:r>
              <a:rPr lang="en-US" b="1" dirty="0"/>
              <a:t>8</a:t>
            </a:r>
            <a:r>
              <a:rPr lang="en-US" dirty="0"/>
              <a:t>: How many at least ordered sets of 2 integers (</a:t>
            </a:r>
            <a:r>
              <a:rPr lang="en-US" dirty="0" err="1"/>
              <a:t>a,b</a:t>
            </a:r>
            <a:r>
              <a:rPr lang="en-US" dirty="0"/>
              <a:t>) so that we can always choose 2 sets (</a:t>
            </a:r>
            <a:r>
              <a:rPr lang="en-US" dirty="0" err="1"/>
              <a:t>c,d</a:t>
            </a:r>
            <a:r>
              <a:rPr lang="en-US" dirty="0"/>
              <a:t>) and (</a:t>
            </a:r>
            <a:r>
              <a:rPr lang="en-US" dirty="0" err="1"/>
              <a:t>e,f</a:t>
            </a:r>
            <a:r>
              <a:rPr lang="en-US" dirty="0"/>
              <a:t>) satisfying c-e and d-f are numbers that have digit 0 at the end?</a:t>
            </a:r>
          </a:p>
          <a:p>
            <a:pPr algn="just"/>
            <a:r>
              <a:rPr lang="en-US" sz="2400" b="1" dirty="0"/>
              <a:t>Exercise </a:t>
            </a:r>
            <a:r>
              <a:rPr lang="en-US" b="1" dirty="0"/>
              <a:t>9</a:t>
            </a:r>
            <a:r>
              <a:rPr lang="en-US" dirty="0"/>
              <a:t>: Let 13 mantises on a 5x5 chessboard so that each square has no more than 1 mantis and no 2 mantis in 2 adjacent cells. A person knocks a bowl, each time the bowl is knocked, the manties will move to the next cell (up, down, left, right). Prove that after 2015 times of knocking the bowl, there exists at least 1 cell having more than </a:t>
            </a:r>
            <a:r>
              <a:rPr lang="en-US"/>
              <a:t>1 mantis.</a:t>
            </a:r>
            <a:endParaRPr lang="en-US" dirty="0"/>
          </a:p>
        </p:txBody>
      </p:sp>
    </p:spTree>
    <p:extLst>
      <p:ext uri="{BB962C8B-B14F-4D97-AF65-F5344CB8AC3E}">
        <p14:creationId xmlns:p14="http://schemas.microsoft.com/office/powerpoint/2010/main" val="4698549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2597</TotalTime>
  <Words>1897</Words>
  <Application>Microsoft Office PowerPoint</Application>
  <PresentationFormat>On-screen Show (4:3)</PresentationFormat>
  <Paragraphs>198</Paragraphs>
  <Slides>21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Bookman Old Style</vt:lpstr>
      <vt:lpstr>Calibri</vt:lpstr>
      <vt:lpstr>Cambria Math</vt:lpstr>
      <vt:lpstr>Courier New</vt:lpstr>
      <vt:lpstr>Georgia</vt:lpstr>
      <vt:lpstr>Gill Sans MT</vt:lpstr>
      <vt:lpstr>Tahoma</vt:lpstr>
      <vt:lpstr>Trebuchet MS</vt:lpstr>
      <vt:lpstr>Wingdings</vt:lpstr>
      <vt:lpstr>Wingdings 3</vt:lpstr>
      <vt:lpstr>Origin</vt:lpstr>
      <vt:lpstr>Existing problem</vt:lpstr>
      <vt:lpstr>Contents</vt:lpstr>
      <vt:lpstr>Introduce existing problem</vt:lpstr>
      <vt:lpstr>Example 1 (1/2)</vt:lpstr>
      <vt:lpstr>Example 1 (2/2) </vt:lpstr>
      <vt:lpstr>Example 2 (1/2)</vt:lpstr>
      <vt:lpstr>Example 2 (2/2)</vt:lpstr>
      <vt:lpstr>Contents</vt:lpstr>
      <vt:lpstr>Reductio ad absurdum method (1/2)</vt:lpstr>
      <vt:lpstr>Reductio ad absurdum method (1/2)</vt:lpstr>
      <vt:lpstr>Exercise </vt:lpstr>
      <vt:lpstr>Contents</vt:lpstr>
      <vt:lpstr>Dirichlet’s principle</vt:lpstr>
      <vt:lpstr>Example 4 (1/2)</vt:lpstr>
      <vt:lpstr>Example 4 (2/2)</vt:lpstr>
      <vt:lpstr>Example 5 (1/2)</vt:lpstr>
      <vt:lpstr>Example 5 (2/2)</vt:lpstr>
      <vt:lpstr>Exercise (Dirichlet)</vt:lpstr>
      <vt:lpstr>Contents</vt:lpstr>
      <vt:lpstr>Exercise (Summary)</vt:lpstr>
      <vt:lpstr>Exercise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bachnx</dc:creator>
  <cp:lastModifiedBy>Thuy Quynh</cp:lastModifiedBy>
  <cp:revision>289</cp:revision>
  <dcterms:created xsi:type="dcterms:W3CDTF">2006-08-16T00:00:00Z</dcterms:created>
  <dcterms:modified xsi:type="dcterms:W3CDTF">2022-11-07T11:07:58Z</dcterms:modified>
</cp:coreProperties>
</file>