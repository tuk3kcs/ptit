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176" r:id="rId1"/>
  </p:sldMasterIdLst>
  <p:notesMasterIdLst>
    <p:notesMasterId r:id="rId86"/>
  </p:notesMasterIdLst>
  <p:handoutMasterIdLst>
    <p:handoutMasterId r:id="rId87"/>
  </p:handoutMasterIdLst>
  <p:sldIdLst>
    <p:sldId id="256" r:id="rId2"/>
    <p:sldId id="257" r:id="rId3"/>
    <p:sldId id="258" r:id="rId4"/>
    <p:sldId id="259" r:id="rId5"/>
    <p:sldId id="344" r:id="rId6"/>
    <p:sldId id="260" r:id="rId7"/>
    <p:sldId id="262" r:id="rId8"/>
    <p:sldId id="269" r:id="rId9"/>
    <p:sldId id="264" r:id="rId10"/>
    <p:sldId id="265" r:id="rId11"/>
    <p:sldId id="271" r:id="rId12"/>
    <p:sldId id="342" r:id="rId13"/>
    <p:sldId id="343" r:id="rId14"/>
    <p:sldId id="273" r:id="rId15"/>
    <p:sldId id="272" r:id="rId16"/>
    <p:sldId id="268" r:id="rId17"/>
    <p:sldId id="274" r:id="rId18"/>
    <p:sldId id="275" r:id="rId19"/>
    <p:sldId id="276" r:id="rId20"/>
    <p:sldId id="277" r:id="rId21"/>
    <p:sldId id="278" r:id="rId22"/>
    <p:sldId id="279" r:id="rId23"/>
    <p:sldId id="280" r:id="rId24"/>
    <p:sldId id="281" r:id="rId25"/>
    <p:sldId id="282" r:id="rId26"/>
    <p:sldId id="284" r:id="rId27"/>
    <p:sldId id="283" r:id="rId28"/>
    <p:sldId id="302" r:id="rId29"/>
    <p:sldId id="303" r:id="rId30"/>
    <p:sldId id="304" r:id="rId31"/>
    <p:sldId id="266" r:id="rId32"/>
    <p:sldId id="285" r:id="rId33"/>
    <p:sldId id="286" r:id="rId34"/>
    <p:sldId id="287" r:id="rId35"/>
    <p:sldId id="288" r:id="rId36"/>
    <p:sldId id="289" r:id="rId37"/>
    <p:sldId id="297" r:id="rId38"/>
    <p:sldId id="305" r:id="rId39"/>
    <p:sldId id="306" r:id="rId40"/>
    <p:sldId id="345" r:id="rId41"/>
    <p:sldId id="291" r:id="rId42"/>
    <p:sldId id="292" r:id="rId43"/>
    <p:sldId id="293" r:id="rId44"/>
    <p:sldId id="294" r:id="rId45"/>
    <p:sldId id="346" r:id="rId46"/>
    <p:sldId id="296" r:id="rId47"/>
    <p:sldId id="298" r:id="rId48"/>
    <p:sldId id="299" r:id="rId49"/>
    <p:sldId id="300" r:id="rId50"/>
    <p:sldId id="301" r:id="rId51"/>
    <p:sldId id="307" r:id="rId52"/>
    <p:sldId id="308" r:id="rId53"/>
    <p:sldId id="309" r:id="rId54"/>
    <p:sldId id="310"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27" r:id="rId71"/>
    <p:sldId id="328" r:id="rId72"/>
    <p:sldId id="329" r:id="rId73"/>
    <p:sldId id="330" r:id="rId74"/>
    <p:sldId id="331" r:id="rId75"/>
    <p:sldId id="332" r:id="rId76"/>
    <p:sldId id="334" r:id="rId77"/>
    <p:sldId id="348" r:id="rId78"/>
    <p:sldId id="336" r:id="rId79"/>
    <p:sldId id="340" r:id="rId80"/>
    <p:sldId id="349" r:id="rId81"/>
    <p:sldId id="337" r:id="rId82"/>
    <p:sldId id="338" r:id="rId83"/>
    <p:sldId id="339" r:id="rId84"/>
    <p:sldId id="341" r:id="rId8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63" autoAdjust="0"/>
    <p:restoredTop sz="95897"/>
  </p:normalViewPr>
  <p:slideViewPr>
    <p:cSldViewPr>
      <p:cViewPr varScale="1">
        <p:scale>
          <a:sx n="114" d="100"/>
          <a:sy n="114" d="100"/>
        </p:scale>
        <p:origin x="1536"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 Id="rId4" Type="http://schemas.openxmlformats.org/officeDocument/2006/relationships/image" Target="../media/image17.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 Id="rId5" Type="http://schemas.openxmlformats.org/officeDocument/2006/relationships/image" Target="../media/image26.wmf"/><Relationship Id="rId4" Type="http://schemas.openxmlformats.org/officeDocument/2006/relationships/image" Target="../media/image2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D26F4E3-F401-4DC3-88B8-6423B362AAD2}" type="datetimeFigureOut">
              <a:rPr lang="en-US" smtClean="0"/>
              <a:t>12/13/22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D43EF8E-F52D-4609-913F-23254647DF12}" type="slidenum">
              <a:rPr lang="en-US" smtClean="0"/>
              <a:t>‹#›</a:t>
            </a:fld>
            <a:endParaRPr lang="en-US"/>
          </a:p>
        </p:txBody>
      </p:sp>
    </p:spTree>
    <p:extLst>
      <p:ext uri="{BB962C8B-B14F-4D97-AF65-F5344CB8AC3E}">
        <p14:creationId xmlns:p14="http://schemas.microsoft.com/office/powerpoint/2010/main" val="979701743"/>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872C9E9-F47F-43FB-BD67-61E05AD56ABC}" type="datetimeFigureOut">
              <a:rPr lang="en-US" smtClean="0"/>
              <a:t>12/13/22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a:t>Ngô Xuân Bách</a:t>
            </a: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213A30B-9554-4543-B09D-457694D42B7A}" type="slidenum">
              <a:rPr lang="en-US" smtClean="0"/>
              <a:t>‹#›</a:t>
            </a:fld>
            <a:endParaRPr lang="en-US"/>
          </a:p>
        </p:txBody>
      </p:sp>
    </p:spTree>
    <p:extLst>
      <p:ext uri="{BB962C8B-B14F-4D97-AF65-F5344CB8AC3E}">
        <p14:creationId xmlns:p14="http://schemas.microsoft.com/office/powerpoint/2010/main" val="1867261932"/>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1525100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t>
            </a:r>
            <a:r>
              <a:rPr lang="en-VN" dirty="0"/>
              <a:t>em lại từ </a:t>
            </a:r>
            <a:r>
              <a:rPr lang="en-US" dirty="0">
                <a:solidFill>
                  <a:srgbClr val="FF0000"/>
                </a:solidFill>
              </a:rPr>
              <a:t>arrangements </a:t>
            </a:r>
            <a:endParaRPr lang="en-VN" dirty="0"/>
          </a:p>
        </p:txBody>
      </p:sp>
    </p:spTree>
    <p:extLst>
      <p:ext uri="{BB962C8B-B14F-4D97-AF65-F5344CB8AC3E}">
        <p14:creationId xmlns:p14="http://schemas.microsoft.com/office/powerpoint/2010/main" val="481939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8036964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499"/>
            <a:ext cx="1600200" cy="175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a:t>Click to edit Master title style</a:t>
            </a:r>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8" name="Footer Placeholder 7"/>
          <p:cNvSpPr>
            <a:spLocks noGrp="1"/>
          </p:cNvSpPr>
          <p:nvPr>
            <p:ph type="ftr" sz="quarter" idx="11"/>
          </p:nvPr>
        </p:nvSpPr>
        <p:spPr/>
        <p:txBody>
          <a:bodyPr/>
          <a:lstStyle/>
          <a:p>
            <a:r>
              <a:rPr lang="en-US"/>
              <a:t>http://www.ptit.edu.vn</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a:t>Click to edit Master title style</a:t>
            </a:r>
          </a:p>
        </p:txBody>
      </p:sp>
      <p:sp>
        <p:nvSpPr>
          <p:cNvPr id="3" name="Date Placeholder 2"/>
          <p:cNvSpPr>
            <a:spLocks noGrp="1"/>
          </p:cNvSpPr>
          <p:nvPr>
            <p:ph type="dt" sz="half" idx="10"/>
          </p:nvPr>
        </p:nvSpPr>
        <p:spPr>
          <a:xfrm>
            <a:off x="6400800" y="6356350"/>
            <a:ext cx="2289048" cy="365760"/>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http://www.ptit.edu.vn</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400800" y="6356350"/>
            <a:ext cx="2289048" cy="365760"/>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7"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pic>
        <p:nvPicPr>
          <p:cNvPr id="11"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6400800" y="6356350"/>
            <a:ext cx="2289048" cy="365760"/>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http://www.ptit.edu.vn</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Footer Placeholder 4"/>
          <p:cNvSpPr>
            <a:spLocks noGrp="1"/>
          </p:cNvSpPr>
          <p:nvPr>
            <p:ph type="ftr" sz="quarter" idx="11"/>
          </p:nvPr>
        </p:nvSpPr>
        <p:spPr/>
        <p:txBody>
          <a:bodyPr/>
          <a:lstStyle/>
          <a:p>
            <a:r>
              <a:rPr lang="en-US"/>
              <a:t>http://www.ptit.edu.vn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dirty="0"/>
              <a:t>Click to edit Master title style</a:t>
            </a:r>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3" name="Footer Placeholder 2"/>
          <p:cNvSpPr>
            <a:spLocks noGrp="1"/>
          </p:cNvSpPr>
          <p:nvPr>
            <p:ph type="ftr" sz="quarter" idx="3"/>
          </p:nvPr>
        </p:nvSpPr>
        <p:spPr>
          <a:xfrm>
            <a:off x="5181600" y="6356350"/>
            <a:ext cx="3505200" cy="365760"/>
          </a:xfrm>
          <a:prstGeom prst="rect">
            <a:avLst/>
          </a:prstGeom>
        </p:spPr>
        <p:txBody>
          <a:bodyPr vert="horz"/>
          <a:lstStyle>
            <a:lvl1pPr algn="r" eaLnBrk="1" latinLnBrk="0" hangingPunct="1">
              <a:defRPr kumimoji="0" sz="1400">
                <a:solidFill>
                  <a:schemeClr val="tx2"/>
                </a:solidFill>
              </a:defRPr>
            </a:lvl1pPr>
          </a:lstStyle>
          <a:p>
            <a:r>
              <a:rPr lang="en-US"/>
              <a:t>http://www.ptit.edu.vn</a:t>
            </a:r>
            <a:endParaRPr lang="en-US" dirty="0"/>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dirty="0"/>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pic>
        <p:nvPicPr>
          <p:cNvPr id="11" name="Picture 15"/>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76200" y="6350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77" r:id="rId1"/>
    <p:sldLayoutId id="2147484178" r:id="rId2"/>
    <p:sldLayoutId id="2147484179" r:id="rId3"/>
    <p:sldLayoutId id="2147484180" r:id="rId4"/>
    <p:sldLayoutId id="2147484181" r:id="rId5"/>
    <p:sldLayoutId id="2147484182" r:id="rId6"/>
    <p:sldLayoutId id="2147484183" r:id="rId7"/>
    <p:sldLayoutId id="2147484184" r:id="rId8"/>
    <p:sldLayoutId id="2147484185" r:id="rId9"/>
    <p:sldLayoutId id="2147484186" r:id="rId10"/>
    <p:sldLayoutId id="2147484187" r:id="rId11"/>
  </p:sldLayoutIdLst>
  <p:hf hdr="0" dt="0"/>
  <p:txStyles>
    <p:titleStyle>
      <a:lvl1pPr algn="ctr"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400" kern="1200">
          <a:solidFill>
            <a:schemeClr val="tx1"/>
          </a:solidFill>
          <a:latin typeface="Tahoma" pitchFamily="34" charset="0"/>
          <a:ea typeface="Tahoma" pitchFamily="34" charset="0"/>
          <a:cs typeface="Tahoma" pitchFamily="34" charset="0"/>
        </a:defRPr>
      </a:lvl1pPr>
      <a:lvl2pPr marL="548640" indent="-274320" algn="l" rtl="0" eaLnBrk="1" latinLnBrk="0" hangingPunct="1">
        <a:spcBef>
          <a:spcPts val="500"/>
        </a:spcBef>
        <a:buClr>
          <a:schemeClr val="accent2"/>
        </a:buClr>
        <a:buSzPct val="76000"/>
        <a:buFont typeface="Courier New" pitchFamily="49" charset="0"/>
        <a:buChar char="o"/>
        <a:defRPr kumimoji="0" sz="2000" kern="1200">
          <a:solidFill>
            <a:schemeClr val="tx2"/>
          </a:solidFill>
          <a:latin typeface="Tahoma" pitchFamily="34" charset="0"/>
          <a:ea typeface="Tahoma" pitchFamily="34" charset="0"/>
          <a:cs typeface="Tahoma" pitchFamily="34" charset="0"/>
        </a:defRPr>
      </a:lvl2pPr>
      <a:lvl3pPr marL="822960" indent="-228600" algn="l" rtl="0" eaLnBrk="1" latinLnBrk="0" hangingPunct="1">
        <a:spcBef>
          <a:spcPts val="500"/>
        </a:spcBef>
        <a:buClr>
          <a:schemeClr val="bg1">
            <a:shade val="50000"/>
          </a:schemeClr>
        </a:buClr>
        <a:buSzPct val="76000"/>
        <a:buFont typeface="Wingdings" pitchFamily="2" charset="2"/>
        <a:buChar char="§"/>
        <a:defRPr kumimoji="0" sz="1800" kern="1200">
          <a:solidFill>
            <a:schemeClr val="tx1"/>
          </a:solidFill>
          <a:latin typeface="Tahoma" pitchFamily="34" charset="0"/>
          <a:ea typeface="Tahoma" pitchFamily="34" charset="0"/>
          <a:cs typeface="Tahoma" pitchFamily="34" charset="0"/>
        </a:defRPr>
      </a:lvl3pPr>
      <a:lvl4pPr marL="1097280" indent="-228600" algn="l" rtl="0" eaLnBrk="1" latinLnBrk="0" hangingPunct="1">
        <a:spcBef>
          <a:spcPts val="400"/>
        </a:spcBef>
        <a:buClr>
          <a:schemeClr val="accent2">
            <a:shade val="75000"/>
          </a:schemeClr>
        </a:buClr>
        <a:buSzPct val="70000"/>
        <a:buFont typeface="Wingdings"/>
        <a:buChar char=""/>
        <a:defRPr kumimoji="0" sz="1600" kern="1200">
          <a:solidFill>
            <a:schemeClr val="tx1"/>
          </a:solidFill>
          <a:latin typeface="Tahoma" pitchFamily="34" charset="0"/>
          <a:ea typeface="Tahoma" pitchFamily="34" charset="0"/>
          <a:cs typeface="Tahoma" pitchFamily="34" charset="0"/>
        </a:defRPr>
      </a:lvl4pPr>
      <a:lvl5pPr marL="1371600" indent="-228600" algn="l" rtl="0" eaLnBrk="1" latinLnBrk="0" hangingPunct="1">
        <a:spcBef>
          <a:spcPts val="300"/>
        </a:spcBef>
        <a:buClr>
          <a:schemeClr val="accent2"/>
        </a:buClr>
        <a:buSzPct val="70000"/>
        <a:buFont typeface="Wingdings"/>
        <a:buChar char=""/>
        <a:defRPr kumimoji="0" sz="1400" kern="1200">
          <a:solidFill>
            <a:schemeClr val="tx1"/>
          </a:solidFill>
          <a:latin typeface="Tahoma" pitchFamily="34" charset="0"/>
          <a:ea typeface="Tahoma" pitchFamily="34" charset="0"/>
          <a:cs typeface="Tahoma" pitchFamily="34" charset="0"/>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23.png"/><Relationship Id="rId7" Type="http://schemas.openxmlformats.org/officeDocument/2006/relationships/image" Target="../media/image15.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17.wmf"/><Relationship Id="rId5" Type="http://schemas.openxmlformats.org/officeDocument/2006/relationships/image" Target="../media/image14.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16.wmf"/></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image" Target="../media/image220.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6.bin"/><Relationship Id="rId5" Type="http://schemas.openxmlformats.org/officeDocument/2006/relationships/image" Target="../media/image18.wmf"/><Relationship Id="rId4" Type="http://schemas.openxmlformats.org/officeDocument/2006/relationships/oleObject" Target="../embeddings/oleObject5.bin"/></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0.wmf"/><Relationship Id="rId4" Type="http://schemas.openxmlformats.org/officeDocument/2006/relationships/oleObject" Target="../embeddings/oleObject7.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21.wmf"/><Relationship Id="rId4"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26.wmf"/><Relationship Id="rId3" Type="http://schemas.openxmlformats.org/officeDocument/2006/relationships/image" Target="../media/image39.png"/><Relationship Id="rId7" Type="http://schemas.openxmlformats.org/officeDocument/2006/relationships/image" Target="../media/image23.wmf"/><Relationship Id="rId12"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11" Type="http://schemas.openxmlformats.org/officeDocument/2006/relationships/image" Target="../media/image25.wmf"/><Relationship Id="rId5" Type="http://schemas.openxmlformats.org/officeDocument/2006/relationships/image" Target="../media/image22.wmf"/><Relationship Id="rId10" Type="http://schemas.openxmlformats.org/officeDocument/2006/relationships/oleObject" Target="../embeddings/oleObject12.bin"/><Relationship Id="rId4" Type="http://schemas.openxmlformats.org/officeDocument/2006/relationships/oleObject" Target="../embeddings/oleObject9.bin"/><Relationship Id="rId9" Type="http://schemas.openxmlformats.org/officeDocument/2006/relationships/image" Target="../media/image24.w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00.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0.png"/></Relationships>
</file>

<file path=ppt/slides/_rels/slide6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1.wmf"/><Relationship Id="rId4" Type="http://schemas.openxmlformats.org/officeDocument/2006/relationships/oleObject" Target="../embeddings/oleObject14.bin"/></Relationships>
</file>

<file path=ppt/slides/_rels/slide6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32.wmf"/><Relationship Id="rId4" Type="http://schemas.openxmlformats.org/officeDocument/2006/relationships/oleObject" Target="../embeddings/oleObject15.bin"/></Relationships>
</file>

<file path=ppt/slides/_rels/slide7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33.wmf"/><Relationship Id="rId4" Type="http://schemas.openxmlformats.org/officeDocument/2006/relationships/oleObject" Target="../embeddings/oleObject16.bin"/></Relationships>
</file>

<file path=ppt/slides/_rels/slide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4.wmf"/><Relationship Id="rId4" Type="http://schemas.openxmlformats.org/officeDocument/2006/relationships/oleObject" Target="../embeddings/oleObject17.bin"/></Relationships>
</file>

<file path=ppt/slides/_rels/slide7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19200" y="3962400"/>
            <a:ext cx="6858000" cy="762000"/>
          </a:xfrm>
        </p:spPr>
        <p:txBody>
          <a:bodyPr>
            <a:normAutofit/>
          </a:bodyPr>
          <a:lstStyle/>
          <a:p>
            <a:pPr algn="ctr"/>
            <a:r>
              <a:rPr lang="en-US" dirty="0"/>
              <a:t>Counting problem</a:t>
            </a:r>
          </a:p>
        </p:txBody>
      </p:sp>
      <p:sp>
        <p:nvSpPr>
          <p:cNvPr id="3" name="Subtitle 2"/>
          <p:cNvSpPr>
            <a:spLocks noGrp="1"/>
          </p:cNvSpPr>
          <p:nvPr>
            <p:ph type="subTitle" idx="1"/>
          </p:nvPr>
        </p:nvSpPr>
        <p:spPr/>
        <p:txBody>
          <a:bodyPr>
            <a:normAutofit fontScale="85000" lnSpcReduction="20000"/>
          </a:bodyPr>
          <a:lstStyle/>
          <a:p>
            <a:pPr algn="ctr"/>
            <a:r>
              <a:rPr lang="en-US" sz="1800" dirty="0"/>
              <a:t>Ngo Xuan Bach</a:t>
            </a:r>
          </a:p>
          <a:p>
            <a:pPr algn="ctr"/>
            <a:r>
              <a:rPr lang="en-US" sz="1800" dirty="0"/>
              <a:t>Dao </a:t>
            </a:r>
            <a:r>
              <a:rPr lang="en-US" sz="1800" dirty="0" err="1"/>
              <a:t>Thi</a:t>
            </a:r>
            <a:r>
              <a:rPr lang="en-US" sz="1800"/>
              <a:t> Thuy Quynh</a:t>
            </a:r>
          </a:p>
          <a:p>
            <a:pPr algn="ctr"/>
            <a:endParaRPr lang="en-US" sz="1800" dirty="0"/>
          </a:p>
        </p:txBody>
      </p:sp>
      <p:sp>
        <p:nvSpPr>
          <p:cNvPr id="8" name="Title 1"/>
          <p:cNvSpPr txBox="1">
            <a:spLocks/>
          </p:cNvSpPr>
          <p:nvPr/>
        </p:nvSpPr>
        <p:spPr>
          <a:xfrm>
            <a:off x="1371600" y="1981200"/>
            <a:ext cx="6858000" cy="609600"/>
          </a:xfrm>
          <a:prstGeom prst="rect">
            <a:avLst/>
          </a:prstGeom>
        </p:spPr>
        <p:txBody>
          <a:bodyPr vert="horz" anchor="t" anchorCtr="0">
            <a:normAutofit/>
          </a:bodyPr>
          <a:lstStyle>
            <a:lvl1pPr algn="r" rtl="0" eaLnBrk="1" latinLnBrk="0" hangingPunct="1">
              <a:spcBef>
                <a:spcPct val="0"/>
              </a:spcBef>
              <a:buNone/>
              <a:defRPr kumimoji="0" sz="3200" kern="1200">
                <a:solidFill>
                  <a:schemeClr val="tx1"/>
                </a:solidFill>
                <a:latin typeface="+mj-lt"/>
                <a:ea typeface="+mj-ea"/>
                <a:cs typeface="+mj-cs"/>
              </a:defRPr>
            </a:lvl1pPr>
          </a:lstStyle>
          <a:p>
            <a:pPr algn="ctr"/>
            <a:r>
              <a:rPr lang="en-US" sz="2400" dirty="0"/>
              <a:t>Mathematic discrete1</a:t>
            </a:r>
            <a:endParaRPr lang="en-US" sz="1400" dirty="0"/>
          </a:p>
        </p:txBody>
      </p:sp>
      <p:sp>
        <p:nvSpPr>
          <p:cNvPr id="6" name="TextBox 5">
            <a:extLst>
              <a:ext uri="{FF2B5EF4-FFF2-40B4-BE49-F238E27FC236}">
                <a16:creationId xmlns:a16="http://schemas.microsoft.com/office/drawing/2014/main" id="{966AFE6A-3696-4424-9730-1B19BED102FE}"/>
              </a:ext>
            </a:extLst>
          </p:cNvPr>
          <p:cNvSpPr txBox="1"/>
          <p:nvPr/>
        </p:nvSpPr>
        <p:spPr>
          <a:xfrm>
            <a:off x="1752600" y="228600"/>
            <a:ext cx="6324600" cy="646331"/>
          </a:xfrm>
          <a:prstGeom prst="rect">
            <a:avLst/>
          </a:prstGeom>
          <a:noFill/>
        </p:spPr>
        <p:txBody>
          <a:bodyPr wrap="square" rtlCol="0">
            <a:spAutoFit/>
          </a:bodyPr>
          <a:lstStyle/>
          <a:p>
            <a:pPr algn="ctr"/>
            <a:r>
              <a:rPr lang="en-US" dirty="0">
                <a:latin typeface="Tahoma" pitchFamily="34" charset="0"/>
                <a:ea typeface="Tahoma" pitchFamily="34" charset="0"/>
                <a:cs typeface="Tahoma" pitchFamily="34" charset="0"/>
              </a:rPr>
              <a:t>Posts and Telecommunication Institute of Technology</a:t>
            </a:r>
          </a:p>
          <a:p>
            <a:pPr algn="ctr"/>
            <a:r>
              <a:rPr lang="en-US" dirty="0">
                <a:latin typeface="Tahoma" pitchFamily="34" charset="0"/>
                <a:ea typeface="Tahoma" pitchFamily="34" charset="0"/>
                <a:cs typeface="Tahoma" pitchFamily="34" charset="0"/>
              </a:rPr>
              <a:t>Faculty of Information Technology 1</a:t>
            </a:r>
          </a:p>
        </p:txBody>
      </p:sp>
    </p:spTree>
    <p:extLst>
      <p:ext uri="{BB962C8B-B14F-4D97-AF65-F5344CB8AC3E}">
        <p14:creationId xmlns:p14="http://schemas.microsoft.com/office/powerpoint/2010/main" val="1664420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a:t>
            </a:fld>
            <a:endParaRPr lang="en-US"/>
          </a:p>
        </p:txBody>
      </p:sp>
      <p:sp>
        <p:nvSpPr>
          <p:cNvPr id="5" name="Content Placeholder 4"/>
          <p:cNvSpPr>
            <a:spLocks noGrp="1"/>
          </p:cNvSpPr>
          <p:nvPr>
            <p:ph sz="quarter" idx="1"/>
          </p:nvPr>
        </p:nvSpPr>
        <p:spPr/>
        <p:txBody>
          <a:bodyPr/>
          <a:lstStyle/>
          <a:p>
            <a:pPr>
              <a:spcBef>
                <a:spcPct val="50000"/>
              </a:spcBef>
            </a:pPr>
            <a:r>
              <a:rPr lang="en-US" sz="2800" dirty="0"/>
              <a:t>Introduction</a:t>
            </a:r>
          </a:p>
          <a:p>
            <a:pPr>
              <a:spcBef>
                <a:spcPct val="50000"/>
              </a:spcBef>
            </a:pPr>
            <a:r>
              <a:rPr lang="en-US" sz="2800" dirty="0"/>
              <a:t>Basic counting principle</a:t>
            </a:r>
          </a:p>
          <a:p>
            <a:pPr>
              <a:spcBef>
                <a:spcPct val="50000"/>
              </a:spcBef>
            </a:pPr>
            <a:r>
              <a:rPr lang="en-US" sz="2800" dirty="0"/>
              <a:t>Return to the subproblem</a:t>
            </a:r>
          </a:p>
          <a:p>
            <a:pPr>
              <a:spcBef>
                <a:spcPct val="50000"/>
              </a:spcBef>
            </a:pPr>
            <a:r>
              <a:rPr lang="en-US" sz="2800" dirty="0"/>
              <a:t>Recurrence relations</a:t>
            </a:r>
          </a:p>
          <a:p>
            <a:pPr>
              <a:spcBef>
                <a:spcPct val="50000"/>
              </a:spcBef>
            </a:pPr>
            <a:r>
              <a:rPr lang="en-US" sz="2800" dirty="0"/>
              <a:t>Generating function method</a:t>
            </a:r>
          </a:p>
          <a:p>
            <a:pPr>
              <a:spcBef>
                <a:spcPct val="50000"/>
              </a:spcBef>
            </a:pPr>
            <a:r>
              <a:rPr lang="en-US" sz="2800" dirty="0"/>
              <a:t>Exercise</a:t>
            </a:r>
          </a:p>
          <a:p>
            <a:endParaRPr lang="en-US" dirty="0"/>
          </a:p>
        </p:txBody>
      </p:sp>
    </p:spTree>
    <p:extLst>
      <p:ext uri="{BB962C8B-B14F-4D97-AF65-F5344CB8AC3E}">
        <p14:creationId xmlns:p14="http://schemas.microsoft.com/office/powerpoint/2010/main" val="169563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Introduce counting problem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a:t>
            </a:fld>
            <a:endParaRPr lang="en-US"/>
          </a:p>
        </p:txBody>
      </p:sp>
      <p:sp>
        <p:nvSpPr>
          <p:cNvPr id="5" name="Content Placeholder 4"/>
          <p:cNvSpPr>
            <a:spLocks noGrp="1"/>
          </p:cNvSpPr>
          <p:nvPr>
            <p:ph sz="quarter" idx="1"/>
          </p:nvPr>
        </p:nvSpPr>
        <p:spPr/>
        <p:txBody>
          <a:bodyPr>
            <a:normAutofit/>
          </a:bodyPr>
          <a:lstStyle/>
          <a:p>
            <a:r>
              <a:rPr lang="en-US" dirty="0"/>
              <a:t>Counting problem</a:t>
            </a:r>
          </a:p>
          <a:p>
            <a:pPr lvl="1"/>
            <a:r>
              <a:rPr lang="en-US" dirty="0"/>
              <a:t>Is the problem of counting how many possible combinational configurations with the given rules?</a:t>
            </a:r>
          </a:p>
          <a:p>
            <a:pPr lvl="1" algn="just"/>
            <a:r>
              <a:rPr lang="en-US" dirty="0"/>
              <a:t>Solution often depends on some initial parameters and people try to describe these dependencies using mathematical formulas</a:t>
            </a:r>
          </a:p>
          <a:p>
            <a:r>
              <a:rPr lang="en-US" dirty="0"/>
              <a:t>General principles for solving counting problem</a:t>
            </a:r>
          </a:p>
          <a:p>
            <a:pPr lvl="1"/>
            <a:r>
              <a:rPr lang="en-US" dirty="0"/>
              <a:t>To count given configurations, find a way to return to familiar configurations by establishing a one-to-one relationship between them</a:t>
            </a:r>
          </a:p>
          <a:p>
            <a:r>
              <a:rPr lang="en-US" dirty="0"/>
              <a:t>Applications of counting problems in computer science</a:t>
            </a:r>
          </a:p>
          <a:p>
            <a:pPr lvl="1"/>
            <a:r>
              <a:rPr lang="en-US" dirty="0"/>
              <a:t>Estimate number of operators performed in an algorithm or computer program</a:t>
            </a:r>
          </a:p>
          <a:p>
            <a:pPr lvl="1"/>
            <a:r>
              <a:rPr lang="en-US" dirty="0"/>
              <a:t>Estimate time and space complexity of algorithm</a:t>
            </a:r>
          </a:p>
        </p:txBody>
      </p:sp>
    </p:spTree>
    <p:extLst>
      <p:ext uri="{BB962C8B-B14F-4D97-AF65-F5344CB8AC3E}">
        <p14:creationId xmlns:p14="http://schemas.microsoft.com/office/powerpoint/2010/main" val="1074575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Methods for solving counting problems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5" name="Content Placeholder 4"/>
          <p:cNvSpPr>
            <a:spLocks noGrp="1"/>
          </p:cNvSpPr>
          <p:nvPr>
            <p:ph sz="quarter" idx="1"/>
          </p:nvPr>
        </p:nvSpPr>
        <p:spPr/>
        <p:txBody>
          <a:bodyPr/>
          <a:lstStyle/>
          <a:p>
            <a:pPr marL="274320" lvl="1">
              <a:spcBef>
                <a:spcPts val="600"/>
              </a:spcBef>
              <a:buClr>
                <a:schemeClr val="accent1"/>
              </a:buClr>
              <a:buFont typeface="Wingdings 3"/>
              <a:buChar char=""/>
            </a:pPr>
            <a:r>
              <a:rPr lang="en-US" sz="2400" b="1" dirty="0"/>
              <a:t>Basic counting principle</a:t>
            </a:r>
            <a:r>
              <a:rPr lang="en-US" sz="2400" dirty="0"/>
              <a:t>: product rule, sum rule, inclusion-exclusion principle </a:t>
            </a:r>
          </a:p>
          <a:p>
            <a:pPr marL="274320" lvl="1">
              <a:spcBef>
                <a:spcPts val="600"/>
              </a:spcBef>
              <a:buClr>
                <a:schemeClr val="accent1"/>
              </a:buClr>
              <a:buFont typeface="Wingdings 3"/>
              <a:buChar char=""/>
            </a:pPr>
            <a:r>
              <a:rPr lang="en-US" sz="2400" b="1" dirty="0"/>
              <a:t>Return to the subproblem</a:t>
            </a:r>
            <a:r>
              <a:rPr lang="en-US" sz="2400" dirty="0"/>
              <a:t>: Analyze solution of a complex counting problem into subproblems. In which, each subproblem can be solved by basic counting principles</a:t>
            </a:r>
          </a:p>
          <a:p>
            <a:pPr marL="274320" lvl="1" algn="just">
              <a:spcBef>
                <a:spcPts val="600"/>
              </a:spcBef>
              <a:buClr>
                <a:schemeClr val="accent1"/>
              </a:buClr>
              <a:buFont typeface="Wingdings 3"/>
              <a:buChar char=""/>
            </a:pPr>
            <a:r>
              <a:rPr lang="en-US" sz="2400" b="1" dirty="0"/>
              <a:t>Recurrence relations</a:t>
            </a:r>
            <a:r>
              <a:rPr lang="en-US" sz="2400" dirty="0"/>
              <a:t>: Build a formula to calculate any number of general roots based on representing known terms</a:t>
            </a:r>
          </a:p>
          <a:p>
            <a:pPr marL="274320" lvl="1">
              <a:spcBef>
                <a:spcPts val="600"/>
              </a:spcBef>
              <a:buClr>
                <a:schemeClr val="accent1"/>
              </a:buClr>
              <a:buFont typeface="Wingdings 3"/>
              <a:buChar char=""/>
            </a:pPr>
            <a:r>
              <a:rPr lang="en-US" sz="2400" b="1" dirty="0"/>
              <a:t>Generating function method</a:t>
            </a:r>
            <a:r>
              <a:rPr lang="en-US" sz="2400" dirty="0"/>
              <a:t>: Use the generation function of a sequence of numbers to count combinational configurations</a:t>
            </a:r>
          </a:p>
          <a:p>
            <a:pPr marL="274320" lvl="1">
              <a:spcBef>
                <a:spcPts val="600"/>
              </a:spcBef>
              <a:buClr>
                <a:schemeClr val="accent1"/>
              </a:buClr>
              <a:buFont typeface="Wingdings 3"/>
              <a:buChar char=""/>
            </a:pPr>
            <a:endParaRPr lang="en-US" sz="2400" dirty="0"/>
          </a:p>
          <a:p>
            <a:endParaRPr lang="en-US" dirty="0"/>
          </a:p>
        </p:txBody>
      </p:sp>
    </p:spTree>
    <p:extLst>
      <p:ext uri="{BB962C8B-B14F-4D97-AF65-F5344CB8AC3E}">
        <p14:creationId xmlns:p14="http://schemas.microsoft.com/office/powerpoint/2010/main" val="1724963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sz="2800" dirty="0">
                <a:solidFill>
                  <a:schemeClr val="bg1">
                    <a:lumMod val="75000"/>
                  </a:schemeClr>
                </a:solidFill>
              </a:rPr>
              <a:t>Introduction</a:t>
            </a:r>
          </a:p>
          <a:p>
            <a:pPr>
              <a:spcBef>
                <a:spcPct val="50000"/>
              </a:spcBef>
            </a:pPr>
            <a:r>
              <a:rPr lang="en-US" sz="2800" dirty="0"/>
              <a:t>Basic counting principle</a:t>
            </a:r>
          </a:p>
          <a:p>
            <a:pPr>
              <a:spcBef>
                <a:spcPct val="50000"/>
              </a:spcBef>
            </a:pPr>
            <a:r>
              <a:rPr lang="en-US" sz="2800" dirty="0"/>
              <a:t>Return to the subproblem</a:t>
            </a:r>
          </a:p>
          <a:p>
            <a:pPr>
              <a:spcBef>
                <a:spcPct val="50000"/>
              </a:spcBef>
            </a:pPr>
            <a:r>
              <a:rPr lang="en-US" sz="2800" dirty="0"/>
              <a:t>Recurrence relations</a:t>
            </a:r>
          </a:p>
          <a:p>
            <a:pPr>
              <a:spcBef>
                <a:spcPct val="50000"/>
              </a:spcBef>
            </a:pPr>
            <a:r>
              <a:rPr lang="en-US" sz="2800" dirty="0"/>
              <a:t>Generating function method</a:t>
            </a:r>
          </a:p>
          <a:p>
            <a:pPr>
              <a:spcBef>
                <a:spcPct val="50000"/>
              </a:spcBef>
            </a:pPr>
            <a:r>
              <a:rPr lang="en-US" sz="2800" dirty="0"/>
              <a:t>Exercise</a:t>
            </a:r>
          </a:p>
          <a:p>
            <a:endParaRPr lang="en-US" dirty="0"/>
          </a:p>
        </p:txBody>
      </p:sp>
    </p:spTree>
    <p:extLst>
      <p:ext uri="{BB962C8B-B14F-4D97-AF65-F5344CB8AC3E}">
        <p14:creationId xmlns:p14="http://schemas.microsoft.com/office/powerpoint/2010/main" val="889997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 rule (recall)</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If </a:t>
                </a:r>
                <a14:m>
                  <m:oMath xmlns:m="http://schemas.openxmlformats.org/officeDocument/2006/math">
                    <m:r>
                      <a:rPr lang="en-US" i="1" dirty="0">
                        <a:latin typeface="Cambria Math"/>
                      </a:rPr>
                      <m:t>𝐴</m:t>
                    </m:r>
                  </m:oMath>
                </a14:m>
                <a:r>
                  <a:rPr lang="en-US" dirty="0"/>
                  <a:t> and </a:t>
                </a:r>
                <a14:m>
                  <m:oMath xmlns:m="http://schemas.openxmlformats.org/officeDocument/2006/math">
                    <m:r>
                      <a:rPr lang="en-US" i="1" dirty="0">
                        <a:latin typeface="Cambria Math"/>
                      </a:rPr>
                      <m:t>𝐵</m:t>
                    </m:r>
                  </m:oMath>
                </a14:m>
                <a:r>
                  <a:rPr lang="en-US" dirty="0"/>
                  <a:t> are 2 separate sets, then:</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solidFill>
                                <a:srgbClr val="FF0000"/>
                              </a:solidFill>
                              <a:latin typeface="Cambria Math" panose="02040503050406030204" pitchFamily="18" charset="0"/>
                            </a:rPr>
                          </m:ctrlPr>
                        </m:dPr>
                        <m:e>
                          <m:r>
                            <a:rPr lang="en-US" i="1">
                              <a:solidFill>
                                <a:srgbClr val="FF0000"/>
                              </a:solidFill>
                              <a:latin typeface="Cambria Math"/>
                            </a:rPr>
                            <m:t>𝐴</m:t>
                          </m:r>
                          <m:r>
                            <a:rPr lang="en-US" i="1">
                              <a:solidFill>
                                <a:srgbClr val="FF0000"/>
                              </a:solidFill>
                              <a:latin typeface="Cambria Math"/>
                              <a:ea typeface="Cambria Math"/>
                            </a:rPr>
                            <m:t>∪</m:t>
                          </m:r>
                          <m:r>
                            <a:rPr lang="en-US" i="1">
                              <a:solidFill>
                                <a:srgbClr val="FF0000"/>
                              </a:solidFill>
                              <a:latin typeface="Cambria Math"/>
                              <a:ea typeface="Cambria Math"/>
                            </a:rPr>
                            <m:t>𝐵</m:t>
                          </m:r>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r>
                            <a:rPr lang="en-US" i="1">
                              <a:solidFill>
                                <a:srgbClr val="FF0000"/>
                              </a:solidFill>
                              <a:latin typeface="Cambria Math"/>
                            </a:rPr>
                            <m:t>𝐴</m:t>
                          </m:r>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r>
                            <a:rPr lang="en-US" i="1">
                              <a:solidFill>
                                <a:srgbClr val="FF0000"/>
                              </a:solidFill>
                              <a:latin typeface="Cambria Math"/>
                            </a:rPr>
                            <m:t>𝐵</m:t>
                          </m:r>
                        </m:e>
                      </m:d>
                    </m:oMath>
                  </m:oMathPara>
                </a14:m>
                <a:endParaRPr lang="en-US" dirty="0">
                  <a:solidFill>
                    <a:srgbClr val="FF0000"/>
                  </a:solidFill>
                </a:endParaRPr>
              </a:p>
              <a:p>
                <a:r>
                  <a:rPr lang="en-US" dirty="0"/>
                  <a:t>If </a:t>
                </a:r>
                <a14:m>
                  <m:oMath xmlns:m="http://schemas.openxmlformats.org/officeDocument/2006/math">
                    <m:sSub>
                      <m:sSubPr>
                        <m:ctrlPr>
                          <a:rPr lang="en-US" i="1">
                            <a:latin typeface="Cambria Math" panose="02040503050406030204" pitchFamily="18" charset="0"/>
                          </a:rPr>
                        </m:ctrlPr>
                      </m:sSubPr>
                      <m:e>
                        <m:r>
                          <a:rPr lang="en-US" i="1">
                            <a:latin typeface="Cambria Math"/>
                          </a:rPr>
                          <m:t>{</m:t>
                        </m:r>
                        <m:r>
                          <a:rPr lang="en-US" i="1">
                            <a:latin typeface="Cambria Math"/>
                          </a:rPr>
                          <m:t>𝐴</m:t>
                        </m:r>
                      </m:e>
                      <m:sub>
                        <m:r>
                          <a:rPr lang="en-US" i="1">
                            <a:latin typeface="Cambria Math"/>
                          </a:rPr>
                          <m:t>1</m:t>
                        </m:r>
                      </m:sub>
                    </m:sSub>
                    <m:r>
                      <a:rPr lang="en-US" i="1">
                        <a:latin typeface="Cambria Math"/>
                      </a:rPr>
                      <m:t>,</m:t>
                    </m:r>
                    <m:sSub>
                      <m:sSubPr>
                        <m:ctrlPr>
                          <a:rPr lang="en-US" i="1">
                            <a:latin typeface="Cambria Math" panose="02040503050406030204" pitchFamily="18" charset="0"/>
                          </a:rPr>
                        </m:ctrlPr>
                      </m:sSubPr>
                      <m:e>
                        <m:r>
                          <a:rPr lang="en-US" i="1">
                            <a:latin typeface="Cambria Math"/>
                          </a:rPr>
                          <m:t>𝐴</m:t>
                        </m:r>
                      </m:e>
                      <m:sub>
                        <m:r>
                          <a:rPr lang="en-US" i="1">
                            <a:latin typeface="Cambria Math"/>
                          </a:rPr>
                          <m:t>2</m:t>
                        </m:r>
                      </m:sub>
                    </m:sSub>
                    <m:r>
                      <a:rPr lang="en-US" i="1">
                        <a:latin typeface="Cambria Math"/>
                      </a:rPr>
                      <m:t>, …,</m:t>
                    </m:r>
                    <m:sSub>
                      <m:sSubPr>
                        <m:ctrlPr>
                          <a:rPr lang="en-US" i="1">
                            <a:latin typeface="Cambria Math" panose="02040503050406030204" pitchFamily="18" charset="0"/>
                          </a:rPr>
                        </m:ctrlPr>
                      </m:sSubPr>
                      <m:e>
                        <m:r>
                          <a:rPr lang="en-US" i="1">
                            <a:latin typeface="Cambria Math"/>
                          </a:rPr>
                          <m:t>𝐴</m:t>
                        </m:r>
                      </m:e>
                      <m:sub>
                        <m:r>
                          <a:rPr lang="en-US" i="1">
                            <a:latin typeface="Cambria Math"/>
                          </a:rPr>
                          <m:t>𝑘</m:t>
                        </m:r>
                      </m:sub>
                    </m:sSub>
                    <m:r>
                      <a:rPr lang="en-US" i="1">
                        <a:latin typeface="Cambria Math"/>
                      </a:rPr>
                      <m:t>}</m:t>
                    </m:r>
                  </m:oMath>
                </a14:m>
                <a:r>
                  <a:rPr lang="en-US" dirty="0"/>
                  <a:t> is a partition of set X, then:</a:t>
                </a:r>
              </a:p>
              <a:p>
                <a:pPr marL="0" indent="0">
                  <a:buNone/>
                </a:pPr>
                <a14:m>
                  <m:oMathPara xmlns:m="http://schemas.openxmlformats.org/officeDocument/2006/math">
                    <m:oMathParaPr>
                      <m:jc m:val="centerGroup"/>
                    </m:oMathParaPr>
                    <m:oMath xmlns:m="http://schemas.openxmlformats.org/officeDocument/2006/math">
                      <m:d>
                        <m:dPr>
                          <m:begChr m:val="|"/>
                          <m:endChr m:val="|"/>
                          <m:ctrlPr>
                            <a:rPr lang="en-US" i="1">
                              <a:solidFill>
                                <a:srgbClr val="FF0000"/>
                              </a:solidFill>
                              <a:latin typeface="Cambria Math" panose="02040503050406030204" pitchFamily="18" charset="0"/>
                            </a:rPr>
                          </m:ctrlPr>
                        </m:dPr>
                        <m:e>
                          <m:r>
                            <a:rPr lang="en-US" i="1">
                              <a:solidFill>
                                <a:srgbClr val="FF0000"/>
                              </a:solidFill>
                              <a:latin typeface="Cambria Math"/>
                            </a:rPr>
                            <m:t>𝑋</m:t>
                          </m:r>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𝐴</m:t>
                              </m:r>
                            </m:e>
                            <m:sub>
                              <m:r>
                                <a:rPr lang="en-US" i="1">
                                  <a:solidFill>
                                    <a:srgbClr val="FF0000"/>
                                  </a:solidFill>
                                  <a:latin typeface="Cambria Math"/>
                                </a:rPr>
                                <m:t>1</m:t>
                              </m:r>
                            </m:sub>
                          </m:sSub>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𝐴</m:t>
                              </m:r>
                            </m:e>
                            <m:sub>
                              <m:r>
                                <a:rPr lang="en-US" i="1">
                                  <a:solidFill>
                                    <a:srgbClr val="FF0000"/>
                                  </a:solidFill>
                                  <a:latin typeface="Cambria Math"/>
                                </a:rPr>
                                <m:t>2</m:t>
                              </m:r>
                            </m:sub>
                          </m:sSub>
                        </m:e>
                      </m:d>
                      <m:r>
                        <a:rPr lang="en-US" i="1">
                          <a:solidFill>
                            <a:srgbClr val="FF0000"/>
                          </a:solidFill>
                          <a:latin typeface="Cambria Math"/>
                        </a:rPr>
                        <m:t>+…+</m:t>
                      </m:r>
                      <m:d>
                        <m:dPr>
                          <m:begChr m:val="|"/>
                          <m:endChr m:val="|"/>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𝐴</m:t>
                              </m:r>
                            </m:e>
                            <m:sub>
                              <m:r>
                                <a:rPr lang="en-US" i="1">
                                  <a:solidFill>
                                    <a:srgbClr val="FF0000"/>
                                  </a:solidFill>
                                  <a:latin typeface="Cambria Math"/>
                                </a:rPr>
                                <m:t>𝑘</m:t>
                              </m:r>
                            </m:sub>
                          </m:sSub>
                        </m:e>
                      </m:d>
                    </m:oMath>
                  </m:oMathPara>
                </a14:m>
                <a:endParaRPr lang="en-US" dirty="0">
                  <a:solidFill>
                    <a:srgbClr val="FF0000"/>
                  </a:solidFill>
                </a:endParaRPr>
              </a:p>
              <a:p>
                <a:endParaRPr lang="en-US" dirty="0"/>
              </a:p>
              <a:p>
                <a:pPr algn="just"/>
                <a:r>
                  <a:rPr lang="es-MX" dirty="0" err="1"/>
                  <a:t>If</a:t>
                </a:r>
                <a:r>
                  <a:rPr lang="es-MX" dirty="0"/>
                  <a:t> </a:t>
                </a:r>
                <a:r>
                  <a:rPr lang="es-MX" dirty="0" err="1"/>
                  <a:t>there</a:t>
                </a:r>
                <a:r>
                  <a:rPr lang="es-MX" dirty="0"/>
                  <a:t> are </a:t>
                </a:r>
                <a14:m>
                  <m:oMath xmlns:m="http://schemas.openxmlformats.org/officeDocument/2006/math">
                    <m:r>
                      <a:rPr lang="es-MX" i="1" dirty="0" smtClean="0">
                        <a:solidFill>
                          <a:srgbClr val="FF0000"/>
                        </a:solidFill>
                        <a:latin typeface="Cambria Math"/>
                      </a:rPr>
                      <m:t>𝐾</m:t>
                    </m:r>
                  </m:oMath>
                </a14:m>
                <a:r>
                  <a:rPr lang="es-MX" dirty="0"/>
                  <a:t> </a:t>
                </a:r>
                <a:r>
                  <a:rPr lang="es-MX" dirty="0" err="1"/>
                  <a:t>jobs</a:t>
                </a:r>
                <a:r>
                  <a:rPr lang="es-MX" dirty="0"/>
                  <a:t>, </a:t>
                </a:r>
                <a14:m>
                  <m:oMath xmlns:m="http://schemas.openxmlformats.org/officeDocument/2006/math">
                    <m:r>
                      <a:rPr lang="en-US" b="0" i="1" dirty="0" smtClean="0">
                        <a:solidFill>
                          <a:srgbClr val="FF0000"/>
                        </a:solidFill>
                        <a:latin typeface="Cambria Math"/>
                      </a:rPr>
                      <m:t>𝑖</m:t>
                    </m:r>
                    <m:r>
                      <a:rPr lang="en-US" b="0" i="1" baseline="30000" dirty="0" smtClean="0">
                        <a:solidFill>
                          <a:srgbClr val="FF0000"/>
                        </a:solidFill>
                        <a:latin typeface="Cambria Math" panose="02040503050406030204" pitchFamily="18" charset="0"/>
                      </a:rPr>
                      <m:t>𝑡h</m:t>
                    </m:r>
                  </m:oMath>
                </a14:m>
                <a:r>
                  <a:rPr lang="es-MX" dirty="0"/>
                  <a:t> </a:t>
                </a:r>
                <a:r>
                  <a:rPr lang="es-MX" dirty="0" err="1"/>
                  <a:t>job</a:t>
                </a:r>
                <a:r>
                  <a:rPr lang="es-MX" dirty="0"/>
                  <a:t> </a:t>
                </a:r>
                <a:r>
                  <a:rPr lang="es-MX" dirty="0" err="1"/>
                  <a:t>is</a:t>
                </a:r>
                <a:r>
                  <a:rPr lang="es-MX" dirty="0"/>
                  <a:t> </a:t>
                </a:r>
                <a:r>
                  <a:rPr lang="es-MX" dirty="0" err="1"/>
                  <a:t>completed</a:t>
                </a:r>
                <a:r>
                  <a:rPr lang="es-MX" dirty="0"/>
                  <a:t> </a:t>
                </a:r>
                <a:r>
                  <a:rPr lang="es-MX" dirty="0" err="1"/>
                  <a:t>by</a:t>
                </a:r>
                <a:r>
                  <a:rPr lang="es-MX" dirty="0"/>
                  <a:t> </a:t>
                </a:r>
                <a14:m>
                  <m:oMath xmlns:m="http://schemas.openxmlformats.org/officeDocument/2006/math">
                    <m:sSub>
                      <m:sSubPr>
                        <m:ctrlPr>
                          <a:rPr lang="es-MX"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𝑛</m:t>
                        </m:r>
                      </m:e>
                      <m:sub>
                        <m:r>
                          <a:rPr lang="en-US" b="0" i="1" dirty="0" smtClean="0">
                            <a:solidFill>
                              <a:srgbClr val="FF0000"/>
                            </a:solidFill>
                            <a:latin typeface="Cambria Math"/>
                          </a:rPr>
                          <m:t>𝑖</m:t>
                        </m:r>
                      </m:sub>
                    </m:sSub>
                  </m:oMath>
                </a14:m>
                <a:r>
                  <a:rPr lang="es-MX" dirty="0"/>
                  <a:t> </a:t>
                </a:r>
                <a:r>
                  <a:rPr lang="es-MX" dirty="0" err="1"/>
                  <a:t>ways</a:t>
                </a:r>
                <a:r>
                  <a:rPr lang="es-MX" dirty="0"/>
                  <a:t> and done </a:t>
                </a:r>
                <a:r>
                  <a:rPr lang="es-MX" dirty="0" err="1"/>
                  <a:t>sequentially</a:t>
                </a:r>
                <a:r>
                  <a:rPr lang="es-MX" dirty="0"/>
                  <a:t>. </a:t>
                </a:r>
                <a:r>
                  <a:rPr lang="es-MX" dirty="0" err="1"/>
                  <a:t>Then</a:t>
                </a:r>
                <a:r>
                  <a:rPr lang="es-MX" dirty="0"/>
                  <a:t>, </a:t>
                </a:r>
                <a:r>
                  <a:rPr lang="es-MX" dirty="0" err="1"/>
                  <a:t>there</a:t>
                </a:r>
                <a:r>
                  <a:rPr lang="es-MX" dirty="0"/>
                  <a:t> </a:t>
                </a:r>
                <a:r>
                  <a:rPr lang="es-MX" dirty="0" err="1"/>
                  <a:t>are</a:t>
                </a:r>
                <a:r>
                  <a:rPr lang="es-MX" dirty="0"/>
                  <a:t> </a:t>
                </a:r>
                <a14:m>
                  <m:oMath xmlns:m="http://schemas.openxmlformats.org/officeDocument/2006/math">
                    <m:r>
                      <a:rPr lang="es-MX" i="1" dirty="0" smtClean="0">
                        <a:solidFill>
                          <a:srgbClr val="FF0000"/>
                        </a:solidFill>
                        <a:latin typeface="Cambria Math"/>
                      </a:rPr>
                      <m:t>𝑛</m:t>
                    </m:r>
                    <m:r>
                      <a:rPr lang="es-MX" i="1" baseline="-25000" dirty="0">
                        <a:solidFill>
                          <a:srgbClr val="FF0000"/>
                        </a:solidFill>
                        <a:latin typeface="Cambria Math"/>
                      </a:rPr>
                      <m:t>1</m:t>
                    </m:r>
                    <m:r>
                      <a:rPr lang="es-MX" i="1" dirty="0">
                        <a:solidFill>
                          <a:srgbClr val="FF0000"/>
                        </a:solidFill>
                        <a:latin typeface="Cambria Math"/>
                      </a:rPr>
                      <m:t>+</m:t>
                    </m:r>
                    <m:r>
                      <a:rPr lang="es-MX" i="1" dirty="0">
                        <a:solidFill>
                          <a:srgbClr val="FF0000"/>
                        </a:solidFill>
                        <a:latin typeface="Cambria Math"/>
                      </a:rPr>
                      <m:t>𝑛</m:t>
                    </m:r>
                    <m:r>
                      <a:rPr lang="es-MX" i="1" baseline="-25000" dirty="0">
                        <a:solidFill>
                          <a:srgbClr val="FF0000"/>
                        </a:solidFill>
                        <a:latin typeface="Cambria Math"/>
                      </a:rPr>
                      <m:t>2</m:t>
                    </m:r>
                    <m:r>
                      <a:rPr lang="es-MX" i="1" dirty="0">
                        <a:solidFill>
                          <a:srgbClr val="FF0000"/>
                        </a:solidFill>
                        <a:latin typeface="Cambria Math"/>
                      </a:rPr>
                      <m:t> +..+ </m:t>
                    </m:r>
                    <m:r>
                      <a:rPr lang="es-MX" i="1" dirty="0" err="1">
                        <a:solidFill>
                          <a:srgbClr val="FF0000"/>
                        </a:solidFill>
                        <a:latin typeface="Cambria Math"/>
                      </a:rPr>
                      <m:t>𝑛</m:t>
                    </m:r>
                    <m:r>
                      <a:rPr lang="es-MX" i="1" baseline="-25000" dirty="0" err="1">
                        <a:solidFill>
                          <a:srgbClr val="FF0000"/>
                        </a:solidFill>
                        <a:latin typeface="Cambria Math"/>
                      </a:rPr>
                      <m:t>𝐾</m:t>
                    </m:r>
                    <m:r>
                      <a:rPr lang="es-MX" i="1" dirty="0">
                        <a:solidFill>
                          <a:srgbClr val="FF0000"/>
                        </a:solidFill>
                        <a:latin typeface="Cambria Math"/>
                      </a:rPr>
                      <m:t> </m:t>
                    </m:r>
                  </m:oMath>
                </a14:m>
                <a:r>
                  <a:rPr lang="es-MX" dirty="0" err="1"/>
                  <a:t>ways</a:t>
                </a:r>
                <a:r>
                  <a:rPr lang="es-MX" dirty="0"/>
                  <a:t> </a:t>
                </a:r>
                <a:r>
                  <a:rPr lang="es-MX" dirty="0" err="1"/>
                  <a:t>to</a:t>
                </a:r>
                <a:r>
                  <a:rPr lang="es-MX" dirty="0"/>
                  <a:t> do </a:t>
                </a:r>
                <a:r>
                  <a:rPr lang="es-MX" dirty="0" err="1"/>
                  <a:t>one</a:t>
                </a:r>
                <a:r>
                  <a:rPr lang="es-MX" dirty="0"/>
                  <a:t> </a:t>
                </a:r>
                <a:r>
                  <a:rPr lang="es-MX" dirty="0" err="1"/>
                  <a:t>of</a:t>
                </a:r>
                <a:r>
                  <a:rPr lang="es-MX" dirty="0"/>
                  <a:t> </a:t>
                </a:r>
                <a14:m>
                  <m:oMath xmlns:m="http://schemas.openxmlformats.org/officeDocument/2006/math">
                    <m:r>
                      <a:rPr lang="es-MX" i="1" dirty="0" smtClean="0">
                        <a:solidFill>
                          <a:srgbClr val="FF0000"/>
                        </a:solidFill>
                        <a:latin typeface="Cambria Math"/>
                      </a:rPr>
                      <m:t>𝐾</m:t>
                    </m:r>
                  </m:oMath>
                </a14:m>
                <a:r>
                  <a:rPr lang="es-MX" dirty="0"/>
                  <a:t> jobs </a:t>
                </a:r>
                <a:r>
                  <a:rPr lang="es-MX" dirty="0" err="1"/>
                  <a:t>above</a:t>
                </a:r>
                <a:r>
                  <a:rPr lang="es-MX" dirty="0"/>
                  <a:t>.</a:t>
                </a: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19695733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a:t>Example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4937760"/>
              </a:xfrm>
            </p:spPr>
            <p:txBody>
              <a:bodyPr/>
              <a:lstStyle/>
              <a:p>
                <a:r>
                  <a:rPr lang="es-MX" b="1" dirty="0" err="1"/>
                  <a:t>Problem</a:t>
                </a:r>
                <a:r>
                  <a:rPr lang="es-MX" dirty="0"/>
                  <a:t>: </a:t>
                </a:r>
                <a:r>
                  <a:rPr lang="es-MX" dirty="0" err="1"/>
                  <a:t>Assume</a:t>
                </a:r>
                <a:r>
                  <a:rPr lang="es-MX" dirty="0"/>
                  <a:t> </a:t>
                </a:r>
                <a14:m>
                  <m:oMath xmlns:m="http://schemas.openxmlformats.org/officeDocument/2006/math">
                    <m:r>
                      <a:rPr lang="es-MX" i="1" dirty="0" smtClean="0">
                        <a:solidFill>
                          <a:srgbClr val="FF0000"/>
                        </a:solidFill>
                        <a:latin typeface="Cambria Math"/>
                      </a:rPr>
                      <m:t>𝑁</m:t>
                    </m:r>
                    <m:r>
                      <a:rPr lang="es-MX" i="1" dirty="0" smtClean="0">
                        <a:solidFill>
                          <a:srgbClr val="FF0000"/>
                        </a:solidFill>
                        <a:latin typeface="Cambria Math"/>
                      </a:rPr>
                      <m:t>, </m:t>
                    </m:r>
                    <m:r>
                      <a:rPr lang="es-MX" i="1" dirty="0" smtClean="0">
                        <a:solidFill>
                          <a:srgbClr val="FF0000"/>
                        </a:solidFill>
                        <a:latin typeface="Cambria Math"/>
                      </a:rPr>
                      <m:t>𝑀</m:t>
                    </m:r>
                    <m:r>
                      <a:rPr lang="es-MX" i="1" dirty="0" smtClean="0">
                        <a:solidFill>
                          <a:srgbClr val="FF0000"/>
                        </a:solidFill>
                        <a:latin typeface="Cambria Math"/>
                      </a:rPr>
                      <m:t> </m:t>
                    </m:r>
                  </m:oMath>
                </a14:m>
                <a:r>
                  <a:rPr lang="es-MX" dirty="0"/>
                  <a:t>are 2 </a:t>
                </a:r>
                <a:r>
                  <a:rPr lang="es-MX" dirty="0" err="1"/>
                  <a:t>definite</a:t>
                </a:r>
                <a:r>
                  <a:rPr lang="es-MX" dirty="0"/>
                  <a:t> natural </a:t>
                </a:r>
                <a:r>
                  <a:rPr lang="es-MX" dirty="0" err="1"/>
                  <a:t>number</a:t>
                </a:r>
                <a:r>
                  <a:rPr lang="es-MX" dirty="0"/>
                  <a:t>. </a:t>
                </a:r>
                <a:r>
                  <a:rPr lang="es-MX" dirty="0" err="1"/>
                  <a:t>Give</a:t>
                </a:r>
                <a:r>
                  <a:rPr lang="es-MX" dirty="0"/>
                  <a:t> </a:t>
                </a:r>
                <a:r>
                  <a:rPr lang="es-MX" dirty="0" err="1"/>
                  <a:t>the</a:t>
                </a:r>
                <a:r>
                  <a:rPr lang="es-MX" dirty="0"/>
                  <a:t> </a:t>
                </a:r>
                <a:r>
                  <a:rPr lang="es-MX" dirty="0" err="1"/>
                  <a:t>value</a:t>
                </a:r>
                <a:r>
                  <a:rPr lang="es-MX" dirty="0"/>
                  <a:t> </a:t>
                </a:r>
                <a:r>
                  <a:rPr lang="es-MX" dirty="0" err="1"/>
                  <a:t>of</a:t>
                </a:r>
                <a:r>
                  <a:rPr lang="es-MX" dirty="0"/>
                  <a:t> </a:t>
                </a:r>
                <a14:m>
                  <m:oMath xmlns:m="http://schemas.openxmlformats.org/officeDocument/2006/math">
                    <m:r>
                      <a:rPr lang="es-MX" i="1" dirty="0" smtClean="0">
                        <a:latin typeface="Cambria Math"/>
                      </a:rPr>
                      <m:t>𝑆</m:t>
                    </m:r>
                  </m:oMath>
                </a14:m>
                <a:r>
                  <a:rPr lang="es-MX" dirty="0"/>
                  <a:t> after </a:t>
                </a:r>
                <a:r>
                  <a:rPr lang="es-MX" dirty="0" err="1"/>
                  <a:t>executing</a:t>
                </a:r>
                <a:r>
                  <a:rPr lang="es-MX" dirty="0"/>
                  <a:t> </a:t>
                </a:r>
                <a:r>
                  <a:rPr lang="es-MX" dirty="0" err="1"/>
                  <a:t>the</a:t>
                </a:r>
                <a:r>
                  <a:rPr lang="es-MX" dirty="0"/>
                  <a:t> </a:t>
                </a:r>
                <a:r>
                  <a:rPr lang="es-MX" dirty="0" err="1"/>
                  <a:t>program</a:t>
                </a:r>
                <a:r>
                  <a:rPr lang="es-MX" dirty="0"/>
                  <a:t> </a:t>
                </a:r>
                <a:r>
                  <a:rPr lang="es-MX" dirty="0" err="1"/>
                  <a:t>below</a:t>
                </a:r>
                <a:r>
                  <a:rPr lang="es-MX" dirty="0"/>
                  <a:t>:</a:t>
                </a:r>
              </a:p>
              <a:p>
                <a:endParaRPr lang="es-MX" dirty="0"/>
              </a:p>
              <a:p>
                <a:endParaRPr lang="es-MX" dirty="0"/>
              </a:p>
              <a:p>
                <a:endParaRPr lang="es-MX" dirty="0"/>
              </a:p>
              <a:p>
                <a:endParaRPr lang="es-MX"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4937760"/>
              </a:xfrm>
              <a:blipFill>
                <a:blip r:embed="rId2"/>
                <a:stretch>
                  <a:fillRect l="-519"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74659" y="2407384"/>
                <a:ext cx="3192541" cy="1631216"/>
              </a:xfrm>
              <a:prstGeom prst="rect">
                <a:avLst/>
              </a:prstGeom>
              <a:noFill/>
            </p:spPr>
            <p:txBody>
              <a:bodyPr wrap="none" rtlCol="0">
                <a:spAutoFit/>
              </a:bodyPr>
              <a:lstStyle/>
              <a:p>
                <a:pPr algn="just"/>
                <a14:m>
                  <m:oMath xmlns:m="http://schemas.openxmlformats.org/officeDocument/2006/math">
                    <m:r>
                      <a:rPr lang="en-US" sz="2000" i="1" dirty="0" smtClean="0">
                        <a:latin typeface="Cambria Math"/>
                        <a:ea typeface="Tahoma" pitchFamily="34" charset="0"/>
                        <a:cs typeface="Tahoma" pitchFamily="34" charset="0"/>
                      </a:rPr>
                      <m:t>𝑆</m:t>
                    </m:r>
                    <m:r>
                      <a:rPr lang="en-US" sz="2000" i="1" dirty="0" smtClean="0">
                        <a:latin typeface="Cambria Math"/>
                        <a:ea typeface="Tahoma" pitchFamily="34" charset="0"/>
                        <a:cs typeface="Tahoma" pitchFamily="34" charset="0"/>
                      </a:rPr>
                      <m:t> = 0</m:t>
                    </m:r>
                  </m:oMath>
                </a14:m>
                <a:r>
                  <a:rPr lang="en-US" sz="2000" dirty="0">
                    <a:latin typeface="Gill Sans MT (Body)"/>
                    <a:ea typeface="Tahoma" pitchFamily="34" charset="0"/>
                    <a:cs typeface="Tahoma" pitchFamily="34" charset="0"/>
                  </a:rPr>
                  <a:t>;</a:t>
                </a:r>
              </a:p>
              <a:p>
                <a:pPr algn="just"/>
                <a:r>
                  <a:rPr lang="en-US" sz="2000" b="1" dirty="0">
                    <a:latin typeface="Gill Sans MT (Body)"/>
                    <a:ea typeface="Tahoma" pitchFamily="34" charset="0"/>
                    <a:cs typeface="Tahoma" pitchFamily="34" charset="0"/>
                  </a:rPr>
                  <a:t>for</a:t>
                </a:r>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𝑖</m:t>
                    </m:r>
                    <m:r>
                      <a:rPr lang="en-US" sz="2000" i="1" dirty="0" smtClean="0">
                        <a:latin typeface="Cambria Math"/>
                        <a:ea typeface="Tahoma" pitchFamily="34" charset="0"/>
                        <a:cs typeface="Tahoma" pitchFamily="34" charset="0"/>
                      </a:rPr>
                      <m:t>=1; </m:t>
                    </m:r>
                    <m:r>
                      <a:rPr lang="en-US" sz="2000" i="1" dirty="0" smtClean="0">
                        <a:latin typeface="Cambria Math"/>
                        <a:ea typeface="Tahoma" pitchFamily="34" charset="0"/>
                        <a:cs typeface="Tahoma" pitchFamily="34" charset="0"/>
                      </a:rPr>
                      <m:t>𝑖</m:t>
                    </m:r>
                    <m:r>
                      <a:rPr lang="en-US" sz="2000" i="1" dirty="0" smtClean="0">
                        <a:latin typeface="Cambria Math"/>
                        <a:ea typeface="Tahoma" pitchFamily="34" charset="0"/>
                        <a:cs typeface="Tahoma" pitchFamily="34" charset="0"/>
                      </a:rPr>
                      <m:t>&lt;=</m:t>
                    </m:r>
                    <m:r>
                      <a:rPr lang="en-US" sz="2000" i="1" dirty="0" smtClean="0">
                        <a:latin typeface="Cambria Math"/>
                        <a:ea typeface="Tahoma" pitchFamily="34" charset="0"/>
                        <a:cs typeface="Tahoma" pitchFamily="34" charset="0"/>
                      </a:rPr>
                      <m:t>𝑁</m:t>
                    </m:r>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𝑖</m:t>
                    </m:r>
                    <m:r>
                      <a:rPr lang="en-US" sz="2000" i="1" dirty="0" smtClean="0">
                        <a:latin typeface="Cambria Math"/>
                        <a:ea typeface="Tahoma" pitchFamily="34" charset="0"/>
                        <a:cs typeface="Tahoma" pitchFamily="34" charset="0"/>
                      </a:rPr>
                      <m:t>++)</m:t>
                    </m:r>
                  </m:oMath>
                </a14:m>
                <a:r>
                  <a:rPr lang="en-US" sz="2000" dirty="0">
                    <a:latin typeface="Gill Sans MT (Body)"/>
                    <a:ea typeface="Tahoma" pitchFamily="34" charset="0"/>
                    <a:cs typeface="Tahoma" pitchFamily="34" charset="0"/>
                  </a:rPr>
                  <a:t>  </a:t>
                </a:r>
              </a:p>
              <a:p>
                <a:pPr algn="just"/>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𝑆</m:t>
                    </m:r>
                    <m:r>
                      <a:rPr lang="en-US" sz="2000" i="1" dirty="0" smtClean="0">
                        <a:latin typeface="Cambria Math"/>
                        <a:ea typeface="Tahoma" pitchFamily="34" charset="0"/>
                        <a:cs typeface="Tahoma" pitchFamily="34" charset="0"/>
                      </a:rPr>
                      <m:t>++</m:t>
                    </m:r>
                  </m:oMath>
                </a14:m>
                <a:r>
                  <a:rPr lang="en-US" sz="2000" dirty="0">
                    <a:latin typeface="Gill Sans MT (Body)"/>
                    <a:ea typeface="Tahoma" pitchFamily="34" charset="0"/>
                    <a:cs typeface="Tahoma" pitchFamily="34" charset="0"/>
                  </a:rPr>
                  <a:t>;</a:t>
                </a:r>
              </a:p>
              <a:p>
                <a:pPr algn="just"/>
                <a:r>
                  <a:rPr lang="en-US" sz="2000" b="1" dirty="0">
                    <a:latin typeface="Gill Sans MT (Body)"/>
                    <a:ea typeface="Tahoma" pitchFamily="34" charset="0"/>
                    <a:cs typeface="Tahoma" pitchFamily="34" charset="0"/>
                  </a:rPr>
                  <a:t>for</a:t>
                </a:r>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𝑗</m:t>
                    </m:r>
                    <m:r>
                      <a:rPr lang="en-US" sz="2000" i="1" dirty="0" smtClean="0">
                        <a:latin typeface="Cambria Math"/>
                        <a:ea typeface="Tahoma" pitchFamily="34" charset="0"/>
                        <a:cs typeface="Tahoma" pitchFamily="34" charset="0"/>
                      </a:rPr>
                      <m:t>=1; </m:t>
                    </m:r>
                    <m:r>
                      <a:rPr lang="en-US" sz="2000" i="1" dirty="0" smtClean="0">
                        <a:latin typeface="Cambria Math"/>
                        <a:ea typeface="Tahoma" pitchFamily="34" charset="0"/>
                        <a:cs typeface="Tahoma" pitchFamily="34" charset="0"/>
                      </a:rPr>
                      <m:t>𝑗</m:t>
                    </m:r>
                    <m:r>
                      <a:rPr lang="en-US" sz="2000" i="1" dirty="0" smtClean="0">
                        <a:latin typeface="Cambria Math"/>
                        <a:ea typeface="Tahoma" pitchFamily="34" charset="0"/>
                        <a:cs typeface="Tahoma" pitchFamily="34" charset="0"/>
                      </a:rPr>
                      <m:t>&lt;=</m:t>
                    </m:r>
                    <m:r>
                      <a:rPr lang="en-US" sz="2000" i="1" dirty="0" smtClean="0">
                        <a:latin typeface="Cambria Math"/>
                        <a:ea typeface="Tahoma" pitchFamily="34" charset="0"/>
                        <a:cs typeface="Tahoma" pitchFamily="34" charset="0"/>
                      </a:rPr>
                      <m:t>𝑀</m:t>
                    </m:r>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𝑗</m:t>
                    </m:r>
                    <m:r>
                      <a:rPr lang="en-US" sz="2000" i="1" dirty="0" smtClean="0">
                        <a:latin typeface="Cambria Math"/>
                        <a:ea typeface="Tahoma" pitchFamily="34" charset="0"/>
                        <a:cs typeface="Tahoma" pitchFamily="34" charset="0"/>
                      </a:rPr>
                      <m:t>++)</m:t>
                    </m:r>
                  </m:oMath>
                </a14:m>
                <a:endParaRPr lang="en-US" sz="2000" dirty="0">
                  <a:latin typeface="Gill Sans MT (Body)"/>
                  <a:ea typeface="Tahoma" pitchFamily="34" charset="0"/>
                  <a:cs typeface="Tahoma" pitchFamily="34" charset="0"/>
                </a:endParaRPr>
              </a:p>
              <a:p>
                <a:pPr algn="just"/>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𝑆</m:t>
                    </m:r>
                    <m:r>
                      <a:rPr lang="en-US" sz="2000" i="1" dirty="0" smtClean="0">
                        <a:latin typeface="Cambria Math"/>
                        <a:ea typeface="Tahoma" pitchFamily="34" charset="0"/>
                        <a:cs typeface="Tahoma" pitchFamily="34" charset="0"/>
                      </a:rPr>
                      <m:t>++</m:t>
                    </m:r>
                  </m:oMath>
                </a14:m>
                <a:r>
                  <a:rPr lang="en-US" sz="2000" dirty="0">
                    <a:latin typeface="Gill Sans MT (Body)"/>
                    <a:ea typeface="Tahoma" pitchFamily="34" charset="0"/>
                    <a:cs typeface="Tahoma" pitchFamily="34" charset="0"/>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1074659" y="2407384"/>
                <a:ext cx="3192541" cy="1631216"/>
              </a:xfrm>
              <a:prstGeom prst="rect">
                <a:avLst/>
              </a:prstGeom>
              <a:blipFill rotWithShape="1">
                <a:blip r:embed="rId3"/>
                <a:stretch>
                  <a:fillRect l="-1908" t="-1493" b="-5970"/>
                </a:stretch>
              </a:blipFill>
            </p:spPr>
            <p:txBody>
              <a:bodyPr/>
              <a:lstStyle/>
              <a:p>
                <a:r>
                  <a:rPr lang="en-US">
                    <a:noFill/>
                  </a:rPr>
                  <a:t> </a:t>
                </a:r>
              </a:p>
            </p:txBody>
          </p:sp>
        </mc:Fallback>
      </mc:AlternateContent>
    </p:spTree>
    <p:extLst>
      <p:ext uri="{BB962C8B-B14F-4D97-AF65-F5344CB8AC3E}">
        <p14:creationId xmlns:p14="http://schemas.microsoft.com/office/powerpoint/2010/main" val="2559494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90600"/>
          </a:xfrm>
        </p:spPr>
        <p:txBody>
          <a:bodyPr/>
          <a:lstStyle/>
          <a:p>
            <a:r>
              <a:rPr lang="en-US" dirty="0"/>
              <a:t>Example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4937760"/>
              </a:xfrm>
            </p:spPr>
            <p:txBody>
              <a:bodyPr>
                <a:normAutofit/>
              </a:bodyPr>
              <a:lstStyle/>
              <a:p>
                <a:pPr algn="just"/>
                <a:r>
                  <a:rPr lang="es-MX" b="1" dirty="0"/>
                  <a:t>Problem</a:t>
                </a:r>
                <a:r>
                  <a:rPr lang="es-MX" dirty="0"/>
                  <a:t>: </a:t>
                </a:r>
                <a:r>
                  <a:rPr lang="es-MX" dirty="0" err="1"/>
                  <a:t>Assume</a:t>
                </a:r>
                <a:r>
                  <a:rPr lang="es-MX" dirty="0"/>
                  <a:t> </a:t>
                </a:r>
                <a14:m>
                  <m:oMath xmlns:m="http://schemas.openxmlformats.org/officeDocument/2006/math">
                    <m:r>
                      <a:rPr lang="es-MX" i="1" dirty="0">
                        <a:solidFill>
                          <a:srgbClr val="FF0000"/>
                        </a:solidFill>
                        <a:latin typeface="Cambria Math"/>
                      </a:rPr>
                      <m:t>𝑁</m:t>
                    </m:r>
                    <m:r>
                      <a:rPr lang="es-MX" i="1" dirty="0">
                        <a:solidFill>
                          <a:srgbClr val="FF0000"/>
                        </a:solidFill>
                        <a:latin typeface="Cambria Math"/>
                      </a:rPr>
                      <m:t>, </m:t>
                    </m:r>
                    <m:r>
                      <a:rPr lang="es-MX" i="1" dirty="0">
                        <a:solidFill>
                          <a:srgbClr val="FF0000"/>
                        </a:solidFill>
                        <a:latin typeface="Cambria Math"/>
                      </a:rPr>
                      <m:t>𝑀</m:t>
                    </m:r>
                    <m:r>
                      <a:rPr lang="es-MX" i="1" dirty="0">
                        <a:solidFill>
                          <a:srgbClr val="FF0000"/>
                        </a:solidFill>
                        <a:latin typeface="Cambria Math"/>
                      </a:rPr>
                      <m:t> </m:t>
                    </m:r>
                  </m:oMath>
                </a14:m>
                <a:r>
                  <a:rPr lang="es-MX" dirty="0"/>
                  <a:t>are 2 </a:t>
                </a:r>
                <a:r>
                  <a:rPr lang="es-MX" dirty="0" err="1"/>
                  <a:t>definite</a:t>
                </a:r>
                <a:r>
                  <a:rPr lang="es-MX" dirty="0"/>
                  <a:t> natural </a:t>
                </a:r>
                <a:r>
                  <a:rPr lang="es-MX" dirty="0" err="1"/>
                  <a:t>number</a:t>
                </a:r>
                <a:r>
                  <a:rPr lang="es-MX" dirty="0"/>
                  <a:t>. </a:t>
                </a:r>
                <a:r>
                  <a:rPr lang="es-MX" dirty="0" err="1"/>
                  <a:t>Give</a:t>
                </a:r>
                <a:r>
                  <a:rPr lang="es-MX" dirty="0"/>
                  <a:t> </a:t>
                </a:r>
                <a:r>
                  <a:rPr lang="es-MX" dirty="0" err="1"/>
                  <a:t>the</a:t>
                </a:r>
                <a:r>
                  <a:rPr lang="es-MX" dirty="0"/>
                  <a:t> </a:t>
                </a:r>
                <a:r>
                  <a:rPr lang="es-MX" dirty="0" err="1"/>
                  <a:t>value</a:t>
                </a:r>
                <a:r>
                  <a:rPr lang="es-MX" dirty="0"/>
                  <a:t> </a:t>
                </a:r>
                <a:r>
                  <a:rPr lang="es-MX" dirty="0" err="1"/>
                  <a:t>of</a:t>
                </a:r>
                <a:r>
                  <a:rPr lang="es-MX" dirty="0"/>
                  <a:t> </a:t>
                </a:r>
                <a14:m>
                  <m:oMath xmlns:m="http://schemas.openxmlformats.org/officeDocument/2006/math">
                    <m:r>
                      <a:rPr lang="es-MX" i="1" dirty="0">
                        <a:latin typeface="Cambria Math"/>
                      </a:rPr>
                      <m:t>𝑆</m:t>
                    </m:r>
                  </m:oMath>
                </a14:m>
                <a:r>
                  <a:rPr lang="es-MX" dirty="0"/>
                  <a:t> after </a:t>
                </a:r>
                <a:r>
                  <a:rPr lang="es-MX" dirty="0" err="1"/>
                  <a:t>executing</a:t>
                </a:r>
                <a:r>
                  <a:rPr lang="es-MX" dirty="0"/>
                  <a:t> </a:t>
                </a:r>
                <a:r>
                  <a:rPr lang="es-MX" dirty="0" err="1"/>
                  <a:t>the</a:t>
                </a:r>
                <a:r>
                  <a:rPr lang="es-MX" dirty="0"/>
                  <a:t> </a:t>
                </a:r>
                <a:r>
                  <a:rPr lang="es-MX" dirty="0" err="1"/>
                  <a:t>program</a:t>
                </a:r>
                <a:endParaRPr lang="es-MX" dirty="0"/>
              </a:p>
              <a:p>
                <a:endParaRPr lang="es-MX" dirty="0"/>
              </a:p>
              <a:p>
                <a:endParaRPr lang="es-MX" dirty="0"/>
              </a:p>
              <a:p>
                <a:endParaRPr lang="es-MX" dirty="0"/>
              </a:p>
              <a:p>
                <a:endParaRPr lang="es-MX" dirty="0"/>
              </a:p>
              <a:p>
                <a:endParaRPr lang="es-MX" dirty="0"/>
              </a:p>
              <a:p>
                <a:pPr algn="just"/>
                <a:r>
                  <a:rPr lang="es-MX" b="1" dirty="0" err="1"/>
                  <a:t>Solution</a:t>
                </a:r>
                <a:r>
                  <a:rPr lang="es-MX" dirty="0"/>
                  <a:t>: </a:t>
                </a:r>
                <a:r>
                  <a:rPr lang="es-MX" dirty="0" err="1"/>
                  <a:t>Let</a:t>
                </a:r>
                <a:r>
                  <a:rPr lang="es-MX" dirty="0"/>
                  <a:t> </a:t>
                </a:r>
                <a:r>
                  <a:rPr lang="es-MX" dirty="0" err="1"/>
                  <a:t>the</a:t>
                </a:r>
                <a:r>
                  <a:rPr lang="es-MX" dirty="0"/>
                  <a:t> </a:t>
                </a:r>
                <a:r>
                  <a:rPr lang="es-MX" dirty="0" err="1"/>
                  <a:t>number</a:t>
                </a:r>
                <a:r>
                  <a:rPr lang="es-MX" dirty="0"/>
                  <a:t> </a:t>
                </a:r>
                <a:r>
                  <a:rPr lang="es-MX" dirty="0" err="1"/>
                  <a:t>of</a:t>
                </a:r>
                <a:r>
                  <a:rPr lang="es-MX" dirty="0"/>
                  <a:t> </a:t>
                </a:r>
                <a:r>
                  <a:rPr lang="es-MX" dirty="0" err="1"/>
                  <a:t>operators</a:t>
                </a:r>
                <a:r>
                  <a:rPr lang="es-MX" dirty="0"/>
                  <a:t> </a:t>
                </a:r>
                <a:r>
                  <a:rPr lang="es-MX" dirty="0" err="1"/>
                  <a:t>performed</a:t>
                </a:r>
                <a:r>
                  <a:rPr lang="es-MX" dirty="0"/>
                  <a:t> in </a:t>
                </a:r>
                <a:r>
                  <a:rPr lang="es-MX" dirty="0" err="1"/>
                  <a:t>the</a:t>
                </a:r>
                <a:r>
                  <a:rPr lang="es-MX" dirty="0"/>
                  <a:t> </a:t>
                </a:r>
                <a:r>
                  <a:rPr lang="es-MX" dirty="0" err="1"/>
                  <a:t>first</a:t>
                </a:r>
                <a:r>
                  <a:rPr lang="es-MX" dirty="0"/>
                  <a:t> </a:t>
                </a:r>
                <a:r>
                  <a:rPr lang="es-MX" dirty="0" err="1"/>
                  <a:t>loop</a:t>
                </a:r>
                <a:r>
                  <a:rPr lang="es-MX" dirty="0"/>
                  <a:t> be </a:t>
                </a:r>
                <a14:m>
                  <m:oMath xmlns:m="http://schemas.openxmlformats.org/officeDocument/2006/math">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𝑇</m:t>
                        </m:r>
                      </m:e>
                      <m:sub>
                        <m:r>
                          <a:rPr lang="en-US" b="0" i="1" dirty="0" smtClean="0">
                            <a:solidFill>
                              <a:srgbClr val="FF0000"/>
                            </a:solidFill>
                            <a:latin typeface="Cambria Math"/>
                          </a:rPr>
                          <m:t>1</m:t>
                        </m:r>
                      </m:sub>
                    </m:sSub>
                  </m:oMath>
                </a14:m>
                <a:r>
                  <a:rPr lang="en-US" dirty="0"/>
                  <a:t>, number of operators performed in the second loop be </a:t>
                </a:r>
                <a14:m>
                  <m:oMath xmlns:m="http://schemas.openxmlformats.org/officeDocument/2006/math">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𝑇</m:t>
                        </m:r>
                      </m:e>
                      <m:sub>
                        <m:r>
                          <a:rPr lang="en-US" b="0" i="1" dirty="0" smtClean="0">
                            <a:solidFill>
                              <a:srgbClr val="FF0000"/>
                            </a:solidFill>
                            <a:latin typeface="Cambria Math"/>
                          </a:rPr>
                          <m:t>2</m:t>
                        </m:r>
                      </m:sub>
                    </m:sSub>
                  </m:oMath>
                </a14:m>
                <a:r>
                  <a:rPr lang="en-US" dirty="0"/>
                  <a:t>. Because 2 loops execute independently, according to the Sum rule, the value of </a:t>
                </a:r>
                <a14:m>
                  <m:oMath xmlns:m="http://schemas.openxmlformats.org/officeDocument/2006/math">
                    <m:r>
                      <a:rPr lang="en-US" i="1" dirty="0" smtClean="0">
                        <a:solidFill>
                          <a:srgbClr val="FF0000"/>
                        </a:solidFill>
                        <a:latin typeface="Cambria Math"/>
                      </a:rPr>
                      <m:t>𝑆</m:t>
                    </m:r>
                    <m:r>
                      <a:rPr lang="en-US" i="1" dirty="0" smtClean="0">
                        <a:solidFill>
                          <a:srgbClr val="FF0000"/>
                        </a:solidFill>
                        <a:latin typeface="Cambria Math"/>
                      </a:rPr>
                      <m:t>=</m:t>
                    </m:r>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𝑇</m:t>
                        </m:r>
                      </m:e>
                      <m:sub>
                        <m:r>
                          <a:rPr lang="en-US" b="0" i="1" dirty="0" smtClean="0">
                            <a:solidFill>
                              <a:srgbClr val="FF0000"/>
                            </a:solidFill>
                            <a:latin typeface="Cambria Math"/>
                          </a:rPr>
                          <m:t>1</m:t>
                        </m:r>
                      </m:sub>
                    </m:sSub>
                    <m:r>
                      <a:rPr lang="en-US" i="1" dirty="0" smtClean="0">
                        <a:solidFill>
                          <a:srgbClr val="FF0000"/>
                        </a:solidFill>
                        <a:latin typeface="Cambria Math"/>
                      </a:rPr>
                      <m:t>+</m:t>
                    </m:r>
                    <m:sSub>
                      <m:sSubPr>
                        <m:ctrlPr>
                          <a:rPr lang="en-US" i="1" dirty="0" smtClean="0">
                            <a:solidFill>
                              <a:srgbClr val="FF0000"/>
                            </a:solidFill>
                            <a:latin typeface="Cambria Math" panose="02040503050406030204" pitchFamily="18" charset="0"/>
                          </a:rPr>
                        </m:ctrlPr>
                      </m:sSubPr>
                      <m:e>
                        <m:r>
                          <a:rPr lang="en-US" b="0" i="1" dirty="0" smtClean="0">
                            <a:solidFill>
                              <a:srgbClr val="FF0000"/>
                            </a:solidFill>
                            <a:latin typeface="Cambria Math"/>
                          </a:rPr>
                          <m:t>𝑇</m:t>
                        </m:r>
                      </m:e>
                      <m:sub>
                        <m:r>
                          <a:rPr lang="en-US" b="0" i="1" dirty="0" smtClean="0">
                            <a:solidFill>
                              <a:srgbClr val="FF0000"/>
                            </a:solidFill>
                            <a:latin typeface="Cambria Math"/>
                          </a:rPr>
                          <m:t>2</m:t>
                        </m:r>
                      </m:sub>
                    </m:sSub>
                    <m:r>
                      <a:rPr lang="en-US" i="1" dirty="0" smtClean="0">
                        <a:solidFill>
                          <a:srgbClr val="FF0000"/>
                        </a:solidFill>
                        <a:latin typeface="Cambria Math"/>
                      </a:rPr>
                      <m:t>=</m:t>
                    </m:r>
                    <m:r>
                      <a:rPr lang="pt-BR" i="1" dirty="0">
                        <a:solidFill>
                          <a:srgbClr val="FF0000"/>
                        </a:solidFill>
                        <a:latin typeface="Cambria Math"/>
                      </a:rPr>
                      <m:t>𝑁</m:t>
                    </m:r>
                    <m:r>
                      <a:rPr lang="pt-BR" i="1" dirty="0">
                        <a:solidFill>
                          <a:srgbClr val="FF0000"/>
                        </a:solidFill>
                        <a:latin typeface="Cambria Math"/>
                      </a:rPr>
                      <m:t>+</m:t>
                    </m:r>
                    <m:r>
                      <a:rPr lang="pt-BR" i="1" dirty="0">
                        <a:solidFill>
                          <a:srgbClr val="FF0000"/>
                        </a:solidFill>
                        <a:latin typeface="Cambria Math"/>
                      </a:rPr>
                      <m:t>𝑀</m:t>
                    </m:r>
                  </m:oMath>
                </a14:m>
                <a:r>
                  <a:rPr lang="pt-BR" dirty="0"/>
                  <a:t>.</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4937760"/>
              </a:xfrm>
              <a:blipFill>
                <a:blip r:embed="rId2"/>
                <a:stretch>
                  <a:fillRect l="-519" t="-1111" r="-1111" b="-27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1074659" y="2407384"/>
                <a:ext cx="3192541" cy="1631216"/>
              </a:xfrm>
              <a:prstGeom prst="rect">
                <a:avLst/>
              </a:prstGeom>
              <a:noFill/>
            </p:spPr>
            <p:txBody>
              <a:bodyPr wrap="none" rtlCol="0">
                <a:spAutoFit/>
              </a:bodyPr>
              <a:lstStyle/>
              <a:p>
                <a:pPr algn="just"/>
                <a14:m>
                  <m:oMath xmlns:m="http://schemas.openxmlformats.org/officeDocument/2006/math">
                    <m:r>
                      <a:rPr lang="en-US" sz="2000" i="1" dirty="0" smtClean="0">
                        <a:latin typeface="Cambria Math"/>
                        <a:ea typeface="Tahoma" pitchFamily="34" charset="0"/>
                        <a:cs typeface="Tahoma" pitchFamily="34" charset="0"/>
                      </a:rPr>
                      <m:t>𝑆</m:t>
                    </m:r>
                    <m:r>
                      <a:rPr lang="en-US" sz="2000" i="1" dirty="0" smtClean="0">
                        <a:latin typeface="Cambria Math"/>
                        <a:ea typeface="Tahoma" pitchFamily="34" charset="0"/>
                        <a:cs typeface="Tahoma" pitchFamily="34" charset="0"/>
                      </a:rPr>
                      <m:t> = 0</m:t>
                    </m:r>
                  </m:oMath>
                </a14:m>
                <a:r>
                  <a:rPr lang="en-US" sz="2000" dirty="0">
                    <a:latin typeface="Gill Sans MT (Body)"/>
                    <a:ea typeface="Tahoma" pitchFamily="34" charset="0"/>
                    <a:cs typeface="Tahoma" pitchFamily="34" charset="0"/>
                  </a:rPr>
                  <a:t>;</a:t>
                </a:r>
              </a:p>
              <a:p>
                <a:pPr algn="just"/>
                <a:r>
                  <a:rPr lang="en-US" sz="2000" b="1" dirty="0">
                    <a:latin typeface="Gill Sans MT (Body)"/>
                    <a:ea typeface="Tahoma" pitchFamily="34" charset="0"/>
                    <a:cs typeface="Tahoma" pitchFamily="34" charset="0"/>
                  </a:rPr>
                  <a:t>for</a:t>
                </a:r>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𝑖</m:t>
                    </m:r>
                    <m:r>
                      <a:rPr lang="en-US" sz="2000" i="1" dirty="0" smtClean="0">
                        <a:latin typeface="Cambria Math"/>
                        <a:ea typeface="Tahoma" pitchFamily="34" charset="0"/>
                        <a:cs typeface="Tahoma" pitchFamily="34" charset="0"/>
                      </a:rPr>
                      <m:t>=1; </m:t>
                    </m:r>
                    <m:r>
                      <a:rPr lang="en-US" sz="2000" i="1" dirty="0" smtClean="0">
                        <a:latin typeface="Cambria Math"/>
                        <a:ea typeface="Tahoma" pitchFamily="34" charset="0"/>
                        <a:cs typeface="Tahoma" pitchFamily="34" charset="0"/>
                      </a:rPr>
                      <m:t>𝑖</m:t>
                    </m:r>
                    <m:r>
                      <a:rPr lang="en-US" sz="2000" i="1" dirty="0" smtClean="0">
                        <a:latin typeface="Cambria Math"/>
                        <a:ea typeface="Tahoma" pitchFamily="34" charset="0"/>
                        <a:cs typeface="Tahoma" pitchFamily="34" charset="0"/>
                      </a:rPr>
                      <m:t>&lt;=</m:t>
                    </m:r>
                    <m:r>
                      <a:rPr lang="en-US" sz="2000" i="1" dirty="0" smtClean="0">
                        <a:latin typeface="Cambria Math"/>
                        <a:ea typeface="Tahoma" pitchFamily="34" charset="0"/>
                        <a:cs typeface="Tahoma" pitchFamily="34" charset="0"/>
                      </a:rPr>
                      <m:t>𝑁</m:t>
                    </m:r>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𝑖</m:t>
                    </m:r>
                    <m:r>
                      <a:rPr lang="en-US" sz="2000" i="1" dirty="0" smtClean="0">
                        <a:latin typeface="Cambria Math"/>
                        <a:ea typeface="Tahoma" pitchFamily="34" charset="0"/>
                        <a:cs typeface="Tahoma" pitchFamily="34" charset="0"/>
                      </a:rPr>
                      <m:t>++)</m:t>
                    </m:r>
                  </m:oMath>
                </a14:m>
                <a:r>
                  <a:rPr lang="en-US" sz="2000" dirty="0">
                    <a:latin typeface="Gill Sans MT (Body)"/>
                    <a:ea typeface="Tahoma" pitchFamily="34" charset="0"/>
                    <a:cs typeface="Tahoma" pitchFamily="34" charset="0"/>
                  </a:rPr>
                  <a:t>  </a:t>
                </a:r>
              </a:p>
              <a:p>
                <a:pPr algn="just"/>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𝑆</m:t>
                    </m:r>
                    <m:r>
                      <a:rPr lang="en-US" sz="2000" i="1" dirty="0" smtClean="0">
                        <a:latin typeface="Cambria Math"/>
                        <a:ea typeface="Tahoma" pitchFamily="34" charset="0"/>
                        <a:cs typeface="Tahoma" pitchFamily="34" charset="0"/>
                      </a:rPr>
                      <m:t>++</m:t>
                    </m:r>
                  </m:oMath>
                </a14:m>
                <a:r>
                  <a:rPr lang="en-US" sz="2000" dirty="0">
                    <a:latin typeface="Gill Sans MT (Body)"/>
                    <a:ea typeface="Tahoma" pitchFamily="34" charset="0"/>
                    <a:cs typeface="Tahoma" pitchFamily="34" charset="0"/>
                  </a:rPr>
                  <a:t>;</a:t>
                </a:r>
              </a:p>
              <a:p>
                <a:pPr algn="just"/>
                <a:r>
                  <a:rPr lang="en-US" sz="2000" b="1" dirty="0">
                    <a:latin typeface="Gill Sans MT (Body)"/>
                    <a:ea typeface="Tahoma" pitchFamily="34" charset="0"/>
                    <a:cs typeface="Tahoma" pitchFamily="34" charset="0"/>
                  </a:rPr>
                  <a:t>for</a:t>
                </a:r>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𝑗</m:t>
                    </m:r>
                    <m:r>
                      <a:rPr lang="en-US" sz="2000" i="1" dirty="0" smtClean="0">
                        <a:latin typeface="Cambria Math"/>
                        <a:ea typeface="Tahoma" pitchFamily="34" charset="0"/>
                        <a:cs typeface="Tahoma" pitchFamily="34" charset="0"/>
                      </a:rPr>
                      <m:t>=1; </m:t>
                    </m:r>
                    <m:r>
                      <a:rPr lang="en-US" sz="2000" i="1" dirty="0" smtClean="0">
                        <a:latin typeface="Cambria Math"/>
                        <a:ea typeface="Tahoma" pitchFamily="34" charset="0"/>
                        <a:cs typeface="Tahoma" pitchFamily="34" charset="0"/>
                      </a:rPr>
                      <m:t>𝑗</m:t>
                    </m:r>
                    <m:r>
                      <a:rPr lang="en-US" sz="2000" i="1" dirty="0" smtClean="0">
                        <a:latin typeface="Cambria Math"/>
                        <a:ea typeface="Tahoma" pitchFamily="34" charset="0"/>
                        <a:cs typeface="Tahoma" pitchFamily="34" charset="0"/>
                      </a:rPr>
                      <m:t>&lt;=</m:t>
                    </m:r>
                    <m:r>
                      <a:rPr lang="en-US" sz="2000" i="1" dirty="0" smtClean="0">
                        <a:latin typeface="Cambria Math"/>
                        <a:ea typeface="Tahoma" pitchFamily="34" charset="0"/>
                        <a:cs typeface="Tahoma" pitchFamily="34" charset="0"/>
                      </a:rPr>
                      <m:t>𝑀</m:t>
                    </m:r>
                    <m:r>
                      <a:rPr lang="en-US" sz="2000" i="1" dirty="0" smtClean="0">
                        <a:latin typeface="Cambria Math"/>
                        <a:ea typeface="Tahoma" pitchFamily="34" charset="0"/>
                        <a:cs typeface="Tahoma" pitchFamily="34" charset="0"/>
                      </a:rPr>
                      <m:t>;</m:t>
                    </m:r>
                    <m:r>
                      <a:rPr lang="en-US" sz="2000" i="1" dirty="0" smtClean="0">
                        <a:latin typeface="Cambria Math"/>
                        <a:ea typeface="Tahoma" pitchFamily="34" charset="0"/>
                        <a:cs typeface="Tahoma" pitchFamily="34" charset="0"/>
                      </a:rPr>
                      <m:t>𝑗</m:t>
                    </m:r>
                    <m:r>
                      <a:rPr lang="en-US" sz="2000" i="1" dirty="0" smtClean="0">
                        <a:latin typeface="Cambria Math"/>
                        <a:ea typeface="Tahoma" pitchFamily="34" charset="0"/>
                        <a:cs typeface="Tahoma" pitchFamily="34" charset="0"/>
                      </a:rPr>
                      <m:t>++)</m:t>
                    </m:r>
                  </m:oMath>
                </a14:m>
                <a:endParaRPr lang="en-US" sz="2000" dirty="0">
                  <a:latin typeface="Gill Sans MT (Body)"/>
                  <a:ea typeface="Tahoma" pitchFamily="34" charset="0"/>
                  <a:cs typeface="Tahoma" pitchFamily="34" charset="0"/>
                </a:endParaRPr>
              </a:p>
              <a:p>
                <a:pPr algn="just"/>
                <a:r>
                  <a:rPr lang="en-US" sz="2000" dirty="0">
                    <a:latin typeface="Gill Sans MT (Body)"/>
                    <a:ea typeface="Tahoma" pitchFamily="34" charset="0"/>
                    <a:cs typeface="Tahoma" pitchFamily="34" charset="0"/>
                  </a:rPr>
                  <a:t>       </a:t>
                </a:r>
                <a14:m>
                  <m:oMath xmlns:m="http://schemas.openxmlformats.org/officeDocument/2006/math">
                    <m:r>
                      <a:rPr lang="en-US" sz="2000" i="1" dirty="0" smtClean="0">
                        <a:latin typeface="Cambria Math"/>
                        <a:ea typeface="Tahoma" pitchFamily="34" charset="0"/>
                        <a:cs typeface="Tahoma" pitchFamily="34" charset="0"/>
                      </a:rPr>
                      <m:t>𝑆</m:t>
                    </m:r>
                    <m:r>
                      <a:rPr lang="en-US" sz="2000" i="1" dirty="0" smtClean="0">
                        <a:latin typeface="Cambria Math"/>
                        <a:ea typeface="Tahoma" pitchFamily="34" charset="0"/>
                        <a:cs typeface="Tahoma" pitchFamily="34" charset="0"/>
                      </a:rPr>
                      <m:t>++</m:t>
                    </m:r>
                  </m:oMath>
                </a14:m>
                <a:r>
                  <a:rPr lang="en-US" sz="2000" dirty="0">
                    <a:latin typeface="Gill Sans MT (Body)"/>
                    <a:ea typeface="Tahoma" pitchFamily="34" charset="0"/>
                    <a:cs typeface="Tahoma" pitchFamily="34" charset="0"/>
                  </a:rPr>
                  <a:t>;</a:t>
                </a:r>
              </a:p>
            </p:txBody>
          </p:sp>
        </mc:Choice>
        <mc:Fallback xmlns="">
          <p:sp>
            <p:nvSpPr>
              <p:cNvPr id="6" name="TextBox 5"/>
              <p:cNvSpPr txBox="1">
                <a:spLocks noRot="1" noChangeAspect="1" noMove="1" noResize="1" noEditPoints="1" noAdjustHandles="1" noChangeArrowheads="1" noChangeShapeType="1" noTextEdit="1"/>
              </p:cNvSpPr>
              <p:nvPr/>
            </p:nvSpPr>
            <p:spPr>
              <a:xfrm>
                <a:off x="1074659" y="2407384"/>
                <a:ext cx="3192541" cy="1631216"/>
              </a:xfrm>
              <a:prstGeom prst="rect">
                <a:avLst/>
              </a:prstGeom>
              <a:blipFill rotWithShape="1">
                <a:blip r:embed="rId3"/>
                <a:stretch>
                  <a:fillRect l="-1908" t="-1493" b="-5970"/>
                </a:stretch>
              </a:blipFill>
            </p:spPr>
            <p:txBody>
              <a:bodyPr/>
              <a:lstStyle/>
              <a:p>
                <a:r>
                  <a:rPr lang="en-US">
                    <a:noFill/>
                  </a:rPr>
                  <a:t> </a:t>
                </a:r>
              </a:p>
            </p:txBody>
          </p:sp>
        </mc:Fallback>
      </mc:AlternateContent>
    </p:spTree>
    <p:extLst>
      <p:ext uri="{BB962C8B-B14F-4D97-AF65-F5344CB8AC3E}">
        <p14:creationId xmlns:p14="http://schemas.microsoft.com/office/powerpoint/2010/main" val="10322328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rule (recall)</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r>
                  <a:rPr lang="pt-BR" dirty="0"/>
                  <a:t>Assume that a certain task is divided into 2 jobs. The first job can be completed by </a:t>
                </a:r>
                <a14:m>
                  <m:oMath xmlns:m="http://schemas.openxmlformats.org/officeDocument/2006/math">
                    <m:r>
                      <a:rPr lang="pt-BR" i="1" dirty="0">
                        <a:solidFill>
                          <a:srgbClr val="FF0000"/>
                        </a:solidFill>
                        <a:latin typeface="Cambria Math"/>
                      </a:rPr>
                      <m:t>𝑛</m:t>
                    </m:r>
                    <m:r>
                      <a:rPr lang="pt-BR" i="1" baseline="-25000" dirty="0">
                        <a:solidFill>
                          <a:srgbClr val="FF0000"/>
                        </a:solidFill>
                        <a:latin typeface="Cambria Math"/>
                      </a:rPr>
                      <m:t>1</m:t>
                    </m:r>
                  </m:oMath>
                </a14:m>
                <a:r>
                  <a:rPr lang="pt-BR" dirty="0"/>
                  <a:t> ways, the second job is completed by </a:t>
                </a:r>
                <a14:m>
                  <m:oMath xmlns:m="http://schemas.openxmlformats.org/officeDocument/2006/math">
                    <m:r>
                      <a:rPr lang="pt-BR" i="1" dirty="0">
                        <a:solidFill>
                          <a:srgbClr val="FF0000"/>
                        </a:solidFill>
                        <a:latin typeface="Cambria Math"/>
                      </a:rPr>
                      <m:t>𝑛</m:t>
                    </m:r>
                    <m:r>
                      <a:rPr lang="pt-BR" i="1" baseline="-25000" dirty="0">
                        <a:solidFill>
                          <a:srgbClr val="FF0000"/>
                        </a:solidFill>
                        <a:latin typeface="Cambria Math"/>
                      </a:rPr>
                      <m:t>2</m:t>
                    </m:r>
                  </m:oMath>
                </a14:m>
                <a:r>
                  <a:rPr lang="pt-BR" dirty="0"/>
                  <a:t> ways after the first job is done. Then, there are </a:t>
                </a:r>
                <a14:m>
                  <m:oMath xmlns:m="http://schemas.openxmlformats.org/officeDocument/2006/math">
                    <m:r>
                      <a:rPr lang="pt-BR" i="1" dirty="0">
                        <a:solidFill>
                          <a:srgbClr val="FF0000"/>
                        </a:solidFill>
                        <a:latin typeface="Cambria Math"/>
                      </a:rPr>
                      <m:t>𝑛</m:t>
                    </m:r>
                    <m:r>
                      <a:rPr lang="pt-BR" i="1" baseline="-25000" dirty="0">
                        <a:solidFill>
                          <a:srgbClr val="FF0000"/>
                        </a:solidFill>
                        <a:latin typeface="Cambria Math"/>
                      </a:rPr>
                      <m:t>1</m:t>
                    </m:r>
                    <m:r>
                      <a:rPr lang="pt-BR" i="1" dirty="0">
                        <a:solidFill>
                          <a:srgbClr val="FF0000"/>
                        </a:solidFill>
                        <a:latin typeface="Cambria Math"/>
                      </a:rPr>
                      <m:t>𝑛</m:t>
                    </m:r>
                    <m:r>
                      <a:rPr lang="pt-BR" i="1" baseline="-25000" dirty="0">
                        <a:solidFill>
                          <a:srgbClr val="FF0000"/>
                        </a:solidFill>
                        <a:latin typeface="Cambria Math"/>
                      </a:rPr>
                      <m:t>2</m:t>
                    </m:r>
                  </m:oMath>
                </a14:m>
                <a:r>
                  <a:rPr lang="pt-BR" dirty="0"/>
                  <a:t> ways to complete the task above.</a:t>
                </a:r>
              </a:p>
              <a:p>
                <a:pPr algn="just"/>
                <a:r>
                  <a:rPr lang="en-US" dirty="0"/>
                  <a:t>If each component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𝑖</m:t>
                        </m:r>
                      </m:sub>
                    </m:sSub>
                  </m:oMath>
                </a14:m>
                <a:r>
                  <a:rPr lang="en-US" dirty="0"/>
                  <a:t> of ordered set </a:t>
                </a:r>
                <a14:m>
                  <m:oMath xmlns:m="http://schemas.openxmlformats.org/officeDocument/2006/math">
                    <m:r>
                      <a:rPr lang="en-US" i="1" dirty="0">
                        <a:latin typeface="Cambria Math"/>
                      </a:rPr>
                      <m:t>𝑘</m:t>
                    </m:r>
                  </m:oMath>
                </a14:m>
                <a:r>
                  <a:rPr lang="en-US" dirty="0"/>
                  <a:t> </a:t>
                </a:r>
                <a14:m>
                  <m:oMath xmlns:m="http://schemas.openxmlformats.org/officeDocument/2006/math">
                    <m:r>
                      <a:rPr lang="en-US"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2</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𝑘</m:t>
                        </m:r>
                      </m:sub>
                    </m:sSub>
                    <m:r>
                      <a:rPr lang="en-US" i="1">
                        <a:solidFill>
                          <a:srgbClr val="FF0000"/>
                        </a:solidFill>
                        <a:latin typeface="Cambria Math"/>
                      </a:rPr>
                      <m:t>)</m:t>
                    </m:r>
                  </m:oMath>
                </a14:m>
                <a:r>
                  <a:rPr lang="en-US" dirty="0"/>
                  <a:t> has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𝑛</m:t>
                        </m:r>
                      </m:e>
                      <m:sub>
                        <m:r>
                          <a:rPr lang="en-US" i="1">
                            <a:solidFill>
                              <a:srgbClr val="FF0000"/>
                            </a:solidFill>
                            <a:latin typeface="Cambria Math"/>
                          </a:rPr>
                          <m:t>𝑖</m:t>
                        </m:r>
                      </m:sub>
                    </m:sSub>
                  </m:oMath>
                </a14:m>
                <a:r>
                  <a:rPr lang="en-US" dirty="0">
                    <a:solidFill>
                      <a:srgbClr val="FF0000"/>
                    </a:solidFill>
                  </a:rPr>
                  <a:t> </a:t>
                </a:r>
                <a:r>
                  <a:rPr lang="en-US" dirty="0"/>
                  <a:t>abilities, the number of sets generated will be the product of abilities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𝑛</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𝑛</m:t>
                        </m:r>
                      </m:e>
                      <m:sub>
                        <m:r>
                          <a:rPr lang="en-US" i="1">
                            <a:solidFill>
                              <a:srgbClr val="FF0000"/>
                            </a:solidFill>
                            <a:latin typeface="Cambria Math"/>
                          </a:rPr>
                          <m:t>2</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𝑛</m:t>
                        </m:r>
                      </m:e>
                      <m:sub>
                        <m:r>
                          <a:rPr lang="en-US" i="1">
                            <a:solidFill>
                              <a:srgbClr val="FF0000"/>
                            </a:solidFill>
                            <a:latin typeface="Cambria Math"/>
                          </a:rPr>
                          <m:t>𝑘</m:t>
                        </m:r>
                      </m:sub>
                    </m:sSub>
                    <m:r>
                      <a:rPr lang="en-US" b="0" i="1" smtClean="0">
                        <a:solidFill>
                          <a:srgbClr val="FF0000"/>
                        </a:solidFill>
                        <a:latin typeface="Cambria Math" panose="02040503050406030204" pitchFamily="18" charset="0"/>
                      </a:rPr>
                      <m:t>.</m:t>
                    </m:r>
                  </m:oMath>
                </a14:m>
                <a:endParaRPr lang="en-US" dirty="0"/>
              </a:p>
              <a:p>
                <a:r>
                  <a:rPr lang="en-US" dirty="0"/>
                  <a:t>Consequences:</a:t>
                </a:r>
              </a:p>
              <a:p>
                <a:pPr lvl="1"/>
                <a14:m>
                  <m:oMath xmlns:m="http://schemas.openxmlformats.org/officeDocument/2006/math">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1</m:t>
                            </m:r>
                          </m:sub>
                        </m:sSub>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𝐴</m:t>
                            </m:r>
                          </m:e>
                          <m:sub>
                            <m:r>
                              <a:rPr lang="en-US" i="1">
                                <a:latin typeface="Cambria Math"/>
                                <a:ea typeface="Cambria Math"/>
                              </a:rPr>
                              <m:t>2</m:t>
                            </m:r>
                          </m:sub>
                        </m:sSub>
                        <m:r>
                          <a:rPr lang="en-US" i="1">
                            <a:latin typeface="Cambria Math"/>
                            <a:ea typeface="Cambria Math"/>
                          </a:rPr>
                          <m:t>×…×</m:t>
                        </m:r>
                        <m:sSub>
                          <m:sSubPr>
                            <m:ctrlPr>
                              <a:rPr lang="en-US" i="1">
                                <a:latin typeface="Cambria Math" panose="02040503050406030204" pitchFamily="18" charset="0"/>
                                <a:ea typeface="Cambria Math"/>
                              </a:rPr>
                            </m:ctrlPr>
                          </m:sSubPr>
                          <m:e>
                            <m:r>
                              <a:rPr lang="en-US" i="1">
                                <a:latin typeface="Cambria Math"/>
                                <a:ea typeface="Cambria Math"/>
                              </a:rPr>
                              <m:t>𝐴</m:t>
                            </m:r>
                          </m:e>
                          <m:sub>
                            <m:r>
                              <a:rPr lang="en-US" i="1">
                                <a:latin typeface="Cambria Math"/>
                                <a:ea typeface="Cambria Math"/>
                              </a:rPr>
                              <m:t>𝑘</m:t>
                            </m:r>
                          </m:sub>
                        </m:sSub>
                      </m:e>
                    </m:d>
                    <m:r>
                      <a:rPr lang="en-US" i="1">
                        <a:latin typeface="Cambria Math"/>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1</m:t>
                            </m:r>
                          </m:sub>
                        </m:sSub>
                      </m:e>
                    </m:d>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2</m:t>
                            </m:r>
                          </m:sub>
                        </m:sSub>
                      </m:e>
                    </m:d>
                    <m:r>
                      <a:rPr lang="en-US" i="1">
                        <a:latin typeface="Cambria Math"/>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a:rPr>
                              <m:t>𝐴</m:t>
                            </m:r>
                          </m:e>
                          <m:sub>
                            <m:r>
                              <a:rPr lang="en-US" i="1">
                                <a:latin typeface="Cambria Math"/>
                              </a:rPr>
                              <m:t>𝑘</m:t>
                            </m:r>
                          </m:sub>
                        </m:sSub>
                      </m:e>
                    </m:d>
                  </m:oMath>
                </a14:m>
                <a:endParaRPr lang="en-US" dirty="0"/>
              </a:p>
              <a:p>
                <a:pPr lvl="1"/>
                <a14:m>
                  <m:oMath xmlns:m="http://schemas.openxmlformats.org/officeDocument/2006/math">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a:rPr>
                              <m:t>𝐴</m:t>
                            </m:r>
                          </m:e>
                          <m:sup>
                            <m:r>
                              <a:rPr lang="en-US" i="1">
                                <a:latin typeface="Cambria Math"/>
                              </a:rPr>
                              <m:t>𝑘</m:t>
                            </m:r>
                          </m:sup>
                        </m:sSup>
                      </m:e>
                    </m:d>
                    <m:r>
                      <a:rPr lang="en-US" i="1">
                        <a:latin typeface="Cambria Math"/>
                      </a:rPr>
                      <m:t>=</m:t>
                    </m:r>
                    <m:sSup>
                      <m:sSupPr>
                        <m:ctrlPr>
                          <a:rPr lang="en-US" i="1">
                            <a:latin typeface="Cambria Math" panose="02040503050406030204" pitchFamily="18" charset="0"/>
                          </a:rPr>
                        </m:ctrlPr>
                      </m:sSupPr>
                      <m:e>
                        <m:r>
                          <a:rPr lang="en-US" i="1">
                            <a:latin typeface="Cambria Math"/>
                          </a:rPr>
                          <m:t>|</m:t>
                        </m:r>
                        <m:r>
                          <a:rPr lang="en-US" i="1">
                            <a:latin typeface="Cambria Math"/>
                          </a:rPr>
                          <m:t>𝐴</m:t>
                        </m:r>
                        <m:r>
                          <a:rPr lang="en-US" i="1">
                            <a:latin typeface="Cambria Math"/>
                          </a:rPr>
                          <m:t>|</m:t>
                        </m:r>
                      </m:e>
                      <m:sup>
                        <m:r>
                          <a:rPr lang="en-US" i="1">
                            <a:latin typeface="Cambria Math"/>
                          </a:rPr>
                          <m:t>𝑘</m:t>
                        </m:r>
                      </m:sup>
                    </m:sSup>
                  </m:oMath>
                </a14:m>
                <a:endParaRPr lang="en-US" dirty="0"/>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3903757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s-MX" b="1" dirty="0"/>
                  <a:t>Problem</a:t>
                </a:r>
                <a:r>
                  <a:rPr lang="es-MX" dirty="0"/>
                  <a:t>: </a:t>
                </a:r>
                <a:r>
                  <a:rPr lang="es-MX" dirty="0" err="1"/>
                  <a:t>Assume</a:t>
                </a:r>
                <a14:m>
                  <m:oMath xmlns:m="http://schemas.openxmlformats.org/officeDocument/2006/math">
                    <m:r>
                      <a:rPr lang="en-US" b="0" i="0" dirty="0" smtClean="0">
                        <a:solidFill>
                          <a:srgbClr val="FF0000"/>
                        </a:solidFill>
                        <a:latin typeface="Cambria Math" panose="02040503050406030204" pitchFamily="18" charset="0"/>
                      </a:rPr>
                      <m:t> </m:t>
                    </m:r>
                    <m:r>
                      <a:rPr lang="pt-BR" i="1" dirty="0">
                        <a:solidFill>
                          <a:srgbClr val="FF0000"/>
                        </a:solidFill>
                        <a:latin typeface="Cambria Math"/>
                      </a:rPr>
                      <m:t>𝑛</m:t>
                    </m:r>
                    <m:r>
                      <a:rPr lang="pt-BR" i="1" baseline="-25000" dirty="0">
                        <a:solidFill>
                          <a:srgbClr val="FF0000"/>
                        </a:solidFill>
                        <a:latin typeface="Cambria Math"/>
                      </a:rPr>
                      <m:t>1</m:t>
                    </m:r>
                    <m:r>
                      <a:rPr lang="pt-BR" i="1" dirty="0">
                        <a:solidFill>
                          <a:srgbClr val="FF0000"/>
                        </a:solidFill>
                        <a:latin typeface="Cambria Math"/>
                      </a:rPr>
                      <m:t>, </m:t>
                    </m:r>
                    <m:r>
                      <a:rPr lang="pt-BR" i="1" dirty="0">
                        <a:solidFill>
                          <a:srgbClr val="FF0000"/>
                        </a:solidFill>
                        <a:latin typeface="Cambria Math"/>
                      </a:rPr>
                      <m:t>𝑛</m:t>
                    </m:r>
                    <m:r>
                      <a:rPr lang="pt-BR" i="1" baseline="-25000" dirty="0">
                        <a:solidFill>
                          <a:srgbClr val="FF0000"/>
                        </a:solidFill>
                        <a:latin typeface="Cambria Math"/>
                      </a:rPr>
                      <m:t>2</m:t>
                    </m:r>
                    <m:r>
                      <a:rPr lang="en-US" b="0" i="1" baseline="-25000" dirty="0" smtClean="0">
                        <a:solidFill>
                          <a:srgbClr val="FF0000"/>
                        </a:solidFill>
                        <a:latin typeface="Cambria Math" panose="02040503050406030204" pitchFamily="18" charset="0"/>
                      </a:rPr>
                      <m:t> </m:t>
                    </m:r>
                  </m:oMath>
                </a14:m>
                <a:r>
                  <a:rPr lang="es-MX" dirty="0"/>
                  <a:t>are 2 </a:t>
                </a:r>
                <a:r>
                  <a:rPr lang="es-MX" dirty="0" err="1"/>
                  <a:t>definite</a:t>
                </a:r>
                <a:r>
                  <a:rPr lang="es-MX" dirty="0"/>
                  <a:t> natural </a:t>
                </a:r>
                <a:r>
                  <a:rPr lang="es-MX" dirty="0" err="1"/>
                  <a:t>number</a:t>
                </a:r>
                <a:r>
                  <a:rPr lang="es-MX" dirty="0"/>
                  <a:t>. </a:t>
                </a:r>
                <a:r>
                  <a:rPr lang="es-MX" dirty="0" err="1"/>
                  <a:t>Give</a:t>
                </a:r>
                <a:r>
                  <a:rPr lang="es-MX" dirty="0"/>
                  <a:t> </a:t>
                </a:r>
                <a:r>
                  <a:rPr lang="es-MX" dirty="0" err="1"/>
                  <a:t>the</a:t>
                </a:r>
                <a:r>
                  <a:rPr lang="es-MX" dirty="0"/>
                  <a:t> </a:t>
                </a:r>
                <a:r>
                  <a:rPr lang="es-MX" dirty="0" err="1"/>
                  <a:t>value</a:t>
                </a:r>
                <a:r>
                  <a:rPr lang="es-MX" dirty="0"/>
                  <a:t> </a:t>
                </a:r>
                <a:r>
                  <a:rPr lang="es-MX" dirty="0" err="1"/>
                  <a:t>of</a:t>
                </a:r>
                <a:r>
                  <a:rPr lang="es-MX" dirty="0"/>
                  <a:t> </a:t>
                </a:r>
                <a14:m>
                  <m:oMath xmlns:m="http://schemas.openxmlformats.org/officeDocument/2006/math">
                    <m:r>
                      <a:rPr lang="es-MX" i="1" dirty="0">
                        <a:latin typeface="Cambria Math"/>
                      </a:rPr>
                      <m:t>𝑆</m:t>
                    </m:r>
                  </m:oMath>
                </a14:m>
                <a:r>
                  <a:rPr lang="es-MX" dirty="0"/>
                  <a:t> after </a:t>
                </a:r>
                <a:r>
                  <a:rPr lang="es-MX" dirty="0" err="1"/>
                  <a:t>executing</a:t>
                </a:r>
                <a:r>
                  <a:rPr lang="es-MX" dirty="0"/>
                  <a:t> </a:t>
                </a:r>
                <a:r>
                  <a:rPr lang="es-MX" dirty="0" err="1"/>
                  <a:t>the</a:t>
                </a:r>
                <a:r>
                  <a:rPr lang="es-MX" dirty="0"/>
                  <a:t> </a:t>
                </a:r>
                <a:r>
                  <a:rPr lang="es-MX" dirty="0" err="1"/>
                  <a:t>program</a:t>
                </a:r>
                <a:r>
                  <a:rPr lang="es-MX" dirty="0"/>
                  <a:t> </a:t>
                </a:r>
                <a:r>
                  <a:rPr lang="es-MX" dirty="0" err="1"/>
                  <a:t>below</a:t>
                </a:r>
                <a:r>
                  <a:rPr lang="es-MX" dirty="0"/>
                  <a:t>:</a:t>
                </a:r>
              </a:p>
              <a:p>
                <a:endParaRPr lang="pt-BR" dirty="0"/>
              </a:p>
              <a:p>
                <a:endParaRPr lang="pt-BR" dirty="0"/>
              </a:p>
              <a:p>
                <a:endParaRPr lang="pt-BR" dirty="0"/>
              </a:p>
              <a:p>
                <a:endParaRPr lang="pt-BR"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44008" y="2590800"/>
                <a:ext cx="3953070" cy="1323439"/>
              </a:xfrm>
              <a:prstGeom prst="rect">
                <a:avLst/>
              </a:prstGeom>
              <a:noFill/>
            </p:spPr>
            <p:txBody>
              <a:bodyPr wrap="none" rtlCol="0">
                <a:spAutoFit/>
              </a:bodyPr>
              <a:lstStyle/>
              <a:p>
                <a:pPr algn="just"/>
                <a:r>
                  <a:rPr lang="en-US" sz="2000" dirty="0" err="1"/>
                  <a:t>int</a:t>
                </a:r>
                <a:r>
                  <a:rPr lang="en-US" sz="2000" dirty="0"/>
                  <a:t> </a:t>
                </a:r>
                <a14:m>
                  <m:oMath xmlns:m="http://schemas.openxmlformats.org/officeDocument/2006/math">
                    <m:r>
                      <a:rPr lang="en-US" sz="2000" i="1" dirty="0" smtClean="0">
                        <a:latin typeface="Cambria Math"/>
                      </a:rPr>
                      <m:t>𝑆</m:t>
                    </m:r>
                    <m:r>
                      <a:rPr lang="en-US" sz="2000" i="1" dirty="0" smtClean="0">
                        <a:latin typeface="Cambria Math"/>
                      </a:rPr>
                      <m:t>=0</m:t>
                    </m:r>
                  </m:oMath>
                </a14:m>
                <a:r>
                  <a:rPr lang="en-US" sz="2000" dirty="0"/>
                  <a:t>;</a:t>
                </a:r>
              </a:p>
              <a:p>
                <a:pPr algn="just"/>
                <a:r>
                  <a:rPr lang="en-US" sz="2000" b="1" dirty="0"/>
                  <a:t>for</a:t>
                </a:r>
                <a:r>
                  <a:rPr lang="en-US" sz="2000" dirty="0"/>
                  <a:t> (int </a:t>
                </a:r>
                <a14:m>
                  <m:oMath xmlns:m="http://schemas.openxmlformats.org/officeDocument/2006/math">
                    <m:r>
                      <a:rPr lang="en-US" sz="2000" i="1" dirty="0" smtClean="0">
                        <a:latin typeface="Cambria Math"/>
                      </a:rPr>
                      <m:t>𝑖</m:t>
                    </m:r>
                    <m:r>
                      <a:rPr lang="en-US" sz="2000" i="1" dirty="0" smtClean="0">
                        <a:latin typeface="Cambria Math"/>
                      </a:rPr>
                      <m:t>=1;</m:t>
                    </m:r>
                    <m:r>
                      <a:rPr lang="en-US" sz="2000" i="1" dirty="0" smtClean="0">
                        <a:latin typeface="Cambria Math"/>
                      </a:rPr>
                      <m:t>𝑖</m:t>
                    </m:r>
                    <m:r>
                      <a:rPr lang="en-US" sz="2000" i="1" dirty="0" smtClean="0">
                        <a:latin typeface="Cambria Math"/>
                      </a:rPr>
                      <m:t>&lt;=</m:t>
                    </m:r>
                    <m:r>
                      <a:rPr lang="en-US" sz="2000" i="1" dirty="0" smtClean="0">
                        <a:latin typeface="Cambria Math"/>
                      </a:rPr>
                      <m:t>𝑛</m:t>
                    </m:r>
                    <m:r>
                      <a:rPr lang="en-US" sz="2000" i="1" baseline="-25000" dirty="0" smtClean="0">
                        <a:latin typeface="Cambria Math"/>
                      </a:rPr>
                      <m:t>1</m:t>
                    </m:r>
                    <m:r>
                      <a:rPr lang="en-US" sz="2000" i="1" dirty="0" smtClean="0">
                        <a:latin typeface="Cambria Math"/>
                      </a:rPr>
                      <m:t>;</m:t>
                    </m:r>
                    <m:r>
                      <a:rPr lang="en-US" sz="2000" i="1" dirty="0" smtClean="0">
                        <a:latin typeface="Cambria Math"/>
                      </a:rPr>
                      <m:t>𝑖</m:t>
                    </m:r>
                    <m:r>
                      <a:rPr lang="en-US" sz="2000" i="1" dirty="0" smtClean="0">
                        <a:latin typeface="Cambria Math"/>
                      </a:rPr>
                      <m:t>++)</m:t>
                    </m:r>
                  </m:oMath>
                </a14:m>
                <a:endParaRPr lang="en-US" sz="2000" dirty="0"/>
              </a:p>
              <a:p>
                <a:pPr algn="just"/>
                <a:r>
                  <a:rPr lang="en-US" sz="2000" dirty="0"/>
                  <a:t>      </a:t>
                </a:r>
                <a:r>
                  <a:rPr lang="en-US" sz="2000" b="1" dirty="0"/>
                  <a:t>for</a:t>
                </a:r>
                <a:r>
                  <a:rPr lang="en-US" sz="2000" dirty="0"/>
                  <a:t> (</a:t>
                </a:r>
                <a:r>
                  <a:rPr lang="en-US" sz="2000" dirty="0" err="1"/>
                  <a:t>int</a:t>
                </a:r>
                <a:r>
                  <a:rPr lang="en-US" sz="2000" dirty="0"/>
                  <a:t> </a:t>
                </a:r>
                <a14:m>
                  <m:oMath xmlns:m="http://schemas.openxmlformats.org/officeDocument/2006/math">
                    <m:r>
                      <a:rPr lang="en-US" sz="2000" i="1" dirty="0" smtClean="0">
                        <a:latin typeface="Cambria Math"/>
                      </a:rPr>
                      <m:t>𝑗</m:t>
                    </m:r>
                    <m:r>
                      <a:rPr lang="en-US" sz="2000" i="1" dirty="0" smtClean="0">
                        <a:latin typeface="Cambria Math"/>
                      </a:rPr>
                      <m:t> =1; </m:t>
                    </m:r>
                    <m:r>
                      <a:rPr lang="en-US" sz="2000" i="1" dirty="0" smtClean="0">
                        <a:latin typeface="Cambria Math"/>
                      </a:rPr>
                      <m:t>𝑗</m:t>
                    </m:r>
                    <m:r>
                      <a:rPr lang="en-US" sz="2000" i="1" dirty="0" smtClean="0">
                        <a:latin typeface="Cambria Math"/>
                      </a:rPr>
                      <m:t>&lt;=</m:t>
                    </m:r>
                    <m:r>
                      <a:rPr lang="en-US" sz="2000" i="1" dirty="0" smtClean="0">
                        <a:latin typeface="Cambria Math"/>
                      </a:rPr>
                      <m:t>𝑛</m:t>
                    </m:r>
                    <m:r>
                      <a:rPr lang="en-US" sz="2000" i="1" baseline="-25000" dirty="0">
                        <a:latin typeface="Cambria Math"/>
                      </a:rPr>
                      <m:t>2</m:t>
                    </m:r>
                    <m:r>
                      <a:rPr lang="en-US" sz="2000" i="1" dirty="0">
                        <a:latin typeface="Cambria Math"/>
                      </a:rPr>
                      <m:t>; </m:t>
                    </m:r>
                    <m:r>
                      <a:rPr lang="en-US" sz="2000" i="1" dirty="0">
                        <a:latin typeface="Cambria Math"/>
                      </a:rPr>
                      <m:t>𝑗</m:t>
                    </m:r>
                    <m:r>
                      <a:rPr lang="en-US" sz="2000" i="1" dirty="0">
                        <a:latin typeface="Cambria Math"/>
                      </a:rPr>
                      <m:t>++</m:t>
                    </m:r>
                  </m:oMath>
                </a14:m>
                <a:r>
                  <a:rPr lang="en-US" sz="2000" dirty="0"/>
                  <a:t>)</a:t>
                </a:r>
              </a:p>
              <a:p>
                <a:pPr algn="just"/>
                <a:r>
                  <a:rPr lang="en-US" sz="2000" dirty="0"/>
                  <a:t>	</a:t>
                </a:r>
                <a14:m>
                  <m:oMath xmlns:m="http://schemas.openxmlformats.org/officeDocument/2006/math">
                    <m:r>
                      <a:rPr lang="en-US" sz="2000" i="1" dirty="0" smtClean="0">
                        <a:latin typeface="Cambria Math"/>
                      </a:rPr>
                      <m:t>𝑆</m:t>
                    </m:r>
                    <m:r>
                      <a:rPr lang="en-US" sz="2000" i="1" dirty="0">
                        <a:latin typeface="Cambria Math"/>
                      </a:rPr>
                      <m:t>++</m:t>
                    </m:r>
                  </m:oMath>
                </a14:m>
                <a:r>
                  <a:rPr lang="en-US" sz="2000" dirty="0"/>
                  <a:t>;</a:t>
                </a:r>
                <a:r>
                  <a:rPr lang="pt-BR" sz="2000" dirty="0">
                    <a:solidFill>
                      <a:srgbClr val="FF0000"/>
                    </a:solidFill>
                  </a:rPr>
                  <a:t> </a:t>
                </a:r>
                <a:endParaRPr lang="en-US" sz="2000" dirty="0"/>
              </a:p>
            </p:txBody>
          </p:sp>
        </mc:Choice>
        <mc:Fallback xmlns="">
          <p:sp>
            <p:nvSpPr>
              <p:cNvPr id="6" name="TextBox 5"/>
              <p:cNvSpPr txBox="1">
                <a:spLocks noRot="1" noChangeAspect="1" noMove="1" noResize="1" noEditPoints="1" noAdjustHandles="1" noChangeArrowheads="1" noChangeShapeType="1" noTextEdit="1"/>
              </p:cNvSpPr>
              <p:nvPr/>
            </p:nvSpPr>
            <p:spPr>
              <a:xfrm>
                <a:off x="844008" y="2590800"/>
                <a:ext cx="3953070" cy="1323439"/>
              </a:xfrm>
              <a:prstGeom prst="rect">
                <a:avLst/>
              </a:prstGeom>
              <a:blipFill>
                <a:blip r:embed="rId3"/>
                <a:stretch>
                  <a:fillRect l="-1541" t="-2304" r="-770" b="-7373"/>
                </a:stretch>
              </a:blipFill>
            </p:spPr>
            <p:txBody>
              <a:bodyPr/>
              <a:lstStyle/>
              <a:p>
                <a:r>
                  <a:rPr lang="en-US">
                    <a:noFill/>
                  </a:rPr>
                  <a:t> </a:t>
                </a:r>
              </a:p>
            </p:txBody>
          </p:sp>
        </mc:Fallback>
      </mc:AlternateContent>
    </p:spTree>
    <p:extLst>
      <p:ext uri="{BB962C8B-B14F-4D97-AF65-F5344CB8AC3E}">
        <p14:creationId xmlns:p14="http://schemas.microsoft.com/office/powerpoint/2010/main" val="2633554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s-MX" b="1" dirty="0"/>
                  <a:t>Problem</a:t>
                </a:r>
                <a:r>
                  <a:rPr lang="es-MX" dirty="0"/>
                  <a:t>: </a:t>
                </a:r>
                <a:r>
                  <a:rPr lang="es-MX" dirty="0" err="1"/>
                  <a:t>Assume</a:t>
                </a:r>
                <a14:m>
                  <m:oMath xmlns:m="http://schemas.openxmlformats.org/officeDocument/2006/math">
                    <m:r>
                      <a:rPr lang="en-US" dirty="0">
                        <a:solidFill>
                          <a:srgbClr val="FF0000"/>
                        </a:solidFill>
                        <a:latin typeface="Cambria Math" panose="02040503050406030204" pitchFamily="18" charset="0"/>
                      </a:rPr>
                      <m:t> </m:t>
                    </m:r>
                    <m:r>
                      <a:rPr lang="pt-BR" i="1" dirty="0">
                        <a:solidFill>
                          <a:srgbClr val="FF0000"/>
                        </a:solidFill>
                        <a:latin typeface="Cambria Math"/>
                      </a:rPr>
                      <m:t>𝑛</m:t>
                    </m:r>
                    <m:r>
                      <a:rPr lang="pt-BR" i="1" baseline="-25000" dirty="0">
                        <a:solidFill>
                          <a:srgbClr val="FF0000"/>
                        </a:solidFill>
                        <a:latin typeface="Cambria Math"/>
                      </a:rPr>
                      <m:t>1</m:t>
                    </m:r>
                    <m:r>
                      <a:rPr lang="pt-BR" i="1" dirty="0">
                        <a:solidFill>
                          <a:srgbClr val="FF0000"/>
                        </a:solidFill>
                        <a:latin typeface="Cambria Math"/>
                      </a:rPr>
                      <m:t>, </m:t>
                    </m:r>
                    <m:r>
                      <a:rPr lang="pt-BR" i="1" dirty="0">
                        <a:solidFill>
                          <a:srgbClr val="FF0000"/>
                        </a:solidFill>
                        <a:latin typeface="Cambria Math"/>
                      </a:rPr>
                      <m:t>𝑛</m:t>
                    </m:r>
                    <m:r>
                      <a:rPr lang="pt-BR" i="1" baseline="-25000" dirty="0">
                        <a:solidFill>
                          <a:srgbClr val="FF0000"/>
                        </a:solidFill>
                        <a:latin typeface="Cambria Math"/>
                      </a:rPr>
                      <m:t>2</m:t>
                    </m:r>
                    <m:r>
                      <a:rPr lang="en-US" i="1" baseline="-25000" dirty="0">
                        <a:solidFill>
                          <a:srgbClr val="FF0000"/>
                        </a:solidFill>
                        <a:latin typeface="Cambria Math" panose="02040503050406030204" pitchFamily="18" charset="0"/>
                      </a:rPr>
                      <m:t> </m:t>
                    </m:r>
                  </m:oMath>
                </a14:m>
                <a:r>
                  <a:rPr lang="es-MX" dirty="0"/>
                  <a:t>are 2 </a:t>
                </a:r>
                <a:r>
                  <a:rPr lang="es-MX" dirty="0" err="1"/>
                  <a:t>definite</a:t>
                </a:r>
                <a:r>
                  <a:rPr lang="es-MX" dirty="0"/>
                  <a:t> natural </a:t>
                </a:r>
                <a:r>
                  <a:rPr lang="es-MX" dirty="0" err="1"/>
                  <a:t>number</a:t>
                </a:r>
                <a:r>
                  <a:rPr lang="es-MX" dirty="0"/>
                  <a:t>. </a:t>
                </a:r>
                <a:r>
                  <a:rPr lang="es-MX" dirty="0" err="1"/>
                  <a:t>Give</a:t>
                </a:r>
                <a:r>
                  <a:rPr lang="es-MX" dirty="0"/>
                  <a:t> </a:t>
                </a:r>
                <a:r>
                  <a:rPr lang="es-MX" dirty="0" err="1"/>
                  <a:t>the</a:t>
                </a:r>
                <a:r>
                  <a:rPr lang="es-MX" dirty="0"/>
                  <a:t> </a:t>
                </a:r>
                <a:r>
                  <a:rPr lang="es-MX" dirty="0" err="1"/>
                  <a:t>value</a:t>
                </a:r>
                <a:r>
                  <a:rPr lang="es-MX" dirty="0"/>
                  <a:t> </a:t>
                </a:r>
                <a:r>
                  <a:rPr lang="es-MX" dirty="0" err="1"/>
                  <a:t>of</a:t>
                </a:r>
                <a:r>
                  <a:rPr lang="es-MX" dirty="0"/>
                  <a:t> </a:t>
                </a:r>
                <a14:m>
                  <m:oMath xmlns:m="http://schemas.openxmlformats.org/officeDocument/2006/math">
                    <m:r>
                      <a:rPr lang="es-MX" i="1" dirty="0">
                        <a:latin typeface="Cambria Math"/>
                      </a:rPr>
                      <m:t>𝑆</m:t>
                    </m:r>
                  </m:oMath>
                </a14:m>
                <a:r>
                  <a:rPr lang="es-MX" dirty="0"/>
                  <a:t> after </a:t>
                </a:r>
                <a:r>
                  <a:rPr lang="es-MX" dirty="0" err="1"/>
                  <a:t>executing</a:t>
                </a:r>
                <a:r>
                  <a:rPr lang="es-MX" dirty="0"/>
                  <a:t> </a:t>
                </a:r>
                <a:r>
                  <a:rPr lang="es-MX" dirty="0" err="1"/>
                  <a:t>the</a:t>
                </a:r>
                <a:r>
                  <a:rPr lang="es-MX" dirty="0"/>
                  <a:t> </a:t>
                </a:r>
                <a:r>
                  <a:rPr lang="es-MX" dirty="0" err="1"/>
                  <a:t>program</a:t>
                </a:r>
                <a:r>
                  <a:rPr lang="es-MX" dirty="0"/>
                  <a:t> </a:t>
                </a:r>
                <a:r>
                  <a:rPr lang="es-MX" dirty="0" err="1"/>
                  <a:t>below</a:t>
                </a:r>
                <a:r>
                  <a:rPr lang="es-MX" dirty="0"/>
                  <a:t>:</a:t>
                </a:r>
              </a:p>
              <a:p>
                <a:endParaRPr lang="pt-BR" dirty="0"/>
              </a:p>
              <a:p>
                <a:endParaRPr lang="pt-BR" dirty="0"/>
              </a:p>
              <a:p>
                <a:endParaRPr lang="pt-BR" dirty="0"/>
              </a:p>
              <a:p>
                <a:endParaRPr lang="pt-BR" dirty="0"/>
              </a:p>
              <a:p>
                <a:pPr algn="just"/>
                <a:r>
                  <a:rPr lang="en-US" b="1" dirty="0"/>
                  <a:t>Solution.</a:t>
                </a:r>
                <a:r>
                  <a:rPr lang="en-US" dirty="0"/>
                  <a:t> For each value </a:t>
                </a:r>
                <a14:m>
                  <m:oMath xmlns:m="http://schemas.openxmlformats.org/officeDocument/2006/math">
                    <m:r>
                      <a:rPr lang="en-US" i="1" dirty="0" smtClean="0">
                        <a:latin typeface="Cambria Math"/>
                      </a:rPr>
                      <m:t>𝑖</m:t>
                    </m:r>
                    <m:r>
                      <a:rPr lang="en-US" i="1" dirty="0" smtClean="0">
                        <a:latin typeface="Cambria Math"/>
                      </a:rPr>
                      <m:t>=1,2,..,</m:t>
                    </m:r>
                    <m:r>
                      <a:rPr lang="en-US" i="1" dirty="0" smtClean="0">
                        <a:latin typeface="Cambria Math"/>
                      </a:rPr>
                      <m:t>𝑛</m:t>
                    </m:r>
                    <m:r>
                      <a:rPr lang="en-US" i="1" baseline="-25000" dirty="0">
                        <a:latin typeface="Cambria Math"/>
                      </a:rPr>
                      <m:t>1</m:t>
                    </m:r>
                  </m:oMath>
                </a14:m>
                <a:r>
                  <a:rPr lang="en-US" dirty="0"/>
                  <a:t>, </a:t>
                </a:r>
                <a14:m>
                  <m:oMath xmlns:m="http://schemas.openxmlformats.org/officeDocument/2006/math">
                    <m:r>
                      <a:rPr lang="en-US" i="1" dirty="0" smtClean="0">
                        <a:latin typeface="Cambria Math"/>
                      </a:rPr>
                      <m:t>𝑆</m:t>
                    </m:r>
                  </m:oMath>
                </a14:m>
                <a:r>
                  <a:rPr lang="en-US" dirty="0"/>
                  <a:t> add </a:t>
                </a:r>
                <a14:m>
                  <m:oMath xmlns:m="http://schemas.openxmlformats.org/officeDocument/2006/math">
                    <m:r>
                      <a:rPr lang="en-US" i="1" dirty="0" smtClean="0">
                        <a:latin typeface="Cambria Math"/>
                      </a:rPr>
                      <m:t>𝑛</m:t>
                    </m:r>
                    <m:r>
                      <a:rPr lang="en-US" i="1" baseline="-25000" dirty="0">
                        <a:latin typeface="Cambria Math"/>
                      </a:rPr>
                      <m:t>2</m:t>
                    </m:r>
                  </m:oMath>
                </a14:m>
                <a:r>
                  <a:rPr lang="en-US" dirty="0"/>
                  <a:t> units. So, according to product rule, after </a:t>
                </a:r>
                <a14:m>
                  <m:oMath xmlns:m="http://schemas.openxmlformats.org/officeDocument/2006/math">
                    <m:r>
                      <a:rPr lang="en-US" i="1" dirty="0" smtClean="0">
                        <a:latin typeface="Cambria Math"/>
                      </a:rPr>
                      <m:t>𝑛</m:t>
                    </m:r>
                    <m:r>
                      <a:rPr lang="en-US" i="1" baseline="-25000" dirty="0">
                        <a:latin typeface="Cambria Math"/>
                      </a:rPr>
                      <m:t>1</m:t>
                    </m:r>
                  </m:oMath>
                </a14:m>
                <a:r>
                  <a:rPr lang="en-US" dirty="0"/>
                  <a:t> loops value of </a:t>
                </a:r>
                <a14:m>
                  <m:oMath xmlns:m="http://schemas.openxmlformats.org/officeDocument/2006/math">
                    <m:r>
                      <a:rPr lang="en-US" i="1" dirty="0" smtClean="0">
                        <a:solidFill>
                          <a:srgbClr val="FF0000"/>
                        </a:solidFill>
                        <a:latin typeface="Cambria Math"/>
                      </a:rPr>
                      <m:t>𝑆</m:t>
                    </m:r>
                    <m:r>
                      <a:rPr lang="en-US" i="1" dirty="0" smtClean="0">
                        <a:solidFill>
                          <a:srgbClr val="FF0000"/>
                        </a:solidFill>
                        <a:latin typeface="Cambria Math"/>
                      </a:rPr>
                      <m:t>=</m:t>
                    </m:r>
                    <m:r>
                      <a:rPr lang="en-US" i="1" dirty="0" smtClean="0">
                        <a:solidFill>
                          <a:srgbClr val="FF0000"/>
                        </a:solidFill>
                        <a:latin typeface="Cambria Math"/>
                      </a:rPr>
                      <m:t>𝑛</m:t>
                    </m:r>
                    <m:r>
                      <a:rPr lang="en-US" i="1" baseline="-25000" dirty="0">
                        <a:solidFill>
                          <a:srgbClr val="FF0000"/>
                        </a:solidFill>
                        <a:latin typeface="Cambria Math"/>
                      </a:rPr>
                      <m:t>1</m:t>
                    </m:r>
                    <m:r>
                      <a:rPr lang="en-US" i="1" dirty="0">
                        <a:solidFill>
                          <a:srgbClr val="FF0000"/>
                        </a:solidFill>
                        <a:latin typeface="Cambria Math"/>
                        <a:sym typeface="Symbol" pitchFamily="18" charset="2"/>
                      </a:rPr>
                      <m:t></m:t>
                    </m:r>
                    <m:r>
                      <a:rPr lang="en-US" i="1" dirty="0">
                        <a:solidFill>
                          <a:srgbClr val="FF0000"/>
                        </a:solidFill>
                        <a:latin typeface="Cambria Math"/>
                      </a:rPr>
                      <m:t>𝑛</m:t>
                    </m:r>
                    <m:r>
                      <a:rPr lang="en-US" i="1" baseline="-25000" dirty="0">
                        <a:solidFill>
                          <a:srgbClr val="FF0000"/>
                        </a:solidFill>
                        <a:latin typeface="Cambria Math"/>
                      </a:rPr>
                      <m:t>2</m:t>
                    </m:r>
                  </m:oMath>
                </a14:m>
                <a:r>
                  <a:rPr lang="en-US" dirty="0"/>
                  <a:t>. </a:t>
                </a:r>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844008" y="2590800"/>
                <a:ext cx="3953070" cy="1323439"/>
              </a:xfrm>
              <a:prstGeom prst="rect">
                <a:avLst/>
              </a:prstGeom>
              <a:noFill/>
            </p:spPr>
            <p:txBody>
              <a:bodyPr wrap="none" rtlCol="0">
                <a:spAutoFit/>
              </a:bodyPr>
              <a:lstStyle/>
              <a:p>
                <a:pPr algn="just"/>
                <a:r>
                  <a:rPr lang="en-US" sz="2000" dirty="0" err="1"/>
                  <a:t>int</a:t>
                </a:r>
                <a:r>
                  <a:rPr lang="en-US" sz="2000" dirty="0"/>
                  <a:t> </a:t>
                </a:r>
                <a14:m>
                  <m:oMath xmlns:m="http://schemas.openxmlformats.org/officeDocument/2006/math">
                    <m:r>
                      <a:rPr lang="en-US" sz="2000" i="1" dirty="0" smtClean="0">
                        <a:latin typeface="Cambria Math"/>
                      </a:rPr>
                      <m:t>𝑆</m:t>
                    </m:r>
                    <m:r>
                      <a:rPr lang="en-US" sz="2000" i="1" dirty="0" smtClean="0">
                        <a:latin typeface="Cambria Math"/>
                      </a:rPr>
                      <m:t>=0</m:t>
                    </m:r>
                  </m:oMath>
                </a14:m>
                <a:r>
                  <a:rPr lang="en-US" sz="2000" dirty="0"/>
                  <a:t>;</a:t>
                </a:r>
              </a:p>
              <a:p>
                <a:pPr algn="just"/>
                <a:r>
                  <a:rPr lang="en-US" sz="2000" b="1" dirty="0"/>
                  <a:t>for</a:t>
                </a:r>
                <a:r>
                  <a:rPr lang="en-US" sz="2000" dirty="0"/>
                  <a:t> (int </a:t>
                </a:r>
                <a14:m>
                  <m:oMath xmlns:m="http://schemas.openxmlformats.org/officeDocument/2006/math">
                    <m:r>
                      <a:rPr lang="en-US" sz="2000" i="1" dirty="0" smtClean="0">
                        <a:latin typeface="Cambria Math"/>
                      </a:rPr>
                      <m:t>𝑖</m:t>
                    </m:r>
                    <m:r>
                      <a:rPr lang="en-US" sz="2000" i="1" dirty="0" smtClean="0">
                        <a:latin typeface="Cambria Math"/>
                      </a:rPr>
                      <m:t>=1;</m:t>
                    </m:r>
                    <m:r>
                      <a:rPr lang="en-US" sz="2000" i="1" dirty="0" smtClean="0">
                        <a:latin typeface="Cambria Math"/>
                      </a:rPr>
                      <m:t>𝑖</m:t>
                    </m:r>
                    <m:r>
                      <a:rPr lang="en-US" sz="2000" i="1" dirty="0" smtClean="0">
                        <a:latin typeface="Cambria Math"/>
                      </a:rPr>
                      <m:t>&lt;=</m:t>
                    </m:r>
                    <m:r>
                      <a:rPr lang="en-US" sz="2000" i="1" dirty="0" smtClean="0">
                        <a:latin typeface="Cambria Math"/>
                      </a:rPr>
                      <m:t>𝑛</m:t>
                    </m:r>
                    <m:r>
                      <a:rPr lang="en-US" sz="2000" i="1" baseline="-25000" dirty="0" smtClean="0">
                        <a:latin typeface="Cambria Math"/>
                      </a:rPr>
                      <m:t>1</m:t>
                    </m:r>
                    <m:r>
                      <a:rPr lang="en-US" sz="2000" i="1" dirty="0" smtClean="0">
                        <a:latin typeface="Cambria Math"/>
                      </a:rPr>
                      <m:t>;</m:t>
                    </m:r>
                    <m:r>
                      <a:rPr lang="en-US" sz="2000" i="1" dirty="0" smtClean="0">
                        <a:latin typeface="Cambria Math"/>
                      </a:rPr>
                      <m:t>𝑖</m:t>
                    </m:r>
                    <m:r>
                      <a:rPr lang="en-US" sz="2000" i="1" dirty="0" smtClean="0">
                        <a:latin typeface="Cambria Math"/>
                      </a:rPr>
                      <m:t>++)</m:t>
                    </m:r>
                  </m:oMath>
                </a14:m>
                <a:endParaRPr lang="en-US" sz="2000" dirty="0"/>
              </a:p>
              <a:p>
                <a:pPr algn="just"/>
                <a:r>
                  <a:rPr lang="en-US" sz="2000" dirty="0"/>
                  <a:t>      </a:t>
                </a:r>
                <a:r>
                  <a:rPr lang="en-US" sz="2000" b="1" dirty="0"/>
                  <a:t>for</a:t>
                </a:r>
                <a:r>
                  <a:rPr lang="en-US" sz="2000" dirty="0"/>
                  <a:t> (</a:t>
                </a:r>
                <a:r>
                  <a:rPr lang="en-US" sz="2000" dirty="0" err="1"/>
                  <a:t>int</a:t>
                </a:r>
                <a:r>
                  <a:rPr lang="en-US" sz="2000" dirty="0"/>
                  <a:t> </a:t>
                </a:r>
                <a14:m>
                  <m:oMath xmlns:m="http://schemas.openxmlformats.org/officeDocument/2006/math">
                    <m:r>
                      <a:rPr lang="en-US" sz="2000" i="1" dirty="0" smtClean="0">
                        <a:latin typeface="Cambria Math"/>
                      </a:rPr>
                      <m:t>𝑗</m:t>
                    </m:r>
                    <m:r>
                      <a:rPr lang="en-US" sz="2000" i="1" dirty="0" smtClean="0">
                        <a:latin typeface="Cambria Math"/>
                      </a:rPr>
                      <m:t> =1; </m:t>
                    </m:r>
                    <m:r>
                      <a:rPr lang="en-US" sz="2000" i="1" dirty="0" smtClean="0">
                        <a:latin typeface="Cambria Math"/>
                      </a:rPr>
                      <m:t>𝑗</m:t>
                    </m:r>
                    <m:r>
                      <a:rPr lang="en-US" sz="2000" i="1" dirty="0" smtClean="0">
                        <a:latin typeface="Cambria Math"/>
                      </a:rPr>
                      <m:t>&lt;=</m:t>
                    </m:r>
                    <m:r>
                      <a:rPr lang="en-US" sz="2000" i="1" dirty="0" smtClean="0">
                        <a:latin typeface="Cambria Math"/>
                      </a:rPr>
                      <m:t>𝑛</m:t>
                    </m:r>
                    <m:r>
                      <a:rPr lang="en-US" sz="2000" i="1" baseline="-25000" dirty="0">
                        <a:latin typeface="Cambria Math"/>
                      </a:rPr>
                      <m:t>2</m:t>
                    </m:r>
                    <m:r>
                      <a:rPr lang="en-US" sz="2000" i="1" dirty="0">
                        <a:latin typeface="Cambria Math"/>
                      </a:rPr>
                      <m:t>; </m:t>
                    </m:r>
                    <m:r>
                      <a:rPr lang="en-US" sz="2000" i="1" dirty="0">
                        <a:latin typeface="Cambria Math"/>
                      </a:rPr>
                      <m:t>𝑗</m:t>
                    </m:r>
                    <m:r>
                      <a:rPr lang="en-US" sz="2000" i="1" dirty="0">
                        <a:latin typeface="Cambria Math"/>
                      </a:rPr>
                      <m:t>++</m:t>
                    </m:r>
                  </m:oMath>
                </a14:m>
                <a:r>
                  <a:rPr lang="en-US" sz="2000" dirty="0"/>
                  <a:t>)</a:t>
                </a:r>
              </a:p>
              <a:p>
                <a:pPr algn="just"/>
                <a:r>
                  <a:rPr lang="en-US" sz="2000" dirty="0"/>
                  <a:t>	</a:t>
                </a:r>
                <a14:m>
                  <m:oMath xmlns:m="http://schemas.openxmlformats.org/officeDocument/2006/math">
                    <m:r>
                      <a:rPr lang="en-US" sz="2000" i="1" dirty="0" smtClean="0">
                        <a:latin typeface="Cambria Math"/>
                      </a:rPr>
                      <m:t>𝑆</m:t>
                    </m:r>
                    <m:r>
                      <a:rPr lang="en-US" sz="2000" i="1" dirty="0">
                        <a:latin typeface="Cambria Math"/>
                      </a:rPr>
                      <m:t>++</m:t>
                    </m:r>
                  </m:oMath>
                </a14:m>
                <a:r>
                  <a:rPr lang="en-US" sz="2000" dirty="0"/>
                  <a:t>;</a:t>
                </a:r>
              </a:p>
            </p:txBody>
          </p:sp>
        </mc:Choice>
        <mc:Fallback xmlns="">
          <p:sp>
            <p:nvSpPr>
              <p:cNvPr id="6" name="TextBox 5"/>
              <p:cNvSpPr txBox="1">
                <a:spLocks noRot="1" noChangeAspect="1" noMove="1" noResize="1" noEditPoints="1" noAdjustHandles="1" noChangeArrowheads="1" noChangeShapeType="1" noTextEdit="1"/>
              </p:cNvSpPr>
              <p:nvPr/>
            </p:nvSpPr>
            <p:spPr>
              <a:xfrm>
                <a:off x="844008" y="2590800"/>
                <a:ext cx="3953070" cy="1323439"/>
              </a:xfrm>
              <a:prstGeom prst="rect">
                <a:avLst/>
              </a:prstGeom>
              <a:blipFill rotWithShape="1">
                <a:blip r:embed="rId3"/>
                <a:stretch>
                  <a:fillRect l="-1541" t="-2304" r="-770" b="-7373"/>
                </a:stretch>
              </a:blipFill>
            </p:spPr>
            <p:txBody>
              <a:bodyPr/>
              <a:lstStyle/>
              <a:p>
                <a:r>
                  <a:rPr lang="en-US">
                    <a:noFill/>
                  </a:rPr>
                  <a:t> </a:t>
                </a:r>
              </a:p>
            </p:txBody>
          </p:sp>
        </mc:Fallback>
      </mc:AlternateContent>
    </p:spTree>
    <p:extLst>
      <p:ext uri="{BB962C8B-B14F-4D97-AF65-F5344CB8AC3E}">
        <p14:creationId xmlns:p14="http://schemas.microsoft.com/office/powerpoint/2010/main" val="15893849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12</a:t>
            </a:fld>
            <a:endParaRPr lang="en-US"/>
          </a:p>
        </p:txBody>
      </p:sp>
      <p:sp>
        <p:nvSpPr>
          <p:cNvPr id="5" name="Content Placeholder 4"/>
          <p:cNvSpPr>
            <a:spLocks noGrp="1"/>
          </p:cNvSpPr>
          <p:nvPr>
            <p:ph sz="quarter" idx="1"/>
          </p:nvPr>
        </p:nvSpPr>
        <p:spPr/>
        <p:txBody>
          <a:bodyPr/>
          <a:lstStyle/>
          <a:p>
            <a:r>
              <a:rPr lang="en-US" b="1" dirty="0"/>
              <a:t>Problem</a:t>
            </a:r>
            <a:r>
              <a:rPr lang="en-US" dirty="0"/>
              <a:t>: How many 5-digit positive integers which do not contain the digit 1 and no any 2 digits are the same?</a:t>
            </a:r>
          </a:p>
        </p:txBody>
      </p:sp>
    </p:spTree>
    <p:extLst>
      <p:ext uri="{BB962C8B-B14F-4D97-AF65-F5344CB8AC3E}">
        <p14:creationId xmlns:p14="http://schemas.microsoft.com/office/powerpoint/2010/main" val="1287865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5-digit positive integers do not contain the digit 1 and no any 2 digits are the same?</a:t>
                </a:r>
              </a:p>
              <a:p>
                <a:r>
                  <a:rPr lang="en-US" b="1" dirty="0"/>
                  <a:t>Solution:</a:t>
                </a:r>
                <a:endParaRPr lang="en-US" dirty="0"/>
              </a:p>
              <a:p>
                <a:pPr lvl="1"/>
                <a:r>
                  <a:rPr lang="en-US" dirty="0"/>
                  <a:t>Consider 5-digit number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5</m:t>
                        </m:r>
                      </m:sub>
                    </m:sSub>
                  </m:oMath>
                </a14:m>
                <a:endParaRPr lang="en-US" dirty="0"/>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has 8 choices (except 0 and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a14:m>
                <a:r>
                  <a:rPr lang="en-US" dirty="0"/>
                  <a:t> has 8 choices (except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and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oMath>
                </a14:m>
                <a:r>
                  <a:rPr lang="en-US" dirty="0"/>
                  <a:t> has 7 choices (except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r>
                      <a:rPr lang="en-US" b="0" i="0"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a14:m>
                <a:r>
                  <a:rPr lang="en-US" dirty="0"/>
                  <a:t>, and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oMath>
                </a14:m>
                <a:r>
                  <a:rPr lang="en-US" dirty="0"/>
                  <a:t> has 6 choices (except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3</m:t>
                        </m:r>
                      </m:sub>
                    </m:sSub>
                  </m:oMath>
                </a14:m>
                <a:r>
                  <a:rPr lang="en-US" dirty="0"/>
                  <a:t>, and 1)</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5</m:t>
                        </m:r>
                      </m:sub>
                    </m:sSub>
                  </m:oMath>
                </a14:m>
                <a:r>
                  <a:rPr lang="en-US" dirty="0"/>
                  <a:t> has 5 choices(except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1</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2</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3</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b="0" i="1" smtClean="0">
                            <a:latin typeface="Cambria Math" panose="02040503050406030204" pitchFamily="18" charset="0"/>
                          </a:rPr>
                          <m:t>4</m:t>
                        </m:r>
                      </m:sub>
                    </m:sSub>
                  </m:oMath>
                </a14:m>
                <a:r>
                  <a:rPr lang="en-US" dirty="0"/>
                  <a:t>, and 1)</a:t>
                </a:r>
              </a:p>
              <a:p>
                <a:pPr marL="274320" lvl="1" indent="0">
                  <a:buNone/>
                </a:pPr>
                <a:r>
                  <a:rPr lang="en-US" dirty="0">
                    <a:sym typeface="Wingdings" panose="05000000000000000000" pitchFamily="2" charset="2"/>
                  </a:rPr>
                  <a:t> So, there are</a:t>
                </a:r>
                <a:r>
                  <a:rPr lang="en-US" dirty="0"/>
                  <a:t> 8x8x7x6x5 numbers</a:t>
                </a:r>
              </a:p>
              <a:p>
                <a:pPr lvl="1"/>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19997090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Content Placeholder 4"/>
          <p:cNvSpPr>
            <a:spLocks noGrp="1"/>
          </p:cNvSpPr>
          <p:nvPr>
            <p:ph sz="quarter" idx="1"/>
          </p:nvPr>
        </p:nvSpPr>
        <p:spPr/>
        <p:txBody>
          <a:bodyPr>
            <a:normAutofit/>
          </a:bodyPr>
          <a:lstStyle/>
          <a:p>
            <a:pPr algn="just"/>
            <a:r>
              <a:rPr lang="en-US" b="1" dirty="0"/>
              <a:t>Problem</a:t>
            </a:r>
            <a:r>
              <a:rPr lang="en-US" dirty="0"/>
              <a:t>: How many variable names in C programming language of length 8, contain only 2 letters ‘a’ and ‘b’ and start with ‘</a:t>
            </a:r>
            <a:r>
              <a:rPr lang="en-US" dirty="0" err="1"/>
              <a:t>aaa</a:t>
            </a:r>
            <a:r>
              <a:rPr lang="en-US" dirty="0"/>
              <a:t>’ or ‘</a:t>
            </a:r>
            <a:r>
              <a:rPr lang="en-US" dirty="0" err="1"/>
              <a:t>bbb</a:t>
            </a:r>
            <a:r>
              <a:rPr lang="en-US" dirty="0"/>
              <a:t>’?</a:t>
            </a:r>
          </a:p>
          <a:p>
            <a:endParaRPr lang="en-US" dirty="0"/>
          </a:p>
        </p:txBody>
      </p:sp>
    </p:spTree>
    <p:extLst>
      <p:ext uri="{BB962C8B-B14F-4D97-AF65-F5344CB8AC3E}">
        <p14:creationId xmlns:p14="http://schemas.microsoft.com/office/powerpoint/2010/main" val="213130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pPr algn="just"/>
                <a:r>
                  <a:rPr lang="en-US" b="1" dirty="0"/>
                  <a:t>Problem</a:t>
                </a:r>
                <a:r>
                  <a:rPr lang="en-US" dirty="0"/>
                  <a:t>: How many variable names in C programming language of length 8, contain only 2 letters ‘a’ and ‘b’ and start with ‘</a:t>
                </a:r>
                <a:r>
                  <a:rPr lang="en-US" dirty="0" err="1"/>
                  <a:t>aaa</a:t>
                </a:r>
                <a:r>
                  <a:rPr lang="en-US" dirty="0"/>
                  <a:t>’ or ‘</a:t>
                </a:r>
                <a:r>
                  <a:rPr lang="en-US" dirty="0" err="1"/>
                  <a:t>bbb</a:t>
                </a:r>
                <a:r>
                  <a:rPr lang="en-US" dirty="0"/>
                  <a:t>’?</a:t>
                </a:r>
              </a:p>
              <a:p>
                <a:pPr marL="0" indent="0">
                  <a:buNone/>
                </a:pPr>
                <a:endParaRPr lang="en-US" dirty="0"/>
              </a:p>
              <a:p>
                <a:pPr algn="just"/>
                <a:r>
                  <a:rPr lang="en-US" b="1" dirty="0"/>
                  <a:t>Solution</a:t>
                </a:r>
                <a:r>
                  <a:rPr lang="en-US" dirty="0"/>
                  <a:t>: The set of variables satisfying problem is partitioned into 2 subsets: one set of variables starting with ‘</a:t>
                </a:r>
                <a:r>
                  <a:rPr lang="en-US" dirty="0" err="1"/>
                  <a:t>aaa</a:t>
                </a:r>
                <a:r>
                  <a:rPr lang="en-US" dirty="0"/>
                  <a:t>’, the other start with ‘</a:t>
                </a:r>
                <a:r>
                  <a:rPr lang="en-US" dirty="0" err="1"/>
                  <a:t>bbb</a:t>
                </a:r>
                <a:r>
                  <a:rPr lang="en-US" dirty="0"/>
                  <a:t>’. Each variable name of length 8 beginning with ‘</a:t>
                </a:r>
                <a:r>
                  <a:rPr lang="en-US" dirty="0" err="1"/>
                  <a:t>aaa</a:t>
                </a:r>
                <a:r>
                  <a:rPr lang="en-US" dirty="0"/>
                  <a:t>’ (or ‘</a:t>
                </a:r>
                <a:r>
                  <a:rPr lang="en-US" dirty="0" err="1"/>
                  <a:t>bbb</a:t>
                </a:r>
                <a:r>
                  <a:rPr lang="en-US" dirty="0"/>
                  <a:t>’) can be constructed as follows:</a:t>
                </a:r>
              </a:p>
              <a:p>
                <a:pPr lvl="1"/>
                <a:r>
                  <a:rPr lang="en-US" dirty="0"/>
                  <a:t>Select 4</a:t>
                </a:r>
                <a:r>
                  <a:rPr lang="en-US" baseline="30000" dirty="0"/>
                  <a:t>th </a:t>
                </a:r>
                <a:r>
                  <a:rPr lang="en-US" dirty="0"/>
                  <a:t>character, Select 5</a:t>
                </a:r>
                <a:r>
                  <a:rPr lang="en-US" baseline="30000" dirty="0"/>
                  <a:t>th </a:t>
                </a:r>
                <a:r>
                  <a:rPr lang="en-US" dirty="0"/>
                  <a:t>character, …, Select 8</a:t>
                </a:r>
                <a:r>
                  <a:rPr lang="en-US" baseline="30000" dirty="0"/>
                  <a:t>th </a:t>
                </a:r>
                <a:r>
                  <a:rPr lang="en-US" dirty="0"/>
                  <a:t>character</a:t>
                </a:r>
              </a:p>
              <a:p>
                <a:pPr lvl="1"/>
                <a:r>
                  <a:rPr lang="en-US" dirty="0"/>
                  <a:t>Each character has 2 choices: a or b</a:t>
                </a:r>
              </a:p>
              <a:p>
                <a:pPr lvl="1"/>
                <a:r>
                  <a:rPr lang="en-US" dirty="0"/>
                  <a:t>There are: </a:t>
                </a:r>
                <a14:m>
                  <m:oMath xmlns:m="http://schemas.openxmlformats.org/officeDocument/2006/math">
                    <m:r>
                      <a:rPr lang="en-US" b="0" i="1" smtClean="0">
                        <a:solidFill>
                          <a:srgbClr val="FF0000"/>
                        </a:solidFill>
                        <a:latin typeface="Cambria Math"/>
                      </a:rPr>
                      <m:t>2</m:t>
                    </m:r>
                    <m:r>
                      <a:rPr lang="en-US" b="0" i="1" smtClean="0">
                        <a:solidFill>
                          <a:srgbClr val="FF0000"/>
                        </a:solidFill>
                        <a:latin typeface="Cambria Math"/>
                        <a:ea typeface="Cambria Math"/>
                      </a:rPr>
                      <m:t>×2×2×2×2=32</m:t>
                    </m:r>
                  </m:oMath>
                </a14:m>
                <a:r>
                  <a:rPr lang="en-US" dirty="0"/>
                  <a:t> ways</a:t>
                </a:r>
              </a:p>
              <a:p>
                <a:r>
                  <a:rPr lang="en-US" dirty="0"/>
                  <a:t>Total number of variables: </a:t>
                </a:r>
                <a14:m>
                  <m:oMath xmlns:m="http://schemas.openxmlformats.org/officeDocument/2006/math">
                    <m:r>
                      <a:rPr lang="en-US" i="1" dirty="0" smtClean="0">
                        <a:solidFill>
                          <a:srgbClr val="FF0000"/>
                        </a:solidFill>
                        <a:latin typeface="Cambria Math"/>
                      </a:rPr>
                      <m:t>32+32=64</m:t>
                    </m:r>
                  </m:oMath>
                </a14:m>
                <a:r>
                  <a:rPr lang="en-US" dirty="0"/>
                  <a:t> variables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728" r="-1111"/>
                </a:stretch>
              </a:blipFill>
            </p:spPr>
            <p:txBody>
              <a:bodyPr/>
              <a:lstStyle/>
              <a:p>
                <a:r>
                  <a:rPr lang="en-US">
                    <a:noFill/>
                  </a:rPr>
                  <a:t> </a:t>
                </a:r>
              </a:p>
            </p:txBody>
          </p:sp>
        </mc:Fallback>
      </mc:AlternateContent>
    </p:spTree>
    <p:extLst>
      <p:ext uri="{BB962C8B-B14F-4D97-AF65-F5344CB8AC3E}">
        <p14:creationId xmlns:p14="http://schemas.microsoft.com/office/powerpoint/2010/main" val="424553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648" y="135890"/>
            <a:ext cx="8229600" cy="990600"/>
          </a:xfrm>
        </p:spPr>
        <p:txBody>
          <a:bodyPr>
            <a:normAutofit fontScale="90000"/>
          </a:bodyPr>
          <a:lstStyle/>
          <a:p>
            <a:r>
              <a:rPr lang="en-US" dirty="0"/>
              <a:t> Permutation, Arrangement, Combination (recall)</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16</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a:xfrm>
                <a:off x="152400" y="1219200"/>
                <a:ext cx="8763000" cy="4937760"/>
              </a:xfrm>
            </p:spPr>
            <p:txBody>
              <a:bodyPr/>
              <a:lstStyle/>
              <a:p>
                <a:r>
                  <a:rPr lang="en-US" dirty="0"/>
                  <a:t>Number of permutations of </a:t>
                </a:r>
                <a14:m>
                  <m:oMath xmlns:m="http://schemas.openxmlformats.org/officeDocument/2006/math">
                    <m:r>
                      <a:rPr lang="en-US" i="1" dirty="0" smtClean="0">
                        <a:latin typeface="Cambria Math"/>
                      </a:rPr>
                      <m:t>𝑛</m:t>
                    </m:r>
                  </m:oMath>
                </a14:m>
                <a:r>
                  <a:rPr lang="en-US" dirty="0"/>
                  <a:t> elements: </a:t>
                </a:r>
                <a14:m>
                  <m:oMath xmlns:m="http://schemas.openxmlformats.org/officeDocument/2006/math">
                    <m:r>
                      <a:rPr lang="en-US" i="1">
                        <a:solidFill>
                          <a:srgbClr val="FF0000"/>
                        </a:solidFill>
                        <a:latin typeface="Cambria Math"/>
                      </a:rPr>
                      <m:t>𝑛</m:t>
                    </m:r>
                    <m:r>
                      <a:rPr lang="en-US" i="1">
                        <a:solidFill>
                          <a:srgbClr val="FF0000"/>
                        </a:solidFill>
                        <a:latin typeface="Cambria Math"/>
                      </a:rPr>
                      <m:t>.</m:t>
                    </m:r>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r>
                          <a:rPr lang="en-US" i="1">
                            <a:solidFill>
                              <a:srgbClr val="FF0000"/>
                            </a:solidFill>
                            <a:latin typeface="Cambria Math"/>
                          </a:rPr>
                          <m:t>−1</m:t>
                        </m:r>
                      </m:e>
                    </m:d>
                    <m:r>
                      <a:rPr lang="en-US" i="1">
                        <a:solidFill>
                          <a:srgbClr val="FF0000"/>
                        </a:solidFill>
                        <a:latin typeface="Cambria Math"/>
                      </a:rPr>
                      <m:t>…2.1=</m:t>
                    </m:r>
                    <m:r>
                      <a:rPr lang="en-US" i="1">
                        <a:solidFill>
                          <a:srgbClr val="FF0000"/>
                        </a:solidFill>
                        <a:latin typeface="Cambria Math"/>
                      </a:rPr>
                      <m:t>𝑛</m:t>
                    </m:r>
                    <m:r>
                      <a:rPr lang="en-US" i="1">
                        <a:solidFill>
                          <a:srgbClr val="FF0000"/>
                        </a:solidFill>
                        <a:latin typeface="Cambria Math"/>
                        <a:ea typeface="Cambria Math"/>
                      </a:rPr>
                      <m:t>!</m:t>
                    </m:r>
                  </m:oMath>
                </a14:m>
                <a:endParaRPr lang="en-US" dirty="0"/>
              </a:p>
              <a:p>
                <a:endParaRPr lang="en-US" dirty="0"/>
              </a:p>
              <a:p>
                <a:r>
                  <a:rPr lang="en-US" dirty="0"/>
                  <a:t>Number of repeated-</a:t>
                </a:r>
                <a:r>
                  <a:rPr lang="en-US" dirty="0">
                    <a:solidFill>
                      <a:srgbClr val="FF0000"/>
                    </a:solidFill>
                  </a:rPr>
                  <a:t>arrangements </a:t>
                </a:r>
                <a14:m>
                  <m:oMath xmlns:m="http://schemas.openxmlformats.org/officeDocument/2006/math">
                    <m:r>
                      <a:rPr lang="en-US" i="1" dirty="0">
                        <a:latin typeface="Cambria Math"/>
                      </a:rPr>
                      <m:t>𝑘</m:t>
                    </m:r>
                  </m:oMath>
                </a14:m>
                <a:r>
                  <a:rPr lang="en-US" dirty="0"/>
                  <a:t> of </a:t>
                </a:r>
                <a14:m>
                  <m:oMath xmlns:m="http://schemas.openxmlformats.org/officeDocument/2006/math">
                    <m:r>
                      <a:rPr lang="en-US" i="1" dirty="0">
                        <a:latin typeface="Cambria Math"/>
                      </a:rPr>
                      <m:t>𝑛</m:t>
                    </m:r>
                  </m:oMath>
                </a14:m>
                <a:r>
                  <a:rPr lang="en-US" dirty="0"/>
                  <a:t> elements: </a:t>
                </a:r>
                <a14:m>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𝑛</m:t>
                        </m:r>
                      </m:e>
                      <m:sup>
                        <m:r>
                          <a:rPr lang="en-US" i="1">
                            <a:solidFill>
                              <a:srgbClr val="FF0000"/>
                            </a:solidFill>
                            <a:latin typeface="Cambria Math"/>
                          </a:rPr>
                          <m:t>𝑘</m:t>
                        </m:r>
                      </m:sup>
                    </m:sSup>
                  </m:oMath>
                </a14:m>
                <a:r>
                  <a:rPr lang="en-US" dirty="0"/>
                  <a:t> </a:t>
                </a:r>
              </a:p>
              <a:p>
                <a:endParaRPr lang="en-US" dirty="0"/>
              </a:p>
              <a:p>
                <a:r>
                  <a:rPr lang="en-US" dirty="0"/>
                  <a:t>Number of non-repeated-arrangements </a:t>
                </a:r>
                <a14:m>
                  <m:oMath xmlns:m="http://schemas.openxmlformats.org/officeDocument/2006/math">
                    <m:r>
                      <a:rPr lang="en-US" i="1" dirty="0">
                        <a:latin typeface="Cambria Math"/>
                      </a:rPr>
                      <m:t>𝑘</m:t>
                    </m:r>
                  </m:oMath>
                </a14:m>
                <a:r>
                  <a:rPr lang="en-US" dirty="0"/>
                  <a:t> of </a:t>
                </a:r>
                <a14:m>
                  <m:oMath xmlns:m="http://schemas.openxmlformats.org/officeDocument/2006/math">
                    <m:r>
                      <a:rPr lang="en-US" i="1" dirty="0">
                        <a:latin typeface="Cambria Math"/>
                      </a:rPr>
                      <m:t>𝑛</m:t>
                    </m:r>
                  </m:oMath>
                </a14:m>
                <a:r>
                  <a:rPr lang="en-US" dirty="0"/>
                  <a:t> elements: </a:t>
                </a:r>
                <a14:m>
                  <m:oMath xmlns:m="http://schemas.openxmlformats.org/officeDocument/2006/math">
                    <m:r>
                      <a:rPr lang="en-US" i="1">
                        <a:solidFill>
                          <a:srgbClr val="FF0000"/>
                        </a:solidFill>
                        <a:latin typeface="Cambria Math"/>
                      </a:rPr>
                      <m:t>𝑛</m:t>
                    </m:r>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r>
                          <a:rPr lang="en-US" i="1">
                            <a:solidFill>
                              <a:srgbClr val="FF0000"/>
                            </a:solidFill>
                            <a:latin typeface="Cambria Math"/>
                          </a:rPr>
                          <m:t>−1</m:t>
                        </m:r>
                      </m:e>
                    </m:d>
                    <m:r>
                      <a:rPr lang="en-US" i="1">
                        <a:solidFill>
                          <a:srgbClr val="FF0000"/>
                        </a:solidFill>
                        <a:latin typeface="Cambria Math"/>
                      </a:rPr>
                      <m:t>…</m:t>
                    </m:r>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r>
                          <a:rPr lang="en-US" i="1">
                            <a:solidFill>
                              <a:srgbClr val="FF0000"/>
                            </a:solidFill>
                            <a:latin typeface="Cambria Math"/>
                          </a:rPr>
                          <m:t>−</m:t>
                        </m:r>
                        <m:r>
                          <a:rPr lang="en-US" i="1">
                            <a:solidFill>
                              <a:srgbClr val="FF0000"/>
                            </a:solidFill>
                            <a:latin typeface="Cambria Math"/>
                          </a:rPr>
                          <m:t>𝑘</m:t>
                        </m:r>
                        <m:r>
                          <a:rPr lang="en-US" i="1">
                            <a:solidFill>
                              <a:srgbClr val="FF0000"/>
                            </a:solidFill>
                            <a:latin typeface="Cambria Math"/>
                          </a:rPr>
                          <m:t>+1</m:t>
                        </m:r>
                      </m:e>
                    </m:d>
                    <m:r>
                      <a:rPr lang="en-US" b="0" i="1" smtClean="0">
                        <a:solidFill>
                          <a:srgbClr val="FF0000"/>
                        </a:solidFill>
                        <a:latin typeface="Cambria Math"/>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a:rPr>
                          <m:t>𝑛</m:t>
                        </m:r>
                        <m:r>
                          <a:rPr lang="en-US" b="0" i="1" smtClean="0">
                            <a:solidFill>
                              <a:srgbClr val="FF0000"/>
                            </a:solidFill>
                            <a:latin typeface="Cambria Math"/>
                          </a:rPr>
                          <m:t>!</m:t>
                        </m:r>
                      </m:num>
                      <m:den>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𝑛</m:t>
                            </m:r>
                            <m:r>
                              <a:rPr lang="en-US" b="0" i="1" smtClean="0">
                                <a:solidFill>
                                  <a:srgbClr val="FF0000"/>
                                </a:solidFill>
                                <a:latin typeface="Cambria Math"/>
                              </a:rPr>
                              <m:t>−</m:t>
                            </m:r>
                            <m:r>
                              <a:rPr lang="en-US" b="0" i="1" smtClean="0">
                                <a:solidFill>
                                  <a:srgbClr val="FF0000"/>
                                </a:solidFill>
                                <a:latin typeface="Cambria Math"/>
                              </a:rPr>
                              <m:t>𝑘</m:t>
                            </m:r>
                          </m:e>
                        </m:d>
                        <m:r>
                          <a:rPr lang="en-US" b="0" i="1" smtClean="0">
                            <a:solidFill>
                              <a:srgbClr val="FF0000"/>
                            </a:solidFill>
                            <a:latin typeface="Cambria Math"/>
                          </a:rPr>
                          <m:t>!</m:t>
                        </m:r>
                      </m:den>
                    </m:f>
                  </m:oMath>
                </a14:m>
                <a:endParaRPr lang="en-US" dirty="0"/>
              </a:p>
              <a:p>
                <a:endParaRPr lang="en-US" dirty="0"/>
              </a:p>
              <a:p>
                <a:r>
                  <a:rPr lang="en-US" dirty="0"/>
                  <a:t>Number of combinations</a:t>
                </a:r>
                <a14:m>
                  <m:oMath xmlns:m="http://schemas.openxmlformats.org/officeDocument/2006/math">
                    <m:r>
                      <a:rPr lang="en-US" b="0" i="0" dirty="0" smtClean="0">
                        <a:latin typeface="Cambria Math" panose="02040503050406030204" pitchFamily="18" charset="0"/>
                      </a:rPr>
                      <m:t> </m:t>
                    </m:r>
                    <m:r>
                      <a:rPr lang="en-US" i="1" dirty="0">
                        <a:latin typeface="Cambria Math"/>
                      </a:rPr>
                      <m:t>𝑘</m:t>
                    </m:r>
                  </m:oMath>
                </a14:m>
                <a:r>
                  <a:rPr lang="en-US" dirty="0"/>
                  <a:t> of </a:t>
                </a:r>
                <a14:m>
                  <m:oMath xmlns:m="http://schemas.openxmlformats.org/officeDocument/2006/math">
                    <m:r>
                      <a:rPr lang="en-US" i="1" dirty="0">
                        <a:latin typeface="Cambria Math"/>
                      </a:rPr>
                      <m:t>𝑛</m:t>
                    </m:r>
                  </m:oMath>
                </a14:m>
                <a:r>
                  <a:rPr lang="en-US" dirty="0"/>
                  <a:t> elements: </a:t>
                </a:r>
                <a:endParaRPr lang="en-US" i="1" dirty="0">
                  <a:solidFill>
                    <a:srgbClr val="FF0000"/>
                  </a:solidFill>
                  <a:latin typeface="Cambria Math"/>
                </a:endParaRPr>
              </a:p>
              <a:p>
                <a:pPr marL="0" indent="0">
                  <a:buNone/>
                </a:pPr>
                <a14:m>
                  <m:oMathPara xmlns:m="http://schemas.openxmlformats.org/officeDocument/2006/math">
                    <m:oMathParaPr>
                      <m:jc m:val="centerGroup"/>
                    </m:oMathParaPr>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sub>
                        <m:sup>
                          <m:r>
                            <a:rPr lang="en-US" i="1">
                              <a:solidFill>
                                <a:srgbClr val="FF0000"/>
                              </a:solidFill>
                              <a:latin typeface="Cambria Math"/>
                            </a:rPr>
                            <m:t>𝑘</m:t>
                          </m:r>
                        </m:sup>
                      </m:sSubSup>
                      <m:r>
                        <a:rPr lang="en-US" i="1">
                          <a:solidFill>
                            <a:srgbClr val="FF0000"/>
                          </a:solidFill>
                          <a:latin typeface="Cambria Math"/>
                        </a:rPr>
                        <m:t>=</m:t>
                      </m:r>
                      <m:f>
                        <m:fPr>
                          <m:ctrlPr>
                            <a:rPr lang="en-US" i="1">
                              <a:solidFill>
                                <a:srgbClr val="FF0000"/>
                              </a:solidFill>
                              <a:latin typeface="Cambria Math" panose="02040503050406030204" pitchFamily="18" charset="0"/>
                            </a:rPr>
                          </m:ctrlPr>
                        </m:fPr>
                        <m:num>
                          <m:r>
                            <a:rPr lang="en-US" i="1">
                              <a:solidFill>
                                <a:srgbClr val="FF0000"/>
                              </a:solidFill>
                              <a:latin typeface="Cambria Math"/>
                            </a:rPr>
                            <m:t>𝑛</m:t>
                          </m:r>
                          <m:r>
                            <a:rPr lang="en-US" i="1">
                              <a:solidFill>
                                <a:srgbClr val="FF0000"/>
                              </a:solidFill>
                              <a:latin typeface="Cambria Math"/>
                            </a:rPr>
                            <m:t>!</m:t>
                          </m:r>
                        </m:num>
                        <m:den>
                          <m:r>
                            <a:rPr lang="en-US" i="1">
                              <a:solidFill>
                                <a:srgbClr val="FF0000"/>
                              </a:solidFill>
                              <a:latin typeface="Cambria Math"/>
                            </a:rPr>
                            <m:t>𝑘</m:t>
                          </m:r>
                          <m:r>
                            <a:rPr lang="en-US" i="1">
                              <a:solidFill>
                                <a:srgbClr val="FF0000"/>
                              </a:solidFill>
                              <a:latin typeface="Cambria Math"/>
                            </a:rPr>
                            <m:t>!</m:t>
                          </m:r>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r>
                                <a:rPr lang="en-US" i="1">
                                  <a:solidFill>
                                    <a:srgbClr val="FF0000"/>
                                  </a:solidFill>
                                  <a:latin typeface="Cambria Math"/>
                                </a:rPr>
                                <m:t>−</m:t>
                              </m:r>
                              <m:r>
                                <a:rPr lang="en-US" i="1">
                                  <a:solidFill>
                                    <a:srgbClr val="FF0000"/>
                                  </a:solidFill>
                                  <a:latin typeface="Cambria Math"/>
                                </a:rPr>
                                <m:t>𝑘</m:t>
                              </m:r>
                            </m:e>
                          </m:d>
                          <m:r>
                            <a:rPr lang="en-US" i="1">
                              <a:solidFill>
                                <a:srgbClr val="FF0000"/>
                              </a:solidFill>
                              <a:latin typeface="Cambria Math"/>
                            </a:rPr>
                            <m:t>!</m:t>
                          </m:r>
                        </m:den>
                      </m:f>
                    </m:oMath>
                  </m:oMathPara>
                </a14:m>
                <a:endParaRPr lang="en-US" dirty="0"/>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xfrm>
                <a:off x="152400" y="1219200"/>
                <a:ext cx="8763000" cy="4937760"/>
              </a:xfrm>
              <a:blipFill>
                <a:blip r:embed="rId3"/>
                <a:stretch>
                  <a:fillRect l="-579" t="-1028"/>
                </a:stretch>
              </a:blipFill>
            </p:spPr>
            <p:txBody>
              <a:bodyPr/>
              <a:lstStyle/>
              <a:p>
                <a:r>
                  <a:rPr lang="en-VN">
                    <a:noFill/>
                  </a:rPr>
                  <a:t> </a:t>
                </a:r>
              </a:p>
            </p:txBody>
          </p:sp>
        </mc:Fallback>
      </mc:AlternateContent>
    </p:spTree>
    <p:extLst>
      <p:ext uri="{BB962C8B-B14F-4D97-AF65-F5344CB8AC3E}">
        <p14:creationId xmlns:p14="http://schemas.microsoft.com/office/powerpoint/2010/main" val="42041910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non-negative integer roots does the equation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1</m:t>
                        </m:r>
                      </m:sub>
                    </m:sSub>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2</m:t>
                        </m:r>
                      </m:sub>
                    </m:sSub>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3</m:t>
                        </m:r>
                      </m:sub>
                    </m:sSub>
                    <m:r>
                      <a:rPr lang="en-US" i="1" dirty="0" smtClean="0">
                        <a:latin typeface="Cambria Math"/>
                      </a:rPr>
                      <m:t>=11 </m:t>
                    </m:r>
                  </m:oMath>
                </a14:m>
                <a:r>
                  <a:rPr lang="en-US" dirty="0"/>
                  <a:t>have?</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34027315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5</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92500" lnSpcReduction="10000"/>
              </a:bodyPr>
              <a:lstStyle/>
              <a:p>
                <a:r>
                  <a:rPr lang="en-US" b="1" dirty="0"/>
                  <a:t>Problem</a:t>
                </a:r>
                <a:r>
                  <a:rPr lang="en-US" dirty="0"/>
                  <a:t>: How many non-negative integer roots does the equation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=11 </m:t>
                    </m:r>
                  </m:oMath>
                </a14:m>
                <a:r>
                  <a:rPr lang="en-US" dirty="0"/>
                  <a:t>have?</a:t>
                </a:r>
              </a:p>
              <a:p>
                <a:endParaRPr lang="en-US" dirty="0"/>
              </a:p>
              <a:p>
                <a:pPr algn="just"/>
                <a:r>
                  <a:rPr lang="en-US" b="1" dirty="0"/>
                  <a:t>Solution</a:t>
                </a:r>
                <a:r>
                  <a:rPr lang="en-US" dirty="0"/>
                  <a:t>: The number of non-negative integer roots of the equation is equal to the number of ways to choose 11 elements from 3 different sets. We describe 11 elements by 11 digits ‘1’ on a line. Then, use 2 digits ‘0’ to divide 11 elements into 3 groups. The number of digits ‘1’ in each group is equal to the number of elements we select from the corresponding set. So, the number of roots of equation is exactly the number of ways to choose 11 positions to type digit ‘1’ in a sequence of 13 positions (to type 0 and 1).</a:t>
                </a:r>
              </a:p>
              <a:p>
                <a:pPr marL="0" indent="0">
                  <a:buNone/>
                </a:pPr>
                <a:endParaRPr lang="en-US" i="1" dirty="0">
                  <a:solidFill>
                    <a:srgbClr val="FF0000"/>
                  </a:solidFill>
                  <a:latin typeface="Cambria Math"/>
                </a:endParaRPr>
              </a:p>
              <a:p>
                <a:pPr marL="0" indent="0">
                  <a:buNone/>
                </a:pPr>
                <a14:m>
                  <m:oMathPara xmlns:m="http://schemas.openxmlformats.org/officeDocument/2006/math">
                    <m:oMathParaPr>
                      <m:jc m:val="centerGroup"/>
                    </m:oMathParaPr>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b="0" i="1" smtClean="0">
                              <a:solidFill>
                                <a:srgbClr val="FF0000"/>
                              </a:solidFill>
                              <a:latin typeface="Cambria Math"/>
                            </a:rPr>
                            <m:t>13</m:t>
                          </m:r>
                        </m:sub>
                        <m:sup>
                          <m:r>
                            <a:rPr lang="en-US" b="0" i="1" smtClean="0">
                              <a:solidFill>
                                <a:srgbClr val="FF0000"/>
                              </a:solidFill>
                              <a:latin typeface="Cambria Math"/>
                            </a:rPr>
                            <m:t>11</m:t>
                          </m:r>
                        </m:sup>
                      </m:sSubSup>
                      <m:r>
                        <a:rPr lang="en-US" b="0" i="1" smtClean="0">
                          <a:solidFill>
                            <a:srgbClr val="FF0000"/>
                          </a:solidFill>
                          <a:latin typeface="Cambria Math"/>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a:rPr>
                            <m:t>13</m:t>
                          </m:r>
                          <m:r>
                            <a:rPr lang="en-US" b="0" i="1" smtClean="0">
                              <a:solidFill>
                                <a:srgbClr val="FF0000"/>
                              </a:solidFill>
                              <a:latin typeface="Cambria Math"/>
                              <a:ea typeface="Cambria Math"/>
                            </a:rPr>
                            <m:t>×</m:t>
                          </m:r>
                          <m:r>
                            <a:rPr lang="en-US" b="0" i="1" smtClean="0">
                              <a:solidFill>
                                <a:srgbClr val="FF0000"/>
                              </a:solidFill>
                              <a:latin typeface="Cambria Math"/>
                            </a:rPr>
                            <m:t>12</m:t>
                          </m:r>
                        </m:num>
                        <m:den>
                          <m:r>
                            <a:rPr lang="en-US" b="0" i="1" smtClean="0">
                              <a:solidFill>
                                <a:srgbClr val="FF0000"/>
                              </a:solidFill>
                              <a:latin typeface="Cambria Math"/>
                            </a:rPr>
                            <m:t>2</m:t>
                          </m:r>
                        </m:den>
                      </m:f>
                      <m:r>
                        <a:rPr lang="en-US" b="0" i="1" smtClean="0">
                          <a:solidFill>
                            <a:srgbClr val="FF0000"/>
                          </a:solidFill>
                          <a:latin typeface="Cambria Math"/>
                        </a:rPr>
                        <m:t>=78</m:t>
                      </m:r>
                    </m:oMath>
                  </m:oMathPara>
                </a14:m>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370" t="-1481" r="-963"/>
                </a:stretch>
              </a:blipFill>
            </p:spPr>
            <p:txBody>
              <a:bodyPr/>
              <a:lstStyle/>
              <a:p>
                <a:r>
                  <a:rPr lang="en-US">
                    <a:noFill/>
                  </a:rPr>
                  <a:t> </a:t>
                </a:r>
              </a:p>
            </p:txBody>
          </p:sp>
        </mc:Fallback>
      </mc:AlternateContent>
    </p:spTree>
    <p:extLst>
      <p:ext uri="{BB962C8B-B14F-4D97-AF65-F5344CB8AC3E}">
        <p14:creationId xmlns:p14="http://schemas.microsoft.com/office/powerpoint/2010/main" val="17846734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19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non-negative integer roots does the equation</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𝑛</m:t>
                        </m:r>
                      </m:sub>
                    </m:sSub>
                    <m:r>
                      <a:rPr lang="en-US" i="1" dirty="0">
                        <a:latin typeface="Cambria Math"/>
                      </a:rPr>
                      <m:t>=</m:t>
                    </m:r>
                    <m:r>
                      <a:rPr lang="en-US" i="1" dirty="0">
                        <a:latin typeface="Cambria Math"/>
                      </a:rPr>
                      <m:t>𝑘</m:t>
                    </m:r>
                  </m:oMath>
                </a14:m>
                <a:r>
                  <a:rPr lang="en-US" dirty="0"/>
                  <a:t> have?</a:t>
                </a:r>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33353091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6</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non-negative integer roots does the equation</a:t>
                </a:r>
                <a14:m>
                  <m:oMath xmlns:m="http://schemas.openxmlformats.org/officeDocument/2006/math">
                    <m:sSub>
                      <m:sSubPr>
                        <m:ctrlPr>
                          <a:rPr lang="en-US" i="1" dirty="0">
                            <a:latin typeface="Cambria Math" panose="02040503050406030204" pitchFamily="18" charset="0"/>
                          </a:rPr>
                        </m:ctrlPr>
                      </m:sSubPr>
                      <m:e>
                        <m:r>
                          <a:rPr lang="en-US" i="1" dirty="0">
                            <a:latin typeface="Cambria Math" panose="02040503050406030204" pitchFamily="18" charset="0"/>
                          </a:rPr>
                          <m:t> </m:t>
                        </m:r>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𝑛</m:t>
                        </m:r>
                      </m:sub>
                    </m:sSub>
                    <m:r>
                      <a:rPr lang="en-US" i="1" dirty="0">
                        <a:latin typeface="Cambria Math"/>
                      </a:rPr>
                      <m:t>=</m:t>
                    </m:r>
                    <m:r>
                      <a:rPr lang="en-US" i="1" dirty="0">
                        <a:latin typeface="Cambria Math"/>
                      </a:rPr>
                      <m:t>𝑘</m:t>
                    </m:r>
                  </m:oMath>
                </a14:m>
                <a:r>
                  <a:rPr lang="en-US" dirty="0"/>
                  <a:t> have?</a:t>
                </a:r>
              </a:p>
              <a:p>
                <a:endParaRPr lang="en-US" dirty="0"/>
              </a:p>
              <a:p>
                <a:r>
                  <a:rPr lang="en-US" b="1" dirty="0"/>
                  <a:t>Solution: </a:t>
                </a:r>
                <a:r>
                  <a:rPr lang="en-US" dirty="0"/>
                  <a:t>Similar to Example 5, we will have the number of non-negative integer roots of the equation:</a:t>
                </a:r>
              </a:p>
              <a:p>
                <a:pPr marL="0" indent="0">
                  <a:buNone/>
                </a:pPr>
                <a14:m>
                  <m:oMathPara xmlns:m="http://schemas.openxmlformats.org/officeDocument/2006/math">
                    <m:oMathParaPr>
                      <m:jc m:val="centerGroup"/>
                    </m:oMathParaPr>
                    <m:oMath xmlns:m="http://schemas.openxmlformats.org/officeDocument/2006/math">
                      <m:sSubSup>
                        <m:sSubSupPr>
                          <m:ctrlPr>
                            <a:rPr lang="en-US" sz="2800" i="1">
                              <a:solidFill>
                                <a:srgbClr val="FF0000"/>
                              </a:solidFill>
                              <a:latin typeface="Cambria Math" panose="02040503050406030204" pitchFamily="18" charset="0"/>
                            </a:rPr>
                          </m:ctrlPr>
                        </m:sSubSupPr>
                        <m:e>
                          <m:r>
                            <a:rPr lang="en-US" sz="2800" i="1">
                              <a:solidFill>
                                <a:srgbClr val="FF0000"/>
                              </a:solidFill>
                              <a:latin typeface="Cambria Math"/>
                            </a:rPr>
                            <m:t>𝐶</m:t>
                          </m:r>
                        </m:e>
                        <m:sub>
                          <m:r>
                            <a:rPr lang="en-US" sz="2800" b="0" i="1" smtClean="0">
                              <a:solidFill>
                                <a:srgbClr val="FF0000"/>
                              </a:solidFill>
                              <a:latin typeface="Cambria Math"/>
                            </a:rPr>
                            <m:t>𝑛</m:t>
                          </m:r>
                          <m:r>
                            <a:rPr lang="en-US" sz="2800" b="0" i="1" smtClean="0">
                              <a:solidFill>
                                <a:srgbClr val="FF0000"/>
                              </a:solidFill>
                              <a:latin typeface="Cambria Math"/>
                            </a:rPr>
                            <m:t>−1+</m:t>
                          </m:r>
                          <m:r>
                            <a:rPr lang="en-US" sz="2800" b="0" i="1" smtClean="0">
                              <a:solidFill>
                                <a:srgbClr val="FF0000"/>
                              </a:solidFill>
                              <a:latin typeface="Cambria Math"/>
                            </a:rPr>
                            <m:t>𝑘</m:t>
                          </m:r>
                        </m:sub>
                        <m:sup>
                          <m:r>
                            <a:rPr lang="en-US" sz="2800" b="0" i="1" smtClean="0">
                              <a:solidFill>
                                <a:srgbClr val="FF0000"/>
                              </a:solidFill>
                              <a:latin typeface="Cambria Math"/>
                            </a:rPr>
                            <m:t>𝑘</m:t>
                          </m:r>
                        </m:sup>
                      </m:sSubSup>
                      <m:r>
                        <a:rPr lang="en-US" sz="2800" b="0" i="1" smtClean="0">
                          <a:solidFill>
                            <a:srgbClr val="FF0000"/>
                          </a:solidFill>
                          <a:latin typeface="Cambria Math"/>
                        </a:rPr>
                        <m:t>=</m:t>
                      </m:r>
                      <m:f>
                        <m:fPr>
                          <m:ctrlPr>
                            <a:rPr lang="en-US" sz="2800" b="0" i="1" smtClean="0">
                              <a:solidFill>
                                <a:srgbClr val="FF0000"/>
                              </a:solidFill>
                              <a:latin typeface="Cambria Math" panose="02040503050406030204" pitchFamily="18" charset="0"/>
                            </a:rPr>
                          </m:ctrlPr>
                        </m:fPr>
                        <m:num>
                          <m:d>
                            <m:dPr>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a:rPr>
                                <m:t>𝑛</m:t>
                              </m:r>
                              <m:r>
                                <a:rPr lang="en-US" sz="2800" b="0" i="1" smtClean="0">
                                  <a:solidFill>
                                    <a:srgbClr val="FF0000"/>
                                  </a:solidFill>
                                  <a:latin typeface="Cambria Math"/>
                                </a:rPr>
                                <m:t>−1+</m:t>
                              </m:r>
                              <m:r>
                                <a:rPr lang="en-US" sz="2800" b="0" i="1" smtClean="0">
                                  <a:solidFill>
                                    <a:srgbClr val="FF0000"/>
                                  </a:solidFill>
                                  <a:latin typeface="Cambria Math"/>
                                </a:rPr>
                                <m:t>𝑘</m:t>
                              </m:r>
                            </m:e>
                          </m:d>
                          <m:r>
                            <a:rPr lang="en-US" sz="2800" b="0" i="1" smtClean="0">
                              <a:solidFill>
                                <a:srgbClr val="FF0000"/>
                              </a:solidFill>
                              <a:latin typeface="Cambria Math"/>
                            </a:rPr>
                            <m:t>!</m:t>
                          </m:r>
                        </m:num>
                        <m:den>
                          <m:r>
                            <a:rPr lang="en-US" sz="2800" b="0" i="1" smtClean="0">
                              <a:solidFill>
                                <a:srgbClr val="FF0000"/>
                              </a:solidFill>
                              <a:latin typeface="Cambria Math"/>
                            </a:rPr>
                            <m:t>𝑘</m:t>
                          </m:r>
                          <m:r>
                            <a:rPr lang="en-US" sz="2800" b="0" i="1" smtClean="0">
                              <a:solidFill>
                                <a:srgbClr val="FF0000"/>
                              </a:solidFill>
                              <a:latin typeface="Cambria Math"/>
                            </a:rPr>
                            <m:t>!</m:t>
                          </m:r>
                          <m:d>
                            <m:dPr>
                              <m:ctrlPr>
                                <a:rPr lang="en-US" sz="2800" b="0" i="1" smtClean="0">
                                  <a:solidFill>
                                    <a:srgbClr val="FF0000"/>
                                  </a:solidFill>
                                  <a:latin typeface="Cambria Math" panose="02040503050406030204" pitchFamily="18" charset="0"/>
                                </a:rPr>
                              </m:ctrlPr>
                            </m:dPr>
                            <m:e>
                              <m:r>
                                <a:rPr lang="en-US" sz="2800" b="0" i="1" smtClean="0">
                                  <a:solidFill>
                                    <a:srgbClr val="FF0000"/>
                                  </a:solidFill>
                                  <a:latin typeface="Cambria Math"/>
                                </a:rPr>
                                <m:t>𝑛</m:t>
                              </m:r>
                              <m:r>
                                <a:rPr lang="en-US" sz="2800" b="0" i="1" smtClean="0">
                                  <a:solidFill>
                                    <a:srgbClr val="FF0000"/>
                                  </a:solidFill>
                                  <a:latin typeface="Cambria Math"/>
                                </a:rPr>
                                <m:t>−1</m:t>
                              </m:r>
                            </m:e>
                          </m:d>
                          <m:r>
                            <a:rPr lang="en-US" sz="2800" b="0" i="1" smtClean="0">
                              <a:solidFill>
                                <a:srgbClr val="FF0000"/>
                              </a:solidFill>
                              <a:latin typeface="Cambria Math"/>
                            </a:rPr>
                            <m:t>!</m:t>
                          </m:r>
                        </m:den>
                      </m:f>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778"/>
                </a:stretch>
              </a:blipFill>
            </p:spPr>
            <p:txBody>
              <a:bodyPr/>
              <a:lstStyle/>
              <a:p>
                <a:r>
                  <a:rPr lang="en-US">
                    <a:noFill/>
                  </a:rPr>
                  <a:t> </a:t>
                </a:r>
              </a:p>
            </p:txBody>
          </p:sp>
        </mc:Fallback>
      </mc:AlternateContent>
    </p:spTree>
    <p:extLst>
      <p:ext uri="{BB962C8B-B14F-4D97-AF65-F5344CB8AC3E}">
        <p14:creationId xmlns:p14="http://schemas.microsoft.com/office/powerpoint/2010/main" val="2612695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non-negative integer roots that satisfy condition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sym typeface="Symbol" pitchFamily="18" charset="2"/>
                      </a:rPr>
                      <m:t></m:t>
                    </m:r>
                    <m:r>
                      <a:rPr lang="en-US" i="1" dirty="0">
                        <a:latin typeface="Cambria Math"/>
                      </a:rPr>
                      <m:t>1, </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sym typeface="Symbol" pitchFamily="18" charset="2"/>
                      </a:rPr>
                      <m:t></m:t>
                    </m:r>
                    <m:r>
                      <a:rPr lang="en-US" i="1" dirty="0">
                        <a:latin typeface="Cambria Math"/>
                      </a:rPr>
                      <m:t>2, </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sym typeface="Symbol" pitchFamily="18" charset="2"/>
                      </a:rPr>
                      <m:t></m:t>
                    </m:r>
                    <m:r>
                      <a:rPr lang="en-US" i="1" dirty="0">
                        <a:latin typeface="Cambria Math"/>
                      </a:rPr>
                      <m:t>3</m:t>
                    </m:r>
                  </m:oMath>
                </a14:m>
                <a:r>
                  <a:rPr lang="en-US" dirty="0"/>
                  <a:t> does the equation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=11 </m:t>
                    </m:r>
                  </m:oMath>
                </a14:m>
                <a:r>
                  <a:rPr lang="en-US" dirty="0"/>
                  <a:t>have?</a:t>
                </a:r>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1818032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r>
                  <a:rPr lang="en-US" b="1" dirty="0"/>
                  <a:t>Problem</a:t>
                </a:r>
                <a:r>
                  <a:rPr lang="en-US" dirty="0"/>
                  <a:t>: How many non-negative integer roots that satisfy condition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sym typeface="Symbol" pitchFamily="18" charset="2"/>
                      </a:rPr>
                      <m:t></m:t>
                    </m:r>
                    <m:r>
                      <a:rPr lang="en-US" i="1" dirty="0">
                        <a:latin typeface="Cambria Math"/>
                      </a:rPr>
                      <m:t>1, </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sym typeface="Symbol" pitchFamily="18" charset="2"/>
                      </a:rPr>
                      <m:t></m:t>
                    </m:r>
                    <m:r>
                      <a:rPr lang="en-US" i="1" dirty="0">
                        <a:latin typeface="Cambria Math"/>
                      </a:rPr>
                      <m:t>2, </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sym typeface="Symbol" pitchFamily="18" charset="2"/>
                      </a:rPr>
                      <m:t></m:t>
                    </m:r>
                    <m:r>
                      <a:rPr lang="en-US" i="1" dirty="0">
                        <a:latin typeface="Cambria Math"/>
                      </a:rPr>
                      <m:t>3</m:t>
                    </m:r>
                  </m:oMath>
                </a14:m>
                <a:r>
                  <a:rPr lang="en-US" dirty="0"/>
                  <a:t> does the equation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3</m:t>
                        </m:r>
                      </m:sub>
                    </m:sSub>
                    <m:r>
                      <a:rPr lang="en-US" i="1" dirty="0">
                        <a:latin typeface="Cambria Math"/>
                      </a:rPr>
                      <m:t>=11 </m:t>
                    </m:r>
                  </m:oMath>
                </a14:m>
                <a:r>
                  <a:rPr lang="en-US" dirty="0"/>
                  <a:t>have?</a:t>
                </a:r>
              </a:p>
              <a:p>
                <a:pPr marL="0" indent="0">
                  <a:buNone/>
                </a:pPr>
                <a:endParaRPr lang="en-US" dirty="0"/>
              </a:p>
              <a:p>
                <a:r>
                  <a:rPr lang="en-US" b="1" dirty="0"/>
                  <a:t>Solution</a:t>
                </a:r>
                <a:r>
                  <a:rPr lang="en-US" dirty="0"/>
                  <a:t>: Equivalent equation:</a:t>
                </a:r>
              </a:p>
              <a:p>
                <a:pPr marL="0" indent="0">
                  <a:buNone/>
                </a:pPr>
                <a14:m>
                  <m:oMathPara xmlns:m="http://schemas.openxmlformats.org/officeDocument/2006/math">
                    <m:oMathParaPr>
                      <m:jc m:val="centerGroup"/>
                    </m:oMathParaPr>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a:rPr>
                            <m:t>(</m:t>
                          </m:r>
                          <m:r>
                            <a:rPr lang="en-US" i="1" dirty="0">
                              <a:latin typeface="Cambria Math"/>
                            </a:rPr>
                            <m:t>𝑥</m:t>
                          </m:r>
                        </m:e>
                        <m:sub>
                          <m:r>
                            <a:rPr lang="en-US" i="1" dirty="0">
                              <a:latin typeface="Cambria Math"/>
                            </a:rPr>
                            <m:t>1</m:t>
                          </m:r>
                        </m:sub>
                      </m:sSub>
                      <m:r>
                        <a:rPr lang="en-US" b="0" i="1" dirty="0" smtClean="0">
                          <a:latin typeface="Cambria Math"/>
                        </a:rPr>
                        <m:t>−1)</m:t>
                      </m:r>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m:t>
                          </m:r>
                          <m:r>
                            <a:rPr lang="en-US" i="1" dirty="0">
                              <a:latin typeface="Cambria Math"/>
                            </a:rPr>
                            <m:t>𝑥</m:t>
                          </m:r>
                        </m:e>
                        <m:sub>
                          <m:r>
                            <a:rPr lang="en-US" i="1" dirty="0">
                              <a:latin typeface="Cambria Math"/>
                            </a:rPr>
                            <m:t>2</m:t>
                          </m:r>
                        </m:sub>
                      </m:sSub>
                      <m:r>
                        <a:rPr lang="en-US" b="0" i="1" dirty="0" smtClean="0">
                          <a:latin typeface="Cambria Math"/>
                        </a:rPr>
                        <m:t>−2)</m:t>
                      </m:r>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m:t>
                          </m:r>
                          <m:r>
                            <a:rPr lang="en-US" i="1" dirty="0">
                              <a:latin typeface="Cambria Math"/>
                            </a:rPr>
                            <m:t>𝑥</m:t>
                          </m:r>
                        </m:e>
                        <m:sub>
                          <m:r>
                            <a:rPr lang="en-US" i="1" dirty="0">
                              <a:latin typeface="Cambria Math"/>
                            </a:rPr>
                            <m:t>3</m:t>
                          </m:r>
                        </m:sub>
                      </m:sSub>
                      <m:r>
                        <a:rPr lang="en-US" b="0" i="1" dirty="0" smtClean="0">
                          <a:latin typeface="Cambria Math"/>
                        </a:rPr>
                        <m:t>−3)</m:t>
                      </m:r>
                      <m:r>
                        <a:rPr lang="en-US" i="1" dirty="0">
                          <a:latin typeface="Cambria Math"/>
                        </a:rPr>
                        <m:t>=</m:t>
                      </m:r>
                      <m:r>
                        <a:rPr lang="en-US" i="1" dirty="0" smtClean="0">
                          <a:latin typeface="Cambria Math"/>
                        </a:rPr>
                        <m:t>5</m:t>
                      </m:r>
                    </m:oMath>
                  </m:oMathPara>
                </a14:m>
                <a:endParaRPr lang="en-US" dirty="0"/>
              </a:p>
              <a:p>
                <a:pPr marL="0" indent="0">
                  <a:buNone/>
                </a:pPr>
                <a:r>
                  <a:rPr lang="en-US" dirty="0"/>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𝑦</m:t>
                        </m:r>
                      </m:e>
                      <m:sub>
                        <m:r>
                          <a:rPr lang="en-US" b="0" i="1" smtClean="0">
                            <a:latin typeface="Cambria Math"/>
                          </a:rPr>
                          <m:t>1</m:t>
                        </m:r>
                      </m:sub>
                    </m:sSub>
                    <m:r>
                      <a:rPr lang="en-US" b="0" i="1" smtClean="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rPr>
                      <m:t>−1</m:t>
                    </m:r>
                    <m:r>
                      <a:rPr lang="en-US" b="0" i="1" dirty="0" smtClean="0">
                        <a:latin typeface="Cambria Math"/>
                      </a:rPr>
                      <m:t>,</m:t>
                    </m:r>
                    <m:sSub>
                      <m:sSubPr>
                        <m:ctrlPr>
                          <a:rPr lang="en-US" i="1">
                            <a:latin typeface="Cambria Math" panose="02040503050406030204" pitchFamily="18" charset="0"/>
                          </a:rPr>
                        </m:ctrlPr>
                      </m:sSubPr>
                      <m:e>
                        <m:r>
                          <a:rPr lang="en-US" i="1">
                            <a:latin typeface="Cambria Math"/>
                          </a:rPr>
                          <m:t>𝑦</m:t>
                        </m:r>
                      </m:e>
                      <m:sub>
                        <m:r>
                          <a:rPr lang="en-US" b="0" i="1" smtClean="0">
                            <a:latin typeface="Cambria Math"/>
                          </a:rPr>
                          <m:t>2</m:t>
                        </m:r>
                      </m:sub>
                    </m:sSub>
                    <m:r>
                      <a:rPr lang="en-US" i="1">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b="0" i="1" dirty="0" smtClean="0">
                            <a:latin typeface="Cambria Math"/>
                          </a:rPr>
                          <m:t>2</m:t>
                        </m:r>
                      </m:sub>
                    </m:sSub>
                    <m:r>
                      <a:rPr lang="en-US" i="1" dirty="0">
                        <a:latin typeface="Cambria Math"/>
                      </a:rPr>
                      <m:t>−</m:t>
                    </m:r>
                    <m:r>
                      <a:rPr lang="en-US" b="0" i="1" dirty="0" smtClean="0">
                        <a:latin typeface="Cambria Math"/>
                      </a:rPr>
                      <m:t>2</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𝑦</m:t>
                        </m:r>
                      </m:e>
                      <m:sub>
                        <m:r>
                          <a:rPr lang="en-US" b="0" i="1" smtClean="0">
                            <a:latin typeface="Cambria Math"/>
                          </a:rPr>
                          <m:t>3</m:t>
                        </m:r>
                      </m:sub>
                    </m:sSub>
                    <m:r>
                      <a:rPr lang="en-US" i="1">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b="0" i="1" dirty="0" smtClean="0">
                            <a:latin typeface="Cambria Math"/>
                          </a:rPr>
                          <m:t>3</m:t>
                        </m:r>
                      </m:sub>
                    </m:sSub>
                    <m:r>
                      <a:rPr lang="en-US" i="1" dirty="0">
                        <a:latin typeface="Cambria Math"/>
                      </a:rPr>
                      <m:t>−</m:t>
                    </m:r>
                    <m:r>
                      <a:rPr lang="en-US" b="0" i="1" dirty="0" smtClean="0">
                        <a:latin typeface="Cambria Math"/>
                      </a:rPr>
                      <m:t>3</m:t>
                    </m:r>
                  </m:oMath>
                </a14:m>
                <a:endParaRPr lang="en-US" b="0" dirty="0"/>
              </a:p>
              <a:p>
                <a:pPr marL="0" indent="0">
                  <a:buNone/>
                </a:pPr>
                <a:r>
                  <a:rPr lang="en-US" dirty="0"/>
                  <a:t>Equation becomes: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a:rPr>
                          <m:t>𝑦</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𝑦</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𝑦</m:t>
                        </m:r>
                      </m:e>
                      <m:sub>
                        <m:r>
                          <a:rPr lang="en-US" i="1" dirty="0">
                            <a:latin typeface="Cambria Math"/>
                          </a:rPr>
                          <m:t>3</m:t>
                        </m:r>
                      </m:sub>
                    </m:sSub>
                    <m:r>
                      <a:rPr lang="en-US" i="1" dirty="0">
                        <a:latin typeface="Cambria Math"/>
                      </a:rPr>
                      <m:t>=</m:t>
                    </m:r>
                    <m:r>
                      <a:rPr lang="en-US" b="0" i="1" dirty="0" smtClean="0">
                        <a:latin typeface="Cambria Math"/>
                      </a:rPr>
                      <m:t>5</m:t>
                    </m:r>
                  </m:oMath>
                </a14:m>
                <a:r>
                  <a:rPr lang="en-US" dirty="0"/>
                  <a:t>  </a:t>
                </a:r>
              </a:p>
              <a:p>
                <a:pPr marL="0" indent="0">
                  <a:buNone/>
                </a:pPr>
                <a:r>
                  <a:rPr lang="en-US" dirty="0"/>
                  <a:t>According to Example 6, the number of non-negative integer roots is:</a:t>
                </a:r>
              </a:p>
              <a:p>
                <a:pPr marL="0" indent="0">
                  <a:buNone/>
                </a:pPr>
                <a14:m>
                  <m:oMathPara xmlns:m="http://schemas.openxmlformats.org/officeDocument/2006/math">
                    <m:oMathParaPr>
                      <m:jc m:val="centerGroup"/>
                    </m:oMathParaPr>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b="0" i="1" smtClean="0">
                              <a:solidFill>
                                <a:srgbClr val="FF0000"/>
                              </a:solidFill>
                              <a:latin typeface="Cambria Math"/>
                            </a:rPr>
                            <m:t>3</m:t>
                          </m:r>
                          <m:r>
                            <a:rPr lang="en-US" i="1">
                              <a:solidFill>
                                <a:srgbClr val="FF0000"/>
                              </a:solidFill>
                              <a:latin typeface="Cambria Math"/>
                            </a:rPr>
                            <m:t>−1+</m:t>
                          </m:r>
                          <m:r>
                            <a:rPr lang="en-US" b="0" i="1" smtClean="0">
                              <a:solidFill>
                                <a:srgbClr val="FF0000"/>
                              </a:solidFill>
                              <a:latin typeface="Cambria Math"/>
                            </a:rPr>
                            <m:t>5</m:t>
                          </m:r>
                        </m:sub>
                        <m:sup>
                          <m:r>
                            <a:rPr lang="en-US" b="0" i="1" smtClean="0">
                              <a:solidFill>
                                <a:srgbClr val="FF0000"/>
                              </a:solidFill>
                              <a:latin typeface="Cambria Math"/>
                            </a:rPr>
                            <m:t>5</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b="0" i="1" smtClean="0">
                              <a:solidFill>
                                <a:srgbClr val="FF0000"/>
                              </a:solidFill>
                              <a:latin typeface="Cambria Math"/>
                            </a:rPr>
                            <m:t>7</m:t>
                          </m:r>
                        </m:sub>
                        <m:sup>
                          <m:r>
                            <a:rPr lang="en-US" b="0" i="1" smtClean="0">
                              <a:solidFill>
                                <a:srgbClr val="FF0000"/>
                              </a:solidFill>
                              <a:latin typeface="Cambria Math"/>
                            </a:rPr>
                            <m:t>5</m:t>
                          </m:r>
                        </m:sup>
                      </m:sSubSup>
                      <m:r>
                        <a:rPr lang="en-US" b="0" i="1" smtClean="0">
                          <a:solidFill>
                            <a:srgbClr val="FF0000"/>
                          </a:solidFill>
                          <a:latin typeface="Cambria Math"/>
                        </a:rPr>
                        <m:t>=</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a:rPr>
                            <m:t>7</m:t>
                          </m:r>
                          <m:r>
                            <a:rPr lang="en-US" b="0" i="1" smtClean="0">
                              <a:solidFill>
                                <a:srgbClr val="FF0000"/>
                              </a:solidFill>
                              <a:latin typeface="Cambria Math"/>
                              <a:ea typeface="Cambria Math"/>
                            </a:rPr>
                            <m:t>×6</m:t>
                          </m:r>
                        </m:num>
                        <m:den>
                          <m:r>
                            <a:rPr lang="en-US" b="0" i="1" smtClean="0">
                              <a:solidFill>
                                <a:srgbClr val="FF0000"/>
                              </a:solidFill>
                              <a:latin typeface="Cambria Math"/>
                            </a:rPr>
                            <m:t>2</m:t>
                          </m:r>
                        </m:den>
                      </m:f>
                      <m:r>
                        <a:rPr lang="en-US" b="0" i="1" smtClean="0">
                          <a:solidFill>
                            <a:srgbClr val="FF0000"/>
                          </a:solidFill>
                          <a:latin typeface="Cambria Math"/>
                        </a:rPr>
                        <m:t>=21</m:t>
                      </m:r>
                    </m:oMath>
                  </m:oMathPara>
                </a14:m>
                <a:endParaRPr lang="en-US" dirty="0"/>
              </a:p>
              <a:p>
                <a:r>
                  <a:rPr lang="en-US" dirty="0"/>
                  <a:t> </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728" b="-494"/>
                </a:stretch>
              </a:blipFill>
            </p:spPr>
            <p:txBody>
              <a:bodyPr/>
              <a:lstStyle/>
              <a:p>
                <a:r>
                  <a:rPr lang="en-US">
                    <a:noFill/>
                  </a:rPr>
                  <a:t> </a:t>
                </a:r>
              </a:p>
            </p:txBody>
          </p:sp>
        </mc:Fallback>
      </mc:AlternateContent>
    </p:spTree>
    <p:extLst>
      <p:ext uri="{BB962C8B-B14F-4D97-AF65-F5344CB8AC3E}">
        <p14:creationId xmlns:p14="http://schemas.microsoft.com/office/powerpoint/2010/main" val="14258291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non-negative integer roots that satisfy condition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ea typeface="Cambria Math"/>
                      </a:rPr>
                      <m:t>≥</m:t>
                    </m:r>
                    <m:sSub>
                      <m:sSubPr>
                        <m:ctrlPr>
                          <a:rPr lang="en-US" i="1" dirty="0">
                            <a:latin typeface="Cambria Math" panose="02040503050406030204" pitchFamily="18" charset="0"/>
                            <a:ea typeface="Cambria Math"/>
                          </a:rPr>
                        </m:ctrlPr>
                      </m:sSubPr>
                      <m:e>
                        <m:r>
                          <a:rPr lang="en-US" i="1" dirty="0">
                            <a:latin typeface="Cambria Math"/>
                            <a:ea typeface="Cambria Math"/>
                          </a:rPr>
                          <m:t>𝑚</m:t>
                        </m:r>
                      </m:e>
                      <m:sub>
                        <m:r>
                          <a:rPr lang="en-US" i="1" dirty="0">
                            <a:latin typeface="Cambria Math"/>
                            <a:ea typeface="Cambria Math"/>
                          </a:rPr>
                          <m:t>1</m:t>
                        </m:r>
                      </m:sub>
                    </m:sSub>
                    <m:r>
                      <a:rPr lang="en-US" i="1" dirty="0">
                        <a:latin typeface="Cambria Math"/>
                        <a:ea typeface="Cambria Math"/>
                      </a:rPr>
                      <m:t>, …,</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𝑛</m:t>
                        </m:r>
                      </m:sub>
                    </m:sSub>
                    <m:r>
                      <a:rPr lang="en-US" i="1" dirty="0">
                        <a:latin typeface="Cambria Math"/>
                        <a:ea typeface="Cambria Math"/>
                      </a:rPr>
                      <m:t>≥</m:t>
                    </m:r>
                    <m:sSub>
                      <m:sSubPr>
                        <m:ctrlPr>
                          <a:rPr lang="en-US" i="1" dirty="0">
                            <a:latin typeface="Cambria Math" panose="02040503050406030204" pitchFamily="18" charset="0"/>
                            <a:ea typeface="Cambria Math"/>
                          </a:rPr>
                        </m:ctrlPr>
                      </m:sSubPr>
                      <m:e>
                        <m:r>
                          <a:rPr lang="en-US" i="1" dirty="0">
                            <a:latin typeface="Cambria Math"/>
                            <a:ea typeface="Cambria Math"/>
                          </a:rPr>
                          <m:t>𝑚</m:t>
                        </m:r>
                      </m:e>
                      <m:sub>
                        <m:r>
                          <a:rPr lang="en-US" i="1" dirty="0">
                            <a:latin typeface="Cambria Math"/>
                            <a:ea typeface="Cambria Math"/>
                          </a:rPr>
                          <m:t>𝑛</m:t>
                        </m:r>
                      </m:sub>
                    </m:sSub>
                    <m:r>
                      <a:rPr lang="en-US" i="1" dirty="0">
                        <a:latin typeface="Cambria Math" panose="02040503050406030204" pitchFamily="18" charset="0"/>
                        <a:ea typeface="Cambria Math"/>
                      </a:rPr>
                      <m:t> </m:t>
                    </m:r>
                  </m:oMath>
                </a14:m>
                <a:r>
                  <a:rPr lang="en-US" dirty="0"/>
                  <a:t>does the equation</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𝑛</m:t>
                        </m:r>
                      </m:sub>
                    </m:sSub>
                    <m:r>
                      <a:rPr lang="en-US" i="1" dirty="0">
                        <a:latin typeface="Cambria Math"/>
                      </a:rPr>
                      <m:t>=</m:t>
                    </m:r>
                    <m:r>
                      <a:rPr lang="en-US" i="1" dirty="0">
                        <a:latin typeface="Cambria Math"/>
                      </a:rPr>
                      <m:t>𝑘</m:t>
                    </m:r>
                  </m:oMath>
                </a14:m>
                <a:r>
                  <a:rPr lang="en-US" dirty="0"/>
                  <a:t> have?</a:t>
                </a:r>
              </a:p>
              <a:p>
                <a:endParaRPr lang="en-US" dirty="0"/>
              </a:p>
              <a:p>
                <a:endParaRPr lang="en-US" dirty="0"/>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8929888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How many non-negative integer roots that satisfy condition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i="1" dirty="0">
                        <a:latin typeface="Cambria Math"/>
                        <a:ea typeface="Cambria Math"/>
                      </a:rPr>
                      <m:t>≥</m:t>
                    </m:r>
                    <m:sSub>
                      <m:sSubPr>
                        <m:ctrlPr>
                          <a:rPr lang="en-US" i="1" dirty="0">
                            <a:latin typeface="Cambria Math" panose="02040503050406030204" pitchFamily="18" charset="0"/>
                            <a:ea typeface="Cambria Math"/>
                          </a:rPr>
                        </m:ctrlPr>
                      </m:sSubPr>
                      <m:e>
                        <m:r>
                          <a:rPr lang="en-US" i="1" dirty="0">
                            <a:latin typeface="Cambria Math"/>
                            <a:ea typeface="Cambria Math"/>
                          </a:rPr>
                          <m:t>𝑚</m:t>
                        </m:r>
                      </m:e>
                      <m:sub>
                        <m:r>
                          <a:rPr lang="en-US" i="1" dirty="0">
                            <a:latin typeface="Cambria Math"/>
                            <a:ea typeface="Cambria Math"/>
                          </a:rPr>
                          <m:t>1</m:t>
                        </m:r>
                      </m:sub>
                    </m:sSub>
                    <m:r>
                      <a:rPr lang="en-US" i="1" dirty="0">
                        <a:latin typeface="Cambria Math"/>
                        <a:ea typeface="Cambria Math"/>
                      </a:rPr>
                      <m:t>, …,</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𝑛</m:t>
                        </m:r>
                      </m:sub>
                    </m:sSub>
                    <m:r>
                      <a:rPr lang="en-US" i="1" dirty="0">
                        <a:latin typeface="Cambria Math"/>
                        <a:ea typeface="Cambria Math"/>
                      </a:rPr>
                      <m:t>≥</m:t>
                    </m:r>
                    <m:sSub>
                      <m:sSubPr>
                        <m:ctrlPr>
                          <a:rPr lang="en-US" i="1" dirty="0">
                            <a:latin typeface="Cambria Math" panose="02040503050406030204" pitchFamily="18" charset="0"/>
                            <a:ea typeface="Cambria Math"/>
                          </a:rPr>
                        </m:ctrlPr>
                      </m:sSubPr>
                      <m:e>
                        <m:r>
                          <a:rPr lang="en-US" i="1" dirty="0">
                            <a:latin typeface="Cambria Math"/>
                            <a:ea typeface="Cambria Math"/>
                          </a:rPr>
                          <m:t>𝑚</m:t>
                        </m:r>
                      </m:e>
                      <m:sub>
                        <m:r>
                          <a:rPr lang="en-US" i="1" dirty="0">
                            <a:latin typeface="Cambria Math"/>
                            <a:ea typeface="Cambria Math"/>
                          </a:rPr>
                          <m:t>𝑛</m:t>
                        </m:r>
                      </m:sub>
                    </m:sSub>
                    <m:r>
                      <a:rPr lang="en-US" i="1" dirty="0">
                        <a:latin typeface="Cambria Math" panose="02040503050406030204" pitchFamily="18" charset="0"/>
                        <a:ea typeface="Cambria Math"/>
                      </a:rPr>
                      <m:t> </m:t>
                    </m:r>
                  </m:oMath>
                </a14:m>
                <a:r>
                  <a:rPr lang="en-US" dirty="0"/>
                  <a:t>does the equation</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panose="02040503050406030204" pitchFamily="18" charset="0"/>
                          </a:rPr>
                          <m:t> </m:t>
                        </m:r>
                        <m:r>
                          <a:rPr lang="en-US" i="1" dirty="0">
                            <a:latin typeface="Cambria Math"/>
                          </a:rPr>
                          <m:t>𝑥</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𝑛</m:t>
                        </m:r>
                      </m:sub>
                    </m:sSub>
                    <m:r>
                      <a:rPr lang="en-US" i="1" dirty="0">
                        <a:latin typeface="Cambria Math"/>
                      </a:rPr>
                      <m:t>=</m:t>
                    </m:r>
                    <m:r>
                      <a:rPr lang="en-US" i="1" dirty="0">
                        <a:latin typeface="Cambria Math"/>
                      </a:rPr>
                      <m:t>𝑘</m:t>
                    </m:r>
                  </m:oMath>
                </a14:m>
                <a:r>
                  <a:rPr lang="en-US" dirty="0"/>
                  <a:t> have?</a:t>
                </a:r>
              </a:p>
              <a:p>
                <a:endParaRPr lang="en-US" dirty="0"/>
              </a:p>
              <a:p>
                <a:r>
                  <a:rPr lang="en-US" b="1" dirty="0"/>
                  <a:t>Solution</a:t>
                </a:r>
                <a:r>
                  <a:rPr lang="en-US" dirty="0"/>
                  <a:t>: Equivalent equation </a:t>
                </a:r>
                <a14:m>
                  <m:oMath xmlns:m="http://schemas.openxmlformats.org/officeDocument/2006/math">
                    <m:r>
                      <a:rPr lang="en-US" b="0" i="0" dirty="0" smtClean="0">
                        <a:latin typeface="Cambria Math" panose="02040503050406030204" pitchFamily="18" charset="0"/>
                      </a:rPr>
                      <m:t>:</m:t>
                    </m:r>
                  </m:oMath>
                </a14:m>
                <a:endParaRPr lang="en-US" b="0" i="1" dirty="0">
                  <a:latin typeface="Cambria Math" panose="02040503050406030204" pitchFamily="18" charset="0"/>
                </a:endParaRPr>
              </a:p>
              <a:p>
                <a:pPr marL="0" indent="0" algn="ctr">
                  <a:buNone/>
                </a:pPr>
                <a14:m>
                  <m:oMath xmlns:m="http://schemas.openxmlformats.org/officeDocument/2006/math">
                    <m:d>
                      <m:dPr>
                        <m:ctrlPr>
                          <a:rPr lang="en-US" b="0" i="1" dirty="0" smtClean="0">
                            <a:latin typeface="Cambria Math" panose="02040503050406030204" pitchFamily="18" charset="0"/>
                          </a:rPr>
                        </m:ctrlPr>
                      </m:dPr>
                      <m:e>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𝑚</m:t>
                            </m:r>
                          </m:e>
                          <m:sub>
                            <m:r>
                              <a:rPr lang="en-US" b="0" i="1" dirty="0" smtClean="0">
                                <a:latin typeface="Cambria Math"/>
                              </a:rPr>
                              <m:t>1</m:t>
                            </m:r>
                          </m:sub>
                        </m:sSub>
                      </m:e>
                    </m:d>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m:t>
                        </m:r>
                        <m:r>
                          <a:rPr lang="en-US" i="1" dirty="0">
                            <a:latin typeface="Cambria Math"/>
                          </a:rPr>
                          <m:t>𝑥</m:t>
                        </m:r>
                      </m:e>
                      <m:sub>
                        <m:r>
                          <a:rPr lang="en-US" i="1" dirty="0">
                            <a:latin typeface="Cambria Math"/>
                          </a:rPr>
                          <m:t>𝑛</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𝑚</m:t>
                        </m:r>
                      </m:e>
                      <m:sub>
                        <m:r>
                          <a:rPr lang="en-US" b="0" i="1" dirty="0" smtClean="0">
                            <a:latin typeface="Cambria Math"/>
                          </a:rPr>
                          <m:t>𝑛</m:t>
                        </m:r>
                      </m:sub>
                    </m:sSub>
                    <m:r>
                      <a:rPr lang="en-US" b="0" i="1" dirty="0" smtClean="0">
                        <a:latin typeface="Cambria Math"/>
                      </a:rPr>
                      <m:t>)</m:t>
                    </m:r>
                    <m:r>
                      <a:rPr lang="en-US" i="1" dirty="0">
                        <a:latin typeface="Cambria Math"/>
                      </a:rPr>
                      <m:t>=</m:t>
                    </m:r>
                    <m:r>
                      <a:rPr lang="en-US" i="1" dirty="0">
                        <a:latin typeface="Cambria Math"/>
                      </a:rPr>
                      <m:t>𝑘</m:t>
                    </m:r>
                    <m:r>
                      <a:rPr lang="en-US" i="1" dirty="0" smtClean="0">
                        <a:latin typeface="Cambria Math"/>
                      </a:rPr>
                      <m:t>−</m:t>
                    </m:r>
                  </m:oMath>
                </a14:m>
                <a:r>
                  <a:rPr lang="en-US" dirty="0"/>
                  <a:t>(</a:t>
                </a:r>
                <a14:m>
                  <m:oMath xmlns:m="http://schemas.openxmlformats.org/officeDocument/2006/math">
                    <m:sSub>
                      <m:sSubPr>
                        <m:ctrlPr>
                          <a:rPr lang="en-US" i="1" dirty="0">
                            <a:latin typeface="Cambria Math" panose="02040503050406030204" pitchFamily="18" charset="0"/>
                            <a:ea typeface="Cambria Math"/>
                          </a:rPr>
                        </m:ctrlPr>
                      </m:sSubPr>
                      <m:e>
                        <m:r>
                          <a:rPr lang="en-US" i="1" dirty="0">
                            <a:latin typeface="Cambria Math"/>
                            <a:ea typeface="Cambria Math"/>
                          </a:rPr>
                          <m:t>𝑚</m:t>
                        </m:r>
                      </m:e>
                      <m:sub>
                        <m:r>
                          <a:rPr lang="en-US" i="1" dirty="0">
                            <a:latin typeface="Cambria Math"/>
                            <a:ea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𝑚</m:t>
                        </m:r>
                      </m:e>
                      <m:sub>
                        <m:r>
                          <a:rPr lang="en-US" i="1" dirty="0">
                            <a:latin typeface="Cambria Math"/>
                          </a:rPr>
                          <m:t>𝑛</m:t>
                        </m:r>
                      </m:sub>
                    </m:sSub>
                  </m:oMath>
                </a14:m>
                <a:r>
                  <a:rPr lang="en-US" dirty="0"/>
                  <a:t>)</a:t>
                </a:r>
              </a:p>
              <a:p>
                <a:pPr marL="0" indent="0">
                  <a:buNone/>
                </a:pPr>
                <a:r>
                  <a:rPr lang="en-US" dirty="0"/>
                  <a:t>Let </a:t>
                </a:r>
                <a14:m>
                  <m:oMath xmlns:m="http://schemas.openxmlformats.org/officeDocument/2006/math">
                    <m:r>
                      <a:rPr lang="en-US" i="1" dirty="0" smtClean="0">
                        <a:latin typeface="Cambria Math"/>
                      </a:rPr>
                      <m:t>𝑚</m:t>
                    </m:r>
                    <m:r>
                      <a:rPr lang="en-US" i="1" dirty="0" smtClean="0">
                        <a:latin typeface="Cambria Math"/>
                      </a:rPr>
                      <m:t>=</m:t>
                    </m:r>
                    <m:r>
                      <a:rPr lang="en-US" b="0" i="1" dirty="0" smtClean="0">
                        <a:latin typeface="Cambria Math"/>
                      </a:rPr>
                      <m:t>𝑘</m:t>
                    </m:r>
                    <m:r>
                      <a:rPr lang="en-US" b="0" i="1" dirty="0" smtClean="0">
                        <a:latin typeface="Cambria Math"/>
                      </a:rPr>
                      <m:t>−</m:t>
                    </m:r>
                  </m:oMath>
                </a14:m>
                <a:r>
                  <a:rPr lang="en-US" dirty="0"/>
                  <a:t>(</a:t>
                </a:r>
                <a14:m>
                  <m:oMath xmlns:m="http://schemas.openxmlformats.org/officeDocument/2006/math">
                    <m:sSub>
                      <m:sSubPr>
                        <m:ctrlPr>
                          <a:rPr lang="en-US" i="1" dirty="0">
                            <a:latin typeface="Cambria Math" panose="02040503050406030204" pitchFamily="18" charset="0"/>
                            <a:ea typeface="Cambria Math"/>
                          </a:rPr>
                        </m:ctrlPr>
                      </m:sSubPr>
                      <m:e>
                        <m:r>
                          <a:rPr lang="en-US" i="1" dirty="0">
                            <a:latin typeface="Cambria Math"/>
                            <a:ea typeface="Cambria Math"/>
                          </a:rPr>
                          <m:t>𝑚</m:t>
                        </m:r>
                      </m:e>
                      <m:sub>
                        <m:r>
                          <a:rPr lang="en-US" i="1" dirty="0">
                            <a:latin typeface="Cambria Math"/>
                            <a:ea typeface="Cambria Math"/>
                          </a:rPr>
                          <m:t>1</m:t>
                        </m:r>
                      </m:sub>
                    </m:sSub>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𝑚</m:t>
                        </m:r>
                      </m:e>
                      <m:sub>
                        <m:r>
                          <a:rPr lang="en-US" b="0" i="1" dirty="0" smtClean="0">
                            <a:latin typeface="Cambria Math"/>
                          </a:rPr>
                          <m:t>𝑛</m:t>
                        </m:r>
                      </m:sub>
                    </m:sSub>
                  </m:oMath>
                </a14:m>
                <a:r>
                  <a:rPr lang="en-US" dirty="0"/>
                  <a:t>)</a:t>
                </a:r>
              </a:p>
              <a:p>
                <a:pPr marL="0" indent="0">
                  <a:buNone/>
                </a:pPr>
                <a:r>
                  <a:rPr lang="en-US" dirty="0"/>
                  <a:t>Problem becomes finding non-negative integer roots of the equation: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a:rPr>
                          <m:t>𝑦</m:t>
                        </m:r>
                      </m:e>
                      <m:sub>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𝑦</m:t>
                        </m:r>
                      </m:e>
                      <m:sub>
                        <m:r>
                          <a:rPr lang="en-US" i="1" dirty="0">
                            <a:latin typeface="Cambria Math"/>
                          </a:rPr>
                          <m:t>2</m:t>
                        </m:r>
                      </m:sub>
                    </m:sSub>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𝑦</m:t>
                        </m:r>
                      </m:e>
                      <m:sub>
                        <m:r>
                          <a:rPr lang="en-US" i="1" dirty="0">
                            <a:latin typeface="Cambria Math"/>
                          </a:rPr>
                          <m:t>𝑛</m:t>
                        </m:r>
                      </m:sub>
                    </m:sSub>
                    <m:r>
                      <a:rPr lang="en-US" b="0" i="1" dirty="0" smtClean="0">
                        <a:latin typeface="Cambria Math"/>
                      </a:rPr>
                      <m:t>=</m:t>
                    </m:r>
                    <m:r>
                      <a:rPr lang="en-US" b="0" i="1" dirty="0" smtClean="0">
                        <a:latin typeface="Cambria Math"/>
                      </a:rPr>
                      <m:t>𝑚</m:t>
                    </m:r>
                  </m:oMath>
                </a14:m>
                <a:endParaRPr lang="en-US" b="0" dirty="0"/>
              </a:p>
              <a:p>
                <a:pPr marL="0" indent="0">
                  <a:buNone/>
                </a:pPr>
                <a:r>
                  <a:rPr lang="en-US" dirty="0"/>
                  <a:t>According to Example 6: </a:t>
                </a:r>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𝐶</m:t>
                        </m:r>
                      </m:e>
                      <m:sub>
                        <m:r>
                          <a:rPr lang="en-US" i="1">
                            <a:solidFill>
                              <a:srgbClr val="FF0000"/>
                            </a:solidFill>
                            <a:latin typeface="Cambria Math"/>
                          </a:rPr>
                          <m:t>𝑛</m:t>
                        </m:r>
                        <m:r>
                          <a:rPr lang="en-US" i="1">
                            <a:solidFill>
                              <a:srgbClr val="FF0000"/>
                            </a:solidFill>
                            <a:latin typeface="Cambria Math"/>
                          </a:rPr>
                          <m:t>−1+</m:t>
                        </m:r>
                        <m:r>
                          <a:rPr lang="en-US" b="0" i="1" smtClean="0">
                            <a:solidFill>
                              <a:srgbClr val="FF0000"/>
                            </a:solidFill>
                            <a:latin typeface="Cambria Math"/>
                          </a:rPr>
                          <m:t>𝑚</m:t>
                        </m:r>
                      </m:sub>
                      <m:sup>
                        <m:r>
                          <a:rPr lang="en-US" b="0" i="1" smtClean="0">
                            <a:solidFill>
                              <a:srgbClr val="FF0000"/>
                            </a:solidFill>
                            <a:latin typeface="Cambria Math"/>
                          </a:rPr>
                          <m:t>𝑚</m:t>
                        </m:r>
                      </m:sup>
                    </m:sSubSup>
                  </m:oMath>
                </a14:m>
                <a:endParaRPr lang="en-US" dirty="0"/>
              </a:p>
              <a:p>
                <a:pPr marL="0" indent="0">
                  <a:buNone/>
                </a:pP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r="-815"/>
                </a:stretch>
              </a:blipFill>
            </p:spPr>
            <p:txBody>
              <a:bodyPr/>
              <a:lstStyle/>
              <a:p>
                <a:r>
                  <a:rPr lang="en-US">
                    <a:noFill/>
                  </a:rPr>
                  <a:t> </a:t>
                </a:r>
              </a:p>
            </p:txBody>
          </p:sp>
        </mc:Fallback>
      </mc:AlternateContent>
    </p:spTree>
    <p:extLst>
      <p:ext uri="{BB962C8B-B14F-4D97-AF65-F5344CB8AC3E}">
        <p14:creationId xmlns:p14="http://schemas.microsoft.com/office/powerpoint/2010/main" val="2625849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4103" name="Rectangle 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mc:AlternateContent xmlns:mc="http://schemas.openxmlformats.org/markup-compatibility/2006" xmlns:a14="http://schemas.microsoft.com/office/drawing/2010/main">
        <mc:Choice Requires="a14">
          <p:sp>
            <p:nvSpPr>
              <p:cNvPr id="4104" name="Rectangle 6"/>
              <p:cNvSpPr>
                <a:spLocks noChangeArrowheads="1"/>
              </p:cNvSpPr>
              <p:nvPr/>
            </p:nvSpPr>
            <p:spPr bwMode="auto">
              <a:xfrm>
                <a:off x="228600" y="1604664"/>
                <a:ext cx="8686800" cy="16927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p>
                <a:r>
                  <a:rPr lang="en-US" sz="2800" b="1" dirty="0"/>
                  <a:t>Problem</a:t>
                </a:r>
                <a:r>
                  <a:rPr lang="en-US" sz="2800" dirty="0"/>
                  <a:t>: How many non-negative integer roots that satisfy condition</a:t>
                </a:r>
                <a14:m>
                  <m:oMath xmlns:m="http://schemas.openxmlformats.org/officeDocument/2006/math">
                    <m:r>
                      <a:rPr lang="en-US" sz="2800" b="0" i="0" dirty="0" smtClean="0">
                        <a:latin typeface="Cambria Math" panose="02040503050406030204" pitchFamily="18" charset="0"/>
                      </a:rPr>
                      <m:t> </m:t>
                    </m:r>
                    <m:r>
                      <a:rPr lang="en-US" sz="2800" i="1" dirty="0">
                        <a:latin typeface="Cambria Math"/>
                      </a:rPr>
                      <m:t>1</m:t>
                    </m:r>
                    <m:r>
                      <a:rPr lang="en-US" sz="2800" i="1" dirty="0">
                        <a:latin typeface="Cambria Math"/>
                        <a:sym typeface="Symbol" pitchFamily="18" charset="2"/>
                      </a:rPr>
                      <m:t></m:t>
                    </m:r>
                    <m:sSub>
                      <m:sSubPr>
                        <m:ctrlPr>
                          <a:rPr lang="en-US" sz="2800" i="1" dirty="0">
                            <a:latin typeface="Cambria Math" panose="02040503050406030204" pitchFamily="18" charset="0"/>
                            <a:sym typeface="Symbol" pitchFamily="18" charset="2"/>
                          </a:rPr>
                        </m:ctrlPr>
                      </m:sSubPr>
                      <m:e>
                        <m:r>
                          <a:rPr lang="en-US" sz="2800" i="1" dirty="0">
                            <a:latin typeface="Cambria Math"/>
                            <a:sym typeface="Symbol" pitchFamily="18" charset="2"/>
                          </a:rPr>
                          <m:t>𝑥</m:t>
                        </m:r>
                      </m:e>
                      <m:sub>
                        <m:r>
                          <a:rPr lang="en-US" sz="2800" i="1" dirty="0">
                            <a:latin typeface="Cambria Math"/>
                            <a:sym typeface="Symbol" pitchFamily="18" charset="2"/>
                          </a:rPr>
                          <m:t>1</m:t>
                        </m:r>
                      </m:sub>
                    </m:sSub>
                    <m:r>
                      <a:rPr lang="en-US" sz="2800" i="1" dirty="0">
                        <a:latin typeface="Cambria Math"/>
                        <a:sym typeface="Symbol" pitchFamily="18" charset="2"/>
                      </a:rPr>
                      <m:t> 5, 3 </m:t>
                    </m:r>
                    <m:sSub>
                      <m:sSubPr>
                        <m:ctrlPr>
                          <a:rPr lang="en-US" sz="2800" i="1" dirty="0">
                            <a:latin typeface="Cambria Math" panose="02040503050406030204" pitchFamily="18" charset="0"/>
                            <a:sym typeface="Symbol" pitchFamily="18" charset="2"/>
                          </a:rPr>
                        </m:ctrlPr>
                      </m:sSubPr>
                      <m:e>
                        <m:r>
                          <a:rPr lang="en-US" sz="2800" i="1" dirty="0">
                            <a:latin typeface="Cambria Math"/>
                            <a:sym typeface="Symbol" pitchFamily="18" charset="2"/>
                          </a:rPr>
                          <m:t>𝑥</m:t>
                        </m:r>
                      </m:e>
                      <m:sub>
                        <m:r>
                          <a:rPr lang="en-US" sz="2800" i="1" dirty="0">
                            <a:latin typeface="Cambria Math"/>
                            <a:sym typeface="Symbol" pitchFamily="18" charset="2"/>
                          </a:rPr>
                          <m:t>2</m:t>
                        </m:r>
                      </m:sub>
                    </m:sSub>
                    <m:r>
                      <a:rPr lang="en-US" sz="2800" i="1" dirty="0">
                        <a:latin typeface="Cambria Math"/>
                        <a:sym typeface="Symbol" pitchFamily="18" charset="2"/>
                      </a:rPr>
                      <m:t> 7</m:t>
                    </m:r>
                  </m:oMath>
                </a14:m>
                <a:r>
                  <a:rPr lang="en-US" sz="2800" dirty="0"/>
                  <a:t> does the equation</a:t>
                </a:r>
                <a14:m>
                  <m:oMath xmlns:m="http://schemas.openxmlformats.org/officeDocument/2006/math">
                    <m:sSub>
                      <m:sSubPr>
                        <m:ctrlPr>
                          <a:rPr lang="en-US" sz="2800" i="1" dirty="0">
                            <a:latin typeface="Cambria Math" panose="02040503050406030204" pitchFamily="18" charset="0"/>
                          </a:rPr>
                        </m:ctrlPr>
                      </m:sSubPr>
                      <m:e>
                        <m:r>
                          <a:rPr lang="en-US" sz="2800" b="0" i="1" dirty="0" smtClean="0">
                            <a:latin typeface="Cambria Math" panose="02040503050406030204" pitchFamily="18" charset="0"/>
                          </a:rPr>
                          <m:t> </m:t>
                        </m:r>
                        <m:r>
                          <a:rPr lang="en-US" sz="2800" i="1" dirty="0">
                            <a:latin typeface="Cambria Math"/>
                          </a:rPr>
                          <m:t>𝑥</m:t>
                        </m:r>
                      </m:e>
                      <m:sub>
                        <m:r>
                          <a:rPr lang="en-US" sz="2800" i="1" dirty="0">
                            <a:latin typeface="Cambria Math"/>
                          </a:rPr>
                          <m:t>1</m:t>
                        </m:r>
                      </m:sub>
                    </m:sSub>
                    <m:r>
                      <a:rPr lang="en-US" sz="2800" i="1" dirty="0">
                        <a:latin typeface="Cambria Math"/>
                      </a:rPr>
                      <m:t>+</m:t>
                    </m:r>
                    <m:sSub>
                      <m:sSubPr>
                        <m:ctrlPr>
                          <a:rPr lang="en-US" sz="2800" i="1" dirty="0">
                            <a:latin typeface="Cambria Math" panose="02040503050406030204" pitchFamily="18" charset="0"/>
                          </a:rPr>
                        </m:ctrlPr>
                      </m:sSubPr>
                      <m:e>
                        <m:r>
                          <a:rPr lang="en-US" sz="2800" i="1" dirty="0">
                            <a:latin typeface="Cambria Math"/>
                          </a:rPr>
                          <m:t>𝑥</m:t>
                        </m:r>
                      </m:e>
                      <m:sub>
                        <m:r>
                          <a:rPr lang="en-US" sz="2800" i="1" dirty="0">
                            <a:latin typeface="Cambria Math"/>
                          </a:rPr>
                          <m:t>2</m:t>
                        </m:r>
                      </m:sub>
                    </m:sSub>
                    <m:r>
                      <a:rPr lang="en-US" sz="2800" i="1" dirty="0">
                        <a:latin typeface="Cambria Math"/>
                      </a:rPr>
                      <m:t>+</m:t>
                    </m:r>
                    <m:sSub>
                      <m:sSubPr>
                        <m:ctrlPr>
                          <a:rPr lang="en-US" sz="2800" i="1" dirty="0">
                            <a:latin typeface="Cambria Math" panose="02040503050406030204" pitchFamily="18" charset="0"/>
                          </a:rPr>
                        </m:ctrlPr>
                      </m:sSubPr>
                      <m:e>
                        <m:r>
                          <a:rPr lang="en-US" sz="2800" i="1" dirty="0">
                            <a:latin typeface="Cambria Math"/>
                          </a:rPr>
                          <m:t>𝑥</m:t>
                        </m:r>
                      </m:e>
                      <m:sub>
                        <m:r>
                          <a:rPr lang="en-US" sz="2800" i="1" dirty="0">
                            <a:latin typeface="Cambria Math"/>
                          </a:rPr>
                          <m:t>3</m:t>
                        </m:r>
                      </m:sub>
                    </m:sSub>
                    <m:r>
                      <a:rPr lang="en-US" sz="2800" i="1" dirty="0">
                        <a:latin typeface="Cambria Math"/>
                      </a:rPr>
                      <m:t>+</m:t>
                    </m:r>
                    <m:sSub>
                      <m:sSubPr>
                        <m:ctrlPr>
                          <a:rPr lang="en-US" sz="2800" i="1" dirty="0">
                            <a:latin typeface="Cambria Math" panose="02040503050406030204" pitchFamily="18" charset="0"/>
                          </a:rPr>
                        </m:ctrlPr>
                      </m:sSubPr>
                      <m:e>
                        <m:r>
                          <a:rPr lang="en-US" sz="2800" i="1" dirty="0">
                            <a:latin typeface="Cambria Math"/>
                          </a:rPr>
                          <m:t>𝑥</m:t>
                        </m:r>
                      </m:e>
                      <m:sub>
                        <m:r>
                          <a:rPr lang="en-US" sz="2800" i="1" dirty="0">
                            <a:latin typeface="Cambria Math"/>
                          </a:rPr>
                          <m:t>4</m:t>
                        </m:r>
                      </m:sub>
                    </m:sSub>
                    <m:r>
                      <a:rPr lang="en-US" sz="2800" i="1" dirty="0">
                        <a:latin typeface="Cambria Math"/>
                      </a:rPr>
                      <m:t>+</m:t>
                    </m:r>
                    <m:sSub>
                      <m:sSubPr>
                        <m:ctrlPr>
                          <a:rPr lang="en-US" sz="2800" i="1" dirty="0">
                            <a:latin typeface="Cambria Math" panose="02040503050406030204" pitchFamily="18" charset="0"/>
                          </a:rPr>
                        </m:ctrlPr>
                      </m:sSubPr>
                      <m:e>
                        <m:r>
                          <a:rPr lang="en-US" sz="2800" i="1" dirty="0">
                            <a:latin typeface="Cambria Math"/>
                          </a:rPr>
                          <m:t>𝑥</m:t>
                        </m:r>
                      </m:e>
                      <m:sub>
                        <m:r>
                          <a:rPr lang="en-US" sz="2800" i="1" dirty="0">
                            <a:latin typeface="Cambria Math"/>
                          </a:rPr>
                          <m:t>5</m:t>
                        </m:r>
                      </m:sub>
                    </m:sSub>
                    <m:r>
                      <a:rPr lang="en-US" sz="2800" i="1" dirty="0">
                        <a:latin typeface="Cambria Math"/>
                      </a:rPr>
                      <m:t>+</m:t>
                    </m:r>
                    <m:sSub>
                      <m:sSubPr>
                        <m:ctrlPr>
                          <a:rPr lang="en-US" sz="2800" i="1" dirty="0">
                            <a:latin typeface="Cambria Math" panose="02040503050406030204" pitchFamily="18" charset="0"/>
                          </a:rPr>
                        </m:ctrlPr>
                      </m:sSubPr>
                      <m:e>
                        <m:r>
                          <a:rPr lang="en-US" sz="2800" i="1" dirty="0">
                            <a:latin typeface="Cambria Math"/>
                          </a:rPr>
                          <m:t>𝑥</m:t>
                        </m:r>
                      </m:e>
                      <m:sub>
                        <m:r>
                          <a:rPr lang="en-US" sz="2800" i="1" dirty="0">
                            <a:latin typeface="Cambria Math"/>
                          </a:rPr>
                          <m:t>6</m:t>
                        </m:r>
                      </m:sub>
                    </m:sSub>
                    <m:r>
                      <a:rPr lang="en-US" sz="2800" i="1" dirty="0">
                        <a:latin typeface="Cambria Math"/>
                      </a:rPr>
                      <m:t>=24</m:t>
                    </m:r>
                  </m:oMath>
                </a14:m>
                <a:r>
                  <a:rPr lang="en-US" sz="2800" dirty="0"/>
                  <a:t> have?</a:t>
                </a:r>
              </a:p>
              <a:p>
                <a:endParaRPr lang="en-US" sz="2000" b="1" dirty="0"/>
              </a:p>
            </p:txBody>
          </p:sp>
        </mc:Choice>
        <mc:Fallback xmlns="">
          <p:sp>
            <p:nvSpPr>
              <p:cNvPr id="4104" name="Rectangle 6"/>
              <p:cNvSpPr>
                <a:spLocks noRot="1" noChangeAspect="1" noMove="1" noResize="1" noEditPoints="1" noAdjustHandles="1" noChangeArrowheads="1" noChangeShapeType="1" noTextEdit="1"/>
              </p:cNvSpPr>
              <p:nvPr/>
            </p:nvSpPr>
            <p:spPr bwMode="auto">
              <a:xfrm>
                <a:off x="228600" y="1604664"/>
                <a:ext cx="8686800" cy="1692771"/>
              </a:xfrm>
              <a:prstGeom prst="rect">
                <a:avLst/>
              </a:prstGeom>
              <a:blipFill>
                <a:blip r:embed="rId2"/>
                <a:stretch>
                  <a:fillRect l="-1474" t="-323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105" name="Rectangle 10"/>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4110"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4111" name="Rectangle 21"/>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18" name="Title 1"/>
          <p:cNvSpPr>
            <a:spLocks noGrp="1"/>
          </p:cNvSpPr>
          <p:nvPr>
            <p:ph type="title"/>
          </p:nvPr>
        </p:nvSpPr>
        <p:spPr>
          <a:xfrm>
            <a:off x="457200" y="152400"/>
            <a:ext cx="8229600" cy="990600"/>
          </a:xfrm>
        </p:spPr>
        <p:txBody>
          <a:bodyPr/>
          <a:lstStyle/>
          <a:p>
            <a:r>
              <a:rPr lang="en-US" dirty="0"/>
              <a:t>Example 9</a:t>
            </a:r>
          </a:p>
        </p:txBody>
      </p:sp>
    </p:spTree>
    <p:extLst>
      <p:ext uri="{BB962C8B-B14F-4D97-AF65-F5344CB8AC3E}">
        <p14:creationId xmlns:p14="http://schemas.microsoft.com/office/powerpoint/2010/main" val="31516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2"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4103" name="Rectangle 4"/>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mc:AlternateContent xmlns:mc="http://schemas.openxmlformats.org/markup-compatibility/2006" xmlns:a14="http://schemas.microsoft.com/office/drawing/2010/main">
        <mc:Choice Requires="a14">
          <p:sp>
            <p:nvSpPr>
              <p:cNvPr id="4104" name="Rectangle 6"/>
              <p:cNvSpPr>
                <a:spLocks noChangeArrowheads="1"/>
              </p:cNvSpPr>
              <p:nvPr/>
            </p:nvSpPr>
            <p:spPr bwMode="auto">
              <a:xfrm>
                <a:off x="82061" y="1110496"/>
                <a:ext cx="8833339" cy="19389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nchor="ctr">
                <a:spAutoFit/>
              </a:bodyPr>
              <a:lstStyle/>
              <a:p>
                <a:r>
                  <a:rPr lang="en-US" sz="2000" b="1" dirty="0"/>
                  <a:t>Problem</a:t>
                </a:r>
                <a:r>
                  <a:rPr lang="en-US" sz="2000" dirty="0"/>
                  <a:t>: How many non-negative integer roots that satisfy condition</a:t>
                </a:r>
                <a14:m>
                  <m:oMath xmlns:m="http://schemas.openxmlformats.org/officeDocument/2006/math">
                    <m:r>
                      <a:rPr lang="en-US" sz="2000" b="0" i="0" dirty="0" smtClean="0">
                        <a:latin typeface="Cambria Math" panose="02040503050406030204" pitchFamily="18" charset="0"/>
                      </a:rPr>
                      <m:t> </m:t>
                    </m:r>
                    <m:r>
                      <a:rPr lang="en-US" sz="2000" dirty="0">
                        <a:latin typeface="Cambria Math" panose="02040503050406030204" pitchFamily="18" charset="0"/>
                      </a:rPr>
                      <m:t> </m:t>
                    </m:r>
                    <m:r>
                      <a:rPr lang="en-US" sz="2000" i="1" dirty="0">
                        <a:latin typeface="Cambria Math"/>
                      </a:rPr>
                      <m:t>1</m:t>
                    </m:r>
                    <m:r>
                      <a:rPr lang="en-US" sz="2000" i="1" dirty="0">
                        <a:latin typeface="Cambria Math"/>
                        <a:sym typeface="Symbol" pitchFamily="18" charset="2"/>
                      </a:rPr>
                      <m:t></m:t>
                    </m:r>
                    <m:sSub>
                      <m:sSubPr>
                        <m:ctrlPr>
                          <a:rPr lang="en-US" sz="2000" i="1" dirty="0">
                            <a:latin typeface="Cambria Math" panose="02040503050406030204" pitchFamily="18" charset="0"/>
                            <a:sym typeface="Symbol" pitchFamily="18" charset="2"/>
                          </a:rPr>
                        </m:ctrlPr>
                      </m:sSubPr>
                      <m:e>
                        <m:r>
                          <a:rPr lang="en-US" sz="2000" i="1" dirty="0">
                            <a:latin typeface="Cambria Math"/>
                            <a:sym typeface="Symbol" pitchFamily="18" charset="2"/>
                          </a:rPr>
                          <m:t>𝑥</m:t>
                        </m:r>
                      </m:e>
                      <m:sub>
                        <m:r>
                          <a:rPr lang="en-US" sz="2000" i="1" dirty="0">
                            <a:latin typeface="Cambria Math"/>
                            <a:sym typeface="Symbol" pitchFamily="18" charset="2"/>
                          </a:rPr>
                          <m:t>1</m:t>
                        </m:r>
                      </m:sub>
                    </m:sSub>
                    <m:r>
                      <a:rPr lang="en-US" sz="2000" i="1" dirty="0">
                        <a:latin typeface="Cambria Math"/>
                        <a:sym typeface="Symbol" pitchFamily="18" charset="2"/>
                      </a:rPr>
                      <m:t> 5, 3 </m:t>
                    </m:r>
                    <m:sSub>
                      <m:sSubPr>
                        <m:ctrlPr>
                          <a:rPr lang="en-US" sz="2000" i="1" dirty="0">
                            <a:latin typeface="Cambria Math" panose="02040503050406030204" pitchFamily="18" charset="0"/>
                            <a:sym typeface="Symbol" pitchFamily="18" charset="2"/>
                          </a:rPr>
                        </m:ctrlPr>
                      </m:sSubPr>
                      <m:e>
                        <m:r>
                          <a:rPr lang="en-US" sz="2000" i="1" dirty="0">
                            <a:latin typeface="Cambria Math"/>
                            <a:sym typeface="Symbol" pitchFamily="18" charset="2"/>
                          </a:rPr>
                          <m:t>𝑥</m:t>
                        </m:r>
                      </m:e>
                      <m:sub>
                        <m:r>
                          <a:rPr lang="en-US" sz="2000" i="1" dirty="0">
                            <a:latin typeface="Cambria Math"/>
                            <a:sym typeface="Symbol" pitchFamily="18" charset="2"/>
                          </a:rPr>
                          <m:t>2</m:t>
                        </m:r>
                      </m:sub>
                    </m:sSub>
                    <m:r>
                      <a:rPr lang="en-US" sz="2000" i="1" dirty="0">
                        <a:latin typeface="Cambria Math"/>
                        <a:sym typeface="Symbol" pitchFamily="18" charset="2"/>
                      </a:rPr>
                      <m:t> 7</m:t>
                    </m:r>
                  </m:oMath>
                </a14:m>
                <a:r>
                  <a:rPr lang="en-US" sz="2000" dirty="0"/>
                  <a:t> does the equation</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 </m:t>
                        </m:r>
                        <m:r>
                          <a:rPr lang="en-US" sz="2000" i="1" dirty="0">
                            <a:latin typeface="Cambria Math"/>
                          </a:rPr>
                          <m:t>𝑥</m:t>
                        </m:r>
                      </m:e>
                      <m:sub>
                        <m:r>
                          <a:rPr lang="en-US" sz="2000" i="1" dirty="0">
                            <a:latin typeface="Cambria Math"/>
                          </a:rPr>
                          <m:t>1</m:t>
                        </m:r>
                      </m:sub>
                    </m:sSub>
                    <m:r>
                      <a:rPr lang="en-US" sz="2000" i="1" dirty="0">
                        <a:latin typeface="Cambria Math"/>
                      </a:rPr>
                      <m:t>+</m:t>
                    </m:r>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2</m:t>
                        </m:r>
                      </m:sub>
                    </m:sSub>
                    <m:r>
                      <a:rPr lang="en-US" sz="2000" i="1" dirty="0">
                        <a:latin typeface="Cambria Math"/>
                      </a:rPr>
                      <m:t>+</m:t>
                    </m:r>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3</m:t>
                        </m:r>
                      </m:sub>
                    </m:sSub>
                    <m:r>
                      <a:rPr lang="en-US" sz="2000" i="1" dirty="0">
                        <a:latin typeface="Cambria Math"/>
                      </a:rPr>
                      <m:t>+</m:t>
                    </m:r>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4</m:t>
                        </m:r>
                      </m:sub>
                    </m:sSub>
                    <m:r>
                      <a:rPr lang="en-US" sz="2000" i="1" dirty="0">
                        <a:latin typeface="Cambria Math"/>
                      </a:rPr>
                      <m:t>+</m:t>
                    </m:r>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5</m:t>
                        </m:r>
                      </m:sub>
                    </m:sSub>
                    <m:r>
                      <a:rPr lang="en-US" sz="2000" i="1" dirty="0">
                        <a:latin typeface="Cambria Math"/>
                      </a:rPr>
                      <m:t>+</m:t>
                    </m:r>
                    <m:sSub>
                      <m:sSubPr>
                        <m:ctrlPr>
                          <a:rPr lang="en-US" sz="2000" i="1" dirty="0">
                            <a:latin typeface="Cambria Math" panose="02040503050406030204" pitchFamily="18" charset="0"/>
                          </a:rPr>
                        </m:ctrlPr>
                      </m:sSubPr>
                      <m:e>
                        <m:r>
                          <a:rPr lang="en-US" sz="2000" i="1" dirty="0">
                            <a:latin typeface="Cambria Math"/>
                          </a:rPr>
                          <m:t>𝑥</m:t>
                        </m:r>
                      </m:e>
                      <m:sub>
                        <m:r>
                          <a:rPr lang="en-US" sz="2000" i="1" dirty="0">
                            <a:latin typeface="Cambria Math"/>
                          </a:rPr>
                          <m:t>6</m:t>
                        </m:r>
                      </m:sub>
                    </m:sSub>
                    <m:r>
                      <a:rPr lang="en-US" sz="2000" i="1" dirty="0">
                        <a:latin typeface="Cambria Math"/>
                      </a:rPr>
                      <m:t>=24</m:t>
                    </m:r>
                  </m:oMath>
                </a14:m>
                <a:r>
                  <a:rPr lang="en-US" sz="2000" dirty="0"/>
                  <a:t> have?</a:t>
                </a:r>
              </a:p>
              <a:p>
                <a:endParaRPr lang="en-US" sz="2000" b="1" dirty="0"/>
              </a:p>
              <a:p>
                <a:r>
                  <a:rPr lang="en-US" sz="2000" b="1" dirty="0"/>
                  <a:t>Solution</a:t>
                </a:r>
                <a:r>
                  <a:rPr lang="en-US" sz="2000" dirty="0"/>
                  <a:t>: Let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a:rPr>
                          <m:t>𝑁</m:t>
                        </m:r>
                      </m:e>
                      <m:sub>
                        <m:r>
                          <a:rPr lang="en-US" sz="2000" b="0" i="1" dirty="0" smtClean="0">
                            <a:latin typeface="Cambria Math"/>
                          </a:rPr>
                          <m:t>1</m:t>
                        </m:r>
                      </m:sub>
                    </m:sSub>
                    <m:r>
                      <a:rPr lang="en-US" sz="2000" i="1" dirty="0" smtClean="0">
                        <a:latin typeface="Cambria Math"/>
                      </a:rPr>
                      <m:t>,</m:t>
                    </m:r>
                    <m:sSub>
                      <m:sSubPr>
                        <m:ctrlPr>
                          <a:rPr lang="en-US" sz="2000" i="1" dirty="0">
                            <a:latin typeface="Cambria Math" panose="02040503050406030204" pitchFamily="18" charset="0"/>
                          </a:rPr>
                        </m:ctrlPr>
                      </m:sSubPr>
                      <m:e>
                        <m:r>
                          <a:rPr lang="en-US" sz="2000" i="1" dirty="0">
                            <a:latin typeface="Cambria Math"/>
                          </a:rPr>
                          <m:t>𝑁</m:t>
                        </m:r>
                      </m:e>
                      <m:sub>
                        <m:r>
                          <a:rPr lang="en-US" sz="2000" b="0" i="1" dirty="0" smtClean="0">
                            <a:latin typeface="Cambria Math"/>
                          </a:rPr>
                          <m:t>2</m:t>
                        </m:r>
                      </m:sub>
                    </m:sSub>
                    <m:r>
                      <a:rPr lang="en-US" sz="2000" i="1" dirty="0" smtClean="0">
                        <a:latin typeface="Cambria Math"/>
                      </a:rPr>
                      <m:t>,</m:t>
                    </m:r>
                    <m:sSub>
                      <m:sSubPr>
                        <m:ctrlPr>
                          <a:rPr lang="en-US" sz="2000" i="1" dirty="0">
                            <a:latin typeface="Cambria Math" panose="02040503050406030204" pitchFamily="18" charset="0"/>
                          </a:rPr>
                        </m:ctrlPr>
                      </m:sSubPr>
                      <m:e>
                        <m:r>
                          <a:rPr lang="en-US" sz="2000" i="1" dirty="0">
                            <a:latin typeface="Cambria Math"/>
                          </a:rPr>
                          <m:t>𝑁</m:t>
                        </m:r>
                      </m:e>
                      <m:sub>
                        <m:r>
                          <a:rPr lang="en-US" sz="2000" b="0" i="1" dirty="0" smtClean="0">
                            <a:latin typeface="Cambria Math"/>
                          </a:rPr>
                          <m:t>3</m:t>
                        </m:r>
                      </m:sub>
                    </m:sSub>
                    <m:r>
                      <a:rPr lang="en-US" sz="2000" i="1" dirty="0" smtClean="0">
                        <a:latin typeface="Cambria Math"/>
                      </a:rPr>
                      <m:t>,</m:t>
                    </m:r>
                    <m:sSub>
                      <m:sSubPr>
                        <m:ctrlPr>
                          <a:rPr lang="en-US" sz="2000" i="1" dirty="0">
                            <a:latin typeface="Cambria Math" panose="02040503050406030204" pitchFamily="18" charset="0"/>
                          </a:rPr>
                        </m:ctrlPr>
                      </m:sSubPr>
                      <m:e>
                        <m:r>
                          <a:rPr lang="en-US" sz="2000" i="1" dirty="0">
                            <a:latin typeface="Cambria Math"/>
                          </a:rPr>
                          <m:t>𝑁</m:t>
                        </m:r>
                      </m:e>
                      <m:sub>
                        <m:r>
                          <a:rPr lang="en-US" sz="2000" b="0" i="1" dirty="0" smtClean="0">
                            <a:latin typeface="Cambria Math"/>
                          </a:rPr>
                          <m:t>4</m:t>
                        </m:r>
                      </m:sub>
                    </m:sSub>
                    <m:r>
                      <a:rPr lang="en-US" sz="2000" b="0" i="1" dirty="0" smtClean="0">
                        <a:latin typeface="Cambria Math"/>
                      </a:rPr>
                      <m:t> </m:t>
                    </m:r>
                  </m:oMath>
                </a14:m>
                <a:r>
                  <a:rPr lang="en-US" sz="2000" dirty="0"/>
                  <a:t>is the number of non-negative integer roots of equations </a:t>
                </a:r>
                <a14:m>
                  <m:oMath xmlns:m="http://schemas.openxmlformats.org/officeDocument/2006/math">
                    <m:r>
                      <a:rPr lang="en-US" sz="2000" i="1" dirty="0" smtClean="0">
                        <a:latin typeface="Cambria Math"/>
                      </a:rPr>
                      <m:t>(1), (2), (3), (4).</m:t>
                    </m:r>
                  </m:oMath>
                </a14:m>
                <a:endParaRPr lang="en-US" sz="2000" dirty="0"/>
              </a:p>
            </p:txBody>
          </p:sp>
        </mc:Choice>
        <mc:Fallback xmlns="">
          <p:sp>
            <p:nvSpPr>
              <p:cNvPr id="4104" name="Rectangle 6"/>
              <p:cNvSpPr>
                <a:spLocks noRot="1" noChangeAspect="1" noMove="1" noResize="1" noEditPoints="1" noAdjustHandles="1" noChangeArrowheads="1" noChangeShapeType="1" noTextEdit="1"/>
              </p:cNvSpPr>
              <p:nvPr/>
            </p:nvSpPr>
            <p:spPr bwMode="auto">
              <a:xfrm>
                <a:off x="82061" y="1110496"/>
                <a:ext cx="8833339" cy="1938992"/>
              </a:xfrm>
              <a:prstGeom prst="rect">
                <a:avLst/>
              </a:prstGeom>
              <a:blipFill>
                <a:blip r:embed="rId3"/>
                <a:stretch>
                  <a:fillRect l="-690" t="-1258" b="-53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4105" name="Rectangle 10"/>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4110" name="Rectangle 19"/>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sp>
        <p:nvSpPr>
          <p:cNvPr id="4111" name="Rectangle 21"/>
          <p:cNvSpPr>
            <a:spLocks noChangeArrowheads="1"/>
          </p:cNvSpPr>
          <p:nvPr/>
        </p:nvSpPr>
        <p:spPr bwMode="auto">
          <a:xfrm>
            <a:off x="0" y="3176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endParaRPr lang="en-US"/>
          </a:p>
        </p:txBody>
      </p:sp>
      <p:grpSp>
        <p:nvGrpSpPr>
          <p:cNvPr id="2" name="Group 1"/>
          <p:cNvGrpSpPr/>
          <p:nvPr/>
        </p:nvGrpSpPr>
        <p:grpSpPr>
          <a:xfrm>
            <a:off x="1752600" y="3049488"/>
            <a:ext cx="5638800" cy="3373438"/>
            <a:chOff x="1752600" y="1219200"/>
            <a:chExt cx="5638800" cy="3373438"/>
          </a:xfrm>
        </p:grpSpPr>
        <p:graphicFrame>
          <p:nvGraphicFramePr>
            <p:cNvPr id="4098" name="Object 9"/>
            <p:cNvGraphicFramePr>
              <a:graphicFrameLocks noChangeAspect="1"/>
            </p:cNvGraphicFramePr>
            <p:nvPr>
              <p:extLst>
                <p:ext uri="{D42A27DB-BD31-4B8C-83A1-F6EECF244321}">
                  <p14:modId xmlns:p14="http://schemas.microsoft.com/office/powerpoint/2010/main" val="684285075"/>
                </p:ext>
              </p:extLst>
            </p:nvPr>
          </p:nvGraphicFramePr>
          <p:xfrm>
            <a:off x="1752600" y="1219200"/>
            <a:ext cx="3505200" cy="841375"/>
          </p:xfrm>
          <a:graphic>
            <a:graphicData uri="http://schemas.openxmlformats.org/presentationml/2006/ole">
              <mc:AlternateContent xmlns:mc="http://schemas.openxmlformats.org/markup-compatibility/2006">
                <mc:Choice xmlns:v="urn:schemas-microsoft-com:vml" Requires="v">
                  <p:oleObj spid="_x0000_s1110" name="Equation" r:id="rId4" imgW="2108200" imgH="508000" progId="Equation.3">
                    <p:embed/>
                  </p:oleObj>
                </mc:Choice>
                <mc:Fallback>
                  <p:oleObj name="Equation" r:id="rId4" imgW="2108200" imgH="5080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219200"/>
                          <a:ext cx="3505200"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06" name="Text Box 11"/>
            <p:cNvSpPr txBox="1">
              <a:spLocks noChangeArrowheads="1"/>
            </p:cNvSpPr>
            <p:nvPr/>
          </p:nvSpPr>
          <p:spPr bwMode="auto">
            <a:xfrm>
              <a:off x="6781800" y="137477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(1)</a:t>
              </a:r>
            </a:p>
          </p:txBody>
        </p:sp>
        <p:sp>
          <p:nvSpPr>
            <p:cNvPr id="4107" name="Text Box 13"/>
            <p:cNvSpPr txBox="1">
              <a:spLocks noChangeArrowheads="1"/>
            </p:cNvSpPr>
            <p:nvPr/>
          </p:nvSpPr>
          <p:spPr bwMode="auto">
            <a:xfrm>
              <a:off x="6781800" y="213677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(2)</a:t>
              </a:r>
            </a:p>
          </p:txBody>
        </p:sp>
        <p:sp>
          <p:nvSpPr>
            <p:cNvPr id="4108" name="Text Box 15"/>
            <p:cNvSpPr txBox="1">
              <a:spLocks noChangeArrowheads="1"/>
            </p:cNvSpPr>
            <p:nvPr/>
          </p:nvSpPr>
          <p:spPr bwMode="auto">
            <a:xfrm>
              <a:off x="6781800" y="297497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(3)</a:t>
              </a:r>
            </a:p>
          </p:txBody>
        </p:sp>
        <p:sp>
          <p:nvSpPr>
            <p:cNvPr id="4109" name="Text Box 17"/>
            <p:cNvSpPr txBox="1">
              <a:spLocks noChangeArrowheads="1"/>
            </p:cNvSpPr>
            <p:nvPr/>
          </p:nvSpPr>
          <p:spPr bwMode="auto">
            <a:xfrm>
              <a:off x="6705600" y="3813175"/>
              <a:ext cx="609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r>
                <a:rPr lang="en-US"/>
                <a:t>(4)</a:t>
              </a:r>
            </a:p>
          </p:txBody>
        </p:sp>
        <p:graphicFrame>
          <p:nvGraphicFramePr>
            <p:cNvPr id="4099" name="Object 20"/>
            <p:cNvGraphicFramePr>
              <a:graphicFrameLocks noChangeAspect="1"/>
            </p:cNvGraphicFramePr>
            <p:nvPr>
              <p:extLst>
                <p:ext uri="{D42A27DB-BD31-4B8C-83A1-F6EECF244321}">
                  <p14:modId xmlns:p14="http://schemas.microsoft.com/office/powerpoint/2010/main" val="3828036058"/>
                </p:ext>
              </p:extLst>
            </p:nvPr>
          </p:nvGraphicFramePr>
          <p:xfrm>
            <a:off x="1752600" y="2057400"/>
            <a:ext cx="3581400" cy="858838"/>
          </p:xfrm>
          <a:graphic>
            <a:graphicData uri="http://schemas.openxmlformats.org/presentationml/2006/ole">
              <mc:AlternateContent xmlns:mc="http://schemas.openxmlformats.org/markup-compatibility/2006">
                <mc:Choice xmlns:v="urn:schemas-microsoft-com:vml" Requires="v">
                  <p:oleObj spid="_x0000_s1111" name="Equation" r:id="rId6" imgW="2108200" imgH="508000" progId="Equation.3">
                    <p:embed/>
                  </p:oleObj>
                </mc:Choice>
                <mc:Fallback>
                  <p:oleObj name="Equation" r:id="rId6" imgW="2108200" imgH="50800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2600" y="2057400"/>
                          <a:ext cx="3581400" cy="85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22"/>
            <p:cNvGraphicFramePr>
              <a:graphicFrameLocks noChangeAspect="1"/>
            </p:cNvGraphicFramePr>
            <p:nvPr>
              <p:extLst>
                <p:ext uri="{D42A27DB-BD31-4B8C-83A1-F6EECF244321}">
                  <p14:modId xmlns:p14="http://schemas.microsoft.com/office/powerpoint/2010/main" val="886132272"/>
                </p:ext>
              </p:extLst>
            </p:nvPr>
          </p:nvGraphicFramePr>
          <p:xfrm>
            <a:off x="1752600" y="2895600"/>
            <a:ext cx="3581400" cy="858838"/>
          </p:xfrm>
          <a:graphic>
            <a:graphicData uri="http://schemas.openxmlformats.org/presentationml/2006/ole">
              <mc:AlternateContent xmlns:mc="http://schemas.openxmlformats.org/markup-compatibility/2006">
                <mc:Choice xmlns:v="urn:schemas-microsoft-com:vml" Requires="v">
                  <p:oleObj spid="_x0000_s1112" name="Equation" r:id="rId8" imgW="2108200" imgH="508000" progId="Equation.3">
                    <p:embed/>
                  </p:oleObj>
                </mc:Choice>
                <mc:Fallback>
                  <p:oleObj name="Equation" r:id="rId8" imgW="2108200" imgH="508000"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52600" y="2895600"/>
                          <a:ext cx="3581400" cy="85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24"/>
            <p:cNvGraphicFramePr>
              <a:graphicFrameLocks noChangeAspect="1"/>
            </p:cNvGraphicFramePr>
            <p:nvPr>
              <p:extLst>
                <p:ext uri="{D42A27DB-BD31-4B8C-83A1-F6EECF244321}">
                  <p14:modId xmlns:p14="http://schemas.microsoft.com/office/powerpoint/2010/main" val="2619766715"/>
                </p:ext>
              </p:extLst>
            </p:nvPr>
          </p:nvGraphicFramePr>
          <p:xfrm>
            <a:off x="1752600" y="3733800"/>
            <a:ext cx="3581400" cy="858838"/>
          </p:xfrm>
          <a:graphic>
            <a:graphicData uri="http://schemas.openxmlformats.org/presentationml/2006/ole">
              <mc:AlternateContent xmlns:mc="http://schemas.openxmlformats.org/markup-compatibility/2006">
                <mc:Choice xmlns:v="urn:schemas-microsoft-com:vml" Requires="v">
                  <p:oleObj spid="_x0000_s1113" name="Equation" r:id="rId10" imgW="2108200" imgH="508000" progId="Equation.3">
                    <p:embed/>
                  </p:oleObj>
                </mc:Choice>
                <mc:Fallback>
                  <p:oleObj name="Equation" r:id="rId10" imgW="2108200" imgH="5080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2600" y="3733800"/>
                          <a:ext cx="3581400" cy="85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8" name="Title 1"/>
          <p:cNvSpPr>
            <a:spLocks noGrp="1"/>
          </p:cNvSpPr>
          <p:nvPr>
            <p:ph type="title"/>
          </p:nvPr>
        </p:nvSpPr>
        <p:spPr>
          <a:xfrm>
            <a:off x="457200" y="152400"/>
            <a:ext cx="8229600" cy="990600"/>
          </a:xfrm>
        </p:spPr>
        <p:txBody>
          <a:bodyPr/>
          <a:lstStyle/>
          <a:p>
            <a:r>
              <a:rPr lang="en-US" dirty="0"/>
              <a:t>Example 9</a:t>
            </a:r>
          </a:p>
        </p:txBody>
      </p:sp>
    </p:spTree>
    <p:extLst>
      <p:ext uri="{BB962C8B-B14F-4D97-AF65-F5344CB8AC3E}">
        <p14:creationId xmlns:p14="http://schemas.microsoft.com/office/powerpoint/2010/main" val="7824537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9</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27</a:t>
            </a:fld>
            <a:endParaRPr lang="en-US"/>
          </a:p>
        </p:txBody>
      </p:sp>
      <mc:AlternateContent xmlns:mc="http://schemas.openxmlformats.org/markup-compatibility/2006" xmlns:a14="http://schemas.microsoft.com/office/drawing/2010/main">
        <mc:Choice Requires="a14">
          <p:sp>
            <p:nvSpPr>
              <p:cNvPr id="6" name="Rectangle 26"/>
              <p:cNvSpPr>
                <a:spLocks noChangeArrowheads="1"/>
              </p:cNvSpPr>
              <p:nvPr/>
            </p:nvSpPr>
            <p:spPr bwMode="auto">
              <a:xfrm>
                <a:off x="457200" y="1136836"/>
                <a:ext cx="8686800" cy="385567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nchor="ctr">
                <a:spAutoFit/>
              </a:bodyPr>
              <a:lstStyle/>
              <a:p>
                <a:r>
                  <a:rPr lang="en-US" sz="2400" dirty="0"/>
                  <a:t>According to Example 8 we have:</a:t>
                </a:r>
              </a:p>
              <a:p>
                <a:r>
                  <a:rPr lang="en-US" sz="2400" dirty="0"/>
                  <a:t>	</a:t>
                </a:r>
                <a14:m>
                  <m:oMath xmlns:m="http://schemas.openxmlformats.org/officeDocument/2006/math">
                    <m:sSub>
                      <m:sSubPr>
                        <m:ctrlPr>
                          <a:rPr lang="en-US" sz="2400" i="1" dirty="0" smtClean="0">
                            <a:solidFill>
                              <a:srgbClr val="FF0000"/>
                            </a:solidFill>
                            <a:latin typeface="Cambria Math" panose="02040503050406030204" pitchFamily="18" charset="0"/>
                          </a:rPr>
                        </m:ctrlPr>
                      </m:sSubPr>
                      <m:e>
                        <m:r>
                          <a:rPr lang="en-US" sz="2400" b="0" i="1" dirty="0" smtClean="0">
                            <a:solidFill>
                              <a:srgbClr val="FF0000"/>
                            </a:solidFill>
                            <a:latin typeface="Cambria Math"/>
                          </a:rPr>
                          <m:t>𝑁</m:t>
                        </m:r>
                      </m:e>
                      <m:sub>
                        <m:r>
                          <a:rPr lang="en-US" sz="2400" b="0" i="1" dirty="0" smtClean="0">
                            <a:solidFill>
                              <a:srgbClr val="FF0000"/>
                            </a:solidFill>
                            <a:latin typeface="Cambria Math"/>
                          </a:rPr>
                          <m:t>1</m:t>
                        </m:r>
                      </m:sub>
                    </m:sSub>
                    <m:r>
                      <a:rPr lang="en-US" sz="2400" i="1" dirty="0" smtClean="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b="0" i="1" smtClean="0">
                            <a:solidFill>
                              <a:srgbClr val="FF0000"/>
                            </a:solidFill>
                            <a:latin typeface="Cambria Math"/>
                          </a:rPr>
                          <m:t>6</m:t>
                        </m:r>
                        <m:r>
                          <a:rPr lang="en-US" sz="2400" i="1">
                            <a:solidFill>
                              <a:srgbClr val="FF0000"/>
                            </a:solidFill>
                            <a:latin typeface="Cambria Math"/>
                          </a:rPr>
                          <m:t>−1+</m:t>
                        </m:r>
                        <m:r>
                          <a:rPr lang="en-US" sz="2400" b="0" i="1" smtClean="0">
                            <a:solidFill>
                              <a:srgbClr val="FF0000"/>
                            </a:solidFill>
                            <a:latin typeface="Cambria Math"/>
                          </a:rPr>
                          <m:t>20</m:t>
                        </m:r>
                      </m:sub>
                      <m:sup>
                        <m:r>
                          <a:rPr lang="en-US" sz="2400" b="0" i="1" smtClean="0">
                            <a:solidFill>
                              <a:srgbClr val="FF0000"/>
                            </a:solidFill>
                            <a:latin typeface="Cambria Math"/>
                          </a:rPr>
                          <m:t>20</m:t>
                        </m:r>
                      </m:sup>
                    </m:sSubSup>
                    <m:r>
                      <a:rPr lang="en-US" sz="2400" i="1" dirty="0" smtClean="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b="0" i="1" smtClean="0">
                            <a:solidFill>
                              <a:srgbClr val="FF0000"/>
                            </a:solidFill>
                            <a:latin typeface="Cambria Math"/>
                          </a:rPr>
                          <m:t>25</m:t>
                        </m:r>
                      </m:sub>
                      <m:sup>
                        <m:r>
                          <a:rPr lang="en-US" sz="2400" b="0" i="1" smtClean="0">
                            <a:solidFill>
                              <a:srgbClr val="FF0000"/>
                            </a:solidFill>
                            <a:latin typeface="Cambria Math"/>
                          </a:rPr>
                          <m:t>20</m:t>
                        </m:r>
                      </m:sup>
                    </m:sSubSup>
                    <m:r>
                      <a:rPr lang="en-US" sz="2400" i="1" dirty="0" smtClean="0">
                        <a:solidFill>
                          <a:srgbClr val="FF0000"/>
                        </a:solidFill>
                        <a:latin typeface="Cambria Math"/>
                      </a:rPr>
                      <m:t>=53130</m:t>
                    </m:r>
                  </m:oMath>
                </a14:m>
                <a:endParaRPr lang="en-US" sz="2400" i="1" dirty="0">
                  <a:solidFill>
                    <a:srgbClr val="FF0000"/>
                  </a:solidFill>
                  <a:latin typeface="Cambria Math"/>
                </a:endParaRPr>
              </a:p>
              <a:p>
                <a:r>
                  <a:rPr lang="en-US" sz="2400" dirty="0">
                    <a:solidFill>
                      <a:srgbClr val="FF0000"/>
                    </a:solidFill>
                  </a:rPr>
                  <a:t>           </a:t>
                </a:r>
                <a14:m>
                  <m:oMath xmlns:m="http://schemas.openxmlformats.org/officeDocument/2006/math">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𝑁</m:t>
                        </m:r>
                      </m:e>
                      <m:sub>
                        <m:r>
                          <a:rPr lang="en-US" sz="2400" b="0" i="1" dirty="0" smtClean="0">
                            <a:solidFill>
                              <a:srgbClr val="FF0000"/>
                            </a:solidFill>
                            <a:latin typeface="Cambria Math"/>
                          </a:rPr>
                          <m:t>2</m:t>
                        </m:r>
                      </m:sub>
                    </m:sSub>
                    <m:r>
                      <a:rPr lang="en-US" sz="2400" i="1" dirty="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i="1">
                            <a:solidFill>
                              <a:srgbClr val="FF0000"/>
                            </a:solidFill>
                            <a:latin typeface="Cambria Math"/>
                          </a:rPr>
                          <m:t>6−1+</m:t>
                        </m:r>
                        <m:r>
                          <a:rPr lang="en-US" sz="2400" b="0" i="1" smtClean="0">
                            <a:solidFill>
                              <a:srgbClr val="FF0000"/>
                            </a:solidFill>
                            <a:latin typeface="Cambria Math"/>
                          </a:rPr>
                          <m:t>15</m:t>
                        </m:r>
                      </m:sub>
                      <m:sup>
                        <m:r>
                          <a:rPr lang="en-US" sz="2400" b="0" i="1" smtClean="0">
                            <a:solidFill>
                              <a:srgbClr val="FF0000"/>
                            </a:solidFill>
                            <a:latin typeface="Cambria Math"/>
                          </a:rPr>
                          <m:t>15</m:t>
                        </m:r>
                      </m:sup>
                    </m:sSubSup>
                    <m:r>
                      <a:rPr lang="en-US" sz="2400" i="1" dirty="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b="0" i="1" smtClean="0">
                            <a:solidFill>
                              <a:srgbClr val="FF0000"/>
                            </a:solidFill>
                            <a:latin typeface="Cambria Math"/>
                          </a:rPr>
                          <m:t>20</m:t>
                        </m:r>
                      </m:sub>
                      <m:sup>
                        <m:r>
                          <a:rPr lang="en-US" sz="2400" b="0" i="1" smtClean="0">
                            <a:solidFill>
                              <a:srgbClr val="FF0000"/>
                            </a:solidFill>
                            <a:latin typeface="Cambria Math"/>
                          </a:rPr>
                          <m:t>15</m:t>
                        </m:r>
                      </m:sup>
                    </m:sSubSup>
                    <m:r>
                      <a:rPr lang="en-US" sz="2400" i="1" dirty="0">
                        <a:solidFill>
                          <a:srgbClr val="FF0000"/>
                        </a:solidFill>
                        <a:latin typeface="Cambria Math"/>
                      </a:rPr>
                      <m:t>=</m:t>
                    </m:r>
                    <m:r>
                      <m:rPr>
                        <m:nor/>
                      </m:rPr>
                      <a:rPr lang="en-US" sz="2400" dirty="0" smtClean="0">
                        <a:solidFill>
                          <a:srgbClr val="FF0000"/>
                        </a:solidFill>
                        <a:latin typeface="Cambria Math" pitchFamily="18" charset="0"/>
                        <a:ea typeface="Cambria Math" pitchFamily="18" charset="0"/>
                      </a:rPr>
                      <m:t>15504</m:t>
                    </m:r>
                  </m:oMath>
                </a14:m>
                <a:endParaRPr lang="en-US" sz="2400" dirty="0">
                  <a:solidFill>
                    <a:srgbClr val="FF0000"/>
                  </a:solidFill>
                  <a:latin typeface="Cambria Math" pitchFamily="18" charset="0"/>
                  <a:ea typeface="Cambria Math" pitchFamily="18" charset="0"/>
                </a:endParaRPr>
              </a:p>
              <a:p>
                <a:r>
                  <a:rPr lang="en-US" sz="2400" dirty="0">
                    <a:solidFill>
                      <a:srgbClr val="FF0000"/>
                    </a:solidFill>
                  </a:rPr>
                  <a:t>           </a:t>
                </a:r>
                <a14:m>
                  <m:oMath xmlns:m="http://schemas.openxmlformats.org/officeDocument/2006/math">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𝑁</m:t>
                        </m:r>
                      </m:e>
                      <m:sub>
                        <m:r>
                          <a:rPr lang="en-US" sz="2400" b="0" i="1" dirty="0" smtClean="0">
                            <a:solidFill>
                              <a:srgbClr val="FF0000"/>
                            </a:solidFill>
                            <a:latin typeface="Cambria Math"/>
                          </a:rPr>
                          <m:t>3</m:t>
                        </m:r>
                      </m:sub>
                    </m:sSub>
                    <m:r>
                      <a:rPr lang="en-US" sz="2400" i="1" dirty="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i="1">
                            <a:solidFill>
                              <a:srgbClr val="FF0000"/>
                            </a:solidFill>
                            <a:latin typeface="Cambria Math"/>
                          </a:rPr>
                          <m:t>6−1+15</m:t>
                        </m:r>
                      </m:sub>
                      <m:sup>
                        <m:r>
                          <a:rPr lang="en-US" sz="2400" i="1">
                            <a:solidFill>
                              <a:srgbClr val="FF0000"/>
                            </a:solidFill>
                            <a:latin typeface="Cambria Math"/>
                          </a:rPr>
                          <m:t>15</m:t>
                        </m:r>
                      </m:sup>
                    </m:sSubSup>
                    <m:r>
                      <a:rPr lang="en-US" sz="2400" i="1" dirty="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i="1">
                            <a:solidFill>
                              <a:srgbClr val="FF0000"/>
                            </a:solidFill>
                            <a:latin typeface="Cambria Math"/>
                          </a:rPr>
                          <m:t>20</m:t>
                        </m:r>
                      </m:sub>
                      <m:sup>
                        <m:r>
                          <a:rPr lang="en-US" sz="2400" i="1">
                            <a:solidFill>
                              <a:srgbClr val="FF0000"/>
                            </a:solidFill>
                            <a:latin typeface="Cambria Math"/>
                          </a:rPr>
                          <m:t>15</m:t>
                        </m:r>
                      </m:sup>
                    </m:sSubSup>
                    <m:r>
                      <a:rPr lang="en-US" sz="2400" i="1" dirty="0">
                        <a:solidFill>
                          <a:srgbClr val="FF0000"/>
                        </a:solidFill>
                        <a:latin typeface="Cambria Math"/>
                      </a:rPr>
                      <m:t>=</m:t>
                    </m:r>
                    <m:r>
                      <m:rPr>
                        <m:nor/>
                      </m:rPr>
                      <a:rPr lang="en-US" sz="2400" dirty="0">
                        <a:solidFill>
                          <a:srgbClr val="FF0000"/>
                        </a:solidFill>
                        <a:latin typeface="Cambria Math" pitchFamily="18" charset="0"/>
                        <a:ea typeface="Cambria Math" pitchFamily="18" charset="0"/>
                      </a:rPr>
                      <m:t>15504</m:t>
                    </m:r>
                    <m:r>
                      <a:rPr lang="en-US" sz="2400" i="1" dirty="0">
                        <a:solidFill>
                          <a:srgbClr val="FF0000"/>
                        </a:solidFill>
                        <a:latin typeface="Cambria Math"/>
                      </a:rPr>
                      <m:t> </m:t>
                    </m:r>
                  </m:oMath>
                </a14:m>
                <a:r>
                  <a:rPr lang="en-US" sz="2400" dirty="0"/>
                  <a:t>	</a:t>
                </a:r>
              </a:p>
              <a:p>
                <a:r>
                  <a:rPr lang="en-US" sz="2400" dirty="0">
                    <a:solidFill>
                      <a:srgbClr val="FF0000"/>
                    </a:solidFill>
                  </a:rPr>
                  <a:t>           </a:t>
                </a:r>
                <a14:m>
                  <m:oMath xmlns:m="http://schemas.openxmlformats.org/officeDocument/2006/math">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𝑁</m:t>
                        </m:r>
                      </m:e>
                      <m:sub>
                        <m:r>
                          <a:rPr lang="en-US" sz="2400" b="0" i="1" dirty="0" smtClean="0">
                            <a:solidFill>
                              <a:srgbClr val="FF0000"/>
                            </a:solidFill>
                            <a:latin typeface="Cambria Math"/>
                          </a:rPr>
                          <m:t>4</m:t>
                        </m:r>
                      </m:sub>
                    </m:sSub>
                    <m:r>
                      <a:rPr lang="en-US" sz="2400" i="1" dirty="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i="1">
                            <a:solidFill>
                              <a:srgbClr val="FF0000"/>
                            </a:solidFill>
                            <a:latin typeface="Cambria Math"/>
                          </a:rPr>
                          <m:t>6−1+1</m:t>
                        </m:r>
                        <m:r>
                          <a:rPr lang="en-US" sz="2400" b="0" i="1" smtClean="0">
                            <a:solidFill>
                              <a:srgbClr val="FF0000"/>
                            </a:solidFill>
                            <a:latin typeface="Cambria Math"/>
                          </a:rPr>
                          <m:t>0</m:t>
                        </m:r>
                      </m:sub>
                      <m:sup>
                        <m:r>
                          <a:rPr lang="en-US" sz="2400" i="1">
                            <a:solidFill>
                              <a:srgbClr val="FF0000"/>
                            </a:solidFill>
                            <a:latin typeface="Cambria Math"/>
                          </a:rPr>
                          <m:t>1</m:t>
                        </m:r>
                        <m:r>
                          <a:rPr lang="en-US" sz="2400" b="0" i="1" smtClean="0">
                            <a:solidFill>
                              <a:srgbClr val="FF0000"/>
                            </a:solidFill>
                            <a:latin typeface="Cambria Math"/>
                          </a:rPr>
                          <m:t>0</m:t>
                        </m:r>
                      </m:sup>
                    </m:sSubSup>
                    <m:r>
                      <a:rPr lang="en-US" sz="2400" i="1" dirty="0">
                        <a:solidFill>
                          <a:srgbClr val="FF0000"/>
                        </a:solidFill>
                        <a:latin typeface="Cambria Math"/>
                      </a:rPr>
                      <m:t>=</m:t>
                    </m:r>
                    <m:sSubSup>
                      <m:sSubSupPr>
                        <m:ctrlPr>
                          <a:rPr lang="en-US" sz="2400" i="1">
                            <a:solidFill>
                              <a:srgbClr val="FF0000"/>
                            </a:solidFill>
                            <a:latin typeface="Cambria Math" panose="02040503050406030204" pitchFamily="18" charset="0"/>
                          </a:rPr>
                        </m:ctrlPr>
                      </m:sSubSupPr>
                      <m:e>
                        <m:r>
                          <a:rPr lang="en-US" sz="2400" i="1">
                            <a:solidFill>
                              <a:srgbClr val="FF0000"/>
                            </a:solidFill>
                            <a:latin typeface="Cambria Math"/>
                          </a:rPr>
                          <m:t>𝐶</m:t>
                        </m:r>
                      </m:e>
                      <m:sub>
                        <m:r>
                          <a:rPr lang="en-US" sz="2400" b="0" i="1" smtClean="0">
                            <a:solidFill>
                              <a:srgbClr val="FF0000"/>
                            </a:solidFill>
                            <a:latin typeface="Cambria Math"/>
                          </a:rPr>
                          <m:t>15</m:t>
                        </m:r>
                      </m:sub>
                      <m:sup>
                        <m:r>
                          <a:rPr lang="en-US" sz="2400" i="1">
                            <a:solidFill>
                              <a:srgbClr val="FF0000"/>
                            </a:solidFill>
                            <a:latin typeface="Cambria Math"/>
                          </a:rPr>
                          <m:t>1</m:t>
                        </m:r>
                        <m:r>
                          <a:rPr lang="en-US" sz="2400" b="0" i="1" smtClean="0">
                            <a:solidFill>
                              <a:srgbClr val="FF0000"/>
                            </a:solidFill>
                            <a:latin typeface="Cambria Math"/>
                          </a:rPr>
                          <m:t>0</m:t>
                        </m:r>
                      </m:sup>
                    </m:sSubSup>
                    <m:r>
                      <a:rPr lang="en-US" sz="2400" i="1" dirty="0">
                        <a:solidFill>
                          <a:srgbClr val="FF0000"/>
                        </a:solidFill>
                        <a:latin typeface="Cambria Math"/>
                      </a:rPr>
                      <m:t>=</m:t>
                    </m:r>
                    <m:r>
                      <m:rPr>
                        <m:nor/>
                      </m:rPr>
                      <a:rPr lang="en-US" sz="2400" b="0" i="0" dirty="0" smtClean="0">
                        <a:solidFill>
                          <a:srgbClr val="FF0000"/>
                        </a:solidFill>
                        <a:latin typeface="Cambria Math" pitchFamily="18" charset="0"/>
                        <a:ea typeface="Cambria Math" pitchFamily="18" charset="0"/>
                      </a:rPr>
                      <m:t>3003</m:t>
                    </m:r>
                  </m:oMath>
                </a14:m>
                <a:endParaRPr lang="en-US" sz="2400" dirty="0"/>
              </a:p>
              <a:p>
                <a:endParaRPr lang="en-US" sz="2400" dirty="0"/>
              </a:p>
              <a:p>
                <a:r>
                  <a:rPr lang="en-US" sz="2400" dirty="0"/>
                  <a:t>So, the number of  roots satisfying the requirements of problem is:</a:t>
                </a:r>
              </a:p>
              <a:p>
                <a:r>
                  <a:rPr lang="en-US" sz="2400" dirty="0"/>
                  <a:t>	</a:t>
                </a:r>
                <a14:m>
                  <m:oMath xmlns:m="http://schemas.openxmlformats.org/officeDocument/2006/math">
                    <m:r>
                      <a:rPr lang="en-US" sz="2400" i="1" dirty="0" smtClean="0">
                        <a:latin typeface="Cambria Math"/>
                      </a:rPr>
                      <m:t>𝑁</m:t>
                    </m:r>
                    <m:r>
                      <a:rPr lang="en-US" sz="2400" i="1" dirty="0" smtClean="0">
                        <a:latin typeface="Cambria Math"/>
                      </a:rPr>
                      <m:t> = </m:t>
                    </m:r>
                    <m:sSub>
                      <m:sSubPr>
                        <m:ctrlPr>
                          <a:rPr lang="en-US" sz="2400" i="1" dirty="0" smtClean="0">
                            <a:latin typeface="Cambria Math" panose="02040503050406030204" pitchFamily="18" charset="0"/>
                          </a:rPr>
                        </m:ctrlPr>
                      </m:sSubPr>
                      <m:e>
                        <m:r>
                          <a:rPr lang="en-US" sz="2400" b="0" i="1" dirty="0" smtClean="0">
                            <a:latin typeface="Cambria Math"/>
                          </a:rPr>
                          <m:t>𝑁</m:t>
                        </m:r>
                      </m:e>
                      <m:sub>
                        <m:r>
                          <a:rPr lang="en-US" sz="2400" b="0" i="1" dirty="0" smtClean="0">
                            <a:latin typeface="Cambria Math"/>
                          </a:rPr>
                          <m:t>1</m:t>
                        </m:r>
                      </m:sub>
                    </m:sSub>
                    <m:r>
                      <a:rPr lang="en-US" sz="2400" i="1" dirty="0" smtClean="0">
                        <a:latin typeface="Cambria Math"/>
                      </a:rPr>
                      <m:t>−</m:t>
                    </m:r>
                    <m:sSub>
                      <m:sSubPr>
                        <m:ctrlPr>
                          <a:rPr lang="en-US" sz="2400" i="1" dirty="0">
                            <a:latin typeface="Cambria Math" panose="02040503050406030204" pitchFamily="18" charset="0"/>
                          </a:rPr>
                        </m:ctrlPr>
                      </m:sSubPr>
                      <m:e>
                        <m:r>
                          <a:rPr lang="en-US" sz="2400" i="1" dirty="0">
                            <a:latin typeface="Cambria Math"/>
                          </a:rPr>
                          <m:t>𝑁</m:t>
                        </m:r>
                      </m:e>
                      <m:sub>
                        <m:r>
                          <a:rPr lang="en-US" sz="2400" b="0" i="1" dirty="0" smtClean="0">
                            <a:latin typeface="Cambria Math"/>
                          </a:rPr>
                          <m:t>2</m:t>
                        </m:r>
                      </m:sub>
                    </m:sSub>
                    <m:r>
                      <a:rPr lang="en-US" sz="2400" i="1" dirty="0" smtClean="0">
                        <a:latin typeface="Cambria Math"/>
                      </a:rPr>
                      <m:t>−</m:t>
                    </m:r>
                    <m:sSub>
                      <m:sSubPr>
                        <m:ctrlPr>
                          <a:rPr lang="en-US" sz="2400" i="1" dirty="0">
                            <a:latin typeface="Cambria Math" panose="02040503050406030204" pitchFamily="18" charset="0"/>
                          </a:rPr>
                        </m:ctrlPr>
                      </m:sSubPr>
                      <m:e>
                        <m:r>
                          <a:rPr lang="en-US" sz="2400" i="1" dirty="0">
                            <a:latin typeface="Cambria Math"/>
                          </a:rPr>
                          <m:t>𝑁</m:t>
                        </m:r>
                      </m:e>
                      <m:sub>
                        <m:r>
                          <a:rPr lang="en-US" sz="2400" b="0" i="1" dirty="0" smtClean="0">
                            <a:latin typeface="Cambria Math"/>
                          </a:rPr>
                          <m:t>3</m:t>
                        </m:r>
                      </m:sub>
                    </m:sSub>
                    <m:r>
                      <a:rPr lang="en-US" sz="2400" i="1" dirty="0" smtClean="0">
                        <a:latin typeface="Cambria Math"/>
                      </a:rPr>
                      <m:t>+</m:t>
                    </m:r>
                    <m:sSub>
                      <m:sSubPr>
                        <m:ctrlPr>
                          <a:rPr lang="en-US" sz="2400" i="1" dirty="0">
                            <a:latin typeface="Cambria Math" panose="02040503050406030204" pitchFamily="18" charset="0"/>
                          </a:rPr>
                        </m:ctrlPr>
                      </m:sSubPr>
                      <m:e>
                        <m:r>
                          <a:rPr lang="en-US" sz="2400" i="1" dirty="0">
                            <a:latin typeface="Cambria Math"/>
                          </a:rPr>
                          <m:t>𝑁</m:t>
                        </m:r>
                      </m:e>
                      <m:sub>
                        <m:r>
                          <a:rPr lang="en-US" sz="2400" b="0" i="1" dirty="0" smtClean="0">
                            <a:latin typeface="Cambria Math"/>
                          </a:rPr>
                          <m:t>4</m:t>
                        </m:r>
                      </m:sub>
                    </m:sSub>
                    <m:r>
                      <a:rPr lang="en-US" sz="2400" i="1" dirty="0" smtClean="0">
                        <a:latin typeface="Cambria Math"/>
                      </a:rPr>
                      <m:t> </m:t>
                    </m:r>
                  </m:oMath>
                </a14:m>
                <a:endParaRPr lang="en-US" sz="2400" i="1" dirty="0">
                  <a:latin typeface="Cambria Math"/>
                </a:endParaRPr>
              </a:p>
              <a:p>
                <a:r>
                  <a:rPr lang="en-US" sz="2400" dirty="0"/>
                  <a:t>                </a:t>
                </a:r>
                <a14:m>
                  <m:oMath xmlns:m="http://schemas.openxmlformats.org/officeDocument/2006/math">
                    <m:r>
                      <a:rPr lang="en-US" sz="2400" i="1" dirty="0" smtClean="0">
                        <a:latin typeface="Cambria Math"/>
                      </a:rPr>
                      <m:t>= 53130−15504−15504 + 3003 </m:t>
                    </m:r>
                  </m:oMath>
                </a14:m>
                <a:endParaRPr lang="en-US" sz="2400" i="1" dirty="0">
                  <a:latin typeface="Cambria Math"/>
                </a:endParaRPr>
              </a:p>
              <a:p>
                <a:r>
                  <a:rPr lang="en-US" sz="2400" dirty="0"/>
                  <a:t>                </a:t>
                </a:r>
                <a14:m>
                  <m:oMath xmlns:m="http://schemas.openxmlformats.org/officeDocument/2006/math">
                    <m:r>
                      <a:rPr lang="en-US" sz="2400" i="1" dirty="0" smtClean="0">
                        <a:latin typeface="Cambria Math"/>
                      </a:rPr>
                      <m:t>= 25125 </m:t>
                    </m:r>
                  </m:oMath>
                </a14:m>
                <a:endParaRPr lang="en-US" sz="2400" dirty="0"/>
              </a:p>
            </p:txBody>
          </p:sp>
        </mc:Choice>
        <mc:Fallback xmlns="">
          <p:sp>
            <p:nvSpPr>
              <p:cNvPr id="6" name="Rectangle 26"/>
              <p:cNvSpPr>
                <a:spLocks noRot="1" noChangeAspect="1" noMove="1" noResize="1" noEditPoints="1" noAdjustHandles="1" noChangeArrowheads="1" noChangeShapeType="1" noTextEdit="1"/>
              </p:cNvSpPr>
              <p:nvPr/>
            </p:nvSpPr>
            <p:spPr bwMode="auto">
              <a:xfrm>
                <a:off x="457200" y="1136836"/>
                <a:ext cx="8686800" cy="3855671"/>
              </a:xfrm>
              <a:prstGeom prst="rect">
                <a:avLst/>
              </a:prstGeom>
              <a:blipFill>
                <a:blip r:embed="rId2"/>
                <a:stretch>
                  <a:fillRect l="-1053" t="-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1583192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28</a:t>
            </a:fld>
            <a:endParaRPr lang="en-US"/>
          </a:p>
        </p:txBody>
      </p:sp>
      <p:sp>
        <p:nvSpPr>
          <p:cNvPr id="5" name="Content Placeholder 4"/>
          <p:cNvSpPr>
            <a:spLocks noGrp="1"/>
          </p:cNvSpPr>
          <p:nvPr>
            <p:ph sz="quarter" idx="1"/>
          </p:nvPr>
        </p:nvSpPr>
        <p:spPr/>
        <p:txBody>
          <a:bodyPr/>
          <a:lstStyle/>
          <a:p>
            <a:pPr algn="just"/>
            <a:r>
              <a:rPr lang="en-US" dirty="0"/>
              <a:t>In each lottery release, each lottery ticket have 2 parts. The letter part includes 2 letters with values from A to Z. The number part includes 4 numbers with values from 0 to 9. Each lottery release has 1 special prize, 2 first prizes, 5 second prizes and 10 third prizes. Calculate the probability that a lottery ticket wins a prize or more in following 2 cases:</a:t>
            </a:r>
          </a:p>
          <a:p>
            <a:pPr marL="457200" indent="-457200">
              <a:buFont typeface="+mj-lt"/>
              <a:buAutoNum type="alphaLcPeriod"/>
            </a:pPr>
            <a:r>
              <a:rPr lang="en-US" dirty="0"/>
              <a:t>The letter part stand before the number part.</a:t>
            </a:r>
          </a:p>
          <a:p>
            <a:pPr marL="457200" indent="-457200">
              <a:buFont typeface="+mj-lt"/>
              <a:buAutoNum type="alphaLcPeriod"/>
            </a:pPr>
            <a:r>
              <a:rPr lang="en-US" dirty="0"/>
              <a:t>The letter part stand arbitrarily.</a:t>
            </a:r>
          </a:p>
        </p:txBody>
      </p:sp>
    </p:spTree>
    <p:extLst>
      <p:ext uri="{BB962C8B-B14F-4D97-AF65-F5344CB8AC3E}">
        <p14:creationId xmlns:p14="http://schemas.microsoft.com/office/powerpoint/2010/main" val="15851182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29</a:t>
            </a:fld>
            <a:endParaRPr lang="en-US"/>
          </a:p>
        </p:txBody>
      </p:sp>
      <p:sp>
        <p:nvSpPr>
          <p:cNvPr id="5" name="Content Placeholder 4"/>
          <p:cNvSpPr>
            <a:spLocks noGrp="1"/>
          </p:cNvSpPr>
          <p:nvPr>
            <p:ph sz="quarter" idx="1"/>
          </p:nvPr>
        </p:nvSpPr>
        <p:spPr/>
        <p:txBody>
          <a:bodyPr/>
          <a:lstStyle/>
          <a:p>
            <a:r>
              <a:rPr lang="en-US" dirty="0"/>
              <a:t>Calculate the number of matches at each World Cup.</a:t>
            </a:r>
          </a:p>
        </p:txBody>
      </p:sp>
    </p:spTree>
    <p:extLst>
      <p:ext uri="{BB962C8B-B14F-4D97-AF65-F5344CB8AC3E}">
        <p14:creationId xmlns:p14="http://schemas.microsoft.com/office/powerpoint/2010/main" val="22024461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30</a:t>
            </a:fld>
            <a:endParaRPr lang="en-US"/>
          </a:p>
        </p:txBody>
      </p:sp>
      <p:sp>
        <p:nvSpPr>
          <p:cNvPr id="5" name="Content Placeholder 4"/>
          <p:cNvSpPr>
            <a:spLocks noGrp="1"/>
          </p:cNvSpPr>
          <p:nvPr>
            <p:ph sz="quarter" idx="1"/>
          </p:nvPr>
        </p:nvSpPr>
        <p:spPr/>
        <p:txBody>
          <a:bodyPr/>
          <a:lstStyle/>
          <a:p>
            <a:pPr algn="just"/>
            <a:r>
              <a:rPr lang="en-US" dirty="0"/>
              <a:t>Give the grid as below. We index the columns from 0 to m (from left to right) and rows from 0 to n (form bottom to top). How many ways are there to move from position (0,0) to position (n, m) if we only move along the edges of the cells from left to right and from bottom to top.</a:t>
            </a:r>
          </a:p>
        </p:txBody>
      </p:sp>
      <p:graphicFrame>
        <p:nvGraphicFramePr>
          <p:cNvPr id="6" name="Table 5"/>
          <p:cNvGraphicFramePr>
            <a:graphicFrameLocks noGrp="1"/>
          </p:cNvGraphicFramePr>
          <p:nvPr>
            <p:extLst>
              <p:ext uri="{D42A27DB-BD31-4B8C-83A1-F6EECF244321}">
                <p14:modId xmlns:p14="http://schemas.microsoft.com/office/powerpoint/2010/main" val="1309538368"/>
              </p:ext>
            </p:extLst>
          </p:nvPr>
        </p:nvGraphicFramePr>
        <p:xfrm>
          <a:off x="3276600" y="3810000"/>
          <a:ext cx="1828800" cy="1854200"/>
        </p:xfrm>
        <a:graphic>
          <a:graphicData uri="http://schemas.openxmlformats.org/drawingml/2006/table">
            <a:tbl>
              <a:tblPr firstRow="1" bandRow="1">
                <a:tableStyleId>{5C22544A-7EE6-4342-B048-85BDC9FD1C3A}</a:tableStyleId>
              </a:tblPr>
              <a:tblGrid>
                <a:gridCol w="299720">
                  <a:extLst>
                    <a:ext uri="{9D8B030D-6E8A-4147-A177-3AD203B41FA5}">
                      <a16:colId xmlns:a16="http://schemas.microsoft.com/office/drawing/2014/main" val="20000"/>
                    </a:ext>
                  </a:extLst>
                </a:gridCol>
                <a:gridCol w="30988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04800">
                  <a:extLst>
                    <a:ext uri="{9D8B030D-6E8A-4147-A177-3AD203B41FA5}">
                      <a16:colId xmlns:a16="http://schemas.microsoft.com/office/drawing/2014/main" val="20003"/>
                    </a:ext>
                  </a:extLst>
                </a:gridCol>
                <a:gridCol w="304800">
                  <a:extLst>
                    <a:ext uri="{9D8B030D-6E8A-4147-A177-3AD203B41FA5}">
                      <a16:colId xmlns:a16="http://schemas.microsoft.com/office/drawing/2014/main" val="20004"/>
                    </a:ext>
                  </a:extLst>
                </a:gridCol>
                <a:gridCol w="304800">
                  <a:extLst>
                    <a:ext uri="{9D8B030D-6E8A-4147-A177-3AD203B41FA5}">
                      <a16:colId xmlns:a16="http://schemas.microsoft.com/office/drawing/2014/main" val="20005"/>
                    </a:ext>
                  </a:extLst>
                </a:gridCol>
              </a:tblGrid>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70840">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bl>
          </a:graphicData>
        </a:graphic>
      </p:graphicFrame>
      <mc:AlternateContent xmlns:mc="http://schemas.openxmlformats.org/markup-compatibility/2006" xmlns:a14="http://schemas.microsoft.com/office/drawing/2010/main">
        <mc:Choice Requires="a14">
          <p:sp>
            <p:nvSpPr>
              <p:cNvPr id="7" name="TextBox 6"/>
              <p:cNvSpPr txBox="1"/>
              <p:nvPr/>
            </p:nvSpPr>
            <p:spPr>
              <a:xfrm>
                <a:off x="2937935" y="5604935"/>
                <a:ext cx="6350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(0,0)</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2937935" y="5604935"/>
                <a:ext cx="635001" cy="369332"/>
              </a:xfrm>
              <a:prstGeom prst="rect">
                <a:avLst/>
              </a:prstGeom>
              <a:blipFill rotWithShape="1">
                <a:blip r:embed="rId2"/>
                <a:stretch>
                  <a:fillRect l="-2885" r="-10577"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4783669" y="5603335"/>
                <a:ext cx="6350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(0,</m:t>
                      </m:r>
                      <m:r>
                        <a:rPr lang="en-US" b="0" i="1" smtClean="0">
                          <a:latin typeface="Cambria Math"/>
                        </a:rPr>
                        <m:t>𝑚</m:t>
                      </m:r>
                      <m:r>
                        <a:rPr lang="en-US" b="0" i="1" smtClean="0">
                          <a:latin typeface="Cambria Math"/>
                        </a:rPr>
                        <m:t>)</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4783669" y="5603335"/>
                <a:ext cx="635001" cy="369332"/>
              </a:xfrm>
              <a:prstGeom prst="rect">
                <a:avLst/>
              </a:prstGeom>
              <a:blipFill rotWithShape="1">
                <a:blip r:embed="rId3"/>
                <a:stretch>
                  <a:fillRect l="-2885" r="-26923"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2921001" y="3471335"/>
                <a:ext cx="6350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m:t>
                      </m:r>
                      <m:r>
                        <a:rPr lang="en-US" b="0" i="1" smtClean="0">
                          <a:latin typeface="Cambria Math"/>
                        </a:rPr>
                        <m:t>𝑛</m:t>
                      </m:r>
                      <m:r>
                        <a:rPr lang="en-US" b="0" i="1" smtClean="0">
                          <a:latin typeface="Cambria Math"/>
                        </a:rPr>
                        <m:t>,0)</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2921001" y="3471335"/>
                <a:ext cx="635001" cy="369332"/>
              </a:xfrm>
              <a:prstGeom prst="rect">
                <a:avLst/>
              </a:prstGeom>
              <a:blipFill rotWithShape="1">
                <a:blip r:embed="rId4"/>
                <a:stretch>
                  <a:fillRect l="-1923" r="-18269"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4749804" y="3471335"/>
                <a:ext cx="63500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a:rPr>
                        <m:t>(</m:t>
                      </m:r>
                      <m:r>
                        <a:rPr lang="en-US" b="0" i="1" smtClean="0">
                          <a:latin typeface="Cambria Math"/>
                        </a:rPr>
                        <m:t>𝑛</m:t>
                      </m:r>
                      <m:r>
                        <a:rPr lang="en-US" b="0" i="1" smtClean="0">
                          <a:latin typeface="Cambria Math"/>
                        </a:rPr>
                        <m:t>,</m:t>
                      </m:r>
                      <m:r>
                        <a:rPr lang="en-US" b="0" i="1" smtClean="0">
                          <a:latin typeface="Cambria Math"/>
                        </a:rPr>
                        <m:t>𝑚</m:t>
                      </m:r>
                      <m:r>
                        <a:rPr lang="en-US" b="0" i="1" smtClean="0">
                          <a:latin typeface="Cambria Math"/>
                        </a:rPr>
                        <m:t>)</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4749804" y="3471335"/>
                <a:ext cx="635001" cy="369332"/>
              </a:xfrm>
              <a:prstGeom prst="rect">
                <a:avLst/>
              </a:prstGeom>
              <a:blipFill rotWithShape="1">
                <a:blip r:embed="rId5"/>
                <a:stretch>
                  <a:fillRect l="-1923" r="-28846" b="-13115"/>
                </a:stretch>
              </a:blipFill>
            </p:spPr>
            <p:txBody>
              <a:bodyPr/>
              <a:lstStyle/>
              <a:p>
                <a:r>
                  <a:rPr lang="en-US">
                    <a:noFill/>
                  </a:rPr>
                  <a:t> </a:t>
                </a:r>
              </a:p>
            </p:txBody>
          </p:sp>
        </mc:Fallback>
      </mc:AlternateContent>
    </p:spTree>
    <p:extLst>
      <p:ext uri="{BB962C8B-B14F-4D97-AF65-F5344CB8AC3E}">
        <p14:creationId xmlns:p14="http://schemas.microsoft.com/office/powerpoint/2010/main" val="3240724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Inclusion-Exclusion principle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pPr algn="just">
                  <a:spcBef>
                    <a:spcPct val="25000"/>
                  </a:spcBef>
                </a:pPr>
                <a:r>
                  <a:rPr lang="pt-BR" dirty="0"/>
                  <a:t>Many complex problem can be solved by inclusion-exclution principle</a:t>
                </a:r>
              </a:p>
              <a:p>
                <a:pPr algn="just">
                  <a:spcBef>
                    <a:spcPct val="25000"/>
                  </a:spcBef>
                </a:pPr>
                <a:r>
                  <a:rPr lang="en-US" dirty="0"/>
                  <a:t>In essence, inclusion-exclusion principle is a generalized case of Sum principle.</a:t>
                </a:r>
              </a:p>
              <a:p>
                <a:pPr algn="just">
                  <a:spcBef>
                    <a:spcPct val="25000"/>
                  </a:spcBef>
                </a:pPr>
                <a:r>
                  <a:rPr lang="en-US" b="1" dirty="0"/>
                  <a:t>Inclusion-exclusion principle</a:t>
                </a:r>
                <a:r>
                  <a:rPr lang="en-US" dirty="0"/>
                  <a:t>: If </a:t>
                </a:r>
                <a14:m>
                  <m:oMath xmlns:m="http://schemas.openxmlformats.org/officeDocument/2006/math">
                    <m:r>
                      <a:rPr lang="en-US" i="1" dirty="0" smtClean="0">
                        <a:latin typeface="Cambria Math"/>
                      </a:rPr>
                      <m:t>𝐴</m:t>
                    </m:r>
                  </m:oMath>
                </a14:m>
                <a:r>
                  <a:rPr lang="en-US" dirty="0"/>
                  <a:t> and </a:t>
                </a:r>
                <a14:m>
                  <m:oMath xmlns:m="http://schemas.openxmlformats.org/officeDocument/2006/math">
                    <m:r>
                      <a:rPr lang="en-US" i="1" dirty="0" smtClean="0">
                        <a:latin typeface="Cambria Math"/>
                      </a:rPr>
                      <m:t>𝐵</m:t>
                    </m:r>
                  </m:oMath>
                </a14:m>
                <a:r>
                  <a:rPr lang="en-US" dirty="0"/>
                  <a:t> are 2 sets, then:</a:t>
                </a:r>
              </a:p>
              <a:p>
                <a:pPr algn="just">
                  <a:spcBef>
                    <a:spcPct val="25000"/>
                  </a:spcBef>
                </a:pPr>
                <a:endParaRPr lang="en-US" dirty="0"/>
              </a:p>
              <a:p>
                <a:pPr algn="just">
                  <a:spcBef>
                    <a:spcPct val="25000"/>
                  </a:spcBef>
                </a:pPr>
                <a:r>
                  <a:rPr lang="en-US" dirty="0"/>
                  <a:t>Generally, if </a:t>
                </a:r>
                <a14:m>
                  <m:oMath xmlns:m="http://schemas.openxmlformats.org/officeDocument/2006/math">
                    <m:r>
                      <a:rPr lang="en-US" i="1" dirty="0" smtClean="0">
                        <a:latin typeface="Cambria Math"/>
                      </a:rPr>
                      <m:t>𝐴</m:t>
                    </m:r>
                    <m:r>
                      <a:rPr lang="en-US" i="1" baseline="-25000" dirty="0">
                        <a:latin typeface="Cambria Math"/>
                      </a:rPr>
                      <m:t>1</m:t>
                    </m:r>
                    <m:r>
                      <a:rPr lang="en-US" i="1" dirty="0">
                        <a:latin typeface="Cambria Math"/>
                      </a:rPr>
                      <m:t>, </m:t>
                    </m:r>
                    <m:r>
                      <a:rPr lang="en-US" i="1" dirty="0">
                        <a:latin typeface="Cambria Math"/>
                      </a:rPr>
                      <m:t>𝐴</m:t>
                    </m:r>
                    <m:r>
                      <a:rPr lang="en-US" i="1" baseline="-25000" dirty="0">
                        <a:latin typeface="Cambria Math"/>
                      </a:rPr>
                      <m:t>2</m:t>
                    </m:r>
                    <m:r>
                      <a:rPr lang="en-US" i="1" dirty="0">
                        <a:latin typeface="Cambria Math"/>
                      </a:rPr>
                      <m:t>, …, </m:t>
                    </m:r>
                    <m:r>
                      <a:rPr lang="en-US" i="1" dirty="0" err="1">
                        <a:latin typeface="Cambria Math"/>
                      </a:rPr>
                      <m:t>𝐴</m:t>
                    </m:r>
                    <m:r>
                      <a:rPr lang="en-US" i="1" baseline="-25000" dirty="0" err="1">
                        <a:latin typeface="Cambria Math"/>
                      </a:rPr>
                      <m:t>𝑘</m:t>
                    </m:r>
                  </m:oMath>
                </a14:m>
                <a:r>
                  <a:rPr lang="en-US" dirty="0"/>
                  <a:t> are finite sets, then:</a:t>
                </a:r>
              </a:p>
              <a:p>
                <a:pPr marL="0" indent="0" algn="just">
                  <a:spcBef>
                    <a:spcPct val="25000"/>
                  </a:spcBef>
                  <a:buNone/>
                </a:pPr>
                <a:endParaRPr lang="en-US" dirty="0"/>
              </a:p>
              <a:p>
                <a:pPr algn="just">
                  <a:spcBef>
                    <a:spcPct val="25000"/>
                  </a:spcBef>
                </a:pPr>
                <a:endParaRPr lang="en-US" dirty="0"/>
              </a:p>
              <a:p>
                <a:pPr marL="0" indent="0">
                  <a:spcBef>
                    <a:spcPct val="25000"/>
                  </a:spcBef>
                  <a:buNone/>
                </a:pPr>
                <a:r>
                  <a:rPr lang="en-US" dirty="0"/>
                  <a:t>Where </a:t>
                </a:r>
                <a14:m>
                  <m:oMath xmlns:m="http://schemas.openxmlformats.org/officeDocument/2006/math">
                    <m:r>
                      <a:rPr lang="en-US" i="1" dirty="0" smtClean="0">
                        <a:latin typeface="Cambria Math"/>
                      </a:rPr>
                      <m:t>𝑁</m:t>
                    </m:r>
                    <m:r>
                      <a:rPr lang="en-US" i="1" baseline="-25000" dirty="0">
                        <a:latin typeface="Cambria Math"/>
                      </a:rPr>
                      <m:t>𝑖</m:t>
                    </m:r>
                  </m:oMath>
                </a14:m>
                <a:r>
                  <a:rPr lang="en-US" dirty="0"/>
                  <a:t> is the sum of all intersections of sets of </a:t>
                </a:r>
                <a14:m>
                  <m:oMath xmlns:m="http://schemas.openxmlformats.org/officeDocument/2006/math">
                    <m:r>
                      <a:rPr lang="en-US" i="1" dirty="0" smtClean="0">
                        <a:latin typeface="Cambria Math"/>
                      </a:rPr>
                      <m:t>𝑖</m:t>
                    </m:r>
                    <m:r>
                      <a:rPr lang="en-US" i="1" dirty="0" smtClean="0">
                        <a:latin typeface="Cambria Math"/>
                      </a:rPr>
                      <m:t> </m:t>
                    </m:r>
                  </m:oMath>
                </a14:m>
                <a:r>
                  <a:rPr lang="en-US" dirty="0"/>
                  <a:t>sets taken from </a:t>
                </a:r>
                <a14:m>
                  <m:oMath xmlns:m="http://schemas.openxmlformats.org/officeDocument/2006/math">
                    <m:r>
                      <a:rPr lang="en-US" i="1" dirty="0" smtClean="0">
                        <a:latin typeface="Cambria Math"/>
                      </a:rPr>
                      <m:t>𝑘</m:t>
                    </m:r>
                  </m:oMath>
                </a14:m>
                <a:r>
                  <a:rPr lang="en-US" dirty="0"/>
                  <a:t> given sets.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1111" t="-1728" r="-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3074927343"/>
              </p:ext>
            </p:extLst>
          </p:nvPr>
        </p:nvGraphicFramePr>
        <p:xfrm>
          <a:off x="2733675" y="3352800"/>
          <a:ext cx="3675063" cy="419100"/>
        </p:xfrm>
        <a:graphic>
          <a:graphicData uri="http://schemas.openxmlformats.org/presentationml/2006/ole">
            <mc:AlternateContent xmlns:mc="http://schemas.openxmlformats.org/markup-compatibility/2006">
              <mc:Choice xmlns:v="urn:schemas-microsoft-com:vml" Requires="v">
                <p:oleObj spid="_x0000_s2090" name="Equation" r:id="rId4" imgW="1777680" imgH="203040" progId="Equation.3">
                  <p:embed/>
                </p:oleObj>
              </mc:Choice>
              <mc:Fallback>
                <p:oleObj name="Equation" r:id="rId4" imgW="1777680" imgH="203040" progId="Equation.3">
                  <p:embed/>
                  <p:pic>
                    <p:nvPicPr>
                      <p:cNvPr id="0" name="Object 6"/>
                      <p:cNvPicPr>
                        <a:picLocks noChangeAspect="1" noChangeArrowheads="1"/>
                      </p:cNvPicPr>
                      <p:nvPr/>
                    </p:nvPicPr>
                    <p:blipFill>
                      <a:blip r:embed="rId5"/>
                      <a:srcRect/>
                      <a:stretch>
                        <a:fillRect/>
                      </a:stretch>
                    </p:blipFill>
                    <p:spPr bwMode="auto">
                      <a:xfrm>
                        <a:off x="2733675" y="3352800"/>
                        <a:ext cx="3675063"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524561082"/>
              </p:ext>
            </p:extLst>
          </p:nvPr>
        </p:nvGraphicFramePr>
        <p:xfrm>
          <a:off x="1851025" y="4330700"/>
          <a:ext cx="5746750" cy="498475"/>
        </p:xfrm>
        <a:graphic>
          <a:graphicData uri="http://schemas.openxmlformats.org/presentationml/2006/ole">
            <mc:AlternateContent xmlns:mc="http://schemas.openxmlformats.org/markup-compatibility/2006">
              <mc:Choice xmlns:v="urn:schemas-microsoft-com:vml" Requires="v">
                <p:oleObj spid="_x0000_s2091" name="Equation" r:id="rId6" imgW="2781000" imgH="241200" progId="Equation.3">
                  <p:embed/>
                </p:oleObj>
              </mc:Choice>
              <mc:Fallback>
                <p:oleObj name="Equation" r:id="rId6" imgW="2781000" imgH="241200" progId="Equation.3">
                  <p:embed/>
                  <p:pic>
                    <p:nvPicPr>
                      <p:cNvPr id="0" name="Object 7"/>
                      <p:cNvPicPr>
                        <a:picLocks noChangeAspect="1" noChangeArrowheads="1"/>
                      </p:cNvPicPr>
                      <p:nvPr/>
                    </p:nvPicPr>
                    <p:blipFill>
                      <a:blip r:embed="rId7"/>
                      <a:srcRect/>
                      <a:stretch>
                        <a:fillRect/>
                      </a:stretch>
                    </p:blipFill>
                    <p:spPr bwMode="auto">
                      <a:xfrm>
                        <a:off x="1851025" y="4330700"/>
                        <a:ext cx="574675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86079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Problem</a:t>
                </a:r>
                <a:r>
                  <a:rPr lang="en-US" dirty="0"/>
                  <a:t>: In set</a:t>
                </a:r>
                <a:r>
                  <a:rPr lang="pt-BR" dirty="0"/>
                  <a:t> </a:t>
                </a:r>
                <a14:m>
                  <m:oMath xmlns:m="http://schemas.openxmlformats.org/officeDocument/2006/math">
                    <m:r>
                      <a:rPr lang="pt-BR" i="1" dirty="0" smtClean="0">
                        <a:latin typeface="Cambria Math"/>
                      </a:rPr>
                      <m:t>𝑋</m:t>
                    </m:r>
                    <m:r>
                      <a:rPr lang="pt-BR" i="1" dirty="0" smtClean="0">
                        <a:latin typeface="Cambria Math"/>
                      </a:rPr>
                      <m:t>={1,2,…,10000}</m:t>
                    </m:r>
                  </m:oMath>
                </a14:m>
                <a:r>
                  <a:rPr lang="pt-BR" dirty="0"/>
                  <a:t> how many numbers are not divisible by any of the numbers 3, 4, 7?</a:t>
                </a: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4989988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r>
                  <a:rPr lang="en-US" b="1" dirty="0"/>
                  <a:t>Problem</a:t>
                </a:r>
                <a:r>
                  <a:rPr lang="en-US" dirty="0"/>
                  <a:t>: In set</a:t>
                </a:r>
                <a:r>
                  <a:rPr lang="pt-BR" dirty="0"/>
                  <a:t> </a:t>
                </a:r>
                <a14:m>
                  <m:oMath xmlns:m="http://schemas.openxmlformats.org/officeDocument/2006/math">
                    <m:r>
                      <a:rPr lang="pt-BR" i="1" dirty="0">
                        <a:latin typeface="Cambria Math"/>
                      </a:rPr>
                      <m:t>𝑋</m:t>
                    </m:r>
                    <m:r>
                      <a:rPr lang="pt-BR" i="1" dirty="0">
                        <a:latin typeface="Cambria Math"/>
                      </a:rPr>
                      <m:t>={1,2,…,10000}</m:t>
                    </m:r>
                  </m:oMath>
                </a14:m>
                <a:r>
                  <a:rPr lang="pt-BR" dirty="0"/>
                  <a:t> how many numbers are not divisible by any of the numbers 3, 4, 7?</a:t>
                </a:r>
                <a:endParaRPr lang="en-US" dirty="0"/>
              </a:p>
              <a:p>
                <a:pPr indent="0">
                  <a:buNone/>
                </a:pPr>
                <a:r>
                  <a:rPr lang="pt-BR" b="1" dirty="0"/>
                  <a:t>Solution</a:t>
                </a:r>
                <a:r>
                  <a:rPr lang="pt-BR" dirty="0"/>
                  <a:t>: </a:t>
                </a:r>
              </a:p>
              <a:p>
                <a:pPr indent="0">
                  <a:buNone/>
                </a:pPr>
                <a:r>
                  <a:rPr lang="pt-BR" dirty="0"/>
                  <a:t>Let </a:t>
                </a:r>
                <a14:m>
                  <m:oMath xmlns:m="http://schemas.openxmlformats.org/officeDocument/2006/math">
                    <m:sSub>
                      <m:sSubPr>
                        <m:ctrlPr>
                          <a:rPr lang="pt-BR" i="1" dirty="0" smtClean="0">
                            <a:latin typeface="Cambria Math" panose="02040503050406030204" pitchFamily="18" charset="0"/>
                          </a:rPr>
                        </m:ctrlPr>
                      </m:sSubPr>
                      <m:e>
                        <m:r>
                          <a:rPr lang="en-US" b="0" i="1" dirty="0" smtClean="0">
                            <a:latin typeface="Cambria Math"/>
                          </a:rPr>
                          <m:t>𝐴</m:t>
                        </m:r>
                      </m:e>
                      <m:sub>
                        <m:r>
                          <a:rPr lang="en-US" b="0" i="1" dirty="0" smtClean="0">
                            <a:latin typeface="Cambria Math"/>
                          </a:rPr>
                          <m:t>1</m:t>
                        </m:r>
                      </m:sub>
                    </m:sSub>
                  </m:oMath>
                </a14:m>
                <a:r>
                  <a:rPr lang="pt-BR" dirty="0"/>
                  <a:t> is the set of numbers in </a:t>
                </a:r>
                <a14:m>
                  <m:oMath xmlns:m="http://schemas.openxmlformats.org/officeDocument/2006/math">
                    <m:r>
                      <a:rPr lang="pt-BR" i="1" dirty="0" smtClean="0">
                        <a:latin typeface="Cambria Math"/>
                      </a:rPr>
                      <m:t>𝑋</m:t>
                    </m:r>
                  </m:oMath>
                </a14:m>
                <a:r>
                  <a:rPr lang="pt-BR" dirty="0"/>
                  <a:t> and divisible by 3</a:t>
                </a:r>
              </a:p>
              <a:p>
                <a:pPr indent="0">
                  <a:buNone/>
                </a:pPr>
                <a:r>
                  <a:rPr lang="pt-BR" dirty="0"/>
                  <a:t> </a:t>
                </a:r>
                <a14:m>
                  <m:oMath xmlns:m="http://schemas.openxmlformats.org/officeDocument/2006/math">
                    <m:sSub>
                      <m:sSubPr>
                        <m:ctrlPr>
                          <a:rPr lang="pt-BR" i="1" dirty="0">
                            <a:latin typeface="Cambria Math" panose="02040503050406030204" pitchFamily="18" charset="0"/>
                          </a:rPr>
                        </m:ctrlPr>
                      </m:sSubPr>
                      <m:e>
                        <m:r>
                          <a:rPr lang="en-US" b="0" i="1" dirty="0" smtClean="0">
                            <a:latin typeface="Cambria Math"/>
                          </a:rPr>
                          <m:t>      </m:t>
                        </m:r>
                        <m:r>
                          <a:rPr lang="en-US" i="1" dirty="0">
                            <a:latin typeface="Cambria Math"/>
                          </a:rPr>
                          <m:t>𝐴</m:t>
                        </m:r>
                      </m:e>
                      <m:sub>
                        <m:r>
                          <a:rPr lang="en-US" b="0" i="1" dirty="0" smtClean="0">
                            <a:latin typeface="Cambria Math"/>
                          </a:rPr>
                          <m:t>2</m:t>
                        </m:r>
                      </m:sub>
                    </m:sSub>
                  </m:oMath>
                </a14:m>
                <a:r>
                  <a:rPr lang="pt-BR" dirty="0"/>
                  <a:t> is the set of numbers in </a:t>
                </a:r>
                <a14:m>
                  <m:oMath xmlns:m="http://schemas.openxmlformats.org/officeDocument/2006/math">
                    <m:r>
                      <a:rPr lang="pt-BR" i="1" dirty="0">
                        <a:latin typeface="Cambria Math"/>
                      </a:rPr>
                      <m:t>𝑋</m:t>
                    </m:r>
                    <m:r>
                      <a:rPr lang="pt-BR" i="1" dirty="0">
                        <a:latin typeface="Cambria Math"/>
                      </a:rPr>
                      <m:t> </m:t>
                    </m:r>
                  </m:oMath>
                </a14:m>
                <a:r>
                  <a:rPr lang="pt-BR" dirty="0"/>
                  <a:t>and divisible by4</a:t>
                </a:r>
              </a:p>
              <a:p>
                <a:pPr indent="0">
                  <a:buNone/>
                </a:pPr>
                <a:r>
                  <a:rPr lang="pt-BR" dirty="0"/>
                  <a:t> </a:t>
                </a:r>
                <a14:m>
                  <m:oMath xmlns:m="http://schemas.openxmlformats.org/officeDocument/2006/math">
                    <m:sSub>
                      <m:sSubPr>
                        <m:ctrlPr>
                          <a:rPr lang="pt-BR" i="1" dirty="0">
                            <a:latin typeface="Cambria Math" panose="02040503050406030204" pitchFamily="18" charset="0"/>
                          </a:rPr>
                        </m:ctrlPr>
                      </m:sSubPr>
                      <m:e>
                        <m:r>
                          <a:rPr lang="en-US" b="0" i="1" dirty="0" smtClean="0">
                            <a:latin typeface="Cambria Math"/>
                          </a:rPr>
                          <m:t>      </m:t>
                        </m:r>
                        <m:r>
                          <a:rPr lang="en-US" i="1" dirty="0">
                            <a:latin typeface="Cambria Math"/>
                          </a:rPr>
                          <m:t>𝐴</m:t>
                        </m:r>
                      </m:e>
                      <m:sub>
                        <m:r>
                          <a:rPr lang="en-US" b="0" i="1" dirty="0" smtClean="0">
                            <a:latin typeface="Cambria Math"/>
                          </a:rPr>
                          <m:t>3</m:t>
                        </m:r>
                      </m:sub>
                    </m:sSub>
                  </m:oMath>
                </a14:m>
                <a:r>
                  <a:rPr lang="pt-BR" dirty="0"/>
                  <a:t> is the set of numbers in </a:t>
                </a:r>
                <a14:m>
                  <m:oMath xmlns:m="http://schemas.openxmlformats.org/officeDocument/2006/math">
                    <m:r>
                      <a:rPr lang="pt-BR" i="1" dirty="0">
                        <a:latin typeface="Cambria Math"/>
                      </a:rPr>
                      <m:t>𝑋</m:t>
                    </m:r>
                    <m:r>
                      <a:rPr lang="pt-BR" i="1" dirty="0">
                        <a:latin typeface="Cambria Math"/>
                      </a:rPr>
                      <m:t> </m:t>
                    </m:r>
                  </m:oMath>
                </a14:m>
                <a:r>
                  <a:rPr lang="pt-BR" dirty="0"/>
                  <a:t>and divisible by 7</a:t>
                </a:r>
              </a:p>
              <a:p>
                <a:pPr indent="0">
                  <a:buNone/>
                </a:pPr>
                <a:r>
                  <a:rPr lang="pt-BR" dirty="0"/>
                  <a:t>Then: </a:t>
                </a:r>
                <a:endParaRPr lang="en-US" i="1" dirty="0">
                  <a:latin typeface="Cambria Math"/>
                </a:endParaRPr>
              </a:p>
              <a:p>
                <a:pPr indent="0">
                  <a:buNone/>
                </a:pPr>
                <a14:m>
                  <m:oMath xmlns:m="http://schemas.openxmlformats.org/officeDocument/2006/math">
                    <m:r>
                      <a:rPr lang="pt-BR" i="1" dirty="0" smtClean="0">
                        <a:latin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en-US" i="1" dirty="0" smtClean="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2</m:t>
                        </m:r>
                      </m:sub>
                    </m:sSub>
                    <m:r>
                      <a:rPr lang="en-US"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3</m:t>
                        </m:r>
                      </m:sub>
                    </m:sSub>
                    <m:r>
                      <a:rPr lang="pt-BR" i="1" dirty="0" smtClean="0">
                        <a:latin typeface="Cambria Math"/>
                      </a:rPr>
                      <m:t>|= |</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smtClean="0">
                        <a:latin typeface="Cambria Math"/>
                      </a:rPr>
                      <m:t>| </m:t>
                    </m:r>
                    <m:r>
                      <a:rPr lang="pt-BR" i="1" dirty="0">
                        <a:latin typeface="Cambria Math"/>
                      </a:rPr>
                      <m:t>+ </m:t>
                    </m:r>
                    <m:r>
                      <a:rPr lang="pt-BR" i="1" dirty="0" smtClean="0">
                        <a:latin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2</m:t>
                        </m:r>
                      </m:sub>
                    </m:sSub>
                    <m:r>
                      <a:rPr lang="pt-BR" i="1" dirty="0" smtClean="0">
                        <a:latin typeface="Cambria Math"/>
                      </a:rPr>
                      <m:t>| </m:t>
                    </m:r>
                    <m:r>
                      <a:rPr lang="pt-BR" i="1" dirty="0">
                        <a:latin typeface="Cambria Math"/>
                      </a:rPr>
                      <m:t>+ </m:t>
                    </m:r>
                    <m:r>
                      <a:rPr lang="pt-BR" i="1" dirty="0" smtClean="0">
                        <a:latin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3</m:t>
                        </m:r>
                      </m:sub>
                    </m:sSub>
                    <m:r>
                      <a:rPr lang="pt-BR" i="1" dirty="0" smtClean="0">
                        <a:latin typeface="Cambria Math"/>
                      </a:rPr>
                      <m:t>| </m:t>
                    </m:r>
                    <m:r>
                      <a:rPr lang="pt-BR" i="1" dirty="0">
                        <a:latin typeface="Cambria Math"/>
                      </a:rPr>
                      <m:t>− </m:t>
                    </m:r>
                    <m:r>
                      <a:rPr lang="pt-BR" i="1" dirty="0" smtClean="0">
                        <a:latin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smtClean="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2</m:t>
                        </m:r>
                      </m:sub>
                    </m:sSub>
                    <m:r>
                      <a:rPr lang="pt-BR" i="1" dirty="0" smtClean="0">
                        <a:latin typeface="Cambria Math"/>
                      </a:rPr>
                      <m:t>| </m:t>
                    </m:r>
                    <m:r>
                      <a:rPr lang="pt-BR" i="1" dirty="0">
                        <a:latin typeface="Cambria Math"/>
                      </a:rPr>
                      <m:t>− </m:t>
                    </m:r>
                    <m:r>
                      <a:rPr lang="pt-BR" i="1" dirty="0" smtClean="0">
                        <a:latin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3</m:t>
                        </m:r>
                      </m:sub>
                    </m:sSub>
                    <m:r>
                      <a:rPr lang="pt-BR" i="1" dirty="0" smtClean="0">
                        <a:latin typeface="Cambria Math"/>
                      </a:rPr>
                      <m:t>| − |</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2</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3</m:t>
                        </m:r>
                      </m:sub>
                    </m:sSub>
                    <m:r>
                      <a:rPr lang="pt-BR" i="1" dirty="0" smtClean="0">
                        <a:latin typeface="Cambria Math"/>
                      </a:rPr>
                      <m:t>| </m:t>
                    </m:r>
                    <m:r>
                      <a:rPr lang="pt-BR" i="1" dirty="0">
                        <a:latin typeface="Cambria Math"/>
                      </a:rPr>
                      <m:t>+ </m:t>
                    </m:r>
                    <m:r>
                      <a:rPr lang="pt-BR" i="1" dirty="0" smtClean="0">
                        <a:latin typeface="Cambria Math"/>
                        <a:sym typeface="Symbol" pitchFamily="18" charset="2"/>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2</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b="0" i="1" dirty="0" smtClean="0">
                            <a:latin typeface="Cambria Math"/>
                          </a:rPr>
                          <m:t>3</m:t>
                        </m:r>
                      </m:sub>
                    </m:sSub>
                    <m:r>
                      <a:rPr lang="pt-BR" i="1" dirty="0" smtClean="0">
                        <a:latin typeface="Cambria Math"/>
                      </a:rPr>
                      <m:t>|</m:t>
                    </m:r>
                  </m:oMath>
                </a14:m>
                <a:r>
                  <a:rPr lang="pt-BR" dirty="0">
                    <a:sym typeface="Symbol" pitchFamily="18" charset="2"/>
                  </a:rPr>
                  <a:t>	</a:t>
                </a:r>
                <a:endParaRPr lang="pt-BR"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1101575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10</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92500"/>
              </a:bodyPr>
              <a:lstStyle/>
              <a:p>
                <a:pPr indent="0">
                  <a:buNone/>
                </a:pPr>
                <a:r>
                  <a:rPr lang="en-US" dirty="0">
                    <a:sym typeface="Symbol" pitchFamily="18" charset="2"/>
                  </a:rPr>
                  <a:t>Calculate directly the values, we have</a:t>
                </a:r>
              </a:p>
              <a:p>
                <a:pPr indent="0">
                  <a:buNone/>
                </a:pPr>
                <a14:m>
                  <m:oMath xmlns:m="http://schemas.openxmlformats.org/officeDocument/2006/math">
                    <m:sSub>
                      <m:sSubPr>
                        <m:ctrlPr>
                          <a:rPr lang="pt-BR" i="1" dirty="0" smtClean="0">
                            <a:solidFill>
                              <a:srgbClr val="FF0000"/>
                            </a:solidFill>
                            <a:latin typeface="Cambria Math" panose="02040503050406030204" pitchFamily="18" charset="0"/>
                            <a:sym typeface="Symbol" pitchFamily="18" charset="2"/>
                          </a:rPr>
                        </m:ctrlPr>
                      </m:sSubPr>
                      <m:e>
                        <m:r>
                          <a:rPr lang="en-US" b="0" i="1" dirty="0" smtClean="0">
                            <a:solidFill>
                              <a:srgbClr val="FF0000"/>
                            </a:solidFill>
                            <a:latin typeface="Cambria Math"/>
                            <a:sym typeface="Symbol" pitchFamily="18" charset="2"/>
                          </a:rPr>
                          <m:t>𝑁</m:t>
                        </m:r>
                      </m:e>
                      <m:sub>
                        <m:r>
                          <a:rPr lang="en-US" b="0" i="1" dirty="0" smtClean="0">
                            <a:solidFill>
                              <a:srgbClr val="FF0000"/>
                            </a:solidFill>
                            <a:latin typeface="Cambria Math"/>
                            <a:sym typeface="Symbol" pitchFamily="18" charset="2"/>
                          </a:rPr>
                          <m:t>1</m:t>
                        </m:r>
                      </m:sub>
                    </m:sSub>
                    <m:r>
                      <a:rPr lang="pt-BR" i="1" dirty="0" smtClean="0">
                        <a:latin typeface="Cambria Math"/>
                        <a:sym typeface="Symbol" pitchFamily="18" charset="2"/>
                      </a:rPr>
                      <m:t>= </m:t>
                    </m:r>
                    <m:r>
                      <a:rPr lang="pt-BR" i="1" dirty="0">
                        <a:latin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a:latin typeface="Cambria Math"/>
                      </a:rPr>
                      <m:t>| + |</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2</m:t>
                        </m:r>
                      </m:sub>
                    </m:sSub>
                    <m:r>
                      <a:rPr lang="pt-BR" i="1" dirty="0">
                        <a:latin typeface="Cambria Math"/>
                      </a:rPr>
                      <m:t>| + |</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3</m:t>
                        </m:r>
                      </m:sub>
                    </m:sSub>
                    <m:r>
                      <a:rPr lang="pt-BR" i="1" dirty="0">
                        <a:latin typeface="Cambria Math"/>
                      </a:rPr>
                      <m:t>|</m:t>
                    </m:r>
                  </m:oMath>
                </a14:m>
                <a:r>
                  <a:rPr lang="pt-BR" dirty="0">
                    <a:sym typeface="Symbol" pitchFamily="18" charset="2"/>
                  </a:rPr>
                  <a:t> </a:t>
                </a:r>
              </a:p>
              <a:p>
                <a:pPr indent="0">
                  <a:buNone/>
                </a:pPr>
                <a14:m>
                  <m:oMath xmlns:m="http://schemas.openxmlformats.org/officeDocument/2006/math">
                    <m:r>
                      <a:rPr lang="pt-BR" i="1" dirty="0" smtClean="0">
                        <a:latin typeface="Cambria Math"/>
                        <a:sym typeface="Symbol" pitchFamily="18" charset="2"/>
                      </a:rPr>
                      <m:t>=</m:t>
                    </m:r>
                  </m:oMath>
                </a14:m>
                <a:r>
                  <a:rPr lang="pt-BR" dirty="0">
                    <a:sym typeface="Symbol" pitchFamily="18" charset="2"/>
                  </a:rPr>
                  <a:t> </a:t>
                </a:r>
                <a14:m>
                  <m:oMath xmlns:m="http://schemas.openxmlformats.org/officeDocument/2006/math">
                    <m:r>
                      <a:rPr lang="pt-BR" i="1" dirty="0" smtClean="0">
                        <a:latin typeface="Cambria Math"/>
                        <a:sym typeface="Symbol" pitchFamily="18" charset="2"/>
                      </a:rPr>
                      <m:t>[10000/3] + [10000/4] + [10000/7] </m:t>
                    </m:r>
                  </m:oMath>
                </a14:m>
                <a:r>
                  <a:rPr lang="pt-BR" dirty="0">
                    <a:sym typeface="Symbol" pitchFamily="18" charset="2"/>
                  </a:rPr>
                  <a:t>       	</a:t>
                </a:r>
                <a:r>
                  <a:rPr lang="pt-BR" b="1" dirty="0">
                    <a:sym typeface="Symbol" pitchFamily="18" charset="2"/>
                  </a:rPr>
                  <a:t>    	       </a:t>
                </a:r>
                <a14:m>
                  <m:oMath xmlns:m="http://schemas.openxmlformats.org/officeDocument/2006/math">
                    <m:r>
                      <a:rPr lang="pt-BR" b="1" i="1" dirty="0" smtClean="0">
                        <a:latin typeface="Cambria Math"/>
                        <a:sym typeface="Symbol" pitchFamily="18" charset="2"/>
                      </a:rPr>
                      <m:t>= </m:t>
                    </m:r>
                    <m:r>
                      <a:rPr lang="pt-BR" i="1" dirty="0">
                        <a:latin typeface="Cambria Math"/>
                        <a:sym typeface="Symbol" pitchFamily="18" charset="2"/>
                      </a:rPr>
                      <m:t>3333 + 2500 + 1428 = 7261.</m:t>
                    </m:r>
                  </m:oMath>
                </a14:m>
                <a:endParaRPr lang="en-US" dirty="0">
                  <a:sym typeface="Symbol" pitchFamily="18" charset="2"/>
                </a:endParaRPr>
              </a:p>
              <a:p>
                <a:pPr indent="0">
                  <a:buNone/>
                </a:pPr>
                <a14:m>
                  <m:oMath xmlns:m="http://schemas.openxmlformats.org/officeDocument/2006/math">
                    <m:sSub>
                      <m:sSubPr>
                        <m:ctrlPr>
                          <a:rPr lang="pt-BR" i="1" dirty="0" smtClean="0">
                            <a:solidFill>
                              <a:srgbClr val="FF0000"/>
                            </a:solidFill>
                            <a:latin typeface="Cambria Math" panose="02040503050406030204" pitchFamily="18" charset="0"/>
                            <a:sym typeface="Symbol" pitchFamily="18" charset="2"/>
                          </a:rPr>
                        </m:ctrlPr>
                      </m:sSubPr>
                      <m:e>
                        <m:r>
                          <a:rPr lang="en-US" b="0" i="1" dirty="0" smtClean="0">
                            <a:solidFill>
                              <a:srgbClr val="FF0000"/>
                            </a:solidFill>
                            <a:latin typeface="Cambria Math"/>
                            <a:sym typeface="Symbol" pitchFamily="18" charset="2"/>
                          </a:rPr>
                          <m:t>𝑁</m:t>
                        </m:r>
                      </m:e>
                      <m:sub>
                        <m:r>
                          <a:rPr lang="en-US" b="0" i="1" dirty="0" smtClean="0">
                            <a:solidFill>
                              <a:srgbClr val="FF0000"/>
                            </a:solidFill>
                            <a:latin typeface="Cambria Math"/>
                            <a:sym typeface="Symbol" pitchFamily="18" charset="2"/>
                          </a:rPr>
                          <m:t>2</m:t>
                        </m:r>
                      </m:sub>
                    </m:sSub>
                    <m:r>
                      <a:rPr lang="pt-BR" i="1" dirty="0" smtClean="0">
                        <a:latin typeface="Cambria Math"/>
                        <a:sym typeface="Symbol" pitchFamily="18" charset="2"/>
                      </a:rPr>
                      <m:t>= </m:t>
                    </m:r>
                    <m:d>
                      <m:dPr>
                        <m:begChr m:val="|"/>
                        <m:endChr m:val="|"/>
                        <m:ctrlPr>
                          <a:rPr lang="pt-BR" i="1" dirty="0">
                            <a:latin typeface="Cambria Math" panose="02040503050406030204" pitchFamily="18" charset="0"/>
                          </a:rPr>
                        </m:ctrlPr>
                      </m:dPr>
                      <m:e>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2</m:t>
                            </m:r>
                          </m:sub>
                        </m:sSub>
                      </m:e>
                    </m:d>
                    <m:r>
                      <a:rPr lang="en-US" b="0" i="1" dirty="0" smtClean="0">
                        <a:latin typeface="Cambria Math"/>
                      </a:rPr>
                      <m:t>+</m:t>
                    </m:r>
                    <m:r>
                      <a:rPr lang="pt-BR" i="1" dirty="0">
                        <a:latin typeface="Cambria Math"/>
                      </a:rPr>
                      <m:t> </m:t>
                    </m:r>
                    <m:d>
                      <m:dPr>
                        <m:begChr m:val="|"/>
                        <m:endChr m:val="|"/>
                        <m:ctrlPr>
                          <a:rPr lang="pt-BR" i="1" dirty="0">
                            <a:latin typeface="Cambria Math" panose="02040503050406030204" pitchFamily="18" charset="0"/>
                          </a:rPr>
                        </m:ctrlPr>
                      </m:dPr>
                      <m:e>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3</m:t>
                            </m:r>
                          </m:sub>
                        </m:sSub>
                      </m:e>
                    </m:d>
                    <m:r>
                      <a:rPr lang="en-US" b="0" i="1" dirty="0" smtClean="0">
                        <a:latin typeface="Cambria Math"/>
                      </a:rPr>
                      <m:t>+</m:t>
                    </m:r>
                    <m:r>
                      <a:rPr lang="pt-BR" i="1" dirty="0">
                        <a:latin typeface="Cambria Math"/>
                      </a:rPr>
                      <m:t> |</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2</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3</m:t>
                        </m:r>
                      </m:sub>
                    </m:sSub>
                    <m:r>
                      <a:rPr lang="pt-BR" i="1" dirty="0">
                        <a:latin typeface="Cambria Math"/>
                      </a:rPr>
                      <m:t>|</m:t>
                    </m:r>
                  </m:oMath>
                </a14:m>
                <a:r>
                  <a:rPr lang="pt-BR" dirty="0"/>
                  <a:t> </a:t>
                </a:r>
                <a:endParaRPr lang="en-US" dirty="0">
                  <a:sym typeface="Symbol" pitchFamily="18" charset="2"/>
                </a:endParaRPr>
              </a:p>
              <a:p>
                <a:pPr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 </m:t>
                      </m:r>
                      <m:r>
                        <a:rPr lang="pt-BR" i="1" dirty="0">
                          <a:latin typeface="Cambria Math"/>
                          <a:sym typeface="Symbol" pitchFamily="18" charset="2"/>
                        </a:rPr>
                        <m:t>[10000/(3∗4)] + [10000/(3∗7)] + [10000/(4∗</m:t>
                      </m:r>
                      <m:r>
                        <a:rPr lang="pt-BR" i="1" dirty="0" smtClean="0">
                          <a:latin typeface="Cambria Math"/>
                          <a:sym typeface="Symbol" pitchFamily="18" charset="2"/>
                        </a:rPr>
                        <m:t>7)]</m:t>
                      </m:r>
                    </m:oMath>
                  </m:oMathPara>
                </a14:m>
                <a:endParaRPr lang="en-US" dirty="0">
                  <a:sym typeface="Symbol" pitchFamily="18" charset="2"/>
                </a:endParaRPr>
              </a:p>
              <a:p>
                <a:pPr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 </m:t>
                      </m:r>
                      <m:r>
                        <a:rPr lang="pt-BR" i="1" dirty="0">
                          <a:latin typeface="Cambria Math"/>
                          <a:sym typeface="Symbol" pitchFamily="18" charset="2"/>
                        </a:rPr>
                        <m:t>833 + 476 + 357 = 1666.</m:t>
                      </m:r>
                    </m:oMath>
                  </m:oMathPara>
                </a14:m>
                <a:endParaRPr lang="en-US" dirty="0">
                  <a:sym typeface="Symbol" pitchFamily="18" charset="2"/>
                </a:endParaRPr>
              </a:p>
              <a:p>
                <a:pPr indent="0">
                  <a:buNone/>
                </a:pPr>
                <a:r>
                  <a:rPr lang="pt-BR" dirty="0">
                    <a:sym typeface="Symbol" pitchFamily="18" charset="2"/>
                  </a:rPr>
                  <a:t> </a:t>
                </a:r>
                <a14:m>
                  <m:oMath xmlns:m="http://schemas.openxmlformats.org/officeDocument/2006/math">
                    <m:sSub>
                      <m:sSubPr>
                        <m:ctrlPr>
                          <a:rPr lang="pt-BR" i="1" dirty="0" smtClean="0">
                            <a:solidFill>
                              <a:srgbClr val="FF0000"/>
                            </a:solidFill>
                            <a:latin typeface="Cambria Math" panose="02040503050406030204" pitchFamily="18" charset="0"/>
                            <a:sym typeface="Symbol" pitchFamily="18" charset="2"/>
                          </a:rPr>
                        </m:ctrlPr>
                      </m:sSubPr>
                      <m:e>
                        <m:r>
                          <a:rPr lang="en-US" b="0" i="1" dirty="0" smtClean="0">
                            <a:solidFill>
                              <a:srgbClr val="FF0000"/>
                            </a:solidFill>
                            <a:latin typeface="Cambria Math"/>
                            <a:sym typeface="Symbol" pitchFamily="18" charset="2"/>
                          </a:rPr>
                          <m:t>𝑁</m:t>
                        </m:r>
                      </m:e>
                      <m:sub>
                        <m:r>
                          <a:rPr lang="en-US" b="0" i="1" dirty="0" smtClean="0">
                            <a:solidFill>
                              <a:srgbClr val="FF0000"/>
                            </a:solidFill>
                            <a:latin typeface="Cambria Math"/>
                            <a:sym typeface="Symbol" pitchFamily="18" charset="2"/>
                          </a:rPr>
                          <m:t>3</m:t>
                        </m:r>
                      </m:sub>
                    </m:sSub>
                    <m:r>
                      <a:rPr lang="en-US" b="0" i="1" dirty="0" smtClean="0">
                        <a:latin typeface="Cambria Math"/>
                        <a:sym typeface="Symbol" pitchFamily="18" charset="2"/>
                      </a:rPr>
                      <m:t>=</m:t>
                    </m:r>
                    <m:r>
                      <a:rPr lang="pt-BR" i="1" dirty="0">
                        <a:latin typeface="Cambria Math"/>
                        <a:sym typeface="Symbol" pitchFamily="18" charset="2"/>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1</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2</m:t>
                        </m:r>
                      </m:sub>
                    </m:sSub>
                    <m:r>
                      <a:rPr lang="pt-BR" i="1" dirty="0">
                        <a:latin typeface="Cambria Math"/>
                        <a:ea typeface="Cambria Math"/>
                      </a:rPr>
                      <m:t>∩</m:t>
                    </m:r>
                    <m:sSub>
                      <m:sSubPr>
                        <m:ctrlPr>
                          <a:rPr lang="pt-BR" i="1" dirty="0">
                            <a:latin typeface="Cambria Math" panose="02040503050406030204" pitchFamily="18" charset="0"/>
                          </a:rPr>
                        </m:ctrlPr>
                      </m:sSubPr>
                      <m:e>
                        <m:r>
                          <a:rPr lang="en-US" i="1" dirty="0">
                            <a:latin typeface="Cambria Math"/>
                          </a:rPr>
                          <m:t>𝐴</m:t>
                        </m:r>
                      </m:e>
                      <m:sub>
                        <m:r>
                          <a:rPr lang="en-US" i="1" dirty="0">
                            <a:latin typeface="Cambria Math"/>
                          </a:rPr>
                          <m:t>3</m:t>
                        </m:r>
                      </m:sub>
                    </m:sSub>
                    <m:r>
                      <a:rPr lang="pt-BR" i="1" dirty="0">
                        <a:latin typeface="Cambria Math"/>
                      </a:rPr>
                      <m:t>| </m:t>
                    </m:r>
                    <m:r>
                      <a:rPr lang="pt-BR" i="1" dirty="0" smtClean="0">
                        <a:latin typeface="Cambria Math"/>
                      </a:rPr>
                      <m:t>= [10000/(3∗4∗7)] = 119</m:t>
                    </m:r>
                  </m:oMath>
                </a14:m>
                <a:endParaRPr lang="en-US" dirty="0">
                  <a:sym typeface="Symbol" pitchFamily="18" charset="2"/>
                </a:endParaRPr>
              </a:p>
              <a:p>
                <a:pPr indent="0">
                  <a:buNone/>
                </a:pPr>
                <a:r>
                  <a:rPr lang="en-US" dirty="0">
                    <a:sym typeface="Symbol" pitchFamily="18" charset="2"/>
                  </a:rPr>
                  <a:t>From that, we have the number of numbers that are either divisible by 3, or by 4 or by 7 is</a:t>
                </a:r>
              </a:p>
              <a:p>
                <a:pPr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𝑁</m:t>
                      </m:r>
                      <m:r>
                        <a:rPr lang="pt-BR" i="1" dirty="0" smtClean="0">
                          <a:latin typeface="Cambria Math"/>
                          <a:sym typeface="Symbol" pitchFamily="18" charset="2"/>
                        </a:rPr>
                        <m:t> = </m:t>
                      </m:r>
                      <m:sSub>
                        <m:sSubPr>
                          <m:ctrlPr>
                            <a:rPr lang="pt-BR"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𝑁</m:t>
                          </m:r>
                        </m:e>
                        <m:sub>
                          <m:r>
                            <a:rPr lang="en-US" b="0" i="1" dirty="0" smtClean="0">
                              <a:latin typeface="Cambria Math"/>
                              <a:sym typeface="Symbol" pitchFamily="18" charset="2"/>
                            </a:rPr>
                            <m:t>1</m:t>
                          </m:r>
                        </m:sub>
                      </m:sSub>
                      <m:r>
                        <a:rPr lang="pt-BR" i="1" dirty="0">
                          <a:latin typeface="Cambria Math"/>
                          <a:sym typeface="Symbol" pitchFamily="18" charset="2"/>
                        </a:rPr>
                        <m:t>−</m:t>
                      </m:r>
                      <m:sSub>
                        <m:sSubPr>
                          <m:ctrlPr>
                            <a:rPr lang="pt-BR"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𝑁</m:t>
                          </m:r>
                        </m:e>
                        <m:sub>
                          <m:r>
                            <a:rPr lang="en-US" b="0" i="1" dirty="0" smtClean="0">
                              <a:latin typeface="Cambria Math"/>
                              <a:sym typeface="Symbol" pitchFamily="18" charset="2"/>
                            </a:rPr>
                            <m:t>2</m:t>
                          </m:r>
                        </m:sub>
                      </m:sSub>
                      <m:r>
                        <a:rPr lang="pt-BR" i="1" dirty="0">
                          <a:latin typeface="Cambria Math"/>
                          <a:sym typeface="Symbol" pitchFamily="18" charset="2"/>
                        </a:rPr>
                        <m:t>+</m:t>
                      </m:r>
                      <m:sSub>
                        <m:sSubPr>
                          <m:ctrlPr>
                            <a:rPr lang="pt-BR"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𝑁</m:t>
                          </m:r>
                        </m:e>
                        <m:sub>
                          <m:r>
                            <a:rPr lang="en-US" b="0" i="1" dirty="0" smtClean="0">
                              <a:latin typeface="Cambria Math"/>
                              <a:sym typeface="Symbol" pitchFamily="18" charset="2"/>
                            </a:rPr>
                            <m:t>3</m:t>
                          </m:r>
                        </m:sub>
                      </m:sSub>
                      <m:r>
                        <a:rPr lang="pt-BR" i="1" dirty="0">
                          <a:latin typeface="Cambria Math"/>
                          <a:sym typeface="Symbol" pitchFamily="18" charset="2"/>
                        </a:rPr>
                        <m:t> = 7261 − 1666 + 119</m:t>
                      </m:r>
                      <m:r>
                        <a:rPr lang="en-US" b="0" i="1" dirty="0" smtClean="0">
                          <a:latin typeface="Cambria Math"/>
                          <a:sym typeface="Symbol" pitchFamily="18" charset="2"/>
                        </a:rPr>
                        <m:t>=5714</m:t>
                      </m:r>
                      <m:r>
                        <a:rPr lang="pt-BR" i="1" dirty="0">
                          <a:latin typeface="Cambria Math"/>
                          <a:sym typeface="Symbol" pitchFamily="18" charset="2"/>
                        </a:rPr>
                        <m:t>.</m:t>
                      </m:r>
                    </m:oMath>
                  </m:oMathPara>
                </a14:m>
                <a:endParaRPr lang="en-US" dirty="0">
                  <a:sym typeface="Symbol" pitchFamily="18" charset="2"/>
                </a:endParaRPr>
              </a:p>
              <a:p>
                <a:pPr indent="0">
                  <a:buNone/>
                </a:pPr>
                <a:r>
                  <a:rPr lang="pt-BR" dirty="0">
                    <a:sym typeface="Symbol" pitchFamily="18" charset="2"/>
                  </a:rPr>
                  <a:t>So, the number of numbers not divisible by any 3, 4, 7 is:</a:t>
                </a:r>
              </a:p>
              <a:p>
                <a:pPr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𝐾</m:t>
                      </m:r>
                      <m:r>
                        <a:rPr lang="pt-BR" i="1" dirty="0" smtClean="0">
                          <a:latin typeface="Cambria Math"/>
                          <a:sym typeface="Symbol" pitchFamily="18" charset="2"/>
                        </a:rPr>
                        <m:t> = 10000 − </m:t>
                      </m:r>
                      <m:r>
                        <a:rPr lang="pt-BR" i="1" dirty="0" smtClean="0">
                          <a:latin typeface="Cambria Math"/>
                          <a:sym typeface="Symbol" pitchFamily="18" charset="2"/>
                        </a:rPr>
                        <m:t>𝑁</m:t>
                      </m:r>
                      <m:r>
                        <a:rPr lang="pt-BR" i="1" dirty="0" smtClean="0">
                          <a:latin typeface="Cambria Math"/>
                          <a:sym typeface="Symbol" pitchFamily="18" charset="2"/>
                        </a:rPr>
                        <m:t> = 4286. </m:t>
                      </m:r>
                    </m:oMath>
                  </m:oMathPara>
                </a14:m>
                <a:endParaRPr lang="en-US"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t="-741"/>
                </a:stretch>
              </a:blipFill>
            </p:spPr>
            <p:txBody>
              <a:bodyPr/>
              <a:lstStyle/>
              <a:p>
                <a:r>
                  <a:rPr lang="en-US">
                    <a:noFill/>
                  </a:rPr>
                  <a:t> </a:t>
                </a:r>
              </a:p>
            </p:txBody>
          </p:sp>
        </mc:Fallback>
      </mc:AlternateContent>
    </p:spTree>
    <p:extLst>
      <p:ext uri="{BB962C8B-B14F-4D97-AF65-F5344CB8AC3E}">
        <p14:creationId xmlns:p14="http://schemas.microsoft.com/office/powerpoint/2010/main" val="12558643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35</a:t>
            </a:fld>
            <a:endParaRPr lang="en-US"/>
          </a:p>
        </p:txBody>
      </p:sp>
      <p:sp>
        <p:nvSpPr>
          <p:cNvPr id="5" name="Content Placeholder 4"/>
          <p:cNvSpPr>
            <a:spLocks noGrp="1"/>
          </p:cNvSpPr>
          <p:nvPr>
            <p:ph sz="quarter" idx="1"/>
          </p:nvPr>
        </p:nvSpPr>
        <p:spPr/>
        <p:txBody>
          <a:bodyPr/>
          <a:lstStyle/>
          <a:p>
            <a:pPr algn="just"/>
            <a:r>
              <a:rPr lang="pt-BR" b="1" dirty="0"/>
              <a:t>Problem</a:t>
            </a:r>
            <a:r>
              <a:rPr lang="pt-BR" dirty="0"/>
              <a:t>: Given that there are 1232 students studying Spanish, 879 students stydying French and 114 students studying Russian, 103 students studying both Spanish and French, 23 students studying Spanish and Russian, 14 students studying both French and Russian. If all 2092 students study at least 1 foreign language, how many </a:t>
            </a:r>
            <a:r>
              <a:rPr lang="pt-BR" dirty="0" err="1"/>
              <a:t>students</a:t>
            </a:r>
            <a:r>
              <a:rPr lang="pt-BR" dirty="0"/>
              <a:t> </a:t>
            </a:r>
            <a:r>
              <a:rPr lang="pt-BR" dirty="0" err="1"/>
              <a:t>study</a:t>
            </a:r>
            <a:r>
              <a:rPr lang="pt-BR" dirty="0"/>
              <a:t> all 3 </a:t>
            </a:r>
            <a:r>
              <a:rPr lang="pt-BR" dirty="0" err="1"/>
              <a:t>languages</a:t>
            </a:r>
            <a:r>
              <a:rPr lang="pt-BR" dirty="0"/>
              <a:t>?</a:t>
            </a:r>
          </a:p>
          <a:p>
            <a:endParaRPr lang="en-US" dirty="0"/>
          </a:p>
        </p:txBody>
      </p:sp>
    </p:spTree>
    <p:extLst>
      <p:ext uri="{BB962C8B-B14F-4D97-AF65-F5344CB8AC3E}">
        <p14:creationId xmlns:p14="http://schemas.microsoft.com/office/powerpoint/2010/main" val="42749185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36</a:t>
            </a:fld>
            <a:endParaRPr lang="en-US"/>
          </a:p>
        </p:txBody>
      </p:sp>
      <p:sp>
        <p:nvSpPr>
          <p:cNvPr id="5" name="Content Placeholder 4"/>
          <p:cNvSpPr>
            <a:spLocks noGrp="1"/>
          </p:cNvSpPr>
          <p:nvPr>
            <p:ph sz="quarter" idx="1"/>
          </p:nvPr>
        </p:nvSpPr>
        <p:spPr/>
        <p:txBody>
          <a:bodyPr/>
          <a:lstStyle/>
          <a:p>
            <a:pPr algn="just"/>
            <a:r>
              <a:rPr lang="es-MX" b="1" dirty="0" err="1"/>
              <a:t>Letter</a:t>
            </a:r>
            <a:r>
              <a:rPr lang="es-MX" b="1" dirty="0"/>
              <a:t> </a:t>
            </a:r>
            <a:r>
              <a:rPr lang="es-MX" b="1" dirty="0" err="1"/>
              <a:t>problem:</a:t>
            </a:r>
            <a:r>
              <a:rPr lang="es-MX" dirty="0" err="1"/>
              <a:t>There</a:t>
            </a:r>
            <a:r>
              <a:rPr lang="es-MX" dirty="0"/>
              <a:t> are </a:t>
            </a:r>
            <a:r>
              <a:rPr lang="es-MX" i="1" dirty="0"/>
              <a:t>n</a:t>
            </a:r>
            <a:r>
              <a:rPr lang="es-MX" dirty="0"/>
              <a:t> </a:t>
            </a:r>
            <a:r>
              <a:rPr lang="es-MX" dirty="0" err="1"/>
              <a:t>letters</a:t>
            </a:r>
            <a:r>
              <a:rPr lang="es-MX" dirty="0"/>
              <a:t> </a:t>
            </a:r>
            <a:r>
              <a:rPr lang="es-MX" dirty="0" err="1"/>
              <a:t>put</a:t>
            </a:r>
            <a:r>
              <a:rPr lang="es-MX" dirty="0"/>
              <a:t> in </a:t>
            </a:r>
            <a:r>
              <a:rPr lang="es-MX" i="1" dirty="0"/>
              <a:t>n</a:t>
            </a:r>
            <a:r>
              <a:rPr lang="es-MX" dirty="0"/>
              <a:t> </a:t>
            </a:r>
            <a:r>
              <a:rPr lang="es-MX" dirty="0" err="1"/>
              <a:t>pre-addressed</a:t>
            </a:r>
            <a:r>
              <a:rPr lang="es-MX" dirty="0"/>
              <a:t> </a:t>
            </a:r>
            <a:r>
              <a:rPr lang="es-MX" dirty="0" err="1"/>
              <a:t>envelops</a:t>
            </a:r>
            <a:r>
              <a:rPr lang="es-MX" dirty="0"/>
              <a:t>. </a:t>
            </a:r>
            <a:r>
              <a:rPr lang="es-MX" dirty="0" err="1"/>
              <a:t>Randomly</a:t>
            </a:r>
            <a:r>
              <a:rPr lang="es-MX" dirty="0"/>
              <a:t> </a:t>
            </a:r>
            <a:r>
              <a:rPr lang="es-MX" dirty="0" err="1"/>
              <a:t>put</a:t>
            </a:r>
            <a:r>
              <a:rPr lang="es-MX" dirty="0"/>
              <a:t> </a:t>
            </a:r>
            <a:r>
              <a:rPr lang="es-MX" dirty="0" err="1"/>
              <a:t>letters</a:t>
            </a:r>
            <a:r>
              <a:rPr lang="es-MX" dirty="0"/>
              <a:t> </a:t>
            </a:r>
            <a:r>
              <a:rPr lang="es-MX" dirty="0" err="1"/>
              <a:t>into</a:t>
            </a:r>
            <a:r>
              <a:rPr lang="es-MX" dirty="0"/>
              <a:t> </a:t>
            </a:r>
            <a:r>
              <a:rPr lang="es-MX" dirty="0" err="1"/>
              <a:t>envelops</a:t>
            </a:r>
            <a:r>
              <a:rPr lang="es-MX" dirty="0"/>
              <a:t>. </a:t>
            </a:r>
            <a:r>
              <a:rPr lang="es-MX" dirty="0" err="1"/>
              <a:t>What</a:t>
            </a:r>
            <a:r>
              <a:rPr lang="es-MX" dirty="0"/>
              <a:t> </a:t>
            </a:r>
            <a:r>
              <a:rPr lang="es-MX" dirty="0" err="1"/>
              <a:t>is</a:t>
            </a:r>
            <a:r>
              <a:rPr lang="es-MX" dirty="0"/>
              <a:t> </a:t>
            </a:r>
            <a:r>
              <a:rPr lang="es-MX" dirty="0" err="1"/>
              <a:t>the</a:t>
            </a:r>
            <a:r>
              <a:rPr lang="es-MX" dirty="0"/>
              <a:t> </a:t>
            </a:r>
            <a:r>
              <a:rPr lang="es-MX" dirty="0" err="1"/>
              <a:t>probability</a:t>
            </a:r>
            <a:r>
              <a:rPr lang="es-MX" dirty="0"/>
              <a:t> </a:t>
            </a:r>
            <a:r>
              <a:rPr lang="es-MX" dirty="0" err="1"/>
              <a:t>that</a:t>
            </a:r>
            <a:r>
              <a:rPr lang="es-MX" dirty="0"/>
              <a:t> </a:t>
            </a:r>
            <a:r>
              <a:rPr lang="es-MX" dirty="0" err="1"/>
              <a:t>none</a:t>
            </a:r>
            <a:r>
              <a:rPr lang="es-MX" dirty="0"/>
              <a:t> </a:t>
            </a:r>
            <a:r>
              <a:rPr lang="es-MX" dirty="0" err="1"/>
              <a:t>of</a:t>
            </a:r>
            <a:r>
              <a:rPr lang="es-MX" dirty="0"/>
              <a:t> </a:t>
            </a:r>
            <a:r>
              <a:rPr lang="es-MX" dirty="0" err="1"/>
              <a:t>the</a:t>
            </a:r>
            <a:r>
              <a:rPr lang="es-MX" dirty="0"/>
              <a:t> </a:t>
            </a:r>
            <a:r>
              <a:rPr lang="es-MX" dirty="0" err="1"/>
              <a:t>letters</a:t>
            </a:r>
            <a:r>
              <a:rPr lang="es-MX" dirty="0"/>
              <a:t> </a:t>
            </a:r>
            <a:r>
              <a:rPr lang="es-MX" dirty="0" err="1"/>
              <a:t>get</a:t>
            </a:r>
            <a:r>
              <a:rPr lang="es-MX" dirty="0"/>
              <a:t> </a:t>
            </a:r>
            <a:r>
              <a:rPr lang="es-MX" dirty="0" err="1"/>
              <a:t>to</a:t>
            </a:r>
            <a:r>
              <a:rPr lang="es-MX" dirty="0"/>
              <a:t> </a:t>
            </a:r>
            <a:r>
              <a:rPr lang="es-MX" dirty="0" err="1"/>
              <a:t>the</a:t>
            </a:r>
            <a:r>
              <a:rPr lang="es-MX" dirty="0"/>
              <a:t> </a:t>
            </a:r>
            <a:r>
              <a:rPr lang="es-MX" dirty="0" err="1"/>
              <a:t>correct</a:t>
            </a:r>
            <a:r>
              <a:rPr lang="es-MX" dirty="0"/>
              <a:t> </a:t>
            </a:r>
            <a:r>
              <a:rPr lang="es-MX" dirty="0" err="1"/>
              <a:t>address</a:t>
            </a:r>
            <a:r>
              <a:rPr lang="es-MX" dirty="0"/>
              <a:t>?</a:t>
            </a:r>
          </a:p>
          <a:p>
            <a:endParaRPr lang="en-US" dirty="0"/>
          </a:p>
        </p:txBody>
      </p:sp>
    </p:spTree>
    <p:extLst>
      <p:ext uri="{BB962C8B-B14F-4D97-AF65-F5344CB8AC3E}">
        <p14:creationId xmlns:p14="http://schemas.microsoft.com/office/powerpoint/2010/main" val="9668723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185335"/>
                <a:ext cx="8229600" cy="5181600"/>
              </a:xfrm>
            </p:spPr>
            <p:txBody>
              <a:bodyPr>
                <a:normAutofit fontScale="85000" lnSpcReduction="20000"/>
              </a:bodyPr>
              <a:lstStyle/>
              <a:p>
                <a:pPr algn="just"/>
                <a:r>
                  <a:rPr lang="es-MX" b="1" dirty="0" err="1"/>
                  <a:t>Letter</a:t>
                </a:r>
                <a:r>
                  <a:rPr lang="es-MX" b="1" dirty="0"/>
                  <a:t> problema</a:t>
                </a:r>
                <a:r>
                  <a:rPr lang="es-MX" dirty="0"/>
                  <a:t>: </a:t>
                </a:r>
                <a:r>
                  <a:rPr lang="es-MX" dirty="0" err="1"/>
                  <a:t>There</a:t>
                </a:r>
                <a:r>
                  <a:rPr lang="es-MX" dirty="0"/>
                  <a:t> are </a:t>
                </a:r>
                <a:r>
                  <a:rPr lang="es-MX" i="1" dirty="0"/>
                  <a:t>n</a:t>
                </a:r>
                <a:r>
                  <a:rPr lang="es-MX" dirty="0"/>
                  <a:t> </a:t>
                </a:r>
                <a:r>
                  <a:rPr lang="es-MX" dirty="0" err="1"/>
                  <a:t>letters</a:t>
                </a:r>
                <a:r>
                  <a:rPr lang="es-MX" dirty="0"/>
                  <a:t> </a:t>
                </a:r>
                <a:r>
                  <a:rPr lang="es-MX" dirty="0" err="1"/>
                  <a:t>put</a:t>
                </a:r>
                <a:r>
                  <a:rPr lang="es-MX" dirty="0"/>
                  <a:t> in </a:t>
                </a:r>
                <a:r>
                  <a:rPr lang="es-MX" i="1" dirty="0"/>
                  <a:t>n</a:t>
                </a:r>
                <a:r>
                  <a:rPr lang="es-MX" dirty="0"/>
                  <a:t> </a:t>
                </a:r>
                <a:r>
                  <a:rPr lang="es-MX" dirty="0" err="1"/>
                  <a:t>pre-addressed</a:t>
                </a:r>
                <a:r>
                  <a:rPr lang="es-MX" dirty="0"/>
                  <a:t> </a:t>
                </a:r>
                <a:r>
                  <a:rPr lang="es-MX" dirty="0" err="1"/>
                  <a:t>envelops</a:t>
                </a:r>
                <a:r>
                  <a:rPr lang="es-MX" dirty="0"/>
                  <a:t>. </a:t>
                </a:r>
                <a:r>
                  <a:rPr lang="es-MX" dirty="0" err="1"/>
                  <a:t>Randomly</a:t>
                </a:r>
                <a:r>
                  <a:rPr lang="es-MX" dirty="0"/>
                  <a:t> </a:t>
                </a:r>
                <a:r>
                  <a:rPr lang="es-MX" dirty="0" err="1"/>
                  <a:t>put</a:t>
                </a:r>
                <a:r>
                  <a:rPr lang="es-MX" dirty="0"/>
                  <a:t> </a:t>
                </a:r>
                <a:r>
                  <a:rPr lang="es-MX" dirty="0" err="1"/>
                  <a:t>letters</a:t>
                </a:r>
                <a:r>
                  <a:rPr lang="es-MX" dirty="0"/>
                  <a:t> </a:t>
                </a:r>
                <a:r>
                  <a:rPr lang="es-MX" dirty="0" err="1"/>
                  <a:t>into</a:t>
                </a:r>
                <a:r>
                  <a:rPr lang="es-MX" dirty="0"/>
                  <a:t> </a:t>
                </a:r>
                <a:r>
                  <a:rPr lang="es-MX" dirty="0" err="1"/>
                  <a:t>envelops</a:t>
                </a:r>
                <a:r>
                  <a:rPr lang="es-MX" dirty="0"/>
                  <a:t>. </a:t>
                </a:r>
                <a:r>
                  <a:rPr lang="es-MX" dirty="0" err="1"/>
                  <a:t>What</a:t>
                </a:r>
                <a:r>
                  <a:rPr lang="es-MX" dirty="0"/>
                  <a:t> </a:t>
                </a:r>
                <a:r>
                  <a:rPr lang="es-MX" dirty="0" err="1"/>
                  <a:t>is</a:t>
                </a:r>
                <a:r>
                  <a:rPr lang="es-MX" dirty="0"/>
                  <a:t> </a:t>
                </a:r>
                <a:r>
                  <a:rPr lang="es-MX" dirty="0" err="1"/>
                  <a:t>the</a:t>
                </a:r>
                <a:r>
                  <a:rPr lang="es-MX" dirty="0"/>
                  <a:t> </a:t>
                </a:r>
                <a:r>
                  <a:rPr lang="es-MX" dirty="0" err="1"/>
                  <a:t>probability</a:t>
                </a:r>
                <a:r>
                  <a:rPr lang="es-MX" dirty="0"/>
                  <a:t> </a:t>
                </a:r>
                <a:r>
                  <a:rPr lang="es-MX" dirty="0" err="1"/>
                  <a:t>that</a:t>
                </a:r>
                <a:r>
                  <a:rPr lang="es-MX" dirty="0"/>
                  <a:t> </a:t>
                </a:r>
                <a:r>
                  <a:rPr lang="es-MX" dirty="0" err="1"/>
                  <a:t>none</a:t>
                </a:r>
                <a:r>
                  <a:rPr lang="es-MX" dirty="0"/>
                  <a:t> </a:t>
                </a:r>
                <a:r>
                  <a:rPr lang="es-MX" dirty="0" err="1"/>
                  <a:t>of</a:t>
                </a:r>
                <a:r>
                  <a:rPr lang="es-MX" dirty="0"/>
                  <a:t> </a:t>
                </a:r>
                <a:r>
                  <a:rPr lang="es-MX" dirty="0" err="1"/>
                  <a:t>the</a:t>
                </a:r>
                <a:r>
                  <a:rPr lang="es-MX" dirty="0"/>
                  <a:t> </a:t>
                </a:r>
                <a:r>
                  <a:rPr lang="es-MX" dirty="0" err="1"/>
                  <a:t>letters</a:t>
                </a:r>
                <a:r>
                  <a:rPr lang="es-MX" dirty="0"/>
                  <a:t> </a:t>
                </a:r>
                <a:r>
                  <a:rPr lang="es-MX" dirty="0" err="1"/>
                  <a:t>get</a:t>
                </a:r>
                <a:r>
                  <a:rPr lang="es-MX" dirty="0"/>
                  <a:t> </a:t>
                </a:r>
                <a:r>
                  <a:rPr lang="es-MX" dirty="0" err="1"/>
                  <a:t>to</a:t>
                </a:r>
                <a:r>
                  <a:rPr lang="es-MX" dirty="0"/>
                  <a:t> </a:t>
                </a:r>
                <a:r>
                  <a:rPr lang="es-MX" dirty="0" err="1"/>
                  <a:t>the</a:t>
                </a:r>
                <a:r>
                  <a:rPr lang="es-MX" dirty="0"/>
                  <a:t> </a:t>
                </a:r>
                <a:r>
                  <a:rPr lang="es-MX" dirty="0" err="1"/>
                  <a:t>correct</a:t>
                </a:r>
                <a:r>
                  <a:rPr lang="es-MX" dirty="0"/>
                  <a:t> </a:t>
                </a:r>
                <a:r>
                  <a:rPr lang="es-MX" dirty="0" err="1"/>
                  <a:t>address</a:t>
                </a:r>
                <a:r>
                  <a:rPr lang="es-MX" dirty="0"/>
                  <a:t>?</a:t>
                </a:r>
              </a:p>
              <a:p>
                <a:pPr algn="just"/>
                <a:r>
                  <a:rPr lang="es-MX" b="1" dirty="0" err="1"/>
                  <a:t>Hint</a:t>
                </a:r>
                <a:r>
                  <a:rPr lang="es-MX" dirty="0"/>
                  <a:t>: </a:t>
                </a:r>
                <a:r>
                  <a:rPr lang="es-MX" dirty="0" err="1"/>
                  <a:t>let</a:t>
                </a:r>
                <a:r>
                  <a:rPr lang="es-MX" dirty="0"/>
                  <a:t> </a:t>
                </a:r>
                <a14:m>
                  <m:oMath xmlns:m="http://schemas.openxmlformats.org/officeDocument/2006/math">
                    <m:sSub>
                      <m:sSubPr>
                        <m:ctrlPr>
                          <a:rPr lang="es-MX" i="1" smtClean="0">
                            <a:latin typeface="Cambria Math" panose="02040503050406030204" pitchFamily="18" charset="0"/>
                          </a:rPr>
                        </m:ctrlPr>
                      </m:sSubPr>
                      <m:e>
                        <m:r>
                          <a:rPr lang="en-US" b="0" i="1" smtClean="0">
                            <a:latin typeface="Cambria Math"/>
                          </a:rPr>
                          <m:t>𝐴</m:t>
                        </m:r>
                      </m:e>
                      <m:sub>
                        <m:r>
                          <a:rPr lang="en-US" b="0" i="1" smtClean="0">
                            <a:latin typeface="Cambria Math"/>
                          </a:rPr>
                          <m:t>𝑖</m:t>
                        </m:r>
                      </m:sub>
                    </m:sSub>
                  </m:oMath>
                </a14:m>
                <a:r>
                  <a:rPr lang="es-MX" dirty="0"/>
                  <a:t> be </a:t>
                </a:r>
                <a:r>
                  <a:rPr lang="es-MX" dirty="0" err="1"/>
                  <a:t>the</a:t>
                </a:r>
                <a:r>
                  <a:rPr lang="es-MX" dirty="0"/>
                  <a:t> set </a:t>
                </a:r>
                <a:r>
                  <a:rPr lang="es-MX" dirty="0" err="1"/>
                  <a:t>of</a:t>
                </a:r>
                <a:r>
                  <a:rPr lang="es-MX" dirty="0"/>
                  <a:t> </a:t>
                </a:r>
                <a:r>
                  <a:rPr lang="es-MX" dirty="0" err="1"/>
                  <a:t>ways</a:t>
                </a:r>
                <a:r>
                  <a:rPr lang="es-MX" dirty="0"/>
                  <a:t> </a:t>
                </a:r>
                <a:r>
                  <a:rPr lang="es-MX" dirty="0" err="1"/>
                  <a:t>to</a:t>
                </a:r>
                <a:r>
                  <a:rPr lang="es-MX" dirty="0"/>
                  <a:t> </a:t>
                </a:r>
                <a:r>
                  <a:rPr lang="es-MX" dirty="0" err="1"/>
                  <a:t>put</a:t>
                </a:r>
                <a:r>
                  <a:rPr lang="es-MX" dirty="0"/>
                  <a:t> </a:t>
                </a:r>
                <a:r>
                  <a:rPr lang="es-MX" dirty="0" err="1"/>
                  <a:t>letters</a:t>
                </a:r>
                <a:r>
                  <a:rPr lang="es-MX" dirty="0"/>
                  <a:t> </a:t>
                </a:r>
                <a:r>
                  <a:rPr lang="es-MX" dirty="0" err="1"/>
                  <a:t>satisfying</a:t>
                </a:r>
                <a:r>
                  <a:rPr lang="es-MX" dirty="0"/>
                  <a:t> </a:t>
                </a:r>
                <a:r>
                  <a:rPr lang="es-MX" dirty="0" err="1"/>
                  <a:t>the</a:t>
                </a:r>
                <a:r>
                  <a:rPr lang="es-MX" dirty="0"/>
                  <a:t> </a:t>
                </a:r>
                <a14:m>
                  <m:oMath xmlns:m="http://schemas.openxmlformats.org/officeDocument/2006/math">
                    <m:r>
                      <a:rPr lang="es-MX" i="1" dirty="0" smtClean="0">
                        <a:latin typeface="Cambria Math"/>
                      </a:rPr>
                      <m:t>𝑖</m:t>
                    </m:r>
                    <m:r>
                      <a:rPr lang="en-US" b="0" i="1" baseline="30000" dirty="0" smtClean="0">
                        <a:latin typeface="Cambria Math" panose="02040503050406030204" pitchFamily="18" charset="0"/>
                      </a:rPr>
                      <m:t>𝑡h</m:t>
                    </m:r>
                  </m:oMath>
                </a14:m>
                <a:r>
                  <a:rPr lang="es-MX" dirty="0"/>
                  <a:t> </a:t>
                </a:r>
                <a:r>
                  <a:rPr lang="es-MX" dirty="0" err="1"/>
                  <a:t>get</a:t>
                </a:r>
                <a:r>
                  <a:rPr lang="es-MX" dirty="0"/>
                  <a:t> </a:t>
                </a:r>
                <a:r>
                  <a:rPr lang="es-MX" dirty="0" err="1"/>
                  <a:t>the</a:t>
                </a:r>
                <a:r>
                  <a:rPr lang="es-MX" dirty="0"/>
                  <a:t> </a:t>
                </a:r>
                <a:r>
                  <a:rPr lang="es-MX" dirty="0" err="1"/>
                  <a:t>correct</a:t>
                </a:r>
                <a:r>
                  <a:rPr lang="es-MX" dirty="0"/>
                  <a:t> </a:t>
                </a:r>
                <a:r>
                  <a:rPr lang="es-MX" dirty="0" err="1"/>
                  <a:t>address</a:t>
                </a:r>
                <a:r>
                  <a:rPr lang="es-MX" dirty="0"/>
                  <a:t>. </a:t>
                </a:r>
                <a:r>
                  <a:rPr lang="es-MX" dirty="0" err="1"/>
                  <a:t>Number</a:t>
                </a:r>
                <a:r>
                  <a:rPr lang="es-MX" dirty="0"/>
                  <a:t> </a:t>
                </a:r>
                <a:r>
                  <a:rPr lang="es-MX" dirty="0" err="1"/>
                  <a:t>of</a:t>
                </a:r>
                <a:r>
                  <a:rPr lang="es-MX" dirty="0"/>
                  <a:t> </a:t>
                </a:r>
                <a:r>
                  <a:rPr lang="es-MX" dirty="0" err="1"/>
                  <a:t>ways</a:t>
                </a:r>
                <a:r>
                  <a:rPr lang="es-MX" dirty="0"/>
                  <a:t> </a:t>
                </a:r>
                <a:r>
                  <a:rPr lang="es-MX" dirty="0" err="1"/>
                  <a:t>to</a:t>
                </a:r>
                <a:r>
                  <a:rPr lang="es-MX" dirty="0"/>
                  <a:t> </a:t>
                </a:r>
                <a:r>
                  <a:rPr lang="es-MX" dirty="0" err="1"/>
                  <a:t>put</a:t>
                </a:r>
                <a:r>
                  <a:rPr lang="es-MX" dirty="0"/>
                  <a:t> </a:t>
                </a:r>
                <a:r>
                  <a:rPr lang="es-MX" dirty="0" err="1"/>
                  <a:t>letters</a:t>
                </a:r>
                <a:r>
                  <a:rPr lang="es-MX" dirty="0"/>
                  <a:t> </a:t>
                </a:r>
                <a:r>
                  <a:rPr lang="es-MX" dirty="0" err="1"/>
                  <a:t>that</a:t>
                </a:r>
                <a:r>
                  <a:rPr lang="es-MX" dirty="0"/>
                  <a:t> </a:t>
                </a:r>
                <a:r>
                  <a:rPr lang="es-MX" dirty="0" err="1"/>
                  <a:t>satisfy</a:t>
                </a:r>
                <a:r>
                  <a:rPr lang="es-MX" dirty="0"/>
                  <a:t> </a:t>
                </a:r>
                <a:r>
                  <a:rPr lang="es-MX" dirty="0" err="1"/>
                  <a:t>requirements</a:t>
                </a:r>
                <a:r>
                  <a:rPr lang="es-MX" dirty="0"/>
                  <a:t>:</a:t>
                </a:r>
              </a:p>
              <a:p>
                <a:pPr marL="0" indent="0">
                  <a:buNone/>
                </a:pPr>
                <a:endParaRPr lang="es-MX" dirty="0"/>
              </a:p>
              <a:p>
                <a:pPr marL="0" indent="0">
                  <a:buNone/>
                </a:pPr>
                <a:endParaRPr lang="es-MX" dirty="0"/>
              </a:p>
              <a:p>
                <a:pPr marL="0" indent="0">
                  <a:buNone/>
                </a:pPr>
                <a:endParaRPr lang="es-MX" dirty="0"/>
              </a:p>
              <a:p>
                <a:pPr marL="0" indent="0" algn="just">
                  <a:buNone/>
                </a:pPr>
                <a:r>
                  <a:rPr lang="es-MX" dirty="0"/>
                  <a:t>In </a:t>
                </a:r>
                <a:r>
                  <a:rPr lang="es-MX" dirty="0" err="1"/>
                  <a:t>which</a:t>
                </a:r>
                <a:r>
                  <a:rPr lang="es-MX" dirty="0"/>
                  <a:t>, </a:t>
                </a:r>
                <a14:m>
                  <m:oMath xmlns:m="http://schemas.openxmlformats.org/officeDocument/2006/math">
                    <m:r>
                      <a:rPr lang="es-MX" i="1" dirty="0" smtClean="0">
                        <a:latin typeface="Cambria Math"/>
                      </a:rPr>
                      <m:t>𝑁</m:t>
                    </m:r>
                    <m:r>
                      <a:rPr lang="en-US" b="0" i="1" dirty="0" smtClean="0">
                        <a:latin typeface="Cambria Math"/>
                      </a:rPr>
                      <m:t>=</m:t>
                    </m:r>
                    <m:r>
                      <a:rPr lang="en-US" b="0" i="1" dirty="0" smtClean="0">
                        <a:latin typeface="Cambria Math"/>
                      </a:rPr>
                      <m:t>𝑛</m:t>
                    </m:r>
                    <m:r>
                      <a:rPr lang="en-US" b="0" i="1" dirty="0" smtClean="0">
                        <a:latin typeface="Cambria Math"/>
                      </a:rPr>
                      <m:t>!</m:t>
                    </m:r>
                  </m:oMath>
                </a14:m>
                <a:r>
                  <a:rPr lang="es-MX" dirty="0"/>
                  <a:t> </a:t>
                </a:r>
                <a:r>
                  <a:rPr lang="es-MX" dirty="0" err="1"/>
                  <a:t>is</a:t>
                </a:r>
                <a:r>
                  <a:rPr lang="es-MX" dirty="0"/>
                  <a:t> </a:t>
                </a:r>
                <a:r>
                  <a:rPr lang="es-MX" dirty="0" err="1"/>
                  <a:t>the</a:t>
                </a:r>
                <a:r>
                  <a:rPr lang="es-MX" dirty="0"/>
                  <a:t> </a:t>
                </a:r>
                <a:r>
                  <a:rPr lang="es-MX" dirty="0" err="1"/>
                  <a:t>number</a:t>
                </a:r>
                <a:r>
                  <a:rPr lang="es-MX" dirty="0"/>
                  <a:t> </a:t>
                </a:r>
                <a:r>
                  <a:rPr lang="es-MX" dirty="0" err="1"/>
                  <a:t>of</a:t>
                </a:r>
                <a:r>
                  <a:rPr lang="es-MX" dirty="0"/>
                  <a:t> </a:t>
                </a:r>
                <a:r>
                  <a:rPr lang="es-MX" dirty="0" err="1"/>
                  <a:t>ways</a:t>
                </a:r>
                <a:r>
                  <a:rPr lang="es-MX" dirty="0"/>
                  <a:t> </a:t>
                </a:r>
                <a:r>
                  <a:rPr lang="es-MX" dirty="0" err="1"/>
                  <a:t>to</a:t>
                </a:r>
                <a:r>
                  <a:rPr lang="es-MX" dirty="0"/>
                  <a:t> </a:t>
                </a:r>
                <a:r>
                  <a:rPr lang="es-MX" dirty="0" err="1"/>
                  <a:t>put</a:t>
                </a:r>
                <a:r>
                  <a:rPr lang="es-MX" dirty="0"/>
                  <a:t> </a:t>
                </a:r>
                <a:r>
                  <a:rPr lang="es-MX" dirty="0" err="1"/>
                  <a:t>the</a:t>
                </a:r>
                <a:r>
                  <a:rPr lang="es-MX" dirty="0"/>
                  <a:t> </a:t>
                </a:r>
                <a:r>
                  <a:rPr lang="es-MX" dirty="0" err="1"/>
                  <a:t>letter</a:t>
                </a:r>
                <a:r>
                  <a:rPr lang="es-MX" dirty="0"/>
                  <a:t>, </a:t>
                </a:r>
                <a14:m>
                  <m:oMath xmlns:m="http://schemas.openxmlformats.org/officeDocument/2006/math">
                    <m:r>
                      <a:rPr lang="es-MX" i="1" dirty="0" smtClean="0">
                        <a:latin typeface="Cambria Math"/>
                      </a:rPr>
                      <m:t>𝑁</m:t>
                    </m:r>
                    <m:r>
                      <a:rPr lang="es-MX" i="1" baseline="-25000" dirty="0" err="1">
                        <a:latin typeface="Cambria Math"/>
                      </a:rPr>
                      <m:t>𝑘</m:t>
                    </m:r>
                  </m:oMath>
                </a14:m>
                <a:r>
                  <a:rPr lang="es-MX" dirty="0"/>
                  <a:t> </a:t>
                </a:r>
                <a:r>
                  <a:rPr lang="es-MX" dirty="0" err="1"/>
                  <a:t>is</a:t>
                </a:r>
                <a:r>
                  <a:rPr lang="es-MX" dirty="0"/>
                  <a:t> </a:t>
                </a:r>
                <a:r>
                  <a:rPr lang="es-MX" dirty="0" err="1"/>
                  <a:t>the</a:t>
                </a:r>
                <a:r>
                  <a:rPr lang="es-MX" dirty="0"/>
                  <a:t> </a:t>
                </a:r>
                <a:r>
                  <a:rPr lang="es-MX" dirty="0" err="1"/>
                  <a:t>number</a:t>
                </a:r>
                <a:r>
                  <a:rPr lang="es-MX" dirty="0"/>
                  <a:t> </a:t>
                </a:r>
                <a:r>
                  <a:rPr lang="es-MX" dirty="0" err="1"/>
                  <a:t>of</a:t>
                </a:r>
                <a:r>
                  <a:rPr lang="es-MX" dirty="0"/>
                  <a:t> </a:t>
                </a:r>
                <a:r>
                  <a:rPr lang="es-MX" dirty="0" err="1"/>
                  <a:t>all</a:t>
                </a:r>
                <a:r>
                  <a:rPr lang="es-MX" dirty="0"/>
                  <a:t> </a:t>
                </a:r>
                <a:r>
                  <a:rPr lang="es-MX" dirty="0" err="1"/>
                  <a:t>ways</a:t>
                </a:r>
                <a:r>
                  <a:rPr lang="es-MX" dirty="0"/>
                  <a:t> </a:t>
                </a:r>
                <a:r>
                  <a:rPr lang="es-MX" dirty="0" err="1"/>
                  <a:t>to</a:t>
                </a:r>
                <a:r>
                  <a:rPr lang="es-MX" dirty="0"/>
                  <a:t> </a:t>
                </a:r>
                <a:r>
                  <a:rPr lang="es-MX" dirty="0" err="1"/>
                  <a:t>put</a:t>
                </a:r>
                <a:r>
                  <a:rPr lang="es-MX" dirty="0"/>
                  <a:t> a </a:t>
                </a:r>
                <a:r>
                  <a:rPr lang="es-MX" dirty="0" err="1"/>
                  <a:t>letter</a:t>
                </a:r>
                <a:r>
                  <a:rPr lang="es-MX" dirty="0"/>
                  <a:t> </a:t>
                </a:r>
                <a:r>
                  <a:rPr lang="es-MX" dirty="0" err="1"/>
                  <a:t>such</a:t>
                </a:r>
                <a:r>
                  <a:rPr lang="es-MX" dirty="0"/>
                  <a:t> </a:t>
                </a:r>
                <a:r>
                  <a:rPr lang="es-MX" dirty="0" err="1"/>
                  <a:t>that</a:t>
                </a:r>
                <a:r>
                  <a:rPr lang="es-MX" dirty="0"/>
                  <a:t> there are </a:t>
                </a:r>
                <a14:m>
                  <m:oMath xmlns:m="http://schemas.openxmlformats.org/officeDocument/2006/math">
                    <m:r>
                      <a:rPr lang="es-MX" i="1" dirty="0" smtClean="0">
                        <a:latin typeface="Cambria Math"/>
                      </a:rPr>
                      <m:t>𝑘</m:t>
                    </m:r>
                  </m:oMath>
                </a14:m>
                <a:r>
                  <a:rPr lang="es-MX" dirty="0"/>
                  <a:t> </a:t>
                </a:r>
                <a:r>
                  <a:rPr lang="es-MX" dirty="0" err="1"/>
                  <a:t>letters</a:t>
                </a:r>
                <a:r>
                  <a:rPr lang="es-MX" dirty="0"/>
                  <a:t> </a:t>
                </a:r>
                <a:r>
                  <a:rPr lang="es-MX" dirty="0" err="1"/>
                  <a:t>getting</a:t>
                </a:r>
                <a:r>
                  <a:rPr lang="es-MX" dirty="0"/>
                  <a:t> </a:t>
                </a:r>
                <a:r>
                  <a:rPr lang="es-MX" dirty="0" err="1"/>
                  <a:t>correct</a:t>
                </a:r>
                <a:r>
                  <a:rPr lang="es-MX" dirty="0"/>
                  <a:t> </a:t>
                </a:r>
                <a:r>
                  <a:rPr lang="es-MX" dirty="0" err="1"/>
                  <a:t>address</a:t>
                </a:r>
                <a:r>
                  <a:rPr lang="es-MX" dirty="0"/>
                  <a:t>.</a:t>
                </a:r>
              </a:p>
              <a:p>
                <a:pPr marL="0" indent="0" algn="just">
                  <a:buNone/>
                </a:pPr>
                <a:r>
                  <a:rPr lang="es-MX" dirty="0"/>
                  <a:t>There are </a:t>
                </a:r>
                <a14:m>
                  <m:oMath xmlns:m="http://schemas.openxmlformats.org/officeDocument/2006/math">
                    <m:sSubSup>
                      <m:sSubSupPr>
                        <m:ctrlPr>
                          <a:rPr lang="en-US" i="1" smtClean="0">
                            <a:solidFill>
                              <a:schemeClr val="tx1"/>
                            </a:solidFill>
                            <a:latin typeface="Cambria Math" panose="02040503050406030204" pitchFamily="18" charset="0"/>
                          </a:rPr>
                        </m:ctrlPr>
                      </m:sSubSupPr>
                      <m:e>
                        <m:r>
                          <a:rPr lang="en-US" i="1">
                            <a:solidFill>
                              <a:schemeClr val="tx1"/>
                            </a:solidFill>
                            <a:latin typeface="Cambria Math"/>
                          </a:rPr>
                          <m:t>𝐶</m:t>
                        </m:r>
                      </m:e>
                      <m:sub>
                        <m:r>
                          <a:rPr lang="en-US" b="0" i="1" smtClean="0">
                            <a:solidFill>
                              <a:schemeClr val="tx1"/>
                            </a:solidFill>
                            <a:latin typeface="Cambria Math"/>
                          </a:rPr>
                          <m:t>𝑛</m:t>
                        </m:r>
                      </m:sub>
                      <m:sup>
                        <m:r>
                          <a:rPr lang="en-US" b="0" i="1" smtClean="0">
                            <a:solidFill>
                              <a:schemeClr val="tx1"/>
                            </a:solidFill>
                            <a:latin typeface="Cambria Math"/>
                          </a:rPr>
                          <m:t>𝑘</m:t>
                        </m:r>
                      </m:sup>
                    </m:sSubSup>
                  </m:oMath>
                </a14:m>
                <a:r>
                  <a:rPr lang="es-MX" dirty="0"/>
                  <a:t> </a:t>
                </a:r>
                <a:r>
                  <a:rPr lang="es-MX" dirty="0" err="1"/>
                  <a:t>ways</a:t>
                </a:r>
                <a:r>
                  <a:rPr lang="es-MX" dirty="0"/>
                  <a:t> </a:t>
                </a:r>
                <a:r>
                  <a:rPr lang="es-MX" dirty="0" err="1"/>
                  <a:t>to</a:t>
                </a:r>
                <a:r>
                  <a:rPr lang="es-MX" dirty="0"/>
                  <a:t> </a:t>
                </a:r>
                <a:r>
                  <a:rPr lang="es-MX" dirty="0" err="1"/>
                  <a:t>select</a:t>
                </a:r>
                <a:r>
                  <a:rPr lang="es-MX" dirty="0"/>
                  <a:t> </a:t>
                </a:r>
                <a14:m>
                  <m:oMath xmlns:m="http://schemas.openxmlformats.org/officeDocument/2006/math">
                    <m:r>
                      <a:rPr lang="es-MX" i="1" dirty="0" smtClean="0">
                        <a:latin typeface="Cambria Math"/>
                      </a:rPr>
                      <m:t>𝑘</m:t>
                    </m:r>
                  </m:oMath>
                </a14:m>
                <a:r>
                  <a:rPr lang="es-MX" dirty="0"/>
                  <a:t> </a:t>
                </a:r>
                <a:r>
                  <a:rPr lang="es-MX" dirty="0" err="1"/>
                  <a:t>letters</a:t>
                </a:r>
                <a:r>
                  <a:rPr lang="es-MX" dirty="0"/>
                  <a:t> </a:t>
                </a:r>
                <a:r>
                  <a:rPr lang="es-MX" dirty="0" err="1"/>
                  <a:t>getting</a:t>
                </a:r>
                <a:r>
                  <a:rPr lang="es-MX" dirty="0"/>
                  <a:t> </a:t>
                </a:r>
                <a:r>
                  <a:rPr lang="es-MX" dirty="0" err="1"/>
                  <a:t>correct</a:t>
                </a:r>
                <a:r>
                  <a:rPr lang="es-MX" dirty="0"/>
                  <a:t> </a:t>
                </a:r>
                <a:r>
                  <a:rPr lang="es-MX" dirty="0" err="1"/>
                  <a:t>address</a:t>
                </a:r>
                <a:r>
                  <a:rPr lang="es-MX" dirty="0"/>
                  <a:t>. </a:t>
                </a:r>
                <a:r>
                  <a:rPr lang="es-MX" dirty="0" err="1"/>
                  <a:t>With</a:t>
                </a:r>
                <a:r>
                  <a:rPr lang="es-MX" dirty="0"/>
                  <a:t> </a:t>
                </a:r>
                <a:r>
                  <a:rPr lang="es-MX" dirty="0" err="1"/>
                  <a:t>each</a:t>
                </a:r>
                <a:r>
                  <a:rPr lang="es-MX" dirty="0"/>
                  <a:t> </a:t>
                </a:r>
                <a:r>
                  <a:rPr lang="es-MX" dirty="0" err="1"/>
                  <a:t>way</a:t>
                </a:r>
                <a:r>
                  <a:rPr lang="es-MX" dirty="0"/>
                  <a:t> </a:t>
                </a:r>
                <a:r>
                  <a:rPr lang="es-MX" dirty="0" err="1"/>
                  <a:t>to</a:t>
                </a:r>
                <a:r>
                  <a:rPr lang="es-MX" dirty="0"/>
                  <a:t> </a:t>
                </a:r>
                <a:r>
                  <a:rPr lang="es-MX" dirty="0" err="1"/>
                  <a:t>select</a:t>
                </a:r>
                <a:r>
                  <a:rPr lang="es-MX" dirty="0"/>
                  <a:t> </a:t>
                </a:r>
                <a14:m>
                  <m:oMath xmlns:m="http://schemas.openxmlformats.org/officeDocument/2006/math">
                    <m:r>
                      <a:rPr lang="es-MX" i="1" dirty="0">
                        <a:latin typeface="Cambria Math"/>
                      </a:rPr>
                      <m:t>𝑘</m:t>
                    </m:r>
                  </m:oMath>
                </a14:m>
                <a:r>
                  <a:rPr lang="es-MX" dirty="0"/>
                  <a:t> </a:t>
                </a:r>
                <a:r>
                  <a:rPr lang="es-MX" dirty="0" err="1"/>
                  <a:t>letters</a:t>
                </a:r>
                <a:r>
                  <a:rPr lang="es-MX" dirty="0"/>
                  <a:t> </a:t>
                </a:r>
                <a:r>
                  <a:rPr lang="es-MX" dirty="0" err="1"/>
                  <a:t>getting</a:t>
                </a:r>
                <a:r>
                  <a:rPr lang="es-MX" dirty="0"/>
                  <a:t> </a:t>
                </a:r>
                <a:r>
                  <a:rPr lang="es-MX" dirty="0" err="1"/>
                  <a:t>correct</a:t>
                </a:r>
                <a:r>
                  <a:rPr lang="es-MX" dirty="0"/>
                  <a:t> </a:t>
                </a:r>
                <a:r>
                  <a:rPr lang="es-MX" dirty="0" err="1"/>
                  <a:t>address</a:t>
                </a:r>
                <a:r>
                  <a:rPr lang="es-MX" dirty="0"/>
                  <a:t>, </a:t>
                </a:r>
                <a:r>
                  <a:rPr lang="es-MX" dirty="0" err="1"/>
                  <a:t>there</a:t>
                </a:r>
                <a:r>
                  <a:rPr lang="es-MX" dirty="0"/>
                  <a:t> are </a:t>
                </a:r>
                <a14:m>
                  <m:oMath xmlns:m="http://schemas.openxmlformats.org/officeDocument/2006/math">
                    <m:r>
                      <a:rPr lang="es-MX" i="1" dirty="0" smtClean="0">
                        <a:latin typeface="Cambria Math"/>
                      </a:rPr>
                      <m:t>(</m:t>
                    </m:r>
                    <m:r>
                      <a:rPr lang="es-MX" i="1" dirty="0" smtClean="0">
                        <a:latin typeface="Cambria Math"/>
                      </a:rPr>
                      <m:t>𝑛</m:t>
                    </m:r>
                    <m:r>
                      <a:rPr lang="es-MX" i="1" dirty="0" smtClean="0">
                        <a:latin typeface="Cambria Math"/>
                      </a:rPr>
                      <m:t>−</m:t>
                    </m:r>
                    <m:r>
                      <a:rPr lang="es-MX" i="1" dirty="0" smtClean="0">
                        <a:latin typeface="Cambria Math"/>
                      </a:rPr>
                      <m:t>𝑘</m:t>
                    </m:r>
                    <m:r>
                      <a:rPr lang="es-MX" i="1" dirty="0" smtClean="0">
                        <a:latin typeface="Cambria Math"/>
                      </a:rPr>
                      <m:t>)!</m:t>
                    </m:r>
                  </m:oMath>
                </a14:m>
                <a:r>
                  <a:rPr lang="es-MX" dirty="0"/>
                  <a:t> ways </a:t>
                </a:r>
                <a:r>
                  <a:rPr lang="es-MX" dirty="0" err="1"/>
                  <a:t>to</a:t>
                </a:r>
                <a:r>
                  <a:rPr lang="es-MX" dirty="0"/>
                  <a:t> </a:t>
                </a:r>
                <a:r>
                  <a:rPr lang="es-MX" dirty="0" err="1"/>
                  <a:t>remove</a:t>
                </a:r>
                <a:r>
                  <a:rPr lang="es-MX" dirty="0"/>
                  <a:t> </a:t>
                </a:r>
                <a:r>
                  <a:rPr lang="es-MX" dirty="0" err="1"/>
                  <a:t>remaining</a:t>
                </a:r>
                <a:r>
                  <a:rPr lang="es-MX" dirty="0"/>
                  <a:t> </a:t>
                </a:r>
                <a:r>
                  <a:rPr lang="es-MX" dirty="0" err="1"/>
                  <a:t>letters</a:t>
                </a:r>
                <a:r>
                  <a:rPr lang="es-MX" dirty="0"/>
                  <a:t>. So, </a:t>
                </a:r>
                <a14:m>
                  <m:oMath xmlns:m="http://schemas.openxmlformats.org/officeDocument/2006/math">
                    <m:sSub>
                      <m:sSubPr>
                        <m:ctrlPr>
                          <a:rPr lang="es-MX" i="1" smtClean="0">
                            <a:latin typeface="Cambria Math" panose="02040503050406030204" pitchFamily="18" charset="0"/>
                          </a:rPr>
                        </m:ctrlPr>
                      </m:sSubPr>
                      <m:e>
                        <m:r>
                          <a:rPr lang="en-US" b="0" i="1" smtClean="0">
                            <a:latin typeface="Cambria Math"/>
                          </a:rPr>
                          <m:t>𝑁</m:t>
                        </m:r>
                      </m:e>
                      <m:sub>
                        <m:r>
                          <a:rPr lang="en-US" b="0" i="1" smtClean="0">
                            <a:latin typeface="Cambria Math"/>
                          </a:rPr>
                          <m:t>𝑘</m:t>
                        </m:r>
                      </m:sub>
                    </m:sSub>
                    <m:r>
                      <a:rPr lang="en-US" b="0" i="1" smtClean="0">
                        <a:latin typeface="Cambria Math"/>
                      </a:rPr>
                      <m:t>=</m:t>
                    </m:r>
                    <m:sSubSup>
                      <m:sSubSupPr>
                        <m:ctrlPr>
                          <a:rPr lang="en-US" i="1">
                            <a:latin typeface="Cambria Math" panose="02040503050406030204" pitchFamily="18" charset="0"/>
                          </a:rPr>
                        </m:ctrlPr>
                      </m:sSubSupPr>
                      <m:e>
                        <m:r>
                          <a:rPr lang="en-US" i="1">
                            <a:latin typeface="Cambria Math"/>
                          </a:rPr>
                          <m:t>𝐶</m:t>
                        </m:r>
                      </m:e>
                      <m:sub>
                        <m:r>
                          <a:rPr lang="en-US" i="1">
                            <a:latin typeface="Cambria Math"/>
                          </a:rPr>
                          <m:t>𝑛</m:t>
                        </m:r>
                      </m:sub>
                      <m:sup>
                        <m:r>
                          <a:rPr lang="en-US" i="1">
                            <a:latin typeface="Cambria Math"/>
                          </a:rPr>
                          <m:t>𝑘</m:t>
                        </m:r>
                      </m:sup>
                    </m:sSubSup>
                    <m:d>
                      <m:dPr>
                        <m:ctrlPr>
                          <a:rPr lang="es-MX" i="1" dirty="0">
                            <a:latin typeface="Cambria Math" panose="02040503050406030204" pitchFamily="18" charset="0"/>
                          </a:rPr>
                        </m:ctrlPr>
                      </m:dPr>
                      <m:e>
                        <m:r>
                          <a:rPr lang="es-MX" i="1" dirty="0">
                            <a:latin typeface="Cambria Math"/>
                          </a:rPr>
                          <m:t>𝑛</m:t>
                        </m:r>
                        <m:r>
                          <a:rPr lang="es-MX" i="1" dirty="0">
                            <a:latin typeface="Cambria Math"/>
                          </a:rPr>
                          <m:t>−</m:t>
                        </m:r>
                        <m:r>
                          <a:rPr lang="es-MX" i="1" dirty="0">
                            <a:latin typeface="Cambria Math"/>
                          </a:rPr>
                          <m:t>𝑘</m:t>
                        </m:r>
                      </m:e>
                    </m:d>
                    <m:r>
                      <a:rPr lang="es-MX" i="1" dirty="0">
                        <a:latin typeface="Cambria Math"/>
                      </a:rPr>
                      <m:t>!</m:t>
                    </m:r>
                    <m:r>
                      <a:rPr lang="en-US" b="0" i="1" dirty="0" smtClean="0">
                        <a:latin typeface="Cambria Math"/>
                      </a:rPr>
                      <m:t>=</m:t>
                    </m:r>
                    <m:f>
                      <m:fPr>
                        <m:ctrlPr>
                          <a:rPr lang="en-US" b="0" i="1" dirty="0" smtClean="0">
                            <a:latin typeface="Cambria Math" panose="02040503050406030204" pitchFamily="18" charset="0"/>
                          </a:rPr>
                        </m:ctrlPr>
                      </m:fPr>
                      <m:num>
                        <m:r>
                          <a:rPr lang="en-US" b="0" i="1" dirty="0" smtClean="0">
                            <a:latin typeface="Cambria Math"/>
                          </a:rPr>
                          <m:t>𝑛</m:t>
                        </m:r>
                        <m:r>
                          <a:rPr lang="en-US" b="0" i="1" dirty="0" smtClean="0">
                            <a:latin typeface="Cambria Math"/>
                          </a:rPr>
                          <m:t>!</m:t>
                        </m:r>
                      </m:num>
                      <m:den>
                        <m:r>
                          <a:rPr lang="en-US" b="0" i="1" dirty="0" smtClean="0">
                            <a:latin typeface="Cambria Math"/>
                          </a:rPr>
                          <m:t>𝑘</m:t>
                        </m:r>
                        <m:r>
                          <a:rPr lang="en-US" b="0" i="1" dirty="0" smtClean="0">
                            <a:latin typeface="Cambria Math"/>
                          </a:rPr>
                          <m:t>!</m:t>
                        </m:r>
                      </m:den>
                    </m:f>
                  </m:oMath>
                </a14:m>
                <a:endParaRPr lang="es-MX" dirty="0"/>
              </a:p>
              <a:p>
                <a:r>
                  <a:rPr lang="en-US" dirty="0"/>
                  <a:t>Probability:</a:t>
                </a:r>
                <a14:m>
                  <m:oMath xmlns:m="http://schemas.openxmlformats.org/officeDocument/2006/math">
                    <m:r>
                      <a:rPr lang="en-US" b="0" i="0" smtClean="0">
                        <a:latin typeface="Cambria Math"/>
                      </a:rPr>
                      <m:t>  </m:t>
                    </m:r>
                    <m:f>
                      <m:fPr>
                        <m:ctrlPr>
                          <a:rPr lang="en-US" i="1" smtClean="0">
                            <a:latin typeface="Cambria Math" panose="02040503050406030204" pitchFamily="18" charset="0"/>
                          </a:rPr>
                        </m:ctrlPr>
                      </m:fPr>
                      <m:num>
                        <m:r>
                          <a:rPr lang="en-US" b="0" i="1" smtClean="0">
                            <a:latin typeface="Cambria Math"/>
                          </a:rPr>
                          <m:t>𝑁</m:t>
                        </m:r>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1</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2</m:t>
                            </m:r>
                          </m:sub>
                        </m:sSub>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(−1)</m:t>
                            </m:r>
                          </m:e>
                          <m:sup>
                            <m:r>
                              <a:rPr lang="en-US" b="0" i="1" smtClean="0">
                                <a:latin typeface="Cambria Math"/>
                              </a:rPr>
                              <m:t>𝑛</m:t>
                            </m:r>
                          </m:sup>
                        </m:sSup>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𝑛</m:t>
                            </m:r>
                          </m:sub>
                        </m:sSub>
                      </m:num>
                      <m:den>
                        <m:r>
                          <a:rPr lang="en-US" b="0" i="1" smtClean="0">
                            <a:latin typeface="Cambria Math"/>
                          </a:rPr>
                          <m:t>𝑁</m:t>
                        </m:r>
                      </m:den>
                    </m:f>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185335"/>
                <a:ext cx="8229600" cy="5181600"/>
              </a:xfrm>
              <a:blipFill>
                <a:blip r:embed="rId3"/>
                <a:stretch>
                  <a:fillRect l="-741" t="-1765" r="-74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1387953359"/>
              </p:ext>
            </p:extLst>
          </p:nvPr>
        </p:nvGraphicFramePr>
        <p:xfrm>
          <a:off x="1219200" y="2932112"/>
          <a:ext cx="6219825" cy="496888"/>
        </p:xfrm>
        <a:graphic>
          <a:graphicData uri="http://schemas.openxmlformats.org/presentationml/2006/ole">
            <mc:AlternateContent xmlns:mc="http://schemas.openxmlformats.org/markup-compatibility/2006">
              <mc:Choice xmlns:v="urn:schemas-microsoft-com:vml" Requires="v">
                <p:oleObj spid="_x0000_s3093" name="Equation" r:id="rId4" imgW="3009600" imgH="241200" progId="Equation.3">
                  <p:embed/>
                </p:oleObj>
              </mc:Choice>
              <mc:Fallback>
                <p:oleObj name="Equation" r:id="rId4" imgW="3009600" imgH="241200" progId="Equation.3">
                  <p:embed/>
                  <p:pic>
                    <p:nvPicPr>
                      <p:cNvPr id="0" name="Object 9"/>
                      <p:cNvPicPr>
                        <a:picLocks noChangeAspect="1" noChangeArrowheads="1"/>
                      </p:cNvPicPr>
                      <p:nvPr/>
                    </p:nvPicPr>
                    <p:blipFill>
                      <a:blip r:embed="rId5"/>
                      <a:srcRect/>
                      <a:stretch>
                        <a:fillRect/>
                      </a:stretch>
                    </p:blipFill>
                    <p:spPr bwMode="auto">
                      <a:xfrm>
                        <a:off x="1219200" y="2932112"/>
                        <a:ext cx="6219825"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8749431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38</a:t>
            </a:fld>
            <a:endParaRPr lang="en-US"/>
          </a:p>
        </p:txBody>
      </p:sp>
      <p:sp>
        <p:nvSpPr>
          <p:cNvPr id="5" name="Content Placeholder 4"/>
          <p:cNvSpPr>
            <a:spLocks noGrp="1"/>
          </p:cNvSpPr>
          <p:nvPr>
            <p:ph sz="quarter" idx="1"/>
          </p:nvPr>
        </p:nvSpPr>
        <p:spPr/>
        <p:txBody>
          <a:bodyPr/>
          <a:lstStyle/>
          <a:p>
            <a:r>
              <a:rPr lang="en-US" dirty="0"/>
              <a:t>How many ways are there to arrange 5 people A, B, C, D, E in a horizontal row so that A is not next to B?</a:t>
            </a:r>
          </a:p>
        </p:txBody>
      </p:sp>
    </p:spTree>
    <p:extLst>
      <p:ext uri="{BB962C8B-B14F-4D97-AF65-F5344CB8AC3E}">
        <p14:creationId xmlns:p14="http://schemas.microsoft.com/office/powerpoint/2010/main" val="7082524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39</a:t>
            </a:fld>
            <a:endParaRPr lang="en-US"/>
          </a:p>
        </p:txBody>
      </p:sp>
      <p:sp>
        <p:nvSpPr>
          <p:cNvPr id="5" name="Content Placeholder 4"/>
          <p:cNvSpPr>
            <a:spLocks noGrp="1"/>
          </p:cNvSpPr>
          <p:nvPr>
            <p:ph sz="quarter" idx="1"/>
          </p:nvPr>
        </p:nvSpPr>
        <p:spPr/>
        <p:txBody>
          <a:bodyPr/>
          <a:lstStyle/>
          <a:p>
            <a:r>
              <a:rPr lang="en-US" dirty="0"/>
              <a:t>Calculate the number of 5-digit numbers so that at least 2 digits are the same?</a:t>
            </a:r>
          </a:p>
        </p:txBody>
      </p:sp>
    </p:spTree>
    <p:extLst>
      <p:ext uri="{BB962C8B-B14F-4D97-AF65-F5344CB8AC3E}">
        <p14:creationId xmlns:p14="http://schemas.microsoft.com/office/powerpoint/2010/main" val="99853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a:t>
            </a:r>
          </a:p>
        </p:txBody>
      </p:sp>
      <p:sp>
        <p:nvSpPr>
          <p:cNvPr id="3" name="Footer Placeholder 2"/>
          <p:cNvSpPr>
            <a:spLocks noGrp="1"/>
          </p:cNvSpPr>
          <p:nvPr>
            <p:ph type="ftr" sz="quarter" idx="11"/>
          </p:nvPr>
        </p:nvSpPr>
        <p:spPr/>
        <p:txBody>
          <a:bodyPr/>
          <a:lstStyle/>
          <a:p>
            <a:pPr lvl="0"/>
            <a:r>
              <a:rPr lang="en-US" noProof="0"/>
              <a:t>http://www.ptit.edu.vn</a:t>
            </a:r>
          </a:p>
        </p:txBody>
      </p:sp>
      <p:sp>
        <p:nvSpPr>
          <p:cNvPr id="4" name="Slide Number Placeholder 3"/>
          <p:cNvSpPr>
            <a:spLocks noGrp="1"/>
          </p:cNvSpPr>
          <p:nvPr>
            <p:ph type="sldNum" sz="quarter" idx="12"/>
          </p:nvPr>
        </p:nvSpPr>
        <p:spPr/>
        <p:txBody>
          <a:bodyPr/>
          <a:lstStyle/>
          <a:p>
            <a:pPr lvl="0"/>
            <a:fld id="{B6F15528-21DE-4FAA-801E-634DDDAF4B2B}" type="slidenum">
              <a:rPr lang="en-US" noProof="0" smtClean="0"/>
              <a:pPr lvl="0"/>
              <a:t>40</a:t>
            </a:fld>
            <a:endParaRPr lang="en-US" noProof="0"/>
          </a:p>
        </p:txBody>
      </p:sp>
      <p:sp>
        <p:nvSpPr>
          <p:cNvPr id="5" name="Content Placeholder 4"/>
          <p:cNvSpPr>
            <a:spLocks noGrp="1"/>
          </p:cNvSpPr>
          <p:nvPr>
            <p:ph sz="quarter"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Basic counting principle</a:t>
            </a:r>
          </a:p>
          <a:p>
            <a:r>
              <a:rPr lang="en-US" dirty="0"/>
              <a:t>Conquer the the subproblem</a:t>
            </a:r>
          </a:p>
          <a:p>
            <a:r>
              <a:rPr lang="en-US" dirty="0"/>
              <a:t>Recurrence relations</a:t>
            </a:r>
          </a:p>
          <a:p>
            <a:r>
              <a:rPr lang="en-US" dirty="0"/>
              <a:t>Generating function method</a:t>
            </a:r>
          </a:p>
          <a:p>
            <a:r>
              <a:rPr lang="en-US" dirty="0"/>
              <a:t>Exercise</a:t>
            </a:r>
          </a:p>
          <a:p>
            <a:endParaRPr lang="en-US" dirty="0"/>
          </a:p>
        </p:txBody>
      </p:sp>
    </p:spTree>
    <p:extLst>
      <p:ext uri="{BB962C8B-B14F-4D97-AF65-F5344CB8AC3E}">
        <p14:creationId xmlns:p14="http://schemas.microsoft.com/office/powerpoint/2010/main" val="42240937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 the the subproblem</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41</a:t>
            </a:fld>
            <a:endParaRPr lang="en-US"/>
          </a:p>
        </p:txBody>
      </p:sp>
      <p:sp>
        <p:nvSpPr>
          <p:cNvPr id="5" name="Content Placeholder 4"/>
          <p:cNvSpPr>
            <a:spLocks noGrp="1"/>
          </p:cNvSpPr>
          <p:nvPr>
            <p:ph sz="quarter" idx="1"/>
          </p:nvPr>
        </p:nvSpPr>
        <p:spPr/>
        <p:txBody>
          <a:bodyPr/>
          <a:lstStyle/>
          <a:p>
            <a:pPr algn="just"/>
            <a:r>
              <a:rPr lang="en-US" dirty="0"/>
              <a:t>Another method to solve counting problem is returning simple subproblems </a:t>
            </a:r>
          </a:p>
          <a:p>
            <a:pPr lvl="1" algn="just"/>
            <a:r>
              <a:rPr lang="en-US" dirty="0"/>
              <a:t>This is not always easy because we need to deeply analyze the configurations to count.</a:t>
            </a:r>
          </a:p>
        </p:txBody>
      </p:sp>
    </p:spTree>
    <p:extLst>
      <p:ext uri="{BB962C8B-B14F-4D97-AF65-F5344CB8AC3E}">
        <p14:creationId xmlns:p14="http://schemas.microsoft.com/office/powerpoint/2010/main" val="289641557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42</a:t>
            </a:fld>
            <a:endParaRPr lang="en-US"/>
          </a:p>
        </p:txBody>
      </p:sp>
      <p:sp>
        <p:nvSpPr>
          <p:cNvPr id="5" name="Content Placeholder 4"/>
          <p:cNvSpPr>
            <a:spLocks noGrp="1"/>
          </p:cNvSpPr>
          <p:nvPr>
            <p:ph sz="quarter" idx="1"/>
          </p:nvPr>
        </p:nvSpPr>
        <p:spPr/>
        <p:txBody>
          <a:bodyPr/>
          <a:lstStyle/>
          <a:p>
            <a:pPr algn="just"/>
            <a:r>
              <a:rPr lang="en-US" b="1" dirty="0"/>
              <a:t>Problem</a:t>
            </a:r>
            <a:r>
              <a:rPr lang="en-US" dirty="0"/>
              <a:t>: </a:t>
            </a:r>
            <a:r>
              <a:rPr lang="en-US" dirty="0">
                <a:sym typeface="Symbol" pitchFamily="18" charset="2"/>
              </a:rPr>
              <a:t>Among 7-digit natural numbers, count the number of reversable numbers (symmetric numbers) whose sum of digits is 18?</a:t>
            </a:r>
          </a:p>
          <a:p>
            <a:endParaRPr lang="en-US" dirty="0"/>
          </a:p>
        </p:txBody>
      </p:sp>
    </p:spTree>
    <p:extLst>
      <p:ext uri="{BB962C8B-B14F-4D97-AF65-F5344CB8AC3E}">
        <p14:creationId xmlns:p14="http://schemas.microsoft.com/office/powerpoint/2010/main" val="32835712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pPr algn="just"/>
                <a:r>
                  <a:rPr lang="en-US" b="1" dirty="0"/>
                  <a:t>Problem</a:t>
                </a:r>
                <a:r>
                  <a:rPr lang="en-US" dirty="0"/>
                  <a:t>: </a:t>
                </a:r>
                <a:r>
                  <a:rPr lang="en-US" dirty="0">
                    <a:sym typeface="Symbol" pitchFamily="18" charset="2"/>
                  </a:rPr>
                  <a:t>Among 7-digit natural numbers, count the number of reversable numbers (symmetric numbers) whose sum of digits is 18?</a:t>
                </a:r>
              </a:p>
              <a:p>
                <a:r>
                  <a:rPr lang="en-US" b="1" dirty="0">
                    <a:sym typeface="Symbol" pitchFamily="18" charset="2"/>
                  </a:rPr>
                  <a:t>Solution</a:t>
                </a:r>
                <a:r>
                  <a:rPr lang="en-US" dirty="0">
                    <a:sym typeface="Symbol" pitchFamily="18" charset="2"/>
                  </a:rPr>
                  <a:t>: A number satisfying requirements has form: </a:t>
                </a:r>
                <a14:m>
                  <m:oMath xmlns:m="http://schemas.openxmlformats.org/officeDocument/2006/math">
                    <m:sSub>
                      <m:sSubPr>
                        <m:ctrlPr>
                          <a:rPr lang="en-US" i="1" smtClean="0">
                            <a:latin typeface="Cambria Math" panose="02040503050406030204" pitchFamily="18" charset="0"/>
                            <a:sym typeface="Symbol" pitchFamily="18" charset="2"/>
                          </a:rPr>
                        </m:ctrlPr>
                      </m:sSubPr>
                      <m:e>
                        <m:r>
                          <a:rPr lang="en-US" b="0" i="1" smtClean="0">
                            <a:latin typeface="Cambria Math"/>
                            <a:sym typeface="Symbol" pitchFamily="18" charset="2"/>
                          </a:rPr>
                          <m:t>𝑥</m:t>
                        </m:r>
                      </m:e>
                      <m:sub>
                        <m:r>
                          <a:rPr lang="en-US" b="0" i="1" smtClean="0">
                            <a:latin typeface="Cambria Math"/>
                            <a:sym typeface="Symbol" pitchFamily="18" charset="2"/>
                          </a:rPr>
                          <m:t>1</m:t>
                        </m:r>
                      </m:sub>
                    </m:sSub>
                    <m:sSub>
                      <m:sSubPr>
                        <m:ctrlPr>
                          <a:rPr lang="en-US" i="1">
                            <a:latin typeface="Cambria Math" panose="02040503050406030204" pitchFamily="18" charset="0"/>
                            <a:sym typeface="Symbol" pitchFamily="18" charset="2"/>
                          </a:rPr>
                        </m:ctrlPr>
                      </m:sSubPr>
                      <m:e>
                        <m:r>
                          <a:rPr lang="en-US" i="1">
                            <a:latin typeface="Cambria Math"/>
                            <a:sym typeface="Symbol" pitchFamily="18" charset="2"/>
                          </a:rPr>
                          <m:t>𝑥</m:t>
                        </m:r>
                      </m:e>
                      <m:sub>
                        <m:r>
                          <a:rPr lang="en-US" b="0" i="1" smtClean="0">
                            <a:latin typeface="Cambria Math"/>
                            <a:sym typeface="Symbol" pitchFamily="18" charset="2"/>
                          </a:rPr>
                          <m:t>2</m:t>
                        </m:r>
                      </m:sub>
                    </m:sSub>
                    <m:sSub>
                      <m:sSubPr>
                        <m:ctrlPr>
                          <a:rPr lang="en-US" i="1">
                            <a:latin typeface="Cambria Math" panose="02040503050406030204" pitchFamily="18" charset="0"/>
                            <a:sym typeface="Symbol" pitchFamily="18" charset="2"/>
                          </a:rPr>
                        </m:ctrlPr>
                      </m:sSubPr>
                      <m:e>
                        <m:r>
                          <a:rPr lang="en-US" i="1">
                            <a:latin typeface="Cambria Math"/>
                            <a:sym typeface="Symbol" pitchFamily="18" charset="2"/>
                          </a:rPr>
                          <m:t>𝑥</m:t>
                        </m:r>
                      </m:e>
                      <m:sub>
                        <m:r>
                          <a:rPr lang="en-US" b="0" i="1" smtClean="0">
                            <a:latin typeface="Cambria Math"/>
                            <a:sym typeface="Symbol" pitchFamily="18" charset="2"/>
                          </a:rPr>
                          <m:t>3</m:t>
                        </m:r>
                      </m:sub>
                    </m:sSub>
                    <m:sSub>
                      <m:sSubPr>
                        <m:ctrlPr>
                          <a:rPr lang="en-US" i="1">
                            <a:latin typeface="Cambria Math" panose="02040503050406030204" pitchFamily="18" charset="0"/>
                            <a:sym typeface="Symbol" pitchFamily="18" charset="2"/>
                          </a:rPr>
                        </m:ctrlPr>
                      </m:sSubPr>
                      <m:e>
                        <m:r>
                          <a:rPr lang="en-US" i="1">
                            <a:latin typeface="Cambria Math"/>
                            <a:sym typeface="Symbol" pitchFamily="18" charset="2"/>
                          </a:rPr>
                          <m:t>𝑥</m:t>
                        </m:r>
                      </m:e>
                      <m:sub>
                        <m:r>
                          <a:rPr lang="en-US" b="0" i="1" smtClean="0">
                            <a:latin typeface="Cambria Math"/>
                            <a:sym typeface="Symbol" pitchFamily="18" charset="2"/>
                          </a:rPr>
                          <m:t>4</m:t>
                        </m:r>
                      </m:sub>
                    </m:sSub>
                    <m:sSub>
                      <m:sSubPr>
                        <m:ctrlPr>
                          <a:rPr lang="en-US" i="1">
                            <a:latin typeface="Cambria Math" panose="02040503050406030204" pitchFamily="18" charset="0"/>
                            <a:sym typeface="Symbol" pitchFamily="18" charset="2"/>
                          </a:rPr>
                        </m:ctrlPr>
                      </m:sSubPr>
                      <m:e>
                        <m:r>
                          <a:rPr lang="en-US" i="1">
                            <a:latin typeface="Cambria Math"/>
                            <a:sym typeface="Symbol" pitchFamily="18" charset="2"/>
                          </a:rPr>
                          <m:t>𝑥</m:t>
                        </m:r>
                      </m:e>
                      <m:sub>
                        <m:r>
                          <a:rPr lang="en-US" b="0" i="1" smtClean="0">
                            <a:latin typeface="Cambria Math"/>
                            <a:sym typeface="Symbol" pitchFamily="18" charset="2"/>
                          </a:rPr>
                          <m:t>3</m:t>
                        </m:r>
                      </m:sub>
                    </m:sSub>
                    <m:sSub>
                      <m:sSubPr>
                        <m:ctrlPr>
                          <a:rPr lang="en-US" i="1">
                            <a:latin typeface="Cambria Math" panose="02040503050406030204" pitchFamily="18" charset="0"/>
                            <a:sym typeface="Symbol" pitchFamily="18" charset="2"/>
                          </a:rPr>
                        </m:ctrlPr>
                      </m:sSubPr>
                      <m:e>
                        <m:r>
                          <a:rPr lang="en-US" i="1">
                            <a:latin typeface="Cambria Math"/>
                            <a:sym typeface="Symbol" pitchFamily="18" charset="2"/>
                          </a:rPr>
                          <m:t>𝑥</m:t>
                        </m:r>
                      </m:e>
                      <m:sub>
                        <m:r>
                          <a:rPr lang="en-US" b="0" i="1" smtClean="0">
                            <a:latin typeface="Cambria Math"/>
                            <a:sym typeface="Symbol" pitchFamily="18" charset="2"/>
                          </a:rPr>
                          <m:t>2</m:t>
                        </m:r>
                      </m:sub>
                    </m:sSub>
                    <m:sSub>
                      <m:sSubPr>
                        <m:ctrlPr>
                          <a:rPr lang="en-US" i="1">
                            <a:latin typeface="Cambria Math" panose="02040503050406030204" pitchFamily="18" charset="0"/>
                            <a:sym typeface="Symbol" pitchFamily="18" charset="2"/>
                          </a:rPr>
                        </m:ctrlPr>
                      </m:sSubPr>
                      <m:e>
                        <m:r>
                          <a:rPr lang="en-US" i="1">
                            <a:latin typeface="Cambria Math"/>
                            <a:sym typeface="Symbol" pitchFamily="18" charset="2"/>
                          </a:rPr>
                          <m:t>𝑥</m:t>
                        </m:r>
                      </m:e>
                      <m:sub>
                        <m:r>
                          <a:rPr lang="en-US" i="1">
                            <a:latin typeface="Cambria Math"/>
                            <a:sym typeface="Symbol" pitchFamily="18" charset="2"/>
                          </a:rPr>
                          <m:t>1</m:t>
                        </m:r>
                      </m:sub>
                    </m:sSub>
                  </m:oMath>
                </a14:m>
                <a:r>
                  <a:rPr lang="en-US" dirty="0">
                    <a:sym typeface="Symbol" pitchFamily="18" charset="2"/>
                  </a:rPr>
                  <a:t>(</a:t>
                </a:r>
                <a14:m>
                  <m:oMath xmlns:m="http://schemas.openxmlformats.org/officeDocument/2006/math">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𝑥</m:t>
                        </m:r>
                      </m:e>
                      <m:sub>
                        <m:r>
                          <a:rPr lang="en-US" b="0" i="1" dirty="0" smtClean="0">
                            <a:latin typeface="Cambria Math"/>
                            <a:sym typeface="Symbol" pitchFamily="18" charset="2"/>
                          </a:rPr>
                          <m:t>1</m:t>
                        </m:r>
                      </m:sub>
                    </m:sSub>
                    <m:r>
                      <a:rPr lang="en-US" i="1" dirty="0" smtClean="0">
                        <a:latin typeface="Cambria Math"/>
                        <a:ea typeface="Cambria Math"/>
                        <a:sym typeface="Symbol" pitchFamily="18" charset="2"/>
                      </a:rPr>
                      <m:t>≥</m:t>
                    </m:r>
                    <m:r>
                      <a:rPr lang="en-US" b="0" i="1" dirty="0" smtClean="0">
                        <a:latin typeface="Cambria Math"/>
                        <a:ea typeface="Cambria Math"/>
                        <a:sym typeface="Symbol" pitchFamily="18" charset="2"/>
                      </a:rPr>
                      <m:t>1</m:t>
                    </m:r>
                  </m:oMath>
                </a14:m>
                <a:r>
                  <a:rPr lang="en-US" dirty="0">
                    <a:sym typeface="Symbol" pitchFamily="18" charset="2"/>
                  </a:rPr>
                  <a:t>) and</a:t>
                </a:r>
              </a:p>
              <a:p>
                <a:endParaRPr lang="en-US" dirty="0">
                  <a:sym typeface="Symbol" pitchFamily="18" charset="2"/>
                </a:endParaRPr>
              </a:p>
              <a:p>
                <a:r>
                  <a:rPr lang="en-US" dirty="0"/>
                  <a:t>Because </a:t>
                </a:r>
                <a14:m>
                  <m:oMath xmlns:m="http://schemas.openxmlformats.org/officeDocument/2006/math">
                    <m:r>
                      <a:rPr lang="en-US" i="1" dirty="0" smtClean="0">
                        <a:latin typeface="Cambria Math"/>
                      </a:rPr>
                      <m:t>2</m:t>
                    </m:r>
                    <m:r>
                      <a:rPr lang="en-US" i="1" dirty="0" smtClean="0">
                        <a:latin typeface="Cambria Math"/>
                      </a:rPr>
                      <m:t>𝑥</m:t>
                    </m:r>
                    <m:r>
                      <a:rPr lang="en-US" i="1" baseline="-25000" dirty="0">
                        <a:latin typeface="Cambria Math"/>
                      </a:rPr>
                      <m:t>1</m:t>
                    </m:r>
                    <m:r>
                      <a:rPr lang="en-US" i="1" dirty="0">
                        <a:latin typeface="Cambria Math"/>
                      </a:rPr>
                      <m:t>, 2</m:t>
                    </m:r>
                    <m:r>
                      <a:rPr lang="en-US" i="1" dirty="0">
                        <a:latin typeface="Cambria Math"/>
                      </a:rPr>
                      <m:t>𝑥</m:t>
                    </m:r>
                    <m:r>
                      <a:rPr lang="en-US" i="1" baseline="-25000" dirty="0">
                        <a:latin typeface="Cambria Math"/>
                      </a:rPr>
                      <m:t>2</m:t>
                    </m:r>
                    <m:r>
                      <a:rPr lang="en-US" i="1" dirty="0">
                        <a:latin typeface="Cambria Math"/>
                      </a:rPr>
                      <m:t>, 2</m:t>
                    </m:r>
                    <m:r>
                      <a:rPr lang="en-US" i="1" dirty="0">
                        <a:latin typeface="Cambria Math"/>
                      </a:rPr>
                      <m:t>𝑥</m:t>
                    </m:r>
                    <m:r>
                      <a:rPr lang="en-US" i="1" baseline="-25000" dirty="0">
                        <a:latin typeface="Cambria Math"/>
                      </a:rPr>
                      <m:t>3</m:t>
                    </m:r>
                    <m:r>
                      <a:rPr lang="en-US" i="1" dirty="0">
                        <a:latin typeface="Cambria Math"/>
                      </a:rPr>
                      <m:t> </m:t>
                    </m:r>
                  </m:oMath>
                </a14:m>
                <a:r>
                  <a:rPr lang="en-US" dirty="0"/>
                  <a:t>is even numbers so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𝑥</m:t>
                        </m:r>
                      </m:e>
                      <m:sub>
                        <m:r>
                          <a:rPr lang="en-US" b="0" i="1" dirty="0" smtClean="0">
                            <a:latin typeface="Cambria Math"/>
                          </a:rPr>
                          <m:t>4</m:t>
                        </m:r>
                      </m:sub>
                    </m:sSub>
                  </m:oMath>
                </a14:m>
                <a:r>
                  <a:rPr lang="en-US" dirty="0"/>
                  <a:t> must be even. So,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4</m:t>
                        </m:r>
                      </m:sub>
                    </m:sSub>
                  </m:oMath>
                </a14:m>
                <a:r>
                  <a:rPr lang="en-US" dirty="0"/>
                  <a:t> can receive one of values: 0, 2, 4, 6, 8.</a:t>
                </a:r>
                <a:endParaRPr lang="en-US" dirty="0">
                  <a:sym typeface="Symbol" pitchFamily="18" charset="2"/>
                </a:endParaRPr>
              </a:p>
              <a:p>
                <a:r>
                  <a:rPr lang="en-US" dirty="0"/>
                  <a:t>Let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𝑁</m:t>
                        </m:r>
                      </m:e>
                      <m:sub>
                        <m:r>
                          <a:rPr lang="en-US" b="0" i="1" smtClean="0">
                            <a:latin typeface="Cambria Math"/>
                          </a:rPr>
                          <m:t>0</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2</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4</m:t>
                        </m:r>
                      </m:sub>
                    </m:sSub>
                    <m:r>
                      <a:rPr lang="en-US" b="0" i="1" smtClean="0">
                        <a:latin typeface="Cambria Math"/>
                      </a:rPr>
                      <m:t>, </m:t>
                    </m:r>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6</m:t>
                        </m:r>
                      </m:sub>
                    </m:sSub>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𝑁</m:t>
                        </m:r>
                      </m:e>
                      <m:sub>
                        <m:r>
                          <a:rPr lang="en-US" b="0" i="1" smtClean="0">
                            <a:latin typeface="Cambria Math"/>
                          </a:rPr>
                          <m:t>8</m:t>
                        </m:r>
                      </m:sub>
                    </m:sSub>
                  </m:oMath>
                </a14:m>
                <a:r>
                  <a:rPr lang="en-US" dirty="0"/>
                  <a:t> are the number of roots of equation in case </a:t>
                </a:r>
                <a14:m>
                  <m:oMath xmlns:m="http://schemas.openxmlformats.org/officeDocument/2006/math">
                    <m:sSub>
                      <m:sSubPr>
                        <m:ctrlPr>
                          <a:rPr lang="en-US" i="1" dirty="0">
                            <a:latin typeface="Cambria Math" panose="02040503050406030204" pitchFamily="18" charset="0"/>
                          </a:rPr>
                        </m:ctrlPr>
                      </m:sSubPr>
                      <m:e>
                        <m:r>
                          <a:rPr lang="en-US" i="1" dirty="0">
                            <a:latin typeface="Cambria Math"/>
                          </a:rPr>
                          <m:t>𝑥</m:t>
                        </m:r>
                      </m:e>
                      <m:sub>
                        <m:r>
                          <a:rPr lang="en-US" i="1" dirty="0">
                            <a:latin typeface="Cambria Math"/>
                          </a:rPr>
                          <m:t>4</m:t>
                        </m:r>
                      </m:sub>
                    </m:sSub>
                  </m:oMath>
                </a14:m>
                <a:r>
                  <a:rPr lang="en-US" dirty="0"/>
                  <a:t> receive one of values 0, 2, 4, 6, 8. According to Sum principle, the result is</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𝑁</m:t>
                      </m:r>
                      <m:r>
                        <a:rPr lang="en-US" b="0" i="1" smtClean="0">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0</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2</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4</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6</m:t>
                          </m:r>
                        </m:sub>
                      </m:sSub>
                      <m:r>
                        <a:rPr lang="en-US" b="0" i="1" smtClean="0">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8</m:t>
                          </m:r>
                        </m:sub>
                      </m:sSub>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988" r="-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904966909"/>
              </p:ext>
            </p:extLst>
          </p:nvPr>
        </p:nvGraphicFramePr>
        <p:xfrm>
          <a:off x="762000" y="3242729"/>
          <a:ext cx="3200400" cy="465138"/>
        </p:xfrm>
        <a:graphic>
          <a:graphicData uri="http://schemas.openxmlformats.org/presentationml/2006/ole">
            <mc:AlternateContent xmlns:mc="http://schemas.openxmlformats.org/markup-compatibility/2006">
              <mc:Choice xmlns:v="urn:schemas-microsoft-com:vml" Requires="v">
                <p:oleObj spid="_x0000_s4117" name="Equation" r:id="rId4" imgW="1574800" imgH="228600" progId="Equation.3">
                  <p:embed/>
                </p:oleObj>
              </mc:Choice>
              <mc:Fallback>
                <p:oleObj name="Equation" r:id="rId4" imgW="1574800" imgH="228600" progId="Equation.3">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242729"/>
                        <a:ext cx="3200400" cy="465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02618804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We have </a:t>
                </a:r>
                <a14:m>
                  <m:oMath xmlns:m="http://schemas.openxmlformats.org/officeDocument/2006/math">
                    <m:sSub>
                      <m:sSubPr>
                        <m:ctrlPr>
                          <a:rPr lang="en-US" i="1">
                            <a:latin typeface="Cambria Math" panose="02040503050406030204" pitchFamily="18" charset="0"/>
                          </a:rPr>
                        </m:ctrlPr>
                      </m:sSubPr>
                      <m:e>
                        <m:r>
                          <a:rPr lang="en-US" i="1">
                            <a:latin typeface="Cambria Math"/>
                          </a:rPr>
                          <m:t>𝑁</m:t>
                        </m:r>
                      </m:e>
                      <m:sub>
                        <m:r>
                          <a:rPr lang="en-US" i="1">
                            <a:latin typeface="Cambria Math"/>
                          </a:rPr>
                          <m:t>0</m:t>
                        </m:r>
                      </m:sub>
                    </m:sSub>
                    <m:r>
                      <a:rPr lang="en-US" i="1">
                        <a:latin typeface="Cambria Math"/>
                      </a:rPr>
                      <m:t>, </m:t>
                    </m:r>
                    <m:sSub>
                      <m:sSubPr>
                        <m:ctrlPr>
                          <a:rPr lang="en-US" i="1">
                            <a:latin typeface="Cambria Math" panose="02040503050406030204" pitchFamily="18" charset="0"/>
                          </a:rPr>
                        </m:ctrlPr>
                      </m:sSubPr>
                      <m:e>
                        <m:r>
                          <a:rPr lang="en-US" i="1">
                            <a:latin typeface="Cambria Math"/>
                          </a:rPr>
                          <m:t>𝑁</m:t>
                        </m:r>
                      </m:e>
                      <m:sub>
                        <m:r>
                          <a:rPr lang="en-US" i="1">
                            <a:latin typeface="Cambria Math"/>
                          </a:rPr>
                          <m:t>2</m:t>
                        </m:r>
                      </m:sub>
                    </m:sSub>
                    <m:r>
                      <a:rPr lang="en-US" i="1">
                        <a:latin typeface="Cambria Math"/>
                      </a:rPr>
                      <m:t>, </m:t>
                    </m:r>
                    <m:sSub>
                      <m:sSubPr>
                        <m:ctrlPr>
                          <a:rPr lang="en-US" i="1">
                            <a:latin typeface="Cambria Math" panose="02040503050406030204" pitchFamily="18" charset="0"/>
                          </a:rPr>
                        </m:ctrlPr>
                      </m:sSubPr>
                      <m:e>
                        <m:r>
                          <a:rPr lang="en-US" i="1">
                            <a:latin typeface="Cambria Math"/>
                          </a:rPr>
                          <m:t>𝑁</m:t>
                        </m:r>
                      </m:e>
                      <m:sub>
                        <m:r>
                          <a:rPr lang="en-US" i="1">
                            <a:latin typeface="Cambria Math"/>
                          </a:rPr>
                          <m:t>4</m:t>
                        </m:r>
                      </m:sub>
                    </m:sSub>
                    <m:r>
                      <a:rPr lang="en-US" i="1">
                        <a:latin typeface="Cambria Math"/>
                      </a:rPr>
                      <m:t>, </m:t>
                    </m:r>
                    <m:sSub>
                      <m:sSubPr>
                        <m:ctrlPr>
                          <a:rPr lang="en-US" i="1">
                            <a:latin typeface="Cambria Math" panose="02040503050406030204" pitchFamily="18" charset="0"/>
                          </a:rPr>
                        </m:ctrlPr>
                      </m:sSubPr>
                      <m:e>
                        <m:r>
                          <a:rPr lang="en-US" i="1">
                            <a:latin typeface="Cambria Math"/>
                          </a:rPr>
                          <m:t>𝑁</m:t>
                        </m:r>
                      </m:e>
                      <m:sub>
                        <m:r>
                          <a:rPr lang="en-US" i="1">
                            <a:latin typeface="Cambria Math"/>
                          </a:rPr>
                          <m:t>6</m:t>
                        </m:r>
                      </m:sub>
                    </m:sSub>
                    <m:r>
                      <a:rPr lang="en-US" i="1">
                        <a:latin typeface="Cambria Math"/>
                      </a:rPr>
                      <m:t>,</m:t>
                    </m:r>
                    <m:sSub>
                      <m:sSubPr>
                        <m:ctrlPr>
                          <a:rPr lang="en-US" i="1">
                            <a:latin typeface="Cambria Math" panose="02040503050406030204" pitchFamily="18" charset="0"/>
                          </a:rPr>
                        </m:ctrlPr>
                      </m:sSubPr>
                      <m:e>
                        <m:r>
                          <a:rPr lang="en-US" i="1">
                            <a:latin typeface="Cambria Math"/>
                          </a:rPr>
                          <m:t>𝑁</m:t>
                        </m:r>
                      </m:e>
                      <m:sub>
                        <m:r>
                          <a:rPr lang="en-US" i="1">
                            <a:latin typeface="Cambria Math"/>
                          </a:rPr>
                          <m:t>8</m:t>
                        </m:r>
                      </m:sub>
                    </m:sSub>
                  </m:oMath>
                </a14:m>
                <a:r>
                  <a:rPr lang="en-US" dirty="0"/>
                  <a:t> are the number of roots of following equation:</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519" t="-111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2190938163"/>
              </p:ext>
            </p:extLst>
          </p:nvPr>
        </p:nvGraphicFramePr>
        <p:xfrm>
          <a:off x="990600" y="2078038"/>
          <a:ext cx="4570413" cy="811212"/>
        </p:xfrm>
        <a:graphic>
          <a:graphicData uri="http://schemas.openxmlformats.org/presentationml/2006/ole">
            <mc:AlternateContent xmlns:mc="http://schemas.openxmlformats.org/markup-compatibility/2006">
              <mc:Choice xmlns:v="urn:schemas-microsoft-com:vml" Requires="v">
                <p:oleObj spid="_x0000_s5217" name="Equation" r:id="rId4" imgW="2705040" imgH="482400" progId="Equation.3">
                  <p:embed/>
                </p:oleObj>
              </mc:Choice>
              <mc:Fallback>
                <p:oleObj name="Equation" r:id="rId4" imgW="2705040" imgH="482400" progId="Equation.3">
                  <p:embed/>
                  <p:pic>
                    <p:nvPicPr>
                      <p:cNvPr id="0" name="Object 3"/>
                      <p:cNvPicPr>
                        <a:picLocks noChangeAspect="1" noChangeArrowheads="1"/>
                      </p:cNvPicPr>
                      <p:nvPr/>
                    </p:nvPicPr>
                    <p:blipFill>
                      <a:blip r:embed="rId5"/>
                      <a:srcRect/>
                      <a:stretch>
                        <a:fillRect/>
                      </a:stretch>
                    </p:blipFill>
                    <p:spPr bwMode="auto">
                      <a:xfrm>
                        <a:off x="990600" y="2078038"/>
                        <a:ext cx="4570413" cy="811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926242491"/>
              </p:ext>
            </p:extLst>
          </p:nvPr>
        </p:nvGraphicFramePr>
        <p:xfrm>
          <a:off x="990600" y="2955925"/>
          <a:ext cx="5105400" cy="854075"/>
        </p:xfrm>
        <a:graphic>
          <a:graphicData uri="http://schemas.openxmlformats.org/presentationml/2006/ole">
            <mc:AlternateContent xmlns:mc="http://schemas.openxmlformats.org/markup-compatibility/2006">
              <mc:Choice xmlns:v="urn:schemas-microsoft-com:vml" Requires="v">
                <p:oleObj spid="_x0000_s5218" name="Equation" r:id="rId6" imgW="3022600" imgH="508000" progId="Equation.3">
                  <p:embed/>
                </p:oleObj>
              </mc:Choice>
              <mc:Fallback>
                <p:oleObj name="Equation" r:id="rId6" imgW="3022600" imgH="5080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90600" y="2955925"/>
                        <a:ext cx="51054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66008699"/>
              </p:ext>
            </p:extLst>
          </p:nvPr>
        </p:nvGraphicFramePr>
        <p:xfrm>
          <a:off x="914400" y="3751263"/>
          <a:ext cx="5257800" cy="896937"/>
        </p:xfrm>
        <a:graphic>
          <a:graphicData uri="http://schemas.openxmlformats.org/presentationml/2006/ole">
            <mc:AlternateContent xmlns:mc="http://schemas.openxmlformats.org/markup-compatibility/2006">
              <mc:Choice xmlns:v="urn:schemas-microsoft-com:vml" Requires="v">
                <p:oleObj spid="_x0000_s5219" name="Equation" r:id="rId8" imgW="2844800" imgH="482600" progId="Equation.3">
                  <p:embed/>
                </p:oleObj>
              </mc:Choice>
              <mc:Fallback>
                <p:oleObj name="Equation" r:id="rId8" imgW="2844800" imgH="482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4400" y="3751263"/>
                        <a:ext cx="5257800" cy="89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843410324"/>
              </p:ext>
            </p:extLst>
          </p:nvPr>
        </p:nvGraphicFramePr>
        <p:xfrm>
          <a:off x="914400" y="4654550"/>
          <a:ext cx="4876800" cy="831850"/>
        </p:xfrm>
        <a:graphic>
          <a:graphicData uri="http://schemas.openxmlformats.org/presentationml/2006/ole">
            <mc:AlternateContent xmlns:mc="http://schemas.openxmlformats.org/markup-compatibility/2006">
              <mc:Choice xmlns:v="urn:schemas-microsoft-com:vml" Requires="v">
                <p:oleObj spid="_x0000_s5220" name="Equation" r:id="rId10" imgW="2844800" imgH="482600" progId="Equation.3">
                  <p:embed/>
                </p:oleObj>
              </mc:Choice>
              <mc:Fallback>
                <p:oleObj name="Equation" r:id="rId10" imgW="2844800" imgH="4826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14400" y="4654550"/>
                        <a:ext cx="48768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4286284398"/>
              </p:ext>
            </p:extLst>
          </p:nvPr>
        </p:nvGraphicFramePr>
        <p:xfrm>
          <a:off x="914400" y="5467350"/>
          <a:ext cx="5105400" cy="857250"/>
        </p:xfrm>
        <a:graphic>
          <a:graphicData uri="http://schemas.openxmlformats.org/presentationml/2006/ole">
            <mc:AlternateContent xmlns:mc="http://schemas.openxmlformats.org/markup-compatibility/2006">
              <mc:Choice xmlns:v="urn:schemas-microsoft-com:vml" Requires="v">
                <p:oleObj spid="_x0000_s5221" name="Equation" r:id="rId12" imgW="3009900" imgH="508000" progId="Equation.3">
                  <p:embed/>
                </p:oleObj>
              </mc:Choice>
              <mc:Fallback>
                <p:oleObj name="Equation" r:id="rId12" imgW="3009900" imgH="508000"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5467350"/>
                        <a:ext cx="51054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Rounded Rectangle 10"/>
          <p:cNvSpPr/>
          <p:nvPr/>
        </p:nvSpPr>
        <p:spPr>
          <a:xfrm>
            <a:off x="6172200" y="3352800"/>
            <a:ext cx="2971800" cy="1629508"/>
          </a:xfrm>
          <a:prstGeom prst="round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000" dirty="0">
                <a:solidFill>
                  <a:srgbClr val="FF0000"/>
                </a:solidFill>
                <a:latin typeface="Tahoma" pitchFamily="34" charset="0"/>
                <a:ea typeface="Tahoma" pitchFamily="34" charset="0"/>
                <a:cs typeface="Tahoma" pitchFamily="34" charset="0"/>
              </a:rPr>
              <a:t>These subproblems can be solved easily according to Example 8</a:t>
            </a:r>
          </a:p>
        </p:txBody>
      </p:sp>
    </p:spTree>
    <p:extLst>
      <p:ext uri="{BB962C8B-B14F-4D97-AF65-F5344CB8AC3E}">
        <p14:creationId xmlns:p14="http://schemas.microsoft.com/office/powerpoint/2010/main" val="15062710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45</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sz="2800" dirty="0">
                <a:solidFill>
                  <a:schemeClr val="bg1">
                    <a:lumMod val="75000"/>
                  </a:schemeClr>
                </a:solidFill>
              </a:rPr>
              <a:t>Introduction</a:t>
            </a:r>
          </a:p>
          <a:p>
            <a:pPr>
              <a:spcBef>
                <a:spcPct val="50000"/>
              </a:spcBef>
            </a:pPr>
            <a:r>
              <a:rPr lang="en-US" sz="2800" dirty="0">
                <a:solidFill>
                  <a:schemeClr val="bg1">
                    <a:lumMod val="75000"/>
                  </a:schemeClr>
                </a:solidFill>
              </a:rPr>
              <a:t>Basic counting principle</a:t>
            </a:r>
          </a:p>
          <a:p>
            <a:pPr>
              <a:spcBef>
                <a:spcPct val="50000"/>
              </a:spcBef>
            </a:pPr>
            <a:r>
              <a:rPr lang="en-US" sz="2800" dirty="0">
                <a:solidFill>
                  <a:schemeClr val="bg1">
                    <a:lumMod val="75000"/>
                  </a:schemeClr>
                </a:solidFill>
              </a:rPr>
              <a:t>Conquer the the subproblem</a:t>
            </a:r>
          </a:p>
          <a:p>
            <a:pPr>
              <a:spcBef>
                <a:spcPct val="50000"/>
              </a:spcBef>
            </a:pPr>
            <a:r>
              <a:rPr lang="en-US" sz="2800" dirty="0"/>
              <a:t>Recurrence relations</a:t>
            </a:r>
          </a:p>
          <a:p>
            <a:pPr>
              <a:spcBef>
                <a:spcPct val="50000"/>
              </a:spcBef>
            </a:pPr>
            <a:r>
              <a:rPr lang="en-US" sz="2800" dirty="0"/>
              <a:t>Generating function method</a:t>
            </a:r>
          </a:p>
          <a:p>
            <a:pPr>
              <a:spcBef>
                <a:spcPct val="50000"/>
              </a:spcBef>
            </a:pPr>
            <a:r>
              <a:rPr lang="en-US" sz="2800" dirty="0"/>
              <a:t>Exercise</a:t>
            </a:r>
          </a:p>
          <a:p>
            <a:endParaRPr lang="en-US" dirty="0"/>
          </a:p>
        </p:txBody>
      </p:sp>
    </p:spTree>
    <p:extLst>
      <p:ext uri="{BB962C8B-B14F-4D97-AF65-F5344CB8AC3E}">
        <p14:creationId xmlns:p14="http://schemas.microsoft.com/office/powerpoint/2010/main" val="34058659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Recurrence relations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46</a:t>
            </a:fld>
            <a:endParaRPr lang="en-US"/>
          </a:p>
        </p:txBody>
      </p:sp>
      <mc:AlternateContent xmlns:mc="http://schemas.openxmlformats.org/markup-compatibility/2006">
        <mc:Choice xmlns:a14="http://schemas.microsoft.com/office/drawing/2010/main" Requires="a14">
          <p:sp>
            <p:nvSpPr>
              <p:cNvPr id="5" name="Content Placeholder 4"/>
              <p:cNvSpPr>
                <a:spLocks noGrp="1"/>
              </p:cNvSpPr>
              <p:nvPr>
                <p:ph sz="quarter" idx="1"/>
              </p:nvPr>
            </p:nvSpPr>
            <p:spPr/>
            <p:txBody>
              <a:bodyPr>
                <a:normAutofit lnSpcReduction="10000"/>
              </a:bodyPr>
              <a:lstStyle/>
              <a:p>
                <a:pPr algn="just"/>
                <a:r>
                  <a:rPr lang="en-US" b="1" dirty="0"/>
                  <a:t>Definition</a:t>
                </a:r>
                <a:r>
                  <a:rPr lang="en-US" dirty="0"/>
                  <a:t>: The recurrence relation for the sequence </a:t>
                </a:r>
                <a14:m>
                  <m:oMath xmlns:m="http://schemas.openxmlformats.org/officeDocument/2006/math">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𝑛</m:t>
                        </m:r>
                      </m:sub>
                    </m:sSub>
                    <m:r>
                      <a:rPr lang="en-US" i="1" dirty="0">
                        <a:latin typeface="Cambria Math"/>
                      </a:rPr>
                      <m:t>}</m:t>
                    </m:r>
                  </m:oMath>
                </a14:m>
                <a:r>
                  <a:rPr lang="en-US" dirty="0"/>
                  <a:t> is a formula that represents </a:t>
                </a:r>
                <a14:m>
                  <m:oMath xmlns:m="http://schemas.openxmlformats.org/officeDocument/2006/math">
                    <m:r>
                      <a:rPr lang="en-US" i="1" dirty="0" smtClean="0">
                        <a:latin typeface="Cambria Math"/>
                      </a:rPr>
                      <m:t>𝑎</m:t>
                    </m:r>
                    <m:r>
                      <a:rPr lang="en-US" i="1" baseline="-25000" dirty="0">
                        <a:latin typeface="Cambria Math"/>
                      </a:rPr>
                      <m:t>𝑛</m:t>
                    </m:r>
                  </m:oMath>
                </a14:m>
                <a:r>
                  <a:rPr lang="en-US" dirty="0"/>
                  <a:t> over one or more preceding terms of the sequence, specifically </a:t>
                </a:r>
                <a14:m>
                  <m:oMath xmlns:m="http://schemas.openxmlformats.org/officeDocument/2006/math">
                    <m:r>
                      <a:rPr lang="en-US" i="1" dirty="0" smtClean="0">
                        <a:latin typeface="Cambria Math"/>
                      </a:rPr>
                      <m:t>𝑎</m:t>
                    </m:r>
                    <m:r>
                      <a:rPr lang="en-US" i="1" baseline="-25000" dirty="0">
                        <a:latin typeface="Cambria Math"/>
                      </a:rPr>
                      <m:t>1</m:t>
                    </m:r>
                    <m:r>
                      <a:rPr lang="en-US" i="1" dirty="0">
                        <a:latin typeface="Cambria Math"/>
                      </a:rPr>
                      <m:t>, </m:t>
                    </m:r>
                    <m:r>
                      <a:rPr lang="en-US" i="1" dirty="0">
                        <a:latin typeface="Cambria Math"/>
                      </a:rPr>
                      <m:t>𝑎</m:t>
                    </m:r>
                    <m:r>
                      <a:rPr lang="en-US" i="1" baseline="-25000" dirty="0">
                        <a:latin typeface="Cambria Math"/>
                      </a:rPr>
                      <m:t>2</m:t>
                    </m:r>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𝑛</m:t>
                        </m:r>
                        <m:r>
                          <a:rPr lang="en-US" b="0" i="1" dirty="0" smtClean="0">
                            <a:latin typeface="Cambria Math"/>
                          </a:rPr>
                          <m:t>−1</m:t>
                        </m:r>
                      </m:sub>
                    </m:sSub>
                    <m:r>
                      <a:rPr lang="en-US" i="1" dirty="0" smtClean="0">
                        <a:latin typeface="Cambria Math"/>
                      </a:rPr>
                      <m:t> </m:t>
                    </m:r>
                  </m:oMath>
                </a14:m>
                <a:r>
                  <a:rPr lang="en-US" dirty="0"/>
                  <a:t>, with integer </a:t>
                </a:r>
                <a14:m>
                  <m:oMath xmlns:m="http://schemas.openxmlformats.org/officeDocument/2006/math">
                    <m:r>
                      <a:rPr lang="en-US" i="1" dirty="0" smtClean="0">
                        <a:latin typeface="Cambria Math"/>
                      </a:rPr>
                      <m:t>𝑛</m:t>
                    </m:r>
                  </m:oMath>
                </a14:m>
                <a:r>
                  <a:rPr lang="en-US" dirty="0"/>
                  <a:t> and </a:t>
                </a:r>
                <a14:m>
                  <m:oMath xmlns:m="http://schemas.openxmlformats.org/officeDocument/2006/math">
                    <m:r>
                      <a:rPr lang="en-US" i="1" dirty="0" smtClean="0">
                        <a:latin typeface="Cambria Math"/>
                      </a:rPr>
                      <m:t>𝑛</m:t>
                    </m:r>
                    <m:r>
                      <a:rPr lang="en-US" i="1" dirty="0">
                        <a:latin typeface="Cambria Math"/>
                        <a:sym typeface="Symbol" pitchFamily="18" charset="2"/>
                      </a:rPr>
                      <m:t></m:t>
                    </m:r>
                    <m:sSub>
                      <m:sSubPr>
                        <m:ctrlPr>
                          <a:rPr lang="en-US"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𝑛</m:t>
                        </m:r>
                      </m:e>
                      <m:sub>
                        <m:r>
                          <a:rPr lang="en-US" b="0" i="1" dirty="0" smtClean="0">
                            <a:latin typeface="Cambria Math"/>
                            <a:sym typeface="Symbol" pitchFamily="18" charset="2"/>
                          </a:rPr>
                          <m:t>0</m:t>
                        </m:r>
                      </m:sub>
                    </m:sSub>
                  </m:oMath>
                </a14:m>
                <a:r>
                  <a:rPr lang="en-US" dirty="0"/>
                  <a:t>, where </a:t>
                </a:r>
                <a14:m>
                  <m:oMath xmlns:m="http://schemas.openxmlformats.org/officeDocument/2006/math">
                    <m:sSub>
                      <m:sSubPr>
                        <m:ctrlPr>
                          <a:rPr lang="en-US" i="1" dirty="0">
                            <a:latin typeface="Cambria Math" panose="02040503050406030204" pitchFamily="18" charset="0"/>
                            <a:sym typeface="Symbol" pitchFamily="18" charset="2"/>
                          </a:rPr>
                        </m:ctrlPr>
                      </m:sSubPr>
                      <m:e>
                        <m:r>
                          <a:rPr lang="en-US" i="1" dirty="0">
                            <a:latin typeface="Cambria Math"/>
                            <a:sym typeface="Symbol" pitchFamily="18" charset="2"/>
                          </a:rPr>
                          <m:t>𝑛</m:t>
                        </m:r>
                      </m:e>
                      <m:sub>
                        <m:r>
                          <a:rPr lang="en-US" i="1" dirty="0">
                            <a:latin typeface="Cambria Math"/>
                            <a:sym typeface="Symbol" pitchFamily="18" charset="2"/>
                          </a:rPr>
                          <m:t>0</m:t>
                        </m:r>
                      </m:sub>
                    </m:sSub>
                  </m:oMath>
                </a14:m>
                <a:r>
                  <a:rPr lang="en-US" dirty="0"/>
                  <a:t> is a non-negative  integer. A sequence of numbers is said to be a solution or root of a recurrence relation if its terms satisfy this recurrence relation.</a:t>
                </a:r>
                <a:endParaRPr lang="es-MX" dirty="0"/>
              </a:p>
              <a:p>
                <a:r>
                  <a:rPr lang="en-US" b="1" dirty="0"/>
                  <a:t>Example 14</a:t>
                </a:r>
                <a:r>
                  <a:rPr lang="en-US" dirty="0"/>
                  <a:t>: Give </a:t>
                </a:r>
                <a14:m>
                  <m:oMath xmlns:m="http://schemas.openxmlformats.org/officeDocument/2006/math">
                    <m:r>
                      <a:rPr lang="en-US" i="1" dirty="0" smtClean="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𝑛</m:t>
                        </m:r>
                      </m:sub>
                    </m:sSub>
                    <m:r>
                      <a:rPr lang="en-US" i="1" dirty="0">
                        <a:latin typeface="Cambria Math"/>
                      </a:rPr>
                      <m:t>} </m:t>
                    </m:r>
                  </m:oMath>
                </a14:m>
                <a:r>
                  <a:rPr lang="en-US" dirty="0"/>
                  <a:t>is a sequence of numbers satisfying recurrence relation: </a:t>
                </a:r>
                <a14:m>
                  <m:oMath xmlns:m="http://schemas.openxmlformats.org/officeDocument/2006/math">
                    <m:r>
                      <a:rPr lang="en-US" i="1" dirty="0" smtClean="0">
                        <a:latin typeface="Cambria Math"/>
                      </a:rPr>
                      <m:t>𝑎</m:t>
                    </m:r>
                    <m:r>
                      <a:rPr lang="en-US" i="1" baseline="-25000" dirty="0">
                        <a:latin typeface="Cambria Math"/>
                      </a:rPr>
                      <m:t>𝑛</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r>
                          <a:rPr lang="en-US" i="1" dirty="0">
                            <a:latin typeface="Cambria Math"/>
                          </a:rPr>
                          <m:t>−2</m:t>
                        </m:r>
                      </m:sub>
                    </m:sSub>
                    <m:r>
                      <a:rPr lang="en-US" i="1" dirty="0">
                        <a:latin typeface="Cambria Math"/>
                      </a:rPr>
                      <m:t> </m:t>
                    </m:r>
                  </m:oMath>
                </a14:m>
                <a:r>
                  <a:rPr lang="en-US" dirty="0"/>
                  <a:t>, with </a:t>
                </a:r>
                <a14:m>
                  <m:oMath xmlns:m="http://schemas.openxmlformats.org/officeDocument/2006/math">
                    <m:r>
                      <a:rPr lang="en-US" i="1" dirty="0" smtClean="0">
                        <a:latin typeface="Cambria Math"/>
                      </a:rPr>
                      <m:t>𝑛</m:t>
                    </m:r>
                    <m:r>
                      <a:rPr lang="en-US" i="1" dirty="0" smtClean="0">
                        <a:latin typeface="Cambria Math"/>
                        <a:ea typeface="Cambria Math"/>
                      </a:rPr>
                      <m:t>≥</m:t>
                    </m:r>
                    <m:r>
                      <a:rPr lang="en-US" b="0" i="1" dirty="0" smtClean="0">
                        <a:latin typeface="Cambria Math"/>
                        <a:ea typeface="Cambria Math"/>
                      </a:rPr>
                      <m:t>2</m:t>
                    </m:r>
                  </m:oMath>
                </a14:m>
                <a:r>
                  <a:rPr lang="en-US" dirty="0"/>
                  <a:t>, and assume </a:t>
                </a:r>
                <a14:m>
                  <m:oMath xmlns:m="http://schemas.openxmlformats.org/officeDocument/2006/math">
                    <m:r>
                      <a:rPr lang="en-US" i="1" dirty="0" smtClean="0">
                        <a:latin typeface="Cambria Math"/>
                      </a:rPr>
                      <m:t>𝑎</m:t>
                    </m:r>
                    <m:r>
                      <a:rPr lang="en-US" i="1" baseline="-25000" dirty="0">
                        <a:latin typeface="Cambria Math"/>
                      </a:rPr>
                      <m:t>0</m:t>
                    </m:r>
                    <m:r>
                      <a:rPr lang="en-US" i="1" dirty="0">
                        <a:latin typeface="Cambria Math"/>
                      </a:rPr>
                      <m:t> = 3, </m:t>
                    </m:r>
                    <m:r>
                      <a:rPr lang="en-US" i="1" dirty="0">
                        <a:latin typeface="Cambria Math"/>
                      </a:rPr>
                      <m:t>𝑎</m:t>
                    </m:r>
                    <m:r>
                      <a:rPr lang="en-US" i="1" baseline="-25000" dirty="0">
                        <a:latin typeface="Cambria Math"/>
                      </a:rPr>
                      <m:t>1</m:t>
                    </m:r>
                    <m:r>
                      <a:rPr lang="en-US" i="1" dirty="0">
                        <a:latin typeface="Cambria Math"/>
                      </a:rPr>
                      <m:t> =5</m:t>
                    </m:r>
                  </m:oMath>
                </a14:m>
                <a:r>
                  <a:rPr lang="en-US" dirty="0"/>
                  <a:t>. Find </a:t>
                </a:r>
                <a14:m>
                  <m:oMath xmlns:m="http://schemas.openxmlformats.org/officeDocument/2006/math">
                    <m:r>
                      <a:rPr lang="en-US" i="1" dirty="0" smtClean="0">
                        <a:latin typeface="Cambria Math"/>
                      </a:rPr>
                      <m:t>𝑎</m:t>
                    </m:r>
                    <m:r>
                      <a:rPr lang="en-US" i="1" baseline="-25000" dirty="0">
                        <a:latin typeface="Cambria Math"/>
                      </a:rPr>
                      <m:t>2</m:t>
                    </m:r>
                  </m:oMath>
                </a14:m>
                <a:r>
                  <a:rPr lang="en-US" dirty="0"/>
                  <a:t> and </a:t>
                </a:r>
                <a14:m>
                  <m:oMath xmlns:m="http://schemas.openxmlformats.org/officeDocument/2006/math">
                    <m:r>
                      <a:rPr lang="en-US" i="1" dirty="0" smtClean="0">
                        <a:latin typeface="Cambria Math"/>
                      </a:rPr>
                      <m:t>𝑎</m:t>
                    </m:r>
                    <m:r>
                      <a:rPr lang="en-US" i="1" baseline="-25000" dirty="0">
                        <a:latin typeface="Cambria Math"/>
                      </a:rPr>
                      <m:t>3</m:t>
                    </m:r>
                  </m:oMath>
                </a14:m>
                <a:r>
                  <a:rPr lang="en-US" dirty="0"/>
                  <a:t>?</a:t>
                </a:r>
              </a:p>
              <a:p>
                <a:r>
                  <a:rPr lang="en-US" b="1" dirty="0"/>
                  <a:t>Solution:</a:t>
                </a:r>
                <a:r>
                  <a:rPr lang="en-US" dirty="0"/>
                  <a:t> From recurrence relation we have:</a:t>
                </a:r>
              </a:p>
              <a:p>
                <a:pPr indent="0">
                  <a:buNone/>
                </a:pPr>
                <a14:m>
                  <m:oMath xmlns:m="http://schemas.openxmlformats.org/officeDocument/2006/math">
                    <m:r>
                      <a:rPr lang="en-US" i="1" dirty="0" smtClean="0">
                        <a:latin typeface="Cambria Math"/>
                      </a:rPr>
                      <m:t>𝑎</m:t>
                    </m:r>
                    <m:r>
                      <a:rPr lang="en-US" i="1" baseline="-25000" dirty="0" smtClean="0">
                        <a:latin typeface="Cambria Math"/>
                      </a:rPr>
                      <m:t>2</m:t>
                    </m:r>
                    <m:r>
                      <a:rPr lang="en-US" i="1" dirty="0">
                        <a:latin typeface="Cambria Math"/>
                      </a:rPr>
                      <m:t>=</m:t>
                    </m:r>
                    <m:r>
                      <a:rPr lang="en-US" i="1" dirty="0">
                        <a:latin typeface="Cambria Math"/>
                      </a:rPr>
                      <m:t>𝑎</m:t>
                    </m:r>
                    <m:r>
                      <a:rPr lang="en-US" i="1" baseline="-25000" dirty="0">
                        <a:latin typeface="Cambria Math"/>
                      </a:rPr>
                      <m:t>1</m:t>
                    </m:r>
                    <m:r>
                      <a:rPr lang="en-US" i="1" dirty="0">
                        <a:latin typeface="Cambria Math"/>
                      </a:rPr>
                      <m:t>−</m:t>
                    </m:r>
                    <m:r>
                      <a:rPr lang="en-US" i="1" dirty="0">
                        <a:latin typeface="Cambria Math"/>
                      </a:rPr>
                      <m:t>𝑎</m:t>
                    </m:r>
                    <m:r>
                      <a:rPr lang="en-US" i="1" baseline="-25000" dirty="0">
                        <a:latin typeface="Cambria Math"/>
                      </a:rPr>
                      <m:t>0</m:t>
                    </m:r>
                    <m:r>
                      <a:rPr lang="en-US" i="1" dirty="0">
                        <a:latin typeface="Cambria Math"/>
                      </a:rPr>
                      <m:t>=5−3=2</m:t>
                    </m:r>
                    <m:r>
                      <a:rPr lang="en-US" b="0" i="0" dirty="0" smtClean="0">
                        <a:latin typeface="Cambria Math"/>
                      </a:rPr>
                      <m:t>,</m:t>
                    </m:r>
                  </m:oMath>
                </a14:m>
                <a:r>
                  <a:rPr lang="en-US" dirty="0"/>
                  <a:t> </a:t>
                </a:r>
              </a:p>
              <a:p>
                <a:pPr indent="0">
                  <a:buNone/>
                </a:pPr>
                <a14:m>
                  <m:oMathPara xmlns:m="http://schemas.openxmlformats.org/officeDocument/2006/math">
                    <m:oMathParaPr>
                      <m:jc m:val="left"/>
                    </m:oMathParaPr>
                    <m:oMath xmlns:m="http://schemas.openxmlformats.org/officeDocument/2006/math">
                      <m:r>
                        <a:rPr lang="en-US" i="1" dirty="0" smtClean="0">
                          <a:latin typeface="Cambria Math"/>
                        </a:rPr>
                        <m:t>𝑎</m:t>
                      </m:r>
                      <m:r>
                        <a:rPr lang="en-US" i="1" baseline="-25000" dirty="0" smtClean="0">
                          <a:latin typeface="Cambria Math"/>
                        </a:rPr>
                        <m:t>3</m:t>
                      </m:r>
                      <m:r>
                        <a:rPr lang="en-US" i="1" dirty="0">
                          <a:latin typeface="Cambria Math"/>
                        </a:rPr>
                        <m:t>=</m:t>
                      </m:r>
                      <m:r>
                        <a:rPr lang="en-US" i="1" dirty="0">
                          <a:latin typeface="Cambria Math"/>
                        </a:rPr>
                        <m:t>𝑎</m:t>
                      </m:r>
                      <m:r>
                        <a:rPr lang="en-US" i="1" baseline="-25000" dirty="0">
                          <a:latin typeface="Cambria Math"/>
                        </a:rPr>
                        <m:t>2</m:t>
                      </m:r>
                      <m:r>
                        <a:rPr lang="en-US" i="1" dirty="0">
                          <a:latin typeface="Cambria Math"/>
                        </a:rPr>
                        <m:t>−</m:t>
                      </m:r>
                      <m:r>
                        <a:rPr lang="en-US" i="1" dirty="0">
                          <a:latin typeface="Cambria Math"/>
                        </a:rPr>
                        <m:t>𝑎</m:t>
                      </m:r>
                      <m:r>
                        <a:rPr lang="en-US" i="1" baseline="-25000" dirty="0">
                          <a:latin typeface="Cambria Math"/>
                        </a:rPr>
                        <m:t>1</m:t>
                      </m:r>
                      <m:r>
                        <a:rPr lang="en-US" i="1" dirty="0">
                          <a:latin typeface="Cambria Math"/>
                        </a:rPr>
                        <m:t>=2−5=−3.</m:t>
                      </m:r>
                    </m:oMath>
                  </m:oMathPara>
                </a14:m>
                <a:endParaRPr lang="en-US" dirty="0"/>
              </a:p>
              <a:p>
                <a:endParaRPr lang="en-US" dirty="0"/>
              </a:p>
            </p:txBody>
          </p:sp>
        </mc:Choice>
        <mc:Fallback>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617" t="-1799" r="-1235"/>
                </a:stretch>
              </a:blipFill>
            </p:spPr>
            <p:txBody>
              <a:bodyPr/>
              <a:lstStyle/>
              <a:p>
                <a:r>
                  <a:rPr lang="en-VN">
                    <a:noFill/>
                  </a:rPr>
                  <a:t> </a:t>
                </a:r>
              </a:p>
            </p:txBody>
          </p:sp>
        </mc:Fallback>
      </mc:AlternateContent>
    </p:spTree>
    <p:extLst>
      <p:ext uri="{BB962C8B-B14F-4D97-AF65-F5344CB8AC3E}">
        <p14:creationId xmlns:p14="http://schemas.microsoft.com/office/powerpoint/2010/main" val="22787548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Modeling the recurrence relation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47</a:t>
            </a:fld>
            <a:endParaRPr lang="en-US"/>
          </a:p>
        </p:txBody>
      </p:sp>
      <p:sp>
        <p:nvSpPr>
          <p:cNvPr id="5" name="Content Placeholder 4"/>
          <p:cNvSpPr>
            <a:spLocks noGrp="1"/>
          </p:cNvSpPr>
          <p:nvPr>
            <p:ph sz="quarter" idx="1"/>
          </p:nvPr>
        </p:nvSpPr>
        <p:spPr/>
        <p:txBody>
          <a:bodyPr>
            <a:normAutofit/>
          </a:bodyPr>
          <a:lstStyle/>
          <a:p>
            <a:pPr algn="just"/>
            <a:r>
              <a:rPr lang="en-US" dirty="0"/>
              <a:t>Using the recurrence relation, we can model very broad classes in reality. Each specific problem has a different modeling method. Here are some typica examples.</a:t>
            </a:r>
            <a:endParaRPr lang="es-MX" i="1" dirty="0"/>
          </a:p>
          <a:p>
            <a:r>
              <a:rPr lang="pt-BR" b="1" dirty="0"/>
              <a:t>Example 15</a:t>
            </a:r>
            <a:r>
              <a:rPr lang="pt-BR" dirty="0"/>
              <a:t>: Population problem. Assume that in 1995, the world population was 7 billion. Every year, the world’s population increases by 3%. By 2020, what is the world population?</a:t>
            </a:r>
          </a:p>
          <a:p>
            <a:endParaRPr lang="en-US" dirty="0"/>
          </a:p>
          <a:p>
            <a:endParaRPr lang="en-US" dirty="0"/>
          </a:p>
        </p:txBody>
      </p:sp>
    </p:spTree>
    <p:extLst>
      <p:ext uri="{BB962C8B-B14F-4D97-AF65-F5344CB8AC3E}">
        <p14:creationId xmlns:p14="http://schemas.microsoft.com/office/powerpoint/2010/main" val="35849365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 15</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r>
                  <a:rPr lang="pt-BR" b="1" dirty="0"/>
                  <a:t>Solution</a:t>
                </a:r>
                <a:r>
                  <a:rPr lang="pt-BR" dirty="0"/>
                  <a:t>: Let world population after </a:t>
                </a:r>
                <a14:m>
                  <m:oMath xmlns:m="http://schemas.openxmlformats.org/officeDocument/2006/math">
                    <m:r>
                      <a:rPr lang="pt-BR" i="1" dirty="0" smtClean="0">
                        <a:latin typeface="Cambria Math"/>
                      </a:rPr>
                      <m:t>𝑛</m:t>
                    </m:r>
                  </m:oMath>
                </a14:m>
                <a:r>
                  <a:rPr lang="pt-BR" dirty="0"/>
                  <a:t> years is </a:t>
                </a:r>
                <a14:m>
                  <m:oMath xmlns:m="http://schemas.openxmlformats.org/officeDocument/2006/math">
                    <m:r>
                      <a:rPr lang="pt-BR" i="1" dirty="0" smtClean="0">
                        <a:latin typeface="Cambria Math"/>
                      </a:rPr>
                      <m:t>𝑃</m:t>
                    </m:r>
                    <m:r>
                      <a:rPr lang="pt-BR" i="1" baseline="-25000" dirty="0">
                        <a:latin typeface="Cambria Math"/>
                      </a:rPr>
                      <m:t>𝑛</m:t>
                    </m:r>
                  </m:oMath>
                </a14:m>
                <a:r>
                  <a:rPr lang="pt-BR" dirty="0"/>
                  <a:t>. Then, population in </a:t>
                </a:r>
                <a14:m>
                  <m:oMath xmlns:m="http://schemas.openxmlformats.org/officeDocument/2006/math">
                    <m:r>
                      <a:rPr lang="pt-BR" i="1" dirty="0" smtClean="0">
                        <a:latin typeface="Cambria Math"/>
                      </a:rPr>
                      <m:t>𝑛</m:t>
                    </m:r>
                    <m:r>
                      <a:rPr lang="en-US" b="0" i="1" baseline="30000" dirty="0" smtClean="0">
                        <a:latin typeface="Cambria Math" panose="02040503050406030204" pitchFamily="18" charset="0"/>
                      </a:rPr>
                      <m:t>𝑡h</m:t>
                    </m:r>
                  </m:oMath>
                </a14:m>
                <a:r>
                  <a:rPr lang="pt-BR" dirty="0"/>
                  <a:t> year is equal to 1.03 of the previous year’s world population. From there, we have the recurrence formula for the sequence </a:t>
                </a:r>
                <a14:m>
                  <m:oMath xmlns:m="http://schemas.openxmlformats.org/officeDocument/2006/math">
                    <m:r>
                      <a:rPr lang="pt-BR" i="1" dirty="0" smtClean="0">
                        <a:latin typeface="Cambria Math"/>
                      </a:rPr>
                      <m:t>{</m:t>
                    </m:r>
                    <m:sSub>
                      <m:sSubPr>
                        <m:ctrlPr>
                          <a:rPr lang="pt-BR" i="1" dirty="0" smtClean="0">
                            <a:latin typeface="Cambria Math" panose="02040503050406030204" pitchFamily="18" charset="0"/>
                          </a:rPr>
                        </m:ctrlPr>
                      </m:sSubPr>
                      <m:e>
                        <m:r>
                          <a:rPr lang="en-US" b="0" i="1" dirty="0" smtClean="0">
                            <a:latin typeface="Cambria Math"/>
                          </a:rPr>
                          <m:t>𝑃</m:t>
                        </m:r>
                      </m:e>
                      <m:sub>
                        <m:r>
                          <a:rPr lang="en-US" b="0" i="1" dirty="0" smtClean="0">
                            <a:latin typeface="Cambria Math"/>
                          </a:rPr>
                          <m:t>𝑛</m:t>
                        </m:r>
                      </m:sub>
                    </m:sSub>
                    <m:r>
                      <a:rPr lang="pt-BR" i="1" dirty="0" smtClean="0">
                        <a:latin typeface="Cambria Math"/>
                      </a:rPr>
                      <m:t>} </m:t>
                    </m:r>
                  </m:oMath>
                </a14:m>
                <a:r>
                  <a:rPr lang="pt-BR" dirty="0"/>
                  <a:t>as follows:</a:t>
                </a:r>
                <a:endParaRPr lang="en-US" dirty="0"/>
              </a:p>
              <a:p>
                <a:pPr marL="0" indent="0">
                  <a:buNone/>
                </a:pPr>
                <a14:m>
                  <m:oMath xmlns:m="http://schemas.openxmlformats.org/officeDocument/2006/math">
                    <m:r>
                      <a:rPr lang="pt-BR" i="1" dirty="0" smtClean="0">
                        <a:latin typeface="Cambria Math"/>
                      </a:rPr>
                      <m:t>𝑃</m:t>
                    </m:r>
                    <m:r>
                      <a:rPr lang="pt-BR" i="1" baseline="-25000" dirty="0" smtClean="0">
                        <a:latin typeface="Cambria Math"/>
                      </a:rPr>
                      <m:t>𝑛</m:t>
                    </m:r>
                    <m:r>
                      <a:rPr lang="pt-BR" i="1" dirty="0">
                        <a:latin typeface="Cambria Math"/>
                      </a:rPr>
                      <m:t>=1.03</m:t>
                    </m:r>
                    <m:sSub>
                      <m:sSubPr>
                        <m:ctrlPr>
                          <a:rPr lang="pt-BR" i="1" dirty="0" smtClean="0">
                            <a:latin typeface="Cambria Math" panose="02040503050406030204" pitchFamily="18" charset="0"/>
                          </a:rPr>
                        </m:ctrlPr>
                      </m:sSubPr>
                      <m:e>
                        <m:r>
                          <a:rPr lang="en-US" b="0" i="1" dirty="0" smtClean="0">
                            <a:latin typeface="Cambria Math"/>
                          </a:rPr>
                          <m:t>𝑃</m:t>
                        </m:r>
                      </m:e>
                      <m:sub>
                        <m:r>
                          <a:rPr lang="en-US" b="0" i="1" dirty="0" smtClean="0">
                            <a:latin typeface="Cambria Math"/>
                          </a:rPr>
                          <m:t>𝑛</m:t>
                        </m:r>
                        <m:r>
                          <a:rPr lang="en-US" b="0" i="1" dirty="0" smtClean="0">
                            <a:latin typeface="Cambria Math"/>
                          </a:rPr>
                          <m:t>−1</m:t>
                        </m:r>
                      </m:sub>
                    </m:sSub>
                  </m:oMath>
                </a14:m>
                <a:r>
                  <a:rPr lang="pt-BR" dirty="0"/>
                  <a:t>, with </a:t>
                </a:r>
                <a14:m>
                  <m:oMath xmlns:m="http://schemas.openxmlformats.org/officeDocument/2006/math">
                    <m:r>
                      <a:rPr lang="pt-BR" i="1" dirty="0" smtClean="0">
                        <a:latin typeface="Cambria Math"/>
                      </a:rPr>
                      <m:t>𝑛</m:t>
                    </m:r>
                    <m:r>
                      <a:rPr lang="pt-BR" i="1" dirty="0">
                        <a:latin typeface="Cambria Math"/>
                        <a:sym typeface="Symbol" pitchFamily="18" charset="2"/>
                      </a:rPr>
                      <m:t></m:t>
                    </m:r>
                    <m:r>
                      <a:rPr lang="pt-BR" i="1" dirty="0">
                        <a:latin typeface="Cambria Math"/>
                      </a:rPr>
                      <m:t>1</m:t>
                    </m:r>
                  </m:oMath>
                </a14:m>
                <a:r>
                  <a:rPr lang="pt-BR" dirty="0"/>
                  <a:t> and </a:t>
                </a:r>
                <a14:m>
                  <m:oMath xmlns:m="http://schemas.openxmlformats.org/officeDocument/2006/math">
                    <m:r>
                      <a:rPr lang="pt-BR" i="1" dirty="0" smtClean="0">
                        <a:latin typeface="Cambria Math"/>
                      </a:rPr>
                      <m:t>𝑃</m:t>
                    </m:r>
                    <m:r>
                      <a:rPr lang="pt-BR" i="1" baseline="-25000" dirty="0">
                        <a:latin typeface="Cambria Math"/>
                        <a:sym typeface="Symbol" pitchFamily="18" charset="2"/>
                      </a:rPr>
                      <m:t>0</m:t>
                    </m:r>
                    <m:r>
                      <a:rPr lang="pt-BR" i="1" dirty="0">
                        <a:latin typeface="Cambria Math"/>
                        <a:sym typeface="Symbol" pitchFamily="18" charset="2"/>
                      </a:rPr>
                      <m:t>=7</m:t>
                    </m:r>
                  </m:oMath>
                </a14:m>
                <a:r>
                  <a:rPr lang="pt-BR" dirty="0">
                    <a:sym typeface="Symbol" pitchFamily="18" charset="2"/>
                  </a:rPr>
                  <a:t>.</a:t>
                </a:r>
                <a:endParaRPr lang="en-US" dirty="0">
                  <a:sym typeface="Symbol" pitchFamily="18" charset="2"/>
                </a:endParaRPr>
              </a:p>
              <a:p>
                <a:pPr marL="0" indent="0">
                  <a:buNone/>
                </a:pPr>
                <a:r>
                  <a:rPr lang="pt-BR" dirty="0">
                    <a:sym typeface="Symbol" pitchFamily="18" charset="2"/>
                  </a:rPr>
                  <a:t>To calculate </a:t>
                </a:r>
                <a14:m>
                  <m:oMath xmlns:m="http://schemas.openxmlformats.org/officeDocument/2006/math">
                    <m:r>
                      <a:rPr lang="pt-BR" i="1" dirty="0">
                        <a:latin typeface="Cambria Math"/>
                      </a:rPr>
                      <m:t>𝑃</m:t>
                    </m:r>
                    <m:r>
                      <a:rPr lang="pt-BR" i="1" baseline="-25000" dirty="0">
                        <a:latin typeface="Cambria Math"/>
                      </a:rPr>
                      <m:t>𝑛</m:t>
                    </m:r>
                    <m:r>
                      <a:rPr lang="pt-BR" i="1" baseline="-25000" dirty="0">
                        <a:latin typeface="Cambria Math"/>
                      </a:rPr>
                      <m:t> </m:t>
                    </m:r>
                  </m:oMath>
                </a14:m>
                <a:r>
                  <a:rPr lang="pt-BR" dirty="0">
                    <a:sym typeface="Symbol" pitchFamily="18" charset="2"/>
                  </a:rPr>
                  <a:t>we can use the iterative method as follows:</a:t>
                </a:r>
                <a:endParaRPr lang="en-US" dirty="0">
                  <a:sym typeface="Symbol" pitchFamily="18" charset="2"/>
                </a:endParaRPr>
              </a:p>
              <a:p>
                <a:pPr marL="0" indent="0">
                  <a:buNone/>
                </a:pPr>
                <a:r>
                  <a:rPr lang="pt-BR" dirty="0">
                    <a:sym typeface="Symbol" pitchFamily="18" charset="2"/>
                  </a:rPr>
                  <a:t>		</a:t>
                </a:r>
                <a14:m>
                  <m:oMath xmlns:m="http://schemas.openxmlformats.org/officeDocument/2006/math">
                    <m:r>
                      <a:rPr lang="en-US" b="0" i="0" dirty="0" smtClean="0">
                        <a:latin typeface="Cambria Math"/>
                        <a:sym typeface="Symbol" pitchFamily="18" charset="2"/>
                      </a:rPr>
                      <m:t>        </m:t>
                    </m:r>
                    <m:r>
                      <a:rPr lang="pt-BR" i="1" dirty="0" smtClean="0">
                        <a:latin typeface="Cambria Math"/>
                        <a:sym typeface="Symbol" pitchFamily="18" charset="2"/>
                      </a:rPr>
                      <m:t>𝑃</m:t>
                    </m:r>
                    <m:r>
                      <a:rPr lang="pt-BR" i="1" baseline="-25000" dirty="0">
                        <a:latin typeface="Cambria Math"/>
                        <a:sym typeface="Symbol" pitchFamily="18" charset="2"/>
                      </a:rPr>
                      <m:t>1</m:t>
                    </m:r>
                    <m:r>
                      <a:rPr lang="pt-BR" i="1" dirty="0">
                        <a:latin typeface="Cambria Math"/>
                        <a:sym typeface="Symbol" pitchFamily="18" charset="2"/>
                      </a:rPr>
                      <m:t>=1.03 </m:t>
                    </m:r>
                    <m:r>
                      <a:rPr lang="pt-BR" i="1" dirty="0">
                        <a:latin typeface="Cambria Math"/>
                        <a:sym typeface="Symbol" pitchFamily="18" charset="2"/>
                      </a:rPr>
                      <m:t>𝑃</m:t>
                    </m:r>
                    <m:r>
                      <a:rPr lang="pt-BR" i="1" baseline="-25000" dirty="0">
                        <a:latin typeface="Cambria Math"/>
                        <a:sym typeface="Symbol" pitchFamily="18" charset="2"/>
                      </a:rPr>
                      <m:t>0</m:t>
                    </m:r>
                    <m:r>
                      <a:rPr lang="pt-BR" i="1" dirty="0">
                        <a:latin typeface="Cambria Math"/>
                        <a:sym typeface="Symbol" pitchFamily="18" charset="2"/>
                      </a:rPr>
                      <m:t>=1.03. 7</m:t>
                    </m:r>
                  </m:oMath>
                </a14:m>
                <a:endParaRPr lang="en-US" i="1" dirty="0">
                  <a:latin typeface="Cambria Math"/>
                  <a:sym typeface="Symbol" pitchFamily="18" charset="2"/>
                </a:endParaRPr>
              </a:p>
              <a:p>
                <a:pPr marL="0"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	</m:t>
                      </m:r>
                      <m:r>
                        <a:rPr lang="pt-BR" i="1" dirty="0" smtClean="0">
                          <a:latin typeface="Cambria Math"/>
                          <a:sym typeface="Symbol" pitchFamily="18" charset="2"/>
                        </a:rPr>
                        <m:t>𝑃</m:t>
                      </m:r>
                      <m:r>
                        <a:rPr lang="pt-BR" i="1" baseline="-25000" dirty="0">
                          <a:latin typeface="Cambria Math"/>
                          <a:sym typeface="Symbol" pitchFamily="18" charset="2"/>
                        </a:rPr>
                        <m:t>2</m:t>
                      </m:r>
                      <m:r>
                        <a:rPr lang="pt-BR" i="1" dirty="0">
                          <a:latin typeface="Cambria Math"/>
                          <a:sym typeface="Symbol" pitchFamily="18" charset="2"/>
                        </a:rPr>
                        <m:t>=1.03.</m:t>
                      </m:r>
                      <m:r>
                        <a:rPr lang="pt-BR" i="1" dirty="0">
                          <a:latin typeface="Cambria Math"/>
                          <a:sym typeface="Symbol" pitchFamily="18" charset="2"/>
                        </a:rPr>
                        <m:t>𝑃</m:t>
                      </m:r>
                      <m:r>
                        <a:rPr lang="pt-BR" i="1" baseline="-25000" dirty="0">
                          <a:latin typeface="Cambria Math"/>
                          <a:sym typeface="Symbol" pitchFamily="18" charset="2"/>
                        </a:rPr>
                        <m:t>1</m:t>
                      </m:r>
                      <m:r>
                        <a:rPr lang="pt-BR" i="1" dirty="0">
                          <a:latin typeface="Cambria Math"/>
                          <a:sym typeface="Symbol" pitchFamily="18" charset="2"/>
                        </a:rPr>
                        <m:t>= (1.03)</m:t>
                      </m:r>
                      <m:r>
                        <a:rPr lang="pt-BR" i="1" baseline="30000" dirty="0">
                          <a:latin typeface="Cambria Math"/>
                          <a:sym typeface="Symbol" pitchFamily="18" charset="2"/>
                        </a:rPr>
                        <m:t>2</m:t>
                      </m:r>
                      <m:r>
                        <a:rPr lang="pt-BR" i="1" dirty="0">
                          <a:latin typeface="Cambria Math"/>
                          <a:sym typeface="Symbol" pitchFamily="18" charset="2"/>
                        </a:rPr>
                        <m:t> .7</m:t>
                      </m:r>
                    </m:oMath>
                  </m:oMathPara>
                </a14:m>
                <a:endParaRPr lang="en-US" dirty="0">
                  <a:sym typeface="Symbol" pitchFamily="18" charset="2"/>
                </a:endParaRPr>
              </a:p>
              <a:p>
                <a:pPr marL="0"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		. . . . . . . . . . . . . . . . . . . . . . . . . . .</m:t>
                      </m:r>
                    </m:oMath>
                  </m:oMathPara>
                </a14:m>
                <a:endParaRPr lang="en-US" dirty="0">
                  <a:sym typeface="Symbol" pitchFamily="18" charset="2"/>
                </a:endParaRPr>
              </a:p>
              <a:p>
                <a:pPr marL="0" indent="0">
                  <a:buNone/>
                </a:pPr>
                <a14:m>
                  <m:oMathPara xmlns:m="http://schemas.openxmlformats.org/officeDocument/2006/math">
                    <m:oMathParaPr>
                      <m:jc m:val="centerGroup"/>
                    </m:oMathParaPr>
                    <m:oMath xmlns:m="http://schemas.openxmlformats.org/officeDocument/2006/math">
                      <m:r>
                        <a:rPr lang="pt-BR" i="1" dirty="0" smtClean="0">
                          <a:latin typeface="Cambria Math"/>
                          <a:sym typeface="Symbol" pitchFamily="18" charset="2"/>
                        </a:rPr>
                        <m:t>		</m:t>
                      </m:r>
                      <m:r>
                        <a:rPr lang="pt-BR" i="1" dirty="0">
                          <a:latin typeface="Cambria Math"/>
                        </a:rPr>
                        <m:t>𝑃</m:t>
                      </m:r>
                      <m:r>
                        <a:rPr lang="pt-BR" i="1" baseline="-25000" dirty="0">
                          <a:latin typeface="Cambria Math"/>
                        </a:rPr>
                        <m:t>𝑛</m:t>
                      </m:r>
                      <m:r>
                        <a:rPr lang="pt-BR" i="1" dirty="0">
                          <a:latin typeface="Cambria Math"/>
                        </a:rPr>
                        <m:t>=1.03</m:t>
                      </m:r>
                      <m:sSub>
                        <m:sSubPr>
                          <m:ctrlPr>
                            <a:rPr lang="pt-BR" i="1" dirty="0">
                              <a:latin typeface="Cambria Math" panose="02040503050406030204" pitchFamily="18" charset="0"/>
                            </a:rPr>
                          </m:ctrlPr>
                        </m:sSubPr>
                        <m:e>
                          <m:r>
                            <a:rPr lang="en-US" i="1" dirty="0">
                              <a:latin typeface="Cambria Math"/>
                            </a:rPr>
                            <m:t>𝑃</m:t>
                          </m:r>
                        </m:e>
                        <m:sub>
                          <m:r>
                            <a:rPr lang="en-US" i="1" dirty="0">
                              <a:latin typeface="Cambria Math"/>
                            </a:rPr>
                            <m:t>𝑛</m:t>
                          </m:r>
                          <m:r>
                            <a:rPr lang="en-US" i="1" dirty="0">
                              <a:latin typeface="Cambria Math"/>
                            </a:rPr>
                            <m:t>−1</m:t>
                          </m:r>
                        </m:sub>
                      </m:sSub>
                      <m:r>
                        <a:rPr lang="pt-BR" i="1" dirty="0">
                          <a:latin typeface="Cambria Math"/>
                          <a:sym typeface="Symbol" pitchFamily="18" charset="2"/>
                        </a:rPr>
                        <m:t>=(1.03)</m:t>
                      </m:r>
                      <m:r>
                        <a:rPr lang="pt-BR" i="1" baseline="30000" dirty="0">
                          <a:latin typeface="Cambria Math"/>
                          <a:sym typeface="Symbol" pitchFamily="18" charset="2"/>
                        </a:rPr>
                        <m:t>𝑛</m:t>
                      </m:r>
                      <m:r>
                        <a:rPr lang="pt-BR" i="1" dirty="0">
                          <a:latin typeface="Cambria Math"/>
                          <a:sym typeface="Symbol" pitchFamily="18" charset="2"/>
                        </a:rPr>
                        <m:t> .7</m:t>
                      </m:r>
                    </m:oMath>
                  </m:oMathPara>
                </a14:m>
                <a:endParaRPr lang="en-US" dirty="0">
                  <a:sym typeface="Symbol" pitchFamily="18" charset="2"/>
                </a:endParaRPr>
              </a:p>
              <a:p>
                <a:pPr marL="0" indent="0">
                  <a:buNone/>
                </a:pPr>
                <a:r>
                  <a:rPr lang="pt-BR" dirty="0">
                    <a:sym typeface="Symbol" pitchFamily="18" charset="2"/>
                  </a:rPr>
                  <a:t>	</a:t>
                </a:r>
                <a:r>
                  <a:rPr lang="pt-BR" dirty="0">
                    <a:sym typeface="Wingdings" panose="05000000000000000000" pitchFamily="2" charset="2"/>
                  </a:rPr>
                  <a:t></a:t>
                </a:r>
                <a:r>
                  <a:rPr lang="pt-BR" dirty="0">
                    <a:sym typeface="Symbol" pitchFamily="18" charset="2"/>
                  </a:rPr>
                  <a:t> We have </a:t>
                </a:r>
                <a14:m>
                  <m:oMath xmlns:m="http://schemas.openxmlformats.org/officeDocument/2006/math">
                    <m:r>
                      <a:rPr lang="pt-BR" i="1" dirty="0" smtClean="0">
                        <a:latin typeface="Cambria Math"/>
                        <a:sym typeface="Symbol" pitchFamily="18" charset="2"/>
                      </a:rPr>
                      <m:t>𝑃</m:t>
                    </m:r>
                    <m:r>
                      <a:rPr lang="pt-BR" i="1" baseline="-25000" dirty="0">
                        <a:latin typeface="Cambria Math"/>
                        <a:sym typeface="Symbol" pitchFamily="18" charset="2"/>
                      </a:rPr>
                      <m:t>25</m:t>
                    </m:r>
                    <m:r>
                      <a:rPr lang="pt-BR" i="1" dirty="0">
                        <a:latin typeface="Cambria Math"/>
                        <a:sym typeface="Symbol" pitchFamily="18" charset="2"/>
                      </a:rPr>
                      <m:t>=(1.03)</m:t>
                    </m:r>
                    <m:r>
                      <a:rPr lang="pt-BR" i="1" baseline="30000" dirty="0">
                        <a:latin typeface="Cambria Math"/>
                        <a:sym typeface="Symbol" pitchFamily="18" charset="2"/>
                      </a:rPr>
                      <m:t>25</m:t>
                    </m:r>
                    <m:r>
                      <a:rPr lang="pt-BR" i="1" dirty="0">
                        <a:latin typeface="Cambria Math"/>
                        <a:sym typeface="Symbol" pitchFamily="18" charset="2"/>
                      </a:rPr>
                      <m:t>.7</m:t>
                    </m:r>
                  </m:oMath>
                </a14:m>
                <a:r>
                  <a:rPr lang="pt-BR" dirty="0">
                    <a:sym typeface="Symbol" pitchFamily="18" charset="2"/>
                  </a:rPr>
                  <a:t>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r="-1481"/>
                </a:stretch>
              </a:blipFill>
            </p:spPr>
            <p:txBody>
              <a:bodyPr/>
              <a:lstStyle/>
              <a:p>
                <a:r>
                  <a:rPr lang="en-US">
                    <a:noFill/>
                  </a:rPr>
                  <a:t> </a:t>
                </a:r>
              </a:p>
            </p:txBody>
          </p:sp>
        </mc:Fallback>
      </mc:AlternateContent>
    </p:spTree>
    <p:extLst>
      <p:ext uri="{BB962C8B-B14F-4D97-AF65-F5344CB8AC3E}">
        <p14:creationId xmlns:p14="http://schemas.microsoft.com/office/powerpoint/2010/main" val="1536827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16</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49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pt-BR" b="1" dirty="0"/>
                  <a:t>Compound interest problem:</a:t>
                </a:r>
                <a:r>
                  <a:rPr lang="pt-BR" dirty="0"/>
                  <a:t> A person deposits </a:t>
                </a:r>
                <a14:m>
                  <m:oMath xmlns:m="http://schemas.openxmlformats.org/officeDocument/2006/math">
                    <m:r>
                      <a:rPr lang="pt-BR" i="1" dirty="0" smtClean="0">
                        <a:latin typeface="Cambria Math"/>
                      </a:rPr>
                      <m:t>𝑋</m:t>
                    </m:r>
                  </m:oMath>
                </a14:m>
                <a:r>
                  <a:rPr lang="pt-BR" dirty="0"/>
                  <a:t> dollars in his account at a bank with a compound interest of </a:t>
                </a:r>
                <a14:m>
                  <m:oMath xmlns:m="http://schemas.openxmlformats.org/officeDocument/2006/math">
                    <m:r>
                      <a:rPr lang="pt-BR" i="1" dirty="0" smtClean="0">
                        <a:latin typeface="Cambria Math"/>
                      </a:rPr>
                      <m:t>11%</m:t>
                    </m:r>
                  </m:oMath>
                </a14:m>
                <a:r>
                  <a:rPr lang="pt-BR" dirty="0"/>
                  <a:t> per year. How much money does he have in his account after 30 years?</a:t>
                </a: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r="-1111"/>
                </a:stretch>
              </a:blipFill>
            </p:spPr>
            <p:txBody>
              <a:bodyPr/>
              <a:lstStyle/>
              <a:p>
                <a:r>
                  <a:rPr lang="en-US">
                    <a:noFill/>
                  </a:rPr>
                  <a:t> </a:t>
                </a:r>
              </a:p>
            </p:txBody>
          </p:sp>
        </mc:Fallback>
      </mc:AlternateContent>
    </p:spTree>
    <p:extLst>
      <p:ext uri="{BB962C8B-B14F-4D97-AF65-F5344CB8AC3E}">
        <p14:creationId xmlns:p14="http://schemas.microsoft.com/office/powerpoint/2010/main" val="2447637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pt-BR" b="1" dirty="0"/>
                  <a:t>Rabbit family and Fibonacci numbers</a:t>
                </a:r>
                <a:r>
                  <a:rPr lang="pt-BR" dirty="0"/>
                  <a:t>: A pair of rabbits (one maile and one female) are kept on an island. Assume a pair of rabiits has not reproduced before the age of 2 months. From the time they are 2 months old, they give birth to a pair of rabbits every month. Find the recurrence relation for the number of pairs of rabbits after </a:t>
                </a:r>
                <a14:m>
                  <m:oMath xmlns:m="http://schemas.openxmlformats.org/officeDocument/2006/math">
                    <m:r>
                      <a:rPr lang="pt-BR" i="1" dirty="0" smtClean="0">
                        <a:latin typeface="Cambria Math"/>
                      </a:rPr>
                      <m:t>𝑛</m:t>
                    </m:r>
                  </m:oMath>
                </a14:m>
                <a:r>
                  <a:rPr lang="pt-BR" dirty="0"/>
                  <a:t> months?</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18242031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17</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marL="0" indent="0">
                  <a:buNone/>
                </a:pPr>
                <a:r>
                  <a:rPr lang="en-US" sz="2000" b="1" dirty="0"/>
                  <a:t>Solution</a:t>
                </a:r>
                <a:r>
                  <a:rPr lang="en-US" sz="2000" dirty="0"/>
                  <a:t>: </a:t>
                </a:r>
                <a:r>
                  <a:rPr lang="pt-BR" sz="2000" dirty="0"/>
                  <a:t>Let </a:t>
                </a:r>
                <a14:m>
                  <m:oMath xmlns:m="http://schemas.openxmlformats.org/officeDocument/2006/math">
                    <m:sSub>
                      <m:sSubPr>
                        <m:ctrlPr>
                          <a:rPr lang="pt-BR" sz="2000" i="1" dirty="0" smtClean="0">
                            <a:latin typeface="Cambria Math" panose="02040503050406030204" pitchFamily="18" charset="0"/>
                          </a:rPr>
                        </m:ctrlPr>
                      </m:sSubPr>
                      <m:e>
                        <m:r>
                          <a:rPr lang="en-US" sz="2000" b="0" i="1" dirty="0" smtClean="0">
                            <a:latin typeface="Cambria Math"/>
                          </a:rPr>
                          <m:t>𝑓</m:t>
                        </m:r>
                      </m:e>
                      <m:sub>
                        <m:r>
                          <a:rPr lang="en-US" sz="2000" b="0" i="1" dirty="0" smtClean="0">
                            <a:latin typeface="Cambria Math"/>
                          </a:rPr>
                          <m:t>𝑛</m:t>
                        </m:r>
                      </m:sub>
                    </m:sSub>
                  </m:oMath>
                </a14:m>
                <a:r>
                  <a:rPr lang="pt-BR" sz="2000" dirty="0"/>
                  <a:t> be the number of pairs of rabbits after </a:t>
                </a:r>
                <a14:m>
                  <m:oMath xmlns:m="http://schemas.openxmlformats.org/officeDocument/2006/math">
                    <m:r>
                      <a:rPr lang="pt-BR" sz="2000" i="1" dirty="0" smtClean="0">
                        <a:latin typeface="Cambria Math"/>
                      </a:rPr>
                      <m:t>𝑛</m:t>
                    </m:r>
                  </m:oMath>
                </a14:m>
                <a:r>
                  <a:rPr lang="pt-BR" sz="2000" dirty="0"/>
                  <a:t> months. We will show </a:t>
                </a:r>
                <a14:m>
                  <m:oMath xmlns:m="http://schemas.openxmlformats.org/officeDocument/2006/math">
                    <m:sSub>
                      <m:sSubPr>
                        <m:ctrlPr>
                          <a:rPr lang="pt-BR" sz="2000" i="1" dirty="0">
                            <a:latin typeface="Cambria Math" panose="02040503050406030204" pitchFamily="18" charset="0"/>
                          </a:rPr>
                        </m:ctrlPr>
                      </m:sSubPr>
                      <m:e>
                        <m:r>
                          <a:rPr lang="en-US" sz="2000" i="1" dirty="0">
                            <a:latin typeface="Cambria Math"/>
                          </a:rPr>
                          <m:t>𝑓</m:t>
                        </m:r>
                      </m:e>
                      <m:sub>
                        <m:r>
                          <a:rPr lang="en-US" sz="2000" i="1" dirty="0">
                            <a:latin typeface="Cambria Math"/>
                          </a:rPr>
                          <m:t>𝑛</m:t>
                        </m:r>
                      </m:sub>
                    </m:sSub>
                  </m:oMath>
                </a14:m>
                <a:r>
                  <a:rPr lang="pt-BR" sz="2000" dirty="0"/>
                  <a:t> </a:t>
                </a:r>
                <a14:m>
                  <m:oMath xmlns:m="http://schemas.openxmlformats.org/officeDocument/2006/math">
                    <m:r>
                      <a:rPr lang="pt-BR" sz="2000" i="1" dirty="0" smtClean="0">
                        <a:latin typeface="Cambria Math"/>
                      </a:rPr>
                      <m:t>(</m:t>
                    </m:r>
                    <m:r>
                      <a:rPr lang="pt-BR" sz="2000" i="1" dirty="0" smtClean="0">
                        <a:latin typeface="Cambria Math"/>
                      </a:rPr>
                      <m:t>𝑛</m:t>
                    </m:r>
                    <m:r>
                      <a:rPr lang="pt-BR" sz="2000" i="1" dirty="0" smtClean="0">
                        <a:latin typeface="Cambria Math"/>
                      </a:rPr>
                      <m:t>=0,1, 2,…) </m:t>
                    </m:r>
                  </m:oMath>
                </a14:m>
                <a:r>
                  <a:rPr lang="pt-BR" sz="2000" dirty="0"/>
                  <a:t>be exactly Fibonacci sequence of numbers?</a:t>
                </a:r>
                <a:r>
                  <a:rPr lang="en-US" sz="2000" dirty="0"/>
                  <a:t> </a:t>
                </a:r>
              </a:p>
              <a:p>
                <a:pPr marL="0" indent="0">
                  <a:buNone/>
                </a:pPr>
                <a:r>
                  <a:rPr lang="pt-BR" sz="2000" dirty="0"/>
                  <a:t>Because after 2 months a pair of rabbits can breed, so the number of rabbits in the current month is equal to the number of rabbits in the previous month </a:t>
                </a:r>
                <a14:m>
                  <m:oMath xmlns:m="http://schemas.openxmlformats.org/officeDocument/2006/math">
                    <m:sSub>
                      <m:sSubPr>
                        <m:ctrlPr>
                          <a:rPr lang="pt-BR" sz="2000" i="1" dirty="0">
                            <a:latin typeface="Cambria Math" panose="02040503050406030204" pitchFamily="18" charset="0"/>
                          </a:rPr>
                        </m:ctrlPr>
                      </m:sSubPr>
                      <m:e>
                        <m:r>
                          <a:rPr lang="en-US" sz="2000" i="1" dirty="0">
                            <a:latin typeface="Cambria Math"/>
                          </a:rPr>
                          <m:t>𝑓</m:t>
                        </m:r>
                      </m:e>
                      <m:sub>
                        <m:r>
                          <a:rPr lang="en-US" sz="2000" i="1" dirty="0">
                            <a:latin typeface="Cambria Math"/>
                          </a:rPr>
                          <m:t>𝑛</m:t>
                        </m:r>
                        <m:r>
                          <a:rPr lang="en-US" sz="2000" b="0" i="1" dirty="0" smtClean="0">
                            <a:latin typeface="Cambria Math"/>
                          </a:rPr>
                          <m:t>−1</m:t>
                        </m:r>
                      </m:sub>
                    </m:sSub>
                  </m:oMath>
                </a14:m>
                <a:r>
                  <a:rPr lang="pt-BR" sz="2000" dirty="0"/>
                  <a:t> plus the number of new born rabbits </a:t>
                </a:r>
                <a14:m>
                  <m:oMath xmlns:m="http://schemas.openxmlformats.org/officeDocument/2006/math">
                    <m:sSub>
                      <m:sSubPr>
                        <m:ctrlPr>
                          <a:rPr lang="pt-BR" sz="2000" i="1" dirty="0">
                            <a:latin typeface="Cambria Math" panose="02040503050406030204" pitchFamily="18" charset="0"/>
                          </a:rPr>
                        </m:ctrlPr>
                      </m:sSubPr>
                      <m:e>
                        <m:r>
                          <a:rPr lang="en-US" sz="2000" i="1" dirty="0">
                            <a:latin typeface="Cambria Math"/>
                          </a:rPr>
                          <m:t>𝑓</m:t>
                        </m:r>
                      </m:e>
                      <m:sub>
                        <m:r>
                          <a:rPr lang="en-US" sz="2000" i="1" dirty="0">
                            <a:latin typeface="Cambria Math"/>
                          </a:rPr>
                          <m:t>𝑛</m:t>
                        </m:r>
                        <m:r>
                          <a:rPr lang="en-US" sz="2000" b="0" i="1" dirty="0" smtClean="0">
                            <a:latin typeface="Cambria Math"/>
                          </a:rPr>
                          <m:t>−2</m:t>
                        </m:r>
                      </m:sub>
                    </m:sSub>
                  </m:oMath>
                </a14:m>
                <a:r>
                  <a:rPr lang="pt-BR" sz="2000" dirty="0"/>
                  <a:t>. </a:t>
                </a:r>
              </a:p>
              <a:p>
                <a:pPr marL="0" indent="0">
                  <a:buNone/>
                </a:pPr>
                <a:r>
                  <a:rPr lang="pt-BR" sz="2000" dirty="0"/>
                  <a:t>So, the sequence </a:t>
                </a:r>
                <a14:m>
                  <m:oMath xmlns:m="http://schemas.openxmlformats.org/officeDocument/2006/math">
                    <m:sSub>
                      <m:sSubPr>
                        <m:ctrlPr>
                          <a:rPr lang="pt-BR" sz="2000" i="1" dirty="0">
                            <a:latin typeface="Cambria Math" panose="02040503050406030204" pitchFamily="18" charset="0"/>
                          </a:rPr>
                        </m:ctrlPr>
                      </m:sSubPr>
                      <m:e>
                        <m:r>
                          <a:rPr lang="en-US" sz="2000" b="0" i="1" dirty="0" smtClean="0">
                            <a:latin typeface="Cambria Math"/>
                          </a:rPr>
                          <m:t>{</m:t>
                        </m:r>
                        <m:r>
                          <a:rPr lang="en-US" sz="2000" i="1" dirty="0">
                            <a:latin typeface="Cambria Math"/>
                          </a:rPr>
                          <m:t>𝑓</m:t>
                        </m:r>
                      </m:e>
                      <m:sub>
                        <m:r>
                          <a:rPr lang="en-US" sz="2000" i="1" dirty="0">
                            <a:latin typeface="Cambria Math"/>
                          </a:rPr>
                          <m:t>𝑛</m:t>
                        </m:r>
                      </m:sub>
                    </m:sSub>
                    <m:r>
                      <a:rPr lang="en-US" sz="2000" b="0" i="0" dirty="0" smtClean="0">
                        <a:latin typeface="Cambria Math"/>
                      </a:rPr>
                      <m:t>}</m:t>
                    </m:r>
                  </m:oMath>
                </a14:m>
                <a:r>
                  <a:rPr lang="pt-BR" sz="2000" dirty="0"/>
                  <a:t> satisfy equation:</a:t>
                </a:r>
                <a:endParaRPr lang="en-US" sz="2000" dirty="0"/>
              </a:p>
              <a:p>
                <a:pPr marL="0" indent="0">
                  <a:buNone/>
                </a:pPr>
                <a:r>
                  <a:rPr lang="pt-BR" sz="2000" dirty="0"/>
                  <a:t>		 </a:t>
                </a:r>
                <a14:m>
                  <m:oMath xmlns:m="http://schemas.openxmlformats.org/officeDocument/2006/math">
                    <m:sSub>
                      <m:sSubPr>
                        <m:ctrlPr>
                          <a:rPr lang="pt-BR" sz="2000" i="1" dirty="0" smtClean="0">
                            <a:solidFill>
                              <a:srgbClr val="FF0000"/>
                            </a:solidFill>
                            <a:latin typeface="Cambria Math" panose="02040503050406030204" pitchFamily="18" charset="0"/>
                          </a:rPr>
                        </m:ctrlPr>
                      </m:sSubPr>
                      <m:e>
                        <m:r>
                          <a:rPr lang="en-US" sz="2000" i="1" dirty="0">
                            <a:solidFill>
                              <a:srgbClr val="FF0000"/>
                            </a:solidFill>
                            <a:latin typeface="Cambria Math"/>
                          </a:rPr>
                          <m:t>𝑓</m:t>
                        </m:r>
                      </m:e>
                      <m:sub>
                        <m:r>
                          <a:rPr lang="en-US" sz="2000" i="1" dirty="0">
                            <a:solidFill>
                              <a:srgbClr val="FF0000"/>
                            </a:solidFill>
                            <a:latin typeface="Cambria Math"/>
                          </a:rPr>
                          <m:t>𝑛</m:t>
                        </m:r>
                      </m:sub>
                    </m:sSub>
                    <m:r>
                      <a:rPr lang="pt-BR" sz="2000" i="1" dirty="0" smtClean="0">
                        <a:solidFill>
                          <a:srgbClr val="FF0000"/>
                        </a:solidFill>
                        <a:latin typeface="Cambria Math"/>
                      </a:rPr>
                      <m:t>=</m:t>
                    </m:r>
                    <m:sSub>
                      <m:sSubPr>
                        <m:ctrlPr>
                          <a:rPr lang="pt-BR" sz="2000" i="1" dirty="0">
                            <a:solidFill>
                              <a:srgbClr val="FF0000"/>
                            </a:solidFill>
                            <a:latin typeface="Cambria Math" panose="02040503050406030204" pitchFamily="18" charset="0"/>
                          </a:rPr>
                        </m:ctrlPr>
                      </m:sSubPr>
                      <m:e>
                        <m:r>
                          <a:rPr lang="en-US" sz="2000" i="1" dirty="0">
                            <a:solidFill>
                              <a:srgbClr val="FF0000"/>
                            </a:solidFill>
                            <a:latin typeface="Cambria Math"/>
                          </a:rPr>
                          <m:t>𝑓</m:t>
                        </m:r>
                      </m:e>
                      <m:sub>
                        <m:r>
                          <a:rPr lang="en-US" sz="2000" i="1" dirty="0">
                            <a:solidFill>
                              <a:srgbClr val="FF0000"/>
                            </a:solidFill>
                            <a:latin typeface="Cambria Math"/>
                          </a:rPr>
                          <m:t>𝑛</m:t>
                        </m:r>
                        <m:r>
                          <a:rPr lang="en-US" sz="2000" b="0" i="1" dirty="0" smtClean="0">
                            <a:solidFill>
                              <a:srgbClr val="FF0000"/>
                            </a:solidFill>
                            <a:latin typeface="Cambria Math"/>
                          </a:rPr>
                          <m:t>−1</m:t>
                        </m:r>
                      </m:sub>
                    </m:sSub>
                    <m:r>
                      <a:rPr lang="en-US" sz="2000" b="0" i="1" dirty="0" smtClean="0">
                        <a:solidFill>
                          <a:srgbClr val="FF0000"/>
                        </a:solidFill>
                        <a:latin typeface="Cambria Math"/>
                      </a:rPr>
                      <m:t>+</m:t>
                    </m:r>
                    <m:sSub>
                      <m:sSubPr>
                        <m:ctrlPr>
                          <a:rPr lang="pt-BR" sz="2000" i="1" dirty="0">
                            <a:solidFill>
                              <a:srgbClr val="FF0000"/>
                            </a:solidFill>
                            <a:latin typeface="Cambria Math" panose="02040503050406030204" pitchFamily="18" charset="0"/>
                          </a:rPr>
                        </m:ctrlPr>
                      </m:sSubPr>
                      <m:e>
                        <m:r>
                          <a:rPr lang="en-US" sz="2000" i="1" dirty="0">
                            <a:solidFill>
                              <a:srgbClr val="FF0000"/>
                            </a:solidFill>
                            <a:latin typeface="Cambria Math"/>
                          </a:rPr>
                          <m:t>𝑓</m:t>
                        </m:r>
                      </m:e>
                      <m:sub>
                        <m:r>
                          <a:rPr lang="en-US" sz="2000" i="1" dirty="0">
                            <a:solidFill>
                              <a:srgbClr val="FF0000"/>
                            </a:solidFill>
                            <a:latin typeface="Cambria Math"/>
                          </a:rPr>
                          <m:t>𝑛</m:t>
                        </m:r>
                        <m:r>
                          <a:rPr lang="en-US" sz="2000" b="0" i="1" dirty="0" smtClean="0">
                            <a:solidFill>
                              <a:srgbClr val="FF0000"/>
                            </a:solidFill>
                            <a:latin typeface="Cambria Math"/>
                          </a:rPr>
                          <m:t>−2</m:t>
                        </m:r>
                      </m:sub>
                    </m:sSub>
                    <m:r>
                      <a:rPr lang="en-US" sz="2000" b="0" i="1" dirty="0" smtClean="0">
                        <a:latin typeface="Cambria Math"/>
                      </a:rPr>
                      <m:t>; </m:t>
                    </m:r>
                    <m:r>
                      <a:rPr lang="pt-BR" sz="2000" i="1" dirty="0" smtClean="0">
                        <a:latin typeface="Cambria Math"/>
                      </a:rPr>
                      <m:t>𝑛</m:t>
                    </m:r>
                    <m:r>
                      <a:rPr lang="pt-BR" sz="2000" i="1" dirty="0">
                        <a:latin typeface="Cambria Math"/>
                        <a:sym typeface="Symbol" pitchFamily="18" charset="2"/>
                      </a:rPr>
                      <m:t></m:t>
                    </m:r>
                    <m:r>
                      <a:rPr lang="en-US" sz="2000" b="0" i="1" dirty="0" smtClean="0">
                        <a:latin typeface="Cambria Math"/>
                      </a:rPr>
                      <m:t>2</m:t>
                    </m:r>
                  </m:oMath>
                </a14:m>
                <a:r>
                  <a:rPr lang="pt-BR" sz="2000" dirty="0"/>
                  <a:t> with </a:t>
                </a:r>
                <a14:m>
                  <m:oMath xmlns:m="http://schemas.openxmlformats.org/officeDocument/2006/math">
                    <m:r>
                      <a:rPr lang="pt-BR" sz="2000" i="1" dirty="0" smtClean="0">
                        <a:latin typeface="Cambria Math"/>
                      </a:rPr>
                      <m:t>𝑓</m:t>
                    </m:r>
                    <m:r>
                      <a:rPr lang="pt-BR" sz="2000" i="1" baseline="-25000" dirty="0">
                        <a:latin typeface="Cambria Math"/>
                        <a:sym typeface="Symbol" pitchFamily="18" charset="2"/>
                      </a:rPr>
                      <m:t>0</m:t>
                    </m:r>
                    <m:r>
                      <a:rPr lang="pt-BR" sz="2000" i="1" dirty="0">
                        <a:latin typeface="Cambria Math"/>
                        <a:sym typeface="Symbol" pitchFamily="18" charset="2"/>
                      </a:rPr>
                      <m:t>=0, </m:t>
                    </m:r>
                    <m:r>
                      <a:rPr lang="pt-BR" sz="2000" i="1" dirty="0">
                        <a:latin typeface="Cambria Math"/>
                        <a:sym typeface="Symbol" pitchFamily="18" charset="2"/>
                      </a:rPr>
                      <m:t>𝑓</m:t>
                    </m:r>
                    <m:r>
                      <a:rPr lang="pt-BR" sz="2000" i="1" baseline="-25000" dirty="0">
                        <a:latin typeface="Cambria Math"/>
                        <a:sym typeface="Symbol" pitchFamily="18" charset="2"/>
                      </a:rPr>
                      <m:t>1</m:t>
                    </m:r>
                    <m:r>
                      <a:rPr lang="pt-BR" sz="2000" i="1" dirty="0">
                        <a:latin typeface="Cambria Math"/>
                        <a:sym typeface="Symbol" pitchFamily="18" charset="2"/>
                      </a:rPr>
                      <m:t> =1.</m:t>
                    </m:r>
                  </m:oMath>
                </a14:m>
                <a:endParaRPr lang="pt-BR" sz="2000" dirty="0">
                  <a:sym typeface="Symbol" pitchFamily="18" charset="2"/>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741" t="-617" r="-74"/>
                </a:stretch>
              </a:blipFill>
            </p:spPr>
            <p:txBody>
              <a:bodyPr/>
              <a:lstStyle/>
              <a:p>
                <a:r>
                  <a:rPr lang="en-US">
                    <a:noFill/>
                  </a:rPr>
                  <a:t> </a:t>
                </a:r>
              </a:p>
            </p:txBody>
          </p:sp>
        </mc:Fallback>
      </mc:AlternateContent>
      <p:graphicFrame>
        <p:nvGraphicFramePr>
          <p:cNvPr id="6" name="Group 185"/>
          <p:cNvGraphicFramePr>
            <a:graphicFrameLocks noGrp="1"/>
          </p:cNvGraphicFramePr>
          <p:nvPr>
            <p:extLst>
              <p:ext uri="{D42A27DB-BD31-4B8C-83A1-F6EECF244321}">
                <p14:modId xmlns:p14="http://schemas.microsoft.com/office/powerpoint/2010/main" val="200547378"/>
              </p:ext>
            </p:extLst>
          </p:nvPr>
        </p:nvGraphicFramePr>
        <p:xfrm>
          <a:off x="990600" y="3860805"/>
          <a:ext cx="7239000" cy="2427289"/>
        </p:xfrm>
        <a:graphic>
          <a:graphicData uri="http://schemas.openxmlformats.org/drawingml/2006/table">
            <a:tbl>
              <a:tblPr/>
              <a:tblGrid>
                <a:gridCol w="1624013">
                  <a:extLst>
                    <a:ext uri="{9D8B030D-6E8A-4147-A177-3AD203B41FA5}">
                      <a16:colId xmlns:a16="http://schemas.microsoft.com/office/drawing/2014/main" val="20000"/>
                    </a:ext>
                  </a:extLst>
                </a:gridCol>
                <a:gridCol w="1928812">
                  <a:extLst>
                    <a:ext uri="{9D8B030D-6E8A-4147-A177-3AD203B41FA5}">
                      <a16:colId xmlns:a16="http://schemas.microsoft.com/office/drawing/2014/main" val="20001"/>
                    </a:ext>
                  </a:extLst>
                </a:gridCol>
                <a:gridCol w="1930400">
                  <a:extLst>
                    <a:ext uri="{9D8B030D-6E8A-4147-A177-3AD203B41FA5}">
                      <a16:colId xmlns:a16="http://schemas.microsoft.com/office/drawing/2014/main" val="20002"/>
                    </a:ext>
                  </a:extLst>
                </a:gridCol>
                <a:gridCol w="1755775">
                  <a:extLst>
                    <a:ext uri="{9D8B030D-6E8A-4147-A177-3AD203B41FA5}">
                      <a16:colId xmlns:a16="http://schemas.microsoft.com/office/drawing/2014/main" val="20003"/>
                    </a:ext>
                  </a:extLst>
                </a:gridCol>
              </a:tblGrid>
              <a:tr h="346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dirty="0">
                          <a:ln>
                            <a:noFill/>
                          </a:ln>
                          <a:solidFill>
                            <a:schemeClr val="tx1"/>
                          </a:solidFill>
                          <a:effectLst/>
                          <a:latin typeface="Tahoma" pitchFamily="34" charset="0"/>
                          <a:ea typeface="Tahoma" pitchFamily="34" charset="0"/>
                          <a:cs typeface="Tahoma" pitchFamily="34" charset="0"/>
                        </a:rPr>
                        <a:t>Số tháng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dirty="0">
                          <a:ln>
                            <a:noFill/>
                          </a:ln>
                          <a:solidFill>
                            <a:schemeClr val="tx1"/>
                          </a:solidFill>
                          <a:effectLst/>
                          <a:latin typeface="Tahoma" pitchFamily="34" charset="0"/>
                          <a:ea typeface="Tahoma" pitchFamily="34" charset="0"/>
                          <a:cs typeface="Tahoma" pitchFamily="34" charset="0"/>
                        </a:rPr>
                        <a:t>Số cặp sinh sản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Số cặp thỏ con</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Tổng số cặp thỏ</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476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46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76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dirty="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1</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476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2</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460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3</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a:ln>
                            <a:noFill/>
                          </a:ln>
                          <a:solidFill>
                            <a:schemeClr val="tx1"/>
                          </a:solidFill>
                          <a:effectLst/>
                          <a:latin typeface="Tahoma" pitchFamily="34" charset="0"/>
                          <a:ea typeface="Tahoma" pitchFamily="34" charset="0"/>
                          <a:cs typeface="Tahoma" pitchFamily="34" charset="0"/>
                        </a:rPr>
                        <a:t>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pt-BR" sz="1600" b="0" i="0" u="none" strike="noStrike" cap="none" normalizeH="0" baseline="0" dirty="0">
                          <a:ln>
                            <a:noFill/>
                          </a:ln>
                          <a:solidFill>
                            <a:schemeClr val="tx1"/>
                          </a:solidFill>
                          <a:effectLst/>
                          <a:latin typeface="Tahoma" pitchFamily="34" charset="0"/>
                          <a:ea typeface="Tahoma" pitchFamily="34" charset="0"/>
                          <a:cs typeface="Tahoma" pitchFamily="34" charset="0"/>
                        </a:rPr>
                        <a:t>8</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1263344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b="1" dirty="0"/>
                  <a:t>Hanoi tower problem</a:t>
                </a:r>
                <a:r>
                  <a:rPr lang="en-US" dirty="0"/>
                  <a:t>: There are 3 piles</a:t>
                </a:r>
                <a:r>
                  <a:rPr lang="pt-BR" dirty="0"/>
                  <a:t> (a), (b), (c). On pole (a) there are </a:t>
                </a:r>
                <a14:m>
                  <m:oMath xmlns:m="http://schemas.openxmlformats.org/officeDocument/2006/math">
                    <m:r>
                      <a:rPr lang="pt-BR" i="1" dirty="0" smtClean="0">
                        <a:latin typeface="Cambria Math"/>
                      </a:rPr>
                      <m:t>𝑛</m:t>
                    </m:r>
                    <m:r>
                      <a:rPr lang="pt-BR" i="1" dirty="0" smtClean="0">
                        <a:latin typeface="Cambria Math"/>
                      </a:rPr>
                      <m:t> (</m:t>
                    </m:r>
                    <m:r>
                      <a:rPr lang="pt-BR" i="1" dirty="0" smtClean="0">
                        <a:latin typeface="Cambria Math"/>
                      </a:rPr>
                      <m:t>𝑛</m:t>
                    </m:r>
                    <m:r>
                      <a:rPr lang="pt-BR" i="1" dirty="0" smtClean="0">
                        <a:latin typeface="Cambria Math"/>
                      </a:rPr>
                      <m:t>=64)</m:t>
                    </m:r>
                  </m:oMath>
                </a14:m>
                <a:r>
                  <a:rPr lang="pt-BR" dirty="0"/>
                  <a:t> disks having diameter (đường kính) decreasing from bottom to top. We need to move the stack of disks from pole (a) to pole (c) in according to the rule: only one disk can be moved at a time and only smalller diameter disk can be stacked on the large diameter disk. During the movement, it is allowed to use pole (b) as an intermediate pole (cọc trung gian). The problem is: finding the minimum number of movements?</a:t>
                </a: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26274774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18</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77500" lnSpcReduction="20000"/>
              </a:bodyPr>
              <a:lstStyle/>
              <a:p>
                <a:pPr indent="0">
                  <a:buNone/>
                  <a:tabLst>
                    <a:tab pos="685800" algn="l"/>
                  </a:tabLst>
                </a:pPr>
                <a:r>
                  <a:rPr lang="pt-BR" b="1" dirty="0"/>
                  <a:t>Solution</a:t>
                </a:r>
                <a:r>
                  <a:rPr lang="pt-BR" dirty="0"/>
                  <a:t>: Let </a:t>
                </a:r>
                <a14:m>
                  <m:oMath xmlns:m="http://schemas.openxmlformats.org/officeDocument/2006/math">
                    <m:r>
                      <a:rPr lang="pt-BR" i="1" dirty="0" smtClean="0">
                        <a:latin typeface="Cambria Math"/>
                      </a:rPr>
                      <m:t>𝐻</m:t>
                    </m:r>
                    <m:r>
                      <a:rPr lang="pt-BR" i="1" baseline="-25000" dirty="0">
                        <a:latin typeface="Cambria Math"/>
                      </a:rPr>
                      <m:t>𝑛</m:t>
                    </m:r>
                  </m:oMath>
                </a14:m>
                <a:r>
                  <a:rPr lang="pt-BR" dirty="0"/>
                  <a:t> be the minimum number of movements of disk from pole (a) to pole (c). We construct a recursive formula to compute </a:t>
                </a:r>
                <a14:m>
                  <m:oMath xmlns:m="http://schemas.openxmlformats.org/officeDocument/2006/math">
                    <m:r>
                      <a:rPr lang="pt-BR" i="1" dirty="0" smtClean="0">
                        <a:latin typeface="Cambria Math"/>
                      </a:rPr>
                      <m:t>𝐻</m:t>
                    </m:r>
                    <m:r>
                      <a:rPr lang="pt-BR" i="1" baseline="-25000" dirty="0">
                        <a:latin typeface="Cambria Math"/>
                      </a:rPr>
                      <m:t>𝑛</m:t>
                    </m:r>
                  </m:oMath>
                </a14:m>
                <a:r>
                  <a:rPr lang="pt-BR" dirty="0"/>
                  <a:t>. </a:t>
                </a:r>
              </a:p>
              <a:p>
                <a:pPr indent="0">
                  <a:buNone/>
                  <a:tabLst>
                    <a:tab pos="685800" algn="l"/>
                  </a:tabLst>
                </a:pPr>
                <a:r>
                  <a:rPr lang="pt-BR" dirty="0"/>
                  <a:t>Obviously, </a:t>
                </a:r>
                <a14:m>
                  <m:oMath xmlns:m="http://schemas.openxmlformats.org/officeDocument/2006/math">
                    <m:r>
                      <a:rPr lang="pt-BR" i="1" dirty="0" smtClean="0">
                        <a:latin typeface="Cambria Math"/>
                      </a:rPr>
                      <m:t>𝐻</m:t>
                    </m:r>
                    <m:r>
                      <a:rPr lang="pt-BR" i="1" baseline="-25000" dirty="0">
                        <a:latin typeface="Cambria Math"/>
                      </a:rPr>
                      <m:t>1</m:t>
                    </m:r>
                    <m:r>
                      <a:rPr lang="pt-BR" i="1" dirty="0">
                        <a:latin typeface="Cambria Math"/>
                      </a:rPr>
                      <m:t> =1</m:t>
                    </m:r>
                  </m:oMath>
                </a14:m>
                <a:r>
                  <a:rPr lang="pt-BR" dirty="0"/>
                  <a:t>. Assume </a:t>
                </a:r>
                <a14:m>
                  <m:oMath xmlns:m="http://schemas.openxmlformats.org/officeDocument/2006/math">
                    <m:r>
                      <a:rPr lang="pt-BR" i="1" dirty="0" smtClean="0">
                        <a:latin typeface="Cambria Math"/>
                      </a:rPr>
                      <m:t>𝑛</m:t>
                    </m:r>
                    <m:r>
                      <a:rPr lang="pt-BR" i="1" dirty="0">
                        <a:latin typeface="Cambria Math"/>
                        <a:sym typeface="Symbol" pitchFamily="18" charset="2"/>
                      </a:rPr>
                      <m:t></m:t>
                    </m:r>
                    <m:r>
                      <a:rPr lang="pt-BR" i="1" dirty="0">
                        <a:latin typeface="Cambria Math"/>
                      </a:rPr>
                      <m:t>2</m:t>
                    </m:r>
                  </m:oMath>
                </a14:m>
                <a:r>
                  <a:rPr lang="pt-BR" dirty="0"/>
                  <a:t>. Then, the movement is down through the following steps:</a:t>
                </a:r>
                <a:endParaRPr lang="en-US" dirty="0">
                  <a:sym typeface="Symbol" pitchFamily="18" charset="2"/>
                </a:endParaRPr>
              </a:p>
              <a:p>
                <a:pPr indent="0">
                  <a:buNone/>
                  <a:tabLst>
                    <a:tab pos="685800" algn="l"/>
                  </a:tabLst>
                </a:pPr>
                <a:r>
                  <a:rPr lang="pt-BR" dirty="0">
                    <a:sym typeface="Symbol" pitchFamily="18" charset="2"/>
                  </a:rPr>
                  <a:t>(i)  Move </a:t>
                </a:r>
                <a14:m>
                  <m:oMath xmlns:m="http://schemas.openxmlformats.org/officeDocument/2006/math">
                    <m:r>
                      <a:rPr lang="pt-BR" i="1" dirty="0" smtClean="0">
                        <a:latin typeface="Cambria Math"/>
                        <a:sym typeface="Symbol" pitchFamily="18" charset="2"/>
                      </a:rPr>
                      <m:t>(</m:t>
                    </m:r>
                    <m:r>
                      <a:rPr lang="pt-BR" i="1" dirty="0" smtClean="0">
                        <a:latin typeface="Cambria Math"/>
                        <a:sym typeface="Symbol" pitchFamily="18" charset="2"/>
                      </a:rPr>
                      <m:t>𝑛</m:t>
                    </m:r>
                    <m:r>
                      <a:rPr lang="pt-BR" i="1" dirty="0" smtClean="0">
                        <a:latin typeface="Cambria Math"/>
                        <a:sym typeface="Symbol" pitchFamily="18" charset="2"/>
                      </a:rPr>
                      <m:t>−1) </m:t>
                    </m:r>
                  </m:oMath>
                </a14:m>
                <a:r>
                  <a:rPr lang="pt-BR" dirty="0">
                    <a:sym typeface="Symbol" pitchFamily="18" charset="2"/>
                  </a:rPr>
                  <a:t>disks from pole (a) to pole (b) and use pole (c) as an intermediate pole;</a:t>
                </a:r>
                <a:endParaRPr lang="en-US" dirty="0">
                  <a:sym typeface="Symbol" pitchFamily="18" charset="2"/>
                </a:endParaRPr>
              </a:p>
              <a:p>
                <a:pPr indent="0">
                  <a:buNone/>
                  <a:tabLst>
                    <a:tab pos="685800" algn="l"/>
                  </a:tabLst>
                </a:pPr>
                <a:r>
                  <a:rPr lang="pt-BR" dirty="0">
                    <a:sym typeface="Symbol" pitchFamily="18" charset="2"/>
                  </a:rPr>
                  <a:t>(ii) Move 1 disk with the largest diameter from pole (a) to pole (c);</a:t>
                </a:r>
                <a:endParaRPr lang="en-US" dirty="0">
                  <a:sym typeface="Symbol" pitchFamily="18" charset="2"/>
                </a:endParaRPr>
              </a:p>
              <a:p>
                <a:pPr indent="0">
                  <a:buNone/>
                  <a:tabLst>
                    <a:tab pos="685800" algn="l"/>
                  </a:tabLst>
                </a:pPr>
                <a:r>
                  <a:rPr lang="pt-BR" dirty="0">
                    <a:sym typeface="Symbol" pitchFamily="18" charset="2"/>
                  </a:rPr>
                  <a:t>(iii) Move </a:t>
                </a:r>
                <a14:m>
                  <m:oMath xmlns:m="http://schemas.openxmlformats.org/officeDocument/2006/math">
                    <m:r>
                      <a:rPr lang="pt-BR" i="1" dirty="0" smtClean="0">
                        <a:latin typeface="Cambria Math"/>
                        <a:sym typeface="Symbol" pitchFamily="18" charset="2"/>
                      </a:rPr>
                      <m:t>(</m:t>
                    </m:r>
                    <m:r>
                      <a:rPr lang="pt-BR" i="1" dirty="0" smtClean="0">
                        <a:latin typeface="Cambria Math"/>
                        <a:sym typeface="Symbol" pitchFamily="18" charset="2"/>
                      </a:rPr>
                      <m:t>𝑛</m:t>
                    </m:r>
                    <m:r>
                      <a:rPr lang="pt-BR" i="1" dirty="0" smtClean="0">
                        <a:latin typeface="Cambria Math"/>
                        <a:sym typeface="Symbol" pitchFamily="18" charset="2"/>
                      </a:rPr>
                      <m:t>−1) </m:t>
                    </m:r>
                  </m:oMath>
                </a14:m>
                <a:r>
                  <a:rPr lang="pt-BR" dirty="0">
                    <a:sym typeface="Symbol" pitchFamily="18" charset="2"/>
                  </a:rPr>
                  <a:t>disks from pole (b) to pole (c) using pole (a) as an intermediate pole;</a:t>
                </a:r>
                <a:endParaRPr lang="en-US" dirty="0">
                  <a:sym typeface="Symbol" pitchFamily="18" charset="2"/>
                </a:endParaRPr>
              </a:p>
              <a:p>
                <a:pPr indent="0">
                  <a:buNone/>
                  <a:tabLst>
                    <a:tab pos="685800" algn="l"/>
                  </a:tabLst>
                </a:pPr>
                <a:r>
                  <a:rPr lang="pt-BR" dirty="0">
                    <a:sym typeface="Symbol" pitchFamily="18" charset="2"/>
                  </a:rPr>
                  <a:t>Step (i), (iii) we need to solve Hanoi tower problem with </a:t>
                </a:r>
                <a14:m>
                  <m:oMath xmlns:m="http://schemas.openxmlformats.org/officeDocument/2006/math">
                    <m:r>
                      <a:rPr lang="pt-BR" i="1" dirty="0" smtClean="0">
                        <a:latin typeface="Cambria Math"/>
                        <a:sym typeface="Symbol" pitchFamily="18" charset="2"/>
                      </a:rPr>
                      <m:t>(</m:t>
                    </m:r>
                    <m:r>
                      <a:rPr lang="pt-BR" i="1" dirty="0" smtClean="0">
                        <a:latin typeface="Cambria Math"/>
                        <a:sym typeface="Symbol" pitchFamily="18" charset="2"/>
                      </a:rPr>
                      <m:t>𝑛</m:t>
                    </m:r>
                    <m:r>
                      <a:rPr lang="pt-BR" i="1" dirty="0" smtClean="0">
                        <a:latin typeface="Cambria Math"/>
                        <a:sym typeface="Symbol" pitchFamily="18" charset="2"/>
                      </a:rPr>
                      <m:t>−1) </m:t>
                    </m:r>
                  </m:oMath>
                </a14:m>
                <a:r>
                  <a:rPr lang="pt-BR" dirty="0">
                    <a:sym typeface="Symbol" pitchFamily="18" charset="2"/>
                  </a:rPr>
                  <a:t>disks. Step (ii) need 1 move. So, sequence </a:t>
                </a:r>
                <a14:m>
                  <m:oMath xmlns:m="http://schemas.openxmlformats.org/officeDocument/2006/math">
                    <m:r>
                      <a:rPr lang="pt-BR" i="1" dirty="0" smtClean="0">
                        <a:latin typeface="Cambria Math"/>
                        <a:sym typeface="Symbol" pitchFamily="18" charset="2"/>
                      </a:rPr>
                      <m:t>{</m:t>
                    </m:r>
                    <m:sSub>
                      <m:sSubPr>
                        <m:ctrlPr>
                          <a:rPr lang="pt-BR" i="1" dirty="0" smtClean="0">
                            <a:latin typeface="Cambria Math" panose="02040503050406030204" pitchFamily="18" charset="0"/>
                            <a:sym typeface="Symbol" pitchFamily="18" charset="2"/>
                          </a:rPr>
                        </m:ctrlPr>
                      </m:sSubPr>
                      <m:e>
                        <m:r>
                          <a:rPr lang="en-US" b="0" i="1" dirty="0" smtClean="0">
                            <a:latin typeface="Cambria Math"/>
                            <a:sym typeface="Symbol" pitchFamily="18" charset="2"/>
                          </a:rPr>
                          <m:t>𝐻</m:t>
                        </m:r>
                      </m:e>
                      <m:sub>
                        <m:r>
                          <a:rPr lang="en-US" b="0" i="1" dirty="0" smtClean="0">
                            <a:latin typeface="Cambria Math"/>
                            <a:sym typeface="Symbol" pitchFamily="18" charset="2"/>
                          </a:rPr>
                          <m:t>𝑛</m:t>
                        </m:r>
                      </m:sub>
                    </m:sSub>
                    <m:r>
                      <a:rPr lang="pt-BR" i="1" dirty="0">
                        <a:latin typeface="Cambria Math"/>
                        <a:sym typeface="Symbol" pitchFamily="18" charset="2"/>
                      </a:rPr>
                      <m:t>} </m:t>
                    </m:r>
                  </m:oMath>
                </a14:m>
                <a:r>
                  <a:rPr lang="pt-BR" dirty="0">
                    <a:sym typeface="Symbol" pitchFamily="18" charset="2"/>
                  </a:rPr>
                  <a:t>satisfy following recurrence relation:</a:t>
                </a:r>
                <a:endParaRPr lang="en-US" dirty="0">
                  <a:sym typeface="Symbol" pitchFamily="18" charset="2"/>
                </a:endParaRPr>
              </a:p>
              <a:p>
                <a:pPr indent="0">
                  <a:buNone/>
                  <a:tabLst>
                    <a:tab pos="685800" algn="l"/>
                  </a:tabLst>
                </a:pPr>
                <a:r>
                  <a:rPr lang="pt-BR" dirty="0">
                    <a:sym typeface="Symbol" pitchFamily="18" charset="2"/>
                  </a:rPr>
                  <a:t>		</a:t>
                </a:r>
                <a14:m>
                  <m:oMath xmlns:m="http://schemas.openxmlformats.org/officeDocument/2006/math">
                    <m:r>
                      <a:rPr lang="pt-BR" i="1" dirty="0" smtClean="0">
                        <a:solidFill>
                          <a:srgbClr val="FF0000"/>
                        </a:solidFill>
                        <a:latin typeface="Cambria Math"/>
                        <a:sym typeface="Symbol" pitchFamily="18" charset="2"/>
                      </a:rPr>
                      <m:t>𝐻</m:t>
                    </m:r>
                    <m:r>
                      <a:rPr lang="pt-BR" i="1" baseline="-25000" dirty="0">
                        <a:solidFill>
                          <a:srgbClr val="FF0000"/>
                        </a:solidFill>
                        <a:latin typeface="Cambria Math"/>
                        <a:sym typeface="Symbol" pitchFamily="18" charset="2"/>
                      </a:rPr>
                      <m:t>𝑛</m:t>
                    </m:r>
                    <m:r>
                      <a:rPr lang="pt-BR" i="1" dirty="0">
                        <a:solidFill>
                          <a:srgbClr val="FF0000"/>
                        </a:solidFill>
                        <a:latin typeface="Cambria Math"/>
                        <a:sym typeface="Symbol" pitchFamily="18" charset="2"/>
                      </a:rPr>
                      <m:t> = 2</m:t>
                    </m:r>
                    <m:sSub>
                      <m:sSubPr>
                        <m:ctrlPr>
                          <a:rPr lang="pt-BR" i="1" dirty="0">
                            <a:solidFill>
                              <a:srgbClr val="FF0000"/>
                            </a:solidFill>
                            <a:latin typeface="Cambria Math" panose="02040503050406030204" pitchFamily="18" charset="0"/>
                            <a:sym typeface="Symbol" pitchFamily="18" charset="2"/>
                          </a:rPr>
                        </m:ctrlPr>
                      </m:sSubPr>
                      <m:e>
                        <m:r>
                          <a:rPr lang="en-US" i="1" dirty="0">
                            <a:solidFill>
                              <a:srgbClr val="FF0000"/>
                            </a:solidFill>
                            <a:latin typeface="Cambria Math"/>
                            <a:sym typeface="Symbol" pitchFamily="18" charset="2"/>
                          </a:rPr>
                          <m:t>𝐻</m:t>
                        </m:r>
                      </m:e>
                      <m:sub>
                        <m:r>
                          <a:rPr lang="en-US" i="1" dirty="0">
                            <a:solidFill>
                              <a:srgbClr val="FF0000"/>
                            </a:solidFill>
                            <a:latin typeface="Cambria Math"/>
                            <a:sym typeface="Symbol" pitchFamily="18" charset="2"/>
                          </a:rPr>
                          <m:t>𝑛</m:t>
                        </m:r>
                        <m:r>
                          <a:rPr lang="en-US" i="1" dirty="0">
                            <a:solidFill>
                              <a:srgbClr val="FF0000"/>
                            </a:solidFill>
                            <a:latin typeface="Cambria Math"/>
                            <a:sym typeface="Symbol" pitchFamily="18" charset="2"/>
                          </a:rPr>
                          <m:t>−1</m:t>
                        </m:r>
                      </m:sub>
                    </m:sSub>
                    <m:r>
                      <a:rPr lang="pt-BR" i="1" dirty="0">
                        <a:solidFill>
                          <a:srgbClr val="FF0000"/>
                        </a:solidFill>
                        <a:latin typeface="Cambria Math"/>
                        <a:sym typeface="Symbol" pitchFamily="18" charset="2"/>
                      </a:rPr>
                      <m:t>+1. </m:t>
                    </m:r>
                  </m:oMath>
                </a14:m>
                <a:endParaRPr lang="en-US" dirty="0">
                  <a:sym typeface="Symbol" pitchFamily="18" charset="2"/>
                </a:endParaRPr>
              </a:p>
              <a:p>
                <a:pPr indent="0">
                  <a:buNone/>
                  <a:tabLst>
                    <a:tab pos="685800" algn="l"/>
                  </a:tabLst>
                </a:pPr>
                <a:r>
                  <a:rPr lang="pt-BR" dirty="0">
                    <a:sym typeface="Symbol" pitchFamily="18" charset="2"/>
                  </a:rPr>
                  <a:t>We can use interation method to solve the recurrence relation above</a:t>
                </a:r>
                <a:endParaRPr lang="en-US" dirty="0">
                  <a:sym typeface="Symbol" pitchFamily="18" charset="2"/>
                </a:endParaRPr>
              </a:p>
              <a:p>
                <a:pPr indent="0">
                  <a:buNone/>
                  <a:tabLst>
                    <a:tab pos="685800" algn="l"/>
                  </a:tabLst>
                </a:pPr>
                <a14:m>
                  <m:oMathPara xmlns:m="http://schemas.openxmlformats.org/officeDocument/2006/math">
                    <m:oMathParaPr>
                      <m:jc m:val="centerGroup"/>
                    </m:oMathParaPr>
                    <m:oMath xmlns:m="http://schemas.openxmlformats.org/officeDocument/2006/math">
                      <m:r>
                        <a:rPr lang="pt-BR" i="1" dirty="0" smtClean="0">
                          <a:solidFill>
                            <a:srgbClr val="FF0000"/>
                          </a:solidFill>
                          <a:latin typeface="Cambria Math"/>
                          <a:sym typeface="Symbol" pitchFamily="18" charset="2"/>
                        </a:rPr>
                        <m:t>𝐻</m:t>
                      </m:r>
                      <m:r>
                        <a:rPr lang="pt-BR" i="1" baseline="-25000" dirty="0">
                          <a:solidFill>
                            <a:srgbClr val="FF0000"/>
                          </a:solidFill>
                          <a:latin typeface="Cambria Math"/>
                          <a:sym typeface="Symbol" pitchFamily="18" charset="2"/>
                        </a:rPr>
                        <m:t>𝑛</m:t>
                      </m:r>
                      <m:r>
                        <a:rPr lang="pt-BR" i="1" dirty="0" smtClean="0">
                          <a:solidFill>
                            <a:srgbClr val="FF0000"/>
                          </a:solidFill>
                          <a:latin typeface="Cambria Math"/>
                          <a:sym typeface="Symbol" pitchFamily="18" charset="2"/>
                        </a:rPr>
                        <m:t>= </m:t>
                      </m:r>
                      <m:r>
                        <a:rPr lang="pt-BR" i="1" dirty="0">
                          <a:solidFill>
                            <a:srgbClr val="FF0000"/>
                          </a:solidFill>
                          <a:latin typeface="Cambria Math"/>
                          <a:sym typeface="Symbol" pitchFamily="18" charset="2"/>
                        </a:rPr>
                        <m:t>2</m:t>
                      </m:r>
                      <m:r>
                        <a:rPr lang="pt-BR" i="1" baseline="30000" dirty="0">
                          <a:solidFill>
                            <a:srgbClr val="FF0000"/>
                          </a:solidFill>
                          <a:latin typeface="Cambria Math"/>
                          <a:sym typeface="Symbol" pitchFamily="18" charset="2"/>
                        </a:rPr>
                        <m:t>𝑛</m:t>
                      </m:r>
                      <m:r>
                        <a:rPr lang="pt-BR" i="1" dirty="0">
                          <a:solidFill>
                            <a:srgbClr val="FF0000"/>
                          </a:solidFill>
                          <a:latin typeface="Cambria Math"/>
                          <a:sym typeface="Symbol" pitchFamily="18" charset="2"/>
                        </a:rPr>
                        <m:t> – 1</m:t>
                      </m:r>
                    </m:oMath>
                  </m:oMathPara>
                </a14:m>
                <a:endParaRPr lang="en-US" dirty="0">
                  <a:solidFill>
                    <a:srgbClr val="FF0000"/>
                  </a:solidFill>
                  <a:sym typeface="Symbol" pitchFamily="18" charset="2"/>
                </a:endParaRPr>
              </a:p>
              <a:p>
                <a:pPr indent="0">
                  <a:buNone/>
                  <a:tabLst>
                    <a:tab pos="685800" algn="l"/>
                  </a:tabLst>
                </a:pPr>
                <a:r>
                  <a:rPr lang="pt-BR" dirty="0">
                    <a:sym typeface="Symbol" pitchFamily="18" charset="2"/>
                  </a:rPr>
                  <a:t>If we set </a:t>
                </a:r>
                <a14:m>
                  <m:oMath xmlns:m="http://schemas.openxmlformats.org/officeDocument/2006/math">
                    <m:r>
                      <a:rPr lang="pt-BR" i="1" dirty="0" smtClean="0">
                        <a:latin typeface="Cambria Math"/>
                        <a:sym typeface="Symbol" pitchFamily="18" charset="2"/>
                      </a:rPr>
                      <m:t>𝑛</m:t>
                    </m:r>
                    <m:r>
                      <a:rPr lang="pt-BR" i="1" dirty="0" smtClean="0">
                        <a:latin typeface="Cambria Math"/>
                        <a:sym typeface="Symbol" pitchFamily="18" charset="2"/>
                      </a:rPr>
                      <m:t>=64</m:t>
                    </m:r>
                    <m:r>
                      <a:rPr lang="en-US" b="0" i="0" dirty="0" smtClean="0">
                        <a:latin typeface="Cambria Math" panose="02040503050406030204" pitchFamily="18" charset="0"/>
                        <a:sym typeface="Symbol" pitchFamily="18" charset="2"/>
                      </a:rPr>
                      <m:t>, </m:t>
                    </m:r>
                  </m:oMath>
                </a14:m>
                <a:r>
                  <a:rPr lang="pt-BR" dirty="0">
                    <a:sym typeface="Symbol" pitchFamily="18" charset="2"/>
                  </a:rPr>
                  <a:t>we need over </a:t>
                </a:r>
                <a:r>
                  <a:rPr lang="pt-BR" dirty="0">
                    <a:solidFill>
                      <a:srgbClr val="FF0000"/>
                    </a:solidFill>
                    <a:sym typeface="Symbol" pitchFamily="18" charset="2"/>
                  </a:rPr>
                  <a:t>500 billion of years </a:t>
                </a:r>
                <a:r>
                  <a:rPr lang="pt-BR" dirty="0">
                    <a:sym typeface="Symbol" pitchFamily="18" charset="2"/>
                  </a:rPr>
                  <a:t>to solve the Hanoi tower problem!!!!!!!!!!!!!</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t="-1975"/>
                </a:stretch>
              </a:blipFill>
            </p:spPr>
            <p:txBody>
              <a:bodyPr/>
              <a:lstStyle/>
              <a:p>
                <a:r>
                  <a:rPr lang="en-US">
                    <a:noFill/>
                  </a:rPr>
                  <a:t> </a:t>
                </a:r>
              </a:p>
            </p:txBody>
          </p:sp>
        </mc:Fallback>
      </mc:AlternateContent>
    </p:spTree>
    <p:extLst>
      <p:ext uri="{BB962C8B-B14F-4D97-AF65-F5344CB8AC3E}">
        <p14:creationId xmlns:p14="http://schemas.microsoft.com/office/powerpoint/2010/main" val="24995303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19</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Get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oMath>
                </a14:m>
                <a:r>
                  <a:rPr lang="en-US" dirty="0"/>
                  <a:t> is the number of binary strings with length of </a:t>
                </a:r>
                <a14:m>
                  <m:oMath xmlns:m="http://schemas.openxmlformats.org/officeDocument/2006/math">
                    <m:r>
                      <a:rPr lang="en-US" i="1" dirty="0" smtClean="0">
                        <a:latin typeface="Cambria Math"/>
                      </a:rPr>
                      <m:t>𝑛</m:t>
                    </m:r>
                  </m:oMath>
                </a14:m>
                <a:r>
                  <a:rPr lang="en-US" dirty="0"/>
                  <a:t>, there are no 2 consecutive digit 0. Construct recurrence relation for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𝑛</m:t>
                        </m:r>
                      </m:sub>
                    </m:sSub>
                  </m:oMath>
                </a14:m>
                <a:r>
                  <a:rPr lang="en-US" dirty="0"/>
                  <a:t> and compute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b="0" i="1" smtClean="0">
                            <a:latin typeface="Cambria Math"/>
                          </a:rPr>
                          <m:t>6</m:t>
                        </m:r>
                      </m:sub>
                    </m:sSub>
                    <m:r>
                      <a:rPr lang="en-US" b="0" i="1" smtClean="0">
                        <a:latin typeface="Cambria Math"/>
                      </a:rPr>
                      <m:t>.</m:t>
                    </m:r>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1111"/>
                </a:stretch>
              </a:blipFill>
            </p:spPr>
            <p:txBody>
              <a:bodyPr/>
              <a:lstStyle/>
              <a:p>
                <a:r>
                  <a:rPr lang="en-US">
                    <a:noFill/>
                  </a:rPr>
                  <a:t> </a:t>
                </a:r>
              </a:p>
            </p:txBody>
          </p:sp>
        </mc:Fallback>
      </mc:AlternateContent>
    </p:spTree>
    <p:extLst>
      <p:ext uri="{BB962C8B-B14F-4D97-AF65-F5344CB8AC3E}">
        <p14:creationId xmlns:p14="http://schemas.microsoft.com/office/powerpoint/2010/main" val="401896963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19</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r>
                  <a:rPr lang="en-US" dirty="0"/>
                  <a:t>Get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𝑛</m:t>
                        </m:r>
                      </m:sub>
                    </m:sSub>
                  </m:oMath>
                </a14:m>
                <a:r>
                  <a:rPr lang="en-US" dirty="0"/>
                  <a:t> is the number of binary strings with length of </a:t>
                </a:r>
                <a14:m>
                  <m:oMath xmlns:m="http://schemas.openxmlformats.org/officeDocument/2006/math">
                    <m:r>
                      <a:rPr lang="en-US" i="1" dirty="0">
                        <a:latin typeface="Cambria Math"/>
                      </a:rPr>
                      <m:t>𝑛</m:t>
                    </m:r>
                  </m:oMath>
                </a14:m>
                <a:r>
                  <a:rPr lang="en-US" dirty="0"/>
                  <a:t>, there are no 2 consecutive digit 0. Construct recurrence relation for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𝑛</m:t>
                        </m:r>
                      </m:sub>
                    </m:sSub>
                  </m:oMath>
                </a14:m>
                <a:r>
                  <a:rPr lang="en-US" dirty="0"/>
                  <a:t> and compute </a:t>
                </a:r>
                <a14:m>
                  <m:oMath xmlns:m="http://schemas.openxmlformats.org/officeDocument/2006/math">
                    <m:sSub>
                      <m:sSubPr>
                        <m:ctrlPr>
                          <a:rPr lang="en-US" i="1">
                            <a:latin typeface="Cambria Math" panose="02040503050406030204" pitchFamily="18" charset="0"/>
                          </a:rPr>
                        </m:ctrlPr>
                      </m:sSubPr>
                      <m:e>
                        <m:r>
                          <a:rPr lang="en-US" i="1">
                            <a:latin typeface="Cambria Math"/>
                          </a:rPr>
                          <m:t>𝑎</m:t>
                        </m:r>
                      </m:e>
                      <m:sub>
                        <m:r>
                          <a:rPr lang="en-US" i="1">
                            <a:latin typeface="Cambria Math"/>
                          </a:rPr>
                          <m:t>6</m:t>
                        </m:r>
                      </m:sub>
                    </m:sSub>
                    <m:r>
                      <a:rPr lang="en-US" i="1">
                        <a:latin typeface="Cambria Math"/>
                      </a:rPr>
                      <m:t>.</m:t>
                    </m:r>
                  </m:oMath>
                </a14:m>
                <a:endParaRPr lang="en-US" dirty="0"/>
              </a:p>
              <a:p>
                <a:pPr marL="0" indent="0">
                  <a:buNone/>
                </a:pPr>
                <a:r>
                  <a:rPr lang="en-US" b="1" dirty="0"/>
                  <a:t>Hint</a:t>
                </a:r>
                <a:r>
                  <a:rPr lang="en-US" dirty="0"/>
                  <a:t>: Consider </a:t>
                </a:r>
                <a14:m>
                  <m:oMath xmlns:m="http://schemas.openxmlformats.org/officeDocument/2006/math">
                    <m:r>
                      <a:rPr lang="en-US" b="0" i="1" smtClean="0">
                        <a:latin typeface="Cambria Math"/>
                      </a:rPr>
                      <m:t>𝑛</m:t>
                    </m:r>
                    <m:r>
                      <a:rPr lang="en-US" b="0" i="1" smtClean="0">
                        <a:latin typeface="Cambria Math"/>
                        <a:ea typeface="Cambria Math"/>
                      </a:rPr>
                      <m:t>≥3</m:t>
                    </m:r>
                  </m:oMath>
                </a14:m>
                <a:r>
                  <a:rPr lang="en-US" dirty="0"/>
                  <a:t>.</a:t>
                </a:r>
              </a:p>
              <a:p>
                <a:pPr marL="0" indent="0">
                  <a:buNone/>
                </a:pPr>
                <a:r>
                  <a:rPr lang="en-US" dirty="0"/>
                  <a:t>We have 2 cases:</a:t>
                </a:r>
              </a:p>
              <a:p>
                <a:pPr marL="457200" indent="-457200">
                  <a:buFont typeface="+mj-lt"/>
                  <a:buAutoNum type="arabicParenR"/>
                </a:pPr>
                <a:r>
                  <a:rPr lang="en-US" dirty="0"/>
                  <a:t>Binary string with length of </a:t>
                </a:r>
                <a14:m>
                  <m:oMath xmlns:m="http://schemas.openxmlformats.org/officeDocument/2006/math">
                    <m:r>
                      <a:rPr lang="en-US" i="1" dirty="0" smtClean="0">
                        <a:latin typeface="Cambria Math"/>
                      </a:rPr>
                      <m:t>𝑛</m:t>
                    </m:r>
                  </m:oMath>
                </a14:m>
                <a:r>
                  <a:rPr lang="en-US" dirty="0"/>
                  <a:t>, ends with digit 1 that satisfy requirements.</a:t>
                </a:r>
              </a:p>
              <a:p>
                <a:pPr marL="457200" indent="-457200">
                  <a:buFont typeface="+mj-lt"/>
                  <a:buAutoNum type="arabicParenR"/>
                </a:pPr>
                <a:r>
                  <a:rPr lang="en-US" dirty="0"/>
                  <a:t>Binary string with length of </a:t>
                </a:r>
                <a14:m>
                  <m:oMath xmlns:m="http://schemas.openxmlformats.org/officeDocument/2006/math">
                    <m:r>
                      <a:rPr lang="en-US" i="1" dirty="0">
                        <a:latin typeface="Cambria Math"/>
                      </a:rPr>
                      <m:t>𝑛</m:t>
                    </m:r>
                  </m:oMath>
                </a14:m>
                <a:r>
                  <a:rPr lang="en-US" dirty="0"/>
                  <a:t>, ends with digit 0 that satisfy requirements. So, </a:t>
                </a:r>
                <a14:m>
                  <m:oMath xmlns:m="http://schemas.openxmlformats.org/officeDocument/2006/math">
                    <m:r>
                      <a:rPr lang="en-US" b="0" i="0" dirty="0" smtClean="0">
                        <a:latin typeface="Cambria Math"/>
                      </a:rPr>
                      <m:t>(</m:t>
                    </m:r>
                    <m:r>
                      <a:rPr lang="en-US" i="1" dirty="0" smtClean="0">
                        <a:latin typeface="Cambria Math"/>
                      </a:rPr>
                      <m:t>𝑛</m:t>
                    </m:r>
                    <m:r>
                      <a:rPr lang="en-US" i="1" dirty="0" smtClean="0">
                        <a:latin typeface="Cambria Math"/>
                      </a:rPr>
                      <m:t>−1)</m:t>
                    </m:r>
                  </m:oMath>
                </a14:m>
                <a:r>
                  <a:rPr lang="en-US" baseline="30000" dirty="0" err="1"/>
                  <a:t>th</a:t>
                </a:r>
                <a:r>
                  <a:rPr lang="en-US" dirty="0"/>
                  <a:t> number must be 1.</a:t>
                </a:r>
              </a:p>
              <a:p>
                <a:pPr marL="0" indent="0">
                  <a:buNone/>
                </a:pPr>
                <a:r>
                  <a:rPr lang="en-US" dirty="0"/>
                  <a:t>Easy to see that in case 1) there are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b="0" i="1" smtClean="0">
                            <a:solidFill>
                              <a:srgbClr val="FF0000"/>
                            </a:solidFill>
                            <a:latin typeface="Cambria Math"/>
                          </a:rPr>
                          <m:t>−1</m:t>
                        </m:r>
                      </m:sub>
                    </m:sSub>
                    <m:r>
                      <a:rPr lang="en-US" b="0" i="1" smtClean="0">
                        <a:solidFill>
                          <a:srgbClr val="FF0000"/>
                        </a:solidFill>
                        <a:latin typeface="Cambria Math" panose="02040503050406030204" pitchFamily="18" charset="0"/>
                      </a:rPr>
                      <m:t> </m:t>
                    </m:r>
                  </m:oMath>
                </a14:m>
                <a:r>
                  <a:rPr lang="en-US" dirty="0"/>
                  <a:t>satisfying strings</a:t>
                </a:r>
              </a:p>
              <a:p>
                <a:pPr marL="0" indent="0">
                  <a:buNone/>
                </a:pPr>
                <a:r>
                  <a:rPr lang="en-US" dirty="0"/>
                  <a:t>Case 2) has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r>
                      <a:rPr lang="en-US" i="1">
                        <a:latin typeface="Cambria Math"/>
                      </a:rPr>
                      <m:t> </m:t>
                    </m:r>
                  </m:oMath>
                </a14:m>
                <a:r>
                  <a:rPr lang="en-US" dirty="0"/>
                  <a:t>satisfying strings</a:t>
                </a:r>
              </a:p>
              <a:p>
                <a:pPr marL="0" indent="0">
                  <a:buNone/>
                </a:pPr>
                <a:r>
                  <a:rPr lang="en-US" dirty="0"/>
                  <a:t>So,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a14:m>
                <a:endParaRPr lang="en-US" dirty="0"/>
              </a:p>
              <a:p>
                <a:pPr marL="0" indent="0">
                  <a:buNone/>
                </a:pPr>
                <a:endParaRPr lang="en-US" dirty="0"/>
              </a:p>
              <a:p>
                <a:pPr marL="0" indent="0">
                  <a:buNone/>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852"/>
                </a:stretch>
              </a:blipFill>
            </p:spPr>
            <p:txBody>
              <a:bodyPr/>
              <a:lstStyle/>
              <a:p>
                <a:r>
                  <a:rPr lang="en-US">
                    <a:noFill/>
                  </a:rPr>
                  <a:t> </a:t>
                </a:r>
              </a:p>
            </p:txBody>
          </p:sp>
        </mc:Fallback>
      </mc:AlternateContent>
    </p:spTree>
    <p:extLst>
      <p:ext uri="{BB962C8B-B14F-4D97-AF65-F5344CB8AC3E}">
        <p14:creationId xmlns:p14="http://schemas.microsoft.com/office/powerpoint/2010/main" val="3795132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20</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pt-BR" b="1" dirty="0"/>
                  <a:t>Calculate codewords</a:t>
                </a:r>
                <a:r>
                  <a:rPr lang="pt-BR" dirty="0"/>
                  <a:t>: A computer sustem consideres a string of decimal digits as a valid codeword if it contains an even number of digit 0. For example, word 168304073 is valid, word 103203044 is invalid. Find the recurrence relation for valid codewords of length </a:t>
                </a:r>
                <a14:m>
                  <m:oMath xmlns:m="http://schemas.openxmlformats.org/officeDocument/2006/math">
                    <m:r>
                      <a:rPr lang="pt-BR" i="1" dirty="0" smtClean="0">
                        <a:latin typeface="Cambria Math"/>
                      </a:rPr>
                      <m:t>𝑛</m:t>
                    </m:r>
                  </m:oMath>
                </a14:m>
                <a:r>
                  <a:rPr lang="pt-BR" dirty="0"/>
                  <a:t>?</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p:spTree>
    <p:extLst>
      <p:ext uri="{BB962C8B-B14F-4D97-AF65-F5344CB8AC3E}">
        <p14:creationId xmlns:p14="http://schemas.microsoft.com/office/powerpoint/2010/main" val="27086094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20</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pPr algn="just"/>
                <a:r>
                  <a:rPr lang="pt-BR" b="1" dirty="0"/>
                  <a:t>Calculate codewords</a:t>
                </a:r>
                <a:r>
                  <a:rPr lang="pt-BR" dirty="0"/>
                  <a:t>: A computer sustem consideres a string of decimal digits as a valid codeword if it contains an even number of digit 0. For example, word 168304073 is valid, word 103203044 is invalid. Find the recurrence relation for valid codewords of length </a:t>
                </a:r>
                <a14:m>
                  <m:oMath xmlns:m="http://schemas.openxmlformats.org/officeDocument/2006/math">
                    <m:r>
                      <a:rPr lang="pt-BR" i="1" dirty="0">
                        <a:latin typeface="Cambria Math"/>
                      </a:rPr>
                      <m:t>𝑛</m:t>
                    </m:r>
                  </m:oMath>
                </a14:m>
                <a:r>
                  <a:rPr lang="pt-BR" dirty="0"/>
                  <a:t>?</a:t>
                </a:r>
              </a:p>
              <a:p>
                <a:r>
                  <a:rPr lang="en-US" b="1" dirty="0"/>
                  <a:t>Hint</a:t>
                </a:r>
                <a:r>
                  <a:rPr lang="en-US" dirty="0"/>
                  <a:t>: Let the number of valid codewords with length </a:t>
                </a:r>
                <a14:m>
                  <m:oMath xmlns:m="http://schemas.openxmlformats.org/officeDocument/2006/math">
                    <m:r>
                      <a:rPr lang="en-US" i="1" dirty="0" smtClean="0">
                        <a:latin typeface="Cambria Math"/>
                      </a:rPr>
                      <m:t>𝑛</m:t>
                    </m:r>
                  </m:oMath>
                </a14:m>
                <a:r>
                  <a:rPr lang="en-US" dirty="0"/>
                  <a:t> is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oMath>
                </a14:m>
                <a:endParaRPr lang="en-US" dirty="0"/>
              </a:p>
              <a:p>
                <a:pPr marL="0" indent="0">
                  <a:buNone/>
                </a:pPr>
                <a:r>
                  <a:rPr lang="en-US" dirty="0"/>
                  <a:t>Consider </a:t>
                </a:r>
                <a14:m>
                  <m:oMath xmlns:m="http://schemas.openxmlformats.org/officeDocument/2006/math">
                    <m:r>
                      <a:rPr lang="en-US" i="1">
                        <a:latin typeface="Cambria Math"/>
                      </a:rPr>
                      <m:t>𝑛</m:t>
                    </m:r>
                    <m:r>
                      <a:rPr lang="en-US" i="1">
                        <a:latin typeface="Cambria Math"/>
                        <a:ea typeface="Cambria Math"/>
                      </a:rPr>
                      <m:t>≥</m:t>
                    </m:r>
                    <m:r>
                      <a:rPr lang="en-US" b="0" i="1" smtClean="0">
                        <a:latin typeface="Cambria Math"/>
                        <a:ea typeface="Cambria Math"/>
                      </a:rPr>
                      <m:t>2</m:t>
                    </m:r>
                  </m:oMath>
                </a14:m>
                <a:r>
                  <a:rPr lang="en-US" dirty="0"/>
                  <a:t>, we have 2 cases:</a:t>
                </a:r>
              </a:p>
              <a:p>
                <a:pPr marL="457200" indent="-457200">
                  <a:buFont typeface="+mj-lt"/>
                  <a:buAutoNum type="arabicParenR"/>
                </a:pPr>
                <a:r>
                  <a:rPr lang="en-US" dirty="0"/>
                  <a:t>String with </a:t>
                </a:r>
                <a14:m>
                  <m:oMath xmlns:m="http://schemas.openxmlformats.org/officeDocument/2006/math">
                    <m:r>
                      <a:rPr lang="en-US" dirty="0">
                        <a:latin typeface="Cambria Math"/>
                      </a:rPr>
                      <m:t>(</m:t>
                    </m:r>
                    <m:r>
                      <a:rPr lang="en-US" i="1" dirty="0">
                        <a:latin typeface="Cambria Math"/>
                      </a:rPr>
                      <m:t>𝑛</m:t>
                    </m:r>
                    <m:r>
                      <a:rPr lang="en-US" i="1" dirty="0">
                        <a:latin typeface="Cambria Math"/>
                      </a:rPr>
                      <m:t>−1)</m:t>
                    </m:r>
                  </m:oMath>
                </a14:m>
                <a:r>
                  <a:rPr lang="en-US" dirty="0"/>
                  <a:t> first digit is valid, so the last digit differ 0. So, there are </a:t>
                </a:r>
                <a14:m>
                  <m:oMath xmlns:m="http://schemas.openxmlformats.org/officeDocument/2006/math">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9</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oMath>
                </a14:m>
                <a:endParaRPr lang="en-US" dirty="0"/>
              </a:p>
              <a:p>
                <a:pPr marL="457200" indent="-457200">
                  <a:buFont typeface="+mj-lt"/>
                  <a:buAutoNum type="arabicParenR"/>
                </a:pPr>
                <a:r>
                  <a:rPr lang="en-US" dirty="0"/>
                  <a:t>String with </a:t>
                </a:r>
                <a14:m>
                  <m:oMath xmlns:m="http://schemas.openxmlformats.org/officeDocument/2006/math">
                    <m:r>
                      <a:rPr lang="en-US" dirty="0">
                        <a:latin typeface="Cambria Math"/>
                      </a:rPr>
                      <m:t>(</m:t>
                    </m:r>
                    <m:r>
                      <a:rPr lang="en-US" i="1" dirty="0">
                        <a:latin typeface="Cambria Math"/>
                      </a:rPr>
                      <m:t>𝑛</m:t>
                    </m:r>
                    <m:r>
                      <a:rPr lang="en-US" i="1" dirty="0">
                        <a:latin typeface="Cambria Math"/>
                      </a:rPr>
                      <m:t>−1)</m:t>
                    </m:r>
                  </m:oMath>
                </a14:m>
                <a:r>
                  <a:rPr lang="en-US" dirty="0"/>
                  <a:t> first digit is invalid, so the last digit is 0. So, there are </a:t>
                </a:r>
                <a14:m>
                  <m:oMath xmlns:m="http://schemas.openxmlformats.org/officeDocument/2006/math">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10</m:t>
                            </m:r>
                          </m:e>
                          <m:sup>
                            <m:r>
                              <a:rPr lang="en-US" b="0" i="1" smtClean="0">
                                <a:solidFill>
                                  <a:srgbClr val="FF0000"/>
                                </a:solidFill>
                                <a:latin typeface="Cambria Math"/>
                              </a:rPr>
                              <m:t>𝑛</m:t>
                            </m:r>
                            <m:r>
                              <a:rPr lang="en-US" b="0" i="1" smtClean="0">
                                <a:solidFill>
                                  <a:srgbClr val="FF0000"/>
                                </a:solidFill>
                                <a:latin typeface="Cambria Math"/>
                              </a:rPr>
                              <m:t>−1</m:t>
                            </m:r>
                          </m:sup>
                        </m:sSup>
                        <m:r>
                          <a:rPr lang="en-US" b="0" i="1" smtClean="0">
                            <a:solidFill>
                              <a:srgbClr val="FF0000"/>
                            </a:solidFill>
                            <a:latin typeface="Cambria Math"/>
                          </a:rPr>
                          <m:t>−</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m:t>
                    </m:r>
                  </m:oMath>
                </a14:m>
                <a:endParaRPr lang="en-US" b="0" dirty="0">
                  <a:solidFill>
                    <a:srgbClr val="FF0000"/>
                  </a:solidFill>
                </a:endParaRPr>
              </a:p>
              <a:p>
                <a:pPr marL="0" indent="0">
                  <a:buNone/>
                </a:pPr>
                <a:r>
                  <a:rPr lang="en-US" dirty="0">
                    <a:sym typeface="Wingdings" panose="05000000000000000000" pitchFamily="2" charset="2"/>
                  </a:rPr>
                  <a:t></a:t>
                </a:r>
                <a:r>
                  <a:rPr lang="en-US" dirty="0"/>
                  <a:t>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9</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10</m:t>
                            </m:r>
                          </m:e>
                          <m:sup>
                            <m:r>
                              <a:rPr lang="en-US" i="1">
                                <a:solidFill>
                                  <a:srgbClr val="FF0000"/>
                                </a:solidFill>
                                <a:latin typeface="Cambria Math"/>
                              </a:rPr>
                              <m:t>𝑛</m:t>
                            </m:r>
                            <m:r>
                              <a:rPr lang="en-US" i="1">
                                <a:solidFill>
                                  <a:srgbClr val="FF0000"/>
                                </a:solidFill>
                                <a:latin typeface="Cambria Math"/>
                              </a:rPr>
                              <m:t>−1</m:t>
                            </m:r>
                          </m:sup>
                        </m:sSup>
                        <m:r>
                          <a:rPr lang="en-US" i="1">
                            <a:solidFill>
                              <a:srgbClr val="FF0000"/>
                            </a:solidFill>
                            <a:latin typeface="Cambria Math"/>
                          </a:rPr>
                          <m:t>−</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8</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oMath>
                </a14:m>
                <a:r>
                  <a:rPr lang="en-US" dirty="0">
                    <a:solidFill>
                      <a:srgbClr val="FF0000"/>
                    </a:solidFill>
                  </a:rPr>
                  <a:t>+</a:t>
                </a:r>
                <a14:m>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10</m:t>
                        </m:r>
                      </m:e>
                      <m:sup>
                        <m:r>
                          <a:rPr lang="en-US" i="1">
                            <a:solidFill>
                              <a:srgbClr val="FF0000"/>
                            </a:solidFill>
                            <a:latin typeface="Cambria Math"/>
                          </a:rPr>
                          <m:t>𝑛</m:t>
                        </m:r>
                        <m:r>
                          <a:rPr lang="en-US" i="1">
                            <a:solidFill>
                              <a:srgbClr val="FF0000"/>
                            </a:solidFill>
                            <a:latin typeface="Cambria Math"/>
                          </a:rPr>
                          <m:t>−1</m:t>
                        </m:r>
                      </m:sup>
                    </m:sSup>
                  </m:oMath>
                </a14:m>
                <a:endParaRPr lang="en-US" dirty="0">
                  <a:solidFill>
                    <a:srgbClr val="FF0000"/>
                  </a:solidFill>
                </a:endParaRPr>
              </a:p>
              <a:p>
                <a:pPr marL="0" indent="0">
                  <a:buNone/>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728" r="-1407"/>
                </a:stretch>
              </a:blipFill>
            </p:spPr>
            <p:txBody>
              <a:bodyPr/>
              <a:lstStyle/>
              <a:p>
                <a:r>
                  <a:rPr lang="en-US">
                    <a:noFill/>
                  </a:rPr>
                  <a:t> </a:t>
                </a:r>
              </a:p>
            </p:txBody>
          </p:sp>
        </mc:Fallback>
      </mc:AlternateContent>
    </p:spTree>
    <p:extLst>
      <p:ext uri="{BB962C8B-B14F-4D97-AF65-F5344CB8AC3E}">
        <p14:creationId xmlns:p14="http://schemas.microsoft.com/office/powerpoint/2010/main" val="9796150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58</a:t>
            </a:fld>
            <a:endParaRPr lang="en-US"/>
          </a:p>
        </p:txBody>
      </p:sp>
      <p:sp>
        <p:nvSpPr>
          <p:cNvPr id="5" name="Content Placeholder 4"/>
          <p:cNvSpPr>
            <a:spLocks noGrp="1"/>
          </p:cNvSpPr>
          <p:nvPr>
            <p:ph sz="quarter" idx="1"/>
          </p:nvPr>
        </p:nvSpPr>
        <p:spPr>
          <a:xfrm>
            <a:off x="457200" y="1219200"/>
            <a:ext cx="8382000" cy="4876800"/>
          </a:xfrm>
        </p:spPr>
        <p:txBody>
          <a:bodyPr>
            <a:normAutofit fontScale="70000" lnSpcReduction="20000"/>
          </a:bodyPr>
          <a:lstStyle/>
          <a:p>
            <a:pPr marL="342900" indent="-342900">
              <a:lnSpc>
                <a:spcPct val="120000"/>
              </a:lnSpc>
              <a:buFontTx/>
              <a:buAutoNum type="alphaLcParenR"/>
              <a:tabLst>
                <a:tab pos="685800" algn="l"/>
              </a:tabLst>
            </a:pPr>
            <a:r>
              <a:rPr lang="pt-BR" dirty="0"/>
              <a:t>Find the recurrence relation and the initial condition to find the number of binary strings of length n that have at least one sequence of tow consecutive digit 0?</a:t>
            </a:r>
          </a:p>
          <a:p>
            <a:pPr marL="342900" indent="-342900">
              <a:lnSpc>
                <a:spcPct val="120000"/>
              </a:lnSpc>
              <a:buFontTx/>
              <a:buAutoNum type="alphaLcParenR"/>
              <a:tabLst>
                <a:tab pos="685800" algn="l"/>
              </a:tabLst>
            </a:pPr>
            <a:r>
              <a:rPr lang="pt-BR" dirty="0"/>
              <a:t>Find the recurrence relation and the initial condition to find the number of binary strings of length n that do not have any sequence of three consecutive digit 1?</a:t>
            </a:r>
          </a:p>
          <a:p>
            <a:pPr marL="342900" indent="-342900">
              <a:lnSpc>
                <a:spcPct val="120000"/>
              </a:lnSpc>
              <a:buFontTx/>
              <a:buAutoNum type="alphaLcParenR"/>
              <a:tabLst>
                <a:tab pos="685800" algn="l"/>
              </a:tabLst>
            </a:pPr>
            <a:r>
              <a:rPr lang="pt-BR" dirty="0"/>
              <a:t>Find the recurrence relation and the initial condition to find the number of binary strings of length n that do not have any sequence of four consecutive digit 1?</a:t>
            </a:r>
          </a:p>
          <a:p>
            <a:pPr marL="342900" indent="-342900">
              <a:lnSpc>
                <a:spcPct val="120000"/>
              </a:lnSpc>
              <a:buFontTx/>
              <a:buAutoNum type="alphaLcParenR"/>
              <a:tabLst>
                <a:tab pos="685800" algn="l"/>
              </a:tabLst>
            </a:pPr>
            <a:r>
              <a:rPr lang="pt-BR" dirty="0"/>
              <a:t>Find the recurrence relation and the initial condition to find the number of binary strings of length n that have at least one sequence of three consecutive digit 1?</a:t>
            </a:r>
          </a:p>
          <a:p>
            <a:pPr marL="342900" indent="-342900">
              <a:lnSpc>
                <a:spcPct val="120000"/>
              </a:lnSpc>
              <a:buFontTx/>
              <a:buAutoNum type="alphaLcParenR"/>
              <a:tabLst>
                <a:tab pos="685800" algn="l"/>
              </a:tabLst>
            </a:pPr>
            <a:r>
              <a:rPr lang="pt-BR" dirty="0"/>
              <a:t>Find the recurrence relation and the initial condition to find the number of binary strings of length n that have at least one sequence of four consecutive digit 1?</a:t>
            </a:r>
          </a:p>
          <a:p>
            <a:pPr marL="342900" indent="-342900">
              <a:lnSpc>
                <a:spcPct val="120000"/>
              </a:lnSpc>
              <a:buFontTx/>
              <a:buAutoNum type="alphaLcParenR"/>
              <a:tabLst>
                <a:tab pos="685800" algn="l"/>
              </a:tabLst>
            </a:pPr>
            <a:r>
              <a:rPr lang="pt-BR" dirty="0"/>
              <a:t>Find the recurrence relation and the initial condition to find the number of binary strings of length n that do not have any sequence of K consecutive digit 1?</a:t>
            </a:r>
          </a:p>
          <a:p>
            <a:pPr marL="342900" indent="-342900">
              <a:lnSpc>
                <a:spcPct val="120000"/>
              </a:lnSpc>
              <a:buFontTx/>
              <a:buAutoNum type="alphaLcParenR"/>
              <a:tabLst>
                <a:tab pos="685800" algn="l"/>
              </a:tabLst>
            </a:pPr>
            <a:r>
              <a:rPr lang="pt-BR" dirty="0"/>
              <a:t>Find the recurrence relation and the initial condition to find the number of binary strings of length n have at least one sequence of K consecutive digit 1?</a:t>
            </a:r>
          </a:p>
        </p:txBody>
      </p:sp>
    </p:spTree>
    <p:extLst>
      <p:ext uri="{BB962C8B-B14F-4D97-AF65-F5344CB8AC3E}">
        <p14:creationId xmlns:p14="http://schemas.microsoft.com/office/powerpoint/2010/main" val="10883752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Solve a recurrence relation by using the iteration method</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59</a:t>
            </a:fld>
            <a:endParaRPr lang="en-US"/>
          </a:p>
        </p:txBody>
      </p:sp>
      <p:sp>
        <p:nvSpPr>
          <p:cNvPr id="5" name="Content Placeholder 4"/>
          <p:cNvSpPr>
            <a:spLocks noGrp="1"/>
          </p:cNvSpPr>
          <p:nvPr>
            <p:ph sz="quarter" idx="1"/>
          </p:nvPr>
        </p:nvSpPr>
        <p:spPr/>
        <p:txBody>
          <a:bodyPr/>
          <a:lstStyle/>
          <a:p>
            <a:r>
              <a:rPr lang="en-US" dirty="0"/>
              <a:t>Method: Iterate until meet the first condition in recurrence formulas.</a:t>
            </a:r>
          </a:p>
          <a:p>
            <a:endParaRPr lang="en-US" dirty="0"/>
          </a:p>
          <a:p>
            <a:pPr algn="just"/>
            <a:r>
              <a:rPr lang="en-US" b="1" dirty="0"/>
              <a:t>Exercise</a:t>
            </a:r>
            <a:r>
              <a:rPr lang="en-US" dirty="0"/>
              <a:t>: Find root of recurrence formula with following initial condition:</a:t>
            </a:r>
          </a:p>
          <a:p>
            <a:pPr marL="1257300" lvl="2" indent="-342900" algn="just">
              <a:buFont typeface="+mj-lt"/>
              <a:buAutoNum type="alphaLcParenR"/>
            </a:pPr>
            <a:r>
              <a:rPr lang="en-US" i="1" dirty="0"/>
              <a:t>a</a:t>
            </a:r>
            <a:r>
              <a:rPr lang="en-US" baseline="-25000" dirty="0"/>
              <a:t>n</a:t>
            </a:r>
            <a:r>
              <a:rPr lang="en-US" dirty="0"/>
              <a:t> = </a:t>
            </a:r>
            <a:r>
              <a:rPr lang="en-US" i="1" dirty="0"/>
              <a:t>a</a:t>
            </a:r>
            <a:r>
              <a:rPr lang="en-US" baseline="-25000" dirty="0"/>
              <a:t>n-1</a:t>
            </a:r>
            <a:r>
              <a:rPr lang="en-US" dirty="0"/>
              <a:t> + 2		with </a:t>
            </a:r>
            <a:r>
              <a:rPr lang="en-US" i="1" dirty="0"/>
              <a:t>a</a:t>
            </a:r>
            <a:r>
              <a:rPr lang="en-US" baseline="-25000" dirty="0"/>
              <a:t>0</a:t>
            </a:r>
            <a:r>
              <a:rPr lang="en-US" dirty="0"/>
              <a:t> =3.</a:t>
            </a:r>
          </a:p>
          <a:p>
            <a:pPr marL="1257300" lvl="2" indent="-342900" algn="just">
              <a:buFont typeface="+mj-lt"/>
              <a:buAutoNum type="alphaLcParenR"/>
            </a:pPr>
            <a:r>
              <a:rPr lang="en-US" i="1" dirty="0"/>
              <a:t>a</a:t>
            </a:r>
            <a:r>
              <a:rPr lang="en-US" baseline="-25000" dirty="0"/>
              <a:t>n</a:t>
            </a:r>
            <a:r>
              <a:rPr lang="en-US" dirty="0"/>
              <a:t> = </a:t>
            </a:r>
            <a:r>
              <a:rPr lang="en-US" i="1" dirty="0"/>
              <a:t>a</a:t>
            </a:r>
            <a:r>
              <a:rPr lang="en-US" baseline="-25000" dirty="0"/>
              <a:t>n-1</a:t>
            </a:r>
            <a:r>
              <a:rPr lang="en-US" dirty="0"/>
              <a:t> + n		with </a:t>
            </a:r>
            <a:r>
              <a:rPr lang="en-US" i="1" dirty="0"/>
              <a:t>a</a:t>
            </a:r>
            <a:r>
              <a:rPr lang="en-US" baseline="-25000" dirty="0"/>
              <a:t>0</a:t>
            </a:r>
            <a:r>
              <a:rPr lang="en-US" dirty="0"/>
              <a:t> =1.</a:t>
            </a:r>
          </a:p>
          <a:p>
            <a:pPr marL="1257300" lvl="2" indent="-342900" algn="just">
              <a:buFont typeface="+mj-lt"/>
              <a:buAutoNum type="alphaLcParenR"/>
            </a:pPr>
            <a:r>
              <a:rPr lang="en-US" i="1" dirty="0"/>
              <a:t>a</a:t>
            </a:r>
            <a:r>
              <a:rPr lang="en-US" baseline="-25000" dirty="0"/>
              <a:t>n</a:t>
            </a:r>
            <a:r>
              <a:rPr lang="en-US" dirty="0"/>
              <a:t> = </a:t>
            </a:r>
            <a:r>
              <a:rPr lang="en-US" i="1" dirty="0"/>
              <a:t>a</a:t>
            </a:r>
            <a:r>
              <a:rPr lang="en-US" baseline="-25000" dirty="0"/>
              <a:t>n-1</a:t>
            </a:r>
            <a:r>
              <a:rPr lang="en-US" dirty="0"/>
              <a:t> + 2n + 3	with </a:t>
            </a:r>
            <a:r>
              <a:rPr lang="en-US" i="1" dirty="0"/>
              <a:t>a</a:t>
            </a:r>
            <a:r>
              <a:rPr lang="en-US" baseline="-25000" dirty="0"/>
              <a:t>0</a:t>
            </a:r>
            <a:r>
              <a:rPr lang="en-US" dirty="0"/>
              <a:t> =4.</a:t>
            </a:r>
          </a:p>
          <a:p>
            <a:pPr marL="1257300" lvl="2" indent="-342900" algn="just">
              <a:buFont typeface="+mj-lt"/>
              <a:buAutoNum type="alphaLcParenR"/>
            </a:pPr>
            <a:r>
              <a:rPr lang="pt-BR" i="1" dirty="0"/>
              <a:t>a</a:t>
            </a:r>
            <a:r>
              <a:rPr lang="pt-BR" baseline="-25000" dirty="0"/>
              <a:t>n</a:t>
            </a:r>
            <a:r>
              <a:rPr lang="pt-BR" dirty="0"/>
              <a:t> = </a:t>
            </a:r>
            <a:r>
              <a:rPr lang="pt-BR" i="1" dirty="0"/>
              <a:t>a</a:t>
            </a:r>
            <a:r>
              <a:rPr lang="pt-BR" baseline="-25000" dirty="0"/>
              <a:t>n-1</a:t>
            </a:r>
            <a:r>
              <a:rPr lang="pt-BR" dirty="0"/>
              <a:t> + 2</a:t>
            </a:r>
            <a:r>
              <a:rPr lang="pt-BR" baseline="30000" dirty="0"/>
              <a:t>n</a:t>
            </a:r>
            <a:r>
              <a:rPr lang="pt-BR" dirty="0"/>
              <a:t>		</a:t>
            </a:r>
            <a:r>
              <a:rPr lang="en-US" dirty="0"/>
              <a:t>with</a:t>
            </a:r>
            <a:r>
              <a:rPr lang="pt-BR" dirty="0"/>
              <a:t> </a:t>
            </a:r>
            <a:r>
              <a:rPr lang="pt-BR" i="1" dirty="0"/>
              <a:t>a</a:t>
            </a:r>
            <a:r>
              <a:rPr lang="pt-BR" baseline="-25000" dirty="0"/>
              <a:t>0</a:t>
            </a:r>
            <a:r>
              <a:rPr lang="pt-BR" dirty="0"/>
              <a:t> =1.</a:t>
            </a:r>
          </a:p>
          <a:p>
            <a:pPr marL="1257300" lvl="2" indent="-342900" algn="just">
              <a:buFont typeface="+mj-lt"/>
              <a:buAutoNum type="alphaLcParenR"/>
            </a:pPr>
            <a:r>
              <a:rPr lang="en-US" i="1" dirty="0"/>
              <a:t>a</a:t>
            </a:r>
            <a:r>
              <a:rPr lang="en-US" baseline="-25000" dirty="0"/>
              <a:t>n</a:t>
            </a:r>
            <a:r>
              <a:rPr lang="en-US" dirty="0"/>
              <a:t> = </a:t>
            </a:r>
            <a:r>
              <a:rPr lang="en-US" i="1" dirty="0"/>
              <a:t>a</a:t>
            </a:r>
            <a:r>
              <a:rPr lang="en-US" baseline="-25000" dirty="0"/>
              <a:t>n-1</a:t>
            </a:r>
            <a:r>
              <a:rPr lang="en-US" dirty="0"/>
              <a:t> - 2n - 3	with </a:t>
            </a:r>
            <a:r>
              <a:rPr lang="en-US" i="1" dirty="0"/>
              <a:t>a</a:t>
            </a:r>
            <a:r>
              <a:rPr lang="en-US" baseline="-25000" dirty="0"/>
              <a:t>0</a:t>
            </a:r>
            <a:r>
              <a:rPr lang="en-US" dirty="0"/>
              <a:t> =4.</a:t>
            </a:r>
          </a:p>
          <a:p>
            <a:endParaRPr lang="en-US" dirty="0"/>
          </a:p>
        </p:txBody>
      </p:sp>
    </p:spTree>
    <p:extLst>
      <p:ext uri="{BB962C8B-B14F-4D97-AF65-F5344CB8AC3E}">
        <p14:creationId xmlns:p14="http://schemas.microsoft.com/office/powerpoint/2010/main" val="2513069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    Pure linear recurrence relation</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Definition</a:t>
                </a:r>
                <a:r>
                  <a:rPr lang="en-US" dirty="0"/>
                  <a:t>: A k</a:t>
                </a:r>
                <a:r>
                  <a:rPr lang="en-US" baseline="30000" dirty="0"/>
                  <a:t>th</a:t>
                </a:r>
                <a:r>
                  <a:rPr lang="en-US" dirty="0"/>
                  <a:t>–order pure linear recurrence relation with constant coefficient is a recurrence relation having form:</a:t>
                </a:r>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𝑛</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𝑐</m:t>
                          </m:r>
                        </m:e>
                        <m:sub>
                          <m:r>
                            <a:rPr lang="en-US" b="0" i="1" smtClean="0">
                              <a:solidFill>
                                <a:srgbClr val="FF0000"/>
                              </a:solidFill>
                              <a:latin typeface="Cambria Math"/>
                            </a:rPr>
                            <m:t>1</m:t>
                          </m:r>
                        </m:sub>
                      </m:sSub>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𝑛</m:t>
                          </m:r>
                          <m:r>
                            <a:rPr lang="en-US" b="0" i="1" smtClean="0">
                              <a:solidFill>
                                <a:srgbClr val="FF0000"/>
                              </a:solidFill>
                              <a:latin typeface="Cambria Math"/>
                            </a:rPr>
                            <m:t>−1</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𝑐</m:t>
                          </m:r>
                        </m:e>
                        <m:sub>
                          <m:r>
                            <a:rPr lang="en-US" b="0" i="1" smtClean="0">
                              <a:solidFill>
                                <a:srgbClr val="FF0000"/>
                              </a:solidFill>
                              <a:latin typeface="Cambria Math"/>
                            </a:rPr>
                            <m:t>2</m:t>
                          </m:r>
                        </m:sub>
                      </m:sSub>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𝑛</m:t>
                          </m:r>
                          <m:r>
                            <a:rPr lang="en-US" b="0" i="1" smtClean="0">
                              <a:solidFill>
                                <a:srgbClr val="FF0000"/>
                              </a:solidFill>
                              <a:latin typeface="Cambria Math"/>
                            </a:rPr>
                            <m:t>−2</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𝑐</m:t>
                          </m:r>
                        </m:e>
                        <m:sub>
                          <m:r>
                            <a:rPr lang="en-US" b="0" i="1" smtClean="0">
                              <a:solidFill>
                                <a:srgbClr val="FF0000"/>
                              </a:solidFill>
                              <a:latin typeface="Cambria Math"/>
                            </a:rPr>
                            <m:t>𝑘</m:t>
                          </m:r>
                        </m:sub>
                      </m:sSub>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𝑛</m:t>
                          </m:r>
                          <m:r>
                            <a:rPr lang="en-US" b="0" i="1" smtClean="0">
                              <a:solidFill>
                                <a:srgbClr val="FF0000"/>
                              </a:solidFill>
                              <a:latin typeface="Cambria Math"/>
                            </a:rPr>
                            <m:t>−</m:t>
                          </m:r>
                          <m:r>
                            <a:rPr lang="en-US" b="0" i="1" smtClean="0">
                              <a:solidFill>
                                <a:srgbClr val="FF0000"/>
                              </a:solidFill>
                              <a:latin typeface="Cambria Math"/>
                            </a:rPr>
                            <m:t>𝑘</m:t>
                          </m:r>
                        </m:sub>
                      </m:sSub>
                    </m:oMath>
                  </m:oMathPara>
                </a14:m>
                <a:endParaRPr lang="en-US" dirty="0"/>
              </a:p>
              <a:p>
                <a:pPr marL="0" indent="0">
                  <a:buNone/>
                </a:pPr>
                <a:r>
                  <a:rPr lang="en-US" dirty="0"/>
                  <a:t>Where, </a:t>
                </a:r>
                <a14:m>
                  <m:oMath xmlns:m="http://schemas.openxmlformats.org/officeDocument/2006/math">
                    <m:r>
                      <a:rPr lang="en-US" i="1" dirty="0" smtClean="0">
                        <a:latin typeface="Cambria Math"/>
                      </a:rPr>
                      <m:t>𝑐</m:t>
                    </m:r>
                    <m:r>
                      <a:rPr lang="en-US" i="1" baseline="-25000" dirty="0">
                        <a:latin typeface="Cambria Math"/>
                      </a:rPr>
                      <m:t>1</m:t>
                    </m:r>
                    <m:r>
                      <a:rPr lang="en-US" i="1" dirty="0">
                        <a:latin typeface="Cambria Math"/>
                      </a:rPr>
                      <m:t>, </m:t>
                    </m:r>
                    <m:r>
                      <a:rPr lang="en-US" i="1" dirty="0">
                        <a:latin typeface="Cambria Math"/>
                      </a:rPr>
                      <m:t>𝑐</m:t>
                    </m:r>
                    <m:r>
                      <a:rPr lang="en-US" i="1" baseline="-25000" dirty="0">
                        <a:latin typeface="Cambria Math"/>
                      </a:rPr>
                      <m:t>2</m:t>
                    </m:r>
                    <m:r>
                      <a:rPr lang="en-US" i="1" dirty="0">
                        <a:latin typeface="Cambria Math"/>
                      </a:rPr>
                      <m:t>,…,</m:t>
                    </m:r>
                    <m:r>
                      <a:rPr lang="en-US" i="1" dirty="0">
                        <a:latin typeface="Cambria Math"/>
                      </a:rPr>
                      <m:t>𝑐𝑘</m:t>
                    </m:r>
                    <m:r>
                      <a:rPr lang="en-US" i="1" dirty="0">
                        <a:latin typeface="Cambria Math"/>
                      </a:rPr>
                      <m:t> </m:t>
                    </m:r>
                  </m:oMath>
                </a14:m>
                <a:r>
                  <a:rPr lang="en-US" dirty="0"/>
                  <a:t>are constants and </a:t>
                </a:r>
                <a14:m>
                  <m:oMath xmlns:m="http://schemas.openxmlformats.org/officeDocument/2006/math">
                    <m:r>
                      <a:rPr lang="en-US" i="1" dirty="0" smtClean="0">
                        <a:latin typeface="Cambria Math"/>
                      </a:rPr>
                      <m:t>𝑐</m:t>
                    </m:r>
                    <m:r>
                      <a:rPr lang="en-US" i="1" baseline="-25000" dirty="0">
                        <a:latin typeface="Cambria Math"/>
                      </a:rPr>
                      <m:t>𝑘</m:t>
                    </m:r>
                    <m:r>
                      <a:rPr lang="en-US" i="1" dirty="0">
                        <a:latin typeface="Cambria Math"/>
                      </a:rPr>
                      <m:t>≠0</m:t>
                    </m:r>
                  </m:oMath>
                </a14:m>
                <a:r>
                  <a:rPr lang="en-US" dirty="0"/>
                  <a:t>.</a:t>
                </a:r>
              </a:p>
              <a:p>
                <a:pPr marL="0" indent="0">
                  <a:buNone/>
                </a:pPr>
                <a:r>
                  <a:rPr lang="en-US" dirty="0"/>
                  <a:t>We need to find a direct formula to compute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𝑎</m:t>
                        </m:r>
                      </m:e>
                      <m:sub>
                        <m:r>
                          <a:rPr lang="en-US" b="0" i="1" smtClean="0">
                            <a:latin typeface="Cambria Math"/>
                          </a:rPr>
                          <m:t>𝑛</m:t>
                        </m:r>
                      </m:sub>
                    </m:sSub>
                  </m:oMath>
                </a14:m>
                <a:r>
                  <a:rPr lang="en-US" dirty="0"/>
                  <a:t> satisfying condition </a:t>
                </a:r>
                <a14:m>
                  <m:oMath xmlns:m="http://schemas.openxmlformats.org/officeDocument/2006/math">
                    <m:r>
                      <a:rPr lang="en-US" i="1" dirty="0" smtClean="0">
                        <a:latin typeface="Cambria Math"/>
                      </a:rPr>
                      <m:t>(1)</m:t>
                    </m:r>
                  </m:oMath>
                </a14:m>
                <a:r>
                  <a:rPr lang="en-US" dirty="0"/>
                  <a:t>.</a:t>
                </a:r>
              </a:p>
              <a:p>
                <a:pPr marL="0" indent="0">
                  <a:buNone/>
                </a:pPr>
                <a:r>
                  <a:rPr lang="en-US" dirty="0"/>
                  <a:t>Sequence </a:t>
                </a:r>
                <a14:m>
                  <m:oMath xmlns:m="http://schemas.openxmlformats.org/officeDocument/2006/math">
                    <m:sSub>
                      <m:sSubPr>
                        <m:ctrlPr>
                          <a:rPr lang="en-US" i="1">
                            <a:latin typeface="Cambria Math" panose="02040503050406030204" pitchFamily="18" charset="0"/>
                          </a:rPr>
                        </m:ctrlPr>
                      </m:sSubPr>
                      <m:e>
                        <m:r>
                          <a:rPr lang="en-US" b="0" i="1" smtClean="0">
                            <a:latin typeface="Cambria Math"/>
                          </a:rPr>
                          <m:t>{</m:t>
                        </m:r>
                        <m:r>
                          <a:rPr lang="en-US" i="1">
                            <a:latin typeface="Cambria Math"/>
                          </a:rPr>
                          <m:t>𝑎</m:t>
                        </m:r>
                      </m:e>
                      <m:sub>
                        <m:r>
                          <a:rPr lang="en-US" i="1">
                            <a:latin typeface="Cambria Math"/>
                          </a:rPr>
                          <m:t>𝑛</m:t>
                        </m:r>
                      </m:sub>
                    </m:sSub>
                    <m:r>
                      <a:rPr lang="en-US" b="0" i="1" smtClean="0">
                        <a:latin typeface="Cambria Math"/>
                      </a:rPr>
                      <m:t>}</m:t>
                    </m:r>
                  </m:oMath>
                </a14:m>
                <a:r>
                  <a:rPr lang="en-US" dirty="0"/>
                  <a:t> satisfy condition </a:t>
                </a:r>
                <a14:m>
                  <m:oMath xmlns:m="http://schemas.openxmlformats.org/officeDocument/2006/math">
                    <m:d>
                      <m:dPr>
                        <m:ctrlPr>
                          <a:rPr lang="en-US" i="1" dirty="0">
                            <a:latin typeface="Cambria Math" panose="02040503050406030204" pitchFamily="18" charset="0"/>
                          </a:rPr>
                        </m:ctrlPr>
                      </m:dPr>
                      <m:e>
                        <m:r>
                          <a:rPr lang="en-US" i="1" dirty="0">
                            <a:latin typeface="Cambria Math"/>
                          </a:rPr>
                          <m:t>1</m:t>
                        </m:r>
                      </m:e>
                    </m:d>
                    <m:r>
                      <a:rPr lang="en-US" b="0" i="1" dirty="0" smtClean="0">
                        <a:latin typeface="Cambria Math" panose="02040503050406030204" pitchFamily="18" charset="0"/>
                      </a:rPr>
                      <m:t> </m:t>
                    </m:r>
                  </m:oMath>
                </a14:m>
                <a:r>
                  <a:rPr lang="en-US" dirty="0"/>
                  <a:t>is uniquely identified if it satisfies the following initial condition:</a:t>
                </a:r>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0</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𝐶</m:t>
                          </m:r>
                        </m:e>
                        <m:sub>
                          <m:r>
                            <a:rPr lang="en-US" b="0" i="1" smtClean="0">
                              <a:solidFill>
                                <a:srgbClr val="FF0000"/>
                              </a:solidFill>
                              <a:latin typeface="Cambria Math"/>
                            </a:rPr>
                            <m:t>0</m:t>
                          </m:r>
                        </m:sub>
                      </m:sSub>
                      <m:r>
                        <a:rPr lang="en-US" b="0" i="1" smtClean="0">
                          <a:solidFill>
                            <a:srgbClr val="FF0000"/>
                          </a:solidFill>
                          <a:latin typeface="Cambria Math"/>
                        </a:rPr>
                        <m:t>, </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1</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𝐶</m:t>
                          </m:r>
                        </m:e>
                        <m:sub>
                          <m:r>
                            <a:rPr lang="en-US" b="0" i="1" smtClean="0">
                              <a:solidFill>
                                <a:srgbClr val="FF0000"/>
                              </a:solidFill>
                              <a:latin typeface="Cambria Math"/>
                            </a:rPr>
                            <m:t>1</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𝑘</m:t>
                          </m:r>
                          <m:r>
                            <a:rPr lang="en-US" b="0" i="1" smtClean="0">
                              <a:solidFill>
                                <a:srgbClr val="FF0000"/>
                              </a:solidFill>
                              <a:latin typeface="Cambria Math"/>
                            </a:rPr>
                            <m:t>−1</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𝐶</m:t>
                          </m:r>
                        </m:e>
                        <m:sub>
                          <m:r>
                            <a:rPr lang="en-US" b="0" i="1" smtClean="0">
                              <a:solidFill>
                                <a:srgbClr val="FF0000"/>
                              </a:solidFill>
                              <a:latin typeface="Cambria Math"/>
                            </a:rPr>
                            <m:t>𝑘</m:t>
                          </m:r>
                          <m:r>
                            <a:rPr lang="en-US" b="0" i="1" smtClean="0">
                              <a:solidFill>
                                <a:srgbClr val="FF0000"/>
                              </a:solidFill>
                              <a:latin typeface="Cambria Math"/>
                            </a:rPr>
                            <m:t>−1</m:t>
                          </m:r>
                        </m:sub>
                      </m:sSub>
                    </m:oMath>
                  </m:oMathPara>
                </a14:m>
                <a:endParaRPr lang="en-US" dirty="0"/>
              </a:p>
              <a:p>
                <a:pPr marL="0" indent="0">
                  <a:buNone/>
                </a:pPr>
                <a:r>
                  <a:rPr lang="en-US" dirty="0"/>
                  <a:t>where </a:t>
                </a:r>
                <a14:m>
                  <m:oMath xmlns:m="http://schemas.openxmlformats.org/officeDocument/2006/math">
                    <m:sSub>
                      <m:sSubPr>
                        <m:ctrlPr>
                          <a:rPr lang="en-US" i="1">
                            <a:latin typeface="Cambria Math" panose="02040503050406030204" pitchFamily="18" charset="0"/>
                          </a:rPr>
                        </m:ctrlPr>
                      </m:sSubPr>
                      <m:e>
                        <m:r>
                          <a:rPr lang="en-US" i="1">
                            <a:latin typeface="Cambria Math"/>
                          </a:rPr>
                          <m:t>𝐶</m:t>
                        </m:r>
                      </m:e>
                      <m:sub>
                        <m:r>
                          <a:rPr lang="en-US" i="1">
                            <a:latin typeface="Cambria Math"/>
                          </a:rPr>
                          <m:t>0</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a:rPr>
                          <m:t>𝐶</m:t>
                        </m:r>
                      </m:e>
                      <m:sub>
                        <m:r>
                          <a:rPr lang="en-US" b="0" i="1" smtClean="0">
                            <a:latin typeface="Cambria Math"/>
                          </a:rPr>
                          <m:t>𝑘</m:t>
                        </m:r>
                        <m:r>
                          <a:rPr lang="en-US" b="0" i="1" smtClean="0">
                            <a:latin typeface="Cambria Math"/>
                          </a:rPr>
                          <m:t>−1</m:t>
                        </m:r>
                      </m:sub>
                    </m:sSub>
                  </m:oMath>
                </a14:m>
                <a:r>
                  <a:rPr lang="en-US" dirty="0"/>
                  <a:t> are constants.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1111" t="-9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14"/>
              <p:cNvSpPr txBox="1">
                <a:spLocks noChangeArrowheads="1"/>
              </p:cNvSpPr>
              <p:nvPr/>
            </p:nvSpPr>
            <p:spPr bwMode="auto">
              <a:xfrm>
                <a:off x="7391400" y="2345266"/>
                <a:ext cx="533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i="1" dirty="0">
                          <a:latin typeface="Cambria Math"/>
                        </a:rPr>
                        <m:t>1)</m:t>
                      </m:r>
                    </m:oMath>
                  </m:oMathPara>
                </a14:m>
                <a:endParaRPr lang="en-US" dirty="0"/>
              </a:p>
            </p:txBody>
          </p:sp>
        </mc:Choice>
        <mc:Fallback xmlns="">
          <p:sp>
            <p:nvSpPr>
              <p:cNvPr id="7" name="Text Box 14"/>
              <p:cNvSpPr txBox="1">
                <a:spLocks noRot="1" noChangeAspect="1" noMove="1" noResize="1" noEditPoints="1" noAdjustHandles="1" noChangeArrowheads="1" noChangeShapeType="1" noTextEdit="1"/>
              </p:cNvSpPr>
              <p:nvPr/>
            </p:nvSpPr>
            <p:spPr bwMode="auto">
              <a:xfrm>
                <a:off x="7391400" y="2345266"/>
                <a:ext cx="533400" cy="369332"/>
              </a:xfrm>
              <a:prstGeom prst="rect">
                <a:avLst/>
              </a:prstGeom>
              <a:blipFill>
                <a:blip r:embed="rId4"/>
                <a:stretch>
                  <a:fillRect r="-1149" b="-1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 Box 14"/>
              <p:cNvSpPr txBox="1">
                <a:spLocks noChangeArrowheads="1"/>
              </p:cNvSpPr>
              <p:nvPr/>
            </p:nvSpPr>
            <p:spPr bwMode="auto">
              <a:xfrm>
                <a:off x="7379677" y="4800600"/>
                <a:ext cx="533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b="0" i="1" dirty="0" smtClean="0">
                          <a:latin typeface="Cambria Math"/>
                        </a:rPr>
                        <m:t>2</m:t>
                      </m:r>
                      <m:r>
                        <a:rPr lang="en-US" i="1" dirty="0">
                          <a:latin typeface="Cambria Math"/>
                        </a:rPr>
                        <m:t>)</m:t>
                      </m:r>
                    </m:oMath>
                  </m:oMathPara>
                </a14:m>
                <a:endParaRPr lang="en-US" dirty="0"/>
              </a:p>
            </p:txBody>
          </p:sp>
        </mc:Choice>
        <mc:Fallback xmlns="">
          <p:sp>
            <p:nvSpPr>
              <p:cNvPr id="8" name="Text Box 14"/>
              <p:cNvSpPr txBox="1">
                <a:spLocks noRot="1" noChangeAspect="1" noMove="1" noResize="1" noEditPoints="1" noAdjustHandles="1" noChangeArrowheads="1" noChangeShapeType="1" noTextEdit="1"/>
              </p:cNvSpPr>
              <p:nvPr/>
            </p:nvSpPr>
            <p:spPr bwMode="auto">
              <a:xfrm>
                <a:off x="7379677" y="4800600"/>
                <a:ext cx="533400" cy="369332"/>
              </a:xfrm>
              <a:prstGeom prst="rect">
                <a:avLst/>
              </a:prstGeom>
              <a:blipFill>
                <a:blip r:embed="rId5"/>
                <a:stretch>
                  <a:fillRect r="-2299" b="-150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9970636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Example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382000" cy="4937760"/>
              </a:xfrm>
            </p:spPr>
            <p:txBody>
              <a:bodyPr/>
              <a:lstStyle/>
              <a:p>
                <a:r>
                  <a:rPr lang="en-US" dirty="0"/>
                  <a:t>Recurrence relation </a:t>
                </a:r>
                <a14:m>
                  <m:oMath xmlns:m="http://schemas.openxmlformats.org/officeDocument/2006/math">
                    <m:r>
                      <a:rPr lang="en-US" i="1" dirty="0" smtClean="0">
                        <a:latin typeface="Cambria Math"/>
                      </a:rPr>
                      <m:t>𝑃</m:t>
                    </m:r>
                    <m:r>
                      <a:rPr lang="en-US" i="1" baseline="-25000" dirty="0" err="1">
                        <a:latin typeface="Cambria Math"/>
                      </a:rPr>
                      <m:t>𝑛</m:t>
                    </m:r>
                    <m:r>
                      <a:rPr lang="en-US" i="1" dirty="0">
                        <a:latin typeface="Cambria Math"/>
                      </a:rPr>
                      <m:t>=(1.11)</m:t>
                    </m:r>
                    <m:sSub>
                      <m:sSubPr>
                        <m:ctrlPr>
                          <a:rPr lang="en-US" i="1" dirty="0" smtClean="0">
                            <a:latin typeface="Cambria Math" panose="02040503050406030204" pitchFamily="18" charset="0"/>
                          </a:rPr>
                        </m:ctrlPr>
                      </m:sSubPr>
                      <m:e>
                        <m:r>
                          <a:rPr lang="en-US" b="0" i="1" dirty="0" smtClean="0">
                            <a:latin typeface="Cambria Math"/>
                          </a:rPr>
                          <m:t>𝑃</m:t>
                        </m:r>
                      </m:e>
                      <m:sub>
                        <m:r>
                          <a:rPr lang="en-US" b="0" i="1" dirty="0" smtClean="0">
                            <a:latin typeface="Cambria Math"/>
                          </a:rPr>
                          <m:t>𝑛</m:t>
                        </m:r>
                        <m:r>
                          <a:rPr lang="en-US" b="0" i="1" dirty="0" smtClean="0">
                            <a:latin typeface="Cambria Math"/>
                          </a:rPr>
                          <m:t>−1</m:t>
                        </m:r>
                      </m:sub>
                    </m:sSub>
                  </m:oMath>
                </a14:m>
                <a:r>
                  <a:rPr lang="en-US" dirty="0"/>
                  <a:t> is first-order pure linear recurrence relation.</a:t>
                </a:r>
              </a:p>
              <a:p>
                <a:r>
                  <a:rPr lang="en-US" dirty="0"/>
                  <a:t>Recurrence relation </a:t>
                </a:r>
                <a14:m>
                  <m:oMath xmlns:m="http://schemas.openxmlformats.org/officeDocument/2006/math">
                    <m:r>
                      <a:rPr lang="en-US" i="1" dirty="0" smtClean="0">
                        <a:latin typeface="Cambria Math"/>
                      </a:rPr>
                      <m:t>𝑓</m:t>
                    </m:r>
                    <m:r>
                      <a:rPr lang="en-US" i="1" baseline="-25000" dirty="0" err="1">
                        <a:latin typeface="Cambria Math"/>
                      </a:rPr>
                      <m:t>𝑛</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𝑓</m:t>
                        </m:r>
                      </m:e>
                      <m:sub>
                        <m:r>
                          <a:rPr lang="en-US" b="0" i="1" dirty="0" smtClean="0">
                            <a:latin typeface="Cambria Math"/>
                          </a:rPr>
                          <m:t>𝑛</m:t>
                        </m:r>
                        <m:r>
                          <a:rPr lang="en-US" b="0" i="1" dirty="0" smtClean="0">
                            <a:latin typeface="Cambria Math"/>
                          </a:rPr>
                          <m:t>−1</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𝑓</m:t>
                        </m:r>
                      </m:e>
                      <m:sub>
                        <m:r>
                          <a:rPr lang="en-US" b="0" i="1" dirty="0" smtClean="0">
                            <a:latin typeface="Cambria Math"/>
                          </a:rPr>
                          <m:t>𝑛</m:t>
                        </m:r>
                        <m:r>
                          <a:rPr lang="en-US" b="0" i="1" dirty="0" smtClean="0">
                            <a:latin typeface="Cambria Math"/>
                          </a:rPr>
                          <m:t>−2</m:t>
                        </m:r>
                      </m:sub>
                    </m:sSub>
                    <m:r>
                      <a:rPr lang="en-US" i="1" dirty="0">
                        <a:latin typeface="Cambria Math"/>
                      </a:rPr>
                      <m:t> </m:t>
                    </m:r>
                  </m:oMath>
                </a14:m>
                <a:r>
                  <a:rPr lang="en-US" dirty="0"/>
                  <a:t>is second-order pure linear recurrence relation.</a:t>
                </a:r>
              </a:p>
              <a:p>
                <a:r>
                  <a:rPr lang="en-US" dirty="0"/>
                  <a:t>Recurrence relation </a:t>
                </a:r>
                <a14:m>
                  <m:oMath xmlns:m="http://schemas.openxmlformats.org/officeDocument/2006/math">
                    <m:r>
                      <a:rPr lang="en-US" i="1" dirty="0" smtClean="0">
                        <a:latin typeface="Cambria Math"/>
                      </a:rPr>
                      <m:t>𝑎</m:t>
                    </m:r>
                    <m:r>
                      <a:rPr lang="en-US" i="1" baseline="-25000" dirty="0">
                        <a:latin typeface="Cambria Math"/>
                      </a:rPr>
                      <m:t>𝑛</m:t>
                    </m:r>
                    <m:r>
                      <a:rPr lang="en-US" i="1" dirty="0">
                        <a:latin typeface="Cambria Math"/>
                      </a:rPr>
                      <m:t>=</m:t>
                    </m:r>
                    <m:sSub>
                      <m:sSubPr>
                        <m:ctrlPr>
                          <a:rPr lang="en-US" i="1" dirty="0" smtClean="0">
                            <a:latin typeface="Cambria Math" panose="02040503050406030204" pitchFamily="18" charset="0"/>
                          </a:rPr>
                        </m:ctrlPr>
                      </m:sSubPr>
                      <m:e>
                        <m:r>
                          <a:rPr lang="en-US" b="0" i="1" dirty="0" smtClean="0">
                            <a:latin typeface="Cambria Math"/>
                          </a:rPr>
                          <m:t>𝑎</m:t>
                        </m:r>
                      </m:e>
                      <m:sub>
                        <m:r>
                          <a:rPr lang="en-US" b="0" i="1" dirty="0" smtClean="0">
                            <a:latin typeface="Cambria Math"/>
                          </a:rPr>
                          <m:t>𝑛</m:t>
                        </m:r>
                        <m:r>
                          <a:rPr lang="en-US" b="0" i="1" dirty="0" smtClean="0">
                            <a:latin typeface="Cambria Math"/>
                          </a:rPr>
                          <m:t>−5</m:t>
                        </m:r>
                      </m:sub>
                    </m:sSub>
                    <m:r>
                      <a:rPr lang="en-US" i="1" dirty="0">
                        <a:latin typeface="Cambria Math"/>
                      </a:rPr>
                      <m:t> </m:t>
                    </m:r>
                  </m:oMath>
                </a14:m>
                <a:r>
                  <a:rPr lang="en-US" dirty="0"/>
                  <a:t>is fifth-order pure linear recurrence relation.</a:t>
                </a:r>
              </a:p>
              <a:p>
                <a:r>
                  <a:rPr lang="en-US" dirty="0"/>
                  <a:t>Recurrence relation </a:t>
                </a:r>
                <a14:m>
                  <m:oMath xmlns:m="http://schemas.openxmlformats.org/officeDocument/2006/math">
                    <m:r>
                      <a:rPr lang="en-US" i="1" dirty="0" smtClean="0">
                        <a:latin typeface="Cambria Math"/>
                      </a:rPr>
                      <m:t>𝑎</m:t>
                    </m:r>
                    <m:r>
                      <a:rPr lang="en-US" i="1" baseline="-25000" dirty="0">
                        <a:latin typeface="Cambria Math"/>
                      </a:rPr>
                      <m:t>𝑛</m:t>
                    </m:r>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r>
                          <a:rPr lang="en-US" i="1" dirty="0">
                            <a:latin typeface="Cambria Math"/>
                          </a:rPr>
                          <m:t>−1</m:t>
                        </m:r>
                      </m:sub>
                    </m:sSub>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r>
                          <a:rPr lang="en-US" i="1" dirty="0">
                            <a:latin typeface="Cambria Math"/>
                          </a:rPr>
                          <m:t>−2</m:t>
                        </m:r>
                      </m:sub>
                    </m:sSub>
                    <m:r>
                      <a:rPr lang="en-US" i="1" dirty="0">
                        <a:latin typeface="Cambria Math"/>
                      </a:rPr>
                      <m:t>)</m:t>
                    </m:r>
                    <m:r>
                      <a:rPr lang="en-US" i="1" baseline="30000" dirty="0">
                        <a:latin typeface="Cambria Math"/>
                      </a:rPr>
                      <m:t>2</m:t>
                    </m:r>
                  </m:oMath>
                </a14:m>
                <a:r>
                  <a:rPr lang="en-US" dirty="0"/>
                  <a:t> is non-linear</a:t>
                </a:r>
              </a:p>
              <a:p>
                <a:r>
                  <a:rPr lang="en-US" dirty="0"/>
                  <a:t>Recurrence relation </a:t>
                </a:r>
                <a14:m>
                  <m:oMath xmlns:m="http://schemas.openxmlformats.org/officeDocument/2006/math">
                    <m:sSub>
                      <m:sSubPr>
                        <m:ctrlPr>
                          <a:rPr lang="en-US" i="1" dirty="0" smtClean="0">
                            <a:latin typeface="Cambria Math" panose="02040503050406030204" pitchFamily="18" charset="0"/>
                          </a:rPr>
                        </m:ctrlPr>
                      </m:sSubPr>
                      <m:e>
                        <m:r>
                          <a:rPr lang="en-US" b="0" i="1" dirty="0" smtClean="0">
                            <a:latin typeface="Cambria Math"/>
                          </a:rPr>
                          <m:t>𝐻</m:t>
                        </m:r>
                      </m:e>
                      <m:sub>
                        <m:r>
                          <a:rPr lang="en-US" b="0" i="1" dirty="0" smtClean="0">
                            <a:latin typeface="Cambria Math"/>
                          </a:rPr>
                          <m:t>𝑛</m:t>
                        </m:r>
                      </m:sub>
                    </m:sSub>
                    <m:r>
                      <a:rPr lang="en-US" i="1" dirty="0">
                        <a:latin typeface="Cambria Math"/>
                      </a:rPr>
                      <m:t>=</m:t>
                    </m:r>
                    <m:sSub>
                      <m:sSubPr>
                        <m:ctrlPr>
                          <a:rPr lang="en-US" i="1" dirty="0">
                            <a:latin typeface="Cambria Math" panose="02040503050406030204" pitchFamily="18" charset="0"/>
                          </a:rPr>
                        </m:ctrlPr>
                      </m:sSubPr>
                      <m:e>
                        <m:r>
                          <a:rPr lang="en-US" b="0" i="1" dirty="0" smtClean="0">
                            <a:latin typeface="Cambria Math"/>
                          </a:rPr>
                          <m:t>2</m:t>
                        </m:r>
                        <m:r>
                          <a:rPr lang="en-US" i="1" dirty="0">
                            <a:latin typeface="Cambria Math"/>
                          </a:rPr>
                          <m:t>𝐻</m:t>
                        </m:r>
                      </m:e>
                      <m:sub>
                        <m:r>
                          <a:rPr lang="en-US" i="1" dirty="0">
                            <a:latin typeface="Cambria Math"/>
                          </a:rPr>
                          <m:t>𝑛</m:t>
                        </m:r>
                        <m:r>
                          <a:rPr lang="en-US" b="0" i="1" dirty="0" smtClean="0">
                            <a:latin typeface="Cambria Math"/>
                          </a:rPr>
                          <m:t>−1</m:t>
                        </m:r>
                      </m:sub>
                    </m:sSub>
                    <m:r>
                      <a:rPr lang="en-US" i="1" dirty="0">
                        <a:latin typeface="Cambria Math"/>
                      </a:rPr>
                      <m:t>+1 </m:t>
                    </m:r>
                  </m:oMath>
                </a14:m>
                <a:r>
                  <a:rPr lang="en-US" dirty="0"/>
                  <a:t>is impure</a:t>
                </a:r>
              </a:p>
              <a:p>
                <a:r>
                  <a:rPr lang="en-US" dirty="0"/>
                  <a:t>Recurrence relation </a:t>
                </a:r>
                <a14:m>
                  <m:oMath xmlns:m="http://schemas.openxmlformats.org/officeDocument/2006/math">
                    <m:sSub>
                      <m:sSubPr>
                        <m:ctrlPr>
                          <a:rPr lang="en-US" i="1" dirty="0">
                            <a:latin typeface="Cambria Math" panose="02040503050406030204" pitchFamily="18" charset="0"/>
                          </a:rPr>
                        </m:ctrlPr>
                      </m:sSubPr>
                      <m:e>
                        <m:r>
                          <a:rPr lang="en-US" b="0" i="1" dirty="0" smtClean="0">
                            <a:latin typeface="Cambria Math"/>
                          </a:rPr>
                          <m:t> </m:t>
                        </m:r>
                        <m:r>
                          <a:rPr lang="en-US" b="0" i="1" dirty="0" smtClean="0">
                            <a:latin typeface="Cambria Math"/>
                          </a:rPr>
                          <m:t>𝐵</m:t>
                        </m:r>
                      </m:e>
                      <m:sub>
                        <m:r>
                          <a:rPr lang="en-US" i="1" dirty="0">
                            <a:latin typeface="Cambria Math"/>
                          </a:rPr>
                          <m:t>𝑛</m:t>
                        </m:r>
                      </m:sub>
                    </m:sSub>
                    <m:r>
                      <a:rPr lang="en-US" i="1" dirty="0">
                        <a:latin typeface="Cambria Math"/>
                      </a:rPr>
                      <m:t>=</m:t>
                    </m:r>
                    <m:r>
                      <a:rPr lang="en-US" i="1" dirty="0">
                        <a:latin typeface="Cambria Math"/>
                      </a:rPr>
                      <m:t>𝑛</m:t>
                    </m:r>
                    <m:sSub>
                      <m:sSubPr>
                        <m:ctrlPr>
                          <a:rPr lang="en-US" i="1" dirty="0">
                            <a:latin typeface="Cambria Math" panose="02040503050406030204" pitchFamily="18" charset="0"/>
                          </a:rPr>
                        </m:ctrlPr>
                      </m:sSubPr>
                      <m:e>
                        <m:r>
                          <a:rPr lang="en-US" b="0" i="1" dirty="0" smtClean="0">
                            <a:latin typeface="Cambria Math"/>
                          </a:rPr>
                          <m:t>𝐵</m:t>
                        </m:r>
                      </m:e>
                      <m:sub>
                        <m:r>
                          <a:rPr lang="en-US" i="1" dirty="0">
                            <a:latin typeface="Cambria Math"/>
                          </a:rPr>
                          <m:t>𝑛</m:t>
                        </m:r>
                        <m:r>
                          <a:rPr lang="en-US" b="0" i="1" dirty="0" smtClean="0">
                            <a:latin typeface="Cambria Math"/>
                          </a:rPr>
                          <m:t>−1</m:t>
                        </m:r>
                      </m:sub>
                    </m:sSub>
                    <m:r>
                      <a:rPr lang="en-US" b="0" i="1" dirty="0" smtClean="0">
                        <a:latin typeface="Cambria Math"/>
                      </a:rPr>
                      <m:t> </m:t>
                    </m:r>
                  </m:oMath>
                </a14:m>
                <a:r>
                  <a:rPr lang="en-US" dirty="0"/>
                  <a:t>has no constant coefficient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382000" cy="4937760"/>
              </a:xfrm>
              <a:blipFill>
                <a:blip r:embed="rId2"/>
                <a:stretch>
                  <a:fillRect l="-509" t="-1111" r="-1964"/>
                </a:stretch>
              </a:blipFill>
            </p:spPr>
            <p:txBody>
              <a:bodyPr/>
              <a:lstStyle/>
              <a:p>
                <a:r>
                  <a:rPr lang="en-US">
                    <a:noFill/>
                  </a:rPr>
                  <a:t> </a:t>
                </a:r>
              </a:p>
            </p:txBody>
          </p:sp>
        </mc:Fallback>
      </mc:AlternateContent>
    </p:spTree>
    <p:extLst>
      <p:ext uri="{BB962C8B-B14F-4D97-AF65-F5344CB8AC3E}">
        <p14:creationId xmlns:p14="http://schemas.microsoft.com/office/powerpoint/2010/main" val="367962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Solving method</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pPr algn="just"/>
                <a:r>
                  <a:rPr lang="en-US" dirty="0"/>
                  <a:t>The general method to solve pure recurrence relations is finding root in the </a:t>
                </a:r>
                <a:r>
                  <a:rPr lang="en-US" dirty="0" err="1"/>
                  <a:t>form</a:t>
                </a:r>
                <a:r>
                  <a:rPr lang="en-US" dirty="0"/>
                  <a:t> </a:t>
                </a:r>
                <a14:m>
                  <m:oMath xmlns:m="http://schemas.openxmlformats.org/officeDocument/2006/math">
                    <m:r>
                      <a:rPr lang="en-US" i="1" dirty="0" smtClean="0">
                        <a:solidFill>
                          <a:srgbClr val="FF0000"/>
                        </a:solidFill>
                        <a:latin typeface="Cambria Math"/>
                      </a:rPr>
                      <m:t>𝑎</m:t>
                    </m:r>
                    <m:r>
                      <a:rPr lang="en-US" i="1" baseline="-25000" dirty="0">
                        <a:solidFill>
                          <a:srgbClr val="FF0000"/>
                        </a:solidFill>
                        <a:latin typeface="Cambria Math"/>
                      </a:rPr>
                      <m:t>𝑛</m:t>
                    </m:r>
                    <m:r>
                      <a:rPr lang="en-US" i="1" dirty="0">
                        <a:solidFill>
                          <a:srgbClr val="FF0000"/>
                        </a:solidFill>
                        <a:latin typeface="Cambria Math"/>
                      </a:rPr>
                      <m:t>=</m:t>
                    </m:r>
                    <m:r>
                      <a:rPr lang="en-US" i="1" dirty="0" err="1">
                        <a:solidFill>
                          <a:srgbClr val="FF0000"/>
                        </a:solidFill>
                        <a:latin typeface="Cambria Math"/>
                      </a:rPr>
                      <m:t>𝑟</m:t>
                    </m:r>
                    <m:r>
                      <a:rPr lang="en-US" i="1" baseline="30000" dirty="0" err="1">
                        <a:solidFill>
                          <a:srgbClr val="FF0000"/>
                        </a:solidFill>
                        <a:latin typeface="Cambria Math"/>
                      </a:rPr>
                      <m:t>𝑛</m:t>
                    </m:r>
                  </m:oMath>
                </a14:m>
                <a:r>
                  <a:rPr lang="en-US" dirty="0"/>
                  <a:t>, in </a:t>
                </a:r>
                <a:r>
                  <a:rPr lang="en-US" dirty="0" err="1"/>
                  <a:t>which</a:t>
                </a:r>
                <a:r>
                  <a:rPr lang="en-US" dirty="0"/>
                  <a:t> </a:t>
                </a:r>
                <a14:m>
                  <m:oMath xmlns:m="http://schemas.openxmlformats.org/officeDocument/2006/math">
                    <m:r>
                      <a:rPr lang="en-US" i="1" dirty="0" smtClean="0">
                        <a:solidFill>
                          <a:srgbClr val="FF0000"/>
                        </a:solidFill>
                        <a:latin typeface="Cambria Math"/>
                      </a:rPr>
                      <m:t>𝑟</m:t>
                    </m:r>
                  </m:oMath>
                </a14:m>
                <a:r>
                  <a:rPr lang="en-US" dirty="0"/>
                  <a:t> is a constant. Note that, </a:t>
                </a:r>
                <a14:m>
                  <m:oMath xmlns:m="http://schemas.openxmlformats.org/officeDocument/2006/math">
                    <m:r>
                      <a:rPr lang="en-US" i="1" dirty="0" smtClean="0">
                        <a:latin typeface="Cambria Math"/>
                      </a:rPr>
                      <m:t>𝑎</m:t>
                    </m:r>
                    <m:r>
                      <a:rPr lang="en-US" i="1" baseline="-25000" dirty="0">
                        <a:latin typeface="Cambria Math"/>
                      </a:rPr>
                      <m:t>𝑛</m:t>
                    </m:r>
                    <m:r>
                      <a:rPr lang="en-US" i="1" dirty="0">
                        <a:latin typeface="Cambria Math"/>
                      </a:rPr>
                      <m:t>= </m:t>
                    </m:r>
                    <m:r>
                      <a:rPr lang="en-US" i="1" dirty="0" err="1">
                        <a:latin typeface="Cambria Math"/>
                      </a:rPr>
                      <m:t>𝑟</m:t>
                    </m:r>
                    <m:r>
                      <a:rPr lang="en-US" i="1" baseline="30000" dirty="0" err="1">
                        <a:latin typeface="Cambria Math"/>
                      </a:rPr>
                      <m:t>𝑛</m:t>
                    </m:r>
                    <m:r>
                      <a:rPr lang="en-US" i="1" dirty="0">
                        <a:latin typeface="Cambria Math"/>
                      </a:rPr>
                      <m:t> </m:t>
                    </m:r>
                  </m:oMath>
                </a14:m>
                <a:r>
                  <a:rPr lang="en-US" dirty="0"/>
                  <a:t> is the root of recurrence relation if and only if:</a:t>
                </a:r>
              </a:p>
              <a:p>
                <a:pPr marL="0"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a:rPr>
                            <m:t>𝑟</m:t>
                          </m:r>
                        </m:e>
                        <m:sup>
                          <m:r>
                            <a:rPr lang="en-US" b="0" i="1" smtClean="0">
                              <a:latin typeface="Cambria Math"/>
                            </a:rPr>
                            <m:t>𝑛</m:t>
                          </m:r>
                        </m:sup>
                      </m:sSup>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𝑐</m:t>
                          </m:r>
                        </m:e>
                        <m:sub>
                          <m:r>
                            <a:rPr lang="en-US" b="0" i="1" smtClean="0">
                              <a:latin typeface="Cambria Math"/>
                            </a:rPr>
                            <m:t>1</m:t>
                          </m:r>
                        </m:sub>
                      </m:sSub>
                      <m:sSup>
                        <m:sSupPr>
                          <m:ctrlPr>
                            <a:rPr lang="en-US" b="0" i="1" smtClean="0">
                              <a:latin typeface="Cambria Math" panose="02040503050406030204" pitchFamily="18" charset="0"/>
                            </a:rPr>
                          </m:ctrlPr>
                        </m:sSupPr>
                        <m:e>
                          <m:r>
                            <a:rPr lang="en-US" b="0" i="1" smtClean="0">
                              <a:latin typeface="Cambria Math"/>
                            </a:rPr>
                            <m:t>𝑟</m:t>
                          </m:r>
                        </m:e>
                        <m:sup>
                          <m:r>
                            <a:rPr lang="en-US" b="0" i="1" smtClean="0">
                              <a:latin typeface="Cambria Math"/>
                            </a:rPr>
                            <m:t>𝑛</m:t>
                          </m:r>
                          <m:r>
                            <a:rPr lang="en-US" b="0" i="1" smtClean="0">
                              <a:latin typeface="Cambria Math"/>
                            </a:rPr>
                            <m:t>−1</m:t>
                          </m:r>
                        </m:sup>
                      </m:sSup>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𝑐</m:t>
                          </m:r>
                        </m:e>
                        <m:sub>
                          <m:r>
                            <a:rPr lang="en-US" b="0" i="1" smtClean="0">
                              <a:latin typeface="Cambria Math"/>
                            </a:rPr>
                            <m:t>2</m:t>
                          </m:r>
                        </m:sub>
                      </m:sSub>
                      <m:sSup>
                        <m:sSupPr>
                          <m:ctrlPr>
                            <a:rPr lang="en-US" b="0" i="1" smtClean="0">
                              <a:latin typeface="Cambria Math" panose="02040503050406030204" pitchFamily="18" charset="0"/>
                            </a:rPr>
                          </m:ctrlPr>
                        </m:sSupPr>
                        <m:e>
                          <m:r>
                            <a:rPr lang="en-US" b="0" i="1" smtClean="0">
                              <a:latin typeface="Cambria Math"/>
                            </a:rPr>
                            <m:t>𝑟</m:t>
                          </m:r>
                        </m:e>
                        <m:sup>
                          <m:r>
                            <a:rPr lang="en-US" b="0" i="1" smtClean="0">
                              <a:latin typeface="Cambria Math"/>
                            </a:rPr>
                            <m:t>𝑛</m:t>
                          </m:r>
                          <m:r>
                            <a:rPr lang="en-US" b="0" i="1" smtClean="0">
                              <a:latin typeface="Cambria Math"/>
                            </a:rPr>
                            <m:t>−2</m:t>
                          </m:r>
                        </m:sup>
                      </m:sSup>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𝑐</m:t>
                          </m:r>
                        </m:e>
                        <m:sub>
                          <m:r>
                            <a:rPr lang="en-US" b="0" i="1" smtClean="0">
                              <a:latin typeface="Cambria Math"/>
                            </a:rPr>
                            <m:t>𝑘</m:t>
                          </m:r>
                        </m:sub>
                      </m:sSub>
                      <m:sSup>
                        <m:sSupPr>
                          <m:ctrlPr>
                            <a:rPr lang="en-US" b="0" i="1" smtClean="0">
                              <a:latin typeface="Cambria Math" panose="02040503050406030204" pitchFamily="18" charset="0"/>
                            </a:rPr>
                          </m:ctrlPr>
                        </m:sSupPr>
                        <m:e>
                          <m:r>
                            <a:rPr lang="en-US" b="0" i="1" smtClean="0">
                              <a:latin typeface="Cambria Math"/>
                            </a:rPr>
                            <m:t>𝑟</m:t>
                          </m:r>
                        </m:e>
                        <m:sup>
                          <m:r>
                            <a:rPr lang="en-US" b="0" i="1" smtClean="0">
                              <a:latin typeface="Cambria Math"/>
                            </a:rPr>
                            <m:t>𝑛</m:t>
                          </m:r>
                          <m:r>
                            <a:rPr lang="en-US" b="0" i="1" smtClean="0">
                              <a:latin typeface="Cambria Math"/>
                            </a:rPr>
                            <m:t>−</m:t>
                          </m:r>
                          <m:r>
                            <a:rPr lang="en-US" b="0" i="1" smtClean="0">
                              <a:latin typeface="Cambria Math"/>
                            </a:rPr>
                            <m:t>𝑘</m:t>
                          </m:r>
                        </m:sup>
                      </m:sSup>
                    </m:oMath>
                  </m:oMathPara>
                </a14:m>
                <a:endParaRPr lang="en-US" dirty="0"/>
              </a:p>
              <a:p>
                <a:pPr marL="0" indent="0">
                  <a:buNone/>
                </a:pPr>
                <a14:m>
                  <m:oMathPara xmlns:m="http://schemas.openxmlformats.org/officeDocument/2006/math">
                    <m:oMathParaPr>
                      <m:jc m:val="centerGroup"/>
                    </m:oMathParaPr>
                    <m:oMath xmlns:m="http://schemas.openxmlformats.org/officeDocument/2006/math">
                      <m:sSup>
                        <m:sSupPr>
                          <m:ctrlPr>
                            <a:rPr lang="en-US" i="1" smtClean="0">
                              <a:solidFill>
                                <a:srgbClr val="FF0000"/>
                              </a:solidFill>
                              <a:latin typeface="Cambria Math" panose="02040503050406030204" pitchFamily="18" charset="0"/>
                            </a:rPr>
                          </m:ctrlPr>
                        </m:sSupPr>
                        <m:e>
                          <m:r>
                            <a:rPr lang="en-US" i="1">
                              <a:solidFill>
                                <a:srgbClr val="FF0000"/>
                              </a:solidFill>
                              <a:latin typeface="Cambria Math"/>
                            </a:rPr>
                            <m:t>𝑟</m:t>
                          </m:r>
                        </m:e>
                        <m:sup>
                          <m:r>
                            <a:rPr lang="en-US" b="0" i="1" smtClean="0">
                              <a:solidFill>
                                <a:srgbClr val="FF0000"/>
                              </a:solidFill>
                              <a:latin typeface="Cambria Math"/>
                            </a:rPr>
                            <m:t>𝑘</m:t>
                          </m:r>
                        </m:sup>
                      </m:sSup>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b="0" i="1" smtClean="0">
                              <a:solidFill>
                                <a:srgbClr val="FF0000"/>
                              </a:solidFill>
                              <a:latin typeface="Cambria Math"/>
                            </a:rPr>
                            <m:t>𝑘</m:t>
                          </m:r>
                          <m:r>
                            <a:rPr lang="en-US" i="1">
                              <a:solidFill>
                                <a:srgbClr val="FF0000"/>
                              </a:solidFill>
                              <a:latin typeface="Cambria Math"/>
                            </a:rPr>
                            <m:t>−1</m:t>
                          </m:r>
                        </m:sup>
                      </m:sSup>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b="0" i="1" smtClean="0">
                              <a:solidFill>
                                <a:srgbClr val="FF0000"/>
                              </a:solidFill>
                              <a:latin typeface="Cambria Math"/>
                            </a:rPr>
                            <m:t>𝑘</m:t>
                          </m:r>
                          <m:r>
                            <a:rPr lang="en-US" i="1">
                              <a:solidFill>
                                <a:srgbClr val="FF0000"/>
                              </a:solidFill>
                              <a:latin typeface="Cambria Math"/>
                            </a:rPr>
                            <m:t>−2</m:t>
                          </m:r>
                        </m:sup>
                      </m:sSup>
                      <m:r>
                        <a:rPr lang="en-US" b="0" i="1" smtClean="0">
                          <a:solidFill>
                            <a:srgbClr val="FF0000"/>
                          </a:solidFill>
                          <a:latin typeface="Cambria Math"/>
                        </a:rPr>
                        <m:t>−</m:t>
                      </m:r>
                      <m:r>
                        <a:rPr lang="en-US" i="1">
                          <a:solidFill>
                            <a:srgbClr val="FF0000"/>
                          </a:solidFill>
                          <a:latin typeface="Cambria Math"/>
                        </a:rPr>
                        <m:t>…</m:t>
                      </m:r>
                      <m:r>
                        <a:rPr lang="en-US" b="0" i="1" smtClean="0">
                          <a:solidFill>
                            <a:srgbClr val="FF0000"/>
                          </a:solidFill>
                          <a:latin typeface="Cambria Math"/>
                        </a:rPr>
                        <m:t>−</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𝑘</m:t>
                          </m:r>
                        </m:sub>
                      </m:sSub>
                      <m:r>
                        <a:rPr lang="en-US" b="0" i="1" smtClean="0">
                          <a:solidFill>
                            <a:srgbClr val="FF0000"/>
                          </a:solidFill>
                          <a:latin typeface="Cambria Math"/>
                        </a:rPr>
                        <m:t>=0</m:t>
                      </m:r>
                    </m:oMath>
                  </m:oMathPara>
                </a14:m>
                <a:endParaRPr lang="en-US" dirty="0">
                  <a:solidFill>
                    <a:srgbClr val="FF0000"/>
                  </a:solidFill>
                </a:endParaRP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Box 14"/>
              <p:cNvSpPr txBox="1">
                <a:spLocks noChangeArrowheads="1"/>
              </p:cNvSpPr>
              <p:nvPr/>
            </p:nvSpPr>
            <p:spPr bwMode="auto">
              <a:xfrm>
                <a:off x="7239000" y="2721000"/>
                <a:ext cx="533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b="0" i="1" dirty="0" smtClean="0">
                          <a:latin typeface="Cambria Math"/>
                        </a:rPr>
                        <m:t>3</m:t>
                      </m:r>
                      <m:r>
                        <a:rPr lang="en-US" i="1" dirty="0">
                          <a:latin typeface="Cambria Math"/>
                        </a:rPr>
                        <m:t>)</m:t>
                      </m:r>
                    </m:oMath>
                  </m:oMathPara>
                </a14:m>
                <a:endParaRPr lang="en-US" dirty="0"/>
              </a:p>
            </p:txBody>
          </p:sp>
        </mc:Choice>
        <mc:Fallback xmlns="">
          <p:sp>
            <p:nvSpPr>
              <p:cNvPr id="6" name="Text Box 14"/>
              <p:cNvSpPr txBox="1">
                <a:spLocks noRot="1" noChangeAspect="1" noMove="1" noResize="1" noEditPoints="1" noAdjustHandles="1" noChangeArrowheads="1" noChangeShapeType="1" noTextEdit="1"/>
              </p:cNvSpPr>
              <p:nvPr/>
            </p:nvSpPr>
            <p:spPr bwMode="auto">
              <a:xfrm>
                <a:off x="7239000" y="2721000"/>
                <a:ext cx="533400" cy="369332"/>
              </a:xfrm>
              <a:prstGeom prst="rect">
                <a:avLst/>
              </a:prstGeom>
              <a:blipFill rotWithShape="1">
                <a:blip r:embed="rId3"/>
                <a:stretch>
                  <a:fillRect r="-2299" b="-131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 Box 14"/>
              <p:cNvSpPr txBox="1">
                <a:spLocks noChangeArrowheads="1"/>
              </p:cNvSpPr>
              <p:nvPr/>
            </p:nvSpPr>
            <p:spPr bwMode="auto">
              <a:xfrm>
                <a:off x="7239000" y="3090332"/>
                <a:ext cx="533400" cy="3693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pPr>
                <a14:m>
                  <m:oMathPara xmlns:m="http://schemas.openxmlformats.org/officeDocument/2006/math">
                    <m:oMathParaPr>
                      <m:jc m:val="centerGroup"/>
                    </m:oMathParaPr>
                    <m:oMath xmlns:m="http://schemas.openxmlformats.org/officeDocument/2006/math">
                      <m:r>
                        <a:rPr lang="en-US" i="1" dirty="0" smtClean="0">
                          <a:latin typeface="Cambria Math"/>
                        </a:rPr>
                        <m:t>(</m:t>
                      </m:r>
                      <m:r>
                        <a:rPr lang="en-US" b="0" i="1" dirty="0" smtClean="0">
                          <a:latin typeface="Cambria Math"/>
                        </a:rPr>
                        <m:t>4</m:t>
                      </m:r>
                      <m:r>
                        <a:rPr lang="en-US" i="1" dirty="0">
                          <a:latin typeface="Cambria Math"/>
                        </a:rPr>
                        <m:t>)</m:t>
                      </m:r>
                    </m:oMath>
                  </m:oMathPara>
                </a14:m>
                <a:endParaRPr lang="en-US" dirty="0"/>
              </a:p>
            </p:txBody>
          </p:sp>
        </mc:Choice>
        <mc:Fallback xmlns="">
          <p:sp>
            <p:nvSpPr>
              <p:cNvPr id="7" name="Text Box 14"/>
              <p:cNvSpPr txBox="1">
                <a:spLocks noRot="1" noChangeAspect="1" noMove="1" noResize="1" noEditPoints="1" noAdjustHandles="1" noChangeArrowheads="1" noChangeShapeType="1" noTextEdit="1"/>
              </p:cNvSpPr>
              <p:nvPr/>
            </p:nvSpPr>
            <p:spPr bwMode="auto">
              <a:xfrm>
                <a:off x="7239000" y="3090332"/>
                <a:ext cx="533400" cy="369332"/>
              </a:xfrm>
              <a:prstGeom prst="rect">
                <a:avLst/>
              </a:prstGeom>
              <a:blipFill rotWithShape="1">
                <a:blip r:embed="rId4"/>
                <a:stretch>
                  <a:fillRect r="-2299" b="-1311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8" name="Rounded Rectangular Callout 7"/>
          <p:cNvSpPr/>
          <p:nvPr/>
        </p:nvSpPr>
        <p:spPr>
          <a:xfrm>
            <a:off x="5709138" y="4610100"/>
            <a:ext cx="3130063" cy="838200"/>
          </a:xfrm>
          <a:prstGeom prst="wedgeRoundRectCallout">
            <a:avLst>
              <a:gd name="adj1" fmla="val -23088"/>
              <a:gd name="adj2" fmla="val -196246"/>
              <a:gd name="adj3" fmla="val 16667"/>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rgbClr val="FF0000"/>
                </a:solidFill>
                <a:latin typeface="Tahoma" pitchFamily="34" charset="0"/>
                <a:ea typeface="Tahoma" pitchFamily="34" charset="0"/>
                <a:cs typeface="Tahoma" pitchFamily="34" charset="0"/>
              </a:rPr>
              <a:t>Charateristic</a:t>
            </a:r>
            <a:r>
              <a:rPr lang="en-US" sz="2000" dirty="0">
                <a:solidFill>
                  <a:srgbClr val="FF0000"/>
                </a:solidFill>
                <a:latin typeface="Tahoma" pitchFamily="34" charset="0"/>
                <a:ea typeface="Tahoma" pitchFamily="34" charset="0"/>
                <a:cs typeface="Tahoma" pitchFamily="34" charset="0"/>
              </a:rPr>
              <a:t> equation</a:t>
            </a:r>
          </a:p>
        </p:txBody>
      </p:sp>
    </p:spTree>
    <p:extLst>
      <p:ext uri="{BB962C8B-B14F-4D97-AF65-F5344CB8AC3E}">
        <p14:creationId xmlns:p14="http://schemas.microsoft.com/office/powerpoint/2010/main" val="13091470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distinct root</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Theorem</a:t>
                </a:r>
                <a:r>
                  <a:rPr lang="en-US" dirty="0"/>
                  <a:t>: Give </a:t>
                </a:r>
                <a14:m>
                  <m:oMath xmlns:m="http://schemas.openxmlformats.org/officeDocument/2006/math">
                    <m:r>
                      <a:rPr lang="en-US" i="1" dirty="0">
                        <a:latin typeface="Cambria Math"/>
                      </a:rPr>
                      <m:t>𝑐</m:t>
                    </m:r>
                    <m:r>
                      <a:rPr lang="en-US" i="1" baseline="-25000" dirty="0">
                        <a:latin typeface="Cambria Math"/>
                      </a:rPr>
                      <m:t>1</m:t>
                    </m:r>
                    <m:r>
                      <a:rPr lang="en-US" i="1" dirty="0">
                        <a:latin typeface="Cambria Math"/>
                      </a:rPr>
                      <m:t>, </m:t>
                    </m:r>
                    <m:r>
                      <a:rPr lang="en-US" i="1" dirty="0">
                        <a:latin typeface="Cambria Math"/>
                      </a:rPr>
                      <m:t>𝑐</m:t>
                    </m:r>
                    <m:r>
                      <a:rPr lang="en-US" i="1" baseline="-25000" dirty="0">
                        <a:latin typeface="Cambria Math"/>
                      </a:rPr>
                      <m:t>2</m:t>
                    </m:r>
                    <m:r>
                      <a:rPr lang="en-US" i="1" dirty="0">
                        <a:latin typeface="Cambria Math"/>
                      </a:rPr>
                      <m:t> </m:t>
                    </m:r>
                  </m:oMath>
                </a14:m>
                <a:r>
                  <a:rPr lang="en-US" dirty="0"/>
                  <a:t>is 2 real numbers. Assume characteristic equation</a:t>
                </a: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b="0" i="1" smtClean="0">
                              <a:solidFill>
                                <a:srgbClr val="FF0000"/>
                              </a:solidFill>
                              <a:latin typeface="Cambria Math"/>
                            </a:rPr>
                            <m:t>2</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r>
                        <a:rPr lang="en-US" b="0" i="1" smtClean="0">
                          <a:solidFill>
                            <a:srgbClr val="FF0000"/>
                          </a:solidFill>
                          <a:latin typeface="Cambria Math"/>
                        </a:rPr>
                        <m:t>𝑟</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r>
                        <a:rPr lang="en-US" b="0" i="1" smtClean="0">
                          <a:solidFill>
                            <a:srgbClr val="FF0000"/>
                          </a:solidFill>
                          <a:latin typeface="Cambria Math"/>
                        </a:rPr>
                        <m:t>=0</m:t>
                      </m:r>
                    </m:oMath>
                  </m:oMathPara>
                </a14:m>
                <a:endParaRPr lang="en-US" dirty="0"/>
              </a:p>
              <a:p>
                <a:pPr marL="0" indent="0">
                  <a:buNone/>
                </a:pPr>
                <a:r>
                  <a:rPr lang="en-US" dirty="0"/>
                  <a:t>Has 2 distinct roots </a:t>
                </a:r>
                <a14:m>
                  <m:oMath xmlns:m="http://schemas.openxmlformats.org/officeDocument/2006/math">
                    <m:r>
                      <a:rPr lang="en-US" i="1" dirty="0" smtClean="0">
                        <a:latin typeface="Cambria Math"/>
                      </a:rPr>
                      <m:t>𝑟</m:t>
                    </m:r>
                    <m:r>
                      <a:rPr lang="en-US" i="1" baseline="-25000" dirty="0">
                        <a:latin typeface="Cambria Math"/>
                      </a:rPr>
                      <m:t>1</m:t>
                    </m:r>
                    <m:r>
                      <a:rPr lang="en-US" i="1" dirty="0">
                        <a:latin typeface="Cambria Math"/>
                      </a:rPr>
                      <m:t>, </m:t>
                    </m:r>
                    <m:r>
                      <a:rPr lang="en-US" i="1" dirty="0">
                        <a:latin typeface="Cambria Math"/>
                      </a:rPr>
                      <m:t>𝑟</m:t>
                    </m:r>
                    <m:r>
                      <a:rPr lang="en-US" i="1" baseline="-25000" dirty="0">
                        <a:latin typeface="Cambria Math"/>
                      </a:rPr>
                      <m:t>2</m:t>
                    </m:r>
                  </m:oMath>
                </a14:m>
                <a:r>
                  <a:rPr lang="en-US" dirty="0"/>
                  <a:t>. Then, sequence </a:t>
                </a:r>
                <a14:m>
                  <m:oMath xmlns:m="http://schemas.openxmlformats.org/officeDocument/2006/math">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sub>
                    </m:sSub>
                    <m:r>
                      <a:rPr lang="en-US" i="1" dirty="0">
                        <a:latin typeface="Cambria Math"/>
                      </a:rPr>
                      <m:t>}</m:t>
                    </m:r>
                  </m:oMath>
                </a14:m>
                <a:r>
                  <a:rPr lang="en-US" dirty="0"/>
                  <a:t> is the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if and only if</a:t>
                </a:r>
              </a:p>
              <a:p>
                <a:pPr marL="0" indent="0">
                  <a:buNone/>
                </a:pPr>
                <a14:m>
                  <m:oMathPara xmlns:m="http://schemas.openxmlformats.org/officeDocument/2006/math">
                    <m:oMathParaPr>
                      <m:jc m:val="centerGroup"/>
                    </m:oMathParaPr>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ea typeface="Cambria Math"/>
                            </a:rPr>
                            <m:t>𝛼</m:t>
                          </m:r>
                        </m:e>
                        <m:sub>
                          <m:r>
                            <a:rPr lang="en-US" b="0" i="1" smtClean="0">
                              <a:solidFill>
                                <a:srgbClr val="FF0000"/>
                              </a:solidFill>
                              <a:latin typeface="Cambria Math"/>
                            </a:rPr>
                            <m:t>1</m:t>
                          </m:r>
                        </m:sub>
                      </m:sSub>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𝑟</m:t>
                          </m:r>
                        </m:e>
                        <m:sub>
                          <m:r>
                            <a:rPr lang="en-US" i="1">
                              <a:solidFill>
                                <a:srgbClr val="FF0000"/>
                              </a:solidFill>
                              <a:latin typeface="Cambria Math"/>
                            </a:rPr>
                            <m:t>1</m:t>
                          </m:r>
                        </m:sub>
                        <m:sup>
                          <m:r>
                            <a:rPr lang="en-US" i="1">
                              <a:solidFill>
                                <a:srgbClr val="FF0000"/>
                              </a:solidFill>
                              <a:latin typeface="Cambria Math"/>
                            </a:rPr>
                            <m:t>𝑛</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b="0" i="1" smtClean="0">
                                  <a:solidFill>
                                    <a:srgbClr val="FF0000"/>
                                  </a:solidFill>
                                  <a:latin typeface="Cambria Math"/>
                                </a:rPr>
                                <m:t>2</m:t>
                              </m:r>
                            </m:sub>
                          </m:sSub>
                          <m:r>
                            <a:rPr lang="en-US" i="1">
                              <a:solidFill>
                                <a:srgbClr val="FF0000"/>
                              </a:solidFill>
                              <a:latin typeface="Cambria Math"/>
                            </a:rPr>
                            <m:t>𝑟</m:t>
                          </m:r>
                        </m:e>
                        <m:sub>
                          <m:r>
                            <a:rPr lang="en-US" b="0" i="1" smtClean="0">
                              <a:solidFill>
                                <a:srgbClr val="FF0000"/>
                              </a:solidFill>
                              <a:latin typeface="Cambria Math"/>
                            </a:rPr>
                            <m:t>2</m:t>
                          </m:r>
                        </m:sub>
                        <m:sup>
                          <m:r>
                            <a:rPr lang="en-US" i="1">
                              <a:solidFill>
                                <a:srgbClr val="FF0000"/>
                              </a:solidFill>
                              <a:latin typeface="Cambria Math"/>
                            </a:rPr>
                            <m:t>𝑛</m:t>
                          </m:r>
                        </m:sup>
                      </m:sSubSup>
                    </m:oMath>
                  </m:oMathPara>
                </a14:m>
                <a:endParaRPr lang="en-US" dirty="0"/>
              </a:p>
              <a:p>
                <a:pPr marL="0" indent="0">
                  <a:buNone/>
                </a:pPr>
                <a:r>
                  <a:rPr lang="en-US" dirty="0"/>
                  <a:t>Where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oMath>
                </a14:m>
                <a:r>
                  <a:rPr lang="en-US" dirty="0"/>
                  <a:t> are constants.</a:t>
                </a:r>
              </a:p>
              <a:p>
                <a:pPr marL="0" indent="0">
                  <a:buNone/>
                </a:pPr>
                <a:r>
                  <a:rPr lang="en-US" dirty="0"/>
                  <a:t>To find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oMath>
                </a14:m>
                <a:r>
                  <a:rPr lang="en-US" dirty="0"/>
                  <a:t> we use initial conditions</a:t>
                </a:r>
              </a:p>
              <a:p>
                <a:pPr marL="0" indent="0">
                  <a:buNone/>
                </a:pP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a:stretch>
              </a:blipFill>
            </p:spPr>
            <p:txBody>
              <a:bodyPr/>
              <a:lstStyle/>
              <a:p>
                <a:r>
                  <a:rPr lang="en-US">
                    <a:noFill/>
                  </a:rPr>
                  <a:t> </a:t>
                </a:r>
              </a:p>
            </p:txBody>
          </p:sp>
        </mc:Fallback>
      </mc:AlternateContent>
    </p:spTree>
    <p:extLst>
      <p:ext uri="{BB962C8B-B14F-4D97-AF65-F5344CB8AC3E}">
        <p14:creationId xmlns:p14="http://schemas.microsoft.com/office/powerpoint/2010/main" val="631560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Find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r>
                        <a:rPr lang="en-US" b="0" i="1" smtClean="0">
                          <a:solidFill>
                            <a:srgbClr val="FF0000"/>
                          </a:solidFill>
                          <a:latin typeface="Cambria Math"/>
                        </a:rPr>
                        <m:t>2</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with </a:t>
                </a:r>
                <a14:m>
                  <m:oMath xmlns:m="http://schemas.openxmlformats.org/officeDocument/2006/math">
                    <m:r>
                      <a:rPr lang="en-US" i="1" dirty="0" smtClean="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=2, </m:t>
                    </m:r>
                    <m:r>
                      <a:rPr lang="en-US" i="1" dirty="0" smtClean="0">
                        <a:solidFill>
                          <a:srgbClr val="FF0000"/>
                        </a:solidFill>
                        <a:latin typeface="Cambria Math"/>
                      </a:rPr>
                      <m:t>𝑎</m:t>
                    </m:r>
                    <m:r>
                      <a:rPr lang="en-US" i="1" baseline="-25000" dirty="0" smtClean="0">
                        <a:solidFill>
                          <a:srgbClr val="FF0000"/>
                        </a:solidFill>
                        <a:latin typeface="Cambria Math"/>
                      </a:rPr>
                      <m:t>1</m:t>
                    </m:r>
                    <m:r>
                      <a:rPr lang="en-US" i="1" dirty="0">
                        <a:solidFill>
                          <a:srgbClr val="FF0000"/>
                        </a:solidFill>
                        <a:latin typeface="Cambria Math"/>
                      </a:rPr>
                      <m:t>=7</m:t>
                    </m:r>
                  </m:oMath>
                </a14:m>
                <a:r>
                  <a:rPr lang="en-US" dirty="0"/>
                  <a:t>. </a:t>
                </a:r>
              </a:p>
              <a:p>
                <a:pPr marL="0" indent="0">
                  <a:buNone/>
                </a:pP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n-US">
                    <a:noFill/>
                  </a:rPr>
                  <a:t> </a:t>
                </a:r>
              </a:p>
            </p:txBody>
          </p:sp>
        </mc:Fallback>
      </mc:AlternateContent>
    </p:spTree>
    <p:extLst>
      <p:ext uri="{BB962C8B-B14F-4D97-AF65-F5344CB8AC3E}">
        <p14:creationId xmlns:p14="http://schemas.microsoft.com/office/powerpoint/2010/main" val="789750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05400"/>
              </a:xfrm>
            </p:spPr>
            <p:txBody>
              <a:bodyPr>
                <a:normAutofit fontScale="92500"/>
              </a:bodyPr>
              <a:lstStyle/>
              <a:p>
                <a:r>
                  <a:rPr lang="en-US" b="1" dirty="0"/>
                  <a:t>Problem</a:t>
                </a:r>
                <a:r>
                  <a:rPr lang="en-US" dirty="0"/>
                  <a:t>: Find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r>
                        <a:rPr lang="en-US" b="0" i="1" smtClean="0">
                          <a:solidFill>
                            <a:srgbClr val="FF0000"/>
                          </a:solidFill>
                          <a:latin typeface="Cambria Math"/>
                        </a:rPr>
                        <m:t>2</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with </a:t>
                </a:r>
                <a14:m>
                  <m:oMath xmlns:m="http://schemas.openxmlformats.org/officeDocument/2006/math">
                    <m:r>
                      <a:rPr lang="en-US" i="1" dirty="0" smtClean="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=2, </m:t>
                    </m:r>
                    <m:r>
                      <a:rPr lang="en-US" i="1" dirty="0" smtClean="0">
                        <a:solidFill>
                          <a:srgbClr val="FF0000"/>
                        </a:solidFill>
                        <a:latin typeface="Cambria Math"/>
                      </a:rPr>
                      <m:t>𝑎</m:t>
                    </m:r>
                    <m:r>
                      <a:rPr lang="en-US" i="1" baseline="-25000" dirty="0" smtClean="0">
                        <a:solidFill>
                          <a:srgbClr val="FF0000"/>
                        </a:solidFill>
                        <a:latin typeface="Cambria Math"/>
                      </a:rPr>
                      <m:t>1</m:t>
                    </m:r>
                    <m:r>
                      <a:rPr lang="en-US" i="1" dirty="0">
                        <a:solidFill>
                          <a:srgbClr val="FF0000"/>
                        </a:solidFill>
                        <a:latin typeface="Cambria Math"/>
                      </a:rPr>
                      <m:t>=7</m:t>
                    </m:r>
                  </m:oMath>
                </a14:m>
                <a:r>
                  <a:rPr lang="en-US" dirty="0"/>
                  <a:t>. </a:t>
                </a:r>
              </a:p>
              <a:p>
                <a:pPr marL="0" indent="0">
                  <a:buNone/>
                </a:pPr>
                <a:r>
                  <a:rPr lang="en-US" b="1" dirty="0"/>
                  <a:t>Solution</a:t>
                </a:r>
                <a:r>
                  <a:rPr lang="en-US" dirty="0"/>
                  <a:t>:</a:t>
                </a:r>
              </a:p>
              <a:p>
                <a:pPr marL="0" indent="0">
                  <a:buNone/>
                </a:pPr>
                <a:r>
                  <a:rPr lang="en-US" dirty="0"/>
                  <a:t>Step 1: Find roots of characteristic equation </a:t>
                </a:r>
                <a:endParaRPr lang="en-US" i="1" dirty="0">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i="1">
                              <a:solidFill>
                                <a:srgbClr val="FF0000"/>
                              </a:solidFill>
                              <a:latin typeface="Cambria Math"/>
                            </a:rPr>
                            <m:t>2</m:t>
                          </m:r>
                        </m:sup>
                      </m:sSup>
                      <m:r>
                        <a:rPr lang="en-US" i="1">
                          <a:solidFill>
                            <a:srgbClr val="FF0000"/>
                          </a:solidFill>
                          <a:latin typeface="Cambria Math"/>
                        </a:rPr>
                        <m:t>−</m:t>
                      </m:r>
                      <m:r>
                        <a:rPr lang="en-US" i="1">
                          <a:solidFill>
                            <a:srgbClr val="FF0000"/>
                          </a:solidFill>
                          <a:latin typeface="Cambria Math"/>
                        </a:rPr>
                        <m:t>𝑟</m:t>
                      </m:r>
                      <m:r>
                        <a:rPr lang="en-US" i="1">
                          <a:solidFill>
                            <a:srgbClr val="FF0000"/>
                          </a:solidFill>
                          <a:latin typeface="Cambria Math"/>
                        </a:rPr>
                        <m:t>−2=0⇔</m:t>
                      </m:r>
                      <m:sSub>
                        <m:sSubPr>
                          <m:ctrlPr>
                            <a:rPr lang="en-US" i="1" smtClean="0">
                              <a:solidFill>
                                <a:srgbClr val="FF0000"/>
                              </a:solidFill>
                              <a:latin typeface="Cambria Math" panose="02040503050406030204" pitchFamily="18" charset="0"/>
                              <a:ea typeface="Cambria Math"/>
                            </a:rPr>
                          </m:ctrlPr>
                        </m:sSubPr>
                        <m:e>
                          <m:r>
                            <a:rPr lang="en-US" b="0" i="1" smtClean="0">
                              <a:solidFill>
                                <a:srgbClr val="FF0000"/>
                              </a:solidFill>
                              <a:latin typeface="Cambria Math"/>
                              <a:ea typeface="Cambria Math"/>
                            </a:rPr>
                            <m:t>𝑟</m:t>
                          </m:r>
                        </m:e>
                        <m:sub>
                          <m:r>
                            <a:rPr lang="en-US" b="0" i="1" smtClean="0">
                              <a:solidFill>
                                <a:srgbClr val="FF0000"/>
                              </a:solidFill>
                              <a:latin typeface="Cambria Math"/>
                              <a:ea typeface="Cambria Math"/>
                            </a:rPr>
                            <m:t>1</m:t>
                          </m:r>
                        </m:sub>
                      </m:sSub>
                      <m:r>
                        <a:rPr lang="en-US" b="0" i="1" smtClean="0">
                          <a:solidFill>
                            <a:srgbClr val="FF0000"/>
                          </a:solidFill>
                          <a:latin typeface="Cambria Math"/>
                          <a:ea typeface="Cambria Math"/>
                        </a:rPr>
                        <m:t>=2,</m:t>
                      </m:r>
                      <m:sSub>
                        <m:sSubPr>
                          <m:ctrlPr>
                            <a:rPr lang="en-US" b="0" i="1" smtClean="0">
                              <a:solidFill>
                                <a:srgbClr val="FF0000"/>
                              </a:solidFill>
                              <a:latin typeface="Cambria Math" panose="02040503050406030204" pitchFamily="18" charset="0"/>
                              <a:ea typeface="Cambria Math"/>
                            </a:rPr>
                          </m:ctrlPr>
                        </m:sSubPr>
                        <m:e>
                          <m:r>
                            <a:rPr lang="en-US" b="0" i="1" smtClean="0">
                              <a:solidFill>
                                <a:srgbClr val="FF0000"/>
                              </a:solidFill>
                              <a:latin typeface="Cambria Math"/>
                              <a:ea typeface="Cambria Math"/>
                            </a:rPr>
                            <m:t>𝑟</m:t>
                          </m:r>
                        </m:e>
                        <m:sub>
                          <m:r>
                            <a:rPr lang="en-US" b="0" i="1" smtClean="0">
                              <a:solidFill>
                                <a:srgbClr val="FF0000"/>
                              </a:solidFill>
                              <a:latin typeface="Cambria Math"/>
                              <a:ea typeface="Cambria Math"/>
                            </a:rPr>
                            <m:t>2</m:t>
                          </m:r>
                        </m:sub>
                      </m:sSub>
                      <m:r>
                        <a:rPr lang="en-US" b="0" i="1" smtClean="0">
                          <a:solidFill>
                            <a:srgbClr val="FF0000"/>
                          </a:solidFill>
                          <a:latin typeface="Cambria Math"/>
                          <a:ea typeface="Cambria Math"/>
                        </a:rPr>
                        <m:t>=−1.</m:t>
                      </m:r>
                    </m:oMath>
                  </m:oMathPara>
                </a14:m>
                <a:endParaRPr lang="en-US" dirty="0"/>
              </a:p>
              <a:p>
                <a:pPr marL="0" indent="0">
                  <a:buNone/>
                </a:pPr>
                <a:r>
                  <a:rPr lang="en-US" dirty="0"/>
                  <a:t>Step 2: Construct general formula for </a:t>
                </a:r>
                <a14:m>
                  <m:oMath xmlns:m="http://schemas.openxmlformats.org/officeDocument/2006/math">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m:t>
                        </m:r>
                        <m:r>
                          <a:rPr lang="en-US" i="1">
                            <a:solidFill>
                              <a:srgbClr val="FF0000"/>
                            </a:solidFill>
                            <a:latin typeface="Cambria Math"/>
                          </a:rPr>
                          <m:t>𝑎</m:t>
                        </m:r>
                      </m:e>
                      <m:sub>
                        <m:r>
                          <a:rPr lang="en-US" i="1">
                            <a:solidFill>
                              <a:srgbClr val="FF0000"/>
                            </a:solidFill>
                            <a:latin typeface="Cambria Math"/>
                          </a:rPr>
                          <m:t>𝑛</m:t>
                        </m:r>
                      </m:sub>
                    </m:sSub>
                    <m:r>
                      <a:rPr lang="en-US" b="0" i="1" smtClean="0">
                        <a:solidFill>
                          <a:srgbClr val="FF0000"/>
                        </a:solidFill>
                        <a:latin typeface="Cambria Math"/>
                      </a:rPr>
                      <m:t>}</m:t>
                    </m:r>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2</m:t>
                          </m:r>
                        </m:e>
                        <m:sup>
                          <m:r>
                            <a:rPr lang="en-US" b="0" i="1" smtClean="0">
                              <a:solidFill>
                                <a:srgbClr val="FF0000"/>
                              </a:solidFill>
                              <a:latin typeface="Cambria Math"/>
                            </a:rPr>
                            <m:t>𝑛</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b="0" i="1" smtClean="0">
                              <a:solidFill>
                                <a:srgbClr val="FF0000"/>
                              </a:solidFill>
                              <a:latin typeface="Cambria Math"/>
                            </a:rPr>
                            <m:t>2</m:t>
                          </m:r>
                        </m:sub>
                      </m:sSub>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(−1)</m:t>
                          </m:r>
                        </m:e>
                        <m:sup>
                          <m:r>
                            <a:rPr lang="en-US" i="1">
                              <a:solidFill>
                                <a:srgbClr val="FF0000"/>
                              </a:solidFill>
                              <a:latin typeface="Cambria Math"/>
                            </a:rPr>
                            <m:t>𝑛</m:t>
                          </m:r>
                        </m:sup>
                      </m:sSup>
                    </m:oMath>
                  </m:oMathPara>
                </a14:m>
                <a:endParaRPr lang="en-US" dirty="0"/>
              </a:p>
              <a:p>
                <a:pPr marL="0" indent="0">
                  <a:buNone/>
                </a:pPr>
                <a:r>
                  <a:rPr lang="en-US" dirty="0"/>
                  <a:t>Step 3: Determine constants base on initial conditions</a:t>
                </a:r>
              </a:p>
              <a:p>
                <a:pPr marL="0" indent="0">
                  <a:buNone/>
                </a:pPr>
                <a:endParaRPr lang="en-US" dirty="0"/>
              </a:p>
              <a:p>
                <a:pPr marL="0" indent="0">
                  <a:buNone/>
                </a:pPr>
                <a:endParaRPr lang="en-US" dirty="0"/>
              </a:p>
              <a:p>
                <a:pPr marL="0" indent="0">
                  <a:buNone/>
                </a:pPr>
                <a:r>
                  <a:rPr lang="en-US" dirty="0"/>
                  <a:t>Step 4: Complete root of recurrence relation </a:t>
                </a:r>
                <a:endParaRPr lang="en-US" i="1" dirty="0">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r>
                        <a:rPr lang="en-US" b="0" i="1" smtClean="0">
                          <a:solidFill>
                            <a:srgbClr val="FF0000"/>
                          </a:solidFill>
                          <a:latin typeface="Cambria Math"/>
                        </a:rPr>
                        <m:t>3.</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2</m:t>
                          </m:r>
                        </m:e>
                        <m:sup>
                          <m:r>
                            <a:rPr lang="en-US" i="1">
                              <a:solidFill>
                                <a:srgbClr val="FF0000"/>
                              </a:solidFill>
                              <a:latin typeface="Cambria Math"/>
                            </a:rPr>
                            <m:t>𝑛</m:t>
                          </m:r>
                        </m:sup>
                      </m:sSup>
                      <m:r>
                        <a:rPr lang="en-US" b="0" i="1" smtClean="0">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(−1)</m:t>
                          </m:r>
                        </m:e>
                        <m:sup>
                          <m:r>
                            <a:rPr lang="en-US" i="1">
                              <a:solidFill>
                                <a:srgbClr val="FF0000"/>
                              </a:solidFill>
                              <a:latin typeface="Cambria Math"/>
                            </a:rPr>
                            <m:t>𝑛</m:t>
                          </m:r>
                        </m:sup>
                      </m:sSup>
                    </m:oMath>
                  </m:oMathPara>
                </a14:m>
                <a:endParaRPr lang="en-US" dirty="0"/>
              </a:p>
              <a:p>
                <a:pPr marL="0" indent="0">
                  <a:buNone/>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05400"/>
              </a:xfrm>
              <a:blipFill>
                <a:blip r:embed="rId3"/>
                <a:stretch>
                  <a:fillRect l="-963" t="-716" b="-716"/>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2169520337"/>
              </p:ext>
            </p:extLst>
          </p:nvPr>
        </p:nvGraphicFramePr>
        <p:xfrm>
          <a:off x="2971800" y="4800600"/>
          <a:ext cx="2971800" cy="823913"/>
        </p:xfrm>
        <a:graphic>
          <a:graphicData uri="http://schemas.openxmlformats.org/presentationml/2006/ole">
            <mc:AlternateContent xmlns:mc="http://schemas.openxmlformats.org/markup-compatibility/2006">
              <mc:Choice xmlns:v="urn:schemas-microsoft-com:vml" Requires="v">
                <p:oleObj spid="_x0000_s6163" name="Equation" r:id="rId4" imgW="1816100" imgH="508000" progId="Equation.3">
                  <p:embed/>
                </p:oleObj>
              </mc:Choice>
              <mc:Fallback>
                <p:oleObj name="Equation" r:id="rId4" imgW="1816100" imgH="5080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4800600"/>
                        <a:ext cx="29718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10821877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Find root of recurrence relation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a:rPr>
                          <m:t>𝐹</m:t>
                        </m:r>
                      </m:e>
                      <m:sub>
                        <m:r>
                          <a:rPr lang="en-US" b="0" i="1" smtClean="0">
                            <a:solidFill>
                              <a:srgbClr val="FF0000"/>
                            </a:solidFill>
                            <a:latin typeface="Cambria Math"/>
                          </a:rPr>
                          <m:t>𝑛</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𝑛</m:t>
                        </m:r>
                        <m:r>
                          <a:rPr lang="en-US" b="0" i="1" smtClean="0">
                            <a:solidFill>
                              <a:srgbClr val="FF0000"/>
                            </a:solidFill>
                            <a:latin typeface="Cambria Math"/>
                          </a:rPr>
                          <m:t>−1</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i="1">
                            <a:solidFill>
                              <a:srgbClr val="FF0000"/>
                            </a:solidFill>
                            <a:latin typeface="Cambria Math"/>
                          </a:rPr>
                          <m:t>𝑛</m:t>
                        </m:r>
                        <m:r>
                          <a:rPr lang="en-US" b="0" i="1" smtClean="0">
                            <a:solidFill>
                              <a:srgbClr val="FF0000"/>
                            </a:solidFill>
                            <a:latin typeface="Cambria Math"/>
                          </a:rPr>
                          <m:t>−2</m:t>
                        </m:r>
                      </m:sub>
                    </m:sSub>
                  </m:oMath>
                </a14:m>
                <a:r>
                  <a:rPr lang="en-US" dirty="0"/>
                  <a:t>, </a:t>
                </a:r>
                <a14:m>
                  <m:oMath xmlns:m="http://schemas.openxmlformats.org/officeDocument/2006/math">
                    <m:r>
                      <a:rPr lang="en-US" b="0" i="1" dirty="0" smtClean="0">
                        <a:latin typeface="Cambria Math"/>
                      </a:rPr>
                      <m:t>𝑛</m:t>
                    </m:r>
                    <m:r>
                      <a:rPr lang="en-US" b="0" i="1" dirty="0" smtClean="0">
                        <a:latin typeface="Cambria Math"/>
                        <a:ea typeface="Cambria Math"/>
                      </a:rPr>
                      <m:t>≥2,</m:t>
                    </m:r>
                  </m:oMath>
                </a14:m>
                <a:endParaRPr lang="en-US" dirty="0"/>
              </a:p>
              <a:p>
                <a:pPr marL="0" indent="0">
                  <a:buNone/>
                </a:pPr>
                <a:r>
                  <a:rPr lang="en-US" dirty="0"/>
                  <a:t>with initial conditions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𝐹</m:t>
                        </m:r>
                      </m:e>
                      <m:sub>
                        <m:r>
                          <a:rPr lang="en-US" b="0" i="1" smtClean="0">
                            <a:solidFill>
                              <a:srgbClr val="FF0000"/>
                            </a:solidFill>
                            <a:latin typeface="Cambria Math"/>
                          </a:rPr>
                          <m:t>0</m:t>
                        </m:r>
                      </m:sub>
                    </m:sSub>
                    <m:r>
                      <a:rPr lang="en-US" b="0" i="1" smtClean="0">
                        <a:solidFill>
                          <a:srgbClr val="FF0000"/>
                        </a:solidFill>
                        <a:latin typeface="Cambria Math"/>
                      </a:rPr>
                      <m:t>=0,</m:t>
                    </m:r>
                  </m:oMath>
                </a14:m>
                <a:r>
                  <a:rPr lang="en-US" dirty="0">
                    <a:solidFill>
                      <a:srgbClr val="FF0000"/>
                    </a:solidFill>
                  </a:rPr>
                  <a:t>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𝐹</m:t>
                        </m:r>
                      </m:e>
                      <m:sub>
                        <m:r>
                          <a:rPr lang="en-US" b="0" i="1" smtClean="0">
                            <a:solidFill>
                              <a:srgbClr val="FF0000"/>
                            </a:solidFill>
                            <a:latin typeface="Cambria Math"/>
                          </a:rPr>
                          <m:t>1</m:t>
                        </m:r>
                      </m:sub>
                    </m:sSub>
                    <m:r>
                      <a:rPr lang="en-US" b="0" i="1" smtClean="0">
                        <a:solidFill>
                          <a:srgbClr val="FF0000"/>
                        </a:solidFill>
                        <a:latin typeface="Cambria Math"/>
                      </a:rPr>
                      <m:t>=1</m:t>
                    </m:r>
                    <m:r>
                      <a:rPr lang="en-US" b="0" i="1" smtClean="0">
                        <a:latin typeface="Cambria Math"/>
                      </a:rPr>
                      <m:t>.</m:t>
                    </m:r>
                  </m:oMath>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a:stretch>
              </a:blipFill>
            </p:spPr>
            <p:txBody>
              <a:bodyPr/>
              <a:lstStyle/>
              <a:p>
                <a:r>
                  <a:rPr lang="en-US">
                    <a:noFill/>
                  </a:rPr>
                  <a:t> </a:t>
                </a:r>
              </a:p>
            </p:txBody>
          </p:sp>
        </mc:Fallback>
      </mc:AlternateContent>
    </p:spTree>
    <p:extLst>
      <p:ext uri="{BB962C8B-B14F-4D97-AF65-F5344CB8AC3E}">
        <p14:creationId xmlns:p14="http://schemas.microsoft.com/office/powerpoint/2010/main" val="51698390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67</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Find roots of following recurrence relation satisfying initial conditions:</a:t>
                </a:r>
              </a:p>
              <a:p>
                <a:pPr marL="731520" lvl="1" indent="-457200">
                  <a:buFont typeface="+mj-lt"/>
                  <a:buAutoNum type="arabicParenR"/>
                </a:pP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𝑛</m:t>
                    </m:r>
                    <m:r>
                      <a:rPr lang="en-US" sz="2400" i="1" dirty="0">
                        <a:solidFill>
                          <a:srgbClr val="FF0000"/>
                        </a:solidFill>
                        <a:latin typeface="Cambria Math"/>
                      </a:rPr>
                      <m:t> =</m:t>
                    </m:r>
                    <m:sSub>
                      <m:sSubPr>
                        <m:ctrlPr>
                          <a:rPr lang="en-US" sz="2400" i="1" dirty="0" smtClean="0">
                            <a:solidFill>
                              <a:srgbClr val="FF0000"/>
                            </a:solidFill>
                            <a:latin typeface="Cambria Math" panose="02040503050406030204" pitchFamily="18" charset="0"/>
                          </a:rPr>
                        </m:ctrlPr>
                      </m:sSubPr>
                      <m:e>
                        <m:r>
                          <a:rPr lang="en-US" sz="2400" b="0" i="1" dirty="0" smtClean="0">
                            <a:solidFill>
                              <a:srgbClr val="FF0000"/>
                            </a:solidFill>
                            <a:latin typeface="Cambria Math"/>
                          </a:rPr>
                          <m:t>𝑎</m:t>
                        </m:r>
                      </m:e>
                      <m:sub>
                        <m:r>
                          <a:rPr lang="en-US" sz="2400" b="0" i="1" dirty="0" smtClean="0">
                            <a:solidFill>
                              <a:srgbClr val="FF0000"/>
                            </a:solidFill>
                            <a:latin typeface="Cambria Math"/>
                          </a:rPr>
                          <m:t>𝑛</m:t>
                        </m:r>
                        <m:r>
                          <a:rPr lang="en-US" sz="2400" b="0" i="1" dirty="0" smtClean="0">
                            <a:solidFill>
                              <a:srgbClr val="FF0000"/>
                            </a:solidFill>
                            <a:latin typeface="Cambria Math"/>
                          </a:rPr>
                          <m:t>−1</m:t>
                        </m:r>
                      </m:sub>
                    </m:sSub>
                    <m:r>
                      <a:rPr lang="en-US" sz="2400" i="1" dirty="0">
                        <a:solidFill>
                          <a:srgbClr val="FF0000"/>
                        </a:solidFill>
                        <a:latin typeface="Cambria Math"/>
                      </a:rPr>
                      <m:t>+6</m:t>
                    </m:r>
                    <m:sSub>
                      <m:sSubPr>
                        <m:ctrlPr>
                          <a:rPr lang="en-US" sz="2400" i="1" dirty="0" smtClean="0">
                            <a:solidFill>
                              <a:srgbClr val="FF0000"/>
                            </a:solidFill>
                            <a:latin typeface="Cambria Math" panose="02040503050406030204" pitchFamily="18" charset="0"/>
                          </a:rPr>
                        </m:ctrlPr>
                      </m:sSubPr>
                      <m:e>
                        <m:r>
                          <a:rPr lang="en-US" sz="2400" b="0" i="1" dirty="0" smtClean="0">
                            <a:solidFill>
                              <a:srgbClr val="FF0000"/>
                            </a:solidFill>
                            <a:latin typeface="Cambria Math"/>
                          </a:rPr>
                          <m:t>𝑎</m:t>
                        </m:r>
                      </m:e>
                      <m:sub>
                        <m:r>
                          <a:rPr lang="en-US" sz="2400" b="0" i="1" dirty="0" smtClean="0">
                            <a:solidFill>
                              <a:srgbClr val="FF0000"/>
                            </a:solidFill>
                            <a:latin typeface="Cambria Math"/>
                          </a:rPr>
                          <m:t>𝑛</m:t>
                        </m:r>
                        <m:r>
                          <a:rPr lang="en-US" sz="2400" b="0" i="1" dirty="0" smtClean="0">
                            <a:solidFill>
                              <a:srgbClr val="FF0000"/>
                            </a:solidFill>
                            <a:latin typeface="Cambria Math"/>
                          </a:rPr>
                          <m:t>−2</m:t>
                        </m:r>
                      </m:sub>
                    </m:sSub>
                    <m:r>
                      <a:rPr lang="en-US" sz="2400" i="1" dirty="0">
                        <a:latin typeface="Cambria Math"/>
                      </a:rPr>
                      <m:t> </m:t>
                    </m:r>
                  </m:oMath>
                </a14:m>
                <a:r>
                  <a:rPr lang="en-US" sz="2400" dirty="0"/>
                  <a:t>with </a:t>
                </a:r>
                <a14:m>
                  <m:oMath xmlns:m="http://schemas.openxmlformats.org/officeDocument/2006/math">
                    <m:r>
                      <a:rPr lang="en-US" sz="2400" i="1" dirty="0" smtClean="0">
                        <a:latin typeface="Cambria Math"/>
                      </a:rPr>
                      <m:t>𝑛</m:t>
                    </m:r>
                    <m:r>
                      <a:rPr lang="it-IT" sz="2400" i="1" dirty="0">
                        <a:latin typeface="Cambria Math"/>
                        <a:sym typeface="Symbol" pitchFamily="18" charset="2"/>
                      </a:rPr>
                      <m:t></m:t>
                    </m:r>
                    <m:r>
                      <a:rPr lang="en-US" sz="2400" i="1" dirty="0">
                        <a:latin typeface="Cambria Math"/>
                      </a:rPr>
                      <m:t>2</m:t>
                    </m:r>
                  </m:oMath>
                </a14:m>
                <a:r>
                  <a:rPr lang="en-US" sz="2400" dirty="0"/>
                  <a:t> and </a:t>
                </a: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0</m:t>
                    </m:r>
                    <m:r>
                      <a:rPr lang="en-US" sz="2400" i="1" dirty="0">
                        <a:solidFill>
                          <a:srgbClr val="FF0000"/>
                        </a:solidFill>
                        <a:latin typeface="Cambria Math"/>
                      </a:rPr>
                      <m:t>=3</m:t>
                    </m:r>
                    <m:r>
                      <a:rPr lang="en-US" sz="2400" b="0" i="1" dirty="0" smtClean="0">
                        <a:solidFill>
                          <a:srgbClr val="FF0000"/>
                        </a:solidFill>
                        <a:latin typeface="Cambria Math"/>
                      </a:rPr>
                      <m:t>,</m:t>
                    </m:r>
                    <m:r>
                      <a:rPr lang="en-US" sz="2400" i="1" dirty="0">
                        <a:solidFill>
                          <a:srgbClr val="FF0000"/>
                        </a:solidFill>
                        <a:latin typeface="Cambria Math"/>
                      </a:rPr>
                      <m:t> </m:t>
                    </m:r>
                    <m:r>
                      <a:rPr lang="en-US" sz="2400" i="1" dirty="0">
                        <a:solidFill>
                          <a:srgbClr val="FF0000"/>
                        </a:solidFill>
                        <a:latin typeface="Cambria Math"/>
                      </a:rPr>
                      <m:t>𝑎</m:t>
                    </m:r>
                    <m:r>
                      <a:rPr lang="en-US" sz="2400" i="1" baseline="-25000" dirty="0">
                        <a:solidFill>
                          <a:srgbClr val="FF0000"/>
                        </a:solidFill>
                        <a:latin typeface="Cambria Math"/>
                      </a:rPr>
                      <m:t>1</m:t>
                    </m:r>
                    <m:r>
                      <a:rPr lang="en-US" sz="2400" i="1" dirty="0">
                        <a:solidFill>
                          <a:srgbClr val="FF0000"/>
                        </a:solidFill>
                        <a:latin typeface="Cambria Math"/>
                      </a:rPr>
                      <m:t>=6</m:t>
                    </m:r>
                  </m:oMath>
                </a14:m>
                <a:r>
                  <a:rPr lang="en-US" sz="2400" dirty="0"/>
                  <a:t>.</a:t>
                </a:r>
              </a:p>
              <a:p>
                <a:pPr marL="731520" lvl="1" indent="-457200">
                  <a:buFont typeface="+mj-lt"/>
                  <a:buAutoNum type="arabicParenR"/>
                </a:pP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𝑛</m:t>
                    </m:r>
                    <m:r>
                      <a:rPr lang="en-US" sz="2400" i="1" dirty="0">
                        <a:solidFill>
                          <a:srgbClr val="FF0000"/>
                        </a:solidFill>
                        <a:latin typeface="Cambria Math"/>
                      </a:rPr>
                      <m:t> =7</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−1</m:t>
                        </m:r>
                      </m:sub>
                    </m:sSub>
                    <m:r>
                      <a:rPr lang="en-US" sz="2400" i="1" dirty="0">
                        <a:solidFill>
                          <a:srgbClr val="FF0000"/>
                        </a:solidFill>
                        <a:latin typeface="Cambria Math"/>
                      </a:rPr>
                      <m:t>−10</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−2 </m:t>
                        </m:r>
                      </m:sub>
                    </m:sSub>
                    <m:r>
                      <m:rPr>
                        <m:nor/>
                      </m:rPr>
                      <a:rPr lang="en-US" sz="2400" dirty="0"/>
                      <m:t>with</m:t>
                    </m:r>
                    <m:r>
                      <a:rPr lang="en-US" sz="2400" b="0" i="1" dirty="0" smtClean="0">
                        <a:latin typeface="Cambria Math" panose="02040503050406030204" pitchFamily="18" charset="0"/>
                      </a:rPr>
                      <m:t> </m:t>
                    </m:r>
                    <m:r>
                      <a:rPr lang="en-US" sz="2400" i="1" dirty="0" smtClean="0">
                        <a:latin typeface="Cambria Math"/>
                      </a:rPr>
                      <m:t>𝑛</m:t>
                    </m:r>
                    <m:r>
                      <a:rPr lang="it-IT" sz="2400" i="1" dirty="0">
                        <a:latin typeface="Cambria Math"/>
                        <a:sym typeface="Symbol" pitchFamily="18" charset="2"/>
                      </a:rPr>
                      <m:t></m:t>
                    </m:r>
                    <m:r>
                      <a:rPr lang="en-US" sz="2400" i="1" dirty="0">
                        <a:latin typeface="Cambria Math"/>
                      </a:rPr>
                      <m:t>2</m:t>
                    </m:r>
                  </m:oMath>
                </a14:m>
                <a:r>
                  <a:rPr lang="en-US" sz="2400" dirty="0"/>
                  <a:t> and </a:t>
                </a:r>
                <a14:m>
                  <m:oMath xmlns:m="http://schemas.openxmlformats.org/officeDocument/2006/math">
                    <m:r>
                      <a:rPr lang="en-US" sz="2400" i="1" dirty="0" smtClean="0">
                        <a:solidFill>
                          <a:srgbClr val="FF0000"/>
                        </a:solidFill>
                        <a:latin typeface="Cambria Math"/>
                      </a:rPr>
                      <m:t>𝑎</m:t>
                    </m:r>
                    <m:r>
                      <a:rPr lang="en-US" sz="2400" i="1" baseline="-25000" dirty="0" smtClean="0">
                        <a:solidFill>
                          <a:srgbClr val="FF0000"/>
                        </a:solidFill>
                        <a:latin typeface="Cambria Math"/>
                      </a:rPr>
                      <m:t>0</m:t>
                    </m:r>
                    <m:r>
                      <a:rPr lang="en-US" sz="2400" i="1" dirty="0">
                        <a:solidFill>
                          <a:srgbClr val="FF0000"/>
                        </a:solidFill>
                        <a:latin typeface="Cambria Math"/>
                      </a:rPr>
                      <m:t>=</m:t>
                    </m:r>
                    <m:r>
                      <a:rPr lang="en-US" sz="2400" i="1" dirty="0" smtClean="0">
                        <a:solidFill>
                          <a:srgbClr val="FF0000"/>
                        </a:solidFill>
                        <a:latin typeface="Cambria Math"/>
                      </a:rPr>
                      <m:t>2, </m:t>
                    </m:r>
                    <m:r>
                      <a:rPr lang="en-US" sz="2400" i="1" dirty="0">
                        <a:solidFill>
                          <a:srgbClr val="FF0000"/>
                        </a:solidFill>
                        <a:latin typeface="Cambria Math"/>
                      </a:rPr>
                      <m:t>𝑎</m:t>
                    </m:r>
                    <m:r>
                      <a:rPr lang="en-US" sz="2400" i="1" baseline="-25000" dirty="0">
                        <a:solidFill>
                          <a:srgbClr val="FF0000"/>
                        </a:solidFill>
                        <a:latin typeface="Cambria Math"/>
                      </a:rPr>
                      <m:t>1</m:t>
                    </m:r>
                    <m:r>
                      <a:rPr lang="en-US" sz="2400" i="1" dirty="0">
                        <a:solidFill>
                          <a:srgbClr val="FF0000"/>
                        </a:solidFill>
                        <a:latin typeface="Cambria Math"/>
                      </a:rPr>
                      <m:t>=1</m:t>
                    </m:r>
                  </m:oMath>
                </a14:m>
                <a:r>
                  <a:rPr lang="en-US" sz="2400" dirty="0"/>
                  <a:t>.</a:t>
                </a:r>
              </a:p>
              <a:p>
                <a:pPr marL="731520" lvl="1" indent="-457200">
                  <a:buFont typeface="+mj-lt"/>
                  <a:buAutoNum type="arabicParenR"/>
                </a:pP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𝑛</m:t>
                    </m:r>
                    <m:r>
                      <a:rPr lang="en-US" sz="2400" i="1" dirty="0">
                        <a:solidFill>
                          <a:srgbClr val="FF0000"/>
                        </a:solidFill>
                        <a:latin typeface="Cambria Math"/>
                      </a:rPr>
                      <m:t> =</m:t>
                    </m:r>
                    <m:r>
                      <a:rPr lang="en-US" sz="2400" b="0" i="1" dirty="0" smtClean="0">
                        <a:solidFill>
                          <a:srgbClr val="FF0000"/>
                        </a:solidFill>
                        <a:latin typeface="Cambria Math"/>
                      </a:rPr>
                      <m:t>13</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−1</m:t>
                        </m:r>
                      </m:sub>
                    </m:sSub>
                    <m:r>
                      <a:rPr lang="en-US" sz="2400" i="1" dirty="0">
                        <a:solidFill>
                          <a:srgbClr val="FF0000"/>
                        </a:solidFill>
                        <a:latin typeface="Cambria Math"/>
                      </a:rPr>
                      <m:t>−</m:t>
                    </m:r>
                    <m:r>
                      <a:rPr lang="en-US" sz="2400" b="0" i="1" dirty="0" smtClean="0">
                        <a:solidFill>
                          <a:srgbClr val="FF0000"/>
                        </a:solidFill>
                        <a:latin typeface="Cambria Math"/>
                      </a:rPr>
                      <m:t>22</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−2</m:t>
                        </m:r>
                      </m:sub>
                    </m:sSub>
                    <m:r>
                      <a:rPr lang="en-US" sz="2400" b="0" i="1" dirty="0" smtClean="0">
                        <a:solidFill>
                          <a:srgbClr val="FF0000"/>
                        </a:solidFill>
                        <a:latin typeface="Cambria Math" panose="02040503050406030204" pitchFamily="18" charset="0"/>
                      </a:rPr>
                      <m:t> </m:t>
                    </m:r>
                    <m:r>
                      <m:rPr>
                        <m:nor/>
                      </m:rPr>
                      <a:rPr lang="en-US" sz="2400" dirty="0"/>
                      <m:t>with</m:t>
                    </m:r>
                    <m:r>
                      <m:rPr>
                        <m:nor/>
                      </m:rPr>
                      <a:rPr lang="en-US" sz="2400" b="0" i="0" dirty="0" smtClean="0"/>
                      <m:t> </m:t>
                    </m:r>
                    <m:r>
                      <a:rPr lang="en-US" sz="2400" i="1" dirty="0">
                        <a:latin typeface="Cambria Math"/>
                      </a:rPr>
                      <m:t>𝑛</m:t>
                    </m:r>
                    <m:r>
                      <a:rPr lang="it-IT" sz="2400" i="1" dirty="0">
                        <a:latin typeface="Cambria Math"/>
                        <a:sym typeface="Symbol" pitchFamily="18" charset="2"/>
                      </a:rPr>
                      <m:t></m:t>
                    </m:r>
                    <m:r>
                      <a:rPr lang="en-US" sz="2400" i="1" dirty="0">
                        <a:latin typeface="Cambria Math"/>
                      </a:rPr>
                      <m:t>2</m:t>
                    </m:r>
                  </m:oMath>
                </a14:m>
                <a:r>
                  <a:rPr lang="en-US" sz="2400" dirty="0"/>
                  <a:t> and </a:t>
                </a: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0</m:t>
                    </m:r>
                    <m:r>
                      <a:rPr lang="en-US" sz="2400" i="1" dirty="0">
                        <a:solidFill>
                          <a:srgbClr val="FF0000"/>
                        </a:solidFill>
                        <a:latin typeface="Cambria Math"/>
                      </a:rPr>
                      <m:t>=</m:t>
                    </m:r>
                    <m:r>
                      <a:rPr lang="en-US" sz="2400" b="0" i="1" dirty="0" smtClean="0">
                        <a:solidFill>
                          <a:srgbClr val="FF0000"/>
                        </a:solidFill>
                        <a:latin typeface="Cambria Math"/>
                      </a:rPr>
                      <m:t>3</m:t>
                    </m:r>
                    <m:r>
                      <a:rPr lang="en-US" sz="2400" i="1" dirty="0">
                        <a:solidFill>
                          <a:srgbClr val="FF0000"/>
                        </a:solidFill>
                        <a:latin typeface="Cambria Math"/>
                      </a:rPr>
                      <m:t>, </m:t>
                    </m:r>
                    <m:r>
                      <a:rPr lang="en-US" sz="2400" i="1" dirty="0">
                        <a:solidFill>
                          <a:srgbClr val="FF0000"/>
                        </a:solidFill>
                        <a:latin typeface="Cambria Math"/>
                      </a:rPr>
                      <m:t>𝑎</m:t>
                    </m:r>
                    <m:r>
                      <a:rPr lang="en-US" sz="2400" i="1" baseline="-25000" dirty="0">
                        <a:solidFill>
                          <a:srgbClr val="FF0000"/>
                        </a:solidFill>
                        <a:latin typeface="Cambria Math"/>
                      </a:rPr>
                      <m:t>1</m:t>
                    </m:r>
                    <m:r>
                      <a:rPr lang="en-US" sz="2400" i="1" dirty="0">
                        <a:solidFill>
                          <a:srgbClr val="FF0000"/>
                        </a:solidFill>
                        <a:latin typeface="Cambria Math"/>
                      </a:rPr>
                      <m:t>=1</m:t>
                    </m:r>
                    <m:r>
                      <a:rPr lang="en-US" sz="2400" b="0" i="1" dirty="0" smtClean="0">
                        <a:solidFill>
                          <a:srgbClr val="FF0000"/>
                        </a:solidFill>
                        <a:latin typeface="Cambria Math"/>
                      </a:rPr>
                      <m:t>5</m:t>
                    </m:r>
                  </m:oMath>
                </a14:m>
                <a:r>
                  <a:rPr lang="en-US" sz="2400" dirty="0"/>
                  <a:t>.</a:t>
                </a:r>
              </a:p>
              <a:p>
                <a:pPr marL="731520" lvl="1" indent="-457200">
                  <a:buFont typeface="+mj-lt"/>
                  <a:buAutoNum type="arabicParenR"/>
                </a:pP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𝑛</m:t>
                    </m:r>
                    <m:r>
                      <a:rPr lang="en-US" sz="2400" i="1" dirty="0">
                        <a:solidFill>
                          <a:srgbClr val="FF0000"/>
                        </a:solidFill>
                        <a:latin typeface="Cambria Math"/>
                      </a:rPr>
                      <m:t> =</m:t>
                    </m:r>
                    <m:r>
                      <a:rPr lang="en-US" sz="2400" b="0" i="1" dirty="0" smtClean="0">
                        <a:solidFill>
                          <a:srgbClr val="FF0000"/>
                        </a:solidFill>
                        <a:latin typeface="Cambria Math"/>
                      </a:rPr>
                      <m:t>−</m:t>
                    </m:r>
                    <m:r>
                      <a:rPr lang="en-US" sz="2400" i="1" dirty="0">
                        <a:solidFill>
                          <a:srgbClr val="FF0000"/>
                        </a:solidFill>
                        <a:latin typeface="Cambria Math"/>
                      </a:rPr>
                      <m:t>13</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−1</m:t>
                        </m:r>
                      </m:sub>
                    </m:sSub>
                    <m:r>
                      <a:rPr lang="en-US" sz="2400" i="1" dirty="0">
                        <a:solidFill>
                          <a:srgbClr val="FF0000"/>
                        </a:solidFill>
                        <a:latin typeface="Cambria Math"/>
                      </a:rPr>
                      <m:t>−22</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−2</m:t>
                        </m:r>
                      </m:sub>
                    </m:sSub>
                    <m:r>
                      <a:rPr lang="en-US" sz="2400" b="0" i="1" dirty="0" smtClean="0">
                        <a:solidFill>
                          <a:srgbClr val="FF0000"/>
                        </a:solidFill>
                        <a:latin typeface="Cambria Math" panose="02040503050406030204" pitchFamily="18" charset="0"/>
                      </a:rPr>
                      <m:t> </m:t>
                    </m:r>
                    <m:r>
                      <m:rPr>
                        <m:nor/>
                      </m:rPr>
                      <a:rPr lang="en-US" sz="2400" dirty="0"/>
                      <m:t>with</m:t>
                    </m:r>
                    <m:r>
                      <m:rPr>
                        <m:nor/>
                      </m:rPr>
                      <a:rPr lang="en-US" sz="2400" b="0" i="0" dirty="0" smtClean="0"/>
                      <m:t> </m:t>
                    </m:r>
                    <m:r>
                      <a:rPr lang="en-US" sz="2400" i="1" dirty="0">
                        <a:latin typeface="Cambria Math"/>
                      </a:rPr>
                      <m:t>𝑛</m:t>
                    </m:r>
                    <m:r>
                      <a:rPr lang="it-IT" sz="2400" i="1" dirty="0">
                        <a:latin typeface="Cambria Math"/>
                        <a:sym typeface="Symbol" pitchFamily="18" charset="2"/>
                      </a:rPr>
                      <m:t></m:t>
                    </m:r>
                    <m:r>
                      <a:rPr lang="en-US" sz="2400" i="1" dirty="0">
                        <a:latin typeface="Cambria Math"/>
                      </a:rPr>
                      <m:t>2</m:t>
                    </m:r>
                  </m:oMath>
                </a14:m>
                <a:r>
                  <a:rPr lang="en-US" sz="2400" dirty="0"/>
                  <a:t> and </a:t>
                </a:r>
                <a14:m>
                  <m:oMath xmlns:m="http://schemas.openxmlformats.org/officeDocument/2006/math">
                    <m:r>
                      <a:rPr lang="en-US" sz="2400" i="1" dirty="0" smtClean="0">
                        <a:solidFill>
                          <a:srgbClr val="FF0000"/>
                        </a:solidFill>
                        <a:latin typeface="Cambria Math"/>
                      </a:rPr>
                      <m:t>𝑎</m:t>
                    </m:r>
                    <m:r>
                      <a:rPr lang="en-US" sz="2400" i="1" baseline="-25000" dirty="0">
                        <a:solidFill>
                          <a:srgbClr val="FF0000"/>
                        </a:solidFill>
                        <a:latin typeface="Cambria Math"/>
                      </a:rPr>
                      <m:t>0</m:t>
                    </m:r>
                    <m:r>
                      <a:rPr lang="en-US" sz="2400" i="1" dirty="0">
                        <a:solidFill>
                          <a:srgbClr val="FF0000"/>
                        </a:solidFill>
                        <a:latin typeface="Cambria Math"/>
                      </a:rPr>
                      <m:t>=3, </m:t>
                    </m:r>
                    <m:r>
                      <a:rPr lang="en-US" sz="2400" i="1" dirty="0">
                        <a:solidFill>
                          <a:srgbClr val="FF0000"/>
                        </a:solidFill>
                        <a:latin typeface="Cambria Math"/>
                      </a:rPr>
                      <m:t>𝑎</m:t>
                    </m:r>
                    <m:r>
                      <a:rPr lang="en-US" sz="2400" i="1" baseline="-25000" dirty="0">
                        <a:solidFill>
                          <a:srgbClr val="FF0000"/>
                        </a:solidFill>
                        <a:latin typeface="Cambria Math"/>
                      </a:rPr>
                      <m:t>1</m:t>
                    </m:r>
                    <m:r>
                      <a:rPr lang="en-US" sz="2400" i="1" dirty="0">
                        <a:solidFill>
                          <a:srgbClr val="FF0000"/>
                        </a:solidFill>
                        <a:latin typeface="Cambria Math"/>
                      </a:rPr>
                      <m:t>=15</m:t>
                    </m:r>
                  </m:oMath>
                </a14:m>
                <a:r>
                  <a:rPr lang="en-US" sz="2400" dirty="0"/>
                  <a:t>.</a:t>
                </a:r>
              </a:p>
              <a:p>
                <a:pPr marL="274320" lvl="1" indent="0">
                  <a:buNone/>
                </a:pPr>
                <a:endParaRPr lang="en-US" sz="2400"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370"/>
                </a:stretch>
              </a:blipFill>
            </p:spPr>
            <p:txBody>
              <a:bodyPr/>
              <a:lstStyle/>
              <a:p>
                <a:r>
                  <a:rPr lang="en-US">
                    <a:noFill/>
                  </a:rPr>
                  <a:t> </a:t>
                </a:r>
              </a:p>
            </p:txBody>
          </p:sp>
        </mc:Fallback>
      </mc:AlternateContent>
    </p:spTree>
    <p:extLst>
      <p:ext uri="{BB962C8B-B14F-4D97-AF65-F5344CB8AC3E}">
        <p14:creationId xmlns:p14="http://schemas.microsoft.com/office/powerpoint/2010/main" val="41079076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double root</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Theorem</a:t>
                </a:r>
                <a:r>
                  <a:rPr lang="en-US" dirty="0"/>
                  <a:t>: Give </a:t>
                </a:r>
                <a14:m>
                  <m:oMath xmlns:m="http://schemas.openxmlformats.org/officeDocument/2006/math">
                    <m:r>
                      <a:rPr lang="en-US" i="1" dirty="0">
                        <a:latin typeface="Cambria Math"/>
                      </a:rPr>
                      <m:t>𝑐</m:t>
                    </m:r>
                    <m:r>
                      <a:rPr lang="en-US" i="1" baseline="-25000" dirty="0">
                        <a:latin typeface="Cambria Math"/>
                      </a:rPr>
                      <m:t>1</m:t>
                    </m:r>
                    <m:r>
                      <a:rPr lang="en-US" i="1" dirty="0">
                        <a:latin typeface="Cambria Math"/>
                      </a:rPr>
                      <m:t>, </m:t>
                    </m:r>
                    <m:r>
                      <a:rPr lang="en-US" i="1" dirty="0">
                        <a:latin typeface="Cambria Math"/>
                      </a:rPr>
                      <m:t>𝑐</m:t>
                    </m:r>
                    <m:r>
                      <a:rPr lang="en-US" i="1" baseline="-25000" dirty="0">
                        <a:latin typeface="Cambria Math"/>
                      </a:rPr>
                      <m:t>2</m:t>
                    </m:r>
                    <m:r>
                      <a:rPr lang="en-US" i="1" dirty="0">
                        <a:latin typeface="Cambria Math"/>
                      </a:rPr>
                      <m:t> </m:t>
                    </m:r>
                  </m:oMath>
                </a14:m>
                <a:r>
                  <a:rPr lang="en-US" dirty="0"/>
                  <a:t>is 2 real numbers. Assume characteristic equation:</a:t>
                </a: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i="1">
                              <a:solidFill>
                                <a:srgbClr val="FF0000"/>
                              </a:solidFill>
                              <a:latin typeface="Cambria Math"/>
                            </a:rPr>
                            <m:t>2</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r>
                        <a:rPr lang="en-US" i="1">
                          <a:solidFill>
                            <a:srgbClr val="FF0000"/>
                          </a:solidFill>
                          <a:latin typeface="Cambria Math"/>
                        </a:rPr>
                        <m:t>𝑟</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r>
                        <a:rPr lang="en-US" i="1">
                          <a:solidFill>
                            <a:srgbClr val="FF0000"/>
                          </a:solidFill>
                          <a:latin typeface="Cambria Math"/>
                        </a:rPr>
                        <m:t>=0</m:t>
                      </m:r>
                    </m:oMath>
                  </m:oMathPara>
                </a14:m>
                <a:endParaRPr lang="en-US" dirty="0"/>
              </a:p>
              <a:p>
                <a:pPr marL="0" indent="0">
                  <a:buNone/>
                </a:pPr>
                <a:r>
                  <a:rPr lang="en-US" dirty="0"/>
                  <a:t>Has double root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a:rPr>
                          <m:t>𝑟</m:t>
                        </m:r>
                      </m:e>
                      <m:sub>
                        <m:r>
                          <a:rPr lang="en-US" b="0" i="1" smtClean="0">
                            <a:solidFill>
                              <a:srgbClr val="FF0000"/>
                            </a:solidFill>
                            <a:latin typeface="Cambria Math"/>
                          </a:rPr>
                          <m:t>0</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𝑟</m:t>
                        </m:r>
                      </m:e>
                      <m:sub>
                        <m:r>
                          <a:rPr lang="en-US" b="0" i="1" smtClean="0">
                            <a:solidFill>
                              <a:srgbClr val="FF0000"/>
                            </a:solidFill>
                            <a:latin typeface="Cambria Math"/>
                          </a:rPr>
                          <m:t>1</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𝑟</m:t>
                        </m:r>
                      </m:e>
                      <m:sub>
                        <m:r>
                          <a:rPr lang="en-US" b="0" i="1" smtClean="0">
                            <a:solidFill>
                              <a:srgbClr val="FF0000"/>
                            </a:solidFill>
                            <a:latin typeface="Cambria Math"/>
                          </a:rPr>
                          <m:t>2</m:t>
                        </m:r>
                      </m:sub>
                    </m:sSub>
                  </m:oMath>
                </a14:m>
                <a:r>
                  <a:rPr lang="en-US" dirty="0"/>
                  <a:t>. Then, sequence </a:t>
                </a:r>
                <a14:m>
                  <m:oMath xmlns:m="http://schemas.openxmlformats.org/officeDocument/2006/math">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sub>
                    </m:sSub>
                    <m:r>
                      <a:rPr lang="en-US" i="1" dirty="0">
                        <a:latin typeface="Cambria Math"/>
                      </a:rPr>
                      <m:t>}</m:t>
                    </m:r>
                  </m:oMath>
                </a14:m>
                <a:r>
                  <a:rPr lang="en-US" dirty="0"/>
                  <a:t> is the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if and only if</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𝑟</m:t>
                          </m:r>
                        </m:e>
                        <m:sub>
                          <m:r>
                            <a:rPr lang="en-US" b="0" i="1" smtClean="0">
                              <a:solidFill>
                                <a:srgbClr val="FF0000"/>
                              </a:solidFill>
                              <a:latin typeface="Cambria Math"/>
                            </a:rPr>
                            <m:t>0</m:t>
                          </m:r>
                        </m:sub>
                        <m:sup>
                          <m:r>
                            <a:rPr lang="en-US" i="1">
                              <a:solidFill>
                                <a:srgbClr val="FF0000"/>
                              </a:solidFill>
                              <a:latin typeface="Cambria Math"/>
                            </a:rPr>
                            <m:t>𝑛</m:t>
                          </m:r>
                        </m:sup>
                      </m:sSubSup>
                      <m:r>
                        <a:rPr lang="en-US" i="1">
                          <a:solidFill>
                            <a:srgbClr val="FF0000"/>
                          </a:solidFill>
                          <a:latin typeface="Cambria Math"/>
                        </a:rPr>
                        <m:t>+</m:t>
                      </m:r>
                      <m:sSubSup>
                        <m:sSubSupPr>
                          <m:ctrlPr>
                            <a:rPr lang="en-US" i="1">
                              <a:solidFill>
                                <a:srgbClr val="FF0000"/>
                              </a:solidFill>
                              <a:latin typeface="Cambria Math" panose="02040503050406030204" pitchFamily="18" charset="0"/>
                            </a:rPr>
                          </m:ctrlPr>
                        </m:sSubSupPr>
                        <m:e>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r>
                            <a:rPr lang="en-US" b="0" i="1" smtClean="0">
                              <a:solidFill>
                                <a:srgbClr val="FF0000"/>
                              </a:solidFill>
                              <a:latin typeface="Cambria Math"/>
                            </a:rPr>
                            <m:t>𝑛</m:t>
                          </m:r>
                          <m:r>
                            <a:rPr lang="en-US" i="1">
                              <a:solidFill>
                                <a:srgbClr val="FF0000"/>
                              </a:solidFill>
                              <a:latin typeface="Cambria Math"/>
                            </a:rPr>
                            <m:t>𝑟</m:t>
                          </m:r>
                        </m:e>
                        <m:sub>
                          <m:r>
                            <a:rPr lang="en-US" b="0" i="1" smtClean="0">
                              <a:solidFill>
                                <a:srgbClr val="FF0000"/>
                              </a:solidFill>
                              <a:latin typeface="Cambria Math"/>
                            </a:rPr>
                            <m:t>0</m:t>
                          </m:r>
                        </m:sub>
                        <m:sup>
                          <m:r>
                            <a:rPr lang="en-US" i="1">
                              <a:solidFill>
                                <a:srgbClr val="FF0000"/>
                              </a:solidFill>
                              <a:latin typeface="Cambria Math"/>
                            </a:rPr>
                            <m:t>𝑛</m:t>
                          </m:r>
                        </m:sup>
                      </m:sSubSup>
                    </m:oMath>
                  </m:oMathPara>
                </a14:m>
                <a:endParaRPr lang="en-US" dirty="0"/>
              </a:p>
              <a:p>
                <a:pPr marL="0" indent="0">
                  <a:buNone/>
                </a:pPr>
                <a:r>
                  <a:rPr lang="en-US" dirty="0"/>
                  <a:t>Where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oMath>
                </a14:m>
                <a:r>
                  <a:rPr lang="en-US" dirty="0"/>
                  <a:t> are constants.</a:t>
                </a:r>
              </a:p>
              <a:p>
                <a:pPr marL="0" indent="0">
                  <a:buNone/>
                </a:pPr>
                <a:r>
                  <a:rPr lang="en-US" dirty="0"/>
                  <a:t>To find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oMath>
                </a14:m>
                <a:r>
                  <a:rPr lang="en-US" dirty="0"/>
                  <a:t> we use initial conditions.</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a:stretch>
              </a:blipFill>
            </p:spPr>
            <p:txBody>
              <a:bodyPr/>
              <a:lstStyle/>
              <a:p>
                <a:r>
                  <a:rPr lang="en-US">
                    <a:noFill/>
                  </a:rPr>
                  <a:t> </a:t>
                </a:r>
              </a:p>
            </p:txBody>
          </p:sp>
        </mc:Fallback>
      </mc:AlternateContent>
    </p:spTree>
    <p:extLst>
      <p:ext uri="{BB962C8B-B14F-4D97-AF65-F5344CB8AC3E}">
        <p14:creationId xmlns:p14="http://schemas.microsoft.com/office/powerpoint/2010/main" val="66150888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69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Find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−9</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with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1</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6</m:t>
                    </m:r>
                  </m:oMath>
                </a14:m>
                <a:r>
                  <a:rPr lang="en-US" dirty="0"/>
                  <a:t>.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n-US">
                    <a:noFill/>
                  </a:rPr>
                  <a:t> </a:t>
                </a:r>
              </a:p>
            </p:txBody>
          </p:sp>
        </mc:Fallback>
      </mc:AlternateContent>
    </p:spTree>
    <p:extLst>
      <p:ext uri="{BB962C8B-B14F-4D97-AF65-F5344CB8AC3E}">
        <p14:creationId xmlns:p14="http://schemas.microsoft.com/office/powerpoint/2010/main" val="407453496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22</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70</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fontScale="92500" lnSpcReduction="10000"/>
              </a:bodyPr>
              <a:lstStyle/>
              <a:p>
                <a:r>
                  <a:rPr lang="en-US" b="1" dirty="0"/>
                  <a:t>Problem</a:t>
                </a:r>
                <a:r>
                  <a:rPr lang="en-US" dirty="0"/>
                  <a:t>: Find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−9</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with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1</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6</m:t>
                    </m:r>
                  </m:oMath>
                </a14:m>
                <a:r>
                  <a:rPr lang="en-US" dirty="0"/>
                  <a:t>. </a:t>
                </a:r>
              </a:p>
              <a:p>
                <a:r>
                  <a:rPr lang="en-US" b="1" dirty="0"/>
                  <a:t>Solution</a:t>
                </a:r>
                <a:r>
                  <a:rPr lang="en-US" dirty="0"/>
                  <a:t>:</a:t>
                </a:r>
              </a:p>
              <a:p>
                <a:pPr marL="0" indent="0">
                  <a:buNone/>
                </a:pPr>
                <a:r>
                  <a:rPr lang="en-US" dirty="0"/>
                  <a:t>Step 1: Find roots of characteristic equation:</a:t>
                </a: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i="1">
                              <a:solidFill>
                                <a:srgbClr val="FF0000"/>
                              </a:solidFill>
                              <a:latin typeface="Cambria Math"/>
                            </a:rPr>
                            <m:t>2</m:t>
                          </m:r>
                        </m:sup>
                      </m:sSup>
                      <m:r>
                        <a:rPr lang="en-US" i="1">
                          <a:solidFill>
                            <a:srgbClr val="FF0000"/>
                          </a:solidFill>
                          <a:latin typeface="Cambria Math"/>
                        </a:rPr>
                        <m:t>−</m:t>
                      </m:r>
                      <m:r>
                        <a:rPr lang="en-US" b="0" i="1" smtClean="0">
                          <a:solidFill>
                            <a:srgbClr val="FF0000"/>
                          </a:solidFill>
                          <a:latin typeface="Cambria Math"/>
                        </a:rPr>
                        <m:t>6</m:t>
                      </m:r>
                      <m:r>
                        <a:rPr lang="en-US" i="1">
                          <a:solidFill>
                            <a:srgbClr val="FF0000"/>
                          </a:solidFill>
                          <a:latin typeface="Cambria Math"/>
                        </a:rPr>
                        <m:t>𝑟</m:t>
                      </m:r>
                      <m:r>
                        <a:rPr lang="en-US" b="0" i="1" smtClean="0">
                          <a:solidFill>
                            <a:srgbClr val="FF0000"/>
                          </a:solidFill>
                          <a:latin typeface="Cambria Math"/>
                        </a:rPr>
                        <m:t>+9</m:t>
                      </m:r>
                      <m:r>
                        <a:rPr lang="en-US" i="1">
                          <a:solidFill>
                            <a:srgbClr val="FF0000"/>
                          </a:solidFill>
                          <a:latin typeface="Cambria Math"/>
                        </a:rPr>
                        <m:t>=0</m:t>
                      </m:r>
                      <m:r>
                        <a:rPr lang="en-US" i="1">
                          <a:solidFill>
                            <a:srgbClr val="FF0000"/>
                          </a:solidFill>
                          <a:latin typeface="Cambria Math"/>
                          <a:ea typeface="Cambria Math"/>
                        </a:rPr>
                        <m:t>⇔</m:t>
                      </m:r>
                      <m:sSub>
                        <m:sSubPr>
                          <m:ctrlPr>
                            <a:rPr lang="en-US" i="1">
                              <a:solidFill>
                                <a:srgbClr val="FF0000"/>
                              </a:solidFill>
                              <a:latin typeface="Cambria Math" panose="02040503050406030204" pitchFamily="18" charset="0"/>
                              <a:ea typeface="Cambria Math"/>
                            </a:rPr>
                          </m:ctrlPr>
                        </m:sSubPr>
                        <m:e>
                          <m:r>
                            <a:rPr lang="en-US" i="1">
                              <a:solidFill>
                                <a:srgbClr val="FF0000"/>
                              </a:solidFill>
                              <a:latin typeface="Cambria Math"/>
                              <a:ea typeface="Cambria Math"/>
                            </a:rPr>
                            <m:t>𝑟</m:t>
                          </m:r>
                        </m:e>
                        <m:sub>
                          <m:r>
                            <a:rPr lang="en-US" b="0" i="1" smtClean="0">
                              <a:solidFill>
                                <a:srgbClr val="FF0000"/>
                              </a:solidFill>
                              <a:latin typeface="Cambria Math"/>
                              <a:ea typeface="Cambria Math"/>
                            </a:rPr>
                            <m:t>0</m:t>
                          </m:r>
                        </m:sub>
                      </m:sSub>
                      <m:r>
                        <a:rPr lang="en-US" i="1">
                          <a:solidFill>
                            <a:srgbClr val="FF0000"/>
                          </a:solidFill>
                          <a:latin typeface="Cambria Math"/>
                          <a:ea typeface="Cambria Math"/>
                        </a:rPr>
                        <m:t>=</m:t>
                      </m:r>
                      <m:sSub>
                        <m:sSubPr>
                          <m:ctrlPr>
                            <a:rPr lang="en-US" i="1" smtClean="0">
                              <a:solidFill>
                                <a:srgbClr val="FF0000"/>
                              </a:solidFill>
                              <a:latin typeface="Cambria Math" panose="02040503050406030204" pitchFamily="18" charset="0"/>
                              <a:ea typeface="Cambria Math"/>
                            </a:rPr>
                          </m:ctrlPr>
                        </m:sSubPr>
                        <m:e>
                          <m:r>
                            <a:rPr lang="en-US" b="0" i="1" smtClean="0">
                              <a:solidFill>
                                <a:srgbClr val="FF0000"/>
                              </a:solidFill>
                              <a:latin typeface="Cambria Math"/>
                              <a:ea typeface="Cambria Math"/>
                            </a:rPr>
                            <m:t>𝑟</m:t>
                          </m:r>
                        </m:e>
                        <m:sub>
                          <m:r>
                            <a:rPr lang="en-US" b="0" i="1" smtClean="0">
                              <a:solidFill>
                                <a:srgbClr val="FF0000"/>
                              </a:solidFill>
                              <a:latin typeface="Cambria Math"/>
                              <a:ea typeface="Cambria Math"/>
                            </a:rPr>
                            <m:t>1</m:t>
                          </m:r>
                        </m:sub>
                      </m:sSub>
                      <m:r>
                        <a:rPr lang="en-US" b="0" i="1" smtClean="0">
                          <a:solidFill>
                            <a:srgbClr val="FF0000"/>
                          </a:solidFill>
                          <a:latin typeface="Cambria Math"/>
                          <a:ea typeface="Cambria Math"/>
                        </a:rPr>
                        <m:t>=</m:t>
                      </m:r>
                      <m:sSub>
                        <m:sSubPr>
                          <m:ctrlPr>
                            <a:rPr lang="en-US" i="1">
                              <a:solidFill>
                                <a:srgbClr val="FF0000"/>
                              </a:solidFill>
                              <a:latin typeface="Cambria Math" panose="02040503050406030204" pitchFamily="18" charset="0"/>
                              <a:ea typeface="Cambria Math"/>
                            </a:rPr>
                          </m:ctrlPr>
                        </m:sSubPr>
                        <m:e>
                          <m:r>
                            <a:rPr lang="en-US" i="1">
                              <a:solidFill>
                                <a:srgbClr val="FF0000"/>
                              </a:solidFill>
                              <a:latin typeface="Cambria Math"/>
                              <a:ea typeface="Cambria Math"/>
                            </a:rPr>
                            <m:t>𝑟</m:t>
                          </m:r>
                        </m:e>
                        <m:sub>
                          <m:r>
                            <a:rPr lang="en-US" i="1">
                              <a:solidFill>
                                <a:srgbClr val="FF0000"/>
                              </a:solidFill>
                              <a:latin typeface="Cambria Math"/>
                              <a:ea typeface="Cambria Math"/>
                            </a:rPr>
                            <m:t>2</m:t>
                          </m:r>
                        </m:sub>
                      </m:sSub>
                      <m:r>
                        <a:rPr lang="en-US" i="1">
                          <a:solidFill>
                            <a:srgbClr val="FF0000"/>
                          </a:solidFill>
                          <a:latin typeface="Cambria Math"/>
                          <a:ea typeface="Cambria Math"/>
                        </a:rPr>
                        <m:t>=</m:t>
                      </m:r>
                      <m:r>
                        <a:rPr lang="en-US" b="0" i="1" smtClean="0">
                          <a:solidFill>
                            <a:srgbClr val="FF0000"/>
                          </a:solidFill>
                          <a:latin typeface="Cambria Math"/>
                          <a:ea typeface="Cambria Math"/>
                        </a:rPr>
                        <m:t>3</m:t>
                      </m:r>
                      <m:r>
                        <a:rPr lang="en-US" i="1">
                          <a:solidFill>
                            <a:srgbClr val="FF0000"/>
                          </a:solidFill>
                          <a:latin typeface="Cambria Math"/>
                          <a:ea typeface="Cambria Math"/>
                        </a:rPr>
                        <m:t>.</m:t>
                      </m:r>
                    </m:oMath>
                  </m:oMathPara>
                </a14:m>
                <a:endParaRPr lang="en-US" dirty="0"/>
              </a:p>
              <a:p>
                <a:pPr marL="0" indent="0">
                  <a:buNone/>
                </a:pPr>
                <a:r>
                  <a:rPr lang="en-US" dirty="0"/>
                  <a:t>Step 2: Construct general formula for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m:t>
                        </m:r>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3</m:t>
                          </m:r>
                        </m:e>
                        <m:sup>
                          <m:r>
                            <a:rPr lang="en-US" i="1">
                              <a:solidFill>
                                <a:srgbClr val="FF0000"/>
                              </a:solidFill>
                              <a:latin typeface="Cambria Math"/>
                            </a:rPr>
                            <m:t>𝑛</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r>
                        <a:rPr lang="en-US" b="0" i="1" smtClean="0">
                          <a:solidFill>
                            <a:srgbClr val="FF0000"/>
                          </a:solidFill>
                          <a:latin typeface="Cambria Math"/>
                        </a:rPr>
                        <m:t>𝑛</m:t>
                      </m:r>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3</m:t>
                          </m:r>
                        </m:e>
                        <m:sup>
                          <m:r>
                            <a:rPr lang="en-US" i="1">
                              <a:solidFill>
                                <a:srgbClr val="FF0000"/>
                              </a:solidFill>
                              <a:latin typeface="Cambria Math"/>
                            </a:rPr>
                            <m:t>𝑛</m:t>
                          </m:r>
                        </m:sup>
                      </m:sSup>
                    </m:oMath>
                  </m:oMathPara>
                </a14:m>
                <a:endParaRPr lang="en-US" dirty="0"/>
              </a:p>
              <a:p>
                <a:pPr marL="0" indent="0">
                  <a:buNone/>
                </a:pPr>
                <a:r>
                  <a:rPr lang="en-US" dirty="0"/>
                  <a:t>Step 3: Determine constants base on initial conditions</a:t>
                </a:r>
              </a:p>
              <a:p>
                <a:pPr marL="0" indent="0">
                  <a:buNone/>
                </a:pPr>
                <a:endParaRPr lang="en-US" dirty="0"/>
              </a:p>
              <a:p>
                <a:pPr marL="0" indent="0">
                  <a:buNone/>
                </a:pPr>
                <a:endParaRPr lang="en-US" dirty="0"/>
              </a:p>
              <a:p>
                <a:pPr marL="0" indent="0">
                  <a:buNone/>
                </a:pPr>
                <a:r>
                  <a:rPr lang="en-US" dirty="0"/>
                  <a:t>Step 4: Complete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3</m:t>
                          </m:r>
                        </m:e>
                        <m:sup>
                          <m:r>
                            <a:rPr lang="en-US" i="1">
                              <a:solidFill>
                                <a:srgbClr val="FF0000"/>
                              </a:solidFill>
                              <a:latin typeface="Cambria Math"/>
                            </a:rPr>
                            <m:t>𝑛</m:t>
                          </m:r>
                        </m:sup>
                      </m:sSup>
                      <m:r>
                        <a:rPr lang="en-US" b="0" i="1" smtClean="0">
                          <a:solidFill>
                            <a:srgbClr val="FF0000"/>
                          </a:solidFill>
                          <a:latin typeface="Cambria Math"/>
                        </a:rPr>
                        <m:t>+</m:t>
                      </m:r>
                      <m:r>
                        <a:rPr lang="en-US" b="0" i="1" smtClean="0">
                          <a:solidFill>
                            <a:srgbClr val="FF0000"/>
                          </a:solidFill>
                          <a:latin typeface="Cambria Math"/>
                        </a:rPr>
                        <m:t>𝑛</m:t>
                      </m:r>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3</m:t>
                          </m:r>
                        </m:e>
                        <m:sup>
                          <m:r>
                            <a:rPr lang="en-US" i="1">
                              <a:solidFill>
                                <a:srgbClr val="FF0000"/>
                              </a:solidFill>
                              <a:latin typeface="Cambria Math"/>
                            </a:rPr>
                            <m:t>𝑛</m:t>
                          </m:r>
                        </m:sup>
                      </m:sSup>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963" t="-1481"/>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1881078715"/>
              </p:ext>
            </p:extLst>
          </p:nvPr>
        </p:nvGraphicFramePr>
        <p:xfrm>
          <a:off x="3157538" y="4530725"/>
          <a:ext cx="2598737" cy="782638"/>
        </p:xfrm>
        <a:graphic>
          <a:graphicData uri="http://schemas.openxmlformats.org/presentationml/2006/ole">
            <mc:AlternateContent xmlns:mc="http://schemas.openxmlformats.org/markup-compatibility/2006">
              <mc:Choice xmlns:v="urn:schemas-microsoft-com:vml" Requires="v">
                <p:oleObj spid="_x0000_s7187" name="Equation" r:id="rId4" imgW="1587240" imgH="482400" progId="Equation.3">
                  <p:embed/>
                </p:oleObj>
              </mc:Choice>
              <mc:Fallback>
                <p:oleObj name="Equation" r:id="rId4" imgW="1587240" imgH="482400" progId="Equation.3">
                  <p:embed/>
                  <p:pic>
                    <p:nvPicPr>
                      <p:cNvPr id="0" name="Object 5"/>
                      <p:cNvPicPr>
                        <a:picLocks noChangeAspect="1" noChangeArrowheads="1"/>
                      </p:cNvPicPr>
                      <p:nvPr/>
                    </p:nvPicPr>
                    <p:blipFill>
                      <a:blip r:embed="rId5"/>
                      <a:srcRect/>
                      <a:stretch>
                        <a:fillRect/>
                      </a:stretch>
                    </p:blipFill>
                    <p:spPr bwMode="auto">
                      <a:xfrm>
                        <a:off x="3157538" y="4530725"/>
                        <a:ext cx="2598737" cy="78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7790339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dirty="0"/>
                  <a:t>Find roots of following recurrence relation satisfying initial conditions:</a:t>
                </a:r>
              </a:p>
              <a:p>
                <a:pPr marL="457200" indent="-457200">
                  <a:buFont typeface="+mj-lt"/>
                  <a:buAutoNum type="arabicParen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2</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a14:m>
                <a:r>
                  <a:rPr lang="en-US" dirty="0"/>
                  <a:t>, with </a:t>
                </a:r>
                <a14:m>
                  <m:oMath xmlns:m="http://schemas.openxmlformats.org/officeDocument/2006/math">
                    <m:r>
                      <a:rPr lang="en-US" b="0" i="1" smtClean="0">
                        <a:latin typeface="Cambria Math"/>
                      </a:rPr>
                      <m:t>𝑛</m:t>
                    </m:r>
                    <m:r>
                      <a:rPr lang="en-US" b="0" i="1" smtClean="0">
                        <a:latin typeface="Cambria Math"/>
                        <a:ea typeface="Cambria Math"/>
                      </a:rPr>
                      <m:t>≥2</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4</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1</m:t>
                    </m:r>
                  </m:oMath>
                </a14:m>
                <a:r>
                  <a:rPr lang="en-US" dirty="0"/>
                  <a:t>. </a:t>
                </a:r>
              </a:p>
              <a:p>
                <a:pPr marL="457200" indent="-457200">
                  <a:buFont typeface="+mj-lt"/>
                  <a:buAutoNum type="arabicParen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4</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4</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a14:m>
                <a:r>
                  <a:rPr lang="en-US" dirty="0"/>
                  <a:t>, with </a:t>
                </a:r>
                <a14:m>
                  <m:oMath xmlns:m="http://schemas.openxmlformats.org/officeDocument/2006/math">
                    <m:r>
                      <a:rPr lang="en-US" i="1">
                        <a:latin typeface="Cambria Math"/>
                      </a:rPr>
                      <m:t>𝑛</m:t>
                    </m:r>
                    <m:r>
                      <a:rPr lang="en-US" i="1">
                        <a:latin typeface="Cambria Math"/>
                        <a:ea typeface="Cambria Math"/>
                      </a:rPr>
                      <m:t>≥2</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6</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8</m:t>
                    </m:r>
                  </m:oMath>
                </a14:m>
                <a:r>
                  <a:rPr lang="en-US" dirty="0"/>
                  <a:t>. </a:t>
                </a:r>
              </a:p>
              <a:p>
                <a:pPr marL="457200" indent="-457200">
                  <a:buFont typeface="+mj-lt"/>
                  <a:buAutoNum type="arabicParen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−4</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4</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a14:m>
                <a:r>
                  <a:rPr lang="en-US" dirty="0"/>
                  <a:t>, with </a:t>
                </a:r>
                <a14:m>
                  <m:oMath xmlns:m="http://schemas.openxmlformats.org/officeDocument/2006/math">
                    <m:r>
                      <a:rPr lang="en-US" i="1">
                        <a:latin typeface="Cambria Math"/>
                      </a:rPr>
                      <m:t>𝑛</m:t>
                    </m:r>
                    <m:r>
                      <a:rPr lang="en-US" i="1">
                        <a:latin typeface="Cambria Math"/>
                        <a:ea typeface="Cambria Math"/>
                      </a:rPr>
                      <m:t>≥2</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0</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=1</m:t>
                    </m:r>
                  </m:oMath>
                </a14:m>
                <a:r>
                  <a:rPr lang="en-US" dirty="0"/>
                  <a:t>. </a:t>
                </a:r>
              </a:p>
              <a:p>
                <a:pPr marL="457200" indent="-457200">
                  <a:buFont typeface="+mj-lt"/>
                  <a:buAutoNum type="arabicParen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9</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a14:m>
                <a:r>
                  <a:rPr lang="en-US" dirty="0"/>
                  <a:t>, with </a:t>
                </a:r>
                <a14:m>
                  <m:oMath xmlns:m="http://schemas.openxmlformats.org/officeDocument/2006/math">
                    <m:r>
                      <a:rPr lang="en-US" i="1" smtClean="0">
                        <a:latin typeface="Cambria Math"/>
                      </a:rPr>
                      <m:t>𝑛</m:t>
                    </m:r>
                    <m:r>
                      <a:rPr lang="en-US" i="1">
                        <a:latin typeface="Cambria Math"/>
                        <a:ea typeface="Cambria Math"/>
                      </a:rPr>
                      <m:t>≥2</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3</m:t>
                    </m:r>
                    <m:r>
                      <a:rPr lang="en-US" i="1" dirty="0">
                        <a:solidFill>
                          <a:srgbClr val="FF0000"/>
                        </a:solidFill>
                        <a:latin typeface="Cambria Math"/>
                      </a:rPr>
                      <m:t>,</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−3</m:t>
                    </m:r>
                  </m:oMath>
                </a14:m>
                <a:r>
                  <a:rPr lang="en-US" dirty="0"/>
                  <a:t>. </a:t>
                </a:r>
                <a:endParaRPr lang="en-US" sz="2400" i="1" dirty="0">
                  <a:solidFill>
                    <a:srgbClr val="FF0000"/>
                  </a:solidFill>
                  <a:latin typeface="Cambria Math"/>
                </a:endParaRPr>
              </a:p>
              <a:p>
                <a:pPr marL="457200" indent="-457200">
                  <a:buFont typeface="+mj-lt"/>
                  <a:buAutoNum type="arabicParenR"/>
                </a:pPr>
                <a14:m>
                  <m:oMath xmlns:m="http://schemas.openxmlformats.org/officeDocument/2006/math">
                    <m:r>
                      <a:rPr lang="en-US" sz="2400" i="1" dirty="0">
                        <a:solidFill>
                          <a:srgbClr val="FF0000"/>
                        </a:solidFill>
                        <a:latin typeface="Cambria Math"/>
                      </a:rPr>
                      <m:t>𝑎</m:t>
                    </m:r>
                    <m:r>
                      <a:rPr lang="en-US" sz="2400" i="1" baseline="-25000" dirty="0">
                        <a:solidFill>
                          <a:srgbClr val="FF0000"/>
                        </a:solidFill>
                        <a:latin typeface="Cambria Math"/>
                      </a:rPr>
                      <m:t>𝑛</m:t>
                    </m:r>
                    <m:r>
                      <a:rPr lang="en-US" sz="2400" i="1" dirty="0">
                        <a:solidFill>
                          <a:srgbClr val="FF0000"/>
                        </a:solidFill>
                        <a:latin typeface="Cambria Math"/>
                      </a:rPr>
                      <m:t> =14</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−1</m:t>
                        </m:r>
                      </m:sub>
                    </m:sSub>
                    <m:r>
                      <a:rPr lang="en-US" sz="2400" i="1" dirty="0">
                        <a:solidFill>
                          <a:srgbClr val="FF0000"/>
                        </a:solidFill>
                        <a:latin typeface="Cambria Math"/>
                      </a:rPr>
                      <m:t>−49</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−2</m:t>
                        </m:r>
                      </m:sub>
                    </m:sSub>
                    <m:r>
                      <a:rPr lang="en-US" sz="2400" i="1" dirty="0">
                        <a:latin typeface="Cambria Math"/>
                      </a:rPr>
                      <m:t> </m:t>
                    </m:r>
                  </m:oMath>
                </a14:m>
                <a:r>
                  <a:rPr lang="en-US" dirty="0"/>
                  <a:t>with</a:t>
                </a:r>
                <a:r>
                  <a:rPr lang="en-US" sz="2400" dirty="0"/>
                  <a:t> </a:t>
                </a:r>
                <a14:m>
                  <m:oMath xmlns:m="http://schemas.openxmlformats.org/officeDocument/2006/math">
                    <m:r>
                      <a:rPr lang="en-US" sz="2400" i="1" dirty="0">
                        <a:latin typeface="Cambria Math"/>
                      </a:rPr>
                      <m:t>𝑛</m:t>
                    </m:r>
                    <m:r>
                      <a:rPr lang="it-IT" sz="2400" i="1" dirty="0">
                        <a:latin typeface="Cambria Math"/>
                        <a:sym typeface="Symbol" pitchFamily="18" charset="2"/>
                      </a:rPr>
                      <m:t></m:t>
                    </m:r>
                    <m:r>
                      <a:rPr lang="en-US" sz="2400" i="1" dirty="0">
                        <a:latin typeface="Cambria Math"/>
                      </a:rPr>
                      <m:t>2</m:t>
                    </m:r>
                  </m:oMath>
                </a14:m>
                <a:r>
                  <a:rPr lang="en-US" sz="2400" dirty="0"/>
                  <a:t> </a:t>
                </a:r>
                <a:r>
                  <a:rPr lang="en-US" dirty="0"/>
                  <a:t>and</a:t>
                </a:r>
                <a:r>
                  <a:rPr lang="en-US" sz="2400" dirty="0"/>
                  <a:t> </a:t>
                </a:r>
                <a14:m>
                  <m:oMath xmlns:m="http://schemas.openxmlformats.org/officeDocument/2006/math">
                    <m:r>
                      <a:rPr lang="en-US" sz="2400" i="1" dirty="0">
                        <a:solidFill>
                          <a:srgbClr val="FF0000"/>
                        </a:solidFill>
                        <a:latin typeface="Cambria Math"/>
                      </a:rPr>
                      <m:t>𝑎</m:t>
                    </m:r>
                    <m:r>
                      <a:rPr lang="en-US" sz="2400" i="1" baseline="-25000" dirty="0">
                        <a:solidFill>
                          <a:srgbClr val="FF0000"/>
                        </a:solidFill>
                        <a:latin typeface="Cambria Math"/>
                      </a:rPr>
                      <m:t>0</m:t>
                    </m:r>
                    <m:r>
                      <a:rPr lang="en-US" sz="2400" i="1" dirty="0">
                        <a:solidFill>
                          <a:srgbClr val="FF0000"/>
                        </a:solidFill>
                        <a:latin typeface="Cambria Math"/>
                      </a:rPr>
                      <m:t>=3, </m:t>
                    </m:r>
                    <m:r>
                      <a:rPr lang="en-US" sz="2400" i="1" dirty="0">
                        <a:solidFill>
                          <a:srgbClr val="FF0000"/>
                        </a:solidFill>
                        <a:latin typeface="Cambria Math"/>
                      </a:rPr>
                      <m:t>𝑎</m:t>
                    </m:r>
                    <m:r>
                      <a:rPr lang="en-US" sz="2400" i="1" baseline="-25000" dirty="0">
                        <a:solidFill>
                          <a:srgbClr val="FF0000"/>
                        </a:solidFill>
                        <a:latin typeface="Cambria Math"/>
                      </a:rPr>
                      <m:t>1</m:t>
                    </m:r>
                    <m:r>
                      <a:rPr lang="en-US" sz="2400" i="1" dirty="0">
                        <a:solidFill>
                          <a:srgbClr val="FF0000"/>
                        </a:solidFill>
                        <a:latin typeface="Cambria Math"/>
                      </a:rPr>
                      <m:t>=35</m:t>
                    </m:r>
                  </m:oMath>
                </a14:m>
                <a:r>
                  <a:rPr lang="en-US" sz="2400" dirty="0"/>
                  <a:t>.</a:t>
                </a:r>
                <a:endParaRPr lang="en-US" sz="2400" i="1" dirty="0">
                  <a:solidFill>
                    <a:srgbClr val="FF0000"/>
                  </a:solidFill>
                  <a:latin typeface="Cambria Math"/>
                </a:endParaRPr>
              </a:p>
              <a:p>
                <a:pPr marL="457200" indent="-457200">
                  <a:buFont typeface="+mj-lt"/>
                  <a:buAutoNum type="arabicParenR"/>
                </a:pPr>
                <a14:m>
                  <m:oMath xmlns:m="http://schemas.openxmlformats.org/officeDocument/2006/math">
                    <m:r>
                      <a:rPr lang="en-US" sz="2400" i="1" dirty="0">
                        <a:solidFill>
                          <a:srgbClr val="FF0000"/>
                        </a:solidFill>
                        <a:latin typeface="Cambria Math"/>
                      </a:rPr>
                      <m:t>𝑎</m:t>
                    </m:r>
                    <m:r>
                      <a:rPr lang="en-US" sz="2400" i="1" baseline="-25000" dirty="0">
                        <a:solidFill>
                          <a:srgbClr val="FF0000"/>
                        </a:solidFill>
                        <a:latin typeface="Cambria Math"/>
                      </a:rPr>
                      <m:t>𝑛</m:t>
                    </m:r>
                    <m:r>
                      <a:rPr lang="en-US" sz="2400" i="1" dirty="0">
                        <a:solidFill>
                          <a:srgbClr val="FF0000"/>
                        </a:solidFill>
                        <a:latin typeface="Cambria Math"/>
                      </a:rPr>
                      <m:t> =−14</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−1</m:t>
                        </m:r>
                      </m:sub>
                    </m:sSub>
                    <m:r>
                      <a:rPr lang="en-US" sz="2400" i="1" dirty="0">
                        <a:solidFill>
                          <a:srgbClr val="FF0000"/>
                        </a:solidFill>
                        <a:latin typeface="Cambria Math"/>
                      </a:rPr>
                      <m:t>−49</m:t>
                    </m:r>
                    <m:sSub>
                      <m:sSubPr>
                        <m:ctrlPr>
                          <a:rPr lang="en-US" sz="2400" i="1" dirty="0">
                            <a:solidFill>
                              <a:srgbClr val="FF0000"/>
                            </a:solidFill>
                            <a:latin typeface="Cambria Math" panose="02040503050406030204" pitchFamily="18" charset="0"/>
                          </a:rPr>
                        </m:ctrlPr>
                      </m:sSubPr>
                      <m:e>
                        <m:r>
                          <a:rPr lang="en-US" sz="2400" i="1" dirty="0">
                            <a:solidFill>
                              <a:srgbClr val="FF0000"/>
                            </a:solidFill>
                            <a:latin typeface="Cambria Math"/>
                          </a:rPr>
                          <m:t>𝑎</m:t>
                        </m:r>
                      </m:e>
                      <m:sub>
                        <m:r>
                          <a:rPr lang="en-US" sz="2400" i="1" dirty="0">
                            <a:solidFill>
                              <a:srgbClr val="FF0000"/>
                            </a:solidFill>
                            <a:latin typeface="Cambria Math"/>
                          </a:rPr>
                          <m:t>𝑛</m:t>
                        </m:r>
                        <m:r>
                          <a:rPr lang="en-US" sz="2400" i="1" dirty="0">
                            <a:solidFill>
                              <a:srgbClr val="FF0000"/>
                            </a:solidFill>
                            <a:latin typeface="Cambria Math"/>
                          </a:rPr>
                          <m:t>−2</m:t>
                        </m:r>
                      </m:sub>
                    </m:sSub>
                    <m:r>
                      <a:rPr lang="en-US" sz="2400" i="1" dirty="0">
                        <a:solidFill>
                          <a:srgbClr val="FF0000"/>
                        </a:solidFill>
                        <a:latin typeface="Cambria Math"/>
                      </a:rPr>
                      <m:t> </m:t>
                    </m:r>
                  </m:oMath>
                </a14:m>
                <a:r>
                  <a:rPr lang="en-US" dirty="0"/>
                  <a:t>with</a:t>
                </a:r>
                <a:r>
                  <a:rPr lang="en-US" sz="2400" dirty="0"/>
                  <a:t> </a:t>
                </a:r>
                <a14:m>
                  <m:oMath xmlns:m="http://schemas.openxmlformats.org/officeDocument/2006/math">
                    <m:r>
                      <a:rPr lang="en-US" sz="2400" i="1" dirty="0">
                        <a:latin typeface="Cambria Math"/>
                      </a:rPr>
                      <m:t>𝑛</m:t>
                    </m:r>
                    <m:r>
                      <a:rPr lang="it-IT" sz="2400" i="1" dirty="0">
                        <a:latin typeface="Cambria Math"/>
                        <a:sym typeface="Symbol" pitchFamily="18" charset="2"/>
                      </a:rPr>
                      <m:t></m:t>
                    </m:r>
                    <m:r>
                      <a:rPr lang="en-US" sz="2400" i="1" dirty="0">
                        <a:latin typeface="Cambria Math"/>
                      </a:rPr>
                      <m:t>2</m:t>
                    </m:r>
                  </m:oMath>
                </a14:m>
                <a:r>
                  <a:rPr lang="en-US" sz="2400" dirty="0"/>
                  <a:t> </a:t>
                </a:r>
                <a:r>
                  <a:rPr lang="en-US" dirty="0"/>
                  <a:t>and</a:t>
                </a:r>
                <a:r>
                  <a:rPr lang="en-US" sz="2400" dirty="0"/>
                  <a:t> </a:t>
                </a:r>
                <a14:m>
                  <m:oMath xmlns:m="http://schemas.openxmlformats.org/officeDocument/2006/math">
                    <m:r>
                      <a:rPr lang="en-US" sz="2400" i="1" dirty="0">
                        <a:solidFill>
                          <a:srgbClr val="FF0000"/>
                        </a:solidFill>
                        <a:latin typeface="Cambria Math"/>
                      </a:rPr>
                      <m:t>𝑎</m:t>
                    </m:r>
                    <m:r>
                      <a:rPr lang="en-US" sz="2400" i="1" baseline="-25000" dirty="0">
                        <a:solidFill>
                          <a:srgbClr val="FF0000"/>
                        </a:solidFill>
                        <a:latin typeface="Cambria Math"/>
                      </a:rPr>
                      <m:t>0</m:t>
                    </m:r>
                    <m:r>
                      <a:rPr lang="en-US" sz="2400" i="1" dirty="0">
                        <a:solidFill>
                          <a:srgbClr val="FF0000"/>
                        </a:solidFill>
                        <a:latin typeface="Cambria Math"/>
                      </a:rPr>
                      <m:t>=3, </m:t>
                    </m:r>
                    <m:r>
                      <a:rPr lang="en-US" sz="2400" i="1" dirty="0">
                        <a:solidFill>
                          <a:srgbClr val="FF0000"/>
                        </a:solidFill>
                        <a:latin typeface="Cambria Math"/>
                      </a:rPr>
                      <m:t>𝑎</m:t>
                    </m:r>
                    <m:r>
                      <a:rPr lang="en-US" sz="2400" i="1" baseline="-25000" dirty="0">
                        <a:solidFill>
                          <a:srgbClr val="FF0000"/>
                        </a:solidFill>
                        <a:latin typeface="Cambria Math"/>
                      </a:rPr>
                      <m:t>1</m:t>
                    </m:r>
                    <m:r>
                      <a:rPr lang="en-US" sz="2400" i="1" dirty="0">
                        <a:solidFill>
                          <a:srgbClr val="FF0000"/>
                        </a:solidFill>
                        <a:latin typeface="Cambria Math"/>
                      </a:rPr>
                      <m:t>=35</m:t>
                    </m:r>
                  </m:oMath>
                </a14:m>
                <a:r>
                  <a:rPr lang="en-US" sz="2400" dirty="0"/>
                  <a:t>.</a:t>
                </a:r>
              </a:p>
              <a:p>
                <a:pPr marL="457200" indent="-457200">
                  <a:buFont typeface="+mj-lt"/>
                  <a:buAutoNum type="arabicParenR"/>
                </a:pPr>
                <a:endParaRPr lang="en-US" dirty="0"/>
              </a:p>
              <a:p>
                <a:pPr marL="457200" indent="-457200">
                  <a:buFont typeface="+mj-lt"/>
                  <a:buAutoNum type="arabicParenR"/>
                </a:pPr>
                <a:endParaRPr lang="en-US" dirty="0"/>
              </a:p>
              <a:p>
                <a:pPr marL="457200" indent="-457200">
                  <a:buFont typeface="+mj-lt"/>
                  <a:buAutoNum type="arabicParenR"/>
                </a:pP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a:stretch>
              </a:blipFill>
            </p:spPr>
            <p:txBody>
              <a:bodyPr/>
              <a:lstStyle/>
              <a:p>
                <a:r>
                  <a:rPr lang="en-US">
                    <a:noFill/>
                  </a:rPr>
                  <a:t> </a:t>
                </a:r>
              </a:p>
            </p:txBody>
          </p:sp>
        </mc:Fallback>
      </mc:AlternateContent>
    </p:spTree>
    <p:extLst>
      <p:ext uri="{BB962C8B-B14F-4D97-AF65-F5344CB8AC3E}">
        <p14:creationId xmlns:p14="http://schemas.microsoft.com/office/powerpoint/2010/main" val="17963008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Case: root is complex numbers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r>
                  <a:rPr lang="en-US" b="1" dirty="0"/>
                  <a:t>Thorem</a:t>
                </a:r>
                <a:r>
                  <a:rPr lang="en-US" dirty="0"/>
                  <a:t>: Give </a:t>
                </a:r>
                <a14:m>
                  <m:oMath xmlns:m="http://schemas.openxmlformats.org/officeDocument/2006/math">
                    <m:r>
                      <a:rPr lang="en-US" i="1" dirty="0">
                        <a:latin typeface="Cambria Math"/>
                      </a:rPr>
                      <m:t>𝑐</m:t>
                    </m:r>
                    <m:r>
                      <a:rPr lang="en-US" i="1" baseline="-25000" dirty="0">
                        <a:latin typeface="Cambria Math"/>
                      </a:rPr>
                      <m:t>1</m:t>
                    </m:r>
                    <m:r>
                      <a:rPr lang="en-US" i="1" dirty="0">
                        <a:latin typeface="Cambria Math"/>
                      </a:rPr>
                      <m:t>, </m:t>
                    </m:r>
                    <m:r>
                      <a:rPr lang="en-US" i="1" dirty="0">
                        <a:latin typeface="Cambria Math"/>
                      </a:rPr>
                      <m:t>𝑐</m:t>
                    </m:r>
                    <m:r>
                      <a:rPr lang="en-US" i="1" baseline="-25000" dirty="0">
                        <a:latin typeface="Cambria Math"/>
                      </a:rPr>
                      <m:t>2</m:t>
                    </m:r>
                  </m:oMath>
                </a14:m>
                <a:r>
                  <a:rPr lang="en-US" dirty="0"/>
                  <a:t> is 2 real numbers. Assume characteristic equation:</a:t>
                </a: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i="1">
                              <a:solidFill>
                                <a:srgbClr val="FF0000"/>
                              </a:solidFill>
                              <a:latin typeface="Cambria Math"/>
                            </a:rPr>
                            <m:t>2</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r>
                        <a:rPr lang="en-US" i="1">
                          <a:solidFill>
                            <a:srgbClr val="FF0000"/>
                          </a:solidFill>
                          <a:latin typeface="Cambria Math"/>
                        </a:rPr>
                        <m:t>𝑟</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r>
                        <a:rPr lang="en-US" i="1">
                          <a:solidFill>
                            <a:srgbClr val="FF0000"/>
                          </a:solidFill>
                          <a:latin typeface="Cambria Math"/>
                        </a:rPr>
                        <m:t>=0</m:t>
                      </m:r>
                    </m:oMath>
                  </m:oMathPara>
                </a14:m>
                <a:endParaRPr lang="en-US" dirty="0"/>
              </a:p>
              <a:p>
                <a:pPr marL="0" indent="0">
                  <a:buNone/>
                </a:pPr>
                <a:r>
                  <a:rPr lang="en-US" dirty="0"/>
                  <a:t>Has 2 complex conjugate roots:</a:t>
                </a:r>
              </a:p>
              <a:p>
                <a:pPr marL="0" indent="0">
                  <a:buNone/>
                </a:pPr>
                <a:endParaRPr lang="en-US" dirty="0"/>
              </a:p>
              <a:p>
                <a:pPr marL="0" indent="0">
                  <a:buNone/>
                </a:pPr>
                <a:endParaRPr lang="en-US" dirty="0"/>
              </a:p>
              <a:p>
                <a:pPr marL="0" indent="0">
                  <a:buNone/>
                </a:pPr>
                <a:r>
                  <a:rPr lang="en-US" dirty="0"/>
                  <a:t>Then, sequence </a:t>
                </a:r>
                <a14:m>
                  <m:oMath xmlns:m="http://schemas.openxmlformats.org/officeDocument/2006/math">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sub>
                    </m:sSub>
                    <m:r>
                      <a:rPr lang="en-US" i="1" dirty="0">
                        <a:latin typeface="Cambria Math"/>
                      </a:rPr>
                      <m:t>}</m:t>
                    </m:r>
                  </m:oMath>
                </a14:m>
                <a:r>
                  <a:rPr lang="en-US" dirty="0"/>
                  <a:t> is the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if and only if </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p>
                        <m:sSupPr>
                          <m:ctrlPr>
                            <a:rPr lang="en-US" i="1" smtClean="0">
                              <a:solidFill>
                                <a:srgbClr val="FF0000"/>
                              </a:solidFill>
                              <a:latin typeface="Cambria Math" panose="02040503050406030204" pitchFamily="18" charset="0"/>
                            </a:rPr>
                          </m:ctrlPr>
                        </m:sSupPr>
                        <m:e>
                          <m:r>
                            <a:rPr lang="en-US" b="0" i="1" smtClean="0">
                              <a:solidFill>
                                <a:srgbClr val="FF0000"/>
                              </a:solidFill>
                              <a:latin typeface="Cambria Math"/>
                            </a:rPr>
                            <m:t>𝑟</m:t>
                          </m:r>
                        </m:e>
                        <m:sup>
                          <m:r>
                            <a:rPr lang="en-US" b="0" i="1" smtClean="0">
                              <a:solidFill>
                                <a:srgbClr val="FF0000"/>
                              </a:solidFill>
                              <a:latin typeface="Cambria Math"/>
                            </a:rPr>
                            <m:t>𝑛</m:t>
                          </m:r>
                        </m:sup>
                      </m:sSup>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func>
                        <m:funcPr>
                          <m:ctrlPr>
                            <a:rPr lang="en-US" b="0" i="1" smtClean="0">
                              <a:solidFill>
                                <a:srgbClr val="FF0000"/>
                              </a:solidFill>
                              <a:latin typeface="Cambria Math" panose="02040503050406030204" pitchFamily="18" charset="0"/>
                            </a:rPr>
                          </m:ctrlPr>
                        </m:funcPr>
                        <m:fName>
                          <m:r>
                            <m:rPr>
                              <m:sty m:val="p"/>
                            </m:rPr>
                            <a:rPr lang="en-US" b="0" i="0" smtClean="0">
                              <a:solidFill>
                                <a:srgbClr val="FF0000"/>
                              </a:solidFill>
                              <a:latin typeface="Cambria Math"/>
                            </a:rPr>
                            <m:t>cos</m:t>
                          </m:r>
                        </m:fName>
                        <m:e>
                          <m:d>
                            <m:dPr>
                              <m:ctrlPr>
                                <a:rPr lang="en-US" b="0" i="1" smtClean="0">
                                  <a:solidFill>
                                    <a:srgbClr val="FF0000"/>
                                  </a:solidFill>
                                  <a:latin typeface="Cambria Math" panose="02040503050406030204" pitchFamily="18" charset="0"/>
                                </a:rPr>
                              </m:ctrlPr>
                            </m:dPr>
                            <m:e>
                              <m:r>
                                <a:rPr lang="en-US" b="0" i="1" smtClean="0">
                                  <a:solidFill>
                                    <a:srgbClr val="FF0000"/>
                                  </a:solidFill>
                                  <a:latin typeface="Cambria Math"/>
                                </a:rPr>
                                <m:t>𝑛</m:t>
                              </m:r>
                              <m:r>
                                <a:rPr lang="en-US" b="0" i="1" smtClean="0">
                                  <a:solidFill>
                                    <a:srgbClr val="FF0000"/>
                                  </a:solidFill>
                                  <a:latin typeface="Cambria Math"/>
                                  <a:ea typeface="Cambria Math"/>
                                </a:rPr>
                                <m:t>𝜃</m:t>
                              </m:r>
                            </m:e>
                          </m:d>
                        </m:e>
                      </m:func>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b="0" i="1" smtClean="0">
                              <a:solidFill>
                                <a:srgbClr val="FF0000"/>
                              </a:solidFill>
                              <a:latin typeface="Cambria Math"/>
                            </a:rPr>
                            <m:t>2</m:t>
                          </m:r>
                        </m:sub>
                      </m:sSub>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a:rPr>
                            <m:t>s</m:t>
                          </m:r>
                          <m:r>
                            <m:rPr>
                              <m:sty m:val="p"/>
                            </m:rPr>
                            <a:rPr lang="en-US" b="0" i="0" smtClean="0">
                              <a:solidFill>
                                <a:srgbClr val="FF0000"/>
                              </a:solidFill>
                              <a:latin typeface="Cambria Math"/>
                            </a:rPr>
                            <m:t>in</m:t>
                          </m:r>
                        </m:fName>
                        <m:e>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r>
                                <a:rPr lang="en-US" i="1">
                                  <a:solidFill>
                                    <a:srgbClr val="FF0000"/>
                                  </a:solidFill>
                                  <a:latin typeface="Cambria Math"/>
                                  <a:ea typeface="Cambria Math"/>
                                </a:rPr>
                                <m:t>𝜃</m:t>
                              </m:r>
                            </m:e>
                          </m:d>
                        </m:e>
                      </m:func>
                      <m:r>
                        <a:rPr lang="en-US" b="0" i="1" smtClean="0">
                          <a:solidFill>
                            <a:srgbClr val="FF0000"/>
                          </a:solidFill>
                          <a:latin typeface="Cambria Math"/>
                        </a:rPr>
                        <m:t>)</m:t>
                      </m:r>
                    </m:oMath>
                  </m:oMathPara>
                </a14:m>
                <a:endParaRPr lang="en-US" dirty="0"/>
              </a:p>
              <a:p>
                <a:pPr marL="0" indent="0">
                  <a:buNone/>
                </a:pPr>
                <a:r>
                  <a:rPr lang="en-US" dirty="0"/>
                  <a:t>Where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oMath>
                </a14:m>
                <a:r>
                  <a:rPr lang="en-US" dirty="0"/>
                  <a:t> are constants.</a:t>
                </a:r>
              </a:p>
              <a:p>
                <a:pPr marL="0" indent="0">
                  <a:buNone/>
                </a:pPr>
                <a:r>
                  <a:rPr lang="en-US" dirty="0"/>
                  <a:t>To find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t> and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oMath>
                </a14:m>
                <a:r>
                  <a:rPr lang="en-US" dirty="0"/>
                  <a:t> we use initial conditions.</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3"/>
                <a:stretch>
                  <a:fillRect l="-1111" t="-1852"/>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3606203356"/>
              </p:ext>
            </p:extLst>
          </p:nvPr>
        </p:nvGraphicFramePr>
        <p:xfrm>
          <a:off x="2667000" y="2700337"/>
          <a:ext cx="2819400" cy="881063"/>
        </p:xfrm>
        <a:graphic>
          <a:graphicData uri="http://schemas.openxmlformats.org/presentationml/2006/ole">
            <mc:AlternateContent xmlns:mc="http://schemas.openxmlformats.org/markup-compatibility/2006">
              <mc:Choice xmlns:v="urn:schemas-microsoft-com:vml" Requires="v">
                <p:oleObj spid="_x0000_s8210" name="Equation" r:id="rId4" imgW="1625600" imgH="508000" progId="Equation.3">
                  <p:embed/>
                </p:oleObj>
              </mc:Choice>
              <mc:Fallback>
                <p:oleObj name="Equation" r:id="rId4" imgW="1625600" imgH="508000" progId="Equation.3">
                  <p:embed/>
                  <p:pic>
                    <p:nvPicPr>
                      <p:cNvPr id="0" name="Object 2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2700337"/>
                        <a:ext cx="281940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3043267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Find roots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2</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r>
                        <a:rPr lang="en-US" b="0" i="1" smtClean="0">
                          <a:solidFill>
                            <a:srgbClr val="FF0000"/>
                          </a:solidFill>
                          <a:latin typeface="Cambria Math"/>
                        </a:rPr>
                        <m:t>4</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oMath>
                  </m:oMathPara>
                </a14:m>
                <a:endParaRPr lang="en-US" dirty="0"/>
              </a:p>
              <a:p>
                <a:pPr marL="0" indent="0">
                  <a:buNone/>
                </a:pPr>
                <a:r>
                  <a:rPr lang="en-US" dirty="0"/>
                  <a:t>with </a:t>
                </a:r>
                <a14:m>
                  <m:oMath xmlns:m="http://schemas.openxmlformats.org/officeDocument/2006/math">
                    <m:r>
                      <a:rPr lang="en-US" i="1" dirty="0">
                        <a:solidFill>
                          <a:srgbClr val="FF0000"/>
                        </a:solidFill>
                        <a:latin typeface="Cambria Math"/>
                      </a:rPr>
                      <m:t>𝑎</m:t>
                    </m:r>
                    <m:r>
                      <a:rPr lang="en-US" b="0" i="1" baseline="-25000" dirty="0" smtClean="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4</m:t>
                    </m:r>
                    <m:r>
                      <a:rPr lang="en-US" i="1" dirty="0">
                        <a:solidFill>
                          <a:srgbClr val="FF0000"/>
                        </a:solidFill>
                        <a:latin typeface="Cambria Math"/>
                      </a:rPr>
                      <m:t>, </m:t>
                    </m:r>
                    <m:r>
                      <a:rPr lang="en-US" i="1" dirty="0">
                        <a:solidFill>
                          <a:srgbClr val="FF0000"/>
                        </a:solidFill>
                        <a:latin typeface="Cambria Math"/>
                      </a:rPr>
                      <m:t>𝑎</m:t>
                    </m:r>
                    <m:r>
                      <a:rPr lang="en-US" b="0" i="1" baseline="-25000" dirty="0" smtClean="0">
                        <a:solidFill>
                          <a:srgbClr val="FF0000"/>
                        </a:solidFill>
                        <a:latin typeface="Cambria Math"/>
                      </a:rPr>
                      <m:t>2</m:t>
                    </m:r>
                    <m:r>
                      <a:rPr lang="en-US" i="1" dirty="0">
                        <a:solidFill>
                          <a:srgbClr val="FF0000"/>
                        </a:solidFill>
                        <a:latin typeface="Cambria Math"/>
                      </a:rPr>
                      <m:t>=</m:t>
                    </m:r>
                    <m:r>
                      <a:rPr lang="en-US" b="0" i="1" dirty="0" smtClean="0">
                        <a:solidFill>
                          <a:srgbClr val="FF0000"/>
                        </a:solidFill>
                        <a:latin typeface="Cambria Math"/>
                      </a:rPr>
                      <m:t>4</m:t>
                    </m:r>
                  </m:oMath>
                </a14:m>
                <a:r>
                  <a:rPr lang="en-US" dirty="0"/>
                  <a:t>. </a:t>
                </a:r>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988"/>
                </a:stretch>
              </a:blipFill>
            </p:spPr>
            <p:txBody>
              <a:bodyPr/>
              <a:lstStyle/>
              <a:p>
                <a:r>
                  <a:rPr lang="en-US">
                    <a:noFill/>
                  </a:rPr>
                  <a:t> </a:t>
                </a:r>
              </a:p>
            </p:txBody>
          </p:sp>
        </mc:Fallback>
      </mc:AlternateContent>
    </p:spTree>
    <p:extLst>
      <p:ext uri="{BB962C8B-B14F-4D97-AF65-F5344CB8AC3E}">
        <p14:creationId xmlns:p14="http://schemas.microsoft.com/office/powerpoint/2010/main" val="42799713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23</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74</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457200" y="1219200"/>
                <a:ext cx="8229600" cy="5105400"/>
              </a:xfrm>
            </p:spPr>
            <p:txBody>
              <a:bodyPr>
                <a:normAutofit fontScale="85000" lnSpcReduction="10000"/>
              </a:bodyPr>
              <a:lstStyle/>
              <a:p>
                <a:pPr marL="0" indent="0">
                  <a:buNone/>
                </a:pPr>
                <a:r>
                  <a:rPr lang="en-US" dirty="0"/>
                  <a:t>Step 1: Find the roots of characteristic equation:</a:t>
                </a: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i="1">
                              <a:solidFill>
                                <a:srgbClr val="FF0000"/>
                              </a:solidFill>
                              <a:latin typeface="Cambria Math"/>
                            </a:rPr>
                            <m:t>2</m:t>
                          </m:r>
                        </m:sup>
                      </m:sSup>
                      <m:r>
                        <a:rPr lang="en-US" i="1">
                          <a:solidFill>
                            <a:srgbClr val="FF0000"/>
                          </a:solidFill>
                          <a:latin typeface="Cambria Math"/>
                        </a:rPr>
                        <m:t>−</m:t>
                      </m:r>
                      <m:r>
                        <a:rPr lang="en-US" b="0" i="1" smtClean="0">
                          <a:solidFill>
                            <a:srgbClr val="FF0000"/>
                          </a:solidFill>
                          <a:latin typeface="Cambria Math"/>
                        </a:rPr>
                        <m:t>2</m:t>
                      </m:r>
                      <m:r>
                        <a:rPr lang="en-US" i="1">
                          <a:solidFill>
                            <a:srgbClr val="FF0000"/>
                          </a:solidFill>
                          <a:latin typeface="Cambria Math"/>
                        </a:rPr>
                        <m:t>𝑟</m:t>
                      </m:r>
                      <m:r>
                        <a:rPr lang="en-US" i="1">
                          <a:solidFill>
                            <a:srgbClr val="FF0000"/>
                          </a:solidFill>
                          <a:latin typeface="Cambria Math"/>
                        </a:rPr>
                        <m:t>+4=0⇔</m:t>
                      </m:r>
                      <m:d>
                        <m:dPr>
                          <m:begChr m:val="{"/>
                          <m:endChr m:val=""/>
                          <m:ctrlPr>
                            <a:rPr lang="en-US" i="1" smtClean="0">
                              <a:solidFill>
                                <a:srgbClr val="FF0000"/>
                              </a:solidFill>
                              <a:latin typeface="Cambria Math" panose="02040503050406030204" pitchFamily="18" charset="0"/>
                              <a:ea typeface="Cambria Math"/>
                            </a:rPr>
                          </m:ctrlPr>
                        </m:dPr>
                        <m:e>
                          <m:eqArr>
                            <m:eqArrPr>
                              <m:ctrlPr>
                                <a:rPr lang="en-US" i="1" smtClean="0">
                                  <a:solidFill>
                                    <a:srgbClr val="FF0000"/>
                                  </a:solidFill>
                                  <a:latin typeface="Cambria Math" panose="02040503050406030204" pitchFamily="18" charset="0"/>
                                  <a:ea typeface="Cambria Math"/>
                                </a:rPr>
                              </m:ctrlPr>
                            </m:eqArrPr>
                            <m:e>
                              <m:sSub>
                                <m:sSubPr>
                                  <m:ctrlPr>
                                    <a:rPr lang="en-US" i="1" smtClean="0">
                                      <a:solidFill>
                                        <a:srgbClr val="FF0000"/>
                                      </a:solidFill>
                                      <a:latin typeface="Cambria Math" panose="02040503050406030204" pitchFamily="18" charset="0"/>
                                      <a:ea typeface="Cambria Math"/>
                                    </a:rPr>
                                  </m:ctrlPr>
                                </m:sSubPr>
                                <m:e>
                                  <m:r>
                                    <a:rPr lang="en-US" b="0" i="1" smtClean="0">
                                      <a:solidFill>
                                        <a:srgbClr val="FF0000"/>
                                      </a:solidFill>
                                      <a:latin typeface="Cambria Math"/>
                                      <a:ea typeface="Cambria Math"/>
                                    </a:rPr>
                                    <m:t>𝑟</m:t>
                                  </m:r>
                                </m:e>
                                <m:sub>
                                  <m:r>
                                    <a:rPr lang="en-US" b="0" i="1" smtClean="0">
                                      <a:solidFill>
                                        <a:srgbClr val="FF0000"/>
                                      </a:solidFill>
                                      <a:latin typeface="Cambria Math"/>
                                      <a:ea typeface="Cambria Math"/>
                                    </a:rPr>
                                    <m:t>1</m:t>
                                  </m:r>
                                </m:sub>
                              </m:sSub>
                              <m:r>
                                <a:rPr lang="en-US" b="0" i="1" smtClean="0">
                                  <a:solidFill>
                                    <a:srgbClr val="FF0000"/>
                                  </a:solidFill>
                                  <a:latin typeface="Cambria Math"/>
                                  <a:ea typeface="Cambria Math"/>
                                </a:rPr>
                                <m:t>=2(</m:t>
                              </m:r>
                              <m:func>
                                <m:funcPr>
                                  <m:ctrlPr>
                                    <a:rPr lang="en-US" b="0" i="1" smtClean="0">
                                      <a:solidFill>
                                        <a:srgbClr val="FF0000"/>
                                      </a:solidFill>
                                      <a:latin typeface="Cambria Math" panose="02040503050406030204" pitchFamily="18" charset="0"/>
                                      <a:ea typeface="Cambria Math"/>
                                    </a:rPr>
                                  </m:ctrlPr>
                                </m:funcPr>
                                <m:fName>
                                  <m:r>
                                    <m:rPr>
                                      <m:sty m:val="p"/>
                                    </m:rPr>
                                    <a:rPr lang="en-US" b="0" i="0" smtClean="0">
                                      <a:solidFill>
                                        <a:srgbClr val="FF0000"/>
                                      </a:solidFill>
                                      <a:latin typeface="Cambria Math"/>
                                      <a:ea typeface="Cambria Math"/>
                                    </a:rPr>
                                    <m:t>cos</m:t>
                                  </m:r>
                                </m:fName>
                                <m:e>
                                  <m:d>
                                    <m:dPr>
                                      <m:ctrlPr>
                                        <a:rPr lang="en-US" b="0" i="1" smtClean="0">
                                          <a:solidFill>
                                            <a:srgbClr val="FF0000"/>
                                          </a:solidFill>
                                          <a:latin typeface="Cambria Math" panose="02040503050406030204" pitchFamily="18" charset="0"/>
                                          <a:ea typeface="Cambria Math"/>
                                        </a:rPr>
                                      </m:ctrlPr>
                                    </m:dPr>
                                    <m:e>
                                      <m:f>
                                        <m:fPr>
                                          <m:ctrlPr>
                                            <a:rPr lang="en-US" b="0" i="1" smtClean="0">
                                              <a:solidFill>
                                                <a:srgbClr val="FF0000"/>
                                              </a:solidFill>
                                              <a:latin typeface="Cambria Math" panose="02040503050406030204" pitchFamily="18" charset="0"/>
                                              <a:ea typeface="Cambria Math"/>
                                            </a:rPr>
                                          </m:ctrlPr>
                                        </m:fPr>
                                        <m:num>
                                          <m:r>
                                            <a:rPr lang="en-US" b="0" i="1" smtClean="0">
                                              <a:solidFill>
                                                <a:srgbClr val="FF0000"/>
                                              </a:solidFill>
                                              <a:latin typeface="Cambria Math"/>
                                              <a:ea typeface="Cambria Math"/>
                                            </a:rPr>
                                            <m:t>𝜋</m:t>
                                          </m:r>
                                        </m:num>
                                        <m:den>
                                          <m:r>
                                            <a:rPr lang="en-US" b="0" i="1" smtClean="0">
                                              <a:solidFill>
                                                <a:srgbClr val="FF0000"/>
                                              </a:solidFill>
                                              <a:latin typeface="Cambria Math"/>
                                              <a:ea typeface="Cambria Math"/>
                                            </a:rPr>
                                            <m:t>3</m:t>
                                          </m:r>
                                        </m:den>
                                      </m:f>
                                    </m:e>
                                  </m:d>
                                </m:e>
                              </m:func>
                              <m:r>
                                <a:rPr lang="en-US" b="0" i="1" smtClean="0">
                                  <a:solidFill>
                                    <a:srgbClr val="FF0000"/>
                                  </a:solidFill>
                                  <a:latin typeface="Cambria Math"/>
                                  <a:ea typeface="Cambria Math"/>
                                </a:rPr>
                                <m:t>+</m:t>
                              </m:r>
                              <m:r>
                                <a:rPr lang="en-US" b="0" i="1" smtClean="0">
                                  <a:solidFill>
                                    <a:srgbClr val="FF0000"/>
                                  </a:solidFill>
                                  <a:latin typeface="Cambria Math"/>
                                  <a:ea typeface="Cambria Math"/>
                                </a:rPr>
                                <m:t>𝑖𝑠𝑖𝑛</m:t>
                              </m:r>
                              <m:d>
                                <m:dPr>
                                  <m:ctrlPr>
                                    <a:rPr lang="en-US" b="0" i="1" smtClean="0">
                                      <a:solidFill>
                                        <a:srgbClr val="FF0000"/>
                                      </a:solidFill>
                                      <a:latin typeface="Cambria Math" panose="02040503050406030204" pitchFamily="18" charset="0"/>
                                      <a:ea typeface="Cambria Math"/>
                                    </a:rPr>
                                  </m:ctrlPr>
                                </m:dPr>
                                <m:e>
                                  <m:f>
                                    <m:fPr>
                                      <m:ctrlPr>
                                        <a:rPr lang="en-US" b="0" i="1" smtClean="0">
                                          <a:solidFill>
                                            <a:srgbClr val="FF0000"/>
                                          </a:solidFill>
                                          <a:latin typeface="Cambria Math" panose="02040503050406030204" pitchFamily="18" charset="0"/>
                                          <a:ea typeface="Cambria Math"/>
                                        </a:rPr>
                                      </m:ctrlPr>
                                    </m:fPr>
                                    <m:num>
                                      <m:r>
                                        <a:rPr lang="en-US" b="0" i="1" smtClean="0">
                                          <a:solidFill>
                                            <a:srgbClr val="FF0000"/>
                                          </a:solidFill>
                                          <a:latin typeface="Cambria Math"/>
                                          <a:ea typeface="Cambria Math"/>
                                        </a:rPr>
                                        <m:t>𝜋</m:t>
                                      </m:r>
                                    </m:num>
                                    <m:den>
                                      <m:r>
                                        <a:rPr lang="en-US" b="0" i="1" smtClean="0">
                                          <a:solidFill>
                                            <a:srgbClr val="FF0000"/>
                                          </a:solidFill>
                                          <a:latin typeface="Cambria Math"/>
                                          <a:ea typeface="Cambria Math"/>
                                        </a:rPr>
                                        <m:t>3</m:t>
                                      </m:r>
                                    </m:den>
                                  </m:f>
                                </m:e>
                              </m:d>
                              <m:r>
                                <a:rPr lang="en-US" b="0" i="1" smtClean="0">
                                  <a:solidFill>
                                    <a:srgbClr val="FF0000"/>
                                  </a:solidFill>
                                  <a:latin typeface="Cambria Math"/>
                                  <a:ea typeface="Cambria Math"/>
                                </a:rPr>
                                <m:t>)</m:t>
                              </m:r>
                            </m:e>
                            <m:e>
                              <m:sSub>
                                <m:sSubPr>
                                  <m:ctrlPr>
                                    <a:rPr lang="en-US" i="1">
                                      <a:solidFill>
                                        <a:srgbClr val="FF0000"/>
                                      </a:solidFill>
                                      <a:latin typeface="Cambria Math" panose="02040503050406030204" pitchFamily="18" charset="0"/>
                                      <a:ea typeface="Cambria Math"/>
                                    </a:rPr>
                                  </m:ctrlPr>
                                </m:sSubPr>
                                <m:e>
                                  <m:r>
                                    <a:rPr lang="en-US" i="1">
                                      <a:solidFill>
                                        <a:srgbClr val="FF0000"/>
                                      </a:solidFill>
                                      <a:latin typeface="Cambria Math"/>
                                      <a:ea typeface="Cambria Math"/>
                                    </a:rPr>
                                    <m:t>𝑟</m:t>
                                  </m:r>
                                </m:e>
                                <m:sub>
                                  <m:r>
                                    <a:rPr lang="en-US" b="0" i="1" smtClean="0">
                                      <a:solidFill>
                                        <a:srgbClr val="FF0000"/>
                                      </a:solidFill>
                                      <a:latin typeface="Cambria Math"/>
                                      <a:ea typeface="Cambria Math"/>
                                    </a:rPr>
                                    <m:t>2</m:t>
                                  </m:r>
                                </m:sub>
                              </m:sSub>
                              <m:r>
                                <a:rPr lang="en-US" i="1">
                                  <a:solidFill>
                                    <a:srgbClr val="FF0000"/>
                                  </a:solidFill>
                                  <a:latin typeface="Cambria Math"/>
                                  <a:ea typeface="Cambria Math"/>
                                </a:rPr>
                                <m:t>=2(</m:t>
                              </m:r>
                              <m:func>
                                <m:funcPr>
                                  <m:ctrlPr>
                                    <a:rPr lang="en-US" i="1">
                                      <a:solidFill>
                                        <a:srgbClr val="FF0000"/>
                                      </a:solidFill>
                                      <a:latin typeface="Cambria Math" panose="02040503050406030204" pitchFamily="18" charset="0"/>
                                      <a:ea typeface="Cambria Math"/>
                                    </a:rPr>
                                  </m:ctrlPr>
                                </m:funcPr>
                                <m:fName>
                                  <m:r>
                                    <m:rPr>
                                      <m:sty m:val="p"/>
                                    </m:rPr>
                                    <a:rPr lang="en-US">
                                      <a:solidFill>
                                        <a:srgbClr val="FF0000"/>
                                      </a:solidFill>
                                      <a:latin typeface="Cambria Math"/>
                                      <a:ea typeface="Cambria Math"/>
                                    </a:rPr>
                                    <m:t>cos</m:t>
                                  </m:r>
                                </m:fName>
                                <m:e>
                                  <m:d>
                                    <m:dPr>
                                      <m:ctrlPr>
                                        <a:rPr lang="en-US" i="1">
                                          <a:solidFill>
                                            <a:srgbClr val="FF0000"/>
                                          </a:solidFill>
                                          <a:latin typeface="Cambria Math" panose="02040503050406030204" pitchFamily="18" charset="0"/>
                                          <a:ea typeface="Cambria Math"/>
                                        </a:rPr>
                                      </m:ctrlPr>
                                    </m:dPr>
                                    <m:e>
                                      <m:f>
                                        <m:fPr>
                                          <m:ctrlPr>
                                            <a:rPr lang="en-US" i="1">
                                              <a:solidFill>
                                                <a:srgbClr val="FF0000"/>
                                              </a:solidFill>
                                              <a:latin typeface="Cambria Math" panose="02040503050406030204" pitchFamily="18" charset="0"/>
                                              <a:ea typeface="Cambria Math"/>
                                            </a:rPr>
                                          </m:ctrlPr>
                                        </m:fPr>
                                        <m:num>
                                          <m:r>
                                            <a:rPr lang="en-US" i="1">
                                              <a:solidFill>
                                                <a:srgbClr val="FF0000"/>
                                              </a:solidFill>
                                              <a:latin typeface="Cambria Math"/>
                                              <a:ea typeface="Cambria Math"/>
                                            </a:rPr>
                                            <m:t>𝜋</m:t>
                                          </m:r>
                                        </m:num>
                                        <m:den>
                                          <m:r>
                                            <a:rPr lang="en-US" i="1">
                                              <a:solidFill>
                                                <a:srgbClr val="FF0000"/>
                                              </a:solidFill>
                                              <a:latin typeface="Cambria Math"/>
                                              <a:ea typeface="Cambria Math"/>
                                            </a:rPr>
                                            <m:t>3</m:t>
                                          </m:r>
                                        </m:den>
                                      </m:f>
                                    </m:e>
                                  </m:d>
                                </m:e>
                              </m:func>
                              <m:r>
                                <a:rPr lang="en-US" b="0" i="1" smtClean="0">
                                  <a:solidFill>
                                    <a:srgbClr val="FF0000"/>
                                  </a:solidFill>
                                  <a:latin typeface="Cambria Math"/>
                                  <a:ea typeface="Cambria Math"/>
                                </a:rPr>
                                <m:t>−</m:t>
                              </m:r>
                              <m:r>
                                <a:rPr lang="en-US" i="1">
                                  <a:solidFill>
                                    <a:srgbClr val="FF0000"/>
                                  </a:solidFill>
                                  <a:latin typeface="Cambria Math"/>
                                  <a:ea typeface="Cambria Math"/>
                                </a:rPr>
                                <m:t>𝑖𝑠𝑖𝑛</m:t>
                              </m:r>
                              <m:d>
                                <m:dPr>
                                  <m:ctrlPr>
                                    <a:rPr lang="en-US" i="1">
                                      <a:solidFill>
                                        <a:srgbClr val="FF0000"/>
                                      </a:solidFill>
                                      <a:latin typeface="Cambria Math" panose="02040503050406030204" pitchFamily="18" charset="0"/>
                                      <a:ea typeface="Cambria Math"/>
                                    </a:rPr>
                                  </m:ctrlPr>
                                </m:dPr>
                                <m:e>
                                  <m:f>
                                    <m:fPr>
                                      <m:ctrlPr>
                                        <a:rPr lang="en-US" i="1">
                                          <a:solidFill>
                                            <a:srgbClr val="FF0000"/>
                                          </a:solidFill>
                                          <a:latin typeface="Cambria Math" panose="02040503050406030204" pitchFamily="18" charset="0"/>
                                          <a:ea typeface="Cambria Math"/>
                                        </a:rPr>
                                      </m:ctrlPr>
                                    </m:fPr>
                                    <m:num>
                                      <m:r>
                                        <a:rPr lang="en-US" i="1">
                                          <a:solidFill>
                                            <a:srgbClr val="FF0000"/>
                                          </a:solidFill>
                                          <a:latin typeface="Cambria Math"/>
                                          <a:ea typeface="Cambria Math"/>
                                        </a:rPr>
                                        <m:t>𝜋</m:t>
                                      </m:r>
                                    </m:num>
                                    <m:den>
                                      <m:r>
                                        <a:rPr lang="en-US" i="1">
                                          <a:solidFill>
                                            <a:srgbClr val="FF0000"/>
                                          </a:solidFill>
                                          <a:latin typeface="Cambria Math"/>
                                          <a:ea typeface="Cambria Math"/>
                                        </a:rPr>
                                        <m:t>3</m:t>
                                      </m:r>
                                    </m:den>
                                  </m:f>
                                </m:e>
                              </m:d>
                              <m:r>
                                <a:rPr lang="en-US" i="1">
                                  <a:solidFill>
                                    <a:srgbClr val="FF0000"/>
                                  </a:solidFill>
                                  <a:latin typeface="Cambria Math"/>
                                  <a:ea typeface="Cambria Math"/>
                                </a:rPr>
                                <m:t>)</m:t>
                              </m:r>
                            </m:e>
                          </m:eqArr>
                        </m:e>
                      </m:d>
                    </m:oMath>
                  </m:oMathPara>
                </a14:m>
                <a:endParaRPr lang="en-US" dirty="0"/>
              </a:p>
              <a:p>
                <a:pPr marL="0" indent="0">
                  <a:buNone/>
                </a:pPr>
                <a:r>
                  <a:rPr lang="en-US" dirty="0"/>
                  <a:t>Step 2: Construct general formula for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m:t>
                        </m:r>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oMath>
                </a14:m>
                <a:endParaRPr lang="en-US" dirty="0"/>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b="0" i="1" smtClean="0">
                              <a:solidFill>
                                <a:srgbClr val="FF0000"/>
                              </a:solidFill>
                              <a:latin typeface="Cambria Math"/>
                            </a:rPr>
                            <m:t>2</m:t>
                          </m:r>
                        </m:e>
                        <m:sup>
                          <m:r>
                            <a:rPr lang="en-US" i="1">
                              <a:solidFill>
                                <a:srgbClr val="FF0000"/>
                              </a:solidFill>
                              <a:latin typeface="Cambria Math"/>
                            </a:rPr>
                            <m:t>𝑛</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a:rPr>
                            <m:t>cos</m:t>
                          </m:r>
                        </m:fName>
                        <m:e>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f>
                                <m:fPr>
                                  <m:ctrlPr>
                                    <a:rPr lang="en-US" i="1">
                                      <a:solidFill>
                                        <a:srgbClr val="FF0000"/>
                                      </a:solidFill>
                                      <a:latin typeface="Cambria Math" panose="02040503050406030204" pitchFamily="18" charset="0"/>
                                      <a:ea typeface="Cambria Math"/>
                                    </a:rPr>
                                  </m:ctrlPr>
                                </m:fPr>
                                <m:num>
                                  <m:r>
                                    <a:rPr lang="en-US" i="1">
                                      <a:solidFill>
                                        <a:srgbClr val="FF0000"/>
                                      </a:solidFill>
                                      <a:latin typeface="Cambria Math"/>
                                      <a:ea typeface="Cambria Math"/>
                                    </a:rPr>
                                    <m:t>𝜋</m:t>
                                  </m:r>
                                </m:num>
                                <m:den>
                                  <m:r>
                                    <a:rPr lang="en-US" i="1">
                                      <a:solidFill>
                                        <a:srgbClr val="FF0000"/>
                                      </a:solidFill>
                                      <a:latin typeface="Cambria Math"/>
                                      <a:ea typeface="Cambria Math"/>
                                    </a:rPr>
                                    <m:t>3</m:t>
                                  </m:r>
                                </m:den>
                              </m:f>
                            </m:e>
                          </m:d>
                        </m:e>
                      </m:func>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a:rPr>
                            <m:t>sin</m:t>
                          </m:r>
                        </m:fName>
                        <m:e>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f>
                                <m:fPr>
                                  <m:ctrlPr>
                                    <a:rPr lang="en-US" i="1">
                                      <a:solidFill>
                                        <a:srgbClr val="FF0000"/>
                                      </a:solidFill>
                                      <a:latin typeface="Cambria Math" panose="02040503050406030204" pitchFamily="18" charset="0"/>
                                      <a:ea typeface="Cambria Math"/>
                                    </a:rPr>
                                  </m:ctrlPr>
                                </m:fPr>
                                <m:num>
                                  <m:r>
                                    <a:rPr lang="en-US" i="1">
                                      <a:solidFill>
                                        <a:srgbClr val="FF0000"/>
                                      </a:solidFill>
                                      <a:latin typeface="Cambria Math"/>
                                      <a:ea typeface="Cambria Math"/>
                                    </a:rPr>
                                    <m:t>𝜋</m:t>
                                  </m:r>
                                </m:num>
                                <m:den>
                                  <m:r>
                                    <a:rPr lang="en-US" i="1">
                                      <a:solidFill>
                                        <a:srgbClr val="FF0000"/>
                                      </a:solidFill>
                                      <a:latin typeface="Cambria Math"/>
                                      <a:ea typeface="Cambria Math"/>
                                    </a:rPr>
                                    <m:t>3</m:t>
                                  </m:r>
                                </m:den>
                              </m:f>
                            </m:e>
                          </m:d>
                        </m:e>
                      </m:func>
                      <m:r>
                        <a:rPr lang="en-US" i="1">
                          <a:solidFill>
                            <a:srgbClr val="FF0000"/>
                          </a:solidFill>
                          <a:latin typeface="Cambria Math"/>
                        </a:rPr>
                        <m:t>)</m:t>
                      </m:r>
                    </m:oMath>
                  </m:oMathPara>
                </a14:m>
                <a:endParaRPr lang="en-US" dirty="0"/>
              </a:p>
              <a:p>
                <a:pPr marL="0" indent="0">
                  <a:buNone/>
                </a:pPr>
                <a:r>
                  <a:rPr lang="en-US" dirty="0"/>
                  <a:t>Step 3: Determine constants base on initial conditions</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Step 4: Complete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p>
                        <m:sSupPr>
                          <m:ctrlPr>
                            <a:rPr lang="en-US" i="1">
                              <a:solidFill>
                                <a:srgbClr val="FF0000"/>
                              </a:solidFill>
                              <a:latin typeface="Cambria Math" panose="02040503050406030204" pitchFamily="18" charset="0"/>
                            </a:rPr>
                          </m:ctrlPr>
                        </m:sSupPr>
                        <m:e>
                          <m:r>
                            <a:rPr lang="en-US" i="1">
                              <a:solidFill>
                                <a:srgbClr val="FF0000"/>
                              </a:solidFill>
                              <a:latin typeface="Cambria Math"/>
                            </a:rPr>
                            <m:t>2</m:t>
                          </m:r>
                        </m:e>
                        <m:sup>
                          <m:r>
                            <a:rPr lang="en-US" i="1">
                              <a:solidFill>
                                <a:srgbClr val="FF0000"/>
                              </a:solidFill>
                              <a:latin typeface="Cambria Math"/>
                            </a:rPr>
                            <m:t>𝑛</m:t>
                          </m:r>
                        </m:sup>
                      </m:sSup>
                      <m:r>
                        <a:rPr lang="en-US" i="1">
                          <a:solidFill>
                            <a:srgbClr val="FF0000"/>
                          </a:solidFill>
                          <a:latin typeface="Cambria Math"/>
                        </a:rPr>
                        <m:t>(</m:t>
                      </m:r>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a:rPr>
                            <m:t>cos</m:t>
                          </m:r>
                        </m:fName>
                        <m:e>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f>
                                <m:fPr>
                                  <m:ctrlPr>
                                    <a:rPr lang="en-US" i="1">
                                      <a:solidFill>
                                        <a:srgbClr val="FF0000"/>
                                      </a:solidFill>
                                      <a:latin typeface="Cambria Math" panose="02040503050406030204" pitchFamily="18" charset="0"/>
                                      <a:ea typeface="Cambria Math"/>
                                    </a:rPr>
                                  </m:ctrlPr>
                                </m:fPr>
                                <m:num>
                                  <m:r>
                                    <a:rPr lang="en-US" i="1">
                                      <a:solidFill>
                                        <a:srgbClr val="FF0000"/>
                                      </a:solidFill>
                                      <a:latin typeface="Cambria Math"/>
                                      <a:ea typeface="Cambria Math"/>
                                    </a:rPr>
                                    <m:t>𝜋</m:t>
                                  </m:r>
                                </m:num>
                                <m:den>
                                  <m:r>
                                    <a:rPr lang="en-US" i="1">
                                      <a:solidFill>
                                        <a:srgbClr val="FF0000"/>
                                      </a:solidFill>
                                      <a:latin typeface="Cambria Math"/>
                                      <a:ea typeface="Cambria Math"/>
                                    </a:rPr>
                                    <m:t>3</m:t>
                                  </m:r>
                                </m:den>
                              </m:f>
                            </m:e>
                          </m:d>
                        </m:e>
                      </m:func>
                      <m:r>
                        <a:rPr lang="en-US" i="1">
                          <a:solidFill>
                            <a:srgbClr val="FF0000"/>
                          </a:solidFill>
                          <a:latin typeface="Cambria Math"/>
                        </a:rPr>
                        <m:t>+</m:t>
                      </m:r>
                      <m:rad>
                        <m:radPr>
                          <m:degHide m:val="on"/>
                          <m:ctrlPr>
                            <a:rPr lang="en-US" i="1" smtClean="0">
                              <a:solidFill>
                                <a:srgbClr val="FF0000"/>
                              </a:solidFill>
                              <a:latin typeface="Cambria Math" panose="02040503050406030204" pitchFamily="18" charset="0"/>
                            </a:rPr>
                          </m:ctrlPr>
                        </m:radPr>
                        <m:deg/>
                        <m:e>
                          <m:r>
                            <a:rPr lang="en-US" b="0" i="1" smtClean="0">
                              <a:solidFill>
                                <a:srgbClr val="FF0000"/>
                              </a:solidFill>
                              <a:latin typeface="Cambria Math"/>
                            </a:rPr>
                            <m:t>3</m:t>
                          </m:r>
                        </m:e>
                      </m:rad>
                      <m:func>
                        <m:funcPr>
                          <m:ctrlPr>
                            <a:rPr lang="en-US" i="1">
                              <a:solidFill>
                                <a:srgbClr val="FF0000"/>
                              </a:solidFill>
                              <a:latin typeface="Cambria Math" panose="02040503050406030204" pitchFamily="18" charset="0"/>
                            </a:rPr>
                          </m:ctrlPr>
                        </m:funcPr>
                        <m:fName>
                          <m:r>
                            <m:rPr>
                              <m:sty m:val="p"/>
                            </m:rPr>
                            <a:rPr lang="en-US">
                              <a:solidFill>
                                <a:srgbClr val="FF0000"/>
                              </a:solidFill>
                              <a:latin typeface="Cambria Math"/>
                            </a:rPr>
                            <m:t>sin</m:t>
                          </m:r>
                        </m:fName>
                        <m:e>
                          <m:d>
                            <m:dPr>
                              <m:ctrlPr>
                                <a:rPr lang="en-US" i="1">
                                  <a:solidFill>
                                    <a:srgbClr val="FF0000"/>
                                  </a:solidFill>
                                  <a:latin typeface="Cambria Math" panose="02040503050406030204" pitchFamily="18" charset="0"/>
                                </a:rPr>
                              </m:ctrlPr>
                            </m:dPr>
                            <m:e>
                              <m:r>
                                <a:rPr lang="en-US" i="1">
                                  <a:solidFill>
                                    <a:srgbClr val="FF0000"/>
                                  </a:solidFill>
                                  <a:latin typeface="Cambria Math"/>
                                </a:rPr>
                                <m:t>𝑛</m:t>
                              </m:r>
                              <m:f>
                                <m:fPr>
                                  <m:ctrlPr>
                                    <a:rPr lang="en-US" i="1">
                                      <a:solidFill>
                                        <a:srgbClr val="FF0000"/>
                                      </a:solidFill>
                                      <a:latin typeface="Cambria Math" panose="02040503050406030204" pitchFamily="18" charset="0"/>
                                      <a:ea typeface="Cambria Math"/>
                                    </a:rPr>
                                  </m:ctrlPr>
                                </m:fPr>
                                <m:num>
                                  <m:r>
                                    <a:rPr lang="en-US" i="1">
                                      <a:solidFill>
                                        <a:srgbClr val="FF0000"/>
                                      </a:solidFill>
                                      <a:latin typeface="Cambria Math"/>
                                      <a:ea typeface="Cambria Math"/>
                                    </a:rPr>
                                    <m:t>𝜋</m:t>
                                  </m:r>
                                </m:num>
                                <m:den>
                                  <m:r>
                                    <a:rPr lang="en-US" i="1">
                                      <a:solidFill>
                                        <a:srgbClr val="FF0000"/>
                                      </a:solidFill>
                                      <a:latin typeface="Cambria Math"/>
                                      <a:ea typeface="Cambria Math"/>
                                    </a:rPr>
                                    <m:t>3</m:t>
                                  </m:r>
                                </m:den>
                              </m:f>
                            </m:e>
                          </m:d>
                        </m:e>
                      </m:func>
                      <m:r>
                        <a:rPr lang="en-US" i="1">
                          <a:solidFill>
                            <a:srgbClr val="FF0000"/>
                          </a:solidFill>
                          <a:latin typeface="Cambria Math"/>
                        </a:rPr>
                        <m:t>)</m:t>
                      </m:r>
                    </m:oMath>
                  </m:oMathPara>
                </a14:m>
                <a:endParaRPr lang="en-US" dirty="0"/>
              </a:p>
              <a:p>
                <a:pPr marL="0" indent="0">
                  <a:buNone/>
                </a:pPr>
                <a:endParaRPr lang="en-US" dirty="0"/>
              </a:p>
              <a:p>
                <a:pPr marL="0" indent="0">
                  <a:buNone/>
                </a:pPr>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457200" y="1219200"/>
                <a:ext cx="8229600" cy="5105400"/>
              </a:xfrm>
              <a:blipFill>
                <a:blip r:embed="rId3"/>
                <a:stretch>
                  <a:fillRect l="-741" t="-1193"/>
                </a:stretch>
              </a:blipFill>
            </p:spPr>
            <p:txBody>
              <a:bodyPr/>
              <a:lstStyle/>
              <a:p>
                <a:r>
                  <a:rPr lang="en-US">
                    <a:noFill/>
                  </a:rPr>
                  <a:t> </a:t>
                </a:r>
              </a:p>
            </p:txBody>
          </p:sp>
        </mc:Fallback>
      </mc:AlternateContent>
      <p:graphicFrame>
        <p:nvGraphicFramePr>
          <p:cNvPr id="6" name="Object 5"/>
          <p:cNvGraphicFramePr>
            <a:graphicFrameLocks noChangeAspect="1"/>
          </p:cNvGraphicFramePr>
          <p:nvPr>
            <p:extLst>
              <p:ext uri="{D42A27DB-BD31-4B8C-83A1-F6EECF244321}">
                <p14:modId xmlns:p14="http://schemas.microsoft.com/office/powerpoint/2010/main" val="250069084"/>
              </p:ext>
            </p:extLst>
          </p:nvPr>
        </p:nvGraphicFramePr>
        <p:xfrm>
          <a:off x="2282825" y="3962400"/>
          <a:ext cx="4540250" cy="1438275"/>
        </p:xfrm>
        <a:graphic>
          <a:graphicData uri="http://schemas.openxmlformats.org/presentationml/2006/ole">
            <mc:AlternateContent xmlns:mc="http://schemas.openxmlformats.org/markup-compatibility/2006">
              <mc:Choice xmlns:v="urn:schemas-microsoft-com:vml" Requires="v">
                <p:oleObj spid="_x0000_s9234" name="Equation" r:id="rId4" imgW="2590560" imgH="1041120" progId="Equation.3">
                  <p:embed/>
                </p:oleObj>
              </mc:Choice>
              <mc:Fallback>
                <p:oleObj name="Equation" r:id="rId4" imgW="2590560" imgH="1041120" progId="Equation.3">
                  <p:embed/>
                  <p:pic>
                    <p:nvPicPr>
                      <p:cNvPr id="0" name="Object 24"/>
                      <p:cNvPicPr>
                        <a:picLocks noChangeAspect="1" noChangeArrowheads="1"/>
                      </p:cNvPicPr>
                      <p:nvPr/>
                    </p:nvPicPr>
                    <p:blipFill>
                      <a:blip r:embed="rId5"/>
                      <a:srcRect/>
                      <a:stretch>
                        <a:fillRect/>
                      </a:stretch>
                    </p:blipFill>
                    <p:spPr bwMode="auto">
                      <a:xfrm>
                        <a:off x="2282825" y="3962400"/>
                        <a:ext cx="4540250" cy="143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3574860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case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75</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Theorem</a:t>
                </a:r>
                <a:r>
                  <a:rPr lang="en-US" dirty="0"/>
                  <a:t>: Give </a:t>
                </a:r>
                <a14:m>
                  <m:oMath xmlns:m="http://schemas.openxmlformats.org/officeDocument/2006/math">
                    <m:r>
                      <a:rPr lang="en-US" i="1" dirty="0" smtClean="0">
                        <a:latin typeface="Cambria Math"/>
                      </a:rPr>
                      <m:t>𝑐</m:t>
                    </m:r>
                    <m:r>
                      <a:rPr lang="en-US" i="1" baseline="-25000" dirty="0">
                        <a:latin typeface="Cambria Math"/>
                      </a:rPr>
                      <m:t>1</m:t>
                    </m:r>
                    <m:r>
                      <a:rPr lang="en-US" i="1" dirty="0">
                        <a:latin typeface="Cambria Math"/>
                      </a:rPr>
                      <m:t>, </m:t>
                    </m:r>
                    <m:r>
                      <a:rPr lang="en-US" i="1" dirty="0">
                        <a:latin typeface="Cambria Math"/>
                      </a:rPr>
                      <m:t>𝑐</m:t>
                    </m:r>
                    <m:r>
                      <a:rPr lang="en-US" i="1" baseline="-25000" dirty="0">
                        <a:latin typeface="Cambria Math"/>
                      </a:rPr>
                      <m:t>2</m:t>
                    </m:r>
                    <m:r>
                      <a:rPr lang="en-US" i="1" dirty="0">
                        <a:latin typeface="Cambria Math"/>
                      </a:rPr>
                      <m:t> , …</m:t>
                    </m:r>
                    <m:r>
                      <a:rPr lang="en-US" b="0" i="1" dirty="0" smtClean="0">
                        <a:latin typeface="Cambria Math"/>
                      </a:rPr>
                      <m:t>,</m:t>
                    </m:r>
                    <m:r>
                      <a:rPr lang="en-US" i="1" dirty="0">
                        <a:latin typeface="Cambria Math"/>
                      </a:rPr>
                      <m:t> </m:t>
                    </m:r>
                    <m:r>
                      <a:rPr lang="en-US" i="1" dirty="0" err="1">
                        <a:latin typeface="Cambria Math"/>
                      </a:rPr>
                      <m:t>𝑐</m:t>
                    </m:r>
                    <m:r>
                      <a:rPr lang="en-US" i="1" baseline="-25000" dirty="0" err="1">
                        <a:latin typeface="Cambria Math"/>
                      </a:rPr>
                      <m:t>𝑘</m:t>
                    </m:r>
                    <m:r>
                      <a:rPr lang="en-US" i="1" baseline="-25000" dirty="0">
                        <a:latin typeface="Cambria Math"/>
                      </a:rPr>
                      <m:t> </m:t>
                    </m:r>
                  </m:oMath>
                </a14:m>
                <a:r>
                  <a:rPr lang="en-US" dirty="0"/>
                  <a:t> are real numbers. Assume </a:t>
                </a:r>
                <a:r>
                  <a:rPr lang="en-US" dirty="0" err="1"/>
                  <a:t>là</a:t>
                </a:r>
                <a:r>
                  <a:rPr lang="en-US" dirty="0"/>
                  <a:t> </a:t>
                </a:r>
                <a:r>
                  <a:rPr lang="en-US" dirty="0" err="1"/>
                  <a:t>các</a:t>
                </a:r>
                <a:r>
                  <a:rPr lang="en-US" dirty="0"/>
                  <a:t> </a:t>
                </a:r>
                <a:r>
                  <a:rPr lang="en-US" dirty="0" err="1"/>
                  <a:t>số</a:t>
                </a:r>
                <a:r>
                  <a:rPr lang="en-US" dirty="0"/>
                  <a:t> </a:t>
                </a:r>
                <a:r>
                  <a:rPr lang="en-US" dirty="0" err="1"/>
                  <a:t>thực</a:t>
                </a:r>
                <a:r>
                  <a:rPr lang="en-US" dirty="0"/>
                  <a:t>. </a:t>
                </a:r>
                <a:r>
                  <a:rPr lang="en-US" dirty="0" err="1"/>
                  <a:t>Giả</a:t>
                </a:r>
                <a:r>
                  <a:rPr lang="en-US" dirty="0"/>
                  <a:t> </a:t>
                </a:r>
                <a:r>
                  <a:rPr lang="en-US" dirty="0" err="1"/>
                  <a:t>sử</a:t>
                </a:r>
                <a:r>
                  <a:rPr lang="en-US" dirty="0"/>
                  <a:t> characteristic equation:</a:t>
                </a:r>
              </a:p>
              <a:p>
                <a:pPr marL="0" indent="0">
                  <a:buNone/>
                </a:pPr>
                <a14:m>
                  <m:oMathPara xmlns:m="http://schemas.openxmlformats.org/officeDocument/2006/math">
                    <m:oMathParaPr>
                      <m:jc m:val="centerGroup"/>
                    </m:oMathParaPr>
                    <m:oMath xmlns:m="http://schemas.openxmlformats.org/officeDocument/2006/math">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b="0" i="1" smtClean="0">
                              <a:solidFill>
                                <a:srgbClr val="FF0000"/>
                              </a:solidFill>
                              <a:latin typeface="Cambria Math"/>
                            </a:rPr>
                            <m:t>𝑘</m:t>
                          </m:r>
                        </m:sup>
                      </m:sSup>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sSup>
                        <m:sSupPr>
                          <m:ctrlPr>
                            <a:rPr lang="en-US" i="1">
                              <a:solidFill>
                                <a:srgbClr val="FF0000"/>
                              </a:solidFill>
                              <a:latin typeface="Cambria Math" panose="02040503050406030204" pitchFamily="18" charset="0"/>
                            </a:rPr>
                          </m:ctrlPr>
                        </m:sSupPr>
                        <m:e>
                          <m:r>
                            <a:rPr lang="en-US" i="1">
                              <a:solidFill>
                                <a:srgbClr val="FF0000"/>
                              </a:solidFill>
                              <a:latin typeface="Cambria Math"/>
                            </a:rPr>
                            <m:t>𝑟</m:t>
                          </m:r>
                        </m:e>
                        <m:sup>
                          <m:r>
                            <a:rPr lang="en-US" i="1">
                              <a:solidFill>
                                <a:srgbClr val="FF0000"/>
                              </a:solidFill>
                              <a:latin typeface="Cambria Math"/>
                            </a:rPr>
                            <m:t>𝑘</m:t>
                          </m:r>
                          <m:r>
                            <a:rPr lang="en-US" b="0" i="1" smtClean="0">
                              <a:solidFill>
                                <a:srgbClr val="FF0000"/>
                              </a:solidFill>
                              <a:latin typeface="Cambria Math"/>
                            </a:rPr>
                            <m:t>−1</m:t>
                          </m:r>
                        </m:sup>
                      </m:sSup>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𝑐</m:t>
                          </m:r>
                        </m:e>
                        <m:sub>
                          <m:r>
                            <a:rPr lang="en-US" b="0" i="1" smtClean="0">
                              <a:solidFill>
                                <a:srgbClr val="FF0000"/>
                              </a:solidFill>
                              <a:latin typeface="Cambria Math"/>
                            </a:rPr>
                            <m:t>𝑘</m:t>
                          </m:r>
                          <m:r>
                            <a:rPr lang="en-US" b="0" i="1" smtClean="0">
                              <a:solidFill>
                                <a:srgbClr val="FF0000"/>
                              </a:solidFill>
                              <a:latin typeface="Cambria Math"/>
                            </a:rPr>
                            <m:t>−1</m:t>
                          </m:r>
                        </m:sub>
                      </m:sSub>
                      <m:r>
                        <a:rPr lang="en-US" b="0" i="1" smtClean="0">
                          <a:solidFill>
                            <a:srgbClr val="FF0000"/>
                          </a:solidFill>
                          <a:latin typeface="Cambria Math"/>
                        </a:rPr>
                        <m:t>𝑟</m:t>
                      </m:r>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b="0" i="1" smtClean="0">
                              <a:solidFill>
                                <a:srgbClr val="FF0000"/>
                              </a:solidFill>
                              <a:latin typeface="Cambria Math"/>
                            </a:rPr>
                            <m:t>𝑘</m:t>
                          </m:r>
                        </m:sub>
                      </m:sSub>
                      <m:r>
                        <a:rPr lang="en-US" i="1">
                          <a:solidFill>
                            <a:srgbClr val="FF0000"/>
                          </a:solidFill>
                          <a:latin typeface="Cambria Math"/>
                        </a:rPr>
                        <m:t>=0</m:t>
                      </m:r>
                    </m:oMath>
                  </m:oMathPara>
                </a14:m>
                <a:endParaRPr lang="en-US" dirty="0"/>
              </a:p>
              <a:p>
                <a:pPr marL="0" indent="0">
                  <a:buNone/>
                </a:pPr>
                <a:r>
                  <a:rPr lang="en-US" dirty="0"/>
                  <a:t>has </a:t>
                </a:r>
                <a14:m>
                  <m:oMath xmlns:m="http://schemas.openxmlformats.org/officeDocument/2006/math">
                    <m:r>
                      <a:rPr lang="en-US" i="1" dirty="0" smtClean="0">
                        <a:latin typeface="Cambria Math"/>
                      </a:rPr>
                      <m:t>𝑘</m:t>
                    </m:r>
                  </m:oMath>
                </a14:m>
                <a:r>
                  <a:rPr lang="en-US" dirty="0"/>
                  <a:t> distinct roots </a:t>
                </a:r>
                <a14:m>
                  <m:oMath xmlns:m="http://schemas.openxmlformats.org/officeDocument/2006/math">
                    <m:r>
                      <a:rPr lang="en-US" i="1" dirty="0" smtClean="0">
                        <a:solidFill>
                          <a:srgbClr val="FF0000"/>
                        </a:solidFill>
                        <a:latin typeface="Cambria Math"/>
                      </a:rPr>
                      <m:t>𝑟</m:t>
                    </m:r>
                    <m:r>
                      <a:rPr lang="en-US" i="1" baseline="-25000" dirty="0">
                        <a:solidFill>
                          <a:srgbClr val="FF0000"/>
                        </a:solidFill>
                        <a:latin typeface="Cambria Math"/>
                      </a:rPr>
                      <m:t>1</m:t>
                    </m:r>
                    <m:r>
                      <a:rPr lang="en-US" i="1" dirty="0">
                        <a:solidFill>
                          <a:srgbClr val="FF0000"/>
                        </a:solidFill>
                        <a:latin typeface="Cambria Math"/>
                      </a:rPr>
                      <m:t>, </m:t>
                    </m:r>
                    <m:r>
                      <a:rPr lang="en-US" i="1" dirty="0">
                        <a:solidFill>
                          <a:srgbClr val="FF0000"/>
                        </a:solidFill>
                        <a:latin typeface="Cambria Math"/>
                      </a:rPr>
                      <m:t>𝑟</m:t>
                    </m:r>
                    <m:r>
                      <a:rPr lang="en-US" i="1" baseline="-25000" dirty="0">
                        <a:solidFill>
                          <a:srgbClr val="FF0000"/>
                        </a:solidFill>
                        <a:latin typeface="Cambria Math"/>
                      </a:rPr>
                      <m:t>2</m:t>
                    </m:r>
                    <m:r>
                      <a:rPr lang="en-US" i="1" dirty="0">
                        <a:solidFill>
                          <a:srgbClr val="FF0000"/>
                        </a:solidFill>
                        <a:latin typeface="Cambria Math"/>
                      </a:rPr>
                      <m:t>, …, </m:t>
                    </m:r>
                    <m:r>
                      <a:rPr lang="en-US" i="1" dirty="0" err="1" smtClean="0">
                        <a:solidFill>
                          <a:srgbClr val="FF0000"/>
                        </a:solidFill>
                        <a:latin typeface="Cambria Math"/>
                      </a:rPr>
                      <m:t>𝑟</m:t>
                    </m:r>
                    <m:r>
                      <a:rPr lang="en-US" i="1" baseline="-25000" dirty="0" err="1" smtClean="0">
                        <a:solidFill>
                          <a:srgbClr val="FF0000"/>
                        </a:solidFill>
                        <a:latin typeface="Cambria Math"/>
                      </a:rPr>
                      <m:t>𝑘</m:t>
                    </m:r>
                  </m:oMath>
                </a14:m>
                <a:r>
                  <a:rPr lang="en-US" dirty="0"/>
                  <a:t>. </a:t>
                </a:r>
              </a:p>
              <a:p>
                <a:pPr marL="0" indent="0">
                  <a:buNone/>
                </a:pPr>
                <a:r>
                  <a:rPr lang="en-US" dirty="0"/>
                  <a:t>Then, sequence </a:t>
                </a:r>
                <a14:m>
                  <m:oMath xmlns:m="http://schemas.openxmlformats.org/officeDocument/2006/math">
                    <m:r>
                      <a:rPr lang="en-US" i="1" dirty="0">
                        <a:latin typeface="Cambria Math"/>
                      </a:rPr>
                      <m:t>{</m:t>
                    </m:r>
                    <m:sSub>
                      <m:sSubPr>
                        <m:ctrlPr>
                          <a:rPr lang="en-US" i="1" dirty="0">
                            <a:latin typeface="Cambria Math" panose="02040503050406030204" pitchFamily="18" charset="0"/>
                          </a:rPr>
                        </m:ctrlPr>
                      </m:sSubPr>
                      <m:e>
                        <m:r>
                          <a:rPr lang="en-US" i="1" dirty="0">
                            <a:latin typeface="Cambria Math"/>
                          </a:rPr>
                          <m:t>𝑎</m:t>
                        </m:r>
                      </m:e>
                      <m:sub>
                        <m:r>
                          <a:rPr lang="en-US" i="1" dirty="0">
                            <a:latin typeface="Cambria Math"/>
                          </a:rPr>
                          <m:t>𝑛</m:t>
                        </m:r>
                      </m:sub>
                    </m:sSub>
                    <m:r>
                      <a:rPr lang="en-US" i="1" dirty="0">
                        <a:latin typeface="Cambria Math"/>
                      </a:rPr>
                      <m:t>}</m:t>
                    </m:r>
                  </m:oMath>
                </a14:m>
                <a:r>
                  <a:rPr lang="en-US" dirty="0"/>
                  <a:t> is the root of recurrence relation:</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1</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𝑐</m:t>
                          </m:r>
                        </m:e>
                        <m:sub>
                          <m:r>
                            <a:rPr lang="en-US" i="1">
                              <a:solidFill>
                                <a:srgbClr val="FF0000"/>
                              </a:solidFill>
                              <a:latin typeface="Cambria Math"/>
                            </a:rPr>
                            <m:t>2</m:t>
                          </m:r>
                        </m:sub>
                      </m:sSub>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r>
                        <a:rPr lang="en-US" b="0" i="1" smtClean="0">
                          <a:solidFill>
                            <a:srgbClr val="FF0000"/>
                          </a:solidFill>
                          <a:latin typeface="Cambria Math"/>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𝑐</m:t>
                          </m:r>
                        </m:e>
                        <m:sub>
                          <m:r>
                            <a:rPr lang="en-US" b="0" i="1" smtClean="0">
                              <a:solidFill>
                                <a:srgbClr val="FF0000"/>
                              </a:solidFill>
                              <a:latin typeface="Cambria Math"/>
                            </a:rPr>
                            <m:t>𝑘</m:t>
                          </m:r>
                        </m:sub>
                      </m:sSub>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a:rPr>
                            <m:t>𝑎</m:t>
                          </m:r>
                        </m:e>
                        <m:sub>
                          <m:r>
                            <a:rPr lang="en-US" b="0" i="1" smtClean="0">
                              <a:solidFill>
                                <a:srgbClr val="FF0000"/>
                              </a:solidFill>
                              <a:latin typeface="Cambria Math"/>
                            </a:rPr>
                            <m:t>𝑛</m:t>
                          </m:r>
                          <m:r>
                            <a:rPr lang="en-US" b="0" i="1" smtClean="0">
                              <a:solidFill>
                                <a:srgbClr val="FF0000"/>
                              </a:solidFill>
                              <a:latin typeface="Cambria Math"/>
                            </a:rPr>
                            <m:t>−</m:t>
                          </m:r>
                          <m:r>
                            <a:rPr lang="en-US" b="0" i="1" smtClean="0">
                              <a:solidFill>
                                <a:srgbClr val="FF0000"/>
                              </a:solidFill>
                              <a:latin typeface="Cambria Math"/>
                            </a:rPr>
                            <m:t>𝑘</m:t>
                          </m:r>
                        </m:sub>
                      </m:sSub>
                    </m:oMath>
                  </m:oMathPara>
                </a14:m>
                <a:endParaRPr lang="en-US" dirty="0"/>
              </a:p>
              <a:p>
                <a:pPr marL="0" indent="0">
                  <a:buNone/>
                </a:pPr>
                <a:r>
                  <a:rPr lang="en-US" dirty="0"/>
                  <a:t>if and only if</a:t>
                </a:r>
              </a:p>
              <a:p>
                <a:pPr marL="0" indent="0">
                  <a:buNone/>
                </a:pPr>
                <a14:m>
                  <m:oMathPara xmlns:m="http://schemas.openxmlformats.org/officeDocument/2006/math">
                    <m:oMathParaPr>
                      <m:jc m:val="centerGroup"/>
                    </m:oMathParaPr>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a:rPr>
                            <m:t>𝑟</m:t>
                          </m:r>
                        </m:e>
                        <m:sub>
                          <m:r>
                            <a:rPr lang="en-US" i="1">
                              <a:solidFill>
                                <a:srgbClr val="FF0000"/>
                              </a:solidFill>
                              <a:latin typeface="Cambria Math"/>
                            </a:rPr>
                            <m:t>1</m:t>
                          </m:r>
                        </m:sub>
                        <m:sup>
                          <m:r>
                            <a:rPr lang="en-US" i="1">
                              <a:solidFill>
                                <a:srgbClr val="FF0000"/>
                              </a:solidFill>
                              <a:latin typeface="Cambria Math"/>
                            </a:rPr>
                            <m:t>𝑛</m:t>
                          </m:r>
                        </m:sup>
                      </m:sSubSup>
                      <m:r>
                        <a:rPr lang="en-US" i="1">
                          <a:solidFill>
                            <a:srgbClr val="FF0000"/>
                          </a:solidFill>
                          <a:latin typeface="Cambria Math"/>
                        </a:rPr>
                        <m:t>+</m:t>
                      </m:r>
                      <m:sSubSup>
                        <m:sSubSupPr>
                          <m:ctrlPr>
                            <a:rPr lang="en-US" i="1">
                              <a:solidFill>
                                <a:srgbClr val="FF0000"/>
                              </a:solidFill>
                              <a:latin typeface="Cambria Math" panose="02040503050406030204" pitchFamily="18" charset="0"/>
                            </a:rPr>
                          </m:ctrlPr>
                        </m:sSubSupPr>
                        <m:e>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2</m:t>
                              </m:r>
                            </m:sub>
                          </m:sSub>
                          <m:r>
                            <a:rPr lang="en-US" i="1">
                              <a:solidFill>
                                <a:srgbClr val="FF0000"/>
                              </a:solidFill>
                              <a:latin typeface="Cambria Math"/>
                            </a:rPr>
                            <m:t>𝑟</m:t>
                          </m:r>
                        </m:e>
                        <m:sub>
                          <m:r>
                            <a:rPr lang="en-US" i="1">
                              <a:solidFill>
                                <a:srgbClr val="FF0000"/>
                              </a:solidFill>
                              <a:latin typeface="Cambria Math"/>
                            </a:rPr>
                            <m:t>2</m:t>
                          </m:r>
                        </m:sub>
                        <m:sup>
                          <m:r>
                            <a:rPr lang="en-US" i="1">
                              <a:solidFill>
                                <a:srgbClr val="FF0000"/>
                              </a:solidFill>
                              <a:latin typeface="Cambria Math"/>
                            </a:rPr>
                            <m:t>𝑛</m:t>
                          </m:r>
                        </m:sup>
                      </m:sSubSup>
                      <m:r>
                        <a:rPr lang="en-US" b="0" i="1" smtClean="0">
                          <a:solidFill>
                            <a:srgbClr val="FF0000"/>
                          </a:solidFill>
                          <a:latin typeface="Cambria Math"/>
                        </a:rPr>
                        <m:t>+…+</m:t>
                      </m:r>
                      <m:sSubSup>
                        <m:sSubSupPr>
                          <m:ctrlPr>
                            <a:rPr lang="en-US" i="1">
                              <a:solidFill>
                                <a:srgbClr val="FF0000"/>
                              </a:solidFill>
                              <a:latin typeface="Cambria Math" panose="02040503050406030204" pitchFamily="18" charset="0"/>
                            </a:rPr>
                          </m:ctrlPr>
                        </m:sSubSupPr>
                        <m:e>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b="0" i="1" smtClean="0">
                                  <a:solidFill>
                                    <a:srgbClr val="FF0000"/>
                                  </a:solidFill>
                                  <a:latin typeface="Cambria Math"/>
                                </a:rPr>
                                <m:t>𝑘</m:t>
                              </m:r>
                            </m:sub>
                          </m:sSub>
                          <m:r>
                            <a:rPr lang="en-US" i="1">
                              <a:solidFill>
                                <a:srgbClr val="FF0000"/>
                              </a:solidFill>
                              <a:latin typeface="Cambria Math"/>
                            </a:rPr>
                            <m:t>𝑟</m:t>
                          </m:r>
                        </m:e>
                        <m:sub>
                          <m:r>
                            <a:rPr lang="en-US" b="0" i="1" smtClean="0">
                              <a:solidFill>
                                <a:srgbClr val="FF0000"/>
                              </a:solidFill>
                              <a:latin typeface="Cambria Math"/>
                            </a:rPr>
                            <m:t>𝑘</m:t>
                          </m:r>
                        </m:sub>
                        <m:sup>
                          <m:r>
                            <a:rPr lang="en-US" i="1">
                              <a:solidFill>
                                <a:srgbClr val="FF0000"/>
                              </a:solidFill>
                              <a:latin typeface="Cambria Math"/>
                            </a:rPr>
                            <m:t>𝑛</m:t>
                          </m:r>
                        </m:sup>
                      </m:sSubSup>
                    </m:oMath>
                  </m:oMathPara>
                </a14:m>
                <a:endParaRPr lang="en-US" dirty="0"/>
              </a:p>
              <a:p>
                <a:pPr marL="0" indent="0">
                  <a:buNone/>
                </a:pPr>
                <a:r>
                  <a:rPr lang="en-US" dirty="0"/>
                  <a:t>Where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solidFill>
                      <a:srgbClr val="FF0000"/>
                    </a:solidFill>
                  </a:rPr>
                  <a:t>,…,</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b="0" i="1" smtClean="0">
                            <a:solidFill>
                              <a:srgbClr val="FF0000"/>
                            </a:solidFill>
                            <a:latin typeface="Cambria Math"/>
                          </a:rPr>
                          <m:t>𝑘</m:t>
                        </m:r>
                      </m:sub>
                    </m:sSub>
                  </m:oMath>
                </a14:m>
                <a:r>
                  <a:rPr lang="en-US" dirty="0"/>
                  <a:t> are constants.</a:t>
                </a:r>
              </a:p>
              <a:p>
                <a:pPr marL="0" indent="0">
                  <a:buNone/>
                </a:pPr>
                <a:r>
                  <a:rPr lang="en-US" dirty="0"/>
                  <a:t>To find </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1</m:t>
                        </m:r>
                      </m:sub>
                    </m:sSub>
                  </m:oMath>
                </a14:m>
                <a:r>
                  <a:rPr lang="en-US" dirty="0">
                    <a:solidFill>
                      <a:srgbClr val="FF0000"/>
                    </a:solidFill>
                  </a:rPr>
                  <a:t>,…,</a:t>
                </a: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ea typeface="Cambria Math"/>
                          </a:rPr>
                          <m:t>𝛼</m:t>
                        </m:r>
                      </m:e>
                      <m:sub>
                        <m:r>
                          <a:rPr lang="en-US" i="1">
                            <a:solidFill>
                              <a:srgbClr val="FF0000"/>
                            </a:solidFill>
                            <a:latin typeface="Cambria Math"/>
                          </a:rPr>
                          <m:t>𝑘</m:t>
                        </m:r>
                      </m:sub>
                    </m:sSub>
                  </m:oMath>
                </a14:m>
                <a:r>
                  <a:rPr lang="en-US" dirty="0"/>
                  <a:t> we use initial conditions.</a:t>
                </a:r>
              </a:p>
              <a:p>
                <a:pPr marL="0" indent="0">
                  <a:buNone/>
                </a:pPr>
                <a:endParaRPr lang="en-US" dirty="0"/>
              </a:p>
              <a:p>
                <a:pPr marL="0" indent="0">
                  <a:buNone/>
                </a:pP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111"/>
                </a:stretch>
              </a:blipFill>
            </p:spPr>
            <p:txBody>
              <a:bodyPr/>
              <a:lstStyle/>
              <a:p>
                <a:r>
                  <a:rPr lang="en-US">
                    <a:noFill/>
                  </a:rPr>
                  <a:t> </a:t>
                </a:r>
              </a:p>
            </p:txBody>
          </p:sp>
        </mc:Fallback>
      </mc:AlternateContent>
    </p:spTree>
    <p:extLst>
      <p:ext uri="{BB962C8B-B14F-4D97-AF65-F5344CB8AC3E}">
        <p14:creationId xmlns:p14="http://schemas.microsoft.com/office/powerpoint/2010/main" val="334876621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a:bodyPr>
              <a:lstStyle/>
              <a:p>
                <a:r>
                  <a:rPr lang="en-US" dirty="0"/>
                  <a:t>Find the root of following recurrence relations with initial condition:</a:t>
                </a:r>
              </a:p>
              <a:p>
                <a:pPr marL="457200" indent="-457200">
                  <a:buFont typeface="+mj-lt"/>
                  <a:buAutoNum type="arabicParen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11</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−3</m:t>
                        </m:r>
                      </m:sub>
                    </m:sSub>
                  </m:oMath>
                </a14:m>
                <a:r>
                  <a:rPr lang="en-US" dirty="0"/>
                  <a:t>, with </a:t>
                </a:r>
                <a14:m>
                  <m:oMath xmlns:m="http://schemas.openxmlformats.org/officeDocument/2006/math">
                    <m:r>
                      <a:rPr lang="en-US" i="1">
                        <a:latin typeface="Cambria Math"/>
                      </a:rPr>
                      <m:t>𝑛</m:t>
                    </m:r>
                    <m:r>
                      <a:rPr lang="en-US" i="1">
                        <a:latin typeface="Cambria Math"/>
                        <a:ea typeface="Cambria Math"/>
                      </a:rPr>
                      <m:t>≥</m:t>
                    </m:r>
                    <m:r>
                      <a:rPr lang="en-US" b="0" i="1" smtClean="0">
                        <a:latin typeface="Cambria Math"/>
                        <a:ea typeface="Cambria Math"/>
                      </a:rPr>
                      <m:t>3</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2</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5, </m:t>
                    </m:r>
                    <m:r>
                      <a:rPr lang="en-US" i="1" dirty="0">
                        <a:solidFill>
                          <a:srgbClr val="FF0000"/>
                        </a:solidFill>
                        <a:latin typeface="Cambria Math"/>
                      </a:rPr>
                      <m:t>𝑎</m:t>
                    </m:r>
                    <m:r>
                      <a:rPr lang="en-US" b="0" i="1" baseline="-25000" dirty="0" smtClean="0">
                        <a:solidFill>
                          <a:srgbClr val="FF0000"/>
                        </a:solidFill>
                        <a:latin typeface="Cambria Math"/>
                      </a:rPr>
                      <m:t>2</m:t>
                    </m:r>
                    <m:r>
                      <a:rPr lang="en-US" i="1" dirty="0">
                        <a:solidFill>
                          <a:srgbClr val="FF0000"/>
                        </a:solidFill>
                        <a:latin typeface="Cambria Math"/>
                      </a:rPr>
                      <m:t>=</m:t>
                    </m:r>
                    <m:r>
                      <a:rPr lang="en-US" b="0" i="1" dirty="0" smtClean="0">
                        <a:solidFill>
                          <a:srgbClr val="FF0000"/>
                        </a:solidFill>
                        <a:latin typeface="Cambria Math"/>
                      </a:rPr>
                      <m:t>1</m:t>
                    </m:r>
                    <m:r>
                      <a:rPr lang="en-US" i="1" dirty="0">
                        <a:solidFill>
                          <a:srgbClr val="FF0000"/>
                        </a:solidFill>
                        <a:latin typeface="Cambria Math"/>
                      </a:rPr>
                      <m:t>5</m:t>
                    </m:r>
                  </m:oMath>
                </a14:m>
                <a:r>
                  <a:rPr lang="en-US" dirty="0"/>
                  <a:t>. </a:t>
                </a:r>
              </a:p>
              <a:p>
                <a:pPr marL="457200" indent="-457200">
                  <a:buFont typeface="+mj-lt"/>
                  <a:buAutoNum type="arabicParen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2</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2</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−3</m:t>
                        </m:r>
                      </m:sub>
                    </m:sSub>
                  </m:oMath>
                </a14:m>
                <a:r>
                  <a:rPr lang="en-US" dirty="0"/>
                  <a:t>, with </a:t>
                </a:r>
                <a14:m>
                  <m:oMath xmlns:m="http://schemas.openxmlformats.org/officeDocument/2006/math">
                    <m:r>
                      <a:rPr lang="en-US" i="1">
                        <a:latin typeface="Cambria Math"/>
                      </a:rPr>
                      <m:t>𝑛</m:t>
                    </m:r>
                    <m:r>
                      <a:rPr lang="en-US" i="1">
                        <a:latin typeface="Cambria Math"/>
                        <a:ea typeface="Cambria Math"/>
                      </a:rPr>
                      <m:t>≥3</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3</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6</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2</m:t>
                    </m:r>
                    <m:r>
                      <a:rPr lang="en-US" i="1" dirty="0">
                        <a:solidFill>
                          <a:srgbClr val="FF0000"/>
                        </a:solidFill>
                        <a:latin typeface="Cambria Math"/>
                      </a:rPr>
                      <m:t>=</m:t>
                    </m:r>
                    <m:r>
                      <a:rPr lang="en-US" b="0" i="1" dirty="0" smtClean="0">
                        <a:solidFill>
                          <a:srgbClr val="FF0000"/>
                        </a:solidFill>
                        <a:latin typeface="Cambria Math"/>
                      </a:rPr>
                      <m:t>0</m:t>
                    </m:r>
                  </m:oMath>
                </a14:m>
                <a:r>
                  <a:rPr lang="en-US" dirty="0"/>
                  <a:t>.</a:t>
                </a:r>
              </a:p>
              <a:p>
                <a:pPr marL="457200" indent="-457200">
                  <a:buFontTx/>
                  <a:buAutoNum type="arabicParenR"/>
                  <a:defRPr/>
                </a:pPr>
                <a14:m>
                  <m:oMath xmlns:m="http://schemas.openxmlformats.org/officeDocument/2006/math">
                    <m:sSub>
                      <m:sSubPr>
                        <m:ctrlPr>
                          <a:rPr lang="en-US" i="1">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7</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−3</m:t>
                        </m:r>
                      </m:sub>
                    </m:sSub>
                  </m:oMath>
                </a14:m>
                <a:r>
                  <a:rPr lang="en-US" dirty="0"/>
                  <a:t>, with </a:t>
                </a:r>
                <a14:m>
                  <m:oMath xmlns:m="http://schemas.openxmlformats.org/officeDocument/2006/math">
                    <m:r>
                      <a:rPr lang="en-US" i="1">
                        <a:latin typeface="Cambria Math"/>
                      </a:rPr>
                      <m:t>𝑛</m:t>
                    </m:r>
                    <m:r>
                      <a:rPr lang="en-US" i="1">
                        <a:latin typeface="Cambria Math"/>
                        <a:ea typeface="Cambria Math"/>
                      </a:rPr>
                      <m:t>≥3</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9</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10</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2</m:t>
                    </m:r>
                    <m:r>
                      <a:rPr lang="en-US" i="1" dirty="0">
                        <a:solidFill>
                          <a:srgbClr val="FF0000"/>
                        </a:solidFill>
                        <a:latin typeface="Cambria Math"/>
                      </a:rPr>
                      <m:t>=</m:t>
                    </m:r>
                    <m:r>
                      <a:rPr lang="en-US" b="0" i="1" dirty="0" smtClean="0">
                        <a:solidFill>
                          <a:srgbClr val="FF0000"/>
                        </a:solidFill>
                        <a:latin typeface="Cambria Math"/>
                      </a:rPr>
                      <m:t>32</m:t>
                    </m:r>
                  </m:oMath>
                </a14:m>
                <a:r>
                  <a:rPr lang="en-US" dirty="0"/>
                  <a:t>.</a:t>
                </a:r>
              </a:p>
              <a:p>
                <a:pPr marL="457200" indent="-457200">
                  <a:buFontTx/>
                  <a:buAutoNum type="arabicParenR"/>
                  <a:defRPr/>
                </a:pP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a:rPr>
                          <m:t>𝑎</m:t>
                        </m:r>
                      </m:e>
                      <m:sub>
                        <m:r>
                          <a:rPr lang="en-US" i="1">
                            <a:solidFill>
                              <a:srgbClr val="FF0000"/>
                            </a:solidFill>
                            <a:latin typeface="Cambria Math"/>
                          </a:rPr>
                          <m:t>𝑛</m:t>
                        </m:r>
                      </m:sub>
                    </m:sSub>
                    <m:r>
                      <a:rPr lang="en-US" i="1">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2</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−1</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b="0" i="1" smtClean="0">
                            <a:solidFill>
                              <a:srgbClr val="FF0000"/>
                            </a:solidFill>
                            <a:latin typeface="Cambria Math"/>
                          </a:rPr>
                          <m:t>5</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−2</m:t>
                        </m:r>
                      </m:sub>
                    </m:sSub>
                    <m:r>
                      <a:rPr lang="en-US" b="0" i="1" smtClean="0">
                        <a:solidFill>
                          <a:srgbClr val="FF0000"/>
                        </a:solidFill>
                        <a:latin typeface="Cambria Math"/>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a:rPr>
                          <m:t>6</m:t>
                        </m:r>
                        <m:r>
                          <a:rPr lang="en-US" i="1">
                            <a:solidFill>
                              <a:srgbClr val="FF0000"/>
                            </a:solidFill>
                            <a:latin typeface="Cambria Math"/>
                          </a:rPr>
                          <m:t>𝑎</m:t>
                        </m:r>
                      </m:e>
                      <m:sub>
                        <m:r>
                          <a:rPr lang="en-US" i="1">
                            <a:solidFill>
                              <a:srgbClr val="FF0000"/>
                            </a:solidFill>
                            <a:latin typeface="Cambria Math"/>
                          </a:rPr>
                          <m:t>𝑛</m:t>
                        </m:r>
                        <m:r>
                          <a:rPr lang="en-US" i="1">
                            <a:solidFill>
                              <a:srgbClr val="FF0000"/>
                            </a:solidFill>
                            <a:latin typeface="Cambria Math"/>
                          </a:rPr>
                          <m:t>−3</m:t>
                        </m:r>
                      </m:sub>
                    </m:sSub>
                  </m:oMath>
                </a14:m>
                <a:r>
                  <a:rPr lang="en-US" dirty="0"/>
                  <a:t>, with </a:t>
                </a:r>
                <a14:m>
                  <m:oMath xmlns:m="http://schemas.openxmlformats.org/officeDocument/2006/math">
                    <m:r>
                      <a:rPr lang="en-US" i="1">
                        <a:latin typeface="Cambria Math"/>
                      </a:rPr>
                      <m:t>𝑛</m:t>
                    </m:r>
                    <m:r>
                      <a:rPr lang="en-US" i="1">
                        <a:latin typeface="Cambria Math"/>
                        <a:ea typeface="Cambria Math"/>
                      </a:rPr>
                      <m:t>≥3</m:t>
                    </m:r>
                  </m:oMath>
                </a14:m>
                <a:r>
                  <a:rPr lang="en-US" dirty="0"/>
                  <a:t> and </a:t>
                </a:r>
                <a14:m>
                  <m:oMath xmlns:m="http://schemas.openxmlformats.org/officeDocument/2006/math">
                    <m:r>
                      <a:rPr lang="en-US" i="1" dirty="0">
                        <a:solidFill>
                          <a:srgbClr val="FF0000"/>
                        </a:solidFill>
                        <a:latin typeface="Cambria Math"/>
                      </a:rPr>
                      <m:t>𝑎</m:t>
                    </m:r>
                    <m:r>
                      <a:rPr lang="en-US" i="1" baseline="-25000" dirty="0">
                        <a:solidFill>
                          <a:srgbClr val="FF0000"/>
                        </a:solidFill>
                        <a:latin typeface="Cambria Math"/>
                      </a:rPr>
                      <m:t>0</m:t>
                    </m:r>
                    <m:r>
                      <a:rPr lang="en-US" i="1" dirty="0">
                        <a:solidFill>
                          <a:srgbClr val="FF0000"/>
                        </a:solidFill>
                        <a:latin typeface="Cambria Math"/>
                      </a:rPr>
                      <m:t>=</m:t>
                    </m:r>
                    <m:r>
                      <a:rPr lang="en-US" b="0" i="1" dirty="0" smtClean="0">
                        <a:solidFill>
                          <a:srgbClr val="FF0000"/>
                        </a:solidFill>
                        <a:latin typeface="Cambria Math"/>
                      </a:rPr>
                      <m:t>7</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1</m:t>
                    </m:r>
                    <m:r>
                      <a:rPr lang="en-US" i="1" dirty="0">
                        <a:solidFill>
                          <a:srgbClr val="FF0000"/>
                        </a:solidFill>
                        <a:latin typeface="Cambria Math"/>
                      </a:rPr>
                      <m:t>=</m:t>
                    </m:r>
                    <m:r>
                      <a:rPr lang="en-US" b="0" i="1" dirty="0" smtClean="0">
                        <a:solidFill>
                          <a:srgbClr val="FF0000"/>
                        </a:solidFill>
                        <a:latin typeface="Cambria Math"/>
                      </a:rPr>
                      <m:t>−4</m:t>
                    </m:r>
                    <m:r>
                      <a:rPr lang="en-US" i="1" dirty="0">
                        <a:solidFill>
                          <a:srgbClr val="FF0000"/>
                        </a:solidFill>
                        <a:latin typeface="Cambria Math"/>
                      </a:rPr>
                      <m:t>, </m:t>
                    </m:r>
                    <m:r>
                      <a:rPr lang="en-US" i="1" dirty="0">
                        <a:solidFill>
                          <a:srgbClr val="FF0000"/>
                        </a:solidFill>
                        <a:latin typeface="Cambria Math"/>
                      </a:rPr>
                      <m:t>𝑎</m:t>
                    </m:r>
                    <m:r>
                      <a:rPr lang="en-US" i="1" baseline="-25000" dirty="0">
                        <a:solidFill>
                          <a:srgbClr val="FF0000"/>
                        </a:solidFill>
                        <a:latin typeface="Cambria Math"/>
                      </a:rPr>
                      <m:t>2</m:t>
                    </m:r>
                    <m:r>
                      <a:rPr lang="en-US" i="1" dirty="0">
                        <a:solidFill>
                          <a:srgbClr val="FF0000"/>
                        </a:solidFill>
                        <a:latin typeface="Cambria Math"/>
                      </a:rPr>
                      <m:t>=</m:t>
                    </m:r>
                    <m:r>
                      <a:rPr lang="en-US" b="0" i="1" dirty="0" smtClean="0">
                        <a:solidFill>
                          <a:srgbClr val="FF0000"/>
                        </a:solidFill>
                        <a:latin typeface="Cambria Math"/>
                      </a:rPr>
                      <m:t>8</m:t>
                    </m:r>
                  </m:oMath>
                </a14:m>
                <a:r>
                  <a:rPr lang="en-US" dirty="0"/>
                  <a:t>.</a:t>
                </a:r>
                <a:endParaRPr lang="en-US" i="1" dirty="0"/>
              </a:p>
              <a:p>
                <a:pPr>
                  <a:defRPr/>
                </a:pPr>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370"/>
                </a:stretch>
              </a:blipFill>
            </p:spPr>
            <p:txBody>
              <a:bodyPr/>
              <a:lstStyle/>
              <a:p>
                <a:r>
                  <a:rPr lang="en-US">
                    <a:noFill/>
                  </a:rPr>
                  <a:t> </a:t>
                </a:r>
              </a:p>
            </p:txBody>
          </p:sp>
        </mc:Fallback>
      </mc:AlternateContent>
    </p:spTree>
    <p:extLst>
      <p:ext uri="{BB962C8B-B14F-4D97-AF65-F5344CB8AC3E}">
        <p14:creationId xmlns:p14="http://schemas.microsoft.com/office/powerpoint/2010/main" val="132043996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77</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sz="2800" dirty="0">
                <a:solidFill>
                  <a:schemeClr val="bg1">
                    <a:lumMod val="75000"/>
                  </a:schemeClr>
                </a:solidFill>
              </a:rPr>
              <a:t>Introduction</a:t>
            </a:r>
          </a:p>
          <a:p>
            <a:pPr>
              <a:spcBef>
                <a:spcPct val="50000"/>
              </a:spcBef>
            </a:pPr>
            <a:r>
              <a:rPr lang="en-US" sz="2800" dirty="0">
                <a:solidFill>
                  <a:schemeClr val="bg1">
                    <a:lumMod val="75000"/>
                  </a:schemeClr>
                </a:solidFill>
              </a:rPr>
              <a:t>Basic counting principle</a:t>
            </a:r>
          </a:p>
          <a:p>
            <a:pPr>
              <a:spcBef>
                <a:spcPct val="50000"/>
              </a:spcBef>
            </a:pPr>
            <a:r>
              <a:rPr lang="en-US" sz="2800" dirty="0">
                <a:solidFill>
                  <a:schemeClr val="bg1">
                    <a:lumMod val="75000"/>
                  </a:schemeClr>
                </a:solidFill>
              </a:rPr>
              <a:t>Conquer the the subproblem</a:t>
            </a:r>
          </a:p>
          <a:p>
            <a:pPr>
              <a:spcBef>
                <a:spcPct val="50000"/>
              </a:spcBef>
            </a:pPr>
            <a:r>
              <a:rPr lang="en-US" sz="2800" dirty="0">
                <a:solidFill>
                  <a:schemeClr val="bg1">
                    <a:lumMod val="75000"/>
                  </a:schemeClr>
                </a:solidFill>
              </a:rPr>
              <a:t>Recurrence relations</a:t>
            </a:r>
          </a:p>
          <a:p>
            <a:pPr>
              <a:spcBef>
                <a:spcPct val="50000"/>
              </a:spcBef>
            </a:pPr>
            <a:r>
              <a:rPr lang="en-US" sz="2800" dirty="0"/>
              <a:t>Generating function method</a:t>
            </a:r>
          </a:p>
          <a:p>
            <a:pPr>
              <a:spcBef>
                <a:spcPct val="50000"/>
              </a:spcBef>
            </a:pPr>
            <a:r>
              <a:rPr lang="en-US" sz="2800" dirty="0"/>
              <a:t>Exercise</a:t>
            </a:r>
          </a:p>
          <a:p>
            <a:endParaRPr lang="en-US" dirty="0"/>
          </a:p>
        </p:txBody>
      </p:sp>
    </p:spTree>
    <p:extLst>
      <p:ext uri="{BB962C8B-B14F-4D97-AF65-F5344CB8AC3E}">
        <p14:creationId xmlns:p14="http://schemas.microsoft.com/office/powerpoint/2010/main" val="7410409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Definition and example</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78</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r>
                  <a:rPr lang="en-US" b="1" dirty="0"/>
                  <a:t>Definition</a:t>
                </a:r>
                <a:r>
                  <a:rPr lang="en-US" dirty="0"/>
                  <a:t>: Generation function </a:t>
                </a:r>
                <a14:m>
                  <m:oMath xmlns:m="http://schemas.openxmlformats.org/officeDocument/2006/math">
                    <m:r>
                      <a:rPr lang="en-US" i="1" dirty="0" smtClean="0">
                        <a:latin typeface="Cambria Math"/>
                      </a:rPr>
                      <m:t>𝑔</m:t>
                    </m:r>
                    <m:r>
                      <a:rPr lang="en-US" i="1" dirty="0" smtClean="0">
                        <a:latin typeface="Cambria Math"/>
                      </a:rPr>
                      <m:t>(</m:t>
                    </m:r>
                    <m:r>
                      <a:rPr lang="en-US" i="1" dirty="0" smtClean="0">
                        <a:latin typeface="Cambria Math"/>
                      </a:rPr>
                      <m:t>𝑥</m:t>
                    </m:r>
                    <m:r>
                      <a:rPr lang="en-US" i="1" dirty="0" smtClean="0">
                        <a:latin typeface="Cambria Math"/>
                      </a:rPr>
                      <m:t>)</m:t>
                    </m:r>
                  </m:oMath>
                </a14:m>
                <a:r>
                  <a:rPr lang="en-US" dirty="0"/>
                  <a:t> of sequence numbers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a:rPr>
                          <m:t>{</m:t>
                        </m:r>
                        <m:sSub>
                          <m:sSubPr>
                            <m:ctrlPr>
                              <a:rPr lang="en-US" b="0" i="1" smtClean="0">
                                <a:latin typeface="Cambria Math" panose="02040503050406030204" pitchFamily="18" charset="0"/>
                              </a:rPr>
                            </m:ctrlPr>
                          </m:sSubPr>
                          <m:e>
                            <m:r>
                              <a:rPr lang="en-US" b="0" i="1" smtClean="0">
                                <a:latin typeface="Cambria Math"/>
                              </a:rPr>
                              <m:t>h</m:t>
                            </m:r>
                          </m:e>
                          <m:sub>
                            <m:r>
                              <a:rPr lang="en-US" b="0" i="1" smtClean="0">
                                <a:latin typeface="Cambria Math"/>
                              </a:rPr>
                              <m:t>𝑛</m:t>
                            </m:r>
                          </m:sub>
                        </m:sSub>
                        <m:r>
                          <a:rPr lang="en-US" b="0" i="1" smtClean="0">
                            <a:latin typeface="Cambria Math"/>
                          </a:rPr>
                          <m:t>}</m:t>
                        </m:r>
                      </m:e>
                      <m:sub>
                        <m:r>
                          <a:rPr lang="en-US" b="0" i="1" smtClean="0">
                            <a:latin typeface="Cambria Math"/>
                          </a:rPr>
                          <m:t>𝑛</m:t>
                        </m:r>
                        <m:r>
                          <a:rPr lang="en-US" b="0" i="1" smtClean="0">
                            <a:latin typeface="Cambria Math"/>
                          </a:rPr>
                          <m:t>=0,1,2,…</m:t>
                        </m:r>
                      </m:sub>
                    </m:sSub>
                  </m:oMath>
                </a14:m>
                <a:r>
                  <a:rPr lang="en-US" dirty="0"/>
                  <a:t> is an infinite sequence</a:t>
                </a:r>
              </a:p>
              <a:p>
                <a:pPr marL="0" indent="0">
                  <a:buNone/>
                </a:pPr>
                <a14:m>
                  <m:oMathPara xmlns:m="http://schemas.openxmlformats.org/officeDocument/2006/math">
                    <m:oMathParaPr>
                      <m:jc m:val="centerGroup"/>
                    </m:oMathParaPr>
                    <m:oMath xmlns:m="http://schemas.openxmlformats.org/officeDocument/2006/math">
                      <m:r>
                        <a:rPr lang="en-US" i="1" dirty="0">
                          <a:latin typeface="Cambria Math"/>
                        </a:rPr>
                        <m:t>𝑔</m:t>
                      </m:r>
                      <m:d>
                        <m:dPr>
                          <m:ctrlPr>
                            <a:rPr lang="en-US" i="1" dirty="0">
                              <a:latin typeface="Cambria Math" panose="02040503050406030204" pitchFamily="18" charset="0"/>
                            </a:rPr>
                          </m:ctrlPr>
                        </m:dPr>
                        <m:e>
                          <m:r>
                            <a:rPr lang="en-US" i="1" dirty="0">
                              <a:latin typeface="Cambria Math"/>
                            </a:rPr>
                            <m:t>𝑥</m:t>
                          </m:r>
                        </m:e>
                      </m:d>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h</m:t>
                          </m:r>
                        </m:e>
                        <m:sub>
                          <m:r>
                            <a:rPr lang="en-US" b="0" i="1" dirty="0" smtClean="0">
                              <a:latin typeface="Cambria Math"/>
                            </a:rPr>
                            <m:t>0</m:t>
                          </m:r>
                        </m:sub>
                      </m:sSub>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h</m:t>
                          </m:r>
                        </m:e>
                        <m:sub>
                          <m:r>
                            <a:rPr lang="en-US" b="0" i="1" dirty="0" smtClean="0">
                              <a:latin typeface="Cambria Math"/>
                            </a:rPr>
                            <m:t>1</m:t>
                          </m:r>
                        </m:sub>
                      </m:sSub>
                      <m:r>
                        <a:rPr lang="en-US" b="0" i="1" dirty="0" smtClean="0">
                          <a:latin typeface="Cambria Math"/>
                        </a:rPr>
                        <m:t>𝑥</m:t>
                      </m:r>
                      <m:r>
                        <a:rPr lang="en-US" b="0" i="1" dirty="0" smtClean="0">
                          <a:latin typeface="Cambria Math"/>
                        </a:rPr>
                        <m:t>+</m:t>
                      </m:r>
                      <m:sSub>
                        <m:sSubPr>
                          <m:ctrlPr>
                            <a:rPr lang="en-US" b="0" i="1" dirty="0" smtClean="0">
                              <a:latin typeface="Cambria Math" panose="02040503050406030204" pitchFamily="18" charset="0"/>
                            </a:rPr>
                          </m:ctrlPr>
                        </m:sSubPr>
                        <m:e>
                          <m:r>
                            <a:rPr lang="en-US" b="0" i="1" dirty="0" smtClean="0">
                              <a:latin typeface="Cambria Math"/>
                            </a:rPr>
                            <m:t>h</m:t>
                          </m:r>
                        </m:e>
                        <m:sub>
                          <m:r>
                            <a:rPr lang="en-US" b="0" i="1" dirty="0" smtClean="0">
                              <a:latin typeface="Cambria Math"/>
                            </a:rPr>
                            <m:t>2</m:t>
                          </m:r>
                        </m:sub>
                      </m:sSub>
                      <m:sSup>
                        <m:sSupPr>
                          <m:ctrlPr>
                            <a:rPr lang="en-US" b="0" i="1" dirty="0" smtClean="0">
                              <a:latin typeface="Cambria Math" panose="02040503050406030204" pitchFamily="18" charset="0"/>
                            </a:rPr>
                          </m:ctrlPr>
                        </m:sSupPr>
                        <m:e>
                          <m:r>
                            <a:rPr lang="en-US" b="0" i="1" dirty="0" smtClean="0">
                              <a:latin typeface="Cambria Math"/>
                            </a:rPr>
                            <m:t>𝑥</m:t>
                          </m:r>
                        </m:e>
                        <m:sup>
                          <m:r>
                            <a:rPr lang="en-US" b="0" i="1" dirty="0" smtClean="0">
                              <a:latin typeface="Cambria Math"/>
                            </a:rPr>
                            <m:t>2</m:t>
                          </m:r>
                        </m:sup>
                      </m:sSup>
                      <m:r>
                        <a:rPr lang="en-US" b="0" i="1" dirty="0" smtClean="0">
                          <a:latin typeface="Cambria Math"/>
                        </a:rPr>
                        <m:t>+…=</m:t>
                      </m:r>
                      <m:nary>
                        <m:naryPr>
                          <m:chr m:val="∑"/>
                          <m:limLoc m:val="subSup"/>
                          <m:ctrlPr>
                            <a:rPr lang="en-US" b="0" i="1" dirty="0" smtClean="0">
                              <a:latin typeface="Cambria Math" panose="02040503050406030204" pitchFamily="18" charset="0"/>
                            </a:rPr>
                          </m:ctrlPr>
                        </m:naryPr>
                        <m:sub>
                          <m:r>
                            <m:rPr>
                              <m:brk m:alnAt="25"/>
                            </m:rPr>
                            <a:rPr lang="en-US" b="0" i="1" dirty="0" smtClean="0">
                              <a:latin typeface="Cambria Math"/>
                            </a:rPr>
                            <m:t>𝑖</m:t>
                          </m:r>
                          <m:r>
                            <a:rPr lang="en-US" b="0" i="1" dirty="0" smtClean="0">
                              <a:latin typeface="Cambria Math"/>
                            </a:rPr>
                            <m:t>=0</m:t>
                          </m:r>
                        </m:sub>
                        <m:sup>
                          <m:r>
                            <a:rPr lang="en-US" b="0" i="1" dirty="0" smtClean="0">
                              <a:latin typeface="Cambria Math"/>
                            </a:rPr>
                            <m:t>+</m:t>
                          </m:r>
                          <m:r>
                            <a:rPr lang="en-US" b="0" i="1" dirty="0" smtClean="0">
                              <a:latin typeface="Cambria Math"/>
                              <a:ea typeface="Cambria Math"/>
                            </a:rPr>
                            <m:t>∞</m:t>
                          </m:r>
                        </m:sup>
                        <m:e>
                          <m:sSub>
                            <m:sSubPr>
                              <m:ctrlPr>
                                <a:rPr lang="en-US" b="0" i="1" dirty="0" smtClean="0">
                                  <a:latin typeface="Cambria Math" panose="02040503050406030204" pitchFamily="18" charset="0"/>
                                </a:rPr>
                              </m:ctrlPr>
                            </m:sSubPr>
                            <m:e>
                              <m:r>
                                <a:rPr lang="en-US" b="0" i="1" dirty="0" smtClean="0">
                                  <a:latin typeface="Cambria Math"/>
                                </a:rPr>
                                <m:t>h</m:t>
                              </m:r>
                            </m:e>
                            <m:sub>
                              <m:r>
                                <a:rPr lang="en-US" b="0" i="1" dirty="0" smtClean="0">
                                  <a:latin typeface="Cambria Math"/>
                                </a:rPr>
                                <m:t>𝑖</m:t>
                              </m:r>
                            </m:sub>
                          </m:sSub>
                        </m:e>
                      </m:nary>
                      <m:sSup>
                        <m:sSupPr>
                          <m:ctrlPr>
                            <a:rPr lang="en-US" b="0" i="1" dirty="0" smtClean="0">
                              <a:latin typeface="Cambria Math" panose="02040503050406030204" pitchFamily="18" charset="0"/>
                            </a:rPr>
                          </m:ctrlPr>
                        </m:sSupPr>
                        <m:e>
                          <m:r>
                            <a:rPr lang="en-US" b="0" i="1" dirty="0" smtClean="0">
                              <a:latin typeface="Cambria Math"/>
                            </a:rPr>
                            <m:t>𝑥</m:t>
                          </m:r>
                        </m:e>
                        <m:sup>
                          <m:r>
                            <a:rPr lang="en-US" b="0" i="1" dirty="0" smtClean="0">
                              <a:latin typeface="Cambria Math"/>
                            </a:rPr>
                            <m:t>𝑖</m:t>
                          </m:r>
                        </m:sup>
                      </m:sSup>
                    </m:oMath>
                  </m:oMathPara>
                </a14:m>
                <a:endParaRPr lang="en-US" dirty="0"/>
              </a:p>
              <a:p>
                <a:pPr marL="0" indent="0" algn="just">
                  <a:buNone/>
                </a:pPr>
                <a:r>
                  <a:rPr lang="en-US" dirty="0"/>
                  <a:t>The function </a:t>
                </a:r>
                <a14:m>
                  <m:oMath xmlns:m="http://schemas.openxmlformats.org/officeDocument/2006/math">
                    <m:r>
                      <a:rPr lang="en-US" i="1" dirty="0">
                        <a:latin typeface="Cambria Math"/>
                      </a:rPr>
                      <m:t>𝑔</m:t>
                    </m:r>
                    <m:r>
                      <a:rPr lang="en-US" i="1" dirty="0">
                        <a:latin typeface="Cambria Math"/>
                      </a:rPr>
                      <m:t>(</m:t>
                    </m:r>
                    <m:r>
                      <a:rPr lang="en-US" i="1" dirty="0">
                        <a:latin typeface="Cambria Math"/>
                      </a:rPr>
                      <m:t>𝑥</m:t>
                    </m:r>
                    <m:r>
                      <a:rPr lang="en-US" i="1" dirty="0">
                        <a:latin typeface="Cambria Math"/>
                      </a:rPr>
                      <m:t>)</m:t>
                    </m:r>
                  </m:oMath>
                </a14:m>
                <a:r>
                  <a:rPr lang="en-US" dirty="0"/>
                  <a:t> generate the given sequence of numbers and its coefficients</a:t>
                </a:r>
              </a:p>
              <a:p>
                <a:pPr marL="0" indent="0">
                  <a:buNone/>
                </a:pPr>
                <a:r>
                  <a:rPr lang="en-US" dirty="0"/>
                  <a:t>Note: In case the sequence of numbers is finite, we will turn it into an infinite sequence by adding elements 0.</a:t>
                </a:r>
              </a:p>
              <a:p>
                <a:pPr marL="0" indent="0">
                  <a:buNone/>
                </a:pPr>
                <a:endParaRPr lang="en-US" b="1" dirty="0"/>
              </a:p>
              <a:p>
                <a:pPr marL="0" indent="0">
                  <a:buNone/>
                </a:pPr>
                <a:r>
                  <a:rPr lang="en-US" b="1" dirty="0"/>
                  <a:t>Example</a:t>
                </a:r>
                <a:r>
                  <a:rPr lang="en-US" dirty="0"/>
                  <a:t>: The function </a:t>
                </a:r>
                <a14:m>
                  <m:oMath xmlns:m="http://schemas.openxmlformats.org/officeDocument/2006/math">
                    <m:r>
                      <a:rPr lang="en-US" i="1" dirty="0">
                        <a:latin typeface="Cambria Math"/>
                      </a:rPr>
                      <m:t>𝑔</m:t>
                    </m:r>
                    <m:d>
                      <m:dPr>
                        <m:ctrlPr>
                          <a:rPr lang="en-US" i="1" dirty="0">
                            <a:latin typeface="Cambria Math" panose="02040503050406030204" pitchFamily="18" charset="0"/>
                          </a:rPr>
                        </m:ctrlPr>
                      </m:dPr>
                      <m:e>
                        <m:r>
                          <a:rPr lang="en-US" i="1" dirty="0">
                            <a:latin typeface="Cambria Math"/>
                          </a:rPr>
                          <m:t>𝑥</m:t>
                        </m:r>
                      </m:e>
                    </m:d>
                    <m:r>
                      <a:rPr lang="en-US" b="0" i="1" dirty="0" smtClean="0">
                        <a:latin typeface="Cambria Math"/>
                      </a:rPr>
                      <m:t>=</m:t>
                    </m:r>
                    <m:sSup>
                      <m:sSupPr>
                        <m:ctrlPr>
                          <a:rPr lang="en-US" b="0" i="1" dirty="0" smtClean="0">
                            <a:latin typeface="Cambria Math" panose="02040503050406030204" pitchFamily="18" charset="0"/>
                          </a:rPr>
                        </m:ctrlPr>
                      </m:sSupPr>
                      <m:e>
                        <m:r>
                          <a:rPr lang="en-US" b="0" i="1" dirty="0" smtClean="0">
                            <a:latin typeface="Cambria Math"/>
                          </a:rPr>
                          <m:t>(1+</m:t>
                        </m:r>
                        <m:r>
                          <a:rPr lang="en-US" b="0" i="1" dirty="0" smtClean="0">
                            <a:latin typeface="Cambria Math"/>
                          </a:rPr>
                          <m:t>𝑥</m:t>
                        </m:r>
                        <m:r>
                          <a:rPr lang="en-US" b="0" i="1" dirty="0" smtClean="0">
                            <a:latin typeface="Cambria Math"/>
                          </a:rPr>
                          <m:t>)</m:t>
                        </m:r>
                      </m:e>
                      <m:sup>
                        <m:r>
                          <a:rPr lang="en-US" b="0" i="1" dirty="0" smtClean="0">
                            <a:latin typeface="Cambria Math"/>
                          </a:rPr>
                          <m:t>𝑛</m:t>
                        </m:r>
                      </m:sup>
                    </m:sSup>
                  </m:oMath>
                </a14:m>
                <a:r>
                  <a:rPr lang="en-US" dirty="0"/>
                  <a:t> generates a sequence of combinatorial coefficients</a:t>
                </a:r>
              </a:p>
              <a:p>
                <a:pPr marL="0" indent="0">
                  <a:buNone/>
                </a:pPr>
                <a14:m>
                  <m:oMathPara xmlns:m="http://schemas.openxmlformats.org/officeDocument/2006/math">
                    <m:oMathParaPr>
                      <m:jc m:val="centerGroup"/>
                    </m:oMathParaPr>
                    <m:oMath xmlns:m="http://schemas.openxmlformats.org/officeDocument/2006/math">
                      <m:sSup>
                        <m:sSupPr>
                          <m:ctrlPr>
                            <a:rPr lang="en-US" i="1" dirty="0">
                              <a:latin typeface="Cambria Math" panose="02040503050406030204" pitchFamily="18" charset="0"/>
                            </a:rPr>
                          </m:ctrlPr>
                        </m:sSupPr>
                        <m:e>
                          <m:r>
                            <a:rPr lang="en-US" i="1" dirty="0">
                              <a:latin typeface="Cambria Math"/>
                            </a:rPr>
                            <m:t>(1+</m:t>
                          </m:r>
                          <m:r>
                            <a:rPr lang="en-US" i="1" dirty="0">
                              <a:latin typeface="Cambria Math"/>
                            </a:rPr>
                            <m:t>𝑥</m:t>
                          </m:r>
                          <m:r>
                            <a:rPr lang="en-US" i="1" dirty="0">
                              <a:latin typeface="Cambria Math"/>
                            </a:rPr>
                            <m:t>)</m:t>
                          </m:r>
                        </m:e>
                        <m:sup>
                          <m:r>
                            <a:rPr lang="en-US" i="1" dirty="0">
                              <a:latin typeface="Cambria Math"/>
                            </a:rPr>
                            <m:t>𝑛</m:t>
                          </m:r>
                        </m:sup>
                      </m:sSup>
                      <m:r>
                        <a:rPr lang="en-US" b="0" i="1" dirty="0" smtClean="0">
                          <a:latin typeface="Cambria Math"/>
                        </a:rPr>
                        <m:t>=</m:t>
                      </m:r>
                      <m:nary>
                        <m:naryPr>
                          <m:chr m:val="∑"/>
                          <m:limLoc m:val="subSup"/>
                          <m:ctrlPr>
                            <a:rPr lang="en-US" b="0" i="1" dirty="0" smtClean="0">
                              <a:latin typeface="Cambria Math" panose="02040503050406030204" pitchFamily="18" charset="0"/>
                            </a:rPr>
                          </m:ctrlPr>
                        </m:naryPr>
                        <m:sub>
                          <m:r>
                            <m:rPr>
                              <m:brk m:alnAt="25"/>
                            </m:rPr>
                            <a:rPr lang="en-US" b="0" i="1" dirty="0" smtClean="0">
                              <a:latin typeface="Cambria Math"/>
                            </a:rPr>
                            <m:t>𝑘</m:t>
                          </m:r>
                          <m:r>
                            <a:rPr lang="en-US" b="0" i="1" dirty="0" smtClean="0">
                              <a:latin typeface="Cambria Math"/>
                            </a:rPr>
                            <m:t>=0</m:t>
                          </m:r>
                        </m:sub>
                        <m:sup>
                          <m:r>
                            <a:rPr lang="en-US" b="0" i="1" dirty="0" smtClean="0">
                              <a:latin typeface="Cambria Math"/>
                            </a:rPr>
                            <m:t>𝑛</m:t>
                          </m:r>
                        </m:sup>
                        <m:e>
                          <m:sSubSup>
                            <m:sSubSupPr>
                              <m:ctrlPr>
                                <a:rPr lang="en-US" i="1">
                                  <a:latin typeface="Cambria Math" panose="02040503050406030204" pitchFamily="18" charset="0"/>
                                </a:rPr>
                              </m:ctrlPr>
                            </m:sSubSupPr>
                            <m:e>
                              <m:r>
                                <a:rPr lang="en-US" i="1">
                                  <a:latin typeface="Cambria Math"/>
                                </a:rPr>
                                <m:t>𝐶</m:t>
                              </m:r>
                            </m:e>
                            <m:sub>
                              <m:r>
                                <a:rPr lang="en-US" i="1">
                                  <a:latin typeface="Cambria Math"/>
                                </a:rPr>
                                <m:t>𝑛</m:t>
                              </m:r>
                            </m:sub>
                            <m:sup>
                              <m:r>
                                <a:rPr lang="en-US" i="1">
                                  <a:latin typeface="Cambria Math"/>
                                </a:rPr>
                                <m:t>𝑘</m:t>
                              </m:r>
                            </m:sup>
                          </m:sSubSup>
                          <m:sSup>
                            <m:sSupPr>
                              <m:ctrlPr>
                                <a:rPr lang="en-US"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sup>
                          </m:sSup>
                        </m:e>
                      </m:nary>
                    </m:oMath>
                  </m:oMathPara>
                </a14:m>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852" r="-1111"/>
                </a:stretch>
              </a:blipFill>
            </p:spPr>
            <p:txBody>
              <a:bodyPr/>
              <a:lstStyle/>
              <a:p>
                <a:r>
                  <a:rPr lang="en-US">
                    <a:noFill/>
                  </a:rPr>
                  <a:t> </a:t>
                </a:r>
              </a:p>
            </p:txBody>
          </p:sp>
        </mc:Fallback>
      </mc:AlternateContent>
    </p:spTree>
    <p:extLst>
      <p:ext uri="{BB962C8B-B14F-4D97-AF65-F5344CB8AC3E}">
        <p14:creationId xmlns:p14="http://schemas.microsoft.com/office/powerpoint/2010/main" val="114857184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common expansions</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79</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14:m>
                  <m:oMath xmlns:m="http://schemas.openxmlformats.org/officeDocument/2006/math">
                    <m:f>
                      <m:fPr>
                        <m:ctrlPr>
                          <a:rPr lang="en-US" i="1" smtClean="0">
                            <a:latin typeface="Cambria Math" panose="02040503050406030204" pitchFamily="18" charset="0"/>
                          </a:rPr>
                        </m:ctrlPr>
                      </m:fPr>
                      <m:num>
                        <m:sSup>
                          <m:sSupPr>
                            <m:ctrlPr>
                              <a:rPr lang="en-US"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sup>
                        </m:sSup>
                      </m:num>
                      <m:den>
                        <m:r>
                          <a:rPr lang="en-US" b="0" i="1" smtClean="0">
                            <a:latin typeface="Cambria Math"/>
                          </a:rPr>
                          <m:t>1−</m:t>
                        </m:r>
                        <m:r>
                          <a:rPr lang="en-US" b="0" i="1" smtClean="0">
                            <a:latin typeface="Cambria Math"/>
                          </a:rPr>
                          <m:t>𝑥</m:t>
                        </m:r>
                      </m:den>
                    </m:f>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sup>
                    </m:sSup>
                    <m:d>
                      <m:dPr>
                        <m:ctrlPr>
                          <a:rPr lang="en-US" b="0" i="1" smtClean="0">
                            <a:latin typeface="Cambria Math" panose="02040503050406030204" pitchFamily="18" charset="0"/>
                          </a:rPr>
                        </m:ctrlPr>
                      </m:dPr>
                      <m:e>
                        <m:r>
                          <a:rPr lang="en-US" b="0" i="1" smtClean="0">
                            <a:latin typeface="Cambria Math"/>
                          </a:rPr>
                          <m:t>1+</m:t>
                        </m:r>
                        <m:r>
                          <a:rPr lang="en-US" b="0" i="1" smtClean="0">
                            <a:latin typeface="Cambria Math"/>
                          </a:rPr>
                          <m:t>𝑥</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m:t>
                        </m:r>
                      </m:e>
                    </m:d>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𝑘</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r>
                          <a:rPr lang="en-US" b="0" i="1" smtClean="0">
                            <a:latin typeface="Cambria Math"/>
                          </a:rPr>
                          <m:t>+1</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r>
                          <a:rPr lang="en-US" b="0" i="1" smtClean="0">
                            <a:latin typeface="Cambria Math"/>
                          </a:rPr>
                          <m:t>+2</m:t>
                        </m:r>
                      </m:sup>
                    </m:sSup>
                    <m:r>
                      <a:rPr lang="en-US" b="0" i="1" smtClean="0">
                        <a:latin typeface="Cambria Math"/>
                      </a:rPr>
                      <m:t>+…</m:t>
                    </m:r>
                  </m:oMath>
                </a14:m>
                <a:endParaRPr lang="en-US" dirty="0"/>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r>
                              <a:rPr lang="en-US" b="0" i="1" smtClean="0">
                                <a:latin typeface="Cambria Math"/>
                              </a:rPr>
                              <m:t>+1</m:t>
                            </m:r>
                          </m:sup>
                        </m:sSup>
                      </m:num>
                      <m:den>
                        <m:r>
                          <a:rPr lang="en-US" b="0" i="1" smtClean="0">
                            <a:latin typeface="Cambria Math"/>
                          </a:rPr>
                          <m:t>1−</m:t>
                        </m:r>
                        <m:r>
                          <a:rPr lang="en-US" b="0" i="1" smtClean="0">
                            <a:latin typeface="Cambria Math"/>
                          </a:rPr>
                          <m:t>𝑥</m:t>
                        </m:r>
                      </m:den>
                    </m:f>
                    <m:r>
                      <a:rPr lang="en-US" b="0" i="1" smtClean="0">
                        <a:latin typeface="Cambria Math"/>
                      </a:rPr>
                      <m:t>=1+</m:t>
                    </m:r>
                    <m:r>
                      <a:rPr lang="en-US" b="0" i="1" smtClean="0">
                        <a:latin typeface="Cambria Math"/>
                      </a:rPr>
                      <m:t>𝑥</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𝑘</m:t>
                        </m:r>
                      </m:sup>
                    </m:sSup>
                    <m:r>
                      <a:rPr lang="en-US" b="0" i="1" smtClean="0">
                        <a:latin typeface="Cambria Math"/>
                      </a:rPr>
                      <m:t>.</m:t>
                    </m:r>
                  </m:oMath>
                </a14:m>
                <a:endParaRPr lang="en-US" b="0" dirty="0"/>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1</m:t>
                        </m:r>
                      </m:num>
                      <m:den>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den>
                    </m:f>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4</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6</m:t>
                        </m:r>
                      </m:sup>
                    </m:sSup>
                    <m:r>
                      <a:rPr lang="en-US" b="0" i="1" smtClean="0">
                        <a:latin typeface="Cambria Math"/>
                      </a:rPr>
                      <m:t>+…</m:t>
                    </m:r>
                  </m:oMath>
                </a14:m>
                <a:endParaRPr lang="en-US" b="0" dirty="0"/>
              </a:p>
              <a:p>
                <a14:m>
                  <m:oMath xmlns:m="http://schemas.openxmlformats.org/officeDocument/2006/math">
                    <m:f>
                      <m:fPr>
                        <m:ctrlPr>
                          <a:rPr lang="en-US" i="1" smtClean="0">
                            <a:latin typeface="Cambria Math" panose="02040503050406030204" pitchFamily="18" charset="0"/>
                          </a:rPr>
                        </m:ctrlPr>
                      </m:fPr>
                      <m:num>
                        <m:r>
                          <a:rPr lang="en-US" b="0" i="1" smtClean="0">
                            <a:latin typeface="Cambria Math"/>
                          </a:rPr>
                          <m:t>𝑥</m:t>
                        </m:r>
                      </m:num>
                      <m:den>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den>
                    </m:f>
                    <m:r>
                      <a:rPr lang="en-US" b="0" i="1" smtClean="0">
                        <a:latin typeface="Cambria Math"/>
                      </a:rPr>
                      <m:t>=</m:t>
                    </m:r>
                    <m:r>
                      <a:rPr lang="en-US" b="0" i="1" smtClean="0">
                        <a:latin typeface="Cambria Math"/>
                      </a:rPr>
                      <m:t>𝑥</m:t>
                    </m:r>
                    <m:d>
                      <m:dPr>
                        <m:ctrlPr>
                          <a:rPr lang="en-US" b="0" i="1" smtClean="0">
                            <a:latin typeface="Cambria Math" panose="02040503050406030204" pitchFamily="18" charset="0"/>
                          </a:rPr>
                        </m:ctrlPr>
                      </m:dPr>
                      <m:e>
                        <m:r>
                          <a:rPr lang="en-US" i="1">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i="1">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4</m:t>
                            </m:r>
                          </m:sup>
                        </m:sSup>
                        <m:r>
                          <a:rPr lang="en-US" i="1">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6</m:t>
                            </m:r>
                          </m:sup>
                        </m:sSup>
                        <m:r>
                          <a:rPr lang="en-US" i="1">
                            <a:latin typeface="Cambria Math"/>
                          </a:rPr>
                          <m:t>+…</m:t>
                        </m:r>
                      </m:e>
                    </m:d>
                    <m:r>
                      <a:rPr lang="en-US" b="0" i="1" smtClean="0">
                        <a:latin typeface="Cambria Math"/>
                      </a:rPr>
                      <m:t>=</m:t>
                    </m:r>
                    <m:r>
                      <a:rPr lang="en-US" b="0" i="1" smtClean="0">
                        <a:latin typeface="Cambria Math"/>
                      </a:rPr>
                      <m:t>𝑥</m:t>
                    </m:r>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3</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5</m:t>
                        </m:r>
                      </m:sup>
                    </m:sSup>
                    <m:r>
                      <a:rPr lang="en-US" b="0" i="1" smtClean="0">
                        <a:latin typeface="Cambria Math"/>
                      </a:rPr>
                      <m:t>+</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7</m:t>
                        </m:r>
                      </m:sup>
                    </m:sSup>
                    <m:r>
                      <a:rPr lang="en-US" b="0" i="1" smtClean="0">
                        <a:latin typeface="Cambria Math"/>
                      </a:rPr>
                      <m:t>+…</m:t>
                    </m:r>
                  </m:oMath>
                </a14:m>
                <a:endParaRPr lang="en-US" b="0" dirty="0"/>
              </a:p>
              <a:p>
                <a:endParaRPr lang="en-US" dirty="0"/>
              </a:p>
              <a:p>
                <a:endParaRPr lang="en-US" dirty="0"/>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rotWithShape="1">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6040729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Contents</a:t>
            </a:r>
          </a:p>
        </p:txBody>
      </p:sp>
      <p:sp>
        <p:nvSpPr>
          <p:cNvPr id="3" name="Footer Placeholder 2"/>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464653"/>
                </a:solidFill>
                <a:effectLst/>
                <a:uLnTx/>
                <a:uFillTx/>
                <a:latin typeface="Gill Sans MT"/>
                <a:ea typeface="+mn-ea"/>
                <a:cs typeface="+mn-cs"/>
              </a:rPr>
              <a:t>http://www.ptit.edu.vn</a:t>
            </a:r>
          </a:p>
        </p:txBody>
      </p:sp>
      <p:sp>
        <p:nvSpPr>
          <p:cNvPr id="4" name="Slide Number Placeholder 3"/>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464653"/>
                </a:solidFill>
                <a:effectLst/>
                <a:uLnTx/>
                <a:uFillTx/>
                <a:latin typeface="Gill Sans MT"/>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80</a:t>
            </a:fld>
            <a:endParaRPr kumimoji="0" lang="en-US" sz="1400" b="0" i="0" u="none" strike="noStrike" kern="1200" cap="none" spc="0" normalizeH="0" baseline="0" noProof="0">
              <a:ln>
                <a:noFill/>
              </a:ln>
              <a:solidFill>
                <a:srgbClr val="464653"/>
              </a:solidFill>
              <a:effectLst/>
              <a:uLnTx/>
              <a:uFillTx/>
              <a:latin typeface="Gill Sans MT"/>
              <a:ea typeface="+mn-ea"/>
              <a:cs typeface="+mn-cs"/>
            </a:endParaRPr>
          </a:p>
        </p:txBody>
      </p:sp>
      <p:sp>
        <p:nvSpPr>
          <p:cNvPr id="5" name="Content Placeholder 4"/>
          <p:cNvSpPr>
            <a:spLocks noGrp="1"/>
          </p:cNvSpPr>
          <p:nvPr>
            <p:ph sz="quarter" idx="1"/>
          </p:nvPr>
        </p:nvSpPr>
        <p:spPr/>
        <p:txBody>
          <a:bodyPr/>
          <a:lstStyle/>
          <a:p>
            <a:pPr>
              <a:spcBef>
                <a:spcPct val="50000"/>
              </a:spcBef>
            </a:pPr>
            <a:r>
              <a:rPr lang="en-US" sz="2800" dirty="0">
                <a:solidFill>
                  <a:schemeClr val="bg1">
                    <a:lumMod val="75000"/>
                  </a:schemeClr>
                </a:solidFill>
              </a:rPr>
              <a:t>Introduction</a:t>
            </a:r>
          </a:p>
          <a:p>
            <a:pPr>
              <a:spcBef>
                <a:spcPct val="50000"/>
              </a:spcBef>
            </a:pPr>
            <a:r>
              <a:rPr lang="en-US" sz="2800" dirty="0">
                <a:solidFill>
                  <a:schemeClr val="bg1">
                    <a:lumMod val="75000"/>
                  </a:schemeClr>
                </a:solidFill>
              </a:rPr>
              <a:t>Basic counting principle</a:t>
            </a:r>
          </a:p>
          <a:p>
            <a:pPr>
              <a:spcBef>
                <a:spcPct val="50000"/>
              </a:spcBef>
            </a:pPr>
            <a:r>
              <a:rPr lang="en-US" sz="2800" dirty="0">
                <a:solidFill>
                  <a:schemeClr val="bg1">
                    <a:lumMod val="75000"/>
                  </a:schemeClr>
                </a:solidFill>
              </a:rPr>
              <a:t>Conquer the the subproblem</a:t>
            </a:r>
          </a:p>
          <a:p>
            <a:pPr>
              <a:spcBef>
                <a:spcPct val="50000"/>
              </a:spcBef>
            </a:pPr>
            <a:r>
              <a:rPr lang="en-US" sz="2800" dirty="0">
                <a:solidFill>
                  <a:schemeClr val="bg1">
                    <a:lumMod val="75000"/>
                  </a:schemeClr>
                </a:solidFill>
              </a:rPr>
              <a:t>Recurrence relations</a:t>
            </a:r>
          </a:p>
          <a:p>
            <a:pPr>
              <a:spcBef>
                <a:spcPct val="50000"/>
              </a:spcBef>
            </a:pPr>
            <a:r>
              <a:rPr lang="en-US" sz="2800" dirty="0">
                <a:solidFill>
                  <a:schemeClr val="bg1">
                    <a:lumMod val="75000"/>
                  </a:schemeClr>
                </a:solidFill>
              </a:rPr>
              <a:t>Generating function method</a:t>
            </a:r>
          </a:p>
          <a:p>
            <a:pPr>
              <a:spcBef>
                <a:spcPct val="50000"/>
              </a:spcBef>
            </a:pPr>
            <a:r>
              <a:rPr lang="en-US" sz="2800" dirty="0"/>
              <a:t>Exercise</a:t>
            </a:r>
          </a:p>
          <a:p>
            <a:endParaRPr lang="en-US" dirty="0"/>
          </a:p>
        </p:txBody>
      </p:sp>
    </p:spTree>
    <p:extLst>
      <p:ext uri="{BB962C8B-B14F-4D97-AF65-F5344CB8AC3E}">
        <p14:creationId xmlns:p14="http://schemas.microsoft.com/office/powerpoint/2010/main" val="287926911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81</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lstStyle/>
              <a:p>
                <a:r>
                  <a:rPr lang="en-US" b="1" dirty="0"/>
                  <a:t>Problem</a:t>
                </a:r>
                <a:r>
                  <a:rPr lang="en-US" dirty="0"/>
                  <a:t>: Construct a generator function to solve the following problem: How many ways are there to choose </a:t>
                </a:r>
                <a14:m>
                  <m:oMath xmlns:m="http://schemas.openxmlformats.org/officeDocument/2006/math">
                    <m:r>
                      <a:rPr lang="en-US" i="1" dirty="0" smtClean="0">
                        <a:latin typeface="Cambria Math"/>
                      </a:rPr>
                      <m:t>𝑛</m:t>
                    </m:r>
                  </m:oMath>
                </a14:m>
                <a:r>
                  <a:rPr lang="en-US" dirty="0"/>
                  <a:t> fruits from 4 types: apple, banana, orange, peach; in which there are an even number of apples, an odd number of bananas, no more than 4 oranges and at least 2 peaches? </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519" t="-988" r="-1556"/>
                </a:stretch>
              </a:blipFill>
            </p:spPr>
            <p:txBody>
              <a:bodyPr/>
              <a:lstStyle/>
              <a:p>
                <a:r>
                  <a:rPr lang="en-US">
                    <a:noFill/>
                  </a:rPr>
                  <a:t> </a:t>
                </a:r>
              </a:p>
            </p:txBody>
          </p:sp>
        </mc:Fallback>
      </mc:AlternateContent>
    </p:spTree>
    <p:extLst>
      <p:ext uri="{BB962C8B-B14F-4D97-AF65-F5344CB8AC3E}">
        <p14:creationId xmlns:p14="http://schemas.microsoft.com/office/powerpoint/2010/main" val="408845542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82</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p:txBody>
              <a:bodyPr>
                <a:normAutofit lnSpcReduction="10000"/>
              </a:bodyPr>
              <a:lstStyle/>
              <a:p>
                <a:r>
                  <a:rPr lang="en-US" b="1" dirty="0"/>
                  <a:t>Problem</a:t>
                </a:r>
                <a:r>
                  <a:rPr lang="en-US" dirty="0"/>
                  <a:t>: Construct a generator function to solve the following problem: How many ways are there to choose </a:t>
                </a:r>
                <a14:m>
                  <m:oMath xmlns:m="http://schemas.openxmlformats.org/officeDocument/2006/math">
                    <m:r>
                      <a:rPr lang="en-US" i="1" dirty="0" smtClean="0">
                        <a:latin typeface="Cambria Math"/>
                      </a:rPr>
                      <m:t>𝑛</m:t>
                    </m:r>
                  </m:oMath>
                </a14:m>
                <a:r>
                  <a:rPr lang="en-US" dirty="0"/>
                  <a:t> fruits from 4 types: apple, banana, orange, peach; in which there are an even number of apples, an odd number of bananas, no more than 4 oranges and at least 2 peaches? </a:t>
                </a:r>
              </a:p>
              <a:p>
                <a:pPr marL="0" indent="0">
                  <a:buNone/>
                </a:pPr>
                <a:r>
                  <a:rPr lang="en-US" b="1" dirty="0"/>
                  <a:t>Hint</a:t>
                </a:r>
                <a:r>
                  <a:rPr lang="en-US" dirty="0"/>
                  <a:t>: Generator function for this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4</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6</m:t>
                          </m:r>
                        </m:sup>
                      </m:sSup>
                      <m:r>
                        <a:rPr lang="en-US" b="0" i="1" smtClean="0">
                          <a:latin typeface="Cambria Math"/>
                        </a:rPr>
                        <m:t>+…)(</m:t>
                      </m:r>
                      <m:r>
                        <a:rPr lang="en-US" b="0" i="1" smtClean="0">
                          <a:latin typeface="Cambria Math"/>
                        </a:rPr>
                        <m:t>𝑥</m:t>
                      </m:r>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3</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5</m:t>
                          </m:r>
                        </m:sup>
                      </m:sSup>
                      <m:r>
                        <a:rPr lang="en-US" b="0" i="1" smtClean="0">
                          <a:latin typeface="Cambria Math"/>
                        </a:rPr>
                        <m:t>+…)(1+</m:t>
                      </m:r>
                      <m:r>
                        <a:rPr lang="en-US" b="0" i="1" smtClean="0">
                          <a:latin typeface="Cambria Math"/>
                        </a:rPr>
                        <m:t>𝑥</m:t>
                      </m:r>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3</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4</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3</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4</m:t>
                          </m:r>
                        </m:sup>
                      </m:sSup>
                      <m:r>
                        <a:rPr lang="en-US" b="0" i="1" smtClean="0">
                          <a:latin typeface="Cambria Math"/>
                        </a:rPr>
                        <m:t>+…)</m:t>
                      </m:r>
                    </m:oMath>
                  </m:oMathPara>
                </a14:m>
                <a:endParaRPr lang="en-US" dirty="0"/>
              </a:p>
              <a:p>
                <a:pPr marL="0" indent="0">
                  <a:buNone/>
                </a:pPr>
                <a:r>
                  <a:rPr lang="en-US" dirty="0"/>
                  <a:t>Or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den>
                        </m:f>
                      </m:e>
                    </m:d>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den>
                        </m:f>
                      </m:e>
                    </m:d>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5</m:t>
                                </m:r>
                              </m:sup>
                            </m:sSup>
                          </m:num>
                          <m:den>
                            <m:r>
                              <a:rPr lang="en-US" i="1">
                                <a:latin typeface="Cambria Math"/>
                              </a:rPr>
                              <m:t>1−</m:t>
                            </m:r>
                            <m:r>
                              <a:rPr lang="en-US" b="0" i="1" smtClean="0">
                                <a:latin typeface="Cambria Math"/>
                              </a:rPr>
                              <m:t>𝑥</m:t>
                            </m:r>
                          </m:den>
                        </m:f>
                      </m:e>
                    </m:d>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2</m:t>
                                </m:r>
                              </m:sup>
                            </m:sSup>
                          </m:num>
                          <m:den>
                            <m:r>
                              <a:rPr lang="en-US" i="1">
                                <a:latin typeface="Cambria Math"/>
                              </a:rPr>
                              <m:t>1−</m:t>
                            </m:r>
                            <m:r>
                              <a:rPr lang="en-US" i="1">
                                <a:latin typeface="Cambria Math"/>
                              </a:rPr>
                              <m:t>𝑥</m:t>
                            </m:r>
                          </m:den>
                        </m:f>
                      </m:e>
                    </m:d>
                  </m:oMath>
                </a14:m>
                <a:endParaRPr lang="en-US" dirty="0"/>
              </a:p>
              <a:p>
                <a:pPr marL="0" indent="0">
                  <a:buNone/>
                </a:pPr>
                <a:r>
                  <a:rPr lang="en-US" dirty="0"/>
                  <a:t>The number of ways to choose fruit is the coefficient of </a:t>
                </a:r>
                <a14:m>
                  <m:oMath xmlns:m="http://schemas.openxmlformats.org/officeDocument/2006/math">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𝑛</m:t>
                        </m:r>
                      </m:sup>
                    </m:sSup>
                  </m:oMath>
                </a14:m>
                <a:r>
                  <a:rPr lang="en-US" dirty="0"/>
                  <a:t> in the expansion (</a:t>
                </a:r>
                <a:r>
                  <a:rPr lang="en-US" dirty="0" err="1"/>
                  <a:t>triển</a:t>
                </a:r>
                <a:r>
                  <a:rPr lang="en-US" dirty="0"/>
                  <a:t> </a:t>
                </a:r>
                <a:r>
                  <a:rPr lang="en-US" dirty="0" err="1"/>
                  <a:t>khai</a:t>
                </a:r>
                <a:r>
                  <a:rPr lang="en-US" dirty="0"/>
                  <a:t>) of </a:t>
                </a:r>
                <a14:m>
                  <m:oMath xmlns:m="http://schemas.openxmlformats.org/officeDocument/2006/math">
                    <m:r>
                      <a:rPr lang="en-US" i="1">
                        <a:latin typeface="Cambria Math"/>
                      </a:rPr>
                      <m:t>𝑔</m:t>
                    </m:r>
                    <m:d>
                      <m:dPr>
                        <m:ctrlPr>
                          <a:rPr lang="en-US" i="1">
                            <a:latin typeface="Cambria Math" panose="02040503050406030204" pitchFamily="18" charset="0"/>
                          </a:rPr>
                        </m:ctrlPr>
                      </m:dPr>
                      <m:e>
                        <m:r>
                          <a:rPr lang="en-US" i="1">
                            <a:latin typeface="Cambria Math"/>
                          </a:rPr>
                          <m:t>𝑥</m:t>
                        </m:r>
                      </m:e>
                    </m:d>
                  </m:oMath>
                </a14:m>
                <a:r>
                  <a:rPr lang="en-US" dirty="0"/>
                  <a:t> based on a power sequence</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blipFill>
                <a:blip r:embed="rId2"/>
                <a:stretch>
                  <a:fillRect l="-1111" t="-1728" r="-1556" b="-1481"/>
                </a:stretch>
              </a:blipFill>
            </p:spPr>
            <p:txBody>
              <a:bodyPr/>
              <a:lstStyle/>
              <a:p>
                <a:r>
                  <a:rPr lang="en-US">
                    <a:noFill/>
                  </a:rPr>
                  <a:t> </a:t>
                </a:r>
              </a:p>
            </p:txBody>
          </p:sp>
        </mc:Fallback>
      </mc:AlternateContent>
    </p:spTree>
    <p:extLst>
      <p:ext uri="{BB962C8B-B14F-4D97-AF65-F5344CB8AC3E}">
        <p14:creationId xmlns:p14="http://schemas.microsoft.com/office/powerpoint/2010/main" val="13573951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24</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83</a:t>
            </a:fld>
            <a:endParaRPr lang="en-US"/>
          </a:p>
        </p:txBody>
      </p:sp>
      <mc:AlternateContent xmlns:mc="http://schemas.openxmlformats.org/markup-compatibility/2006" xmlns:a14="http://schemas.microsoft.com/office/drawing/2010/main">
        <mc:Choice Requires="a14">
          <p:sp>
            <p:nvSpPr>
              <p:cNvPr id="5" name="Content Placeholder 4"/>
              <p:cNvSpPr>
                <a:spLocks noGrp="1"/>
              </p:cNvSpPr>
              <p:nvPr>
                <p:ph sz="quarter" idx="1"/>
              </p:nvPr>
            </p:nvSpPr>
            <p:spPr>
              <a:xfrm>
                <a:off x="304800" y="1219200"/>
                <a:ext cx="8610600" cy="4937760"/>
              </a:xfrm>
            </p:spPr>
            <p:txBody>
              <a:bodyPr/>
              <a:lstStyle/>
              <a:p>
                <a:r>
                  <a:rPr lang="en-US" b="1" dirty="0"/>
                  <a:t>Problem</a:t>
                </a:r>
                <a:r>
                  <a:rPr lang="en-US" dirty="0"/>
                  <a:t>: Construct a generator function to solve the following problem: How many ways are there to choose </a:t>
                </a:r>
                <a14:m>
                  <m:oMath xmlns:m="http://schemas.openxmlformats.org/officeDocument/2006/math">
                    <m:r>
                      <a:rPr lang="en-US" i="1" dirty="0" smtClean="0">
                        <a:latin typeface="Cambria Math"/>
                      </a:rPr>
                      <m:t>𝑛</m:t>
                    </m:r>
                  </m:oMath>
                </a14:m>
                <a:r>
                  <a:rPr lang="en-US" dirty="0"/>
                  <a:t> fruits from 4 types: apple, banana, orange, peach; in which there are an even number of apples, an odd number of bananas, no more than 4 oranges and at least 2 peaches? </a:t>
                </a:r>
              </a:p>
              <a:p>
                <a:pPr marL="0" indent="0">
                  <a:buNone/>
                </a:pPr>
                <a:r>
                  <a:rPr lang="en-US" b="1" dirty="0"/>
                  <a:t>Hint</a:t>
                </a:r>
                <a:r>
                  <a:rPr lang="en-US" dirty="0"/>
                  <a:t>: Generator function for this problem:</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a:rPr>
                        <m:t>(1+</m:t>
                      </m:r>
                      <m:sSup>
                        <m:sSupPr>
                          <m:ctrlPr>
                            <a:rPr lang="en-US" b="0" i="1" smtClean="0">
                              <a:latin typeface="Cambria Math" panose="02040503050406030204" pitchFamily="18" charset="0"/>
                            </a:rPr>
                          </m:ctrlPr>
                        </m:sSupPr>
                        <m:e>
                          <m:r>
                            <a:rPr lang="en-US" b="0" i="1" smtClean="0">
                              <a:latin typeface="Cambria Math"/>
                            </a:rPr>
                            <m:t>𝑥</m:t>
                          </m:r>
                        </m:e>
                        <m:sup>
                          <m:r>
                            <a:rPr lang="en-US" b="0" i="1" smtClean="0">
                              <a:latin typeface="Cambria Math"/>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4</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6</m:t>
                          </m:r>
                        </m:sup>
                      </m:sSup>
                      <m:r>
                        <a:rPr lang="en-US" b="0" i="1" smtClean="0">
                          <a:latin typeface="Cambria Math"/>
                        </a:rPr>
                        <m:t>+…)(</m:t>
                      </m:r>
                      <m:r>
                        <a:rPr lang="en-US" b="0" i="1" smtClean="0">
                          <a:latin typeface="Cambria Math"/>
                        </a:rPr>
                        <m:t>𝑥</m:t>
                      </m:r>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3</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5</m:t>
                          </m:r>
                        </m:sup>
                      </m:sSup>
                      <m:r>
                        <a:rPr lang="en-US" b="0" i="1" smtClean="0">
                          <a:latin typeface="Cambria Math"/>
                        </a:rPr>
                        <m:t>+…)(1+</m:t>
                      </m:r>
                      <m:r>
                        <a:rPr lang="en-US" b="0" i="1" smtClean="0">
                          <a:latin typeface="Cambria Math"/>
                        </a:rPr>
                        <m:t>𝑥</m:t>
                      </m:r>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3</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4</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3</m:t>
                          </m:r>
                        </m:sup>
                      </m:sSup>
                      <m:r>
                        <a:rPr lang="en-US" b="0" i="1" smtClean="0">
                          <a:latin typeface="Cambria Math"/>
                        </a:rPr>
                        <m:t>+</m:t>
                      </m:r>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4</m:t>
                          </m:r>
                        </m:sup>
                      </m:sSup>
                      <m:r>
                        <a:rPr lang="en-US" b="0" i="1" smtClean="0">
                          <a:latin typeface="Cambria Math"/>
                        </a:rPr>
                        <m:t>+…)</m:t>
                      </m:r>
                    </m:oMath>
                  </m:oMathPara>
                </a14:m>
                <a:endParaRPr lang="en-US" dirty="0"/>
              </a:p>
              <a:p>
                <a:pPr marL="0" indent="0">
                  <a:buNone/>
                </a:pPr>
                <a:r>
                  <a:rPr lang="en-US" dirty="0"/>
                  <a:t>Or </a:t>
                </a:r>
                <a14:m>
                  <m:oMath xmlns:m="http://schemas.openxmlformats.org/officeDocument/2006/math">
                    <m:r>
                      <a:rPr lang="en-US" b="0" i="1" smtClean="0">
                        <a:latin typeface="Cambria Math"/>
                      </a:rPr>
                      <m:t>𝑔</m:t>
                    </m:r>
                    <m:d>
                      <m:dPr>
                        <m:ctrlPr>
                          <a:rPr lang="en-US" b="0" i="1" smtClean="0">
                            <a:latin typeface="Cambria Math" panose="02040503050406030204" pitchFamily="18" charset="0"/>
                          </a:rPr>
                        </m:ctrlPr>
                      </m:dPr>
                      <m:e>
                        <m:r>
                          <a:rPr lang="en-US" b="0" i="1" smtClean="0">
                            <a:latin typeface="Cambria Math"/>
                          </a:rPr>
                          <m:t>𝑥</m:t>
                        </m:r>
                      </m:e>
                    </m:d>
                    <m:r>
                      <a:rPr lang="en-US" b="0" i="1" smtClean="0">
                        <a:latin typeface="Cambria Math"/>
                      </a:rPr>
                      <m:t>=</m:t>
                    </m:r>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1</m:t>
                            </m:r>
                          </m:num>
                          <m:den>
                            <m:r>
                              <a:rPr lang="en-US" b="0" i="1" smtClean="0">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den>
                        </m:f>
                      </m:e>
                    </m:d>
                    <m:d>
                      <m:dPr>
                        <m:begChr m:val="["/>
                        <m:endChr m:val="]"/>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a:rPr>
                              <m:t>𝑥</m:t>
                            </m:r>
                          </m:num>
                          <m:den>
                            <m:r>
                              <a:rPr lang="en-US" b="0" i="1" smtClean="0">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2</m:t>
                                </m:r>
                              </m:sup>
                            </m:sSup>
                          </m:den>
                        </m:f>
                      </m:e>
                    </m:d>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r>
                              <a:rPr lang="en-US" b="0" i="1" smtClean="0">
                                <a:latin typeface="Cambria Math"/>
                              </a:rPr>
                              <m:t>1−</m:t>
                            </m:r>
                            <m:sSup>
                              <m:sSupPr>
                                <m:ctrlPr>
                                  <a:rPr lang="en-US" i="1">
                                    <a:latin typeface="Cambria Math" panose="02040503050406030204" pitchFamily="18" charset="0"/>
                                  </a:rPr>
                                </m:ctrlPr>
                              </m:sSupPr>
                              <m:e>
                                <m:r>
                                  <a:rPr lang="en-US" i="1">
                                    <a:latin typeface="Cambria Math"/>
                                  </a:rPr>
                                  <m:t>𝑥</m:t>
                                </m:r>
                              </m:e>
                              <m:sup>
                                <m:r>
                                  <a:rPr lang="en-US" i="1">
                                    <a:latin typeface="Cambria Math"/>
                                  </a:rPr>
                                  <m:t>5</m:t>
                                </m:r>
                              </m:sup>
                            </m:sSup>
                          </m:num>
                          <m:den>
                            <m:r>
                              <a:rPr lang="en-US" i="1">
                                <a:latin typeface="Cambria Math"/>
                              </a:rPr>
                              <m:t>1−</m:t>
                            </m:r>
                            <m:r>
                              <a:rPr lang="en-US" b="0" i="1" smtClean="0">
                                <a:latin typeface="Cambria Math"/>
                              </a:rPr>
                              <m:t>𝑥</m:t>
                            </m:r>
                          </m:den>
                        </m:f>
                      </m:e>
                    </m:d>
                    <m:d>
                      <m:dPr>
                        <m:begChr m:val="["/>
                        <m:endChr m:val="]"/>
                        <m:ctrlPr>
                          <a:rPr lang="en-US" i="1">
                            <a:latin typeface="Cambria Math" panose="02040503050406030204" pitchFamily="18" charset="0"/>
                          </a:rPr>
                        </m:ctrlPr>
                      </m:dPr>
                      <m:e>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a:rPr>
                                  <m:t>𝑥</m:t>
                                </m:r>
                              </m:e>
                              <m:sup>
                                <m:r>
                                  <a:rPr lang="en-US" b="0" i="1" smtClean="0">
                                    <a:latin typeface="Cambria Math"/>
                                  </a:rPr>
                                  <m:t>2</m:t>
                                </m:r>
                              </m:sup>
                            </m:sSup>
                          </m:num>
                          <m:den>
                            <m:r>
                              <a:rPr lang="en-US" i="1">
                                <a:latin typeface="Cambria Math"/>
                              </a:rPr>
                              <m:t>1−</m:t>
                            </m:r>
                            <m:r>
                              <a:rPr lang="en-US" i="1">
                                <a:latin typeface="Cambria Math"/>
                              </a:rPr>
                              <m:t>𝑥</m:t>
                            </m:r>
                          </m:den>
                        </m:f>
                      </m:e>
                    </m:d>
                  </m:oMath>
                </a14:m>
                <a:endParaRPr lang="en-US" dirty="0"/>
              </a:p>
              <a:p>
                <a:pPr marL="0" indent="0">
                  <a:buNone/>
                </a:pPr>
                <a:r>
                  <a:rPr lang="en-US" dirty="0"/>
                  <a:t>The number of ways to choose fruit is the coefficient of </a:t>
                </a:r>
                <a14:m>
                  <m:oMath xmlns:m="http://schemas.openxmlformats.org/officeDocument/2006/math">
                    <m:sSup>
                      <m:sSupPr>
                        <m:ctrlPr>
                          <a:rPr lang="en-US" i="1">
                            <a:latin typeface="Cambria Math" panose="02040503050406030204" pitchFamily="18" charset="0"/>
                          </a:rPr>
                        </m:ctrlPr>
                      </m:sSupPr>
                      <m:e>
                        <m:r>
                          <a:rPr lang="en-US" i="1">
                            <a:latin typeface="Cambria Math"/>
                          </a:rPr>
                          <m:t>𝑥</m:t>
                        </m:r>
                      </m:e>
                      <m:sup>
                        <m:r>
                          <a:rPr lang="en-US" i="1">
                            <a:latin typeface="Cambria Math"/>
                          </a:rPr>
                          <m:t>𝑛</m:t>
                        </m:r>
                      </m:sup>
                    </m:sSup>
                  </m:oMath>
                </a14:m>
                <a:r>
                  <a:rPr lang="en-US" dirty="0"/>
                  <a:t> in the expansion (</a:t>
                </a:r>
                <a:r>
                  <a:rPr lang="en-US" dirty="0" err="1"/>
                  <a:t>triển</a:t>
                </a:r>
                <a:r>
                  <a:rPr lang="en-US" dirty="0"/>
                  <a:t> </a:t>
                </a:r>
                <a:r>
                  <a:rPr lang="en-US" dirty="0" err="1"/>
                  <a:t>khai</a:t>
                </a:r>
                <a:r>
                  <a:rPr lang="en-US" dirty="0"/>
                  <a:t>) of </a:t>
                </a:r>
                <a14:m>
                  <m:oMath xmlns:m="http://schemas.openxmlformats.org/officeDocument/2006/math">
                    <m:r>
                      <a:rPr lang="en-US" i="1">
                        <a:latin typeface="Cambria Math"/>
                      </a:rPr>
                      <m:t>𝑔</m:t>
                    </m:r>
                    <m:d>
                      <m:dPr>
                        <m:ctrlPr>
                          <a:rPr lang="en-US" i="1">
                            <a:latin typeface="Cambria Math" panose="02040503050406030204" pitchFamily="18" charset="0"/>
                          </a:rPr>
                        </m:ctrlPr>
                      </m:dPr>
                      <m:e>
                        <m:r>
                          <a:rPr lang="en-US" i="1">
                            <a:latin typeface="Cambria Math"/>
                          </a:rPr>
                          <m:t>𝑥</m:t>
                        </m:r>
                      </m:e>
                    </m:d>
                  </m:oMath>
                </a14:m>
                <a:r>
                  <a:rPr lang="en-US" dirty="0"/>
                  <a:t> based on a power sequence</a:t>
                </a:r>
              </a:p>
            </p:txBody>
          </p:sp>
        </mc:Choice>
        <mc:Fallback xmlns="">
          <p:sp>
            <p:nvSpPr>
              <p:cNvPr id="5" name="Content Placeholder 4"/>
              <p:cNvSpPr>
                <a:spLocks noGrp="1" noRot="1" noChangeAspect="1" noMove="1" noResize="1" noEditPoints="1" noAdjustHandles="1" noChangeArrowheads="1" noChangeShapeType="1" noTextEdit="1"/>
              </p:cNvSpPr>
              <p:nvPr>
                <p:ph sz="quarter" idx="1"/>
              </p:nvPr>
            </p:nvSpPr>
            <p:spPr>
              <a:xfrm>
                <a:off x="304800" y="1219200"/>
                <a:ext cx="8610600" cy="4937760"/>
              </a:xfrm>
              <a:blipFill>
                <a:blip r:embed="rId2"/>
                <a:stretch>
                  <a:fillRect l="-1062" t="-988" r="-637"/>
                </a:stretch>
              </a:blipFill>
            </p:spPr>
            <p:txBody>
              <a:bodyPr/>
              <a:lstStyle/>
              <a:p>
                <a:r>
                  <a:rPr lang="en-US">
                    <a:noFill/>
                  </a:rPr>
                  <a:t> </a:t>
                </a:r>
              </a:p>
            </p:txBody>
          </p:sp>
        </mc:Fallback>
      </mc:AlternateContent>
      <p:sp>
        <p:nvSpPr>
          <p:cNvPr id="7" name="Rounded Rectangle 6"/>
          <p:cNvSpPr/>
          <p:nvPr/>
        </p:nvSpPr>
        <p:spPr>
          <a:xfrm>
            <a:off x="1257300" y="5777230"/>
            <a:ext cx="6629400" cy="762000"/>
          </a:xfrm>
          <a:prstGeom prst="roundRect">
            <a:avLst/>
          </a:prstGeom>
          <a:solidFill>
            <a:schemeClr val="bg1"/>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rgbClr val="FF0000"/>
                </a:solidFill>
                <a:latin typeface="Tahoma" pitchFamily="34" charset="0"/>
                <a:ea typeface="Tahoma" pitchFamily="34" charset="0"/>
                <a:cs typeface="Tahoma" pitchFamily="34" charset="0"/>
              </a:rPr>
              <a:t>Calculating the answer requires a lot of calculations, but can be solved on a computer easily!</a:t>
            </a:r>
          </a:p>
        </p:txBody>
      </p:sp>
    </p:spTree>
    <p:extLst>
      <p:ext uri="{BB962C8B-B14F-4D97-AF65-F5344CB8AC3E}">
        <p14:creationId xmlns:p14="http://schemas.microsoft.com/office/powerpoint/2010/main" val="6412668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p>
        </p:txBody>
      </p:sp>
      <p:sp>
        <p:nvSpPr>
          <p:cNvPr id="3" name="Footer Placeholder 2"/>
          <p:cNvSpPr>
            <a:spLocks noGrp="1"/>
          </p:cNvSpPr>
          <p:nvPr>
            <p:ph type="ftr" sz="quarter" idx="11"/>
          </p:nvPr>
        </p:nvSpPr>
        <p:spPr/>
        <p:txBody>
          <a:bodyPr/>
          <a:lstStyle/>
          <a:p>
            <a:r>
              <a:rPr lang="en-US"/>
              <a:t>http://www.ptit.edu.vn</a:t>
            </a:r>
          </a:p>
        </p:txBody>
      </p:sp>
      <p:sp>
        <p:nvSpPr>
          <p:cNvPr id="4" name="Slide Number Placeholder 3"/>
          <p:cNvSpPr>
            <a:spLocks noGrp="1"/>
          </p:cNvSpPr>
          <p:nvPr>
            <p:ph type="sldNum" sz="quarter" idx="12"/>
          </p:nvPr>
        </p:nvSpPr>
        <p:spPr/>
        <p:txBody>
          <a:bodyPr/>
          <a:lstStyle/>
          <a:p>
            <a:fld id="{B6F15528-21DE-4FAA-801E-634DDDAF4B2B}" type="slidenum">
              <a:rPr lang="en-US" smtClean="0"/>
              <a:pPr/>
              <a:t>84</a:t>
            </a:fld>
            <a:endParaRPr lang="en-US"/>
          </a:p>
        </p:txBody>
      </p:sp>
      <p:sp>
        <p:nvSpPr>
          <p:cNvPr id="5" name="Content Placeholder 4"/>
          <p:cNvSpPr>
            <a:spLocks noGrp="1"/>
          </p:cNvSpPr>
          <p:nvPr>
            <p:ph sz="quarter" idx="1"/>
          </p:nvPr>
        </p:nvSpPr>
        <p:spPr/>
        <p:txBody>
          <a:bodyPr/>
          <a:lstStyle/>
          <a:p>
            <a:pPr algn="just"/>
            <a:r>
              <a:rPr lang="en-US" dirty="0"/>
              <a:t>Find the generation function for the number of ways to exchange M (VND) using different types of money: 1000 VND, 5000 VND, 10000 VND, </a:t>
            </a:r>
            <a:r>
              <a:rPr lang="en-US"/>
              <a:t>50000 VND </a:t>
            </a:r>
            <a:r>
              <a:rPr lang="en-US" dirty="0"/>
              <a:t>(assume that we have an unlimited number of each type of money)</a:t>
            </a:r>
          </a:p>
        </p:txBody>
      </p:sp>
    </p:spTree>
    <p:extLst>
      <p:ext uri="{BB962C8B-B14F-4D97-AF65-F5344CB8AC3E}">
        <p14:creationId xmlns:p14="http://schemas.microsoft.com/office/powerpoint/2010/main" val="306677400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2969</TotalTime>
  <Words>7180</Words>
  <Application>Microsoft Macintosh PowerPoint</Application>
  <PresentationFormat>On-screen Show (4:3)</PresentationFormat>
  <Paragraphs>724</Paragraphs>
  <Slides>84</Slides>
  <Notes>3</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84</vt:i4>
      </vt:variant>
    </vt:vector>
  </HeadingPairs>
  <TitlesOfParts>
    <vt:vector size="96" baseType="lpstr">
      <vt:lpstr>Arial</vt:lpstr>
      <vt:lpstr>Bookman Old Style</vt:lpstr>
      <vt:lpstr>Calibri</vt:lpstr>
      <vt:lpstr>Cambria Math</vt:lpstr>
      <vt:lpstr>Courier New</vt:lpstr>
      <vt:lpstr>Gill Sans MT</vt:lpstr>
      <vt:lpstr>Gill Sans MT (Body)</vt:lpstr>
      <vt:lpstr>Tahoma</vt:lpstr>
      <vt:lpstr>Wingdings</vt:lpstr>
      <vt:lpstr>Wingdings 3</vt:lpstr>
      <vt:lpstr>Origin</vt:lpstr>
      <vt:lpstr>Equation</vt:lpstr>
      <vt:lpstr>Counting problem</vt:lpstr>
      <vt:lpstr>Contents</vt:lpstr>
      <vt:lpstr>Introduce counting problem</vt:lpstr>
      <vt:lpstr>     Methods for solving counting problems</vt:lpstr>
      <vt:lpstr>Contents</vt:lpstr>
      <vt:lpstr>Sum rule (recall)</vt:lpstr>
      <vt:lpstr>Example 1</vt:lpstr>
      <vt:lpstr>Example 1</vt:lpstr>
      <vt:lpstr>Product rule (recall)</vt:lpstr>
      <vt:lpstr>Example 2</vt:lpstr>
      <vt:lpstr>Example 2</vt:lpstr>
      <vt:lpstr>Example 3</vt:lpstr>
      <vt:lpstr>Example 3</vt:lpstr>
      <vt:lpstr>Example 4</vt:lpstr>
      <vt:lpstr>Example 4</vt:lpstr>
      <vt:lpstr> Permutation, Arrangement, Combination (recall)</vt:lpstr>
      <vt:lpstr>Example 5</vt:lpstr>
      <vt:lpstr>Example 5</vt:lpstr>
      <vt:lpstr>Example 6</vt:lpstr>
      <vt:lpstr>Example 6</vt:lpstr>
      <vt:lpstr>Example 7</vt:lpstr>
      <vt:lpstr>Example 7</vt:lpstr>
      <vt:lpstr>Example 8</vt:lpstr>
      <vt:lpstr>Example 8</vt:lpstr>
      <vt:lpstr>Example 9</vt:lpstr>
      <vt:lpstr>Example 9</vt:lpstr>
      <vt:lpstr>Example 9</vt:lpstr>
      <vt:lpstr>Exercise 1</vt:lpstr>
      <vt:lpstr>Exercise 2</vt:lpstr>
      <vt:lpstr>Exercise 3</vt:lpstr>
      <vt:lpstr>Inclusion-Exclusion principle</vt:lpstr>
      <vt:lpstr>Example 10</vt:lpstr>
      <vt:lpstr>Example 10</vt:lpstr>
      <vt:lpstr>Example 10</vt:lpstr>
      <vt:lpstr>Example 11</vt:lpstr>
      <vt:lpstr>Example 12</vt:lpstr>
      <vt:lpstr>Example 12</vt:lpstr>
      <vt:lpstr>Exercise 1</vt:lpstr>
      <vt:lpstr>Exercise 2</vt:lpstr>
      <vt:lpstr>Contents</vt:lpstr>
      <vt:lpstr>Conquer the the subproblem</vt:lpstr>
      <vt:lpstr>Example 13</vt:lpstr>
      <vt:lpstr>Example 13</vt:lpstr>
      <vt:lpstr>Example 13</vt:lpstr>
      <vt:lpstr>Contents</vt:lpstr>
      <vt:lpstr>Recurrence relations</vt:lpstr>
      <vt:lpstr>Modeling the recurrence relation</vt:lpstr>
      <vt:lpstr>Example 15</vt:lpstr>
      <vt:lpstr>Example 16</vt:lpstr>
      <vt:lpstr>Example 17</vt:lpstr>
      <vt:lpstr>Example 17</vt:lpstr>
      <vt:lpstr>Example 18</vt:lpstr>
      <vt:lpstr>Example 18</vt:lpstr>
      <vt:lpstr>Example 19</vt:lpstr>
      <vt:lpstr>Example 19</vt:lpstr>
      <vt:lpstr>Example 20</vt:lpstr>
      <vt:lpstr>Example 20</vt:lpstr>
      <vt:lpstr>Exercise</vt:lpstr>
      <vt:lpstr>   Solve a recurrence relation by using the iteration method</vt:lpstr>
      <vt:lpstr>    Pure linear recurrence relation</vt:lpstr>
      <vt:lpstr>Example</vt:lpstr>
      <vt:lpstr>Solving method</vt:lpstr>
      <vt:lpstr>Case: distinct root</vt:lpstr>
      <vt:lpstr>Example 21</vt:lpstr>
      <vt:lpstr>Example 21</vt:lpstr>
      <vt:lpstr>Exercise 1</vt:lpstr>
      <vt:lpstr>Exercise 2</vt:lpstr>
      <vt:lpstr>Case: double root</vt:lpstr>
      <vt:lpstr>Example 22</vt:lpstr>
      <vt:lpstr>Example 22</vt:lpstr>
      <vt:lpstr>Exercise</vt:lpstr>
      <vt:lpstr>Case: root is complex numbers</vt:lpstr>
      <vt:lpstr>Example 23</vt:lpstr>
      <vt:lpstr>Example 23</vt:lpstr>
      <vt:lpstr>General case</vt:lpstr>
      <vt:lpstr>Exercise</vt:lpstr>
      <vt:lpstr>Contents</vt:lpstr>
      <vt:lpstr>Definition and example</vt:lpstr>
      <vt:lpstr>Some common expansions</vt:lpstr>
      <vt:lpstr>Contents</vt:lpstr>
      <vt:lpstr>Example 24</vt:lpstr>
      <vt:lpstr>Example 24</vt:lpstr>
      <vt:lpstr>Example 24</vt:lpstr>
      <vt:lpstr>Exercise 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bachnx</dc:creator>
  <cp:lastModifiedBy>Dao Thi Thuy Quynh</cp:lastModifiedBy>
  <cp:revision>230</cp:revision>
  <dcterms:created xsi:type="dcterms:W3CDTF">2006-08-16T00:00:00Z</dcterms:created>
  <dcterms:modified xsi:type="dcterms:W3CDTF">2022-12-13T04:48:29Z</dcterms:modified>
</cp:coreProperties>
</file>