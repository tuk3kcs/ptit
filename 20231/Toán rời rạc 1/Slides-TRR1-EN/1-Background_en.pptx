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76" r:id="rId1"/>
  </p:sldMasterIdLst>
  <p:notesMasterIdLst>
    <p:notesMasterId r:id="rId42"/>
  </p:notesMasterIdLst>
  <p:handoutMasterIdLst>
    <p:handoutMasterId r:id="rId43"/>
  </p:handoutMasterIdLst>
  <p:sldIdLst>
    <p:sldId id="256" r:id="rId2"/>
    <p:sldId id="257" r:id="rId3"/>
    <p:sldId id="258" r:id="rId4"/>
    <p:sldId id="259" r:id="rId5"/>
    <p:sldId id="261" r:id="rId6"/>
    <p:sldId id="262" r:id="rId7"/>
    <p:sldId id="263" r:id="rId8"/>
    <p:sldId id="260" r:id="rId9"/>
    <p:sldId id="264" r:id="rId10"/>
    <p:sldId id="265" r:id="rId11"/>
    <p:sldId id="266" r:id="rId12"/>
    <p:sldId id="267" r:id="rId13"/>
    <p:sldId id="268" r:id="rId14"/>
    <p:sldId id="282" r:id="rId15"/>
    <p:sldId id="304" r:id="rId16"/>
    <p:sldId id="305" r:id="rId17"/>
    <p:sldId id="306" r:id="rId18"/>
    <p:sldId id="269" r:id="rId19"/>
    <p:sldId id="270" r:id="rId20"/>
    <p:sldId id="271" r:id="rId21"/>
    <p:sldId id="272" r:id="rId22"/>
    <p:sldId id="273" r:id="rId23"/>
    <p:sldId id="276" r:id="rId24"/>
    <p:sldId id="274" r:id="rId25"/>
    <p:sldId id="275" r:id="rId26"/>
    <p:sldId id="278" r:id="rId27"/>
    <p:sldId id="279" r:id="rId28"/>
    <p:sldId id="277" r:id="rId29"/>
    <p:sldId id="281" r:id="rId30"/>
    <p:sldId id="283" r:id="rId31"/>
    <p:sldId id="284" r:id="rId32"/>
    <p:sldId id="285" r:id="rId33"/>
    <p:sldId id="295" r:id="rId34"/>
    <p:sldId id="296" r:id="rId35"/>
    <p:sldId id="297" r:id="rId36"/>
    <p:sldId id="298" r:id="rId37"/>
    <p:sldId id="299" r:id="rId38"/>
    <p:sldId id="300" r:id="rId39"/>
    <p:sldId id="301" r:id="rId40"/>
    <p:sldId id="302"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D26F4E3-F401-4DC3-88B8-6423B362AAD2}" type="datetimeFigureOut">
              <a:rPr lang="en-US" smtClean="0"/>
              <a:t>11/7/2022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D43EF8E-F52D-4609-913F-23254647DF12}" type="slidenum">
              <a:rPr lang="en-US" smtClean="0"/>
              <a:t>‹#›</a:t>
            </a:fld>
            <a:endParaRPr lang="en-US"/>
          </a:p>
        </p:txBody>
      </p:sp>
    </p:spTree>
    <p:extLst>
      <p:ext uri="{BB962C8B-B14F-4D97-AF65-F5344CB8AC3E}">
        <p14:creationId xmlns:p14="http://schemas.microsoft.com/office/powerpoint/2010/main" val="97970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72C9E9-F47F-43FB-BD67-61E05AD56ABC}" type="datetimeFigureOut">
              <a:rPr lang="en-US" smtClean="0"/>
              <a:t>11/7/2022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13A30B-9554-4543-B09D-457694D42B7A}" type="slidenum">
              <a:rPr lang="en-US" smtClean="0"/>
              <a:t>‹#›</a:t>
            </a:fld>
            <a:endParaRPr lang="en-US"/>
          </a:p>
        </p:txBody>
      </p:sp>
    </p:spTree>
    <p:extLst>
      <p:ext uri="{BB962C8B-B14F-4D97-AF65-F5344CB8AC3E}">
        <p14:creationId xmlns:p14="http://schemas.microsoft.com/office/powerpoint/2010/main" val="186726193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52510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499"/>
            <a:ext cx="1600200"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8" name="Footer Placeholder 7"/>
          <p:cNvSpPr>
            <a:spLocks noGrp="1"/>
          </p:cNvSpPr>
          <p:nvPr>
            <p:ph type="ftr" sz="quarter" idx="11"/>
          </p:nvPr>
        </p:nvSpPr>
        <p:spPr/>
        <p:txBody>
          <a:bodyPr/>
          <a:lstStyle/>
          <a:p>
            <a:r>
              <a:rPr lang="en-US"/>
              <a:t>http://www.ptit.edu.vn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a:xfrm>
            <a:off x="6400800" y="6356350"/>
            <a:ext cx="2289048" cy="365760"/>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http://www.ptit.edu.vn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00800" y="6356350"/>
            <a:ext cx="2289048" cy="365760"/>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3" name="Footer Placeholder 2"/>
          <p:cNvSpPr>
            <a:spLocks noGrp="1"/>
          </p:cNvSpPr>
          <p:nvPr>
            <p:ph type="ftr" sz="quarter" idx="3"/>
          </p:nvPr>
        </p:nvSpPr>
        <p:spPr>
          <a:xfrm>
            <a:off x="5181600"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http://www.ptit.edu.vn</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hf hdr="0" dt="0"/>
  <p:txStyles>
    <p:titleStyle>
      <a:lvl1pPr algn="ctr"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400" kern="1200">
          <a:solidFill>
            <a:schemeClr val="tx1"/>
          </a:solidFill>
          <a:latin typeface="Tahoma" pitchFamily="34" charset="0"/>
          <a:ea typeface="Tahoma" pitchFamily="34" charset="0"/>
          <a:cs typeface="Tahoma" pitchFamily="34" charset="0"/>
        </a:defRPr>
      </a:lvl1pPr>
      <a:lvl2pPr marL="548640" indent="-274320" algn="l" rtl="0" eaLnBrk="1" latinLnBrk="0" hangingPunct="1">
        <a:spcBef>
          <a:spcPts val="500"/>
        </a:spcBef>
        <a:buClr>
          <a:schemeClr val="accent2"/>
        </a:buClr>
        <a:buSzPct val="76000"/>
        <a:buFont typeface="Courier New" pitchFamily="49" charset="0"/>
        <a:buChar char="o"/>
        <a:defRPr kumimoji="0" sz="2000" kern="1200">
          <a:solidFill>
            <a:schemeClr val="tx2"/>
          </a:solidFill>
          <a:latin typeface="Tahoma" pitchFamily="34" charset="0"/>
          <a:ea typeface="Tahoma" pitchFamily="34" charset="0"/>
          <a:cs typeface="Tahoma" pitchFamily="34" charset="0"/>
        </a:defRPr>
      </a:lvl2pPr>
      <a:lvl3pPr marL="822960" indent="-228600" algn="l" rtl="0" eaLnBrk="1" latinLnBrk="0" hangingPunct="1">
        <a:spcBef>
          <a:spcPts val="500"/>
        </a:spcBef>
        <a:buClr>
          <a:schemeClr val="bg1">
            <a:shade val="50000"/>
          </a:schemeClr>
        </a:buClr>
        <a:buSzPct val="76000"/>
        <a:buFont typeface="Wingdings" pitchFamily="2" charset="2"/>
        <a:buChar char="§"/>
        <a:defRPr kumimoji="0" sz="1800" kern="1200">
          <a:solidFill>
            <a:schemeClr val="tx1"/>
          </a:solidFill>
          <a:latin typeface="Tahoma" pitchFamily="34" charset="0"/>
          <a:ea typeface="Tahoma" pitchFamily="34" charset="0"/>
          <a:cs typeface="Tahoma"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1600" kern="1200">
          <a:solidFill>
            <a:schemeClr val="tx1"/>
          </a:solidFill>
          <a:latin typeface="Tahoma" pitchFamily="34" charset="0"/>
          <a:ea typeface="Tahoma" pitchFamily="34" charset="0"/>
          <a:cs typeface="Tahoma" pitchFamily="34" charset="0"/>
        </a:defRPr>
      </a:lvl4pPr>
      <a:lvl5pPr marL="1371600" indent="-228600" algn="l" rtl="0" eaLnBrk="1" latinLnBrk="0" hangingPunct="1">
        <a:spcBef>
          <a:spcPts val="300"/>
        </a:spcBef>
        <a:buClr>
          <a:schemeClr val="accent2"/>
        </a:buClr>
        <a:buSzPct val="70000"/>
        <a:buFont typeface="Wingdings"/>
        <a:buChar char=""/>
        <a:defRPr kumimoji="0" sz="1400" kern="1200">
          <a:solidFill>
            <a:schemeClr val="tx1"/>
          </a:solidFill>
          <a:latin typeface="Tahoma" pitchFamily="34" charset="0"/>
          <a:ea typeface="Tahoma" pitchFamily="34" charset="0"/>
          <a:cs typeface="Tahoma"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60.png"/><Relationship Id="rId4" Type="http://schemas.openxmlformats.org/officeDocument/2006/relationships/image" Target="../media/image20.wmf"/></Relationships>
</file>

<file path=ppt/slides/_rels/slide3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962400"/>
            <a:ext cx="6858000" cy="762000"/>
          </a:xfrm>
        </p:spPr>
        <p:txBody>
          <a:bodyPr>
            <a:normAutofit/>
          </a:bodyPr>
          <a:lstStyle/>
          <a:p>
            <a:pPr algn="ctr"/>
            <a:r>
              <a:rPr lang="en-US" dirty="0"/>
              <a:t>Some basic knowledge</a:t>
            </a:r>
          </a:p>
        </p:txBody>
      </p:sp>
      <p:sp>
        <p:nvSpPr>
          <p:cNvPr id="3" name="Subtitle 2"/>
          <p:cNvSpPr>
            <a:spLocks noGrp="1"/>
          </p:cNvSpPr>
          <p:nvPr>
            <p:ph type="subTitle" idx="1"/>
          </p:nvPr>
        </p:nvSpPr>
        <p:spPr/>
        <p:txBody>
          <a:bodyPr>
            <a:normAutofit fontScale="85000" lnSpcReduction="20000"/>
          </a:bodyPr>
          <a:lstStyle/>
          <a:p>
            <a:pPr algn="ctr"/>
            <a:r>
              <a:rPr lang="en-US" sz="1800" dirty="0"/>
              <a:t>Ngo Xuan Bach</a:t>
            </a:r>
          </a:p>
          <a:p>
            <a:pPr algn="ctr"/>
            <a:r>
              <a:rPr lang="en-US" sz="1800" dirty="0"/>
              <a:t>Dao </a:t>
            </a:r>
            <a:r>
              <a:rPr lang="en-US" sz="1800" dirty="0" err="1"/>
              <a:t>Thi</a:t>
            </a:r>
            <a:r>
              <a:rPr lang="en-US" sz="1800"/>
              <a:t> Thuy Quynh</a:t>
            </a:r>
          </a:p>
          <a:p>
            <a:pPr algn="ctr"/>
            <a:endParaRPr lang="en-US" sz="1800" dirty="0"/>
          </a:p>
        </p:txBody>
      </p:sp>
      <p:sp>
        <p:nvSpPr>
          <p:cNvPr id="5" name="TextBox 4"/>
          <p:cNvSpPr txBox="1"/>
          <p:nvPr/>
        </p:nvSpPr>
        <p:spPr>
          <a:xfrm>
            <a:off x="1600200" y="304800"/>
            <a:ext cx="6324600" cy="646331"/>
          </a:xfrm>
          <a:prstGeom prst="rect">
            <a:avLst/>
          </a:prstGeom>
          <a:noFill/>
        </p:spPr>
        <p:txBody>
          <a:bodyPr wrap="square" rtlCol="0">
            <a:spAutoFit/>
          </a:bodyPr>
          <a:lstStyle/>
          <a:p>
            <a:pPr algn="ctr"/>
            <a:r>
              <a:rPr lang="en-US" dirty="0">
                <a:latin typeface="Tahoma" pitchFamily="34" charset="0"/>
                <a:ea typeface="Tahoma" pitchFamily="34" charset="0"/>
                <a:cs typeface="Tahoma" pitchFamily="34" charset="0"/>
              </a:rPr>
              <a:t>Posts and Telecommunication Institute of Technology</a:t>
            </a:r>
          </a:p>
          <a:p>
            <a:pPr algn="ctr"/>
            <a:r>
              <a:rPr lang="en-US" dirty="0">
                <a:latin typeface="Tahoma" pitchFamily="34" charset="0"/>
                <a:ea typeface="Tahoma" pitchFamily="34" charset="0"/>
                <a:cs typeface="Tahoma" pitchFamily="34" charset="0"/>
              </a:rPr>
              <a:t>Faculty of Information Technology 1</a:t>
            </a:r>
          </a:p>
        </p:txBody>
      </p:sp>
      <p:sp>
        <p:nvSpPr>
          <p:cNvPr id="8" name="Title 1"/>
          <p:cNvSpPr txBox="1">
            <a:spLocks/>
          </p:cNvSpPr>
          <p:nvPr/>
        </p:nvSpPr>
        <p:spPr>
          <a:xfrm>
            <a:off x="1371600" y="1981200"/>
            <a:ext cx="6858000" cy="609600"/>
          </a:xfrm>
          <a:prstGeom prst="rect">
            <a:avLst/>
          </a:prstGeom>
        </p:spPr>
        <p:txBody>
          <a:bodyPr vert="horz" anchor="t" anchorCtr="0">
            <a:norm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algn="ctr"/>
            <a:r>
              <a:rPr lang="en-US" sz="2400" dirty="0"/>
              <a:t>Mathematic discrete1</a:t>
            </a:r>
            <a:endParaRPr lang="en-US" sz="1400" dirty="0"/>
          </a:p>
        </p:txBody>
      </p:sp>
    </p:spTree>
    <p:extLst>
      <p:ext uri="{BB962C8B-B14F-4D97-AF65-F5344CB8AC3E}">
        <p14:creationId xmlns:p14="http://schemas.microsoft.com/office/powerpoint/2010/main" val="1664420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Contents</a:t>
            </a:r>
          </a:p>
        </p:txBody>
      </p:sp>
      <p:sp>
        <p:nvSpPr>
          <p:cNvPr id="3" name="Content Placeholder 2"/>
          <p:cNvSpPr>
            <a:spLocks noGrp="1"/>
          </p:cNvSpPr>
          <p:nvPr>
            <p:ph sz="quarter" idx="1"/>
          </p:nvPr>
        </p:nvSpPr>
        <p:spPr/>
        <p:txBody>
          <a:bodyPr>
            <a:normAutofit/>
          </a:bodyPr>
          <a:lstStyle/>
          <a:p>
            <a:r>
              <a:rPr lang="en-US" dirty="0"/>
              <a:t>Set theory</a:t>
            </a:r>
          </a:p>
          <a:p>
            <a:r>
              <a:rPr lang="en-US" dirty="0"/>
              <a:t>Propositional logic</a:t>
            </a:r>
            <a:endParaRPr lang="en-US" sz="2400" dirty="0"/>
          </a:p>
          <a:p>
            <a:r>
              <a:rPr lang="en-US" dirty="0"/>
              <a:t>Algorithms and complexity</a:t>
            </a:r>
          </a:p>
          <a:p>
            <a:r>
              <a:rPr lang="en-US" sz="2400" dirty="0">
                <a:latin typeface="Tahoma" pitchFamily="34" charset="0"/>
                <a:ea typeface="Tahoma" pitchFamily="34" charset="0"/>
                <a:cs typeface="Tahoma" pitchFamily="34" charset="0"/>
              </a:rPr>
              <a:t>Exercise</a:t>
            </a:r>
          </a:p>
        </p:txBody>
      </p:sp>
      <p:sp>
        <p:nvSpPr>
          <p:cNvPr id="4" name="Footer Placeholder 3"/>
          <p:cNvSpPr>
            <a:spLocks noGrp="1"/>
          </p:cNvSpPr>
          <p:nvPr>
            <p:ph type="ftr" sz="quarter" idx="11"/>
          </p:nvPr>
        </p:nvSpPr>
        <p:spPr/>
        <p:txBody>
          <a:bodyPr/>
          <a:lstStyle/>
          <a:p>
            <a:r>
              <a:rPr lang="en-US"/>
              <a:t>http://www.ptit.edu.vn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4899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Mathematical notation</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r>
                  <a:rPr lang="en-US" dirty="0"/>
                  <a:t>Set: </a:t>
                </a:r>
                <a14:m>
                  <m:oMath xmlns:m="http://schemas.openxmlformats.org/officeDocument/2006/math">
                    <m:r>
                      <a:rPr lang="en-US" i="1" dirty="0" smtClean="0">
                        <a:solidFill>
                          <a:srgbClr val="FF0000"/>
                        </a:solidFill>
                        <a:latin typeface="Cambria Math"/>
                      </a:rPr>
                      <m:t>𝐴</m:t>
                    </m:r>
                    <m:r>
                      <a:rPr lang="en-US" i="1" dirty="0" smtClean="0">
                        <a:solidFill>
                          <a:srgbClr val="FF0000"/>
                        </a:solidFill>
                        <a:latin typeface="Cambria Math"/>
                      </a:rPr>
                      <m:t>, </m:t>
                    </m:r>
                    <m:r>
                      <a:rPr lang="en-US" i="1" dirty="0" smtClean="0">
                        <a:solidFill>
                          <a:srgbClr val="FF0000"/>
                        </a:solidFill>
                        <a:latin typeface="Cambria Math"/>
                      </a:rPr>
                      <m:t>𝐵</m:t>
                    </m:r>
                    <m:r>
                      <a:rPr lang="en-US" i="1" dirty="0" smtClean="0">
                        <a:solidFill>
                          <a:srgbClr val="FF0000"/>
                        </a:solidFill>
                        <a:latin typeface="Cambria Math"/>
                      </a:rPr>
                      <m:t>, …, </m:t>
                    </m:r>
                    <m:r>
                      <a:rPr lang="en-US" i="1" dirty="0" smtClean="0">
                        <a:solidFill>
                          <a:srgbClr val="FF0000"/>
                        </a:solidFill>
                        <a:latin typeface="Cambria Math"/>
                      </a:rPr>
                      <m:t>𝑋</m:t>
                    </m:r>
                    <m:r>
                      <a:rPr lang="en-US" i="1" dirty="0" smtClean="0">
                        <a:solidFill>
                          <a:srgbClr val="FF0000"/>
                        </a:solidFill>
                        <a:latin typeface="Cambria Math"/>
                      </a:rPr>
                      <m:t>, </m:t>
                    </m:r>
                    <m:r>
                      <a:rPr lang="en-US" i="1" dirty="0" smtClean="0">
                        <a:solidFill>
                          <a:srgbClr val="FF0000"/>
                        </a:solidFill>
                        <a:latin typeface="Cambria Math"/>
                      </a:rPr>
                      <m:t>𝑌</m:t>
                    </m:r>
                    <m:r>
                      <a:rPr lang="en-US" i="1" dirty="0" smtClean="0">
                        <a:solidFill>
                          <a:srgbClr val="FF0000"/>
                        </a:solidFill>
                        <a:latin typeface="Cambria Math"/>
                      </a:rPr>
                      <m:t>,…</m:t>
                    </m:r>
                  </m:oMath>
                </a14:m>
                <a:endParaRPr lang="en-US" dirty="0">
                  <a:solidFill>
                    <a:srgbClr val="FF0000"/>
                  </a:solidFill>
                </a:endParaRPr>
              </a:p>
              <a:p>
                <a:r>
                  <a:rPr lang="en-US" dirty="0"/>
                  <a:t>Element of set: </a:t>
                </a:r>
                <a14:m>
                  <m:oMath xmlns:m="http://schemas.openxmlformats.org/officeDocument/2006/math">
                    <m:r>
                      <a:rPr lang="en-US" i="1" dirty="0" smtClean="0">
                        <a:solidFill>
                          <a:srgbClr val="FF0000"/>
                        </a:solidFill>
                        <a:latin typeface="Cambria Math"/>
                      </a:rPr>
                      <m:t>𝑎</m:t>
                    </m:r>
                    <m:r>
                      <a:rPr lang="en-US" i="1" dirty="0" smtClean="0">
                        <a:solidFill>
                          <a:srgbClr val="FF0000"/>
                        </a:solidFill>
                        <a:latin typeface="Cambria Math"/>
                      </a:rPr>
                      <m:t>, </m:t>
                    </m:r>
                    <m:r>
                      <a:rPr lang="en-US" i="1" dirty="0" smtClean="0">
                        <a:solidFill>
                          <a:srgbClr val="FF0000"/>
                        </a:solidFill>
                        <a:latin typeface="Cambria Math"/>
                      </a:rPr>
                      <m:t>𝑏</m:t>
                    </m:r>
                    <m:r>
                      <a:rPr lang="en-US" i="1" dirty="0" smtClean="0">
                        <a:solidFill>
                          <a:srgbClr val="FF0000"/>
                        </a:solidFill>
                        <a:latin typeface="Cambria Math"/>
                      </a:rPr>
                      <m:t>, …, </m:t>
                    </m:r>
                    <m:r>
                      <a:rPr lang="en-US" i="1" dirty="0" smtClean="0">
                        <a:solidFill>
                          <a:srgbClr val="FF0000"/>
                        </a:solidFill>
                        <a:latin typeface="Cambria Math"/>
                      </a:rPr>
                      <m:t>𝑥</m:t>
                    </m:r>
                    <m:r>
                      <a:rPr lang="en-US" i="1" dirty="0" smtClean="0">
                        <a:solidFill>
                          <a:srgbClr val="FF0000"/>
                        </a:solidFill>
                        <a:latin typeface="Cambria Math"/>
                      </a:rPr>
                      <m:t>, </m:t>
                    </m:r>
                    <m:r>
                      <a:rPr lang="en-US" i="1" dirty="0" smtClean="0">
                        <a:solidFill>
                          <a:srgbClr val="FF0000"/>
                        </a:solidFill>
                        <a:latin typeface="Cambria Math"/>
                      </a:rPr>
                      <m:t>𝑦</m:t>
                    </m:r>
                    <m:r>
                      <a:rPr lang="en-US" i="1" dirty="0" smtClean="0">
                        <a:solidFill>
                          <a:srgbClr val="FF0000"/>
                        </a:solidFill>
                        <a:latin typeface="Cambria Math"/>
                      </a:rPr>
                      <m:t>, …</m:t>
                    </m:r>
                  </m:oMath>
                </a14:m>
                <a:endParaRPr lang="en-US" dirty="0">
                  <a:solidFill>
                    <a:srgbClr val="FF0000"/>
                  </a:solidFill>
                </a:endParaRPr>
              </a:p>
              <a:p>
                <a:r>
                  <a:rPr lang="en-US" dirty="0"/>
                  <a:t>Element x does not belong to A: </a:t>
                </a:r>
                <a14:m>
                  <m:oMath xmlns:m="http://schemas.openxmlformats.org/officeDocument/2006/math">
                    <m:r>
                      <a:rPr lang="en-US" b="0" i="1" smtClean="0">
                        <a:solidFill>
                          <a:srgbClr val="FF0000"/>
                        </a:solidFill>
                        <a:latin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r>
                      <a:rPr lang="en-US" b="0" i="1" smtClean="0">
                        <a:solidFill>
                          <a:srgbClr val="FF0000"/>
                        </a:solidFill>
                        <a:latin typeface="Cambria Math"/>
                        <a:ea typeface="Cambria Math"/>
                      </a:rPr>
                      <m:t>,  </m:t>
                    </m:r>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oMath>
                </a14:m>
                <a:endParaRPr lang="en-US" dirty="0">
                  <a:solidFill>
                    <a:srgbClr val="FF0000"/>
                  </a:solidFill>
                </a:endParaRPr>
              </a:p>
              <a:p>
                <a:r>
                  <a:rPr lang="en-US" dirty="0"/>
                  <a:t>Number of elements in A: </a:t>
                </a:r>
                <a14:m>
                  <m:oMath xmlns:m="http://schemas.openxmlformats.org/officeDocument/2006/math">
                    <m:r>
                      <a:rPr lang="en-US" i="1" dirty="0">
                        <a:solidFill>
                          <a:srgbClr val="FF0000"/>
                        </a:solidFill>
                        <a:latin typeface="Cambria Math"/>
                      </a:rPr>
                      <m:t>|</m:t>
                    </m:r>
                    <m:r>
                      <a:rPr lang="en-US" i="1" dirty="0">
                        <a:solidFill>
                          <a:srgbClr val="FF0000"/>
                        </a:solidFill>
                        <a:latin typeface="Cambria Math"/>
                      </a:rPr>
                      <m:t>𝐴</m:t>
                    </m:r>
                    <m:r>
                      <a:rPr lang="en-US" i="1" dirty="0">
                        <a:solidFill>
                          <a:srgbClr val="FF0000"/>
                        </a:solidFill>
                        <a:latin typeface="Cambria Math"/>
                      </a:rPr>
                      <m:t>|</m:t>
                    </m:r>
                  </m:oMath>
                </a14:m>
                <a:endParaRPr lang="en-US" dirty="0"/>
              </a:p>
              <a:p>
                <a:pPr lvl="1"/>
                <a:r>
                  <a:rPr lang="en-US" dirty="0"/>
                  <a:t>A set having n elements is called a n-set</a:t>
                </a:r>
              </a:p>
              <a:p>
                <a:r>
                  <a:rPr lang="en-US" dirty="0"/>
                  <a:t>Subset: </a:t>
                </a:r>
                <a14:m>
                  <m:oMath xmlns:m="http://schemas.openxmlformats.org/officeDocument/2006/math">
                    <m:r>
                      <a:rPr lang="en-US" b="0" i="1" smtClean="0">
                        <a:solidFill>
                          <a:srgbClr val="FF0000"/>
                        </a:solidFill>
                        <a:latin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oMath>
                </a14:m>
                <a:endParaRPr lang="en-US" b="0" dirty="0">
                  <a:solidFill>
                    <a:srgbClr val="FF0000"/>
                  </a:solidFill>
                  <a:ea typeface="Cambria Math"/>
                </a:endParaRPr>
              </a:p>
              <a:p>
                <a:pPr lvl="1"/>
                <a14:m>
                  <m:oMath xmlns:m="http://schemas.openxmlformats.org/officeDocument/2006/math">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𝑥</m:t>
                    </m:r>
                  </m:oMath>
                </a14:m>
                <a:r>
                  <a:rPr lang="en-US" b="0" dirty="0">
                    <a:solidFill>
                      <a:srgbClr val="FF0000"/>
                    </a:solidFill>
                    <a:ea typeface="Cambria Math"/>
                  </a:rPr>
                  <a:t> </a:t>
                </a:r>
                <a14:m>
                  <m:oMath xmlns:m="http://schemas.openxmlformats.org/officeDocument/2006/math">
                    <m:r>
                      <a:rPr lang="en-US" i="1">
                        <a:solidFill>
                          <a:srgbClr val="FF0000"/>
                        </a:solidFill>
                        <a:latin typeface="Cambria Math"/>
                        <a:ea typeface="Cambria Math"/>
                      </a:rPr>
                      <m:t>∈</m:t>
                    </m:r>
                    <m:r>
                      <a:rPr lang="en-US" b="0" i="1" smtClean="0">
                        <a:solidFill>
                          <a:srgbClr val="FF0000"/>
                        </a:solidFill>
                        <a:latin typeface="Cambria Math"/>
                        <a:ea typeface="Cambria Math"/>
                      </a:rPr>
                      <m:t>𝐵</m:t>
                    </m:r>
                  </m:oMath>
                </a14:m>
                <a:endParaRPr lang="en-US" b="0" dirty="0">
                  <a:solidFill>
                    <a:srgbClr val="FF0000"/>
                  </a:solidFill>
                  <a:ea typeface="Cambria Math"/>
                </a:endParaRPr>
              </a:p>
              <a:p>
                <a:r>
                  <a:rPr lang="en-US" dirty="0"/>
                  <a:t>Equal set: if </a:t>
                </a:r>
                <a14:m>
                  <m:oMath xmlns:m="http://schemas.openxmlformats.org/officeDocument/2006/math">
                    <m:r>
                      <a:rPr lang="en-US" i="1" smtClean="0">
                        <a:solidFill>
                          <a:srgbClr val="FF0000"/>
                        </a:solidFill>
                        <a:latin typeface="Cambria Math"/>
                      </a:rPr>
                      <m:t>𝐴</m:t>
                    </m:r>
                    <m:r>
                      <a:rPr lang="en-US" i="1">
                        <a:solidFill>
                          <a:srgbClr val="FF0000"/>
                        </a:solidFill>
                        <a:latin typeface="Cambria Math"/>
                        <a:ea typeface="Cambria Math"/>
                      </a:rPr>
                      <m:t>⊆</m:t>
                    </m:r>
                    <m:r>
                      <a:rPr lang="en-US" i="1">
                        <a:solidFill>
                          <a:srgbClr val="FF0000"/>
                        </a:solidFill>
                        <a:latin typeface="Cambria Math"/>
                        <a:ea typeface="Cambria Math"/>
                      </a:rPr>
                      <m:t>𝐵</m:t>
                    </m:r>
                  </m:oMath>
                </a14:m>
                <a:r>
                  <a:rPr lang="en-US" dirty="0">
                    <a:solidFill>
                      <a:srgbClr val="FF0000"/>
                    </a:solidFill>
                    <a:ea typeface="Cambria Math"/>
                  </a:rPr>
                  <a:t> </a:t>
                </a:r>
                <a:r>
                  <a:rPr lang="en-US" dirty="0">
                    <a:ea typeface="Cambria Math"/>
                  </a:rPr>
                  <a:t>and </a:t>
                </a:r>
                <a14:m>
                  <m:oMath xmlns:m="http://schemas.openxmlformats.org/officeDocument/2006/math">
                    <m:r>
                      <a:rPr lang="en-US" b="0" i="1" smtClean="0">
                        <a:solidFill>
                          <a:srgbClr val="FF0000"/>
                        </a:solidFill>
                        <a:latin typeface="Cambria Math"/>
                      </a:rPr>
                      <m:t>𝐵</m:t>
                    </m:r>
                    <m:r>
                      <a:rPr lang="en-US" i="1">
                        <a:solidFill>
                          <a:srgbClr val="FF0000"/>
                        </a:solidFill>
                        <a:latin typeface="Cambria Math"/>
                        <a:ea typeface="Cambria Math"/>
                      </a:rPr>
                      <m:t>⊆</m:t>
                    </m:r>
                    <m:r>
                      <a:rPr lang="en-US" b="0" i="1" smtClean="0">
                        <a:solidFill>
                          <a:srgbClr val="FF0000"/>
                        </a:solidFill>
                        <a:latin typeface="Cambria Math"/>
                        <a:ea typeface="Cambria Math"/>
                      </a:rPr>
                      <m:t>𝐴</m:t>
                    </m:r>
                  </m:oMath>
                </a14:m>
                <a:r>
                  <a:rPr lang="en-US" dirty="0">
                    <a:solidFill>
                      <a:srgbClr val="FF0000"/>
                    </a:solidFill>
                    <a:ea typeface="Cambria Math"/>
                  </a:rPr>
                  <a:t> </a:t>
                </a:r>
                <a:r>
                  <a:rPr lang="en-US" dirty="0">
                    <a:ea typeface="Cambria Math"/>
                  </a:rPr>
                  <a:t>so </a:t>
                </a:r>
                <a14:m>
                  <m:oMath xmlns:m="http://schemas.openxmlformats.org/officeDocument/2006/math">
                    <m:r>
                      <a:rPr lang="en-US" i="1" smtClean="0">
                        <a:solidFill>
                          <a:srgbClr val="FF0000"/>
                        </a:solidFill>
                        <a:latin typeface="Cambria Math"/>
                      </a:rPr>
                      <m:t>𝐴</m:t>
                    </m:r>
                    <m:r>
                      <a:rPr lang="en-US" b="0" i="1" smtClean="0">
                        <a:solidFill>
                          <a:srgbClr val="FF0000"/>
                        </a:solidFill>
                        <a:latin typeface="Cambria Math"/>
                        <a:ea typeface="Cambria Math"/>
                      </a:rPr>
                      <m:t>=</m:t>
                    </m:r>
                    <m:r>
                      <a:rPr lang="en-US" i="1">
                        <a:solidFill>
                          <a:srgbClr val="FF0000"/>
                        </a:solidFill>
                        <a:latin typeface="Cambria Math"/>
                        <a:ea typeface="Cambria Math"/>
                      </a:rPr>
                      <m:t>𝐵</m:t>
                    </m:r>
                  </m:oMath>
                </a14:m>
                <a:endParaRPr lang="en-US" dirty="0">
                  <a:solidFill>
                    <a:srgbClr val="FF0000"/>
                  </a:solidFill>
                  <a:ea typeface="Cambria Math"/>
                </a:endParaRPr>
              </a:p>
              <a:p>
                <a:r>
                  <a:rPr lang="en-US" dirty="0">
                    <a:ea typeface="Cambria Math"/>
                  </a:rPr>
                  <a:t>Empty set: </a:t>
                </a:r>
                <a14:m>
                  <m:oMath xmlns:m="http://schemas.openxmlformats.org/officeDocument/2006/math">
                    <m:r>
                      <a:rPr lang="en-US" i="1" smtClean="0">
                        <a:solidFill>
                          <a:srgbClr val="FF0000"/>
                        </a:solidFill>
                        <a:latin typeface="Cambria Math"/>
                        <a:ea typeface="Cambria Math"/>
                      </a:rPr>
                      <m:t>∅</m:t>
                    </m:r>
                  </m:oMath>
                </a14:m>
                <a:endParaRPr lang="en-US" dirty="0">
                  <a:ea typeface="Cambria Math"/>
                </a:endParaRPr>
              </a:p>
              <a:p>
                <a:pPr lvl="1"/>
                <a:r>
                  <a:rPr lang="en-US" dirty="0">
                    <a:ea typeface="Cambria Math"/>
                  </a:rPr>
                  <a:t>There is not any element</a:t>
                </a:r>
              </a:p>
              <a:p>
                <a:pPr lvl="1"/>
                <a:r>
                  <a:rPr lang="en-US" dirty="0">
                    <a:ea typeface="Cambria Math"/>
                  </a:rPr>
                  <a:t>Is a subset of every other sets</a:t>
                </a:r>
              </a:p>
              <a:p>
                <a:endParaRPr lang="en-US" dirty="0">
                  <a:ea typeface="Cambria Math"/>
                </a:endParaRPr>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a:stretch>
              </a:blipFill>
            </p:spPr>
            <p:txBody>
              <a:bodyPr/>
              <a:lstStyle/>
              <a:p>
                <a:r>
                  <a:rPr lang="en-US">
                    <a:noFill/>
                  </a:rPr>
                  <a:t> </a:t>
                </a:r>
              </a:p>
            </p:txBody>
          </p:sp>
        </mc:Fallback>
      </mc:AlternateContent>
    </p:spTree>
    <p:extLst>
      <p:ext uri="{BB962C8B-B14F-4D97-AF65-F5344CB8AC3E}">
        <p14:creationId xmlns:p14="http://schemas.microsoft.com/office/powerpoint/2010/main" val="2813557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operators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0" y="1219200"/>
                <a:ext cx="9067800" cy="5137150"/>
              </a:xfrm>
            </p:spPr>
            <p:txBody>
              <a:bodyPr>
                <a:normAutofit fontScale="92500" lnSpcReduction="10000"/>
              </a:bodyPr>
              <a:lstStyle/>
              <a:p>
                <a:r>
                  <a:rPr lang="en-US" dirty="0"/>
                  <a:t>Complement of A in X: </a:t>
                </a:r>
                <a14:m>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a:rPr>
                          <m:t>𝐴</m:t>
                        </m:r>
                      </m:e>
                    </m:acc>
                    <m:r>
                      <a:rPr lang="en-US" b="0" i="1" smtClean="0">
                        <a:solidFill>
                          <a:srgbClr val="FF0000"/>
                        </a:solidFill>
                        <a:latin typeface="Cambria Math"/>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𝑋</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e>
                    </m:d>
                  </m:oMath>
                </a14:m>
                <a:endParaRPr lang="en-US" b="0" dirty="0">
                  <a:solidFill>
                    <a:srgbClr val="FF0000"/>
                  </a:solidFill>
                </a:endParaRPr>
              </a:p>
              <a:p>
                <a:r>
                  <a:rPr lang="en-US" dirty="0"/>
                  <a:t>Union of 2 sets: </a:t>
                </a:r>
                <a14:m>
                  <m:oMath xmlns:m="http://schemas.openxmlformats.org/officeDocument/2006/math">
                    <m:r>
                      <a:rPr lang="en-US" b="0" i="1" smtClean="0">
                        <a:solidFill>
                          <a:srgbClr val="FF0000"/>
                        </a:solidFill>
                        <a:latin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d>
                      <m:dPr>
                        <m:begChr m:val="{"/>
                        <m:endChr m:val="}"/>
                        <m:ctrlPr>
                          <a:rPr lang="en-US" b="0" i="1" smtClean="0">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r>
                          <a:rPr lang="en-US" b="0" i="1" smtClean="0">
                            <a:solidFill>
                              <a:srgbClr val="FF0000"/>
                            </a:solidFill>
                            <a:latin typeface="Cambria Math"/>
                            <a:ea typeface="Cambria Math"/>
                          </a:rPr>
                          <m:t> </m:t>
                        </m:r>
                        <m:r>
                          <a:rPr lang="en-US" b="0" i="1" smtClean="0">
                            <a:solidFill>
                              <a:srgbClr val="FF0000"/>
                            </a:solidFill>
                            <a:latin typeface="Cambria Math" panose="02040503050406030204" pitchFamily="18" charset="0"/>
                            <a:ea typeface="Cambria Math"/>
                          </a:rPr>
                          <m:t>𝑜𝑟</m:t>
                        </m:r>
                        <m:r>
                          <a:rPr lang="en-US" b="0" i="1" smtClean="0">
                            <a:solidFill>
                              <a:srgbClr val="FF0000"/>
                            </a:solidFill>
                            <a:latin typeface="Cambria Math"/>
                            <a:ea typeface="Cambria Math"/>
                          </a:rPr>
                          <m:t> </m:t>
                        </m:r>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e>
                    </m:d>
                  </m:oMath>
                </a14:m>
                <a:endParaRPr lang="en-US" b="0" dirty="0">
                  <a:solidFill>
                    <a:srgbClr val="FF0000"/>
                  </a:solidFill>
                  <a:ea typeface="Cambria Math"/>
                </a:endParaRPr>
              </a:p>
              <a:p>
                <a:r>
                  <a:rPr lang="en-US" dirty="0"/>
                  <a:t>Intersection of 2 sets: </a:t>
                </a:r>
                <a14:m>
                  <m:oMath xmlns:m="http://schemas.openxmlformats.org/officeDocument/2006/math">
                    <m:r>
                      <a:rPr lang="en-US" b="0" i="1" smtClean="0">
                        <a:solidFill>
                          <a:srgbClr val="FF0000"/>
                        </a:solidFill>
                        <a:latin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r>
                      <a:rPr lang="en-US" b="0" i="1" smtClean="0">
                        <a:solidFill>
                          <a:srgbClr val="FF0000"/>
                        </a:solidFill>
                        <a:latin typeface="Cambria Math"/>
                        <a:ea typeface="Cambria Math"/>
                      </a:rPr>
                      <m:t> </m:t>
                    </m:r>
                    <m:r>
                      <a:rPr lang="en-US" b="0" i="1" smtClean="0">
                        <a:solidFill>
                          <a:srgbClr val="FF0000"/>
                        </a:solidFill>
                        <a:latin typeface="Cambria Math" panose="02040503050406030204" pitchFamily="18" charset="0"/>
                        <a:ea typeface="Cambria Math"/>
                      </a:rPr>
                      <m:t>𝑎𝑛𝑑</m:t>
                    </m:r>
                    <m:r>
                      <a:rPr lang="en-US" b="0" i="1" smtClean="0">
                        <a:solidFill>
                          <a:srgbClr val="FF0000"/>
                        </a:solidFill>
                        <a:latin typeface="Cambria Math"/>
                        <a:ea typeface="Cambria Math"/>
                      </a:rPr>
                      <m:t> </m:t>
                    </m:r>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oMath>
                </a14:m>
                <a:endParaRPr lang="en-US" dirty="0"/>
              </a:p>
              <a:p>
                <a:r>
                  <a:rPr lang="en-US" dirty="0"/>
                  <a:t>Difference of 2 sets: </a:t>
                </a:r>
                <a14:m>
                  <m:oMath xmlns:m="http://schemas.openxmlformats.org/officeDocument/2006/math">
                    <m:r>
                      <a:rPr lang="en-US" b="0" i="1" smtClean="0">
                        <a:solidFill>
                          <a:srgbClr val="FF0000"/>
                        </a:solidFill>
                        <a:latin typeface="Cambria Math"/>
                      </a:rPr>
                      <m:t>𝐴</m:t>
                    </m:r>
                    <m:r>
                      <a:rPr lang="en-US" b="0" i="1" smtClean="0">
                        <a:solidFill>
                          <a:srgbClr val="FF0000"/>
                        </a:solidFill>
                        <a:latin typeface="Cambria Math"/>
                        <a:ea typeface="Cambria Math"/>
                      </a:rPr>
                      <m:t>∖</m:t>
                    </m:r>
                    <m:r>
                      <m:rPr>
                        <m:sty m:val="p"/>
                      </m:rPr>
                      <a:rPr lang="en-US" b="0" i="1" smtClean="0">
                        <a:solidFill>
                          <a:srgbClr val="FF0000"/>
                        </a:solidFill>
                        <a:latin typeface="Cambria Math"/>
                      </a:rPr>
                      <m:t>B</m:t>
                    </m:r>
                    <m:r>
                      <a:rPr lang="en-US" b="0" i="1" smtClean="0">
                        <a:solidFill>
                          <a:srgbClr val="FF0000"/>
                        </a:solidFill>
                        <a:latin typeface="Cambria Math"/>
                      </a:rPr>
                      <m:t>={</m:t>
                    </m:r>
                    <m:r>
                      <a:rPr lang="en-US" b="0" i="1" smtClean="0">
                        <a:solidFill>
                          <a:srgbClr val="FF0000"/>
                        </a:solidFill>
                        <a:latin typeface="Cambria Math"/>
                      </a:rPr>
                      <m:t>𝑥</m:t>
                    </m:r>
                    <m:r>
                      <a:rPr lang="en-US" b="0" i="1" smtClean="0">
                        <a:solidFill>
                          <a:srgbClr val="FF0000"/>
                        </a:solidFill>
                        <a:latin typeface="Cambria Math"/>
                      </a:rPr>
                      <m:t>|</m:t>
                    </m:r>
                    <m:r>
                      <a:rPr lang="en-US" b="0" i="1" smtClean="0">
                        <a:solidFill>
                          <a:srgbClr val="FF0000"/>
                        </a:solidFill>
                        <a:latin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r>
                      <a:rPr lang="en-US" b="0" i="1" smtClean="0">
                        <a:solidFill>
                          <a:srgbClr val="FF0000"/>
                        </a:solidFill>
                        <a:latin typeface="Cambria Math"/>
                        <a:ea typeface="Cambria Math"/>
                      </a:rPr>
                      <m:t> </m:t>
                    </m:r>
                    <m:r>
                      <a:rPr lang="en-US" b="0" i="1" smtClean="0">
                        <a:solidFill>
                          <a:srgbClr val="FF0000"/>
                        </a:solidFill>
                        <a:latin typeface="Cambria Math" panose="02040503050406030204" pitchFamily="18" charset="0"/>
                        <a:ea typeface="Cambria Math"/>
                      </a:rPr>
                      <m:t>𝑎𝑛𝑑</m:t>
                    </m:r>
                    <m:r>
                      <a:rPr lang="en-US" b="0" i="1" smtClean="0">
                        <a:solidFill>
                          <a:srgbClr val="FF0000"/>
                        </a:solidFill>
                        <a:latin typeface="Cambria Math"/>
                        <a:ea typeface="Cambria Math"/>
                      </a:rPr>
                      <m:t> </m:t>
                    </m:r>
                    <m:r>
                      <a:rPr lang="en-US" b="0" i="1" smtClean="0">
                        <a:solidFill>
                          <a:srgbClr val="FF0000"/>
                        </a:solidFill>
                        <a:latin typeface="Cambria Math"/>
                        <a:ea typeface="Cambria Math"/>
                      </a:rPr>
                      <m:t>𝑥</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rPr>
                      <m:t>}</m:t>
                    </m:r>
                  </m:oMath>
                </a14:m>
                <a:endParaRPr lang="en-US" dirty="0"/>
              </a:p>
              <a:p>
                <a:r>
                  <a:rPr lang="en-US" dirty="0"/>
                  <a:t>Associative laws:</a:t>
                </a:r>
                <a:endParaRPr lang="en-US" b="0" i="1" dirty="0">
                  <a:latin typeface="Cambria Math"/>
                </a:endParaRPr>
              </a:p>
              <a:p>
                <a:endParaRPr lang="en-US" dirty="0"/>
              </a:p>
              <a:p>
                <a:endParaRPr lang="en-US" dirty="0"/>
              </a:p>
              <a:p>
                <a:r>
                  <a:rPr lang="en-US" dirty="0"/>
                  <a:t>Commutative laws:</a:t>
                </a:r>
              </a:p>
              <a:p>
                <a:pPr marL="0" indent="0" algn="ctr">
                  <a:buNone/>
                </a:pPr>
                <a:r>
                  <a:rPr lang="en-US" dirty="0"/>
                  <a:t> </a:t>
                </a:r>
                <a14:m>
                  <m:oMath xmlns:m="http://schemas.openxmlformats.org/officeDocument/2006/math">
                    <m:r>
                      <a:rPr lang="en-US" i="1">
                        <a:solidFill>
                          <a:srgbClr val="FF0000"/>
                        </a:solidFill>
                        <a:latin typeface="Cambria Math"/>
                      </a:rPr>
                      <m:t>𝐴</m:t>
                    </m:r>
                    <m:r>
                      <a:rPr lang="en-US" i="1">
                        <a:solidFill>
                          <a:srgbClr val="FF0000"/>
                        </a:solidFill>
                        <a:latin typeface="Cambria Math"/>
                        <a:ea typeface="Cambria Math"/>
                      </a:rPr>
                      <m:t>∪</m:t>
                    </m:r>
                    <m:r>
                      <a:rPr lang="en-US" i="1">
                        <a:solidFill>
                          <a:srgbClr val="FF0000"/>
                        </a:solidFill>
                        <a:latin typeface="Cambria Math"/>
                        <a:ea typeface="Cambria Math"/>
                      </a:rPr>
                      <m:t>𝐵</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r>
                      <a:rPr lang="en-US" i="1">
                        <a:solidFill>
                          <a:srgbClr val="FF0000"/>
                        </a:solidFill>
                        <a:latin typeface="Cambria Math"/>
                        <a:ea typeface="Cambria Math"/>
                      </a:rPr>
                      <m:t>∪</m:t>
                    </m:r>
                    <m:r>
                      <a:rPr lang="en-US" b="0" i="1" smtClean="0">
                        <a:solidFill>
                          <a:srgbClr val="FF0000"/>
                        </a:solidFill>
                        <a:latin typeface="Cambria Math"/>
                        <a:ea typeface="Cambria Math"/>
                      </a:rPr>
                      <m:t>𝐴</m:t>
                    </m:r>
                    <m:r>
                      <a:rPr lang="en-US" b="0" i="1" smtClean="0">
                        <a:solidFill>
                          <a:srgbClr val="FF0000"/>
                        </a:solidFill>
                        <a:latin typeface="Cambria Math"/>
                        <a:ea typeface="Cambria Math"/>
                      </a:rPr>
                      <m:t>, </m:t>
                    </m:r>
                    <m:r>
                      <a:rPr lang="en-US" i="1">
                        <a:solidFill>
                          <a:srgbClr val="FF0000"/>
                        </a:solidFill>
                        <a:latin typeface="Cambria Math"/>
                      </a:rPr>
                      <m:t>𝐴</m:t>
                    </m:r>
                    <m:r>
                      <a:rPr lang="en-US" i="1" smtClean="0">
                        <a:solidFill>
                          <a:srgbClr val="FF0000"/>
                        </a:solidFill>
                        <a:latin typeface="Cambria Math"/>
                        <a:ea typeface="Cambria Math"/>
                      </a:rPr>
                      <m:t>∩</m:t>
                    </m:r>
                    <m:r>
                      <a:rPr lang="en-US" i="1">
                        <a:solidFill>
                          <a:srgbClr val="FF0000"/>
                        </a:solidFill>
                        <a:latin typeface="Cambria Math"/>
                        <a:ea typeface="Cambria Math"/>
                      </a:rPr>
                      <m:t>𝐵</m:t>
                    </m:r>
                    <m:r>
                      <a:rPr lang="en-US" i="1">
                        <a:solidFill>
                          <a:srgbClr val="FF0000"/>
                        </a:solidFill>
                        <a:latin typeface="Cambria Math"/>
                        <a:ea typeface="Cambria Math"/>
                      </a:rPr>
                      <m:t>=</m:t>
                    </m:r>
                    <m:r>
                      <a:rPr lang="en-US" i="1">
                        <a:solidFill>
                          <a:srgbClr val="FF0000"/>
                        </a:solidFill>
                        <a:latin typeface="Cambria Math"/>
                        <a:ea typeface="Cambria Math"/>
                      </a:rPr>
                      <m:t>𝐵</m:t>
                    </m:r>
                    <m:r>
                      <a:rPr lang="en-US" i="1" smtClean="0">
                        <a:solidFill>
                          <a:srgbClr val="FF0000"/>
                        </a:solidFill>
                        <a:latin typeface="Cambria Math"/>
                        <a:ea typeface="Cambria Math"/>
                      </a:rPr>
                      <m:t>∩</m:t>
                    </m:r>
                    <m:r>
                      <a:rPr lang="en-US" i="1">
                        <a:solidFill>
                          <a:srgbClr val="FF0000"/>
                        </a:solidFill>
                        <a:latin typeface="Cambria Math"/>
                        <a:ea typeface="Cambria Math"/>
                      </a:rPr>
                      <m:t>𝐴</m:t>
                    </m:r>
                  </m:oMath>
                </a14:m>
                <a:endParaRPr lang="en-US" dirty="0"/>
              </a:p>
              <a:p>
                <a:r>
                  <a:rPr lang="en-US" dirty="0"/>
                  <a:t>Distributive laws: </a:t>
                </a:r>
              </a:p>
              <a:p>
                <a:endParaRPr lang="en-US" dirty="0"/>
              </a:p>
              <a:p>
                <a:r>
                  <a:rPr lang="en-US" dirty="0"/>
                  <a:t>De Morgan’s laws:</a:t>
                </a:r>
                <a:r>
                  <a:rPr lang="en-US" dirty="0">
                    <a:solidFill>
                      <a:srgbClr val="FF0000"/>
                    </a:solidFill>
                  </a:rPr>
                  <a:t> </a:t>
                </a:r>
                <a14:m>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e>
                    </m:acc>
                    <m:r>
                      <a:rPr lang="en-US" b="0" i="1" smtClean="0">
                        <a:solidFill>
                          <a:srgbClr val="FF0000"/>
                        </a:solidFill>
                        <a:latin typeface="Cambria Math"/>
                      </a:rPr>
                      <m:t>=</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a:rPr>
                          <m:t>𝐴</m:t>
                        </m:r>
                      </m:e>
                    </m:acc>
                    <m:r>
                      <a:rPr lang="en-US" i="1" smtClean="0">
                        <a:solidFill>
                          <a:srgbClr val="FF0000"/>
                        </a:solidFill>
                        <a:latin typeface="Cambria Math"/>
                        <a:ea typeface="Cambria Math"/>
                      </a:rPr>
                      <m:t>∩</m:t>
                    </m:r>
                    <m:acc>
                      <m:accPr>
                        <m:chr m:val="̅"/>
                        <m:ctrlPr>
                          <a:rPr lang="en-US" i="1" smtClean="0">
                            <a:solidFill>
                              <a:srgbClr val="FF0000"/>
                            </a:solidFill>
                            <a:latin typeface="Cambria Math" panose="02040503050406030204" pitchFamily="18" charset="0"/>
                            <a:ea typeface="Cambria Math"/>
                          </a:rPr>
                        </m:ctrlPr>
                      </m:accPr>
                      <m:e>
                        <m:r>
                          <a:rPr lang="en-US" b="0" i="1" smtClean="0">
                            <a:solidFill>
                              <a:srgbClr val="FF0000"/>
                            </a:solidFill>
                            <a:latin typeface="Cambria Math"/>
                            <a:ea typeface="Cambria Math"/>
                          </a:rPr>
                          <m:t>𝐵</m:t>
                        </m:r>
                      </m:e>
                    </m:acc>
                    <m:r>
                      <a:rPr lang="en-US" b="0" i="0" smtClean="0">
                        <a:solidFill>
                          <a:srgbClr val="FF0000"/>
                        </a:solidFill>
                        <a:latin typeface="Cambria Math"/>
                      </a:rPr>
                      <m:t>, </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rPr>
                          <m:t>𝐴</m:t>
                        </m:r>
                        <m:r>
                          <a:rPr lang="en-US" i="1" smtClean="0">
                            <a:solidFill>
                              <a:srgbClr val="FF0000"/>
                            </a:solidFill>
                            <a:latin typeface="Cambria Math"/>
                            <a:ea typeface="Cambria Math"/>
                          </a:rPr>
                          <m:t>∩</m:t>
                        </m:r>
                        <m:r>
                          <a:rPr lang="en-US" i="1">
                            <a:solidFill>
                              <a:srgbClr val="FF0000"/>
                            </a:solidFill>
                            <a:latin typeface="Cambria Math"/>
                            <a:ea typeface="Cambria Math"/>
                          </a:rPr>
                          <m:t>𝐵</m:t>
                        </m:r>
                      </m:e>
                    </m:acc>
                    <m:r>
                      <a:rPr lang="en-US" i="1">
                        <a:solidFill>
                          <a:srgbClr val="FF0000"/>
                        </a:solidFill>
                        <a:latin typeface="Cambria Math"/>
                      </a:rPr>
                      <m:t>=</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rPr>
                          <m:t>𝐴</m:t>
                        </m:r>
                      </m:e>
                    </m:acc>
                    <m:r>
                      <a:rPr lang="en-US" i="1" smtClean="0">
                        <a:solidFill>
                          <a:srgbClr val="FF0000"/>
                        </a:solidFill>
                        <a:latin typeface="Cambria Math"/>
                        <a:ea typeface="Cambria Math"/>
                      </a:rPr>
                      <m:t>∪</m:t>
                    </m:r>
                    <m:acc>
                      <m:accPr>
                        <m:chr m:val="̅"/>
                        <m:ctrlPr>
                          <a:rPr lang="en-US" i="1">
                            <a:solidFill>
                              <a:srgbClr val="FF0000"/>
                            </a:solidFill>
                            <a:latin typeface="Cambria Math" panose="02040503050406030204" pitchFamily="18" charset="0"/>
                            <a:ea typeface="Cambria Math"/>
                          </a:rPr>
                        </m:ctrlPr>
                      </m:accPr>
                      <m:e>
                        <m:r>
                          <a:rPr lang="en-US" i="1">
                            <a:solidFill>
                              <a:srgbClr val="FF0000"/>
                            </a:solidFill>
                            <a:latin typeface="Cambria Math"/>
                            <a:ea typeface="Cambria Math"/>
                          </a:rPr>
                          <m:t>𝐵</m:t>
                        </m:r>
                      </m:e>
                    </m:acc>
                  </m:oMath>
                </a14:m>
                <a:endParaRPr lang="en-US" dirty="0"/>
              </a:p>
              <a:p>
                <a:r>
                  <a:rPr lang="en-US" dirty="0"/>
                  <a:t>Cartesian product: </a:t>
                </a:r>
                <a14:m>
                  <m:oMath xmlns:m="http://schemas.openxmlformats.org/officeDocument/2006/math">
                    <m:r>
                      <a:rPr lang="en-US" b="0" i="1" smtClean="0">
                        <a:solidFill>
                          <a:srgbClr val="FF0000"/>
                        </a:solidFill>
                        <a:latin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𝑎</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𝑏</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𝑎</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𝑏</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oMath>
                </a14:m>
                <a:r>
                  <a:rPr lang="en-US" dirty="0"/>
                  <a:t> </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0" y="1219200"/>
                <a:ext cx="9067800" cy="5137150"/>
              </a:xfrm>
              <a:blipFill>
                <a:blip r:embed="rId2"/>
                <a:stretch>
                  <a:fillRect l="-336" t="-14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362200" y="3227915"/>
                <a:ext cx="3124200" cy="553998"/>
              </a:xfrm>
              <a:prstGeom prst="rect">
                <a:avLst/>
              </a:prstGeom>
              <a:noFill/>
            </p:spPr>
            <p:txBody>
              <a:bodyPr wrap="square" lIns="0" tIns="0" rIns="0" bIns="0" rtlCol="0">
                <a:spAutoFit/>
              </a:bodyPr>
              <a:lstStyle/>
              <a:p>
                <a:pPr lvl="1" algn="ctr"/>
                <a14:m>
                  <m:oMathPara xmlns:m="http://schemas.openxmlformats.org/officeDocument/2006/math">
                    <m:oMathParaPr>
                      <m:jc m:val="centerGroup"/>
                    </m:oMathParaPr>
                    <m:oMath xmlns:m="http://schemas.openxmlformats.org/officeDocument/2006/math">
                      <m:d>
                        <m:dPr>
                          <m:ctrlPr>
                            <a:rPr lang="en-US" i="1">
                              <a:solidFill>
                                <a:srgbClr val="FF0000"/>
                              </a:solidFill>
                              <a:latin typeface="Cambria Math" panose="02040503050406030204" pitchFamily="18" charset="0"/>
                            </a:rPr>
                          </m:ctrlPr>
                        </m:dPr>
                        <m:e>
                          <m:r>
                            <a:rPr lang="en-US" i="1">
                              <a:solidFill>
                                <a:srgbClr val="FF0000"/>
                              </a:solidFill>
                              <a:latin typeface="Cambria Math"/>
                            </a:rPr>
                            <m:t>𝐴</m:t>
                          </m:r>
                          <m:r>
                            <a:rPr lang="en-US" i="1">
                              <a:solidFill>
                                <a:srgbClr val="FF0000"/>
                              </a:solidFill>
                              <a:latin typeface="Cambria Math"/>
                              <a:ea typeface="Cambria Math"/>
                            </a:rPr>
                            <m:t>∪</m:t>
                          </m:r>
                          <m:r>
                            <a:rPr lang="en-US" i="1">
                              <a:solidFill>
                                <a:srgbClr val="FF0000"/>
                              </a:solidFill>
                              <a:latin typeface="Cambria Math"/>
                              <a:ea typeface="Cambria Math"/>
                            </a:rPr>
                            <m:t>𝐵</m:t>
                          </m:r>
                        </m:e>
                      </m:d>
                      <m:r>
                        <a:rPr lang="en-US" i="1">
                          <a:solidFill>
                            <a:srgbClr val="FF0000"/>
                          </a:solidFill>
                          <a:latin typeface="Cambria Math"/>
                          <a:ea typeface="Cambria Math"/>
                        </a:rPr>
                        <m:t>∪</m:t>
                      </m:r>
                      <m:r>
                        <a:rPr lang="en-US" i="1">
                          <a:solidFill>
                            <a:srgbClr val="FF0000"/>
                          </a:solidFill>
                          <a:latin typeface="Cambria Math"/>
                          <a:ea typeface="Cambria Math"/>
                        </a:rPr>
                        <m:t>𝐶</m:t>
                      </m:r>
                      <m:r>
                        <a:rPr lang="en-US" i="1">
                          <a:solidFill>
                            <a:srgbClr val="FF0000"/>
                          </a:solidFill>
                          <a:latin typeface="Cambria Math"/>
                          <a:ea typeface="Cambria Math"/>
                        </a:rPr>
                        <m:t>=</m:t>
                      </m:r>
                      <m:r>
                        <a:rPr lang="en-US" i="1">
                          <a:solidFill>
                            <a:srgbClr val="FF0000"/>
                          </a:solidFill>
                          <a:latin typeface="Cambria Math"/>
                          <a:ea typeface="Cambria Math"/>
                        </a:rPr>
                        <m:t>𝐴</m:t>
                      </m:r>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i="1">
                              <a:solidFill>
                                <a:srgbClr val="FF0000"/>
                              </a:solidFill>
                              <a:latin typeface="Cambria Math"/>
                              <a:ea typeface="Cambria Math"/>
                            </a:rPr>
                            <m:t>𝐵</m:t>
                          </m:r>
                          <m:r>
                            <a:rPr lang="en-US" i="1">
                              <a:solidFill>
                                <a:srgbClr val="FF0000"/>
                              </a:solidFill>
                              <a:latin typeface="Cambria Math"/>
                              <a:ea typeface="Cambria Math"/>
                            </a:rPr>
                            <m:t>∪</m:t>
                          </m:r>
                          <m:r>
                            <a:rPr lang="en-US" i="1">
                              <a:solidFill>
                                <a:srgbClr val="FF0000"/>
                              </a:solidFill>
                              <a:latin typeface="Cambria Math"/>
                              <a:ea typeface="Cambria Math"/>
                            </a:rPr>
                            <m:t>𝐶</m:t>
                          </m:r>
                        </m:e>
                      </m:d>
                    </m:oMath>
                  </m:oMathPara>
                </a14:m>
                <a:endParaRPr lang="en-US" dirty="0">
                  <a:solidFill>
                    <a:srgbClr val="FF0000"/>
                  </a:solidFill>
                  <a:ea typeface="Cambria Math"/>
                </a:endParaRPr>
              </a:p>
              <a:p>
                <a:pPr lvl="1" algn="ctr"/>
                <a14:m>
                  <m:oMathPara xmlns:m="http://schemas.openxmlformats.org/officeDocument/2006/math">
                    <m:oMathParaPr>
                      <m:jc m:val="centerGroup"/>
                    </m:oMathParaPr>
                    <m:oMath xmlns:m="http://schemas.openxmlformats.org/officeDocument/2006/math">
                      <m:d>
                        <m:dPr>
                          <m:ctrlPr>
                            <a:rPr lang="en-US" i="1">
                              <a:solidFill>
                                <a:srgbClr val="FF0000"/>
                              </a:solidFill>
                              <a:latin typeface="Cambria Math" panose="02040503050406030204" pitchFamily="18" charset="0"/>
                            </a:rPr>
                          </m:ctrlPr>
                        </m:dPr>
                        <m:e>
                          <m:r>
                            <a:rPr lang="en-US" i="1">
                              <a:solidFill>
                                <a:srgbClr val="FF0000"/>
                              </a:solidFill>
                              <a:latin typeface="Cambria Math"/>
                            </a:rPr>
                            <m:t>𝐴</m:t>
                          </m:r>
                          <m:r>
                            <a:rPr lang="en-US" i="1">
                              <a:solidFill>
                                <a:srgbClr val="FF0000"/>
                              </a:solidFill>
                              <a:latin typeface="Cambria Math"/>
                              <a:ea typeface="Cambria Math"/>
                            </a:rPr>
                            <m:t>∩</m:t>
                          </m:r>
                          <m:r>
                            <a:rPr lang="en-US" i="1">
                              <a:solidFill>
                                <a:srgbClr val="FF0000"/>
                              </a:solidFill>
                              <a:latin typeface="Cambria Math"/>
                              <a:ea typeface="Cambria Math"/>
                            </a:rPr>
                            <m:t>𝐵</m:t>
                          </m:r>
                        </m:e>
                      </m:d>
                      <m:r>
                        <a:rPr lang="en-US" i="1">
                          <a:solidFill>
                            <a:srgbClr val="FF0000"/>
                          </a:solidFill>
                          <a:latin typeface="Cambria Math"/>
                          <a:ea typeface="Cambria Math"/>
                        </a:rPr>
                        <m:t>∩</m:t>
                      </m:r>
                      <m:r>
                        <a:rPr lang="en-US" i="1">
                          <a:solidFill>
                            <a:srgbClr val="FF0000"/>
                          </a:solidFill>
                          <a:latin typeface="Cambria Math"/>
                          <a:ea typeface="Cambria Math"/>
                        </a:rPr>
                        <m:t>𝐶</m:t>
                      </m:r>
                      <m:r>
                        <a:rPr lang="en-US" i="1">
                          <a:solidFill>
                            <a:srgbClr val="FF0000"/>
                          </a:solidFill>
                          <a:latin typeface="Cambria Math"/>
                          <a:ea typeface="Cambria Math"/>
                        </a:rPr>
                        <m:t>=</m:t>
                      </m:r>
                      <m:r>
                        <a:rPr lang="en-US" i="1">
                          <a:solidFill>
                            <a:srgbClr val="FF0000"/>
                          </a:solidFill>
                          <a:latin typeface="Cambria Math"/>
                          <a:ea typeface="Cambria Math"/>
                        </a:rPr>
                        <m:t>𝐴</m:t>
                      </m:r>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i="1">
                              <a:solidFill>
                                <a:srgbClr val="FF0000"/>
                              </a:solidFill>
                              <a:latin typeface="Cambria Math"/>
                              <a:ea typeface="Cambria Math"/>
                            </a:rPr>
                            <m:t>𝐵</m:t>
                          </m:r>
                          <m:r>
                            <a:rPr lang="en-US" i="1">
                              <a:solidFill>
                                <a:srgbClr val="FF0000"/>
                              </a:solidFill>
                              <a:latin typeface="Cambria Math"/>
                              <a:ea typeface="Cambria Math"/>
                            </a:rPr>
                            <m:t>∩</m:t>
                          </m:r>
                          <m:r>
                            <a:rPr lang="en-US" i="1">
                              <a:solidFill>
                                <a:srgbClr val="FF0000"/>
                              </a:solidFill>
                              <a:latin typeface="Cambria Math"/>
                              <a:ea typeface="Cambria Math"/>
                            </a:rPr>
                            <m:t>𝐶</m:t>
                          </m:r>
                        </m:e>
                      </m:d>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362200" y="3227915"/>
                <a:ext cx="3124200" cy="553998"/>
              </a:xfrm>
              <a:prstGeom prst="rect">
                <a:avLst/>
              </a:prstGeom>
              <a:blipFill>
                <a:blip r:embed="rId3"/>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267200" y="4724400"/>
                <a:ext cx="3886200" cy="553998"/>
              </a:xfrm>
              <a:prstGeom prst="rect">
                <a:avLst/>
              </a:prstGeom>
              <a:noFill/>
            </p:spPr>
            <p:txBody>
              <a:bodyPr wrap="square" lIns="0" tIns="0" rIns="0" bIns="0" rtlCol="0">
                <a:spAutoFit/>
              </a:bodyPr>
              <a:lstStyle/>
              <a:p>
                <a:pPr lvl="1"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a:ea typeface="Cambria Math"/>
                        </a:rPr>
                        <m:t>𝐴</m:t>
                      </m:r>
                      <m:r>
                        <a:rPr lang="en-US" i="1">
                          <a:solidFill>
                            <a:srgbClr val="FF0000"/>
                          </a:solidFill>
                          <a:latin typeface="Cambria Math"/>
                          <a:ea typeface="Cambria Math"/>
                        </a:rPr>
                        <m:t>∪</m:t>
                      </m:r>
                      <m:d>
                        <m:dPr>
                          <m:ctrlPr>
                            <a:rPr lang="en-US" b="0" i="1" smtClean="0">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r>
                            <a:rPr lang="en-US" i="1">
                              <a:solidFill>
                                <a:srgbClr val="FF0000"/>
                              </a:solidFill>
                              <a:latin typeface="Cambria Math"/>
                              <a:ea typeface="Cambria Math"/>
                            </a:rPr>
                            <m:t>𝐶</m:t>
                          </m:r>
                        </m:e>
                      </m:d>
                      <m:r>
                        <a:rPr lang="en-US" i="1">
                          <a:solidFill>
                            <a:srgbClr val="FF0000"/>
                          </a:solidFill>
                          <a:latin typeface="Cambria Math"/>
                          <a:ea typeface="Cambria Math"/>
                        </a:rPr>
                        <m:t>=</m:t>
                      </m:r>
                      <m:r>
                        <a:rPr lang="en-US" b="0" i="1" smtClean="0">
                          <a:solidFill>
                            <a:srgbClr val="FF0000"/>
                          </a:solidFill>
                          <a:latin typeface="Cambria Math"/>
                          <a:ea typeface="Cambria Math"/>
                        </a:rPr>
                        <m:t>(</m:t>
                      </m:r>
                      <m:r>
                        <a:rPr lang="en-US" i="1">
                          <a:solidFill>
                            <a:srgbClr val="FF0000"/>
                          </a:solidFill>
                          <a:latin typeface="Cambria Math"/>
                          <a:ea typeface="Cambria Math"/>
                        </a:rPr>
                        <m:t>𝐴</m:t>
                      </m:r>
                      <m:r>
                        <a:rPr lang="en-US" i="1">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𝐴</m:t>
                          </m:r>
                          <m:r>
                            <a:rPr lang="en-US" i="1">
                              <a:solidFill>
                                <a:srgbClr val="FF0000"/>
                              </a:solidFill>
                              <a:latin typeface="Cambria Math"/>
                              <a:ea typeface="Cambria Math"/>
                            </a:rPr>
                            <m:t>∪</m:t>
                          </m:r>
                          <m:r>
                            <a:rPr lang="en-US" i="1">
                              <a:solidFill>
                                <a:srgbClr val="FF0000"/>
                              </a:solidFill>
                              <a:latin typeface="Cambria Math"/>
                              <a:ea typeface="Cambria Math"/>
                            </a:rPr>
                            <m:t>𝐶</m:t>
                          </m:r>
                        </m:e>
                      </m:d>
                    </m:oMath>
                  </m:oMathPara>
                </a14:m>
                <a:endParaRPr lang="en-US" dirty="0">
                  <a:solidFill>
                    <a:srgbClr val="FF0000"/>
                  </a:solidFill>
                  <a:ea typeface="Cambria Math"/>
                </a:endParaRPr>
              </a:p>
              <a:p>
                <a:pPr lvl="1"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a:ea typeface="Cambria Math"/>
                        </a:rPr>
                        <m:t>𝐴</m:t>
                      </m:r>
                      <m:r>
                        <a:rPr lang="en-US" i="1">
                          <a:solidFill>
                            <a:srgbClr val="FF0000"/>
                          </a:solidFill>
                          <a:latin typeface="Cambria Math"/>
                          <a:ea typeface="Cambria Math"/>
                        </a:rPr>
                        <m:t>∩</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r>
                        <a:rPr lang="en-US" i="1">
                          <a:solidFill>
                            <a:srgbClr val="FF0000"/>
                          </a:solidFill>
                          <a:latin typeface="Cambria Math"/>
                          <a:ea typeface="Cambria Math"/>
                        </a:rPr>
                        <m:t>𝐶</m:t>
                      </m:r>
                      <m:r>
                        <a:rPr lang="en-US" b="0" i="1" smtClean="0">
                          <a:solidFill>
                            <a:srgbClr val="FF0000"/>
                          </a:solidFill>
                          <a:latin typeface="Cambria Math"/>
                          <a:ea typeface="Cambria Math"/>
                        </a:rPr>
                        <m:t>)</m:t>
                      </m:r>
                      <m:r>
                        <a:rPr lang="en-US" i="1">
                          <a:solidFill>
                            <a:srgbClr val="FF0000"/>
                          </a:solidFill>
                          <a:latin typeface="Cambria Math"/>
                          <a:ea typeface="Cambria Math"/>
                        </a:rPr>
                        <m:t>=</m:t>
                      </m:r>
                      <m:r>
                        <a:rPr lang="en-US" b="0" i="1" smtClean="0">
                          <a:solidFill>
                            <a:srgbClr val="FF0000"/>
                          </a:solidFill>
                          <a:latin typeface="Cambria Math"/>
                          <a:ea typeface="Cambria Math"/>
                        </a:rPr>
                        <m:t>(</m:t>
                      </m:r>
                      <m:r>
                        <a:rPr lang="en-US" i="1">
                          <a:solidFill>
                            <a:srgbClr val="FF0000"/>
                          </a:solidFill>
                          <a:latin typeface="Cambria Math"/>
                          <a:ea typeface="Cambria Math"/>
                        </a:rPr>
                        <m:t>𝐴</m:t>
                      </m:r>
                      <m:r>
                        <a:rPr lang="en-US" i="1">
                          <a:solidFill>
                            <a:srgbClr val="FF0000"/>
                          </a:solidFill>
                          <a:latin typeface="Cambria Math"/>
                          <a:ea typeface="Cambria Math"/>
                        </a:rPr>
                        <m:t>∩</m:t>
                      </m:r>
                      <m:r>
                        <a:rPr lang="en-US" b="0" i="1" smtClean="0">
                          <a:solidFill>
                            <a:srgbClr val="FF0000"/>
                          </a:solidFill>
                          <a:latin typeface="Cambria Math"/>
                          <a:ea typeface="Cambria Math"/>
                        </a:rPr>
                        <m:t>𝐵</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𝐶</m:t>
                      </m:r>
                      <m:r>
                        <a:rPr lang="en-US" b="0" i="1" smtClean="0">
                          <a:solidFill>
                            <a:srgbClr val="FF0000"/>
                          </a:solidFill>
                          <a:latin typeface="Cambria Math"/>
                          <a:ea typeface="Cambria Math"/>
                        </a:rPr>
                        <m:t>)</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4267200" y="4724400"/>
                <a:ext cx="3886200" cy="553998"/>
              </a:xfrm>
              <a:prstGeom prst="rect">
                <a:avLst/>
              </a:prstGeom>
              <a:blipFill>
                <a:blip r:embed="rId4"/>
                <a:stretch>
                  <a:fillRect b="-17582"/>
                </a:stretch>
              </a:blipFill>
            </p:spPr>
            <p:txBody>
              <a:bodyPr/>
              <a:lstStyle/>
              <a:p>
                <a:r>
                  <a:rPr lang="en-US">
                    <a:noFill/>
                  </a:rPr>
                  <a:t> </a:t>
                </a:r>
              </a:p>
            </p:txBody>
          </p:sp>
        </mc:Fallback>
      </mc:AlternateContent>
    </p:spTree>
    <p:extLst>
      <p:ext uri="{BB962C8B-B14F-4D97-AF65-F5344CB8AC3E}">
        <p14:creationId xmlns:p14="http://schemas.microsoft.com/office/powerpoint/2010/main" val="1591543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Relations: a binary relation R on the set X, </a:t>
                </a:r>
                <a14:m>
                  <m:oMath xmlns:m="http://schemas.openxmlformats.org/officeDocument/2006/math">
                    <m:r>
                      <a:rPr lang="en-US" i="1" dirty="0" smtClean="0">
                        <a:latin typeface="Cambria Math"/>
                      </a:rPr>
                      <m:t>𝑅</m:t>
                    </m:r>
                    <m:r>
                      <a:rPr lang="en-US" i="1" dirty="0" smtClean="0">
                        <a:latin typeface="Cambria Math"/>
                      </a:rPr>
                      <m:t>(</m:t>
                    </m:r>
                    <m:r>
                      <a:rPr lang="en-US" i="1" dirty="0" smtClean="0">
                        <a:latin typeface="Cambria Math"/>
                      </a:rPr>
                      <m:t>𝑋</m:t>
                    </m:r>
                    <m:r>
                      <a:rPr lang="en-US" i="1" dirty="0" smtClean="0">
                        <a:latin typeface="Cambria Math"/>
                      </a:rPr>
                      <m:t>)</m:t>
                    </m:r>
                  </m:oMath>
                </a14:m>
                <a:r>
                  <a:rPr lang="en-US" dirty="0"/>
                  <a:t>, is a subset of Cartesian product </a:t>
                </a:r>
                <a14:m>
                  <m:oMath xmlns:m="http://schemas.openxmlformats.org/officeDocument/2006/math">
                    <m:r>
                      <a:rPr lang="en-US" b="0" i="1" smtClean="0">
                        <a:latin typeface="Cambria Math"/>
                      </a:rPr>
                      <m:t>𝑋</m:t>
                    </m:r>
                    <m:r>
                      <a:rPr lang="en-US" b="0" i="1" smtClean="0">
                        <a:latin typeface="Cambria Math"/>
                        <a:ea typeface="Cambria Math"/>
                      </a:rPr>
                      <m:t>×</m:t>
                    </m:r>
                    <m:r>
                      <a:rPr lang="en-US" b="0" i="1" smtClean="0">
                        <a:latin typeface="Cambria Math"/>
                        <a:ea typeface="Cambria Math"/>
                      </a:rPr>
                      <m:t>𝑋</m:t>
                    </m:r>
                  </m:oMath>
                </a14:m>
                <a:endParaRPr lang="en-US" b="0" dirty="0">
                  <a:ea typeface="Cambria Math"/>
                </a:endParaRPr>
              </a:p>
              <a:p>
                <a:r>
                  <a:rPr lang="en-US" dirty="0"/>
                  <a:t>Properties of relations: </a:t>
                </a:r>
              </a:p>
              <a:p>
                <a:pPr lvl="1"/>
                <a:r>
                  <a:rPr lang="en-US" b="1" dirty="0"/>
                  <a:t>Reflexive</a:t>
                </a:r>
                <a:r>
                  <a:rPr lang="en-US" dirty="0"/>
                  <a:t>: every element is related to itself</a:t>
                </a:r>
              </a:p>
              <a:p>
                <a:pPr lvl="1"/>
                <a:r>
                  <a:rPr lang="en-US" b="1" dirty="0"/>
                  <a:t>Symmetric</a:t>
                </a:r>
                <a:r>
                  <a:rPr lang="en-US" dirty="0"/>
                  <a:t>: </a:t>
                </a:r>
                <a14:m>
                  <m:oMath xmlns:m="http://schemas.openxmlformats.org/officeDocument/2006/math">
                    <m:r>
                      <a:rPr lang="en-US" i="1" dirty="0" smtClean="0">
                        <a:latin typeface="Cambria Math"/>
                      </a:rPr>
                      <m:t>𝑎</m:t>
                    </m:r>
                  </m:oMath>
                </a14:m>
                <a:r>
                  <a:rPr lang="en-US" dirty="0"/>
                  <a:t> is related to </a:t>
                </a:r>
                <a14:m>
                  <m:oMath xmlns:m="http://schemas.openxmlformats.org/officeDocument/2006/math">
                    <m:r>
                      <a:rPr lang="en-US" i="1" dirty="0">
                        <a:latin typeface="Cambria Math"/>
                      </a:rPr>
                      <m:t>𝑏</m:t>
                    </m:r>
                  </m:oMath>
                </a14:m>
                <a:r>
                  <a:rPr lang="en-US" dirty="0"/>
                  <a:t> so </a:t>
                </a:r>
                <a14:m>
                  <m:oMath xmlns:m="http://schemas.openxmlformats.org/officeDocument/2006/math">
                    <m:r>
                      <a:rPr lang="en-US" i="1" dirty="0">
                        <a:latin typeface="Cambria Math"/>
                      </a:rPr>
                      <m:t>𝑏</m:t>
                    </m:r>
                  </m:oMath>
                </a14:m>
                <a:r>
                  <a:rPr lang="en-US" dirty="0"/>
                  <a:t> is related to </a:t>
                </a:r>
                <a14:m>
                  <m:oMath xmlns:m="http://schemas.openxmlformats.org/officeDocument/2006/math">
                    <m:r>
                      <a:rPr lang="en-US" i="1" dirty="0">
                        <a:latin typeface="Cambria Math"/>
                      </a:rPr>
                      <m:t>𝑎</m:t>
                    </m:r>
                  </m:oMath>
                </a14:m>
                <a:endParaRPr lang="en-US" dirty="0"/>
              </a:p>
              <a:p>
                <a:pPr lvl="1"/>
                <a:r>
                  <a:rPr lang="en-US" b="1" dirty="0"/>
                  <a:t>Transitive</a:t>
                </a:r>
                <a:r>
                  <a:rPr lang="en-US" dirty="0"/>
                  <a:t>: </a:t>
                </a:r>
                <a14:m>
                  <m:oMath xmlns:m="http://schemas.openxmlformats.org/officeDocument/2006/math">
                    <m:r>
                      <a:rPr lang="en-US" i="1" dirty="0" smtClean="0">
                        <a:latin typeface="Cambria Math"/>
                      </a:rPr>
                      <m:t>𝑎</m:t>
                    </m:r>
                  </m:oMath>
                </a14:m>
                <a:r>
                  <a:rPr lang="en-US" dirty="0"/>
                  <a:t> is related to </a:t>
                </a:r>
                <a14:m>
                  <m:oMath xmlns:m="http://schemas.openxmlformats.org/officeDocument/2006/math">
                    <m:r>
                      <a:rPr lang="en-US" i="1" dirty="0">
                        <a:latin typeface="Cambria Math"/>
                      </a:rPr>
                      <m:t>𝑏</m:t>
                    </m:r>
                  </m:oMath>
                </a14:m>
                <a:r>
                  <a:rPr lang="en-US" dirty="0"/>
                  <a:t>, </a:t>
                </a:r>
                <a14:m>
                  <m:oMath xmlns:m="http://schemas.openxmlformats.org/officeDocument/2006/math">
                    <m:r>
                      <a:rPr lang="en-US" i="1" dirty="0">
                        <a:latin typeface="Cambria Math"/>
                      </a:rPr>
                      <m:t>𝑏</m:t>
                    </m:r>
                  </m:oMath>
                </a14:m>
                <a:r>
                  <a:rPr lang="en-US" dirty="0"/>
                  <a:t> is related to </a:t>
                </a:r>
                <a14:m>
                  <m:oMath xmlns:m="http://schemas.openxmlformats.org/officeDocument/2006/math">
                    <m:r>
                      <a:rPr lang="en-US" i="1" dirty="0">
                        <a:latin typeface="Cambria Math" panose="02040503050406030204" pitchFamily="18" charset="0"/>
                      </a:rPr>
                      <m:t>𝑐</m:t>
                    </m:r>
                  </m:oMath>
                </a14:m>
                <a:r>
                  <a:rPr lang="en-US" dirty="0"/>
                  <a:t> so </a:t>
                </a:r>
                <a14:m>
                  <m:oMath xmlns:m="http://schemas.openxmlformats.org/officeDocument/2006/math">
                    <m:r>
                      <a:rPr lang="en-US" i="1" dirty="0">
                        <a:latin typeface="Cambria Math"/>
                      </a:rPr>
                      <m:t>𝑎</m:t>
                    </m:r>
                  </m:oMath>
                </a14:m>
                <a:r>
                  <a:rPr lang="en-US" dirty="0"/>
                  <a:t> is related to </a:t>
                </a:r>
                <a14:m>
                  <m:oMath xmlns:m="http://schemas.openxmlformats.org/officeDocument/2006/math">
                    <m:r>
                      <a:rPr lang="en-US" i="1" dirty="0">
                        <a:latin typeface="Cambria Math" panose="02040503050406030204" pitchFamily="18" charset="0"/>
                      </a:rPr>
                      <m:t>𝑐</m:t>
                    </m:r>
                  </m:oMath>
                </a14:m>
                <a:r>
                  <a:rPr lang="en-US" dirty="0"/>
                  <a:t>.</a:t>
                </a:r>
              </a:p>
              <a:p>
                <a:r>
                  <a:rPr lang="en-US" dirty="0"/>
                  <a:t>Example:</a:t>
                </a:r>
              </a:p>
              <a:p>
                <a:pPr lvl="1"/>
                <a14:m>
                  <m:oMath xmlns:m="http://schemas.openxmlformats.org/officeDocument/2006/math">
                    <m:r>
                      <a:rPr lang="en-US" b="0" i="1" smtClean="0">
                        <a:solidFill>
                          <a:srgbClr val="FF0000"/>
                        </a:solidFill>
                        <a:latin typeface="Cambria Math"/>
                      </a:rPr>
                      <m:t>𝑋</m:t>
                    </m:r>
                    <m:r>
                      <a:rPr lang="en-US" b="0" i="1" smtClean="0">
                        <a:solidFill>
                          <a:srgbClr val="FF0000"/>
                        </a:solidFill>
                        <a:latin typeface="Cambria Math"/>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1,2,3,4</m:t>
                        </m:r>
                      </m:e>
                    </m:d>
                  </m:oMath>
                </a14:m>
                <a:endParaRPr lang="en-US" b="0" dirty="0"/>
              </a:p>
              <a:p>
                <a:pPr lvl="1"/>
                <a14:m>
                  <m:oMath xmlns:m="http://schemas.openxmlformats.org/officeDocument/2006/math">
                    <m:r>
                      <a:rPr lang="en-US" i="1" dirty="0" smtClean="0">
                        <a:latin typeface="Cambria Math"/>
                      </a:rPr>
                      <m:t>𝑎</m:t>
                    </m:r>
                    <m:r>
                      <a:rPr lang="en-US" i="1" dirty="0" smtClean="0">
                        <a:latin typeface="Cambria Math"/>
                      </a:rPr>
                      <m:t>,</m:t>
                    </m:r>
                    <m:r>
                      <a:rPr lang="en-US" i="1" dirty="0" smtClean="0">
                        <a:latin typeface="Cambria Math"/>
                      </a:rPr>
                      <m:t>𝑏</m:t>
                    </m:r>
                    <m:r>
                      <a:rPr lang="en-US" i="1" dirty="0" smtClean="0">
                        <a:latin typeface="Cambria Math"/>
                        <a:ea typeface="Cambria Math"/>
                      </a:rPr>
                      <m:t>∈</m:t>
                    </m:r>
                    <m:r>
                      <a:rPr lang="en-US" b="0" i="1" dirty="0" smtClean="0">
                        <a:latin typeface="Cambria Math"/>
                        <a:ea typeface="Cambria Math"/>
                      </a:rPr>
                      <m:t>𝑋</m:t>
                    </m:r>
                    <m:r>
                      <a:rPr lang="en-US" b="0" i="1" dirty="0" smtClean="0">
                        <a:latin typeface="Cambria Math"/>
                        <a:ea typeface="Cambria Math"/>
                      </a:rPr>
                      <m:t>, </m:t>
                    </m:r>
                    <m:r>
                      <a:rPr lang="en-US" b="0" i="1" dirty="0" smtClean="0">
                        <a:latin typeface="Cambria Math"/>
                        <a:ea typeface="Cambria Math"/>
                      </a:rPr>
                      <m:t>𝑎</m:t>
                    </m:r>
                  </m:oMath>
                </a14:m>
                <a:r>
                  <a:rPr lang="en-US" dirty="0"/>
                  <a:t> have relation </a:t>
                </a:r>
                <a14:m>
                  <m:oMath xmlns:m="http://schemas.openxmlformats.org/officeDocument/2006/math">
                    <m:r>
                      <a:rPr lang="en-US" i="1" dirty="0" smtClean="0">
                        <a:latin typeface="Cambria Math"/>
                      </a:rPr>
                      <m:t>𝑅</m:t>
                    </m:r>
                  </m:oMath>
                </a14:m>
                <a:r>
                  <a:rPr lang="en-US" dirty="0"/>
                  <a:t> to</a:t>
                </a:r>
                <a14:m>
                  <m:oMath xmlns:m="http://schemas.openxmlformats.org/officeDocument/2006/math">
                    <m:r>
                      <a:rPr lang="en-US" b="0" i="0" dirty="0" smtClean="0">
                        <a:latin typeface="Cambria Math" panose="02040503050406030204" pitchFamily="18" charset="0"/>
                      </a:rPr>
                      <m:t> </m:t>
                    </m:r>
                    <m:r>
                      <a:rPr lang="en-US" i="1" dirty="0" smtClean="0">
                        <a:latin typeface="Cambria Math"/>
                      </a:rPr>
                      <m:t>𝑏</m:t>
                    </m:r>
                  </m:oMath>
                </a14:m>
                <a:r>
                  <a:rPr lang="en-US" dirty="0"/>
                  <a:t> if </a:t>
                </a:r>
                <a14:m>
                  <m:oMath xmlns:m="http://schemas.openxmlformats.org/officeDocument/2006/math">
                    <m:r>
                      <a:rPr lang="en-US" i="1" dirty="0" smtClean="0">
                        <a:latin typeface="Cambria Math"/>
                      </a:rPr>
                      <m:t>𝑎</m:t>
                    </m:r>
                  </m:oMath>
                </a14:m>
                <a:r>
                  <a:rPr lang="en-US" dirty="0"/>
                  <a:t> is divisible by </a:t>
                </a:r>
                <a14:m>
                  <m:oMath xmlns:m="http://schemas.openxmlformats.org/officeDocument/2006/math">
                    <m:r>
                      <a:rPr lang="en-US" i="1" dirty="0" smtClean="0">
                        <a:latin typeface="Cambria Math"/>
                      </a:rPr>
                      <m:t>𝑏</m:t>
                    </m:r>
                  </m:oMath>
                </a14:m>
                <a:endParaRPr lang="en-US" dirty="0"/>
              </a:p>
              <a:p>
                <a:pPr lvl="1"/>
                <a14:m>
                  <m:oMath xmlns:m="http://schemas.openxmlformats.org/officeDocument/2006/math">
                    <m:r>
                      <a:rPr lang="en-US" i="1" dirty="0" smtClean="0">
                        <a:solidFill>
                          <a:srgbClr val="FF0000"/>
                        </a:solidFill>
                        <a:latin typeface="Cambria Math"/>
                      </a:rPr>
                      <m:t>𝑅</m:t>
                    </m:r>
                    <m:d>
                      <m:dPr>
                        <m:ctrlPr>
                          <a:rPr lang="en-US" i="1" dirty="0" smtClean="0">
                            <a:solidFill>
                              <a:srgbClr val="FF0000"/>
                            </a:solidFill>
                            <a:latin typeface="Cambria Math" panose="02040503050406030204" pitchFamily="18" charset="0"/>
                          </a:rPr>
                        </m:ctrlPr>
                      </m:dPr>
                      <m:e>
                        <m:r>
                          <a:rPr lang="en-US" i="1" dirty="0" smtClean="0">
                            <a:solidFill>
                              <a:srgbClr val="FF0000"/>
                            </a:solidFill>
                            <a:latin typeface="Cambria Math"/>
                          </a:rPr>
                          <m:t>𝑋</m:t>
                        </m:r>
                      </m:e>
                    </m:d>
                    <m:r>
                      <a:rPr lang="en-US" b="0" i="1" dirty="0" smtClean="0">
                        <a:solidFill>
                          <a:srgbClr val="FF0000"/>
                        </a:solidFill>
                        <a:latin typeface="Cambria Math"/>
                      </a:rPr>
                      <m:t>={</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a:rPr>
                          <m:t>1,1</m:t>
                        </m:r>
                      </m:e>
                    </m:d>
                    <m:r>
                      <a:rPr lang="en-US" b="0" i="1" dirty="0" smtClean="0">
                        <a:solidFill>
                          <a:srgbClr val="FF0000"/>
                        </a:solidFill>
                        <a:latin typeface="Cambria Math"/>
                      </a:rPr>
                      <m:t>,</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a:rPr>
                          <m:t>2,1</m:t>
                        </m:r>
                      </m:e>
                    </m:d>
                    <m:r>
                      <a:rPr lang="en-US" b="0" i="1" dirty="0" smtClean="0">
                        <a:solidFill>
                          <a:srgbClr val="FF0000"/>
                        </a:solidFill>
                        <a:latin typeface="Cambria Math"/>
                      </a:rPr>
                      <m:t>,</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a:rPr>
                          <m:t>2,2</m:t>
                        </m:r>
                      </m:e>
                    </m:d>
                    <m:r>
                      <a:rPr lang="en-US" b="0" i="1" dirty="0" smtClean="0">
                        <a:solidFill>
                          <a:srgbClr val="FF0000"/>
                        </a:solidFill>
                        <a:latin typeface="Cambria Math"/>
                      </a:rPr>
                      <m:t>,</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a:rPr>
                          <m:t>3,1</m:t>
                        </m:r>
                      </m:e>
                    </m:d>
                    <m:r>
                      <a:rPr lang="en-US" b="0" i="1" dirty="0" smtClean="0">
                        <a:solidFill>
                          <a:srgbClr val="FF0000"/>
                        </a:solidFill>
                        <a:latin typeface="Cambria Math"/>
                      </a:rPr>
                      <m:t>,</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a:rPr>
                          <m:t>3,3</m:t>
                        </m:r>
                      </m:e>
                    </m:d>
                    <m:r>
                      <a:rPr lang="en-US" b="0" i="1" dirty="0" smtClean="0">
                        <a:solidFill>
                          <a:srgbClr val="FF0000"/>
                        </a:solidFill>
                        <a:latin typeface="Cambria Math"/>
                      </a:rPr>
                      <m:t>,</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a:rPr>
                          <m:t>4,1</m:t>
                        </m:r>
                      </m:e>
                    </m:d>
                    <m:r>
                      <a:rPr lang="en-US" b="0" i="1" dirty="0" smtClean="0">
                        <a:solidFill>
                          <a:srgbClr val="FF0000"/>
                        </a:solidFill>
                        <a:latin typeface="Cambria Math"/>
                      </a:rPr>
                      <m:t>,</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a:rPr>
                          <m:t>4,2</m:t>
                        </m:r>
                      </m:e>
                    </m:d>
                    <m:r>
                      <a:rPr lang="en-US" b="0" i="1" dirty="0" smtClean="0">
                        <a:solidFill>
                          <a:srgbClr val="FF0000"/>
                        </a:solidFill>
                        <a:latin typeface="Cambria Math"/>
                      </a:rPr>
                      <m:t>, (4,4)}</m:t>
                    </m:r>
                  </m:oMath>
                </a14:m>
                <a:endParaRPr lang="en-US" dirty="0">
                  <a:solidFill>
                    <a:srgbClr val="FF0000"/>
                  </a:solidFill>
                </a:endParaRPr>
              </a:p>
              <a:p>
                <a:pPr lvl="2"/>
                <a:r>
                  <a:rPr lang="en-US" b="1" dirty="0"/>
                  <a:t>Reflexive, Transitive, but no Symmetric</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a:stretch>
              </a:blipFill>
            </p:spPr>
            <p:txBody>
              <a:bodyPr/>
              <a:lstStyle/>
              <a:p>
                <a:r>
                  <a:rPr lang="en-US">
                    <a:noFill/>
                  </a:rPr>
                  <a:t> </a:t>
                </a:r>
              </a:p>
            </p:txBody>
          </p:sp>
        </mc:Fallback>
      </mc:AlternateContent>
    </p:spTree>
    <p:extLst>
      <p:ext uri="{BB962C8B-B14F-4D97-AF65-F5344CB8AC3E}">
        <p14:creationId xmlns:p14="http://schemas.microsoft.com/office/powerpoint/2010/main" val="1917629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135890"/>
            <a:ext cx="8229600" cy="990600"/>
          </a:xfrm>
        </p:spPr>
        <p:txBody>
          <a:bodyPr>
            <a:normAutofit/>
          </a:bodyPr>
          <a:lstStyle/>
          <a:p>
            <a:r>
              <a:rPr lang="en-US" dirty="0"/>
              <a:t>Equivalence relation and partition</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Content Placeholder 4"/>
          <p:cNvSpPr>
            <a:spLocks noGrp="1"/>
          </p:cNvSpPr>
          <p:nvPr>
            <p:ph sz="quarter" idx="1"/>
          </p:nvPr>
        </p:nvSpPr>
        <p:spPr/>
        <p:txBody>
          <a:bodyPr/>
          <a:lstStyle/>
          <a:p>
            <a:r>
              <a:rPr lang="en-US" b="1" dirty="0"/>
              <a:t>Equivalence relation</a:t>
            </a:r>
            <a:r>
              <a:rPr lang="en-US" dirty="0"/>
              <a:t>: a relation with full of 3 properties: </a:t>
            </a:r>
            <a:r>
              <a:rPr lang="en-US" dirty="0">
                <a:solidFill>
                  <a:srgbClr val="FF0000"/>
                </a:solidFill>
              </a:rPr>
              <a:t>reflexive</a:t>
            </a:r>
            <a:r>
              <a:rPr lang="en-US" dirty="0"/>
              <a:t>, </a:t>
            </a:r>
            <a:r>
              <a:rPr lang="en-US" dirty="0">
                <a:solidFill>
                  <a:srgbClr val="FF0000"/>
                </a:solidFill>
              </a:rPr>
              <a:t>symmetric</a:t>
            </a:r>
            <a:r>
              <a:rPr lang="en-US" dirty="0"/>
              <a:t>, and </a:t>
            </a:r>
            <a:r>
              <a:rPr lang="en-US" dirty="0">
                <a:solidFill>
                  <a:srgbClr val="FF0000"/>
                </a:solidFill>
              </a:rPr>
              <a:t>transitive </a:t>
            </a:r>
          </a:p>
          <a:p>
            <a:r>
              <a:rPr lang="en-US" b="1" dirty="0"/>
              <a:t>Equivalence class</a:t>
            </a:r>
            <a:r>
              <a:rPr lang="en-US" dirty="0"/>
              <a:t>: is an equivalence relation partitions its set into equivalence classes</a:t>
            </a:r>
          </a:p>
          <a:p>
            <a:pPr lvl="1"/>
            <a:r>
              <a:rPr lang="en-US" dirty="0"/>
              <a:t>2 elements belonging to the same class are related</a:t>
            </a:r>
          </a:p>
          <a:p>
            <a:pPr lvl="1"/>
            <a:r>
              <a:rPr lang="en-US" dirty="0"/>
              <a:t>2 elements of different classes have no relation to each other</a:t>
            </a:r>
          </a:p>
          <a:p>
            <a:pPr lvl="1"/>
            <a:r>
              <a:rPr lang="en-US" dirty="0"/>
              <a:t>Equivalence classes cover the original set</a:t>
            </a:r>
          </a:p>
          <a:p>
            <a:r>
              <a:rPr lang="en-US" b="1" dirty="0"/>
              <a:t>Partition</a:t>
            </a:r>
            <a:r>
              <a:rPr lang="en-US" dirty="0"/>
              <a:t>: is a family of equivalence classes (non-empty subsets) of a set</a:t>
            </a:r>
          </a:p>
          <a:p>
            <a:endParaRPr lang="en-US" dirty="0"/>
          </a:p>
        </p:txBody>
      </p:sp>
      <p:sp>
        <p:nvSpPr>
          <p:cNvPr id="6" name="TextBox 5"/>
          <p:cNvSpPr txBox="1"/>
          <p:nvPr/>
        </p:nvSpPr>
        <p:spPr>
          <a:xfrm>
            <a:off x="685800" y="5020733"/>
            <a:ext cx="7696200" cy="923330"/>
          </a:xfrm>
          <a:prstGeom prst="rect">
            <a:avLst/>
          </a:prstGeom>
          <a:noFill/>
        </p:spPr>
        <p:txBody>
          <a:bodyPr wrap="square" rtlCol="0">
            <a:spAutoFit/>
          </a:bodyPr>
          <a:lstStyle/>
          <a:p>
            <a:pPr algn="just"/>
            <a:r>
              <a:rPr lang="en-US" dirty="0">
                <a:solidFill>
                  <a:srgbClr val="FF0000"/>
                </a:solidFill>
                <a:latin typeface="Tahoma" pitchFamily="34" charset="0"/>
                <a:ea typeface="Tahoma" pitchFamily="34" charset="0"/>
                <a:cs typeface="Tahoma" pitchFamily="34" charset="0"/>
              </a:rPr>
              <a:t>An equivalence relation on the set will define a partition on the set, otherwise any partition on the set will correspond to an equivalence relation on it.</a:t>
            </a:r>
          </a:p>
        </p:txBody>
      </p:sp>
    </p:spTree>
    <p:extLst>
      <p:ext uri="{BB962C8B-B14F-4D97-AF65-F5344CB8AC3E}">
        <p14:creationId xmlns:p14="http://schemas.microsoft.com/office/powerpoint/2010/main" val="3477943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equivalence relation</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Consider </a:t>
                </a:r>
                <a14:m>
                  <m:oMath xmlns:m="http://schemas.openxmlformats.org/officeDocument/2006/math">
                    <m:r>
                      <a:rPr lang="en-US" i="1" dirty="0" smtClean="0">
                        <a:latin typeface="Cambria Math"/>
                      </a:rPr>
                      <m:t>𝑋</m:t>
                    </m:r>
                    <m:r>
                      <a:rPr lang="en-US" i="1" dirty="0" smtClean="0">
                        <a:latin typeface="Cambria Math"/>
                      </a:rPr>
                      <m:t> =</m:t>
                    </m:r>
                    <m:d>
                      <m:dPr>
                        <m:begChr m:val="{"/>
                        <m:endChr m:val="}"/>
                        <m:ctrlPr>
                          <a:rPr lang="en-US" i="1" dirty="0" smtClean="0">
                            <a:latin typeface="Cambria Math" panose="02040503050406030204" pitchFamily="18" charset="0"/>
                          </a:rPr>
                        </m:ctrlPr>
                      </m:dPr>
                      <m:e>
                        <m:r>
                          <a:rPr lang="en-US" i="1" dirty="0" smtClean="0">
                            <a:latin typeface="Cambria Math"/>
                          </a:rPr>
                          <m:t>1,2,…,</m:t>
                        </m:r>
                        <m:r>
                          <a:rPr lang="en-US" i="1" dirty="0" smtClean="0">
                            <a:latin typeface="Cambria Math"/>
                          </a:rPr>
                          <m:t>𝑚</m:t>
                        </m:r>
                      </m:e>
                    </m:d>
                    <m:r>
                      <a:rPr lang="en-US" b="0" i="1" dirty="0" smtClean="0">
                        <a:latin typeface="Cambria Math"/>
                      </a:rPr>
                      <m:t>, </m:t>
                    </m:r>
                  </m:oMath>
                </a14:m>
                <a:r>
                  <a:rPr lang="en-US" dirty="0"/>
                  <a:t> </a:t>
                </a:r>
                <a14:m>
                  <m:oMath xmlns:m="http://schemas.openxmlformats.org/officeDocument/2006/math">
                    <m:r>
                      <a:rPr lang="en-US" i="1" dirty="0" smtClean="0">
                        <a:latin typeface="Cambria Math"/>
                      </a:rPr>
                      <m:t>𝑚</m:t>
                    </m:r>
                  </m:oMath>
                </a14:m>
                <a:r>
                  <a:rPr lang="en-US" dirty="0"/>
                  <a:t> is a positive integer </a:t>
                </a:r>
                <a14:m>
                  <m:oMath xmlns:m="http://schemas.openxmlformats.org/officeDocument/2006/math">
                    <m:d>
                      <m:dPr>
                        <m:ctrlPr>
                          <a:rPr lang="en-US" b="0" i="1" dirty="0" smtClean="0">
                            <a:latin typeface="Cambria Math" panose="02040503050406030204" pitchFamily="18" charset="0"/>
                          </a:rPr>
                        </m:ctrlPr>
                      </m:dPr>
                      <m:e>
                        <m:r>
                          <a:rPr lang="en-US" i="1" dirty="0">
                            <a:latin typeface="Cambria Math"/>
                          </a:rPr>
                          <m:t>𝑚</m:t>
                        </m:r>
                        <m:r>
                          <a:rPr lang="en-US" b="0" i="1" dirty="0" smtClean="0">
                            <a:latin typeface="Cambria Math"/>
                          </a:rPr>
                          <m:t>&gt;2</m:t>
                        </m:r>
                      </m:e>
                    </m:d>
                  </m:oMath>
                </a14:m>
                <a:endParaRPr lang="en-US" b="0" dirty="0"/>
              </a:p>
              <a:p>
                <a14:m>
                  <m:oMath xmlns:m="http://schemas.openxmlformats.org/officeDocument/2006/math">
                    <m:r>
                      <a:rPr lang="en-US" i="1" dirty="0" smtClean="0">
                        <a:latin typeface="Cambria Math"/>
                      </a:rPr>
                      <m:t>𝑘</m:t>
                    </m:r>
                  </m:oMath>
                </a14:m>
                <a:r>
                  <a:rPr lang="en-US" dirty="0"/>
                  <a:t> is a positive integer , </a:t>
                </a:r>
                <a14:m>
                  <m:oMath xmlns:m="http://schemas.openxmlformats.org/officeDocument/2006/math">
                    <m:r>
                      <a:rPr lang="en-US" b="0" i="0" dirty="0" smtClean="0">
                        <a:latin typeface="Cambria Math"/>
                      </a:rPr>
                      <m:t>1&lt;</m:t>
                    </m:r>
                    <m:r>
                      <a:rPr lang="en-US" i="1" dirty="0">
                        <a:latin typeface="Cambria Math"/>
                      </a:rPr>
                      <m:t>𝑘</m:t>
                    </m:r>
                    <m:r>
                      <a:rPr lang="en-US" b="0" i="1" dirty="0" smtClean="0">
                        <a:latin typeface="Cambria Math"/>
                      </a:rPr>
                      <m:t>&lt;</m:t>
                    </m:r>
                    <m:r>
                      <a:rPr lang="en-US" b="0" i="1" dirty="0" smtClean="0">
                        <a:latin typeface="Cambria Math"/>
                      </a:rPr>
                      <m:t>𝑚</m:t>
                    </m:r>
                  </m:oMath>
                </a14:m>
                <a:endParaRPr lang="en-US" dirty="0"/>
              </a:p>
              <a:p>
                <a:r>
                  <a:rPr lang="en-US" dirty="0"/>
                  <a:t>The definition of the relation </a:t>
                </a:r>
                <a14:m>
                  <m:oMath xmlns:m="http://schemas.openxmlformats.org/officeDocument/2006/math">
                    <m:r>
                      <a:rPr lang="en-US" i="1" dirty="0" smtClean="0">
                        <a:latin typeface="Cambria Math"/>
                      </a:rPr>
                      <m:t>𝑅</m:t>
                    </m:r>
                  </m:oMath>
                </a14:m>
                <a:r>
                  <a:rPr lang="en-US" dirty="0"/>
                  <a:t> on </a:t>
                </a:r>
                <a14:m>
                  <m:oMath xmlns:m="http://schemas.openxmlformats.org/officeDocument/2006/math">
                    <m:r>
                      <a:rPr lang="en-US" i="1" dirty="0" smtClean="0">
                        <a:latin typeface="Cambria Math"/>
                      </a:rPr>
                      <m:t>𝑋</m:t>
                    </m:r>
                  </m:oMath>
                </a14:m>
                <a:r>
                  <a:rPr lang="en-US" dirty="0"/>
                  <a:t> as follow:</a:t>
                </a:r>
              </a:p>
              <a:p>
                <a:r>
                  <a:rPr lang="en-US" dirty="0"/>
                  <a:t>With</a:t>
                </a:r>
                <a:r>
                  <a:rPr lang="en-US" dirty="0">
                    <a:solidFill>
                      <a:schemeClr val="tx1"/>
                    </a:solidFill>
                  </a:rPr>
                  <a:t> </a:t>
                </a:r>
                <a14:m>
                  <m:oMath xmlns:m="http://schemas.openxmlformats.org/officeDocument/2006/math">
                    <m:r>
                      <a:rPr lang="en-US" b="0" i="1" smtClean="0">
                        <a:solidFill>
                          <a:schemeClr val="tx1"/>
                        </a:solidFill>
                        <a:latin typeface="Cambria Math"/>
                      </a:rPr>
                      <m:t>𝑎</m:t>
                    </m:r>
                    <m:r>
                      <a:rPr lang="en-US" b="0" i="1" smtClean="0">
                        <a:solidFill>
                          <a:schemeClr val="tx1"/>
                        </a:solidFill>
                        <a:latin typeface="Cambria Math"/>
                      </a:rPr>
                      <m:t>,</m:t>
                    </m:r>
                    <m:r>
                      <a:rPr lang="en-US" b="0" i="1" smtClean="0">
                        <a:solidFill>
                          <a:schemeClr val="tx1"/>
                        </a:solidFill>
                        <a:latin typeface="Cambria Math"/>
                      </a:rPr>
                      <m:t>𝑏</m:t>
                    </m:r>
                    <m:r>
                      <a:rPr lang="en-US" b="0" i="1" smtClean="0">
                        <a:solidFill>
                          <a:schemeClr val="tx1"/>
                        </a:solidFill>
                        <a:latin typeface="Cambria Math"/>
                        <a:ea typeface="Cambria Math"/>
                      </a:rPr>
                      <m:t>∈</m:t>
                    </m:r>
                    <m:r>
                      <a:rPr lang="en-US" b="0" i="1" smtClean="0">
                        <a:solidFill>
                          <a:schemeClr val="tx1"/>
                        </a:solidFill>
                        <a:latin typeface="Cambria Math"/>
                        <a:ea typeface="Cambria Math"/>
                      </a:rPr>
                      <m:t>𝑋</m:t>
                    </m:r>
                    <m:r>
                      <a:rPr lang="en-US" b="0" i="1" smtClean="0">
                        <a:solidFill>
                          <a:schemeClr val="tx1"/>
                        </a:solidFill>
                        <a:latin typeface="Cambria Math"/>
                        <a:ea typeface="Cambria Math"/>
                      </a:rPr>
                      <m:t>, </m:t>
                    </m:r>
                    <m:r>
                      <m:rPr>
                        <m:sty m:val="p"/>
                      </m:rPr>
                      <a:rPr lang="en-US" b="0" i="0" smtClean="0">
                        <a:solidFill>
                          <a:srgbClr val="FF0000"/>
                        </a:solidFill>
                        <a:latin typeface="Cambria Math"/>
                        <a:ea typeface="Cambria Math"/>
                      </a:rPr>
                      <m:t>aRb</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𝑎</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𝑏</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𝑚𝑜𝑑</m:t>
                    </m:r>
                    <m:r>
                      <a:rPr lang="en-US" b="0" i="1" smtClean="0">
                        <a:solidFill>
                          <a:srgbClr val="FF0000"/>
                        </a:solidFill>
                        <a:latin typeface="Cambria Math"/>
                        <a:ea typeface="Cambria Math"/>
                      </a:rPr>
                      <m:t> </m:t>
                    </m:r>
                    <m:r>
                      <a:rPr lang="en-US" b="0" i="1" smtClean="0">
                        <a:solidFill>
                          <a:srgbClr val="FF0000"/>
                        </a:solidFill>
                        <a:latin typeface="Cambria Math"/>
                        <a:ea typeface="Cambria Math"/>
                      </a:rPr>
                      <m:t>𝑘</m:t>
                    </m:r>
                    <m:r>
                      <a:rPr lang="en-US" b="0" i="1" smtClean="0">
                        <a:solidFill>
                          <a:srgbClr val="FF0000"/>
                        </a:solidFill>
                        <a:latin typeface="Cambria Math"/>
                        <a:ea typeface="Cambria Math"/>
                      </a:rPr>
                      <m:t>)</m:t>
                    </m:r>
                  </m:oMath>
                </a14:m>
                <a:r>
                  <a:rPr lang="en-US" dirty="0">
                    <a:solidFill>
                      <a:srgbClr val="FF0000"/>
                    </a:solidFill>
                  </a:rPr>
                  <a:t> </a:t>
                </a:r>
              </a:p>
              <a:p>
                <a:pPr lvl="1"/>
                <a14:m>
                  <m:oMath xmlns:m="http://schemas.openxmlformats.org/officeDocument/2006/math">
                    <m:r>
                      <a:rPr lang="en-US" i="1" dirty="0" smtClean="0">
                        <a:latin typeface="Cambria Math"/>
                      </a:rPr>
                      <m:t>𝑎</m:t>
                    </m:r>
                  </m:oMath>
                </a14:m>
                <a:r>
                  <a:rPr lang="en-US" dirty="0"/>
                  <a:t> has relation </a:t>
                </a:r>
                <a14:m>
                  <m:oMath xmlns:m="http://schemas.openxmlformats.org/officeDocument/2006/math">
                    <m:r>
                      <a:rPr lang="en-US" i="1" dirty="0" smtClean="0">
                        <a:latin typeface="Cambria Math"/>
                      </a:rPr>
                      <m:t>𝑅</m:t>
                    </m:r>
                  </m:oMath>
                </a14:m>
                <a:r>
                  <a:rPr lang="en-US" dirty="0"/>
                  <a:t> to </a:t>
                </a:r>
                <a14:m>
                  <m:oMath xmlns:m="http://schemas.openxmlformats.org/officeDocument/2006/math">
                    <m:r>
                      <a:rPr lang="en-US" i="1" dirty="0" smtClean="0">
                        <a:latin typeface="Cambria Math"/>
                      </a:rPr>
                      <m:t>𝑏</m:t>
                    </m:r>
                  </m:oMath>
                </a14:m>
                <a:r>
                  <a:rPr lang="en-US" dirty="0"/>
                  <a:t> if </a:t>
                </a:r>
                <a14:m>
                  <m:oMath xmlns:m="http://schemas.openxmlformats.org/officeDocument/2006/math">
                    <m:r>
                      <a:rPr lang="en-US" i="1" dirty="0" smtClean="0">
                        <a:latin typeface="Cambria Math"/>
                      </a:rPr>
                      <m:t>𝑎</m:t>
                    </m:r>
                  </m:oMath>
                </a14:m>
                <a:r>
                  <a:rPr lang="en-US" dirty="0"/>
                  <a:t> and </a:t>
                </a:r>
                <a14:m>
                  <m:oMath xmlns:m="http://schemas.openxmlformats.org/officeDocument/2006/math">
                    <m:r>
                      <a:rPr lang="en-US" i="1" dirty="0" smtClean="0">
                        <a:latin typeface="Cambria Math"/>
                      </a:rPr>
                      <m:t>𝑏</m:t>
                    </m:r>
                  </m:oMath>
                </a14:m>
                <a:r>
                  <a:rPr lang="en-US" dirty="0"/>
                  <a:t> have the same reminder when divided by </a:t>
                </a:r>
                <a14:m>
                  <m:oMath xmlns:m="http://schemas.openxmlformats.org/officeDocument/2006/math">
                    <m:r>
                      <a:rPr lang="en-US" i="1" dirty="0" smtClean="0">
                        <a:latin typeface="Cambria Math"/>
                      </a:rPr>
                      <m:t>𝑘</m:t>
                    </m:r>
                  </m:oMath>
                </a14:m>
                <a:endParaRPr lang="en-US" dirty="0"/>
              </a:p>
              <a:p>
                <a14:m>
                  <m:oMath xmlns:m="http://schemas.openxmlformats.org/officeDocument/2006/math">
                    <m:r>
                      <a:rPr lang="en-US" i="1" dirty="0" smtClean="0">
                        <a:latin typeface="Cambria Math"/>
                      </a:rPr>
                      <m:t>𝑅</m:t>
                    </m:r>
                  </m:oMath>
                </a14:m>
                <a:r>
                  <a:rPr lang="en-US" dirty="0"/>
                  <a:t> is an equivalence relation</a:t>
                </a:r>
              </a:p>
              <a:p>
                <a:pPr lvl="1"/>
                <a:r>
                  <a:rPr lang="en-US" dirty="0"/>
                  <a:t>Reflexive, symmetric, transitive</a:t>
                </a:r>
              </a:p>
              <a:p>
                <a:r>
                  <a:rPr lang="en-US" dirty="0"/>
                  <a:t>Set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a:rPr>
                          <m:t>𝐴</m:t>
                        </m:r>
                      </m:e>
                      <m:sub>
                        <m:r>
                          <a:rPr lang="en-US" b="0" i="1" smtClean="0">
                            <a:solidFill>
                              <a:srgbClr val="FF0000"/>
                            </a:solidFill>
                            <a:latin typeface="Cambria Math"/>
                          </a:rPr>
                          <m:t>𝑖</m:t>
                        </m:r>
                      </m:sub>
                    </m:sSub>
                    <m:r>
                      <a:rPr lang="en-US" b="0" i="1" smtClean="0">
                        <a:solidFill>
                          <a:srgbClr val="FF0000"/>
                        </a:solidFill>
                        <a:latin typeface="Cambria Math"/>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𝑎</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𝑋</m:t>
                        </m:r>
                      </m:e>
                      <m:e>
                        <m:r>
                          <a:rPr lang="en-US" b="0" i="1" smtClean="0">
                            <a:solidFill>
                              <a:srgbClr val="FF0000"/>
                            </a:solidFill>
                            <a:latin typeface="Cambria Math"/>
                            <a:ea typeface="Cambria Math"/>
                          </a:rPr>
                          <m:t>𝑎</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𝑖</m:t>
                        </m:r>
                        <m:d>
                          <m:dPr>
                            <m:ctrlPr>
                              <a:rPr lang="en-US" b="0" i="1" smtClean="0">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𝑚𝑜𝑑</m:t>
                            </m:r>
                            <m:r>
                              <a:rPr lang="en-US" b="0" i="1" smtClean="0">
                                <a:solidFill>
                                  <a:srgbClr val="FF0000"/>
                                </a:solidFill>
                                <a:latin typeface="Cambria Math"/>
                                <a:ea typeface="Cambria Math"/>
                              </a:rPr>
                              <m:t> </m:t>
                            </m:r>
                            <m:r>
                              <a:rPr lang="en-US" b="0" i="1" smtClean="0">
                                <a:solidFill>
                                  <a:srgbClr val="FF0000"/>
                                </a:solidFill>
                                <a:latin typeface="Cambria Math"/>
                                <a:ea typeface="Cambria Math"/>
                              </a:rPr>
                              <m:t>𝑘</m:t>
                            </m:r>
                          </m:e>
                        </m:d>
                      </m:e>
                    </m:d>
                    <m:r>
                      <a:rPr lang="en-US" b="0" i="1" smtClean="0">
                        <a:latin typeface="Cambria Math"/>
                      </a:rPr>
                      <m:t>, </m:t>
                    </m:r>
                    <m:r>
                      <a:rPr lang="en-US" b="0" i="1" smtClean="0">
                        <a:latin typeface="Cambria Math"/>
                      </a:rPr>
                      <m:t>𝑖</m:t>
                    </m:r>
                    <m:r>
                      <a:rPr lang="en-US" b="0" i="1" smtClean="0">
                        <a:latin typeface="Cambria Math"/>
                      </a:rPr>
                      <m:t>=0,1,…,</m:t>
                    </m:r>
                    <m:r>
                      <a:rPr lang="en-US" b="0" i="1" smtClean="0">
                        <a:latin typeface="Cambria Math"/>
                      </a:rPr>
                      <m:t>𝑘</m:t>
                    </m:r>
                    <m:r>
                      <a:rPr lang="en-US" b="0" i="1" smtClean="0">
                        <a:latin typeface="Cambria Math"/>
                      </a:rPr>
                      <m:t>−1</m:t>
                    </m:r>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a:rPr>
                          <m:t>𝐴</m:t>
                        </m:r>
                      </m:e>
                      <m:sub>
                        <m:r>
                          <a:rPr lang="en-US" b="0" i="1" smtClean="0">
                            <a:latin typeface="Cambria Math"/>
                          </a:rPr>
                          <m:t>0</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𝐴</m:t>
                        </m:r>
                      </m:e>
                      <m:sub>
                        <m:r>
                          <a:rPr lang="en-US" b="0" i="1" smtClean="0">
                            <a:latin typeface="Cambria Math"/>
                          </a:rPr>
                          <m:t>1</m:t>
                        </m:r>
                      </m:sub>
                    </m:sSub>
                    <m:r>
                      <a:rPr lang="en-US" b="0" i="1" smtClean="0">
                        <a:latin typeface="Cambria Math"/>
                      </a:rPr>
                      <m:t>, …,</m:t>
                    </m:r>
                    <m:sSub>
                      <m:sSubPr>
                        <m:ctrlPr>
                          <a:rPr lang="en-US" i="1">
                            <a:latin typeface="Cambria Math" panose="02040503050406030204" pitchFamily="18" charset="0"/>
                          </a:rPr>
                        </m:ctrlPr>
                      </m:sSubPr>
                      <m:e>
                        <m:r>
                          <a:rPr lang="en-US" i="1">
                            <a:latin typeface="Cambria Math"/>
                          </a:rPr>
                          <m:t>𝐴</m:t>
                        </m:r>
                      </m:e>
                      <m:sub>
                        <m:r>
                          <a:rPr lang="en-US" b="0" i="1" smtClean="0">
                            <a:latin typeface="Cambria Math"/>
                          </a:rPr>
                          <m:t>𝑘</m:t>
                        </m:r>
                        <m:r>
                          <a:rPr lang="en-US" b="0" i="1" smtClean="0">
                            <a:latin typeface="Cambria Math"/>
                          </a:rPr>
                          <m:t>−1</m:t>
                        </m:r>
                      </m:sub>
                    </m:sSub>
                  </m:oMath>
                </a14:m>
                <a:r>
                  <a:rPr lang="en-US" dirty="0"/>
                  <a:t> create a partition of </a:t>
                </a:r>
                <a14:m>
                  <m:oMath xmlns:m="http://schemas.openxmlformats.org/officeDocument/2006/math">
                    <m:r>
                      <a:rPr lang="en-US" i="1" dirty="0" smtClean="0">
                        <a:latin typeface="Cambria Math"/>
                      </a:rPr>
                      <m:t>𝑋</m:t>
                    </m:r>
                  </m:oMath>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a:stretch>
              </a:blipFill>
            </p:spPr>
            <p:txBody>
              <a:bodyPr/>
              <a:lstStyle/>
              <a:p>
                <a:r>
                  <a:rPr lang="en-US">
                    <a:noFill/>
                  </a:rPr>
                  <a:t> </a:t>
                </a:r>
              </a:p>
            </p:txBody>
          </p:sp>
        </mc:Fallback>
      </mc:AlternateContent>
    </p:spTree>
    <p:extLst>
      <p:ext uri="{BB962C8B-B14F-4D97-AF65-F5344CB8AC3E}">
        <p14:creationId xmlns:p14="http://schemas.microsoft.com/office/powerpoint/2010/main" val="11618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principle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If </a:t>
                </a:r>
                <a14:m>
                  <m:oMath xmlns:m="http://schemas.openxmlformats.org/officeDocument/2006/math">
                    <m:r>
                      <a:rPr lang="en-US" i="1" dirty="0" smtClean="0">
                        <a:latin typeface="Cambria Math"/>
                      </a:rPr>
                      <m:t>𝐴</m:t>
                    </m:r>
                  </m:oMath>
                </a14:m>
                <a:r>
                  <a:rPr lang="en-US" dirty="0"/>
                  <a:t> and </a:t>
                </a:r>
                <a14:m>
                  <m:oMath xmlns:m="http://schemas.openxmlformats.org/officeDocument/2006/math">
                    <m:r>
                      <a:rPr lang="en-US" i="1" dirty="0" smtClean="0">
                        <a:latin typeface="Cambria Math"/>
                      </a:rPr>
                      <m:t>𝐵</m:t>
                    </m:r>
                  </m:oMath>
                </a14:m>
                <a:r>
                  <a:rPr lang="en-US" dirty="0"/>
                  <a:t> are 2 separate sets, then: </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𝐴</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𝐵</m:t>
                          </m:r>
                        </m:e>
                      </m:d>
                      <m:r>
                        <a:rPr lang="en-US" b="0" i="1" smtClean="0">
                          <a:solidFill>
                            <a:srgbClr val="FF0000"/>
                          </a:solidFill>
                          <a:latin typeface="Cambria Math"/>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𝐴</m:t>
                          </m:r>
                        </m:e>
                      </m:d>
                      <m:r>
                        <a:rPr lang="en-US" b="0" i="1" smtClean="0">
                          <a:solidFill>
                            <a:srgbClr val="FF0000"/>
                          </a:solidFill>
                          <a:latin typeface="Cambria Math"/>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𝐵</m:t>
                          </m:r>
                        </m:e>
                      </m:d>
                    </m:oMath>
                  </m:oMathPara>
                </a14:m>
                <a:endParaRPr lang="en-US" b="0" dirty="0">
                  <a:solidFill>
                    <a:srgbClr val="FF0000"/>
                  </a:solidFill>
                </a:endParaRPr>
              </a:p>
              <a:p>
                <a:r>
                  <a:rPr lang="en-US" dirty="0"/>
                  <a:t>If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m:t>
                        </m:r>
                        <m:r>
                          <a:rPr lang="en-US" i="1">
                            <a:latin typeface="Cambria Math"/>
                          </a:rPr>
                          <m:t>𝐴</m:t>
                        </m:r>
                      </m:e>
                      <m:sub>
                        <m:r>
                          <a:rPr lang="en-US" b="0" i="1" smtClean="0">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𝐴</m:t>
                        </m:r>
                      </m:e>
                      <m:sub>
                        <m:r>
                          <a:rPr lang="en-US" b="0" i="1" smtClean="0">
                            <a:latin typeface="Cambria Math"/>
                          </a:rPr>
                          <m:t>2</m:t>
                        </m:r>
                      </m:sub>
                    </m:sSub>
                    <m:r>
                      <a:rPr lang="en-US" i="1">
                        <a:latin typeface="Cambria Math"/>
                      </a:rPr>
                      <m:t>, …,</m:t>
                    </m:r>
                    <m:sSub>
                      <m:sSubPr>
                        <m:ctrlPr>
                          <a:rPr lang="en-US" i="1">
                            <a:latin typeface="Cambria Math" panose="02040503050406030204" pitchFamily="18" charset="0"/>
                          </a:rPr>
                        </m:ctrlPr>
                      </m:sSubPr>
                      <m:e>
                        <m:r>
                          <a:rPr lang="en-US" i="1">
                            <a:latin typeface="Cambria Math"/>
                          </a:rPr>
                          <m:t>𝐴</m:t>
                        </m:r>
                      </m:e>
                      <m:sub>
                        <m:r>
                          <a:rPr lang="en-US" i="1">
                            <a:latin typeface="Cambria Math"/>
                          </a:rPr>
                          <m:t>𝑘</m:t>
                        </m:r>
                      </m:sub>
                    </m:sSub>
                    <m:r>
                      <a:rPr lang="en-US" b="0" i="1" smtClean="0">
                        <a:latin typeface="Cambria Math"/>
                      </a:rPr>
                      <m:t>}</m:t>
                    </m:r>
                  </m:oMath>
                </a14:m>
                <a:r>
                  <a:rPr lang="en-US" dirty="0"/>
                  <a:t> is a partition of X, then:</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solidFill>
                                <a:srgbClr val="FF0000"/>
                              </a:solidFill>
                              <a:latin typeface="Cambria Math" panose="02040503050406030204" pitchFamily="18" charset="0"/>
                            </a:rPr>
                          </m:ctrlPr>
                        </m:dPr>
                        <m:e>
                          <m:r>
                            <a:rPr lang="en-US" i="1">
                              <a:solidFill>
                                <a:srgbClr val="FF0000"/>
                              </a:solidFill>
                              <a:latin typeface="Cambria Math"/>
                            </a:rPr>
                            <m:t>𝑋</m:t>
                          </m:r>
                        </m:e>
                      </m:d>
                      <m:r>
                        <a:rPr lang="en-US" i="1">
                          <a:solidFill>
                            <a:srgbClr val="FF0000"/>
                          </a:solidFill>
                          <a:latin typeface="Cambria Math"/>
                        </a:rPr>
                        <m:t>=</m:t>
                      </m:r>
                      <m:d>
                        <m:dPr>
                          <m:begChr m:val="|"/>
                          <m:endChr m:val="|"/>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𝐴</m:t>
                              </m:r>
                            </m:e>
                            <m:sub>
                              <m:r>
                                <a:rPr lang="en-US" i="1">
                                  <a:solidFill>
                                    <a:srgbClr val="FF0000"/>
                                  </a:solidFill>
                                  <a:latin typeface="Cambria Math"/>
                                </a:rPr>
                                <m:t>1</m:t>
                              </m:r>
                            </m:sub>
                          </m:sSub>
                        </m:e>
                      </m:d>
                      <m:r>
                        <a:rPr lang="en-US" i="1">
                          <a:solidFill>
                            <a:srgbClr val="FF0000"/>
                          </a:solidFill>
                          <a:latin typeface="Cambria Math"/>
                        </a:rPr>
                        <m:t>+</m:t>
                      </m:r>
                      <m:d>
                        <m:dPr>
                          <m:begChr m:val="|"/>
                          <m:endChr m:val="|"/>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𝐴</m:t>
                              </m:r>
                            </m:e>
                            <m:sub>
                              <m:r>
                                <a:rPr lang="en-US" i="1">
                                  <a:solidFill>
                                    <a:srgbClr val="FF0000"/>
                                  </a:solidFill>
                                  <a:latin typeface="Cambria Math"/>
                                </a:rPr>
                                <m:t>2</m:t>
                              </m:r>
                            </m:sub>
                          </m:sSub>
                        </m:e>
                      </m:d>
                      <m:r>
                        <a:rPr lang="en-US" i="1">
                          <a:solidFill>
                            <a:srgbClr val="FF0000"/>
                          </a:solidFill>
                          <a:latin typeface="Cambria Math"/>
                        </a:rPr>
                        <m:t>+…+</m:t>
                      </m:r>
                      <m:d>
                        <m:dPr>
                          <m:begChr m:val="|"/>
                          <m:endChr m:val="|"/>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𝐴</m:t>
                              </m:r>
                            </m:e>
                            <m:sub>
                              <m:r>
                                <a:rPr lang="en-US" i="1">
                                  <a:solidFill>
                                    <a:srgbClr val="FF0000"/>
                                  </a:solidFill>
                                  <a:latin typeface="Cambria Math"/>
                                </a:rPr>
                                <m:t>𝑘</m:t>
                              </m:r>
                            </m:sub>
                          </m:sSub>
                        </m:e>
                      </m:d>
                    </m:oMath>
                  </m:oMathPara>
                </a14:m>
                <a:endParaRPr lang="en-US" dirty="0">
                  <a:solidFill>
                    <a:srgbClr val="FF0000"/>
                  </a:solidFill>
                </a:endParaRPr>
              </a:p>
              <a:p>
                <a:r>
                  <a:rPr lang="en-US" dirty="0"/>
                  <a:t>If A is a subset of X, then:</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smtClean="0">
                              <a:solidFill>
                                <a:srgbClr val="FF0000"/>
                              </a:solidFill>
                              <a:latin typeface="Cambria Math" panose="02040503050406030204" pitchFamily="18" charset="0"/>
                            </a:rPr>
                          </m:ctrlPr>
                        </m:dPr>
                        <m:e>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a:rPr>
                                <m:t>𝐴</m:t>
                              </m:r>
                            </m:e>
                          </m:acc>
                        </m:e>
                      </m:d>
                      <m:r>
                        <a:rPr lang="en-US" b="0" i="1" smtClean="0">
                          <a:solidFill>
                            <a:srgbClr val="FF0000"/>
                          </a:solidFill>
                          <a:latin typeface="Cambria Math"/>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𝑋</m:t>
                          </m:r>
                        </m:e>
                      </m:d>
                      <m:r>
                        <a:rPr lang="en-US" b="0" i="1" smtClean="0">
                          <a:solidFill>
                            <a:srgbClr val="FF0000"/>
                          </a:solidFill>
                          <a:latin typeface="Cambria Math"/>
                        </a:rPr>
                        <m:t>−|</m:t>
                      </m:r>
                      <m:r>
                        <a:rPr lang="en-US" b="0" i="1" smtClean="0">
                          <a:solidFill>
                            <a:srgbClr val="FF0000"/>
                          </a:solidFill>
                          <a:latin typeface="Cambria Math"/>
                        </a:rPr>
                        <m:t>𝐴</m:t>
                      </m:r>
                      <m:r>
                        <a:rPr lang="en-US" b="0" i="1" smtClean="0">
                          <a:solidFill>
                            <a:srgbClr val="FF0000"/>
                          </a:solidFill>
                          <a:latin typeface="Cambria Math"/>
                        </a:rPr>
                        <m:t>|</m:t>
                      </m:r>
                    </m:oMath>
                  </m:oMathPara>
                </a14:m>
                <a:endParaRPr lang="en-US" dirty="0">
                  <a:solidFill>
                    <a:srgbClr val="FF0000"/>
                  </a:solidFill>
                </a:endParaRPr>
              </a:p>
              <a:p>
                <a:r>
                  <a:rPr lang="en-US" dirty="0"/>
                  <a:t>Example:</a:t>
                </a:r>
              </a:p>
              <a:p>
                <a:pPr lvl="1"/>
                <a:r>
                  <a:rPr lang="en-US" dirty="0"/>
                  <a:t>A team of athletes includes 2 subjects shooting and swimming. There are 10 men. The number of athletes in shooting competition is 14. The number of female athletes in swimming competition is equal to the number of male athletes in shooting competition. How many athletes are there in the team?</a:t>
                </a:r>
              </a:p>
              <a:p>
                <a:endParaRPr lang="en-US" dirty="0"/>
              </a:p>
              <a:p>
                <a:pPr marL="0" indent="0">
                  <a:buNone/>
                </a:pPr>
                <a:endParaRPr lang="en-US" dirty="0">
                  <a:solidFill>
                    <a:srgbClr val="FF0000"/>
                  </a:solidFill>
                </a:endParaRP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630"/>
                </a:stretch>
              </a:blipFill>
            </p:spPr>
            <p:txBody>
              <a:bodyPr/>
              <a:lstStyle/>
              <a:p>
                <a:r>
                  <a:rPr lang="en-US">
                    <a:noFill/>
                  </a:rPr>
                  <a:t> </a:t>
                </a:r>
              </a:p>
            </p:txBody>
          </p:sp>
        </mc:Fallback>
      </mc:AlternateContent>
    </p:spTree>
    <p:extLst>
      <p:ext uri="{BB962C8B-B14F-4D97-AF65-F5344CB8AC3E}">
        <p14:creationId xmlns:p14="http://schemas.microsoft.com/office/powerpoint/2010/main" val="1705413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Multiplication principle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dirty="0"/>
                  <a:t>If each component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𝑖</m:t>
                        </m:r>
                      </m:sub>
                    </m:sSub>
                  </m:oMath>
                </a14:m>
                <a:r>
                  <a:rPr lang="en-US" dirty="0"/>
                  <a:t> of set having</a:t>
                </a:r>
                <a14:m>
                  <m:oMath xmlns:m="http://schemas.openxmlformats.org/officeDocument/2006/math">
                    <m:r>
                      <a:rPr lang="en-US" b="0" i="0" dirty="0" smtClean="0">
                        <a:latin typeface="Cambria Math" panose="02040503050406030204" pitchFamily="18" charset="0"/>
                      </a:rPr>
                      <m:t> </m:t>
                    </m:r>
                    <m:r>
                      <a:rPr lang="en-US" i="1" dirty="0" smtClean="0">
                        <a:latin typeface="Cambria Math"/>
                      </a:rPr>
                      <m:t>𝑘</m:t>
                    </m:r>
                  </m:oMath>
                </a14:m>
                <a:r>
                  <a:rPr lang="en-US" dirty="0"/>
                  <a:t> components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𝑘</m:t>
                            </m:r>
                          </m:sub>
                        </m:sSub>
                      </m:e>
                    </m:d>
                  </m:oMath>
                </a14:m>
                <a:r>
                  <a:rPr lang="en-US" dirty="0"/>
                  <a:t> have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𝑛</m:t>
                        </m:r>
                      </m:e>
                      <m:sub>
                        <m:r>
                          <a:rPr lang="en-US" b="0" i="1" smtClean="0">
                            <a:latin typeface="Cambria Math"/>
                          </a:rPr>
                          <m:t>𝑖</m:t>
                        </m:r>
                      </m:sub>
                    </m:sSub>
                  </m:oMath>
                </a14:m>
                <a:r>
                  <a:rPr lang="en-US" dirty="0"/>
                  <a:t> abilities to choose, then the number of sets created is the multiplication of abilities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b="0" i="1" smtClean="0">
                            <a:latin typeface="Cambria Math"/>
                          </a:rPr>
                          <m:t>1</m:t>
                        </m:r>
                      </m:sub>
                    </m:sSub>
                    <m:sSub>
                      <m:sSubPr>
                        <m:ctrlPr>
                          <a:rPr lang="en-US" i="1">
                            <a:latin typeface="Cambria Math" panose="02040503050406030204" pitchFamily="18" charset="0"/>
                          </a:rPr>
                        </m:ctrlPr>
                      </m:sSubPr>
                      <m:e>
                        <m:r>
                          <a:rPr lang="en-US" i="1">
                            <a:latin typeface="Cambria Math"/>
                          </a:rPr>
                          <m:t>𝑛</m:t>
                        </m:r>
                      </m:e>
                      <m:sub>
                        <m:r>
                          <a:rPr lang="en-US" b="0" i="1" smtClean="0">
                            <a:latin typeface="Cambria Math"/>
                          </a:rPr>
                          <m:t>2</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𝑛</m:t>
                        </m:r>
                      </m:e>
                      <m:sub>
                        <m:r>
                          <a:rPr lang="en-US" b="0" i="1" smtClean="0">
                            <a:latin typeface="Cambria Math"/>
                          </a:rPr>
                          <m:t>𝑘</m:t>
                        </m:r>
                      </m:sub>
                    </m:sSub>
                  </m:oMath>
                </a14:m>
                <a:endParaRPr lang="en-US" dirty="0"/>
              </a:p>
              <a:p>
                <a:r>
                  <a:rPr lang="en-US" dirty="0"/>
                  <a:t>Consequence:</a:t>
                </a:r>
              </a:p>
              <a:p>
                <a:pPr lvl="1"/>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𝐴</m:t>
                            </m:r>
                          </m:e>
                          <m:sub>
                            <m:r>
                              <a:rPr lang="en-US" b="0" i="1" smtClean="0">
                                <a:latin typeface="Cambria Math"/>
                                <a:ea typeface="Cambria Math"/>
                              </a:rPr>
                              <m:t>2</m:t>
                            </m:r>
                          </m:sub>
                        </m:sSub>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𝐴</m:t>
                            </m:r>
                          </m:e>
                          <m:sub>
                            <m:r>
                              <a:rPr lang="en-US" b="0" i="1" smtClean="0">
                                <a:latin typeface="Cambria Math"/>
                                <a:ea typeface="Cambria Math"/>
                              </a:rPr>
                              <m:t>𝑘</m:t>
                            </m:r>
                          </m:sub>
                        </m:sSub>
                      </m:e>
                    </m:d>
                    <m:r>
                      <a:rPr lang="en-US" b="0" i="1" smtClean="0">
                        <a:latin typeface="Cambria Math"/>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2</m:t>
                            </m:r>
                          </m:sub>
                        </m:sSub>
                      </m:e>
                    </m:d>
                    <m:r>
                      <a:rPr lang="en-US" b="0" i="1" smtClean="0">
                        <a:latin typeface="Cambria Math"/>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𝑘</m:t>
                            </m:r>
                          </m:sub>
                        </m:sSub>
                      </m:e>
                    </m:d>
                  </m:oMath>
                </a14:m>
                <a:endParaRPr lang="en-US" b="0" dirty="0"/>
              </a:p>
              <a:p>
                <a:pPr lvl="1"/>
                <a14:m>
                  <m:oMath xmlns:m="http://schemas.openxmlformats.org/officeDocument/2006/math">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𝐴</m:t>
                            </m:r>
                          </m:e>
                          <m:sup>
                            <m:r>
                              <a:rPr lang="en-US" b="0" i="1" smtClean="0">
                                <a:latin typeface="Cambria Math"/>
                              </a:rPr>
                              <m:t>𝑘</m:t>
                            </m:r>
                          </m:sup>
                        </m:sSup>
                      </m:e>
                    </m:d>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m:t>
                        </m:r>
                        <m:r>
                          <a:rPr lang="en-US" b="0" i="1" smtClean="0">
                            <a:latin typeface="Cambria Math"/>
                          </a:rPr>
                          <m:t>𝐴</m:t>
                        </m:r>
                        <m:r>
                          <a:rPr lang="en-US" b="0" i="1" smtClean="0">
                            <a:latin typeface="Cambria Math"/>
                          </a:rPr>
                          <m:t>|</m:t>
                        </m:r>
                      </m:e>
                      <m:sup>
                        <m:r>
                          <a:rPr lang="en-US" b="0" i="1" smtClean="0">
                            <a:latin typeface="Cambria Math"/>
                          </a:rPr>
                          <m:t>𝑘</m:t>
                        </m:r>
                      </m:sup>
                    </m:sSup>
                  </m:oMath>
                </a14:m>
                <a:endParaRPr lang="en-US" dirty="0"/>
              </a:p>
              <a:p>
                <a:endParaRPr lang="en-US" dirty="0"/>
              </a:p>
              <a:p>
                <a:r>
                  <a:rPr lang="en-US" dirty="0"/>
                  <a:t>Example:</a:t>
                </a:r>
              </a:p>
              <a:p>
                <a:pPr lvl="1"/>
                <a:r>
                  <a:rPr lang="en-US" dirty="0"/>
                  <a:t>How many 5-digit positive integers are formed by the digits 0, 1, 2?</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2888137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Repeating arrangement</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t>Definition</a:t>
                </a:r>
                <a:r>
                  <a:rPr lang="en-US" dirty="0"/>
                  <a:t>: A repeating arrangement k of n elements is an ordered set including k elements derived from n given elements. </a:t>
                </a:r>
                <a:r>
                  <a:rPr lang="en-US" dirty="0">
                    <a:solidFill>
                      <a:srgbClr val="FF0000"/>
                    </a:solidFill>
                  </a:rPr>
                  <a:t>Elements can be repeated</a:t>
                </a:r>
                <a:r>
                  <a:rPr lang="en-US" dirty="0"/>
                  <a:t>.</a:t>
                </a:r>
              </a:p>
              <a:p>
                <a:r>
                  <a:rPr lang="en-US" dirty="0"/>
                  <a:t>Following the multiplication principle, the number of repeating arrangements k of n elements is </a:t>
                </a:r>
                <a14:m>
                  <m:oMath xmlns:m="http://schemas.openxmlformats.org/officeDocument/2006/math">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𝑛</m:t>
                        </m:r>
                      </m:e>
                      <m:sup>
                        <m:r>
                          <a:rPr lang="en-US" b="0" i="1" smtClean="0">
                            <a:solidFill>
                              <a:srgbClr val="FF0000"/>
                            </a:solidFill>
                            <a:latin typeface="Cambria Math"/>
                          </a:rPr>
                          <m:t>𝑘</m:t>
                        </m:r>
                      </m:sup>
                    </m:sSup>
                  </m:oMath>
                </a14:m>
                <a:endParaRPr lang="en-US" dirty="0"/>
              </a:p>
              <a:p>
                <a:endParaRPr lang="en-US" dirty="0"/>
              </a:p>
              <a:p>
                <a:r>
                  <a:rPr lang="en-US" dirty="0"/>
                  <a:t>Example:</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712439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Non-repeating arrangement</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t>Definition</a:t>
                </a:r>
                <a:r>
                  <a:rPr lang="en-US" dirty="0"/>
                  <a:t>: A non-repeating arrangement k of n elements is an ordered set having k elements derived from n given elements. </a:t>
                </a:r>
                <a:r>
                  <a:rPr lang="en-US" dirty="0">
                    <a:solidFill>
                      <a:srgbClr val="FF0000"/>
                    </a:solidFill>
                  </a:rPr>
                  <a:t>Elements are not repeated</a:t>
                </a:r>
                <a:r>
                  <a:rPr lang="en-US" dirty="0"/>
                  <a:t>.</a:t>
                </a:r>
              </a:p>
              <a:p>
                <a:r>
                  <a:rPr lang="en-US" dirty="0"/>
                  <a:t>Following the multiplication principle, the number of non-repeating arrangements k of n elements is </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a:rPr>
                        <m:t>𝑛</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𝑛</m:t>
                          </m:r>
                          <m:r>
                            <a:rPr lang="en-US" b="0" i="1" smtClean="0">
                              <a:solidFill>
                                <a:srgbClr val="FF0000"/>
                              </a:solidFill>
                              <a:latin typeface="Cambria Math"/>
                            </a:rPr>
                            <m:t>−1</m:t>
                          </m:r>
                        </m:e>
                      </m:d>
                      <m:r>
                        <a:rPr lang="en-US" b="0" i="1" smtClean="0">
                          <a:solidFill>
                            <a:srgbClr val="FF0000"/>
                          </a:solidFill>
                          <a:latin typeface="Cambria Math"/>
                        </a:rPr>
                        <m:t>…(</m:t>
                      </m:r>
                      <m:r>
                        <a:rPr lang="en-US" b="0" i="1" smtClean="0">
                          <a:solidFill>
                            <a:srgbClr val="FF0000"/>
                          </a:solidFill>
                          <a:latin typeface="Cambria Math"/>
                        </a:rPr>
                        <m:t>𝑛</m:t>
                      </m:r>
                      <m:r>
                        <a:rPr lang="en-US" b="0" i="1" smtClean="0">
                          <a:solidFill>
                            <a:srgbClr val="FF0000"/>
                          </a:solidFill>
                          <a:latin typeface="Cambria Math"/>
                        </a:rPr>
                        <m:t>−</m:t>
                      </m:r>
                      <m:r>
                        <a:rPr lang="en-US" b="0" i="1" smtClean="0">
                          <a:solidFill>
                            <a:srgbClr val="FF0000"/>
                          </a:solidFill>
                          <a:latin typeface="Cambria Math"/>
                        </a:rPr>
                        <m:t>𝑘</m:t>
                      </m:r>
                      <m:r>
                        <a:rPr lang="en-US" b="0" i="1" smtClean="0">
                          <a:solidFill>
                            <a:srgbClr val="FF0000"/>
                          </a:solidFill>
                          <a:latin typeface="Cambria Math"/>
                        </a:rPr>
                        <m:t>+1)</m:t>
                      </m:r>
                    </m:oMath>
                  </m:oMathPara>
                </a14:m>
                <a:endParaRPr lang="en-US" dirty="0"/>
              </a:p>
              <a:p>
                <a:endParaRPr lang="en-US" dirty="0"/>
              </a:p>
              <a:p>
                <a:r>
                  <a:rPr lang="en-US" dirty="0"/>
                  <a:t>Example</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1379137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Definition</a:t>
                </a:r>
                <a:r>
                  <a:rPr lang="en-US" dirty="0"/>
                  <a:t>: a permutation of n elements is a way to arrange those element.</a:t>
                </a:r>
              </a:p>
              <a:p>
                <a:r>
                  <a:rPr lang="en-US" dirty="0"/>
                  <a:t>A permutation of n elements is a special case of a non-repeating arrangement when k = n</a:t>
                </a:r>
              </a:p>
              <a:p>
                <a:pPr lvl="1"/>
                <a:r>
                  <a:rPr lang="en-US" dirty="0"/>
                  <a:t>Number of permutations of n elements is </a:t>
                </a:r>
                <a14:m>
                  <m:oMath xmlns:m="http://schemas.openxmlformats.org/officeDocument/2006/math">
                    <m:r>
                      <a:rPr lang="en-US" b="0" i="1" smtClean="0">
                        <a:solidFill>
                          <a:srgbClr val="FF0000"/>
                        </a:solidFill>
                        <a:latin typeface="Cambria Math"/>
                      </a:rPr>
                      <m:t>𝑛</m:t>
                    </m:r>
                    <m:r>
                      <a:rPr lang="en-US" b="0" i="1" smtClean="0">
                        <a:solidFill>
                          <a:srgbClr val="FF0000"/>
                        </a:solidFill>
                        <a:latin typeface="Cambria Math"/>
                      </a:rPr>
                      <m:t>.</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𝑛</m:t>
                        </m:r>
                        <m:r>
                          <a:rPr lang="en-US" b="0" i="1" smtClean="0">
                            <a:solidFill>
                              <a:srgbClr val="FF0000"/>
                            </a:solidFill>
                            <a:latin typeface="Cambria Math"/>
                          </a:rPr>
                          <m:t>−1</m:t>
                        </m:r>
                      </m:e>
                    </m:d>
                    <m:r>
                      <a:rPr lang="en-US" b="0" i="1" smtClean="0">
                        <a:solidFill>
                          <a:srgbClr val="FF0000"/>
                        </a:solidFill>
                        <a:latin typeface="Cambria Math"/>
                      </a:rPr>
                      <m:t>…2.1=</m:t>
                    </m:r>
                    <m:r>
                      <a:rPr lang="en-US" b="0" i="1" smtClean="0">
                        <a:solidFill>
                          <a:srgbClr val="FF0000"/>
                        </a:solidFill>
                        <a:latin typeface="Cambria Math"/>
                      </a:rPr>
                      <m:t>𝑛</m:t>
                    </m:r>
                    <m:r>
                      <a:rPr lang="en-US" b="0" i="1" smtClean="0">
                        <a:solidFill>
                          <a:srgbClr val="FF0000"/>
                        </a:solidFill>
                        <a:latin typeface="Cambria Math"/>
                        <a:ea typeface="Cambria Math"/>
                      </a:rPr>
                      <m:t>!</m:t>
                    </m:r>
                  </m:oMath>
                </a14:m>
                <a:endParaRPr lang="en-US" dirty="0">
                  <a:solidFill>
                    <a:srgbClr val="FF0000"/>
                  </a:solidFill>
                </a:endParaRPr>
              </a:p>
              <a:p>
                <a:pPr lvl="1"/>
                <a:endParaRPr lang="en-US" dirty="0"/>
              </a:p>
              <a:p>
                <a:r>
                  <a:rPr lang="en-US" dirty="0"/>
                  <a:t>Example:</a:t>
                </a:r>
              </a:p>
              <a:p>
                <a:pPr lvl="1"/>
                <a:r>
                  <a:rPr lang="en-US" dirty="0"/>
                  <a:t>It is necessary to arrange the execution of n of the program on one computer. Know that programs execute independently (independent of order). How many ways are there?  </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2772967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pPr algn="just"/>
                <a:r>
                  <a:rPr lang="en-US" b="1" dirty="0"/>
                  <a:t>Definition</a:t>
                </a:r>
                <a:r>
                  <a:rPr lang="en-US" dirty="0"/>
                  <a:t>: A combination k of n elements is an unordered set of distinct elements derived from n given elements.</a:t>
                </a:r>
              </a:p>
              <a:p>
                <a:pPr marL="0" indent="0">
                  <a:buNone/>
                </a:pPr>
                <a14:m>
                  <m:oMathPara xmlns:m="http://schemas.openxmlformats.org/officeDocument/2006/math">
                    <m:oMathParaPr>
                      <m:jc m:val="centerGroup"/>
                    </m:oMathParaPr>
                    <m:oMath xmlns:m="http://schemas.openxmlformats.org/officeDocument/2006/math">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a:rPr>
                            <m:t>𝐶</m:t>
                          </m:r>
                        </m:e>
                        <m:sub>
                          <m:r>
                            <a:rPr lang="en-US" b="0" i="1" smtClean="0">
                              <a:solidFill>
                                <a:srgbClr val="FF0000"/>
                              </a:solidFill>
                              <a:latin typeface="Cambria Math"/>
                            </a:rPr>
                            <m:t>𝑛</m:t>
                          </m:r>
                        </m:sub>
                        <m:sup>
                          <m:r>
                            <a:rPr lang="en-US" b="0" i="1" smtClean="0">
                              <a:solidFill>
                                <a:srgbClr val="FF0000"/>
                              </a:solidFill>
                              <a:latin typeface="Cambria Math"/>
                            </a:rPr>
                            <m:t>𝑘</m:t>
                          </m:r>
                        </m:sup>
                      </m:sSubSup>
                      <m:r>
                        <a:rPr lang="en-US" b="0" i="1" smtClean="0">
                          <a:solidFill>
                            <a:srgbClr val="FF0000"/>
                          </a:solidFill>
                          <a:latin typeface="Cambria Math"/>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a:rPr>
                            <m:t>𝑛</m:t>
                          </m:r>
                          <m:r>
                            <a:rPr lang="en-US" b="0" i="1" smtClean="0">
                              <a:solidFill>
                                <a:srgbClr val="FF0000"/>
                              </a:solidFill>
                              <a:latin typeface="Cambria Math"/>
                            </a:rPr>
                            <m:t>!</m:t>
                          </m:r>
                        </m:num>
                        <m:den>
                          <m:r>
                            <a:rPr lang="en-US" b="0" i="1" smtClean="0">
                              <a:solidFill>
                                <a:srgbClr val="FF0000"/>
                              </a:solidFill>
                              <a:latin typeface="Cambria Math"/>
                            </a:rPr>
                            <m:t>𝑘</m:t>
                          </m:r>
                          <m:r>
                            <a:rPr lang="en-US" b="0" i="1" smtClean="0">
                              <a:solidFill>
                                <a:srgbClr val="FF0000"/>
                              </a:solidFill>
                              <a:latin typeface="Cambria Math"/>
                            </a:rPr>
                            <m:t>!</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𝑛</m:t>
                              </m:r>
                              <m:r>
                                <a:rPr lang="en-US" b="0" i="1" smtClean="0">
                                  <a:solidFill>
                                    <a:srgbClr val="FF0000"/>
                                  </a:solidFill>
                                  <a:latin typeface="Cambria Math"/>
                                </a:rPr>
                                <m:t>−</m:t>
                              </m:r>
                              <m:r>
                                <a:rPr lang="en-US" b="0" i="1" smtClean="0">
                                  <a:solidFill>
                                    <a:srgbClr val="FF0000"/>
                                  </a:solidFill>
                                  <a:latin typeface="Cambria Math"/>
                                </a:rPr>
                                <m:t>𝑘</m:t>
                              </m:r>
                            </m:e>
                          </m:d>
                          <m:r>
                            <a:rPr lang="en-US" b="0" i="1" smtClean="0">
                              <a:solidFill>
                                <a:srgbClr val="FF0000"/>
                              </a:solidFill>
                              <a:latin typeface="Cambria Math"/>
                            </a:rPr>
                            <m:t>!</m:t>
                          </m:r>
                        </m:den>
                      </m:f>
                    </m:oMath>
                  </m:oMathPara>
                </a14:m>
                <a:endParaRPr lang="en-US" dirty="0"/>
              </a:p>
              <a:p>
                <a:r>
                  <a:rPr lang="en-US" dirty="0"/>
                  <a:t>Properties</a:t>
                </a:r>
              </a:p>
              <a:p>
                <a:pPr lvl="1"/>
                <a14:m>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i="1">
                            <a:solidFill>
                              <a:srgbClr val="FF0000"/>
                            </a:solidFill>
                            <a:latin typeface="Cambria Math"/>
                          </a:rPr>
                          <m:t>𝑘</m:t>
                        </m:r>
                      </m:sup>
                    </m:sSub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b="0" i="1" smtClean="0">
                            <a:solidFill>
                              <a:srgbClr val="FF0000"/>
                            </a:solidFill>
                            <a:latin typeface="Cambria Math"/>
                          </a:rPr>
                          <m:t>𝑛</m:t>
                        </m:r>
                        <m:r>
                          <a:rPr lang="en-US" b="0" i="1" smtClean="0">
                            <a:solidFill>
                              <a:srgbClr val="FF0000"/>
                            </a:solidFill>
                            <a:latin typeface="Cambria Math"/>
                          </a:rPr>
                          <m:t>−</m:t>
                        </m:r>
                        <m:r>
                          <a:rPr lang="en-US" i="1">
                            <a:solidFill>
                              <a:srgbClr val="FF0000"/>
                            </a:solidFill>
                            <a:latin typeface="Cambria Math"/>
                          </a:rPr>
                          <m:t>𝑘</m:t>
                        </m:r>
                      </m:sup>
                    </m:sSubSup>
                  </m:oMath>
                </a14:m>
                <a:endParaRPr lang="en-US" dirty="0"/>
              </a:p>
              <a:p>
                <a:pPr lvl="1"/>
                <a14:m>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b="0" i="1" smtClean="0">
                            <a:solidFill>
                              <a:srgbClr val="FF0000"/>
                            </a:solidFill>
                            <a:latin typeface="Cambria Math"/>
                          </a:rPr>
                          <m:t>0</m:t>
                        </m:r>
                      </m:sup>
                    </m:sSub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b="0" i="1" smtClean="0">
                            <a:solidFill>
                              <a:srgbClr val="FF0000"/>
                            </a:solidFill>
                            <a:latin typeface="Cambria Math"/>
                          </a:rPr>
                          <m:t>𝑛</m:t>
                        </m:r>
                      </m:sup>
                    </m:sSubSup>
                    <m:r>
                      <a:rPr lang="en-US" b="0" i="1" smtClean="0">
                        <a:solidFill>
                          <a:srgbClr val="FF0000"/>
                        </a:solidFill>
                        <a:latin typeface="Cambria Math"/>
                      </a:rPr>
                      <m:t>=1</m:t>
                    </m:r>
                  </m:oMath>
                </a14:m>
                <a:endParaRPr lang="en-US" dirty="0"/>
              </a:p>
              <a:p>
                <a:pPr lvl="1"/>
                <a14:m>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i="1">
                            <a:solidFill>
                              <a:srgbClr val="FF0000"/>
                            </a:solidFill>
                            <a:latin typeface="Cambria Math"/>
                          </a:rPr>
                          <m:t>𝑘</m:t>
                        </m:r>
                      </m:sup>
                    </m:sSub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r>
                          <a:rPr lang="en-US" b="0" i="1" smtClean="0">
                            <a:solidFill>
                              <a:srgbClr val="FF0000"/>
                            </a:solidFill>
                            <a:latin typeface="Cambria Math"/>
                          </a:rPr>
                          <m:t>−1</m:t>
                        </m:r>
                      </m:sub>
                      <m:sup>
                        <m:r>
                          <a:rPr lang="en-US" i="1">
                            <a:solidFill>
                              <a:srgbClr val="FF0000"/>
                            </a:solidFill>
                            <a:latin typeface="Cambria Math"/>
                          </a:rPr>
                          <m:t>𝑘</m:t>
                        </m:r>
                        <m:r>
                          <a:rPr lang="en-US" b="0" i="1" smtClean="0">
                            <a:solidFill>
                              <a:srgbClr val="FF0000"/>
                            </a:solidFill>
                            <a:latin typeface="Cambria Math"/>
                          </a:rPr>
                          <m:t>−1</m:t>
                        </m:r>
                      </m:sup>
                    </m:sSub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r>
                          <a:rPr lang="en-US" b="0" i="1" smtClean="0">
                            <a:solidFill>
                              <a:srgbClr val="FF0000"/>
                            </a:solidFill>
                            <a:latin typeface="Cambria Math"/>
                          </a:rPr>
                          <m:t>−1</m:t>
                        </m:r>
                      </m:sub>
                      <m:sup>
                        <m:r>
                          <a:rPr lang="en-US" i="1">
                            <a:solidFill>
                              <a:srgbClr val="FF0000"/>
                            </a:solidFill>
                            <a:latin typeface="Cambria Math"/>
                          </a:rPr>
                          <m:t>𝑘</m:t>
                        </m:r>
                      </m:sup>
                    </m:sSubSup>
                  </m:oMath>
                </a14:m>
                <a:endParaRPr lang="en-US" dirty="0"/>
              </a:p>
              <a:p>
                <a:r>
                  <a:rPr lang="en-US" dirty="0"/>
                  <a:t>Newton’s Binomial</a:t>
                </a:r>
              </a:p>
              <a:p>
                <a:pPr marL="0" indent="0">
                  <a:buNone/>
                </a:pPr>
                <a14:m>
                  <m:oMathPara xmlns:m="http://schemas.openxmlformats.org/officeDocument/2006/math">
                    <m:oMathParaPr>
                      <m:jc m:val="centerGroup"/>
                    </m:oMathParaPr>
                    <m:oMath xmlns:m="http://schemas.openxmlformats.org/officeDocument/2006/math">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m:t>
                          </m:r>
                          <m:r>
                            <a:rPr lang="en-US" b="0" i="1" smtClean="0">
                              <a:solidFill>
                                <a:srgbClr val="FF0000"/>
                              </a:solidFill>
                              <a:latin typeface="Cambria Math"/>
                            </a:rPr>
                            <m:t>𝑥</m:t>
                          </m:r>
                          <m:r>
                            <a:rPr lang="en-US" b="0" i="1" smtClean="0">
                              <a:solidFill>
                                <a:srgbClr val="FF0000"/>
                              </a:solidFill>
                              <a:latin typeface="Cambria Math"/>
                            </a:rPr>
                            <m:t>+</m:t>
                          </m:r>
                          <m:r>
                            <a:rPr lang="en-US" b="0" i="1" smtClean="0">
                              <a:solidFill>
                                <a:srgbClr val="FF0000"/>
                              </a:solidFill>
                              <a:latin typeface="Cambria Math"/>
                            </a:rPr>
                            <m:t>𝑦</m:t>
                          </m:r>
                          <m:r>
                            <a:rPr lang="en-US" b="0" i="1" smtClean="0">
                              <a:solidFill>
                                <a:srgbClr val="FF0000"/>
                              </a:solidFill>
                              <a:latin typeface="Cambria Math"/>
                            </a:rPr>
                            <m:t>)</m:t>
                          </m:r>
                        </m:e>
                        <m:sup>
                          <m:r>
                            <a:rPr lang="en-US" b="0" i="1" smtClean="0">
                              <a:solidFill>
                                <a:srgbClr val="FF0000"/>
                              </a:solidFill>
                              <a:latin typeface="Cambria Math"/>
                            </a:rPr>
                            <m:t>𝑛</m:t>
                          </m:r>
                        </m:sup>
                      </m:s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b="0" i="1" smtClean="0">
                              <a:solidFill>
                                <a:srgbClr val="FF0000"/>
                              </a:solidFill>
                              <a:latin typeface="Cambria Math"/>
                            </a:rPr>
                            <m:t>0</m:t>
                          </m:r>
                        </m:sup>
                      </m:sSubSup>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𝑥</m:t>
                          </m:r>
                        </m:e>
                        <m:sup>
                          <m:r>
                            <a:rPr lang="en-US" b="0" i="1" smtClean="0">
                              <a:solidFill>
                                <a:srgbClr val="FF0000"/>
                              </a:solidFill>
                              <a:latin typeface="Cambria Math"/>
                            </a:rPr>
                            <m:t>𝑛</m:t>
                          </m:r>
                        </m:sup>
                      </m:s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b="0" i="1" smtClean="0">
                              <a:solidFill>
                                <a:srgbClr val="FF0000"/>
                              </a:solidFill>
                              <a:latin typeface="Cambria Math"/>
                            </a:rPr>
                            <m:t>1</m:t>
                          </m:r>
                        </m:sup>
                      </m:sSubSup>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𝑥</m:t>
                          </m:r>
                        </m:e>
                        <m:sup>
                          <m:r>
                            <a:rPr lang="en-US" b="0" i="1" smtClean="0">
                              <a:solidFill>
                                <a:srgbClr val="FF0000"/>
                              </a:solidFill>
                              <a:latin typeface="Cambria Math"/>
                            </a:rPr>
                            <m:t>𝑛</m:t>
                          </m:r>
                          <m:r>
                            <a:rPr lang="en-US" b="0" i="1" smtClean="0">
                              <a:solidFill>
                                <a:srgbClr val="FF0000"/>
                              </a:solidFill>
                              <a:latin typeface="Cambria Math"/>
                            </a:rPr>
                            <m:t>−1</m:t>
                          </m:r>
                        </m:sup>
                      </m:sSup>
                      <m:r>
                        <a:rPr lang="en-US" b="0" i="1" smtClean="0">
                          <a:solidFill>
                            <a:srgbClr val="FF0000"/>
                          </a:solidFill>
                          <a:latin typeface="Cambria Math"/>
                        </a:rPr>
                        <m:t>𝑦</m:t>
                      </m:r>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b="0" i="1" smtClean="0">
                              <a:solidFill>
                                <a:srgbClr val="FF0000"/>
                              </a:solidFill>
                              <a:latin typeface="Cambria Math"/>
                            </a:rPr>
                            <m:t>𝑛</m:t>
                          </m:r>
                        </m:sup>
                      </m:sSubSup>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𝑦</m:t>
                          </m:r>
                        </m:e>
                        <m:sup>
                          <m:r>
                            <a:rPr lang="en-US" b="0" i="1" smtClean="0">
                              <a:solidFill>
                                <a:srgbClr val="FF0000"/>
                              </a:solidFill>
                              <a:latin typeface="Cambria Math"/>
                            </a:rPr>
                            <m:t>𝑛</m:t>
                          </m:r>
                        </m:sup>
                      </m:sSup>
                      <m:r>
                        <a:rPr lang="en-US" b="0" i="1" smtClean="0">
                          <a:solidFill>
                            <a:srgbClr val="FF0000"/>
                          </a:solidFill>
                          <a:latin typeface="Cambria Math"/>
                        </a:rPr>
                        <m:t>=</m:t>
                      </m:r>
                      <m:nary>
                        <m:naryPr>
                          <m:chr m:val="∑"/>
                          <m:ctrlPr>
                            <a:rPr lang="en-US" b="0" i="1" smtClean="0">
                              <a:solidFill>
                                <a:srgbClr val="FF0000"/>
                              </a:solidFill>
                              <a:latin typeface="Cambria Math" panose="02040503050406030204" pitchFamily="18" charset="0"/>
                            </a:rPr>
                          </m:ctrlPr>
                        </m:naryPr>
                        <m:sub>
                          <m:r>
                            <m:rPr>
                              <m:brk m:alnAt="23"/>
                            </m:rPr>
                            <a:rPr lang="en-US" b="0" i="1" smtClean="0">
                              <a:solidFill>
                                <a:srgbClr val="FF0000"/>
                              </a:solidFill>
                              <a:latin typeface="Cambria Math"/>
                            </a:rPr>
                            <m:t>𝑘</m:t>
                          </m:r>
                          <m:r>
                            <a:rPr lang="en-US" b="0" i="1" smtClean="0">
                              <a:solidFill>
                                <a:srgbClr val="FF0000"/>
                              </a:solidFill>
                              <a:latin typeface="Cambria Math"/>
                            </a:rPr>
                            <m:t>=0</m:t>
                          </m:r>
                        </m:sub>
                        <m:sup>
                          <m:r>
                            <a:rPr lang="en-US" b="0" i="1" smtClean="0">
                              <a:solidFill>
                                <a:srgbClr val="FF0000"/>
                              </a:solidFill>
                              <a:latin typeface="Cambria Math"/>
                            </a:rPr>
                            <m:t>𝑛</m:t>
                          </m:r>
                        </m:sup>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i="1">
                                  <a:solidFill>
                                    <a:srgbClr val="FF0000"/>
                                  </a:solidFill>
                                  <a:latin typeface="Cambria Math"/>
                                </a:rPr>
                                <m:t>𝑘</m:t>
                              </m:r>
                            </m:sup>
                          </m:sSubSup>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𝑥</m:t>
                              </m:r>
                            </m:e>
                            <m:sup>
                              <m:r>
                                <a:rPr lang="en-US" b="0" i="1" smtClean="0">
                                  <a:solidFill>
                                    <a:srgbClr val="FF0000"/>
                                  </a:solidFill>
                                  <a:latin typeface="Cambria Math"/>
                                </a:rPr>
                                <m:t>𝑛</m:t>
                              </m:r>
                              <m:r>
                                <a:rPr lang="en-US" b="0" i="1" smtClean="0">
                                  <a:solidFill>
                                    <a:srgbClr val="FF0000"/>
                                  </a:solidFill>
                                  <a:latin typeface="Cambria Math"/>
                                </a:rPr>
                                <m:t>−</m:t>
                              </m:r>
                              <m:r>
                                <a:rPr lang="en-US" b="0" i="1" smtClean="0">
                                  <a:solidFill>
                                    <a:srgbClr val="FF0000"/>
                                  </a:solidFill>
                                  <a:latin typeface="Cambria Math"/>
                                </a:rPr>
                                <m:t>𝑘</m:t>
                              </m:r>
                            </m:sup>
                          </m:sSup>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𝑦</m:t>
                              </m:r>
                            </m:e>
                            <m:sup>
                              <m:r>
                                <a:rPr lang="en-US" b="0" i="1" smtClean="0">
                                  <a:solidFill>
                                    <a:srgbClr val="FF0000"/>
                                  </a:solidFill>
                                  <a:latin typeface="Cambria Math"/>
                                </a:rPr>
                                <m:t>𝑘</m:t>
                              </m:r>
                            </m:sup>
                          </m:sSup>
                        </m:e>
                      </m:nary>
                    </m:oMath>
                  </m:oMathPara>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2894300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Content Placeholder 4"/>
          <p:cNvSpPr>
            <a:spLocks noGrp="1"/>
          </p:cNvSpPr>
          <p:nvPr>
            <p:ph sz="quarter" idx="1"/>
          </p:nvPr>
        </p:nvSpPr>
        <p:spPr/>
        <p:txBody>
          <a:bodyPr/>
          <a:lstStyle/>
          <a:p>
            <a:r>
              <a:rPr lang="en-US" dirty="0"/>
              <a:t>Using definition to prove some set operations</a:t>
            </a:r>
          </a:p>
        </p:txBody>
      </p:sp>
    </p:spTree>
    <p:extLst>
      <p:ext uri="{BB962C8B-B14F-4D97-AF65-F5344CB8AC3E}">
        <p14:creationId xmlns:p14="http://schemas.microsoft.com/office/powerpoint/2010/main" val="2161126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534400" cy="4937760"/>
              </a:xfrm>
            </p:spPr>
            <p:txBody>
              <a:bodyPr/>
              <a:lstStyle/>
              <a:p>
                <a:r>
                  <a:rPr lang="en-US" dirty="0"/>
                  <a:t>Which of the following equations is true and which is false?</a:t>
                </a:r>
              </a:p>
              <a:p>
                <a:pPr marL="457200" indent="-457200">
                  <a:buFont typeface="+mj-lt"/>
                  <a:buAutoNum type="arabicParenR"/>
                </a:pP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oMath>
                </a14:m>
                <a:endParaRPr lang="en-US" b="0" dirty="0">
                  <a:ea typeface="Cambria Math" panose="02040503050406030204" pitchFamily="18" charset="0"/>
                </a:endParaRPr>
              </a:p>
              <a:p>
                <a:pPr marL="457200" indent="-457200">
                  <a:buFont typeface="+mj-lt"/>
                  <a:buAutoNum type="arabicParenR"/>
                </a:pP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b="0" dirty="0">
                  <a:ea typeface="Cambria Math" panose="02040503050406030204" pitchFamily="18" charset="0"/>
                </a:endParaRPr>
              </a:p>
              <a:p>
                <a:pPr marL="457200" indent="-457200">
                  <a:buFont typeface="+mj-lt"/>
                  <a:buAutoNum type="arabicParenR"/>
                </a:pPr>
                <a14:m>
                  <m:oMath xmlns:m="http://schemas.openxmlformats.org/officeDocument/2006/math">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oMath>
                </a14:m>
                <a:endParaRPr lang="en-US" dirty="0">
                  <a:ea typeface="Cambria Math" panose="02040503050406030204" pitchFamily="18" charset="0"/>
                </a:endParaRPr>
              </a:p>
              <a:p>
                <a:pPr marL="457200" indent="-457200">
                  <a:buFont typeface="+mj-lt"/>
                  <a:buAutoNum type="arabicParenR"/>
                </a:pPr>
                <a14:m>
                  <m:oMath xmlns:m="http://schemas.openxmlformats.org/officeDocument/2006/math">
                    <m:r>
                      <a:rPr lang="en-US" i="1">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oMath>
                </a14:m>
                <a:endParaRPr lang="en-US" dirty="0">
                  <a:ea typeface="Cambria Math" panose="02040503050406030204" pitchFamily="18" charset="0"/>
                </a:endParaRPr>
              </a:p>
              <a:p>
                <a:pPr marL="457200" indent="-457200">
                  <a:buFont typeface="+mj-lt"/>
                  <a:buAutoNum type="arabicParenR"/>
                </a:pP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m:rPr>
                        <m:lit/>
                      </m:rP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m:rPr>
                        <m:sty m:val="p"/>
                      </m:rPr>
                      <a:rPr lang="en-US" b="0" i="1" smtClean="0">
                        <a:latin typeface="Cambria Math" panose="02040503050406030204" pitchFamily="18" charset="0"/>
                        <a:ea typeface="Cambria Math" panose="02040503050406030204" pitchFamily="18" charset="0"/>
                      </a:rPr>
                      <m:t>B</m:t>
                    </m:r>
                  </m:oMath>
                </a14:m>
                <a:endParaRPr lang="en-US" dirty="0">
                  <a:ea typeface="Cambria Math" panose="02040503050406030204" pitchFamily="18" charset="0"/>
                </a:endParaRPr>
              </a:p>
              <a:p>
                <a:pPr marL="457200" indent="-457200">
                  <a:buFont typeface="+mj-lt"/>
                  <a:buAutoNum type="arabicParenR"/>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534400" cy="4937760"/>
              </a:xfrm>
              <a:blipFill>
                <a:blip r:embed="rId2"/>
                <a:stretch>
                  <a:fillRect l="-500" t="-988"/>
                </a:stretch>
              </a:blipFill>
            </p:spPr>
            <p:txBody>
              <a:bodyPr/>
              <a:lstStyle/>
              <a:p>
                <a:r>
                  <a:rPr lang="en-US">
                    <a:noFill/>
                  </a:rPr>
                  <a:t> </a:t>
                </a:r>
              </a:p>
            </p:txBody>
          </p:sp>
        </mc:Fallback>
      </mc:AlternateContent>
    </p:spTree>
    <p:extLst>
      <p:ext uri="{BB962C8B-B14F-4D97-AF65-F5344CB8AC3E}">
        <p14:creationId xmlns:p14="http://schemas.microsoft.com/office/powerpoint/2010/main" val="4246430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The symbol Z is the set of integers. Consider 2 subsets of Z:</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𝐴</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𝑍</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𝑥</m:t>
                          </m:r>
                          <m:r>
                            <a:rPr lang="en-US" b="0" i="1" dirty="0" smtClean="0">
                              <a:latin typeface="Cambria Math" panose="02040503050406030204" pitchFamily="18" charset="0"/>
                              <a:ea typeface="Cambria Math" panose="02040503050406030204" pitchFamily="18" charset="0"/>
                            </a:rPr>
                            <m:t>=4</m:t>
                          </m:r>
                          <m:r>
                            <a:rPr lang="en-US" b="0" i="1" dirty="0" smtClean="0">
                              <a:latin typeface="Cambria Math" panose="02040503050406030204" pitchFamily="18" charset="0"/>
                              <a:ea typeface="Cambria Math" panose="02040503050406030204" pitchFamily="18" charset="0"/>
                            </a:rPr>
                            <m:t>𝑝</m:t>
                          </m:r>
                          <m:r>
                            <a:rPr lang="en-US" b="0" i="1" dirty="0" smtClean="0">
                              <a:latin typeface="Cambria Math" panose="02040503050406030204" pitchFamily="18" charset="0"/>
                              <a:ea typeface="Cambria Math" panose="02040503050406030204" pitchFamily="18" charset="0"/>
                            </a:rPr>
                            <m:t>−1 </m:t>
                          </m:r>
                          <m:r>
                            <a:rPr lang="en-US" b="0" i="1" dirty="0" smtClean="0">
                              <a:latin typeface="Cambria Math" panose="02040503050406030204" pitchFamily="18" charset="0"/>
                              <a:ea typeface="Cambria Math" panose="02040503050406030204" pitchFamily="18" charset="0"/>
                            </a:rPr>
                            <m:t>𝑤𝑖𝑡h</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𝑎𝑛𝑦</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𝑝</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𝑍</m:t>
                          </m:r>
                          <m:r>
                            <a:rPr lang="en-US" b="0" i="1" dirty="0" smtClean="0">
                              <a:latin typeface="Cambria Math" panose="02040503050406030204" pitchFamily="18" charset="0"/>
                              <a:ea typeface="Cambria Math" panose="02040503050406030204" pitchFamily="18" charset="0"/>
                            </a:rPr>
                            <m:t> </m:t>
                          </m:r>
                        </m:e>
                      </m:d>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𝐵</m:t>
                      </m:r>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r>
                            <a:rPr lang="en-US" b="0" i="1" dirty="0" smtClean="0">
                              <a:latin typeface="Cambria Math" panose="02040503050406030204" pitchFamily="18" charset="0"/>
                            </a:rPr>
                            <m:t>𝑦</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ea typeface="Cambria Math" panose="02040503050406030204" pitchFamily="18" charset="0"/>
                            </a:rPr>
                            <m:t>𝑍</m:t>
                          </m:r>
                          <m:r>
                            <a:rPr lang="en-US"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𝑦</m:t>
                          </m:r>
                          <m:r>
                            <a:rPr lang="en-US" i="1" dirty="0">
                              <a:latin typeface="Cambria Math" panose="02040503050406030204" pitchFamily="18" charset="0"/>
                              <a:ea typeface="Cambria Math" panose="02040503050406030204" pitchFamily="18" charset="0"/>
                            </a:rPr>
                            <m:t>=4</m:t>
                          </m:r>
                          <m:r>
                            <a:rPr lang="en-US" b="0" i="1" dirty="0" smtClean="0">
                              <a:latin typeface="Cambria Math" panose="02040503050406030204" pitchFamily="18" charset="0"/>
                              <a:ea typeface="Cambria Math" panose="02040503050406030204" pitchFamily="18" charset="0"/>
                            </a:rPr>
                            <m:t>𝑞</m:t>
                          </m:r>
                          <m:r>
                            <a:rPr lang="en-US" b="0" i="1" dirty="0" smtClean="0">
                              <a:latin typeface="Cambria Math" panose="02040503050406030204" pitchFamily="18" charset="0"/>
                              <a:ea typeface="Cambria Math" panose="02040503050406030204" pitchFamily="18" charset="0"/>
                            </a:rPr>
                            <m:t>+3 </m:t>
                          </m:r>
                          <m:r>
                            <a:rPr lang="en-US" b="0" i="1" dirty="0" smtClean="0">
                              <a:latin typeface="Cambria Math" panose="02040503050406030204" pitchFamily="18" charset="0"/>
                              <a:ea typeface="Cambria Math" panose="02040503050406030204" pitchFamily="18" charset="0"/>
                            </a:rPr>
                            <m:t>𝑤𝑖𝑡h</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𝑎𝑛𝑦</m:t>
                          </m:r>
                          <m:r>
                            <a:rPr lang="en-US"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𝑞</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ea typeface="Cambria Math" panose="02040503050406030204" pitchFamily="18" charset="0"/>
                            </a:rPr>
                            <m:t>𝑍</m:t>
                          </m:r>
                        </m:e>
                      </m:d>
                    </m:oMath>
                  </m:oMathPara>
                </a14:m>
                <a:endParaRPr lang="en-US" dirty="0"/>
              </a:p>
              <a:p>
                <a:pPr marL="0" indent="0">
                  <a:buNone/>
                </a:pPr>
                <a:r>
                  <a:rPr lang="en-US" b="0" dirty="0"/>
                  <a:t>Prove that A = B.</a:t>
                </a:r>
              </a:p>
              <a:p>
                <a:pPr marL="0" indent="0">
                  <a:buNone/>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988" r="-1852"/>
                </a:stretch>
              </a:blipFill>
            </p:spPr>
            <p:txBody>
              <a:bodyPr/>
              <a:lstStyle/>
              <a:p>
                <a:r>
                  <a:rPr lang="en-US">
                    <a:noFill/>
                  </a:rPr>
                  <a:t> </a:t>
                </a:r>
              </a:p>
            </p:txBody>
          </p:sp>
        </mc:Fallback>
      </mc:AlternateContent>
    </p:spTree>
    <p:extLst>
      <p:ext uri="{BB962C8B-B14F-4D97-AF65-F5344CB8AC3E}">
        <p14:creationId xmlns:p14="http://schemas.microsoft.com/office/powerpoint/2010/main" val="3139988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r>
                  <a:rPr lang="en-US" dirty="0"/>
                  <a:t>Let </a:t>
                </a:r>
                <a14:m>
                  <m:oMath xmlns:m="http://schemas.openxmlformats.org/officeDocument/2006/math">
                    <m:r>
                      <a:rPr lang="en-US" i="1" dirty="0" smtClean="0">
                        <a:latin typeface="Cambria Math" panose="02040503050406030204" pitchFamily="18" charset="0"/>
                      </a:rPr>
                      <m:t>𝐴</m:t>
                    </m:r>
                    <m:r>
                      <a:rPr lang="en-US"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0, 1, 2, 3, 4</m:t>
                        </m:r>
                      </m:e>
                    </m:d>
                  </m:oMath>
                </a14:m>
                <a:r>
                  <a:rPr lang="en-US" dirty="0"/>
                  <a:t> and determine the relation </a:t>
                </a:r>
                <a14:m>
                  <m:oMath xmlns:m="http://schemas.openxmlformats.org/officeDocument/2006/math">
                    <m:r>
                      <a:rPr lang="en-US" i="1" dirty="0" smtClean="0">
                        <a:latin typeface="Cambria Math" panose="02040503050406030204" pitchFamily="18" charset="0"/>
                      </a:rPr>
                      <m:t>𝑅</m:t>
                    </m:r>
                  </m:oMath>
                </a14:m>
                <a:r>
                  <a:rPr lang="en-US" dirty="0"/>
                  <a:t> on </a:t>
                </a:r>
                <a14:m>
                  <m:oMath xmlns:m="http://schemas.openxmlformats.org/officeDocument/2006/math">
                    <m:r>
                      <a:rPr lang="en-US" i="1" dirty="0" smtClean="0">
                        <a:latin typeface="Cambria Math" panose="02040503050406030204" pitchFamily="18" charset="0"/>
                      </a:rPr>
                      <m:t>𝐴</m:t>
                    </m:r>
                    <m:r>
                      <a:rPr lang="en-US" b="0" i="0" dirty="0" smtClean="0">
                        <a:latin typeface="Cambria Math" panose="02040503050406030204" pitchFamily="18" charset="0"/>
                      </a:rPr>
                      <m:t>:</m:t>
                    </m:r>
                  </m:oMath>
                </a14:m>
                <a:endParaRPr lang="en-US" dirty="0"/>
              </a:p>
              <a:p>
                <a:endParaRPr lang="en-US" dirty="0"/>
              </a:p>
              <a:p>
                <a:pPr marL="0" indent="0">
                  <a:buNone/>
                </a:pPr>
                <a:endParaRPr lang="en-US" dirty="0"/>
              </a:p>
              <a:p>
                <a:pPr marL="457200" indent="-457200">
                  <a:buFont typeface="+mj-lt"/>
                  <a:buAutoNum type="arabicParenR"/>
                </a:pPr>
                <a:r>
                  <a:rPr lang="en-US" dirty="0"/>
                  <a:t>Is 𝑅 an equivalence relation?</a:t>
                </a:r>
              </a:p>
              <a:p>
                <a:pPr marL="457200" indent="-457200">
                  <a:buFont typeface="+mj-lt"/>
                  <a:buAutoNum type="arabicParenR"/>
                </a:pPr>
                <a:r>
                  <a:rPr lang="en-US" dirty="0"/>
                  <a:t>If sentence 1) is true, show the partition of 𝐴 into equivalence classes according to the relation 𝑅.</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93"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32312" y="1634616"/>
                <a:ext cx="7924799"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𝑅</m:t>
                      </m:r>
                      <m:r>
                        <a:rPr lang="en-US" sz="2400" i="1" dirty="0" smtClean="0">
                          <a:latin typeface="Cambria Math" panose="02040503050406030204" pitchFamily="18" charset="0"/>
                        </a:rPr>
                        <m:t>={</m:t>
                      </m:r>
                      <m:d>
                        <m:dPr>
                          <m:ctrlPr>
                            <a:rPr lang="en-US" sz="2400" i="1" dirty="0">
                              <a:latin typeface="Cambria Math" panose="02040503050406030204" pitchFamily="18" charset="0"/>
                            </a:rPr>
                          </m:ctrlPr>
                        </m:dPr>
                        <m:e>
                          <m:r>
                            <a:rPr lang="en-US" sz="2400" i="1" dirty="0">
                              <a:latin typeface="Cambria Math" panose="02040503050406030204" pitchFamily="18" charset="0"/>
                            </a:rPr>
                            <m:t>0,0</m:t>
                          </m:r>
                        </m:e>
                      </m:d>
                      <m:r>
                        <a:rPr lang="en-US" sz="2400" i="1" dirty="0">
                          <a:latin typeface="Cambria Math" panose="02040503050406030204" pitchFamily="18" charset="0"/>
                        </a:rPr>
                        <m:t>, </m:t>
                      </m:r>
                      <m:d>
                        <m:dPr>
                          <m:ctrlPr>
                            <a:rPr lang="en-US" sz="2400" i="1" dirty="0">
                              <a:latin typeface="Cambria Math" panose="02040503050406030204" pitchFamily="18" charset="0"/>
                            </a:rPr>
                          </m:ctrlPr>
                        </m:dPr>
                        <m:e>
                          <m:r>
                            <a:rPr lang="en-US" sz="2400" i="1" dirty="0">
                              <a:latin typeface="Cambria Math" panose="02040503050406030204" pitchFamily="18" charset="0"/>
                            </a:rPr>
                            <m:t>2,1</m:t>
                          </m:r>
                        </m:e>
                      </m:d>
                      <m:r>
                        <a:rPr lang="en-US" sz="2400" i="1" dirty="0">
                          <a:latin typeface="Cambria Math" panose="02040503050406030204" pitchFamily="18" charset="0"/>
                        </a:rPr>
                        <m:t>, </m:t>
                      </m:r>
                      <m:d>
                        <m:dPr>
                          <m:ctrlPr>
                            <a:rPr lang="en-US" sz="2400" i="1" dirty="0">
                              <a:latin typeface="Cambria Math" panose="02040503050406030204" pitchFamily="18" charset="0"/>
                            </a:rPr>
                          </m:ctrlPr>
                        </m:dPr>
                        <m:e>
                          <m:r>
                            <a:rPr lang="en-US" sz="2400" i="1" dirty="0">
                              <a:latin typeface="Cambria Math" panose="02040503050406030204" pitchFamily="18" charset="0"/>
                            </a:rPr>
                            <m:t>0,3</m:t>
                          </m:r>
                        </m:e>
                      </m:d>
                      <m:r>
                        <a:rPr lang="en-US" sz="2400" i="1" dirty="0">
                          <a:latin typeface="Cambria Math" panose="02040503050406030204" pitchFamily="18" charset="0"/>
                        </a:rPr>
                        <m:t>, </m:t>
                      </m:r>
                      <m:d>
                        <m:dPr>
                          <m:ctrlPr>
                            <a:rPr lang="en-US" sz="2400" i="1" dirty="0">
                              <a:latin typeface="Cambria Math" panose="02040503050406030204" pitchFamily="18" charset="0"/>
                            </a:rPr>
                          </m:ctrlPr>
                        </m:dPr>
                        <m:e>
                          <m:r>
                            <a:rPr lang="en-US" sz="2400" i="1" dirty="0">
                              <a:latin typeface="Cambria Math" panose="02040503050406030204" pitchFamily="18" charset="0"/>
                            </a:rPr>
                            <m:t>1,1</m:t>
                          </m:r>
                        </m:e>
                      </m:d>
                      <m:r>
                        <a:rPr lang="en-US" sz="2400" i="1" dirty="0">
                          <a:latin typeface="Cambria Math" panose="02040503050406030204" pitchFamily="18" charset="0"/>
                        </a:rPr>
                        <m:t>, </m:t>
                      </m:r>
                      <m:d>
                        <m:dPr>
                          <m:ctrlPr>
                            <a:rPr lang="en-US" sz="2400" i="1" dirty="0">
                              <a:latin typeface="Cambria Math" panose="02040503050406030204" pitchFamily="18" charset="0"/>
                            </a:rPr>
                          </m:ctrlPr>
                        </m:dPr>
                        <m:e>
                          <m:r>
                            <a:rPr lang="en-US" sz="2400" i="1" dirty="0">
                              <a:latin typeface="Cambria Math" panose="02040503050406030204" pitchFamily="18" charset="0"/>
                            </a:rPr>
                            <m:t>3,0</m:t>
                          </m:r>
                        </m:e>
                      </m:d>
                      <m:r>
                        <a:rPr lang="en-US" sz="2400" i="1" dirty="0">
                          <a:latin typeface="Cambria Math" panose="02040503050406030204" pitchFamily="18" charset="0"/>
                        </a:rPr>
                        <m:t>,</m:t>
                      </m:r>
                      <m:d>
                        <m:dPr>
                          <m:ctrlPr>
                            <a:rPr lang="en-US" sz="2400" i="1" dirty="0">
                              <a:latin typeface="Cambria Math" panose="02040503050406030204" pitchFamily="18" charset="0"/>
                            </a:rPr>
                          </m:ctrlPr>
                        </m:dPr>
                        <m:e>
                          <m:r>
                            <a:rPr lang="en-US" sz="2400" i="1" dirty="0">
                              <a:latin typeface="Cambria Math" panose="02040503050406030204" pitchFamily="18" charset="0"/>
                            </a:rPr>
                            <m:t>1,4</m:t>
                          </m:r>
                        </m:e>
                      </m:d>
                      <m:r>
                        <a:rPr lang="en-US" sz="2400" i="1" dirty="0">
                          <a:latin typeface="Cambria Math" panose="02040503050406030204" pitchFamily="18" charset="0"/>
                        </a:rPr>
                        <m:t>,</m:t>
                      </m:r>
                      <m:d>
                        <m:dPr>
                          <m:ctrlPr>
                            <a:rPr lang="en-US" sz="2400" i="1" dirty="0">
                              <a:latin typeface="Cambria Math" panose="02040503050406030204" pitchFamily="18" charset="0"/>
                            </a:rPr>
                          </m:ctrlPr>
                        </m:dPr>
                        <m:e>
                          <m:r>
                            <a:rPr lang="en-US" sz="2400" i="1" dirty="0">
                              <a:latin typeface="Cambria Math" panose="02040503050406030204" pitchFamily="18" charset="0"/>
                            </a:rPr>
                            <m:t>4,1</m:t>
                          </m:r>
                        </m:e>
                      </m:d>
                      <m:r>
                        <a:rPr lang="en-US" sz="2400" i="1" dirty="0">
                          <a:latin typeface="Cambria Math" panose="02040503050406030204" pitchFamily="18" charset="0"/>
                        </a:rPr>
                        <m:t>,</m:t>
                      </m:r>
                      <m:d>
                        <m:dPr>
                          <m:ctrlPr>
                            <a:rPr lang="en-US" sz="2400" i="1" dirty="0">
                              <a:latin typeface="Cambria Math" panose="02040503050406030204" pitchFamily="18" charset="0"/>
                            </a:rPr>
                          </m:ctrlPr>
                        </m:dPr>
                        <m:e>
                          <m:r>
                            <a:rPr lang="en-US" sz="2400" i="1" dirty="0">
                              <a:latin typeface="Cambria Math" panose="02040503050406030204" pitchFamily="18" charset="0"/>
                            </a:rPr>
                            <m:t>2,2</m:t>
                          </m:r>
                        </m:e>
                      </m:d>
                      <m:r>
                        <a:rPr lang="en-US" sz="2400" i="1" dirty="0">
                          <a:latin typeface="Cambria Math" panose="02040503050406030204" pitchFamily="18" charset="0"/>
                        </a:rPr>
                        <m:t>,</m:t>
                      </m:r>
                      <m:d>
                        <m:dPr>
                          <m:ctrlPr>
                            <a:rPr lang="en-US" sz="2400" i="1" dirty="0">
                              <a:latin typeface="Cambria Math" panose="02040503050406030204" pitchFamily="18" charset="0"/>
                            </a:rPr>
                          </m:ctrlPr>
                        </m:dPr>
                        <m:e>
                          <m:r>
                            <a:rPr lang="en-US" sz="2400" i="1" dirty="0">
                              <a:latin typeface="Cambria Math" panose="02040503050406030204" pitchFamily="18" charset="0"/>
                            </a:rPr>
                            <m:t>2,4</m:t>
                          </m:r>
                        </m:e>
                      </m:d>
                      <m:r>
                        <a:rPr lang="en-US" sz="2400" i="1" dirty="0">
                          <a:latin typeface="Cambria Math" panose="02040503050406030204" pitchFamily="18" charset="0"/>
                        </a:rPr>
                        <m:t>,</m:t>
                      </m:r>
                    </m:oMath>
                  </m:oMathPara>
                </a14:m>
                <a:endParaRPr lang="en-US" sz="2400" i="1" dirty="0">
                  <a:latin typeface="Cambria Math" panose="02040503050406030204" pitchFamily="18" charset="0"/>
                </a:endParaRPr>
              </a:p>
              <a:p>
                <a:r>
                  <a:rPr lang="en-US" sz="2400" dirty="0"/>
                  <a:t>          </a:t>
                </a:r>
                <a14:m>
                  <m:oMath xmlns:m="http://schemas.openxmlformats.org/officeDocument/2006/math">
                    <m:d>
                      <m:dPr>
                        <m:ctrlPr>
                          <a:rPr lang="en-US" sz="2400" i="1" dirty="0">
                            <a:latin typeface="Cambria Math" panose="02040503050406030204" pitchFamily="18" charset="0"/>
                          </a:rPr>
                        </m:ctrlPr>
                      </m:dPr>
                      <m:e>
                        <m:r>
                          <a:rPr lang="en-US" sz="2400" i="1" dirty="0">
                            <a:latin typeface="Cambria Math" panose="02040503050406030204" pitchFamily="18" charset="0"/>
                          </a:rPr>
                          <m:t>3,3</m:t>
                        </m:r>
                      </m:e>
                    </m:d>
                    <m:r>
                      <a:rPr lang="en-US" sz="2400" i="1" dirty="0">
                        <a:latin typeface="Cambria Math" panose="02040503050406030204" pitchFamily="18" charset="0"/>
                      </a:rPr>
                      <m:t>,</m:t>
                    </m:r>
                    <m:d>
                      <m:dPr>
                        <m:ctrlPr>
                          <a:rPr lang="en-US" sz="2400" i="1" dirty="0">
                            <a:latin typeface="Cambria Math" panose="02040503050406030204" pitchFamily="18" charset="0"/>
                          </a:rPr>
                        </m:ctrlPr>
                      </m:dPr>
                      <m:e>
                        <m:r>
                          <a:rPr lang="en-US" sz="2400" i="1" dirty="0">
                            <a:latin typeface="Cambria Math" panose="02040503050406030204" pitchFamily="18" charset="0"/>
                          </a:rPr>
                          <m:t>4,4</m:t>
                        </m:r>
                      </m:e>
                    </m:d>
                    <m:r>
                      <a:rPr lang="en-US" sz="2400" i="1" dirty="0">
                        <a:latin typeface="Cambria Math" panose="02040503050406030204" pitchFamily="18" charset="0"/>
                      </a:rPr>
                      <m:t>,</m:t>
                    </m:r>
                    <m:d>
                      <m:dPr>
                        <m:ctrlPr>
                          <a:rPr lang="en-US" sz="2400" i="1" dirty="0">
                            <a:latin typeface="Cambria Math" panose="02040503050406030204" pitchFamily="18" charset="0"/>
                          </a:rPr>
                        </m:ctrlPr>
                      </m:dPr>
                      <m:e>
                        <m:r>
                          <a:rPr lang="en-US" sz="2400" i="1" dirty="0">
                            <a:latin typeface="Cambria Math" panose="02040503050406030204" pitchFamily="18" charset="0"/>
                          </a:rPr>
                          <m:t>1,2</m:t>
                        </m:r>
                      </m:e>
                    </m:d>
                    <m:r>
                      <a:rPr lang="en-US" sz="2400" i="1" dirty="0">
                        <a:latin typeface="Cambria Math" panose="02040503050406030204" pitchFamily="18" charset="0"/>
                      </a:rPr>
                      <m:t>,(4,2)}</m:t>
                    </m:r>
                  </m:oMath>
                </a14:m>
                <a:r>
                  <a:rPr lang="en-US" sz="24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632312" y="1634616"/>
                <a:ext cx="7924799" cy="830997"/>
              </a:xfrm>
              <a:prstGeom prst="rect">
                <a:avLst/>
              </a:prstGeom>
              <a:blipFill>
                <a:blip r:embed="rId3"/>
                <a:stretch>
                  <a:fillRect b="-16176"/>
                </a:stretch>
              </a:blipFill>
            </p:spPr>
            <p:txBody>
              <a:bodyPr/>
              <a:lstStyle/>
              <a:p>
                <a:r>
                  <a:rPr lang="en-US">
                    <a:noFill/>
                  </a:rPr>
                  <a:t> </a:t>
                </a:r>
              </a:p>
            </p:txBody>
          </p:sp>
        </mc:Fallback>
      </mc:AlternateContent>
    </p:spTree>
    <p:extLst>
      <p:ext uri="{BB962C8B-B14F-4D97-AF65-F5344CB8AC3E}">
        <p14:creationId xmlns:p14="http://schemas.microsoft.com/office/powerpoint/2010/main" val="452749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Contents</a:t>
            </a:r>
          </a:p>
        </p:txBody>
      </p:sp>
      <p:sp>
        <p:nvSpPr>
          <p:cNvPr id="3" name="Content Placeholder 2"/>
          <p:cNvSpPr>
            <a:spLocks noGrp="1"/>
          </p:cNvSpPr>
          <p:nvPr>
            <p:ph sz="quarter" idx="1"/>
          </p:nvPr>
        </p:nvSpPr>
        <p:spPr/>
        <p:txBody>
          <a:bodyPr>
            <a:normAutofit/>
          </a:bodyPr>
          <a:lstStyle/>
          <a:p>
            <a:r>
              <a:rPr lang="en-US" dirty="0">
                <a:solidFill>
                  <a:schemeClr val="bg1">
                    <a:lumMod val="75000"/>
                  </a:schemeClr>
                </a:solidFill>
              </a:rPr>
              <a:t>Set theory</a:t>
            </a:r>
          </a:p>
          <a:p>
            <a:r>
              <a:rPr lang="en-US" dirty="0"/>
              <a:t>Propositional logic</a:t>
            </a:r>
            <a:endParaRPr lang="en-US" sz="2400" dirty="0"/>
          </a:p>
          <a:p>
            <a:r>
              <a:rPr lang="en-US" dirty="0"/>
              <a:t>Algorithms and complexity</a:t>
            </a:r>
          </a:p>
          <a:p>
            <a:r>
              <a:rPr lang="en-US" sz="2400" dirty="0">
                <a:latin typeface="Tahoma" pitchFamily="34" charset="0"/>
                <a:ea typeface="Tahoma" pitchFamily="34" charset="0"/>
                <a:cs typeface="Tahoma" pitchFamily="34" charset="0"/>
              </a:rPr>
              <a:t>Exercise</a:t>
            </a:r>
          </a:p>
        </p:txBody>
      </p:sp>
      <p:sp>
        <p:nvSpPr>
          <p:cNvPr id="4" name="Footer Placeholder 3"/>
          <p:cNvSpPr>
            <a:spLocks noGrp="1"/>
          </p:cNvSpPr>
          <p:nvPr>
            <p:ph type="ftr" sz="quarter" idx="11"/>
          </p:nvPr>
        </p:nvSpPr>
        <p:spPr/>
        <p:txBody>
          <a:bodyPr/>
          <a:lstStyle/>
          <a:p>
            <a:r>
              <a:rPr lang="en-US"/>
              <a:t>http://www.ptit.edu.vn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53811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35890"/>
            <a:ext cx="8229600" cy="990600"/>
          </a:xfrm>
        </p:spPr>
        <p:txBody>
          <a:bodyPr/>
          <a:lstStyle/>
          <a:p>
            <a:r>
              <a:rPr lang="en-US" dirty="0"/>
              <a:t>Some definitions of propositional logic</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5" name="Content Placeholder 4"/>
          <p:cNvSpPr>
            <a:spLocks noGrp="1"/>
          </p:cNvSpPr>
          <p:nvPr>
            <p:ph sz="quarter" idx="1"/>
          </p:nvPr>
        </p:nvSpPr>
        <p:spPr/>
        <p:txBody>
          <a:bodyPr>
            <a:normAutofit lnSpcReduction="10000"/>
          </a:bodyPr>
          <a:lstStyle/>
          <a:p>
            <a:pPr algn="just">
              <a:spcBef>
                <a:spcPct val="50000"/>
              </a:spcBef>
            </a:pPr>
            <a:r>
              <a:rPr lang="en-US" sz="2000" dirty="0"/>
              <a:t>Proposition or Clause: is an affirmative sentence that is either true or false.</a:t>
            </a:r>
          </a:p>
          <a:p>
            <a:pPr algn="just">
              <a:spcBef>
                <a:spcPct val="50000"/>
              </a:spcBef>
            </a:pPr>
            <a:r>
              <a:rPr lang="en-US" sz="2000" dirty="0"/>
              <a:t>Example:</a:t>
            </a:r>
          </a:p>
          <a:p>
            <a:pPr lvl="1" algn="just">
              <a:spcBef>
                <a:spcPct val="50000"/>
              </a:spcBef>
              <a:buFontTx/>
              <a:buChar char="•"/>
            </a:pPr>
            <a:r>
              <a:rPr lang="en-US" dirty="0"/>
              <a:t> “</a:t>
            </a:r>
            <a:r>
              <a:rPr lang="en-US" dirty="0">
                <a:solidFill>
                  <a:srgbClr val="FF0000"/>
                </a:solidFill>
              </a:rPr>
              <a:t>Hanoi is the capital city of Vietnam</a:t>
            </a:r>
            <a:r>
              <a:rPr lang="en-US" dirty="0"/>
              <a:t>” is a true clause.</a:t>
            </a:r>
          </a:p>
          <a:p>
            <a:pPr lvl="1" algn="just">
              <a:spcBef>
                <a:spcPct val="50000"/>
              </a:spcBef>
              <a:buFontTx/>
              <a:buChar char="•"/>
            </a:pPr>
            <a:r>
              <a:rPr lang="en-US" dirty="0"/>
              <a:t>“</a:t>
            </a:r>
            <a:r>
              <a:rPr lang="en-US" dirty="0">
                <a:solidFill>
                  <a:srgbClr val="FF0000"/>
                </a:solidFill>
              </a:rPr>
              <a:t>(5 &lt; 3)</a:t>
            </a:r>
            <a:r>
              <a:rPr lang="en-US" dirty="0"/>
              <a:t>” is a false clause, “</a:t>
            </a:r>
            <a:r>
              <a:rPr lang="en-US" dirty="0">
                <a:solidFill>
                  <a:srgbClr val="FF0000"/>
                </a:solidFill>
              </a:rPr>
              <a:t>(5 &gt; 3)</a:t>
            </a:r>
            <a:r>
              <a:rPr lang="en-US" dirty="0"/>
              <a:t>” is a true clause.</a:t>
            </a:r>
          </a:p>
          <a:p>
            <a:pPr lvl="1" algn="just">
              <a:spcBef>
                <a:spcPct val="50000"/>
              </a:spcBef>
              <a:buFontTx/>
              <a:buChar char="•"/>
            </a:pPr>
            <a:r>
              <a:rPr lang="en-US" dirty="0"/>
              <a:t>“</a:t>
            </a:r>
            <a:r>
              <a:rPr lang="en-US" dirty="0">
                <a:solidFill>
                  <a:srgbClr val="FF0000"/>
                </a:solidFill>
              </a:rPr>
              <a:t>(a &lt; 7)</a:t>
            </a:r>
            <a:r>
              <a:rPr lang="en-US" dirty="0"/>
              <a:t>” is not a clause because it can not confirm whether this clause is true or not</a:t>
            </a:r>
          </a:p>
          <a:p>
            <a:pPr algn="just">
              <a:spcBef>
                <a:spcPct val="50000"/>
              </a:spcBef>
            </a:pPr>
            <a:r>
              <a:rPr lang="en-US" sz="2000" b="1" dirty="0"/>
              <a:t>The truth value of the proposition</a:t>
            </a:r>
            <a:r>
              <a:rPr lang="en-US" sz="2000" dirty="0"/>
              <a:t>: Each proposition has only one of 2 values “True”, denoted by “T” and “False”, denoted by “F”. The set {T, F} is called the truth value of the proposition.</a:t>
            </a:r>
          </a:p>
          <a:p>
            <a:r>
              <a:rPr lang="en-US" sz="2000" dirty="0"/>
              <a:t>Notation: we denote the proposition with lowercase letters (a, b, p, q, r, s, t). A clause is also known as a formula. From the definition of proposition, the truth value of each proposition, we build complex propositions (called formula) through operations on propositions.</a:t>
            </a:r>
          </a:p>
        </p:txBody>
      </p:sp>
    </p:spTree>
    <p:extLst>
      <p:ext uri="{BB962C8B-B14F-4D97-AF65-F5344CB8AC3E}">
        <p14:creationId xmlns:p14="http://schemas.microsoft.com/office/powerpoint/2010/main" val="2097520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Mathematical operations of </a:t>
            </a:r>
            <a:br>
              <a:rPr lang="en-US" dirty="0"/>
            </a:br>
            <a:r>
              <a:rPr lang="en-US" dirty="0"/>
              <a:t>propositional logic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p:txBody>
              <a:bodyPr>
                <a:normAutofit lnSpcReduction="10000"/>
              </a:bodyPr>
              <a:lstStyle/>
              <a:p>
                <a:pPr algn="just">
                  <a:spcBef>
                    <a:spcPct val="50000"/>
                  </a:spcBef>
                </a:pPr>
                <a:endParaRPr lang="en-US" b="1" dirty="0"/>
              </a:p>
              <a:p>
                <a:pPr algn="just">
                  <a:spcBef>
                    <a:spcPct val="50000"/>
                  </a:spcBef>
                </a:pPr>
                <a:r>
                  <a:rPr lang="en-US" dirty="0"/>
                  <a:t>Negation </a:t>
                </a:r>
              </a:p>
              <a:p>
                <a:pPr lvl="1" algn="just">
                  <a:spcBef>
                    <a:spcPct val="50000"/>
                  </a:spcBef>
                </a:pPr>
                <a14:m>
                  <m:oMath xmlns:m="http://schemas.openxmlformats.org/officeDocument/2006/math">
                    <m:r>
                      <a:rPr lang="en-US" i="1" smtClean="0">
                        <a:solidFill>
                          <a:srgbClr val="FF0000"/>
                        </a:solidFill>
                        <a:latin typeface="Cambria Math"/>
                        <a:ea typeface="Cambria Math"/>
                      </a:rPr>
                      <m:t>¬</m:t>
                    </m:r>
                    <m:r>
                      <a:rPr lang="en-US" b="0" i="1" smtClean="0">
                        <a:solidFill>
                          <a:srgbClr val="FF0000"/>
                        </a:solidFill>
                        <a:latin typeface="Cambria Math"/>
                        <a:ea typeface="Cambria Math"/>
                      </a:rPr>
                      <m:t>𝑝</m:t>
                    </m:r>
                    <m:r>
                      <a:rPr lang="en-US" b="0" i="1" smtClean="0">
                        <a:latin typeface="Cambria Math"/>
                        <a:ea typeface="Cambria Math"/>
                      </a:rPr>
                      <m:t> </m:t>
                    </m:r>
                  </m:oMath>
                </a14:m>
                <a:r>
                  <a:rPr lang="en-US" dirty="0"/>
                  <a:t>is the propositional notation, read as  “</a:t>
                </a:r>
                <a:r>
                  <a:rPr lang="en-US" dirty="0">
                    <a:solidFill>
                      <a:srgbClr val="FF0000"/>
                    </a:solidFill>
                  </a:rPr>
                  <a:t>Not </a:t>
                </a:r>
                <a14:m>
                  <m:oMath xmlns:m="http://schemas.openxmlformats.org/officeDocument/2006/math">
                    <m:r>
                      <a:rPr lang="en-US" i="1" dirty="0" smtClean="0">
                        <a:solidFill>
                          <a:srgbClr val="FF0000"/>
                        </a:solidFill>
                        <a:latin typeface="Cambria Math"/>
                      </a:rPr>
                      <m:t>𝑝</m:t>
                    </m:r>
                  </m:oMath>
                </a14:m>
                <a:r>
                  <a:rPr lang="en-US" dirty="0"/>
                  <a:t>” </a:t>
                </a:r>
              </a:p>
              <a:p>
                <a:pPr lvl="1" algn="just">
                  <a:spcBef>
                    <a:spcPct val="50000"/>
                  </a:spcBef>
                </a:pPr>
                <a:r>
                  <a:rPr lang="en-US" dirty="0">
                    <a:sym typeface="Symbol" pitchFamily="18" charset="2"/>
                  </a:rPr>
                  <a:t>Proposition is true when p is false, Proposition is false when p is true.</a:t>
                </a:r>
                <a:endParaRPr lang="en-US" dirty="0"/>
              </a:p>
              <a:p>
                <a:pPr algn="just">
                  <a:spcBef>
                    <a:spcPct val="50000"/>
                  </a:spcBef>
                </a:pPr>
                <a:r>
                  <a:rPr lang="en-US" dirty="0"/>
                  <a:t>Conjunction </a:t>
                </a:r>
              </a:p>
              <a:p>
                <a:pPr lvl="1" algn="just">
                  <a:spcBef>
                    <a:spcPct val="50000"/>
                  </a:spcBef>
                </a:pPr>
                <a14:m>
                  <m:oMath xmlns:m="http://schemas.openxmlformats.org/officeDocument/2006/math">
                    <m:r>
                      <a:rPr lang="en-US" i="1" dirty="0" smtClean="0">
                        <a:solidFill>
                          <a:srgbClr val="FF0000"/>
                        </a:solidFill>
                        <a:latin typeface="Cambria Math"/>
                      </a:rPr>
                      <m:t>𝑝</m:t>
                    </m:r>
                    <m:r>
                      <a:rPr lang="en-US" i="1" dirty="0" smtClean="0">
                        <a:solidFill>
                          <a:srgbClr val="FF0000"/>
                        </a:solidFill>
                        <a:latin typeface="Cambria Math"/>
                        <a:ea typeface="Cambria Math"/>
                        <a:sym typeface="Symbol" pitchFamily="18" charset="2"/>
                      </a:rPr>
                      <m:t>∧</m:t>
                    </m:r>
                    <m:r>
                      <a:rPr lang="en-US" i="1" dirty="0" smtClean="0">
                        <a:solidFill>
                          <a:srgbClr val="FF0000"/>
                        </a:solidFill>
                        <a:latin typeface="Cambria Math"/>
                        <a:sym typeface="Symbol" pitchFamily="18" charset="2"/>
                      </a:rPr>
                      <m:t>𝑞</m:t>
                    </m:r>
                  </m:oMath>
                </a14:m>
                <a:r>
                  <a:rPr lang="en-US" dirty="0">
                    <a:sym typeface="Symbol" pitchFamily="18" charset="2"/>
                  </a:rPr>
                  <a:t> </a:t>
                </a:r>
                <a:r>
                  <a:rPr lang="en-US" dirty="0"/>
                  <a:t>is the propositional notation</a:t>
                </a:r>
                <a:r>
                  <a:rPr lang="en-US" dirty="0">
                    <a:sym typeface="Symbol" pitchFamily="18" charset="2"/>
                  </a:rPr>
                  <a:t>, read as “</a:t>
                </a:r>
                <a14:m>
                  <m:oMath xmlns:m="http://schemas.openxmlformats.org/officeDocument/2006/math">
                    <m:r>
                      <a:rPr lang="en-US" i="1" dirty="0" smtClean="0">
                        <a:solidFill>
                          <a:srgbClr val="FF0000"/>
                        </a:solidFill>
                        <a:latin typeface="Cambria Math"/>
                        <a:sym typeface="Symbol" pitchFamily="18" charset="2"/>
                      </a:rPr>
                      <m:t>𝑝</m:t>
                    </m:r>
                  </m:oMath>
                </a14:m>
                <a:r>
                  <a:rPr lang="en-US" dirty="0">
                    <a:solidFill>
                      <a:srgbClr val="FF0000"/>
                    </a:solidFill>
                    <a:sym typeface="Symbol" pitchFamily="18" charset="2"/>
                  </a:rPr>
                  <a:t> and </a:t>
                </a:r>
                <a14:m>
                  <m:oMath xmlns:m="http://schemas.openxmlformats.org/officeDocument/2006/math">
                    <m:r>
                      <a:rPr lang="en-US" i="1" dirty="0" smtClean="0">
                        <a:solidFill>
                          <a:srgbClr val="FF0000"/>
                        </a:solidFill>
                        <a:latin typeface="Cambria Math"/>
                        <a:sym typeface="Symbol" pitchFamily="18" charset="2"/>
                      </a:rPr>
                      <m:t>𝑞</m:t>
                    </m:r>
                  </m:oMath>
                </a14:m>
                <a:r>
                  <a:rPr lang="en-US" dirty="0">
                    <a:sym typeface="Symbol" pitchFamily="18" charset="2"/>
                  </a:rPr>
                  <a:t>”</a:t>
                </a:r>
              </a:p>
              <a:p>
                <a:pPr lvl="1" algn="just">
                  <a:spcBef>
                    <a:spcPct val="50000"/>
                  </a:spcBef>
                </a:pPr>
                <a:r>
                  <a:rPr lang="en-US" dirty="0">
                    <a:sym typeface="Symbol" pitchFamily="18" charset="2"/>
                  </a:rPr>
                  <a:t>Proposition is true when both p and q are true, false otherwise </a:t>
                </a:r>
              </a:p>
              <a:p>
                <a:pPr algn="just">
                  <a:spcBef>
                    <a:spcPct val="50000"/>
                  </a:spcBef>
                </a:pPr>
                <a:r>
                  <a:rPr lang="en-US" dirty="0"/>
                  <a:t>Disjunction </a:t>
                </a:r>
              </a:p>
              <a:p>
                <a:pPr lvl="1" algn="just">
                  <a:spcBef>
                    <a:spcPct val="50000"/>
                  </a:spcBef>
                </a:pPr>
                <a14:m>
                  <m:oMath xmlns:m="http://schemas.openxmlformats.org/officeDocument/2006/math">
                    <m:r>
                      <a:rPr lang="en-US" i="1" dirty="0" smtClean="0">
                        <a:solidFill>
                          <a:srgbClr val="FF0000"/>
                        </a:solidFill>
                        <a:latin typeface="Cambria Math"/>
                      </a:rPr>
                      <m:t>𝑝</m:t>
                    </m:r>
                    <m:r>
                      <a:rPr lang="en-US" i="1" dirty="0" smtClean="0">
                        <a:solidFill>
                          <a:srgbClr val="FF0000"/>
                        </a:solidFill>
                        <a:latin typeface="Cambria Math"/>
                        <a:ea typeface="Cambria Math"/>
                        <a:sym typeface="Symbol" pitchFamily="18" charset="2"/>
                      </a:rPr>
                      <m:t>∨</m:t>
                    </m:r>
                    <m:r>
                      <a:rPr lang="en-US" i="1" dirty="0" err="1" smtClean="0">
                        <a:solidFill>
                          <a:srgbClr val="FF0000"/>
                        </a:solidFill>
                        <a:latin typeface="Cambria Math"/>
                        <a:sym typeface="Symbol" pitchFamily="18" charset="2"/>
                      </a:rPr>
                      <m:t>𝑞</m:t>
                    </m:r>
                  </m:oMath>
                </a14:m>
                <a:r>
                  <a:rPr lang="en-US" dirty="0">
                    <a:solidFill>
                      <a:srgbClr val="FF0000"/>
                    </a:solidFill>
                    <a:sym typeface="Symbol" pitchFamily="18" charset="2"/>
                  </a:rPr>
                  <a:t> </a:t>
                </a:r>
                <a:r>
                  <a:rPr lang="en-US" dirty="0"/>
                  <a:t>is the propositional notation</a:t>
                </a:r>
                <a:r>
                  <a:rPr lang="en-US" dirty="0">
                    <a:sym typeface="Symbol" pitchFamily="18" charset="2"/>
                  </a:rPr>
                  <a:t>, read as “</a:t>
                </a:r>
                <a14:m>
                  <m:oMath xmlns:m="http://schemas.openxmlformats.org/officeDocument/2006/math">
                    <m:r>
                      <a:rPr lang="en-US" i="1" dirty="0">
                        <a:solidFill>
                          <a:srgbClr val="FF0000"/>
                        </a:solidFill>
                        <a:latin typeface="Cambria Math"/>
                        <a:sym typeface="Symbol" pitchFamily="18" charset="2"/>
                      </a:rPr>
                      <m:t>𝑝</m:t>
                    </m:r>
                  </m:oMath>
                </a14:m>
                <a:r>
                  <a:rPr lang="en-US" dirty="0">
                    <a:solidFill>
                      <a:srgbClr val="FF0000"/>
                    </a:solidFill>
                    <a:sym typeface="Symbol" pitchFamily="18" charset="2"/>
                  </a:rPr>
                  <a:t> or </a:t>
                </a:r>
                <a14:m>
                  <m:oMath xmlns:m="http://schemas.openxmlformats.org/officeDocument/2006/math">
                    <m:r>
                      <a:rPr lang="en-US" i="1" dirty="0">
                        <a:solidFill>
                          <a:srgbClr val="FF0000"/>
                        </a:solidFill>
                        <a:latin typeface="Cambria Math"/>
                        <a:sym typeface="Symbol" pitchFamily="18" charset="2"/>
                      </a:rPr>
                      <m:t>𝑞</m:t>
                    </m:r>
                  </m:oMath>
                </a14:m>
                <a:r>
                  <a:rPr lang="en-US" dirty="0">
                    <a:sym typeface="Symbol" pitchFamily="18" charset="2"/>
                  </a:rPr>
                  <a:t>” </a:t>
                </a:r>
              </a:p>
              <a:p>
                <a:pPr lvl="1" algn="just">
                  <a:spcBef>
                    <a:spcPct val="50000"/>
                  </a:spcBef>
                </a:pPr>
                <a:r>
                  <a:rPr lang="en-US" dirty="0">
                    <a:sym typeface="Symbol" pitchFamily="18" charset="2"/>
                  </a:rPr>
                  <a:t>Proposition is true when both p and q are false, true otherwise </a:t>
                </a:r>
              </a:p>
              <a:p>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r="-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845533" y="1270002"/>
                <a:ext cx="3508204" cy="400110"/>
              </a:xfrm>
              <a:prstGeom prst="rect">
                <a:avLst/>
              </a:prstGeom>
              <a:noFill/>
            </p:spPr>
            <p:txBody>
              <a:bodyPr wrap="none" rtlCol="0">
                <a:spAutoFit/>
              </a:bodyPr>
              <a:lstStyle/>
              <a:p>
                <a:r>
                  <a:rPr lang="en-US" sz="2000" dirty="0">
                    <a:latin typeface="Tahoma" pitchFamily="34" charset="0"/>
                    <a:ea typeface="Tahoma" pitchFamily="34" charset="0"/>
                    <a:cs typeface="Tahoma" pitchFamily="34" charset="0"/>
                  </a:rPr>
                  <a:t>Let </a:t>
                </a:r>
                <a14:m>
                  <m:oMath xmlns:m="http://schemas.openxmlformats.org/officeDocument/2006/math">
                    <m:r>
                      <a:rPr lang="en-US" sz="2000" i="1" dirty="0" smtClean="0">
                        <a:solidFill>
                          <a:srgbClr val="FF0000"/>
                        </a:solidFill>
                        <a:latin typeface="Cambria Math"/>
                        <a:ea typeface="Tahoma" pitchFamily="34" charset="0"/>
                        <a:cs typeface="Tahoma" pitchFamily="34" charset="0"/>
                      </a:rPr>
                      <m:t>𝑝</m:t>
                    </m:r>
                  </m:oMath>
                </a14:m>
                <a:r>
                  <a:rPr lang="en-US" sz="2000" dirty="0">
                    <a:latin typeface="Tahoma" pitchFamily="34" charset="0"/>
                    <a:ea typeface="Tahoma" pitchFamily="34" charset="0"/>
                    <a:cs typeface="Tahoma" pitchFamily="34" charset="0"/>
                  </a:rPr>
                  <a:t> and </a:t>
                </a:r>
                <a14:m>
                  <m:oMath xmlns:m="http://schemas.openxmlformats.org/officeDocument/2006/math">
                    <m:r>
                      <a:rPr lang="en-US" sz="2000" i="1" dirty="0" smtClean="0">
                        <a:solidFill>
                          <a:srgbClr val="FF0000"/>
                        </a:solidFill>
                        <a:latin typeface="Cambria Math"/>
                        <a:ea typeface="Tahoma" pitchFamily="34" charset="0"/>
                        <a:cs typeface="Tahoma" pitchFamily="34" charset="0"/>
                      </a:rPr>
                      <m:t>𝑞</m:t>
                    </m:r>
                  </m:oMath>
                </a14:m>
                <a:r>
                  <a:rPr lang="en-US" sz="2000" dirty="0">
                    <a:latin typeface="Tahoma" pitchFamily="34" charset="0"/>
                    <a:ea typeface="Tahoma" pitchFamily="34" charset="0"/>
                    <a:cs typeface="Tahoma" pitchFamily="34" charset="0"/>
                  </a:rPr>
                  <a:t> be 2 propositions</a:t>
                </a:r>
              </a:p>
            </p:txBody>
          </p:sp>
        </mc:Choice>
        <mc:Fallback xmlns="">
          <p:sp>
            <p:nvSpPr>
              <p:cNvPr id="6" name="TextBox 5"/>
              <p:cNvSpPr txBox="1">
                <a:spLocks noRot="1" noChangeAspect="1" noMove="1" noResize="1" noEditPoints="1" noAdjustHandles="1" noChangeArrowheads="1" noChangeShapeType="1" noTextEdit="1"/>
              </p:cNvSpPr>
              <p:nvPr/>
            </p:nvSpPr>
            <p:spPr>
              <a:xfrm>
                <a:off x="2845533" y="1270002"/>
                <a:ext cx="3508204" cy="400110"/>
              </a:xfrm>
              <a:prstGeom prst="rect">
                <a:avLst/>
              </a:prstGeom>
              <a:blipFill>
                <a:blip r:embed="rId3"/>
                <a:stretch>
                  <a:fillRect l="-1913" t="-7576" r="-1391" b="-25758"/>
                </a:stretch>
              </a:blipFill>
            </p:spPr>
            <p:txBody>
              <a:bodyPr/>
              <a:lstStyle/>
              <a:p>
                <a:r>
                  <a:rPr lang="en-US">
                    <a:noFill/>
                  </a:rPr>
                  <a:t> </a:t>
                </a:r>
              </a:p>
            </p:txBody>
          </p:sp>
        </mc:Fallback>
      </mc:AlternateContent>
    </p:spTree>
    <p:extLst>
      <p:ext uri="{BB962C8B-B14F-4D97-AF65-F5344CB8AC3E}">
        <p14:creationId xmlns:p14="http://schemas.microsoft.com/office/powerpoint/2010/main" val="2376603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Mathematical operations of </a:t>
            </a:r>
            <a:br>
              <a:rPr lang="en-US" dirty="0"/>
            </a:br>
            <a:r>
              <a:rPr lang="en-US" dirty="0"/>
              <a:t>propositional logic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pPr algn="just">
                  <a:spcBef>
                    <a:spcPct val="50000"/>
                  </a:spcBef>
                </a:pPr>
                <a:r>
                  <a:rPr lang="en-US" dirty="0"/>
                  <a:t>Exclusive-OR</a:t>
                </a:r>
                <a:endParaRPr lang="en-US" b="1" dirty="0"/>
              </a:p>
              <a:p>
                <a:pPr lvl="1" algn="just">
                  <a:spcBef>
                    <a:spcPct val="50000"/>
                  </a:spcBef>
                </a:pPr>
                <a14:m>
                  <m:oMath xmlns:m="http://schemas.openxmlformats.org/officeDocument/2006/math">
                    <m:r>
                      <a:rPr lang="en-US" i="1" dirty="0" smtClean="0">
                        <a:solidFill>
                          <a:srgbClr val="FF0000"/>
                        </a:solidFill>
                        <a:latin typeface="Cambria Math"/>
                      </a:rPr>
                      <m:t>𝑝</m:t>
                    </m:r>
                    <m:r>
                      <a:rPr lang="en-US" i="1" dirty="0" smtClean="0">
                        <a:solidFill>
                          <a:srgbClr val="FF0000"/>
                        </a:solidFill>
                        <a:latin typeface="Cambria Math"/>
                        <a:ea typeface="Cambria Math"/>
                        <a:sym typeface="Symbol" pitchFamily="18" charset="2"/>
                      </a:rPr>
                      <m:t>⨁</m:t>
                    </m:r>
                    <m:r>
                      <a:rPr lang="en-US" i="1" dirty="0" err="1">
                        <a:solidFill>
                          <a:srgbClr val="FF0000"/>
                        </a:solidFill>
                        <a:latin typeface="Cambria Math"/>
                        <a:sym typeface="Symbol" pitchFamily="18" charset="2"/>
                      </a:rPr>
                      <m:t>𝑞</m:t>
                    </m:r>
                  </m:oMath>
                </a14:m>
                <a:r>
                  <a:rPr lang="en-US" dirty="0">
                    <a:solidFill>
                      <a:srgbClr val="FF0000"/>
                    </a:solidFill>
                  </a:rPr>
                  <a:t> </a:t>
                </a:r>
                <a:r>
                  <a:rPr lang="en-US" dirty="0"/>
                  <a:t>is the propositional notation, read as “</a:t>
                </a:r>
                <a14:m>
                  <m:oMath xmlns:m="http://schemas.openxmlformats.org/officeDocument/2006/math">
                    <m:r>
                      <m:rPr>
                        <m:sty m:val="p"/>
                      </m:rPr>
                      <a:rPr lang="en-US" dirty="0">
                        <a:solidFill>
                          <a:srgbClr val="FF0000"/>
                        </a:solidFill>
                        <a:latin typeface="Cambria Math" panose="02040503050406030204" pitchFamily="18" charset="0"/>
                        <a:sym typeface="Symbol" pitchFamily="18" charset="2"/>
                      </a:rPr>
                      <m:t>o</m:t>
                    </m:r>
                    <m:r>
                      <m:rPr>
                        <m:sty m:val="p"/>
                      </m:rPr>
                      <a:rPr lang="en-US" b="0" i="0" dirty="0" smtClean="0">
                        <a:solidFill>
                          <a:srgbClr val="FF0000"/>
                        </a:solidFill>
                        <a:latin typeface="Cambria Math" panose="02040503050406030204" pitchFamily="18" charset="0"/>
                        <a:sym typeface="Symbol" pitchFamily="18" charset="2"/>
                      </a:rPr>
                      <m:t>r</m:t>
                    </m:r>
                    <m:r>
                      <a:rPr lang="en-US" b="0" i="1" dirty="0" smtClean="0">
                        <a:solidFill>
                          <a:srgbClr val="FF0000"/>
                        </a:solidFill>
                        <a:latin typeface="Cambria Math"/>
                        <a:sym typeface="Symbol" pitchFamily="18" charset="2"/>
                      </a:rPr>
                      <m:t> </m:t>
                    </m:r>
                    <m:r>
                      <a:rPr lang="en-US" i="1" dirty="0">
                        <a:solidFill>
                          <a:srgbClr val="FF0000"/>
                        </a:solidFill>
                        <a:latin typeface="Cambria Math"/>
                        <a:sym typeface="Symbol" pitchFamily="18" charset="2"/>
                      </a:rPr>
                      <m:t>𝑝</m:t>
                    </m:r>
                    <m:r>
                      <a:rPr lang="en-US" b="0" i="0" dirty="0" smtClean="0">
                        <a:solidFill>
                          <a:srgbClr val="FF0000"/>
                        </a:solidFill>
                        <a:latin typeface="Cambria Math"/>
                        <a:sym typeface="Symbol" pitchFamily="18" charset="2"/>
                      </a:rPr>
                      <m:t> </m:t>
                    </m:r>
                    <m:r>
                      <a:rPr lang="en-US" b="0" i="1" dirty="0" smtClean="0">
                        <a:solidFill>
                          <a:srgbClr val="FF0000"/>
                        </a:solidFill>
                        <a:latin typeface="Cambria Math" panose="02040503050406030204" pitchFamily="18" charset="0"/>
                        <a:sym typeface="Symbol" pitchFamily="18" charset="2"/>
                      </a:rPr>
                      <m:t>𝑜𝑟</m:t>
                    </m:r>
                    <m:r>
                      <a:rPr lang="en-US" b="0" i="1" dirty="0" smtClean="0">
                        <a:solidFill>
                          <a:srgbClr val="FF0000"/>
                        </a:solidFill>
                        <a:latin typeface="Cambria Math" panose="02040503050406030204" pitchFamily="18" charset="0"/>
                        <a:sym typeface="Symbol" pitchFamily="18" charset="2"/>
                      </a:rPr>
                      <m:t> </m:t>
                    </m:r>
                    <m:r>
                      <a:rPr lang="en-US" i="1" dirty="0">
                        <a:solidFill>
                          <a:srgbClr val="FF0000"/>
                        </a:solidFill>
                        <a:latin typeface="Cambria Math"/>
                        <a:sym typeface="Symbol" pitchFamily="18" charset="2"/>
                      </a:rPr>
                      <m:t>𝑞</m:t>
                    </m:r>
                  </m:oMath>
                </a14:m>
                <a:r>
                  <a:rPr lang="en-US" dirty="0"/>
                  <a:t>”</a:t>
                </a:r>
              </a:p>
              <a:p>
                <a:pPr lvl="1" algn="just">
                  <a:spcBef>
                    <a:spcPct val="50000"/>
                  </a:spcBef>
                </a:pPr>
                <a:r>
                  <a:rPr lang="en-US" dirty="0">
                    <a:sym typeface="Symbol" pitchFamily="18" charset="2"/>
                  </a:rPr>
                  <a:t>Proposition is true when p or q is true, false in other cases.</a:t>
                </a:r>
                <a:endParaRPr lang="en-US" dirty="0"/>
              </a:p>
              <a:p>
                <a:pPr algn="just">
                  <a:spcBef>
                    <a:spcPct val="50000"/>
                  </a:spcBef>
                </a:pPr>
                <a:r>
                  <a:rPr lang="en-US" dirty="0"/>
                  <a:t>Material implication</a:t>
                </a:r>
                <a:endParaRPr lang="en-US" b="1" dirty="0"/>
              </a:p>
              <a:p>
                <a:pPr lvl="1" algn="just">
                  <a:spcBef>
                    <a:spcPct val="50000"/>
                  </a:spcBef>
                </a:pPr>
                <a14:m>
                  <m:oMath xmlns:m="http://schemas.openxmlformats.org/officeDocument/2006/math">
                    <m:r>
                      <a:rPr lang="en-US" b="0" i="1" smtClean="0">
                        <a:solidFill>
                          <a:srgbClr val="FF0000"/>
                        </a:solidFill>
                        <a:latin typeface="Cambria Math"/>
                        <a:sym typeface="Symbol" pitchFamily="18" charset="2"/>
                      </a:rPr>
                      <m:t>𝑝</m:t>
                    </m:r>
                    <m:r>
                      <a:rPr lang="en-US" b="0" i="1" smtClean="0">
                        <a:solidFill>
                          <a:srgbClr val="FF0000"/>
                        </a:solidFill>
                        <a:latin typeface="Cambria Math"/>
                        <a:ea typeface="Cambria Math"/>
                        <a:sym typeface="Symbol" pitchFamily="18" charset="2"/>
                      </a:rPr>
                      <m:t>⇒</m:t>
                    </m:r>
                    <m:r>
                      <a:rPr lang="en-US" b="0" i="1" smtClean="0">
                        <a:solidFill>
                          <a:srgbClr val="FF0000"/>
                        </a:solidFill>
                        <a:latin typeface="Cambria Math"/>
                        <a:ea typeface="Cambria Math"/>
                        <a:sym typeface="Symbol" pitchFamily="18" charset="2"/>
                      </a:rPr>
                      <m:t>𝑞</m:t>
                    </m:r>
                  </m:oMath>
                </a14:m>
                <a:r>
                  <a:rPr lang="en-US" i="1" dirty="0">
                    <a:solidFill>
                      <a:srgbClr val="FF0000"/>
                    </a:solidFill>
                    <a:sym typeface="Symbol" pitchFamily="18" charset="2"/>
                  </a:rPr>
                  <a:t> </a:t>
                </a:r>
                <a:r>
                  <a:rPr lang="en-US" dirty="0"/>
                  <a:t>is the propositional notation, read as </a:t>
                </a:r>
                <a:r>
                  <a:rPr lang="en-US" dirty="0">
                    <a:sym typeface="Symbol" pitchFamily="18" charset="2"/>
                  </a:rPr>
                  <a:t>“</a:t>
                </a:r>
                <a14:m>
                  <m:oMath xmlns:m="http://schemas.openxmlformats.org/officeDocument/2006/math">
                    <m:r>
                      <a:rPr lang="en-US" i="1" dirty="0">
                        <a:solidFill>
                          <a:srgbClr val="FF0000"/>
                        </a:solidFill>
                        <a:latin typeface="Cambria Math"/>
                        <a:sym typeface="Symbol" pitchFamily="18" charset="2"/>
                      </a:rPr>
                      <m:t>𝑝</m:t>
                    </m:r>
                    <m:r>
                      <a:rPr lang="en-US" b="0" i="0" dirty="0" smtClean="0">
                        <a:solidFill>
                          <a:srgbClr val="FF0000"/>
                        </a:solidFill>
                        <a:latin typeface="Cambria Math" panose="02040503050406030204" pitchFamily="18" charset="0"/>
                        <a:sym typeface="Symbol" pitchFamily="18" charset="2"/>
                      </a:rPr>
                      <m:t> </m:t>
                    </m:r>
                    <m:r>
                      <m:rPr>
                        <m:sty m:val="p"/>
                      </m:rPr>
                      <a:rPr lang="en-US" b="0" i="0" dirty="0" smtClean="0">
                        <a:solidFill>
                          <a:srgbClr val="FF0000"/>
                        </a:solidFill>
                        <a:latin typeface="Cambria Math" panose="02040503050406030204" pitchFamily="18" charset="0"/>
                        <a:sym typeface="Symbol" pitchFamily="18" charset="2"/>
                      </a:rPr>
                      <m:t>implies</m:t>
                    </m:r>
                  </m:oMath>
                </a14:m>
                <a:r>
                  <a:rPr lang="en-US" dirty="0">
                    <a:solidFill>
                      <a:srgbClr val="FF0000"/>
                    </a:solidFill>
                    <a:sym typeface="Symbol" pitchFamily="18" charset="2"/>
                  </a:rPr>
                  <a:t> </a:t>
                </a:r>
                <a14:m>
                  <m:oMath xmlns:m="http://schemas.openxmlformats.org/officeDocument/2006/math">
                    <m:r>
                      <a:rPr lang="en-US" i="1" dirty="0">
                        <a:solidFill>
                          <a:srgbClr val="FF0000"/>
                        </a:solidFill>
                        <a:latin typeface="Cambria Math"/>
                        <a:sym typeface="Symbol" pitchFamily="18" charset="2"/>
                      </a:rPr>
                      <m:t>𝑞</m:t>
                    </m:r>
                  </m:oMath>
                </a14:m>
                <a:r>
                  <a:rPr lang="en-US" dirty="0">
                    <a:sym typeface="Symbol" pitchFamily="18" charset="2"/>
                  </a:rPr>
                  <a:t>”</a:t>
                </a:r>
              </a:p>
              <a:p>
                <a:pPr lvl="1" algn="just">
                  <a:spcBef>
                    <a:spcPct val="50000"/>
                  </a:spcBef>
                </a:pPr>
                <a:r>
                  <a:rPr lang="en-US" dirty="0">
                    <a:sym typeface="Symbol" pitchFamily="18" charset="2"/>
                  </a:rPr>
                  <a:t>Proposition is false when p is true and q is false, true in other cases.</a:t>
                </a:r>
              </a:p>
              <a:p>
                <a:pPr algn="just">
                  <a:spcBef>
                    <a:spcPct val="50000"/>
                  </a:spcBef>
                </a:pPr>
                <a:r>
                  <a:rPr lang="en-US" dirty="0"/>
                  <a:t>Biconditional</a:t>
                </a:r>
              </a:p>
              <a:p>
                <a:pPr lvl="1" algn="just">
                  <a:spcBef>
                    <a:spcPct val="50000"/>
                  </a:spcBef>
                </a:pPr>
                <a14:m>
                  <m:oMath xmlns:m="http://schemas.openxmlformats.org/officeDocument/2006/math">
                    <m:r>
                      <a:rPr lang="en-US" i="1">
                        <a:solidFill>
                          <a:srgbClr val="FF0000"/>
                        </a:solidFill>
                        <a:latin typeface="Cambria Math"/>
                        <a:sym typeface="Symbol" pitchFamily="18" charset="2"/>
                      </a:rPr>
                      <m:t>𝑝</m:t>
                    </m:r>
                    <m:r>
                      <a:rPr lang="en-US" i="1" smtClean="0">
                        <a:solidFill>
                          <a:srgbClr val="FF0000"/>
                        </a:solidFill>
                        <a:latin typeface="Cambria Math"/>
                        <a:ea typeface="Cambria Math"/>
                        <a:sym typeface="Symbol" pitchFamily="18" charset="2"/>
                      </a:rPr>
                      <m:t>⇔</m:t>
                    </m:r>
                    <m:r>
                      <a:rPr lang="en-US" i="1">
                        <a:solidFill>
                          <a:srgbClr val="FF0000"/>
                        </a:solidFill>
                        <a:latin typeface="Cambria Math"/>
                        <a:ea typeface="Cambria Math"/>
                        <a:sym typeface="Symbol" pitchFamily="18" charset="2"/>
                      </a:rPr>
                      <m:t>𝑞</m:t>
                    </m:r>
                  </m:oMath>
                </a14:m>
                <a:r>
                  <a:rPr lang="en-US" i="1" dirty="0">
                    <a:solidFill>
                      <a:srgbClr val="FF0000"/>
                    </a:solidFill>
                    <a:sym typeface="Symbol" pitchFamily="18" charset="2"/>
                  </a:rPr>
                  <a:t> </a:t>
                </a:r>
                <a:r>
                  <a:rPr lang="en-US" dirty="0"/>
                  <a:t>is the propositional notation, read as </a:t>
                </a:r>
                <a:r>
                  <a:rPr lang="en-US" dirty="0">
                    <a:sym typeface="Symbol" pitchFamily="18" charset="2"/>
                  </a:rPr>
                  <a:t>“</a:t>
                </a:r>
                <a14:m>
                  <m:oMath xmlns:m="http://schemas.openxmlformats.org/officeDocument/2006/math">
                    <m:r>
                      <a:rPr lang="en-US" i="1" dirty="0">
                        <a:solidFill>
                          <a:srgbClr val="FF0000"/>
                        </a:solidFill>
                        <a:latin typeface="Cambria Math"/>
                        <a:sym typeface="Symbol" pitchFamily="18" charset="2"/>
                      </a:rPr>
                      <m:t>𝑝</m:t>
                    </m:r>
                  </m:oMath>
                </a14:m>
                <a:r>
                  <a:rPr lang="en-US" dirty="0">
                    <a:solidFill>
                      <a:srgbClr val="FF0000"/>
                    </a:solidFill>
                    <a:sym typeface="Symbol" pitchFamily="18" charset="2"/>
                  </a:rPr>
                  <a:t> </a:t>
                </a:r>
                <a14:m>
                  <m:oMath xmlns:m="http://schemas.openxmlformats.org/officeDocument/2006/math">
                    <m:r>
                      <m:rPr>
                        <m:sty m:val="p"/>
                      </m:rPr>
                      <a:rPr lang="en-US" b="0" i="0" dirty="0" smtClean="0">
                        <a:solidFill>
                          <a:srgbClr val="FF0000"/>
                        </a:solidFill>
                        <a:latin typeface="Cambria Math" panose="02040503050406030204" pitchFamily="18" charset="0"/>
                        <a:sym typeface="Symbol" pitchFamily="18" charset="2"/>
                      </a:rPr>
                      <m:t>equal</m:t>
                    </m:r>
                    <m:r>
                      <a:rPr lang="en-US" b="0" i="0" dirty="0" smtClean="0">
                        <a:solidFill>
                          <a:srgbClr val="FF0000"/>
                        </a:solidFill>
                        <a:latin typeface="Cambria Math" panose="02040503050406030204" pitchFamily="18" charset="0"/>
                        <a:sym typeface="Symbol" pitchFamily="18" charset="2"/>
                      </a:rPr>
                      <m:t> </m:t>
                    </m:r>
                    <m:r>
                      <a:rPr lang="en-US" i="1" dirty="0">
                        <a:solidFill>
                          <a:srgbClr val="FF0000"/>
                        </a:solidFill>
                        <a:latin typeface="Cambria Math"/>
                        <a:sym typeface="Symbol" pitchFamily="18" charset="2"/>
                      </a:rPr>
                      <m:t>𝑞</m:t>
                    </m:r>
                  </m:oMath>
                </a14:m>
                <a:r>
                  <a:rPr lang="en-US" dirty="0">
                    <a:sym typeface="Symbol" pitchFamily="18" charset="2"/>
                  </a:rPr>
                  <a:t>”</a:t>
                </a:r>
              </a:p>
              <a:p>
                <a:pPr lvl="1" algn="just">
                  <a:spcBef>
                    <a:spcPct val="50000"/>
                  </a:spcBef>
                </a:pPr>
                <a:r>
                  <a:rPr lang="en-US" dirty="0">
                    <a:sym typeface="Symbol" pitchFamily="18" charset="2"/>
                  </a:rPr>
                  <a:t>Proposition is true when p and q have the same truth value, false in all other cases.</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741" b="-1605"/>
                </a:stretch>
              </a:blipFill>
            </p:spPr>
            <p:txBody>
              <a:bodyPr/>
              <a:lstStyle/>
              <a:p>
                <a:r>
                  <a:rPr lang="en-US">
                    <a:noFill/>
                  </a:rPr>
                  <a:t> </a:t>
                </a:r>
              </a:p>
            </p:txBody>
          </p:sp>
        </mc:Fallback>
      </mc:AlternateContent>
    </p:spTree>
    <p:extLst>
      <p:ext uri="{BB962C8B-B14F-4D97-AF65-F5344CB8AC3E}">
        <p14:creationId xmlns:p14="http://schemas.microsoft.com/office/powerpoint/2010/main" val="1985323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Truth table</a:t>
            </a:r>
          </a:p>
        </p:txBody>
      </p:sp>
      <p:sp>
        <p:nvSpPr>
          <p:cNvPr id="3" name="Footer Placeholder 2"/>
          <p:cNvSpPr>
            <a:spLocks noGrp="1"/>
          </p:cNvSpPr>
          <p:nvPr>
            <p:ph type="ftr" sz="quarter" idx="11"/>
          </p:nvPr>
        </p:nvSpPr>
        <p:spPr/>
        <p:txBody>
          <a:bodyPr/>
          <a:lstStyle/>
          <a:p>
            <a:r>
              <a:rPr lang="en-US" dirty="0"/>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mc:AlternateContent xmlns:mc="http://schemas.openxmlformats.org/markup-compatibility/2006" xmlns:a14="http://schemas.microsoft.com/office/drawing/2010/main">
        <mc:Choice Requires="a14">
          <p:graphicFrame>
            <p:nvGraphicFramePr>
              <p:cNvPr id="6" name="Group 208"/>
              <p:cNvGraphicFramePr>
                <a:graphicFrameLocks noGrp="1"/>
              </p:cNvGraphicFramePr>
              <p:nvPr>
                <p:extLst>
                  <p:ext uri="{D42A27DB-BD31-4B8C-83A1-F6EECF244321}">
                    <p14:modId xmlns:p14="http://schemas.microsoft.com/office/powerpoint/2010/main" val="418606732"/>
                  </p:ext>
                </p:extLst>
              </p:nvPr>
            </p:nvGraphicFramePr>
            <p:xfrm>
              <a:off x="457200" y="1676400"/>
              <a:ext cx="8229600" cy="2655254"/>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146050">
                    <a:tc gridSpan="8">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ahoma" pitchFamily="34" charset="0"/>
                              <a:ea typeface="Tahoma" pitchFamily="34" charset="0"/>
                              <a:cs typeface="Tahoma" pitchFamily="34" charset="0"/>
                            </a:rPr>
                            <a:t>Truth table for mathematical operations of propositional logic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45243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Para xmlns:m="http://schemas.openxmlformats.org/officeDocument/2006/math">
                              <m:oMathParaPr>
                                <m:jc m:val="centerGroup"/>
                              </m:oMathParaPr>
                              <m:oMath xmlns:m="http://schemas.openxmlformats.org/officeDocument/2006/math">
                                <m:r>
                                  <a:rPr kumimoji="0" lang="en-US" sz="2000" b="0" i="1" u="none" strike="noStrike" cap="none" normalizeH="0" baseline="0" dirty="0" smtClean="0">
                                    <a:ln>
                                      <a:noFill/>
                                    </a:ln>
                                    <a:solidFill>
                                      <a:srgbClr val="FF0000"/>
                                    </a:solidFill>
                                    <a:effectLst/>
                                    <a:latin typeface="Cambria Math"/>
                                  </a:rPr>
                                  <m:t>𝑝</m:t>
                                </m:r>
                              </m:oMath>
                            </m:oMathPara>
                          </a14:m>
                          <a:endParaRPr kumimoji="0" lang="en-US" sz="2000" b="0" i="0" u="none" strike="noStrike" cap="none" normalizeH="0" baseline="0" dirty="0">
                            <a:ln>
                              <a:noFill/>
                            </a:ln>
                            <a:solidFill>
                              <a:srgbClr val="FF000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Para xmlns:m="http://schemas.openxmlformats.org/officeDocument/2006/math">
                              <m:oMathParaPr>
                                <m:jc m:val="centerGroup"/>
                              </m:oMathParaPr>
                              <m:oMath xmlns:m="http://schemas.openxmlformats.org/officeDocument/2006/math">
                                <m:r>
                                  <a:rPr kumimoji="0" lang="en-US" sz="2000" b="0" i="1" u="none" strike="noStrike" cap="none" normalizeH="0" baseline="0" dirty="0" smtClean="0">
                                    <a:ln>
                                      <a:noFill/>
                                    </a:ln>
                                    <a:solidFill>
                                      <a:srgbClr val="FF0000"/>
                                    </a:solidFill>
                                    <a:effectLst/>
                                    <a:latin typeface="Cambria Math"/>
                                  </a:rPr>
                                  <m:t>𝑞</m:t>
                                </m:r>
                              </m:oMath>
                            </m:oMathPara>
                          </a14:m>
                          <a:endParaRPr kumimoji="0" lang="en-US" sz="2000" b="0" i="0" u="none" strike="noStrike" cap="none" normalizeH="0" baseline="0" dirty="0">
                            <a:ln>
                              <a:noFill/>
                            </a:ln>
                            <a:solidFill>
                              <a:srgbClr val="FF000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Para xmlns:m="http://schemas.openxmlformats.org/officeDocument/2006/math">
                              <m:oMathParaPr>
                                <m:jc m:val="centerGroup"/>
                              </m:oMathParaPr>
                              <m:oMath xmlns:m="http://schemas.openxmlformats.org/officeDocument/2006/math">
                                <m:r>
                                  <a:rPr lang="en-US" sz="2000" i="1" smtClean="0">
                                    <a:solidFill>
                                      <a:srgbClr val="FF0000"/>
                                    </a:solidFill>
                                    <a:latin typeface="Cambria Math"/>
                                    <a:ea typeface="Cambria Math"/>
                                  </a:rPr>
                                  <m:t>¬</m:t>
                                </m:r>
                                <m:r>
                                  <a:rPr lang="en-US" sz="2000" b="0" i="1" smtClean="0">
                                    <a:solidFill>
                                      <a:srgbClr val="FF0000"/>
                                    </a:solidFill>
                                    <a:latin typeface="Cambria Math"/>
                                    <a:ea typeface="Cambria Math"/>
                                  </a:rPr>
                                  <m:t>𝑝</m:t>
                                </m:r>
                                <m:r>
                                  <a:rPr lang="en-US" sz="2000" b="0" i="1" smtClean="0">
                                    <a:latin typeface="Cambria Math"/>
                                    <a:ea typeface="Cambria Math"/>
                                  </a:rPr>
                                  <m:t> </m:t>
                                </m:r>
                              </m:oMath>
                            </m:oMathPara>
                          </a14:m>
                          <a:endParaRPr kumimoji="0" lang="en-US" sz="2000" b="0" i="0" u="none" strike="noStrike" cap="none" normalizeH="0" baseline="0" dirty="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 xmlns:m="http://schemas.openxmlformats.org/officeDocument/2006/math">
                              <m:r>
                                <a:rPr lang="en-US" sz="2000" i="1" dirty="0" smtClean="0">
                                  <a:solidFill>
                                    <a:srgbClr val="FF0000"/>
                                  </a:solidFill>
                                  <a:latin typeface="Cambria Math"/>
                                </a:rPr>
                                <m:t>𝑝</m:t>
                              </m:r>
                              <m:r>
                                <a:rPr lang="en-US" sz="2000" i="1" dirty="0" smtClean="0">
                                  <a:solidFill>
                                    <a:srgbClr val="FF0000"/>
                                  </a:solidFill>
                                  <a:latin typeface="Cambria Math"/>
                                </a:rPr>
                                <m:t>∧</m:t>
                              </m:r>
                              <m:r>
                                <a:rPr lang="en-US" sz="2000" i="1" dirty="0" smtClean="0">
                                  <a:solidFill>
                                    <a:srgbClr val="FF0000"/>
                                  </a:solidFill>
                                  <a:latin typeface="Cambria Math"/>
                                  <a:sym typeface="Symbol" pitchFamily="18" charset="2"/>
                                </a:rPr>
                                <m:t>𝑞</m:t>
                              </m:r>
                            </m:oMath>
                          </a14:m>
                          <a:r>
                            <a:rPr lang="en-US" sz="2000" dirty="0">
                              <a:sym typeface="Symbol" pitchFamily="18" charset="2"/>
                            </a:rPr>
                            <a:t> </a:t>
                          </a:r>
                          <a:endParaRPr kumimoji="0" lang="en-US" sz="2000" b="0" i="0" u="none" strike="noStrike" cap="none" normalizeH="0" baseline="0" dirty="0">
                            <a:ln>
                              <a:noFill/>
                            </a:ln>
                            <a:solidFill>
                              <a:srgbClr val="404040"/>
                            </a:solidFill>
                            <a:effectLst/>
                            <a:latin typeface="Trebuchet MS" pitchFamily="34" charset="0"/>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Para xmlns:m="http://schemas.openxmlformats.org/officeDocument/2006/math">
                              <m:oMathParaPr>
                                <m:jc m:val="centerGroup"/>
                              </m:oMathParaPr>
                              <m:oMath xmlns:m="http://schemas.openxmlformats.org/officeDocument/2006/math">
                                <m:r>
                                  <a:rPr lang="en-US" sz="2000" i="1" dirty="0" smtClean="0">
                                    <a:solidFill>
                                      <a:srgbClr val="FF0000"/>
                                    </a:solidFill>
                                    <a:latin typeface="Cambria Math"/>
                                  </a:rPr>
                                  <m:t>𝑝</m:t>
                                </m:r>
                                <m:r>
                                  <a:rPr lang="en-US" sz="2000" i="1" dirty="0" smtClean="0">
                                    <a:solidFill>
                                      <a:srgbClr val="FF0000"/>
                                    </a:solidFill>
                                    <a:latin typeface="Cambria Math"/>
                                    <a:ea typeface="Cambria Math"/>
                                    <a:sym typeface="Symbol" pitchFamily="18" charset="2"/>
                                  </a:rPr>
                                  <m:t>∨</m:t>
                                </m:r>
                                <m:r>
                                  <a:rPr lang="en-US" sz="2000" i="1" dirty="0" err="1" smtClean="0">
                                    <a:solidFill>
                                      <a:srgbClr val="FF0000"/>
                                    </a:solidFill>
                                    <a:latin typeface="Cambria Math"/>
                                    <a:sym typeface="Symbol" pitchFamily="18" charset="2"/>
                                  </a:rPr>
                                  <m:t>𝑞</m:t>
                                </m:r>
                              </m:oMath>
                            </m:oMathPara>
                          </a14:m>
                          <a:endParaRPr kumimoji="0" lang="en-US" sz="2000" b="0" i="0" u="none" strike="noStrike" cap="none" normalizeH="0" baseline="0" dirty="0">
                            <a:ln>
                              <a:noFill/>
                            </a:ln>
                            <a:solidFill>
                              <a:srgbClr val="404040"/>
                            </a:solidFill>
                            <a:effectLst/>
                            <a:latin typeface="Trebuchet MS" pitchFamily="34" charset="0"/>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Para xmlns:m="http://schemas.openxmlformats.org/officeDocument/2006/math">
                              <m:oMathParaPr>
                                <m:jc m:val="centerGroup"/>
                              </m:oMathParaPr>
                              <m:oMath xmlns:m="http://schemas.openxmlformats.org/officeDocument/2006/math">
                                <m:r>
                                  <a:rPr lang="en-US" sz="2000" i="1" dirty="0" smtClean="0">
                                    <a:solidFill>
                                      <a:srgbClr val="FF0000"/>
                                    </a:solidFill>
                                    <a:latin typeface="Cambria Math"/>
                                  </a:rPr>
                                  <m:t>𝑝</m:t>
                                </m:r>
                                <m:r>
                                  <a:rPr lang="en-US" sz="2000" i="1" dirty="0" smtClean="0">
                                    <a:solidFill>
                                      <a:srgbClr val="FF0000"/>
                                    </a:solidFill>
                                    <a:latin typeface="Cambria Math"/>
                                    <a:ea typeface="Cambria Math"/>
                                    <a:sym typeface="Symbol" pitchFamily="18" charset="2"/>
                                  </a:rPr>
                                  <m:t>⨁</m:t>
                                </m:r>
                                <m:r>
                                  <a:rPr lang="en-US" sz="2000" i="1" dirty="0" err="1">
                                    <a:solidFill>
                                      <a:srgbClr val="FF0000"/>
                                    </a:solidFill>
                                    <a:latin typeface="Cambria Math"/>
                                    <a:sym typeface="Symbol" pitchFamily="18" charset="2"/>
                                  </a:rPr>
                                  <m:t>𝑞</m:t>
                                </m:r>
                              </m:oMath>
                            </m:oMathPara>
                          </a14:m>
                          <a:endParaRPr kumimoji="0" lang="en-US" sz="2000" b="0" i="0" u="none" strike="noStrike" cap="none" normalizeH="0" baseline="0" dirty="0">
                            <a:ln>
                              <a:noFill/>
                            </a:ln>
                            <a:solidFill>
                              <a:srgbClr val="404040"/>
                            </a:solidFill>
                            <a:effectLst/>
                            <a:latin typeface="Trebuchet MS" pitchFamily="34" charset="0"/>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 xmlns:m="http://schemas.openxmlformats.org/officeDocument/2006/math">
                              <m:r>
                                <a:rPr lang="en-US" sz="2000" b="0" i="1" smtClean="0">
                                  <a:solidFill>
                                    <a:srgbClr val="FF0000"/>
                                  </a:solidFill>
                                  <a:latin typeface="Cambria Math"/>
                                  <a:sym typeface="Symbol" pitchFamily="18" charset="2"/>
                                </a:rPr>
                                <m:t>𝑝</m:t>
                              </m:r>
                              <m:r>
                                <a:rPr lang="en-US" sz="2000" b="0" i="1" smtClean="0">
                                  <a:solidFill>
                                    <a:srgbClr val="FF0000"/>
                                  </a:solidFill>
                                  <a:latin typeface="Cambria Math"/>
                                  <a:ea typeface="Cambria Math"/>
                                  <a:sym typeface="Symbol" pitchFamily="18" charset="2"/>
                                </a:rPr>
                                <m:t>⇒</m:t>
                              </m:r>
                              <m:r>
                                <a:rPr lang="en-US" sz="2000" b="0" i="1" smtClean="0">
                                  <a:solidFill>
                                    <a:srgbClr val="FF0000"/>
                                  </a:solidFill>
                                  <a:latin typeface="Cambria Math"/>
                                  <a:ea typeface="Cambria Math"/>
                                  <a:sym typeface="Symbol" pitchFamily="18" charset="2"/>
                                </a:rPr>
                                <m:t>𝑞</m:t>
                              </m:r>
                            </m:oMath>
                          </a14:m>
                          <a:r>
                            <a:rPr lang="en-US" sz="2000" i="1" dirty="0">
                              <a:solidFill>
                                <a:srgbClr val="FF0000"/>
                              </a:solidFill>
                              <a:sym typeface="Symbol" pitchFamily="18" charset="2"/>
                            </a:rPr>
                            <a:t> </a:t>
                          </a:r>
                          <a:endParaRPr kumimoji="0" lang="en-US" sz="2000" b="0" i="0" u="none" strike="noStrike" cap="none" normalizeH="0" baseline="0" dirty="0">
                            <a:ln>
                              <a:noFill/>
                            </a:ln>
                            <a:solidFill>
                              <a:srgbClr val="404040"/>
                            </a:solidFill>
                            <a:effectLst/>
                            <a:latin typeface="Trebuchet MS" pitchFamily="34" charset="0"/>
                            <a:sym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14:m>
                            <m:oMath xmlns:m="http://schemas.openxmlformats.org/officeDocument/2006/math">
                              <m:r>
                                <a:rPr lang="en-US" sz="2000" i="1" smtClean="0">
                                  <a:solidFill>
                                    <a:srgbClr val="FF0000"/>
                                  </a:solidFill>
                                  <a:latin typeface="Cambria Math"/>
                                  <a:sym typeface="Symbol" pitchFamily="18" charset="2"/>
                                </a:rPr>
                                <m:t>𝑝</m:t>
                              </m:r>
                              <m:r>
                                <a:rPr lang="en-US" sz="2000" i="1" smtClean="0">
                                  <a:solidFill>
                                    <a:srgbClr val="FF0000"/>
                                  </a:solidFill>
                                  <a:latin typeface="Cambria Math"/>
                                  <a:ea typeface="Cambria Math"/>
                                  <a:sym typeface="Symbol" pitchFamily="18" charset="2"/>
                                </a:rPr>
                                <m:t>⇔</m:t>
                              </m:r>
                              <m:r>
                                <a:rPr lang="en-US" sz="2000" i="1">
                                  <a:solidFill>
                                    <a:srgbClr val="FF0000"/>
                                  </a:solidFill>
                                  <a:latin typeface="Cambria Math"/>
                                  <a:ea typeface="Cambria Math"/>
                                  <a:sym typeface="Symbol" pitchFamily="18" charset="2"/>
                                </a:rPr>
                                <m:t>𝑞</m:t>
                              </m:r>
                            </m:oMath>
                          </a14:m>
                          <a:r>
                            <a:rPr lang="en-US" sz="2000" i="1" dirty="0">
                              <a:solidFill>
                                <a:srgbClr val="FF0000"/>
                              </a:solidFill>
                              <a:sym typeface="Symbol" pitchFamily="18" charset="2"/>
                            </a:rPr>
                            <a:t> </a:t>
                          </a:r>
                          <a:endParaRPr kumimoji="0" lang="en-US" sz="2000" b="0" i="0" u="none" strike="noStrike" cap="none" normalizeH="0" baseline="0" dirty="0">
                            <a:ln>
                              <a:noFill/>
                            </a:ln>
                            <a:solidFill>
                              <a:srgbClr val="404040"/>
                            </a:solidFill>
                            <a:effectLst/>
                            <a:latin typeface="Trebuchet MS" pitchFamily="34" charset="0"/>
                            <a:sym typeface="Symbol" pitchFamily="18" charset="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85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243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85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43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Choice>
        <mc:Fallback xmlns="">
          <p:graphicFrame>
            <p:nvGraphicFramePr>
              <p:cNvPr id="6" name="Group 208"/>
              <p:cNvGraphicFramePr>
                <a:graphicFrameLocks noGrp="1"/>
              </p:cNvGraphicFramePr>
              <p:nvPr>
                <p:extLst>
                  <p:ext uri="{D42A27DB-BD31-4B8C-83A1-F6EECF244321}">
                    <p14:modId xmlns:p14="http://schemas.microsoft.com/office/powerpoint/2010/main" val="418606732"/>
                  </p:ext>
                </p:extLst>
              </p:nvPr>
            </p:nvGraphicFramePr>
            <p:xfrm>
              <a:off x="457200" y="1676400"/>
              <a:ext cx="8229600" cy="2655254"/>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396240">
                    <a:tc gridSpan="8">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ahoma" pitchFamily="34" charset="0"/>
                              <a:ea typeface="Tahoma" pitchFamily="34" charset="0"/>
                              <a:cs typeface="Tahoma" pitchFamily="34" charset="0"/>
                            </a:rPr>
                            <a:t>Truth table for mathematical operations of propositional logic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452438">
                    <a:tc>
                      <a:txBody>
                        <a:bodyPr/>
                        <a:lstStyle/>
                        <a:p>
                          <a:endParaRPr lang="en-US"/>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775" t="-94595" r="-701775" b="-410811"/>
                          </a:stretch>
                        </a:blip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101775" t="-94595" r="-601775" b="-410811"/>
                          </a:stretch>
                        </a:blip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202976" t="-94595" r="-505357" b="-410811"/>
                          </a:stretch>
                        </a:blip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301183" t="-94595" r="-402367" b="-410811"/>
                          </a:stretch>
                        </a:blip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401183" t="-94595" r="-302367" b="-410811"/>
                          </a:stretch>
                        </a:blip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501183" t="-94595" r="-202367" b="-410811"/>
                          </a:stretch>
                        </a:blip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604762" t="-94595" r="-103571" b="-410811"/>
                          </a:stretch>
                        </a:blip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stretch>
                            <a:fillRect l="-700592" t="-94595" r="-2959" b="-410811"/>
                          </a:stretch>
                        </a:blipFill>
                      </a:tcPr>
                    </a:tc>
                    <a:extLst>
                      <a:ext uri="{0D108BD9-81ED-4DB2-BD59-A6C34878D82A}">
                        <a16:rowId xmlns:a16="http://schemas.microsoft.com/office/drawing/2014/main" val="10001"/>
                      </a:ext>
                    </a:extLst>
                  </a:tr>
                  <a:tr h="45085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243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85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438">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Fallback>
      </mc:AlternateContent>
      <p:graphicFrame>
        <p:nvGraphicFramePr>
          <p:cNvPr id="7" name="Group 273"/>
          <p:cNvGraphicFramePr>
            <a:graphicFrameLocks noGrp="1"/>
          </p:cNvGraphicFramePr>
          <p:nvPr>
            <p:extLst>
              <p:ext uri="{D42A27DB-BD31-4B8C-83A1-F6EECF244321}">
                <p14:modId xmlns:p14="http://schemas.microsoft.com/office/powerpoint/2010/main" val="1509545315"/>
              </p:ext>
            </p:extLst>
          </p:nvPr>
        </p:nvGraphicFramePr>
        <p:xfrm>
          <a:off x="448736" y="4678362"/>
          <a:ext cx="8238063" cy="1189038"/>
        </p:xfrm>
        <a:graphic>
          <a:graphicData uri="http://schemas.openxmlformats.org/drawingml/2006/table">
            <a:tbl>
              <a:tblPr/>
              <a:tblGrid>
                <a:gridCol w="1704644">
                  <a:extLst>
                    <a:ext uri="{9D8B030D-6E8A-4147-A177-3AD203B41FA5}">
                      <a16:colId xmlns:a16="http://schemas.microsoft.com/office/drawing/2014/main" val="20000"/>
                    </a:ext>
                  </a:extLst>
                </a:gridCol>
                <a:gridCol w="173282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642850">
                  <a:extLst>
                    <a:ext uri="{9D8B030D-6E8A-4147-A177-3AD203B41FA5}">
                      <a16:colId xmlns:a16="http://schemas.microsoft.com/office/drawing/2014/main" val="20003"/>
                    </a:ext>
                  </a:extLst>
                </a:gridCol>
                <a:gridCol w="1633749">
                  <a:extLst>
                    <a:ext uri="{9D8B030D-6E8A-4147-A177-3AD203B41FA5}">
                      <a16:colId xmlns:a16="http://schemas.microsoft.com/office/drawing/2014/main" val="20004"/>
                    </a:ext>
                  </a:extLst>
                </a:gridCol>
              </a:tblGrid>
              <a:tr h="396346">
                <a:tc gridSpan="5">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ahoma" pitchFamily="34" charset="0"/>
                          <a:ea typeface="Tahoma" pitchFamily="34" charset="0"/>
                          <a:cs typeface="Tahoma" pitchFamily="34" charset="0"/>
                        </a:rPr>
                        <a:t>Applied bit-level operations in the LT language</a:t>
                      </a:r>
                    </a:p>
                  </a:txBody>
                  <a:tcPr marT="45732" marB="4573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396346">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Giá trị của A </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Giá trị của B</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A </a:t>
                      </a:r>
                      <a:r>
                        <a:rPr kumimoji="0" lang="en-US" sz="2000" b="1" i="0" u="none" strike="noStrike" cap="none" normalizeH="0" baseline="0" dirty="0">
                          <a:ln>
                            <a:noFill/>
                          </a:ln>
                          <a:solidFill>
                            <a:srgbClr val="404040"/>
                          </a:solidFill>
                          <a:effectLst/>
                          <a:latin typeface="Trebuchet MS" pitchFamily="34" charset="0"/>
                        </a:rPr>
                        <a:t>and</a:t>
                      </a:r>
                      <a:r>
                        <a:rPr kumimoji="0" lang="en-US" sz="2000" b="0" i="0" u="none" strike="noStrike" cap="none" normalizeH="0" baseline="0" dirty="0">
                          <a:ln>
                            <a:noFill/>
                          </a:ln>
                          <a:solidFill>
                            <a:srgbClr val="404040"/>
                          </a:solidFill>
                          <a:effectLst/>
                          <a:latin typeface="Trebuchet MS" pitchFamily="34" charset="0"/>
                        </a:rPr>
                        <a:t> B</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A </a:t>
                      </a:r>
                      <a:r>
                        <a:rPr kumimoji="0" lang="en-US" sz="2000" b="1" i="0" u="none" strike="noStrike" cap="none" normalizeH="0" baseline="0" dirty="0">
                          <a:ln>
                            <a:noFill/>
                          </a:ln>
                          <a:solidFill>
                            <a:srgbClr val="404040"/>
                          </a:solidFill>
                          <a:effectLst/>
                          <a:latin typeface="Trebuchet MS" pitchFamily="34" charset="0"/>
                        </a:rPr>
                        <a:t>or</a:t>
                      </a:r>
                      <a:r>
                        <a:rPr kumimoji="0" lang="en-US" sz="2000" b="0" i="0" u="none" strike="noStrike" cap="none" normalizeH="0" baseline="0" dirty="0">
                          <a:ln>
                            <a:noFill/>
                          </a:ln>
                          <a:solidFill>
                            <a:srgbClr val="404040"/>
                          </a:solidFill>
                          <a:effectLst/>
                          <a:latin typeface="Trebuchet MS" pitchFamily="34" charset="0"/>
                        </a:rPr>
                        <a:t> B</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A </a:t>
                      </a:r>
                      <a:r>
                        <a:rPr kumimoji="0" lang="en-US" sz="2000" b="1" i="0" u="none" strike="noStrike" cap="none" normalizeH="0" baseline="0">
                          <a:ln>
                            <a:noFill/>
                          </a:ln>
                          <a:solidFill>
                            <a:srgbClr val="404040"/>
                          </a:solidFill>
                          <a:effectLst/>
                          <a:latin typeface="Trebuchet MS" pitchFamily="34" charset="0"/>
                        </a:rPr>
                        <a:t>xor</a:t>
                      </a:r>
                      <a:r>
                        <a:rPr kumimoji="0" lang="en-US" sz="2000" b="0" i="0" u="none" strike="noStrike" cap="none" normalizeH="0" baseline="0">
                          <a:ln>
                            <a:noFill/>
                          </a:ln>
                          <a:solidFill>
                            <a:srgbClr val="404040"/>
                          </a:solidFill>
                          <a:effectLst/>
                          <a:latin typeface="Trebuchet MS" pitchFamily="34" charset="0"/>
                        </a:rPr>
                        <a:t> B</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A = 13 =1101</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B = 8=1000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1000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a:ln>
                            <a:noFill/>
                          </a:ln>
                          <a:solidFill>
                            <a:srgbClr val="404040"/>
                          </a:solidFill>
                          <a:effectLst/>
                          <a:latin typeface="Trebuchet MS" pitchFamily="34" charset="0"/>
                        </a:rPr>
                        <a:t>1101</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2000" b="0" i="0" u="none" strike="noStrike" cap="none" normalizeH="0" baseline="0" dirty="0">
                          <a:ln>
                            <a:noFill/>
                          </a:ln>
                          <a:solidFill>
                            <a:srgbClr val="404040"/>
                          </a:solidFill>
                          <a:effectLst/>
                          <a:latin typeface="Trebuchet MS" pitchFamily="34" charset="0"/>
                        </a:rPr>
                        <a:t>0101</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28178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definitions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Content Placeholder 4"/>
          <p:cNvSpPr>
            <a:spLocks noGrp="1"/>
          </p:cNvSpPr>
          <p:nvPr>
            <p:ph sz="quarter" idx="1"/>
          </p:nvPr>
        </p:nvSpPr>
        <p:spPr/>
        <p:txBody>
          <a:bodyPr/>
          <a:lstStyle/>
          <a:p>
            <a:r>
              <a:rPr lang="en-US" dirty="0"/>
              <a:t>Satisfiable</a:t>
            </a:r>
          </a:p>
          <a:p>
            <a:pPr lvl="1"/>
            <a:r>
              <a:rPr lang="en-US" dirty="0"/>
              <a:t>A proposition is </a:t>
            </a:r>
            <a:r>
              <a:rPr lang="en-US" dirty="0">
                <a:solidFill>
                  <a:srgbClr val="FF0000"/>
                </a:solidFill>
              </a:rPr>
              <a:t>satisfiable</a:t>
            </a:r>
            <a:r>
              <a:rPr lang="en-US" dirty="0"/>
              <a:t> if it is true for a truth-value tuple of component propositions.</a:t>
            </a:r>
          </a:p>
          <a:p>
            <a:endParaRPr lang="en-US" dirty="0"/>
          </a:p>
          <a:p>
            <a:r>
              <a:rPr lang="en-US" dirty="0"/>
              <a:t>Unsatisfiable </a:t>
            </a:r>
          </a:p>
          <a:p>
            <a:pPr lvl="1"/>
            <a:r>
              <a:rPr lang="en-US" dirty="0"/>
              <a:t>A proposition is </a:t>
            </a:r>
            <a:r>
              <a:rPr lang="en-US" dirty="0">
                <a:solidFill>
                  <a:srgbClr val="FF0000"/>
                </a:solidFill>
              </a:rPr>
              <a:t>unsatisfiable</a:t>
            </a:r>
            <a:r>
              <a:rPr lang="en-US" dirty="0"/>
              <a:t> if it is false for all truth value tuples of its component propositions.</a:t>
            </a:r>
          </a:p>
          <a:p>
            <a:pPr lvl="1"/>
            <a:endParaRPr lang="en-US" dirty="0"/>
          </a:p>
          <a:p>
            <a:r>
              <a:rPr lang="en-US" dirty="0"/>
              <a:t>Valid </a:t>
            </a:r>
          </a:p>
          <a:p>
            <a:pPr lvl="1"/>
            <a:r>
              <a:rPr lang="en-US" dirty="0"/>
              <a:t>A proposition is </a:t>
            </a:r>
            <a:r>
              <a:rPr lang="en-US" dirty="0">
                <a:solidFill>
                  <a:srgbClr val="FF0000"/>
                </a:solidFill>
              </a:rPr>
              <a:t>valid</a:t>
            </a:r>
            <a:r>
              <a:rPr lang="en-US" dirty="0"/>
              <a:t> if it is true for all truth value tuples of its component propositions</a:t>
            </a:r>
          </a:p>
          <a:p>
            <a:pPr lvl="1"/>
            <a:endParaRPr lang="en-US" dirty="0"/>
          </a:p>
        </p:txBody>
      </p:sp>
    </p:spTree>
    <p:extLst>
      <p:ext uri="{BB962C8B-B14F-4D97-AF65-F5344CB8AC3E}">
        <p14:creationId xmlns:p14="http://schemas.microsoft.com/office/powerpoint/2010/main" val="2565969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7543800" cy="867410"/>
          </a:xfrm>
        </p:spPr>
        <p:txBody>
          <a:bodyPr>
            <a:normAutofit fontScale="90000"/>
          </a:bodyPr>
          <a:lstStyle/>
          <a:p>
            <a:r>
              <a:rPr lang="en-US" dirty="0"/>
              <a:t> Logically equivalent propositions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pPr algn="just"/>
                <a:r>
                  <a:rPr lang="en-US" dirty="0"/>
                  <a:t>2 propositions a and b are said to be logically equivalent if they have the same truth value for all truth tuples of the member propositions. </a:t>
                </a:r>
              </a:p>
              <a:p>
                <a:pPr lvl="1"/>
                <a:r>
                  <a:rPr lang="en-US" dirty="0"/>
                  <a:t>Notation:</a:t>
                </a:r>
                <a:r>
                  <a:rPr lang="en-US" dirty="0">
                    <a:solidFill>
                      <a:srgbClr val="FF0000"/>
                    </a:solidFill>
                  </a:rPr>
                  <a:t> </a:t>
                </a:r>
                <a14:m>
                  <m:oMath xmlns:m="http://schemas.openxmlformats.org/officeDocument/2006/math">
                    <m:r>
                      <a:rPr lang="en-US" b="0" i="1" smtClean="0">
                        <a:solidFill>
                          <a:srgbClr val="FF0000"/>
                        </a:solidFill>
                        <a:latin typeface="Cambria Math"/>
                      </a:rPr>
                      <m:t>𝑎</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𝑏</m:t>
                    </m:r>
                  </m:oMath>
                </a14:m>
                <a:endParaRPr lang="en-US" dirty="0"/>
              </a:p>
              <a:p>
                <a:endParaRPr lang="en-US" dirty="0"/>
              </a:p>
              <a:p>
                <a:r>
                  <a:rPr lang="en-US" dirty="0"/>
                  <a:t>Some basic equivalent propositions</a:t>
                </a:r>
              </a:p>
              <a:p>
                <a:pPr lvl="1"/>
                <a14:m>
                  <m:oMath xmlns:m="http://schemas.openxmlformats.org/officeDocument/2006/math">
                    <m:r>
                      <a:rPr lang="en-US" i="1">
                        <a:solidFill>
                          <a:srgbClr val="FF0000"/>
                        </a:solidFill>
                        <a:latin typeface="Cambria Math"/>
                      </a:rPr>
                      <m:t>𝑎</m:t>
                    </m:r>
                    <m:r>
                      <a:rPr lang="en-US" i="1" smtClean="0">
                        <a:solidFill>
                          <a:srgbClr val="FF0000"/>
                        </a:solidFill>
                        <a:latin typeface="Cambria Math"/>
                        <a:ea typeface="Cambria Math"/>
                      </a:rPr>
                      <m:t>∨</m:t>
                    </m:r>
                    <m:r>
                      <a:rPr lang="en-US" b="0" i="1" smtClean="0">
                        <a:solidFill>
                          <a:srgbClr val="FF0000"/>
                        </a:solidFill>
                        <a:latin typeface="Cambria Math"/>
                        <a:ea typeface="Cambria Math"/>
                      </a:rPr>
                      <m:t>𝐹</m:t>
                    </m:r>
                    <m:r>
                      <a:rPr lang="en-US" i="1">
                        <a:solidFill>
                          <a:srgbClr val="FF0000"/>
                        </a:solidFill>
                        <a:latin typeface="Cambria Math"/>
                        <a:ea typeface="Cambria Math"/>
                      </a:rPr>
                      <m:t>≡</m:t>
                    </m:r>
                    <m:r>
                      <a:rPr lang="en-US" b="0" i="1" smtClean="0">
                        <a:solidFill>
                          <a:srgbClr val="FF0000"/>
                        </a:solidFill>
                        <a:latin typeface="Cambria Math"/>
                        <a:ea typeface="Cambria Math"/>
                      </a:rPr>
                      <m:t>𝑎</m:t>
                    </m:r>
                  </m:oMath>
                </a14:m>
                <a:endParaRPr lang="en-US" b="0" i="1" dirty="0">
                  <a:solidFill>
                    <a:srgbClr val="FF0000"/>
                  </a:solidFill>
                  <a:latin typeface="Cambria Math"/>
                </a:endParaRPr>
              </a:p>
              <a:p>
                <a:pPr lvl="1"/>
                <a14:m>
                  <m:oMath xmlns:m="http://schemas.openxmlformats.org/officeDocument/2006/math">
                    <m:r>
                      <a:rPr lang="en-US" i="1">
                        <a:solidFill>
                          <a:srgbClr val="FF0000"/>
                        </a:solidFill>
                        <a:latin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𝐹</m:t>
                    </m:r>
                    <m:r>
                      <a:rPr lang="en-US" i="1">
                        <a:solidFill>
                          <a:srgbClr val="FF0000"/>
                        </a:solidFill>
                        <a:latin typeface="Cambria Math"/>
                        <a:ea typeface="Cambria Math"/>
                      </a:rPr>
                      <m:t>≡</m:t>
                    </m:r>
                    <m:r>
                      <a:rPr lang="en-US" b="0" i="1" smtClean="0">
                        <a:solidFill>
                          <a:srgbClr val="FF0000"/>
                        </a:solidFill>
                        <a:latin typeface="Cambria Math"/>
                        <a:ea typeface="Cambria Math"/>
                      </a:rPr>
                      <m:t>𝐹</m:t>
                    </m:r>
                  </m:oMath>
                </a14:m>
                <a:endParaRPr lang="en-US" i="1" dirty="0">
                  <a:solidFill>
                    <a:srgbClr val="FF0000"/>
                  </a:solidFill>
                  <a:latin typeface="Cambria Math"/>
                </a:endParaRPr>
              </a:p>
              <a:p>
                <a:pPr lvl="1"/>
                <a14:m>
                  <m:oMath xmlns:m="http://schemas.openxmlformats.org/officeDocument/2006/math">
                    <m:r>
                      <a:rPr lang="en-US" i="1">
                        <a:solidFill>
                          <a:srgbClr val="FF0000"/>
                        </a:solidFill>
                        <a:latin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𝑇</m:t>
                    </m:r>
                    <m:r>
                      <a:rPr lang="en-US" i="1">
                        <a:solidFill>
                          <a:srgbClr val="FF0000"/>
                        </a:solidFill>
                        <a:latin typeface="Cambria Math"/>
                        <a:ea typeface="Cambria Math"/>
                      </a:rPr>
                      <m:t>≡</m:t>
                    </m:r>
                    <m:r>
                      <a:rPr lang="en-US" b="0" i="1" smtClean="0">
                        <a:solidFill>
                          <a:srgbClr val="FF0000"/>
                        </a:solidFill>
                        <a:latin typeface="Cambria Math"/>
                        <a:ea typeface="Cambria Math"/>
                      </a:rPr>
                      <m:t>𝑇</m:t>
                    </m:r>
                  </m:oMath>
                </a14:m>
                <a:endParaRPr lang="en-US" i="1" dirty="0">
                  <a:solidFill>
                    <a:srgbClr val="FF0000"/>
                  </a:solidFill>
                  <a:latin typeface="Cambria Math"/>
                </a:endParaRPr>
              </a:p>
              <a:p>
                <a:pPr lvl="1"/>
                <a14:m>
                  <m:oMath xmlns:m="http://schemas.openxmlformats.org/officeDocument/2006/math">
                    <m:r>
                      <a:rPr lang="en-US" i="1">
                        <a:solidFill>
                          <a:srgbClr val="FF0000"/>
                        </a:solidFill>
                        <a:latin typeface="Cambria Math"/>
                      </a:rPr>
                      <m:t>𝑎</m:t>
                    </m:r>
                    <m:r>
                      <a:rPr lang="en-US" i="1" smtClean="0">
                        <a:solidFill>
                          <a:srgbClr val="FF0000"/>
                        </a:solidFill>
                        <a:latin typeface="Cambria Math"/>
                        <a:ea typeface="Cambria Math"/>
                      </a:rPr>
                      <m:t>∧</m:t>
                    </m:r>
                    <m:r>
                      <a:rPr lang="en-US" b="0" i="1" smtClean="0">
                        <a:solidFill>
                          <a:srgbClr val="FF0000"/>
                        </a:solidFill>
                        <a:latin typeface="Cambria Math"/>
                        <a:ea typeface="Cambria Math"/>
                      </a:rPr>
                      <m:t>𝑇</m:t>
                    </m:r>
                    <m:r>
                      <a:rPr lang="en-US" i="1">
                        <a:solidFill>
                          <a:srgbClr val="FF0000"/>
                        </a:solidFill>
                        <a:latin typeface="Cambria Math"/>
                        <a:ea typeface="Cambria Math"/>
                      </a:rPr>
                      <m:t>≡</m:t>
                    </m:r>
                    <m:r>
                      <a:rPr lang="en-US" i="1">
                        <a:solidFill>
                          <a:srgbClr val="FF0000"/>
                        </a:solidFill>
                        <a:latin typeface="Cambria Math"/>
                        <a:ea typeface="Cambria Math"/>
                      </a:rPr>
                      <m:t>𝑎</m:t>
                    </m:r>
                  </m:oMath>
                </a14:m>
                <a:endParaRPr lang="en-US" i="1" dirty="0">
                  <a:solidFill>
                    <a:srgbClr val="FF0000"/>
                  </a:solidFill>
                  <a:latin typeface="Cambria Math"/>
                </a:endParaRPr>
              </a:p>
              <a:p>
                <a:pPr lvl="1"/>
                <a14:m>
                  <m:oMath xmlns:m="http://schemas.openxmlformats.org/officeDocument/2006/math">
                    <m:r>
                      <a:rPr lang="en-US" b="0" i="1" smtClean="0">
                        <a:solidFill>
                          <a:srgbClr val="FF0000"/>
                        </a:solidFill>
                        <a:latin typeface="Cambria Math"/>
                      </a:rPr>
                      <m:t>𝑎</m:t>
                    </m:r>
                    <m:r>
                      <a:rPr lang="en-US" i="1" smtClean="0">
                        <a:solidFill>
                          <a:srgbClr val="FF0000"/>
                        </a:solidFill>
                        <a:latin typeface="Cambria Math"/>
                        <a:ea typeface="Cambria Math"/>
                      </a:rPr>
                      <m:t>⇒</m:t>
                    </m:r>
                    <m:r>
                      <a:rPr lang="en-US" b="0" i="1" smtClean="0">
                        <a:solidFill>
                          <a:srgbClr val="FF0000"/>
                        </a:solidFill>
                        <a:latin typeface="Cambria Math"/>
                        <a:ea typeface="Cambria Math"/>
                      </a:rPr>
                      <m:t>𝑏</m:t>
                    </m:r>
                    <m:r>
                      <a:rPr lang="en-US" i="1">
                        <a:solidFill>
                          <a:srgbClr val="FF0000"/>
                        </a:solidFill>
                        <a:latin typeface="Cambria Math"/>
                        <a:ea typeface="Cambria Math"/>
                      </a:rPr>
                      <m:t>≡</m:t>
                    </m:r>
                    <m:r>
                      <a:rPr lang="en-US" i="1" smtClean="0">
                        <a:solidFill>
                          <a:srgbClr val="FF0000"/>
                        </a:solidFill>
                        <a:latin typeface="Cambria Math"/>
                        <a:ea typeface="Cambria Math"/>
                      </a:rPr>
                      <m:t>¬</m:t>
                    </m:r>
                    <m:r>
                      <a:rPr lang="en-US" b="0" i="1" smtClean="0">
                        <a:solidFill>
                          <a:srgbClr val="FF0000"/>
                        </a:solidFill>
                        <a:latin typeface="Cambria Math"/>
                        <a:ea typeface="Cambria Math"/>
                      </a:rPr>
                      <m:t>𝑎</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𝑏</m:t>
                    </m:r>
                  </m:oMath>
                </a14:m>
                <a:endParaRPr lang="en-US" b="0" i="1" dirty="0">
                  <a:solidFill>
                    <a:srgbClr val="FF0000"/>
                  </a:solidFill>
                  <a:latin typeface="Cambria Math"/>
                  <a:ea typeface="Cambria Math"/>
                </a:endParaRPr>
              </a:p>
              <a:p>
                <a:pPr lvl="1"/>
                <a14:m>
                  <m:oMath xmlns:m="http://schemas.openxmlformats.org/officeDocument/2006/math">
                    <m:r>
                      <a:rPr lang="en-US" b="0" i="1" smtClean="0">
                        <a:solidFill>
                          <a:srgbClr val="FF0000"/>
                        </a:solidFill>
                        <a:latin typeface="Cambria Math"/>
                      </a:rPr>
                      <m:t>𝑎</m:t>
                    </m:r>
                    <m:r>
                      <a:rPr lang="en-US" i="1" smtClean="0">
                        <a:solidFill>
                          <a:srgbClr val="FF0000"/>
                        </a:solidFill>
                        <a:latin typeface="Cambria Math"/>
                        <a:ea typeface="Cambria Math"/>
                      </a:rPr>
                      <m:t>⇔</m:t>
                    </m:r>
                    <m:r>
                      <a:rPr lang="en-US" b="0" i="1" smtClean="0">
                        <a:solidFill>
                          <a:srgbClr val="FF0000"/>
                        </a:solidFill>
                        <a:latin typeface="Cambria Math"/>
                        <a:ea typeface="Cambria Math"/>
                      </a:rPr>
                      <m:t>𝑏</m:t>
                    </m:r>
                    <m:r>
                      <a:rPr lang="en-US" i="1">
                        <a:solidFill>
                          <a:srgbClr val="FF0000"/>
                        </a:solidFill>
                        <a:latin typeface="Cambria Math"/>
                        <a:ea typeface="Cambria Math"/>
                      </a:rPr>
                      <m:t>≡</m:t>
                    </m:r>
                    <m:r>
                      <a:rPr lang="en-US" b="0" i="0" smtClean="0">
                        <a:solidFill>
                          <a:srgbClr val="FF0000"/>
                        </a:solidFill>
                        <a:latin typeface="Cambria Math"/>
                        <a:ea typeface="Cambria Math"/>
                      </a:rPr>
                      <m:t>(</m:t>
                    </m:r>
                    <m:r>
                      <a:rPr lang="en-US" b="0" i="1" smtClean="0">
                        <a:solidFill>
                          <a:srgbClr val="FF0000"/>
                        </a:solidFill>
                        <a:latin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𝑏</m:t>
                    </m:r>
                    <m:r>
                      <a:rPr lang="en-US" b="0" i="0" smtClean="0">
                        <a:solidFill>
                          <a:srgbClr val="FF0000"/>
                        </a:solidFill>
                        <a:latin typeface="Cambria Math"/>
                        <a:ea typeface="Cambria Math"/>
                      </a:rPr>
                      <m:t>)</m:t>
                    </m:r>
                    <m:r>
                      <a:rPr lang="en-US" b="0" i="1" smtClean="0">
                        <a:solidFill>
                          <a:srgbClr val="FF0000"/>
                        </a:solidFill>
                        <a:latin typeface="Cambria Math"/>
                        <a:ea typeface="Cambria Math"/>
                      </a:rPr>
                      <m:t>∧</m:t>
                    </m:r>
                    <m:r>
                      <a:rPr lang="en-US" b="0" i="0" smtClean="0">
                        <a:solidFill>
                          <a:srgbClr val="FF0000"/>
                        </a:solidFill>
                        <a:latin typeface="Cambria Math"/>
                        <a:ea typeface="Cambria Math"/>
                      </a:rPr>
                      <m:t>(</m:t>
                    </m:r>
                    <m:r>
                      <a:rPr lang="en-US" b="0" i="1" smtClean="0">
                        <a:solidFill>
                          <a:srgbClr val="FF0000"/>
                        </a:solidFill>
                        <a:latin typeface="Cambria Math"/>
                        <a:ea typeface="Cambria Math"/>
                      </a:rPr>
                      <m:t>𝑏</m:t>
                    </m:r>
                    <m:r>
                      <a:rPr lang="en-US" i="1">
                        <a:solidFill>
                          <a:srgbClr val="FF0000"/>
                        </a:solidFill>
                        <a:latin typeface="Cambria Math"/>
                        <a:ea typeface="Cambria Math"/>
                      </a:rPr>
                      <m:t>⇒</m:t>
                    </m:r>
                    <m:r>
                      <a:rPr lang="en-US" b="0" i="1" smtClean="0">
                        <a:solidFill>
                          <a:srgbClr val="FF0000"/>
                        </a:solidFill>
                        <a:latin typeface="Cambria Math"/>
                        <a:ea typeface="Cambria Math"/>
                      </a:rPr>
                      <m:t>𝑎</m:t>
                    </m:r>
                    <m:r>
                      <a:rPr lang="en-US" b="0" i="0" smtClean="0">
                        <a:solidFill>
                          <a:srgbClr val="FF0000"/>
                        </a:solidFill>
                        <a:latin typeface="Cambria Math"/>
                        <a:ea typeface="Cambria Math"/>
                      </a:rPr>
                      <m:t>)</m:t>
                    </m:r>
                  </m:oMath>
                </a14:m>
                <a:endParaRPr lang="en-US" dirty="0"/>
              </a:p>
              <a:p>
                <a:pPr lvl="1"/>
                <a14:m>
                  <m:oMath xmlns:m="http://schemas.openxmlformats.org/officeDocument/2006/math">
                    <m:r>
                      <a:rPr lang="en-US" i="1">
                        <a:solidFill>
                          <a:srgbClr val="FF0000"/>
                        </a:solidFill>
                        <a:latin typeface="Cambria Math"/>
                        <a:ea typeface="Cambria Math"/>
                      </a:rPr>
                      <m:t>¬(¬</m:t>
                    </m:r>
                    <m:r>
                      <a:rPr lang="en-US" b="0" i="1" smtClean="0">
                        <a:solidFill>
                          <a:srgbClr val="FF0000"/>
                        </a:solidFill>
                        <a:latin typeface="Cambria Math"/>
                        <a:ea typeface="Cambria Math"/>
                      </a:rPr>
                      <m:t>𝑎</m:t>
                    </m:r>
                    <m:r>
                      <a:rPr lang="en-US" b="0" i="1" smtClean="0">
                        <a:solidFill>
                          <a:srgbClr val="FF0000"/>
                        </a:solidFill>
                        <a:latin typeface="Cambria Math"/>
                        <a:ea typeface="Cambria Math"/>
                      </a:rPr>
                      <m:t>)≡</m:t>
                    </m:r>
                    <m:r>
                      <a:rPr lang="en-US" b="0" i="1" smtClean="0">
                        <a:solidFill>
                          <a:srgbClr val="FF0000"/>
                        </a:solidFill>
                        <a:latin typeface="Cambria Math"/>
                      </a:rPr>
                      <m:t>𝑎</m:t>
                    </m:r>
                  </m:oMath>
                </a14:m>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728" r="-1111"/>
                </a:stretch>
              </a:blipFill>
            </p:spPr>
            <p:txBody>
              <a:bodyPr/>
              <a:lstStyle/>
              <a:p>
                <a:r>
                  <a:rPr lang="en-US">
                    <a:noFill/>
                  </a:rPr>
                  <a:t> </a:t>
                </a:r>
              </a:p>
            </p:txBody>
          </p:sp>
        </mc:Fallback>
      </mc:AlternateContent>
    </p:spTree>
    <p:extLst>
      <p:ext uri="{BB962C8B-B14F-4D97-AF65-F5344CB8AC3E}">
        <p14:creationId xmlns:p14="http://schemas.microsoft.com/office/powerpoint/2010/main" val="330301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696200" cy="867410"/>
          </a:xfrm>
        </p:spPr>
        <p:txBody>
          <a:bodyPr>
            <a:normAutofit fontScale="90000"/>
          </a:bodyPr>
          <a:lstStyle/>
          <a:p>
            <a:r>
              <a:rPr lang="en-US" dirty="0"/>
              <a:t>  Logically equivalent propositions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r>
                  <a:rPr lang="en-US" dirty="0"/>
                  <a:t>Commutative laws</a:t>
                </a:r>
              </a:p>
              <a:p>
                <a:pPr lvl="1"/>
                <a14:m>
                  <m:oMath xmlns:m="http://schemas.openxmlformats.org/officeDocument/2006/math">
                    <m:r>
                      <a:rPr lang="en-US" b="0" i="1" smtClean="0">
                        <a:solidFill>
                          <a:srgbClr val="FF0000"/>
                        </a:solidFill>
                        <a:latin typeface="Cambria Math"/>
                        <a:ea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𝑏</m:t>
                    </m:r>
                    <m:r>
                      <a:rPr lang="en-US" i="1">
                        <a:solidFill>
                          <a:srgbClr val="FF0000"/>
                        </a:solidFill>
                        <a:latin typeface="Cambria Math"/>
                        <a:ea typeface="Cambria Math"/>
                      </a:rPr>
                      <m:t>≡</m:t>
                    </m:r>
                    <m:r>
                      <a:rPr lang="en-US" b="0" i="1" smtClean="0">
                        <a:solidFill>
                          <a:srgbClr val="FF0000"/>
                        </a:solidFill>
                        <a:latin typeface="Cambria Math"/>
                        <a:ea typeface="Cambria Math"/>
                      </a:rPr>
                      <m:t>𝑏</m:t>
                    </m:r>
                    <m:r>
                      <a:rPr lang="en-US" i="1">
                        <a:solidFill>
                          <a:srgbClr val="FF0000"/>
                        </a:solidFill>
                        <a:latin typeface="Cambria Math"/>
                        <a:ea typeface="Cambria Math"/>
                      </a:rPr>
                      <m:t>∨</m:t>
                    </m:r>
                    <m:r>
                      <a:rPr lang="en-US" b="0" i="1" smtClean="0">
                        <a:solidFill>
                          <a:srgbClr val="FF0000"/>
                        </a:solidFill>
                        <a:latin typeface="Cambria Math"/>
                        <a:ea typeface="Cambria Math"/>
                      </a:rPr>
                      <m:t>𝑎</m:t>
                    </m:r>
                  </m:oMath>
                </a14:m>
                <a:endParaRPr lang="en-US" b="0" i="1" dirty="0">
                  <a:solidFill>
                    <a:srgbClr val="FF0000"/>
                  </a:solidFill>
                  <a:latin typeface="Cambria Math"/>
                  <a:ea typeface="Cambria Math"/>
                </a:endParaRPr>
              </a:p>
              <a:p>
                <a:pPr lvl="1"/>
                <a14:m>
                  <m:oMath xmlns:m="http://schemas.openxmlformats.org/officeDocument/2006/math">
                    <m:r>
                      <a:rPr lang="en-US" b="0" i="1" smtClean="0">
                        <a:solidFill>
                          <a:srgbClr val="FF0000"/>
                        </a:solidFill>
                        <a:latin typeface="Cambria Math"/>
                        <a:ea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𝑏</m:t>
                    </m:r>
                    <m:r>
                      <a:rPr lang="en-US" i="1">
                        <a:solidFill>
                          <a:srgbClr val="FF0000"/>
                        </a:solidFill>
                        <a:latin typeface="Cambria Math"/>
                        <a:ea typeface="Cambria Math"/>
                      </a:rPr>
                      <m:t>≡</m:t>
                    </m:r>
                    <m:r>
                      <a:rPr lang="en-US" b="0" i="1" smtClean="0">
                        <a:solidFill>
                          <a:srgbClr val="FF0000"/>
                        </a:solidFill>
                        <a:latin typeface="Cambria Math"/>
                        <a:ea typeface="Cambria Math"/>
                      </a:rPr>
                      <m:t>𝑏</m:t>
                    </m:r>
                    <m:r>
                      <a:rPr lang="en-US" i="1">
                        <a:solidFill>
                          <a:srgbClr val="FF0000"/>
                        </a:solidFill>
                        <a:latin typeface="Cambria Math"/>
                        <a:ea typeface="Cambria Math"/>
                      </a:rPr>
                      <m:t>∧</m:t>
                    </m:r>
                    <m:r>
                      <a:rPr lang="en-US" b="0" i="1" smtClean="0">
                        <a:solidFill>
                          <a:srgbClr val="FF0000"/>
                        </a:solidFill>
                        <a:latin typeface="Cambria Math"/>
                        <a:ea typeface="Cambria Math"/>
                      </a:rPr>
                      <m:t>𝑎</m:t>
                    </m:r>
                  </m:oMath>
                </a14:m>
                <a:endParaRPr lang="en-US" dirty="0"/>
              </a:p>
              <a:p>
                <a:r>
                  <a:rPr lang="en-US" dirty="0"/>
                  <a:t>Associative laws</a:t>
                </a:r>
              </a:p>
              <a:p>
                <a:pPr lvl="1"/>
                <a14:m>
                  <m:oMath xmlns:m="http://schemas.openxmlformats.org/officeDocument/2006/math">
                    <m:d>
                      <m:dPr>
                        <m:ctrlPr>
                          <a:rPr lang="en-US" b="0" i="1" smtClean="0">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𝑏</m:t>
                        </m:r>
                      </m:e>
                    </m:d>
                    <m:r>
                      <a:rPr lang="en-US" i="1">
                        <a:solidFill>
                          <a:srgbClr val="FF0000"/>
                        </a:solidFill>
                        <a:latin typeface="Cambria Math"/>
                        <a:ea typeface="Cambria Math"/>
                      </a:rPr>
                      <m:t>∨</m:t>
                    </m:r>
                    <m:r>
                      <m:rPr>
                        <m:sty m:val="p"/>
                      </m:rPr>
                      <a:rPr lang="en-US" b="0" i="0" smtClean="0">
                        <a:solidFill>
                          <a:srgbClr val="FF0000"/>
                        </a:solidFill>
                        <a:latin typeface="Cambria Math"/>
                        <a:ea typeface="Cambria Math"/>
                      </a:rPr>
                      <m:t>c</m:t>
                    </m:r>
                    <m:r>
                      <a:rPr lang="en-US" i="1">
                        <a:solidFill>
                          <a:srgbClr val="FF0000"/>
                        </a:solidFill>
                        <a:latin typeface="Cambria Math"/>
                        <a:ea typeface="Cambria Math"/>
                      </a:rPr>
                      <m:t>≡</m:t>
                    </m:r>
                    <m:r>
                      <a:rPr lang="en-US" b="0" i="1" smtClean="0">
                        <a:solidFill>
                          <a:srgbClr val="FF0000"/>
                        </a:solidFill>
                        <a:latin typeface="Cambria Math"/>
                        <a:ea typeface="Cambria Math"/>
                      </a:rPr>
                      <m:t>𝑎</m:t>
                    </m:r>
                    <m:r>
                      <a:rPr lang="en-US" i="1">
                        <a:solidFill>
                          <a:srgbClr val="FF0000"/>
                        </a:solidFill>
                        <a:latin typeface="Cambria Math"/>
                        <a:ea typeface="Cambria Math"/>
                      </a:rPr>
                      <m:t>∨</m:t>
                    </m:r>
                    <m:d>
                      <m:dPr>
                        <m:ctrlPr>
                          <a:rPr lang="en-US" b="0" i="1" smtClean="0">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𝑏</m:t>
                        </m:r>
                        <m:r>
                          <a:rPr lang="en-US" i="1">
                            <a:solidFill>
                              <a:srgbClr val="FF0000"/>
                            </a:solidFill>
                            <a:latin typeface="Cambria Math"/>
                            <a:ea typeface="Cambria Math"/>
                          </a:rPr>
                          <m:t>∨</m:t>
                        </m:r>
                        <m:r>
                          <m:rPr>
                            <m:sty m:val="p"/>
                          </m:rPr>
                          <a:rPr lang="en-US" b="0" i="0" smtClean="0">
                            <a:solidFill>
                              <a:srgbClr val="FF0000"/>
                            </a:solidFill>
                            <a:latin typeface="Cambria Math"/>
                            <a:ea typeface="Cambria Math"/>
                          </a:rPr>
                          <m:t>c</m:t>
                        </m:r>
                      </m:e>
                    </m:d>
                  </m:oMath>
                </a14:m>
                <a:endParaRPr lang="en-US" b="0" dirty="0">
                  <a:solidFill>
                    <a:srgbClr val="FF0000"/>
                  </a:solidFill>
                  <a:ea typeface="Cambria Math"/>
                </a:endParaRPr>
              </a:p>
              <a:p>
                <a:pPr lvl="1"/>
                <a14:m>
                  <m:oMath xmlns:m="http://schemas.openxmlformats.org/officeDocument/2006/math">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𝑏</m:t>
                        </m:r>
                      </m:e>
                    </m:d>
                    <m:r>
                      <a:rPr lang="en-US" i="1">
                        <a:solidFill>
                          <a:srgbClr val="FF0000"/>
                        </a:solidFill>
                        <a:latin typeface="Cambria Math"/>
                        <a:ea typeface="Cambria Math"/>
                      </a:rPr>
                      <m:t>∧</m:t>
                    </m:r>
                    <m:r>
                      <m:rPr>
                        <m:sty m:val="p"/>
                      </m:rPr>
                      <a:rPr lang="en-US" b="0" i="0" smtClean="0">
                        <a:solidFill>
                          <a:srgbClr val="FF0000"/>
                        </a:solidFill>
                        <a:latin typeface="Cambria Math"/>
                        <a:ea typeface="Cambria Math"/>
                      </a:rPr>
                      <m:t>c</m:t>
                    </m:r>
                    <m:r>
                      <a:rPr lang="en-US" i="1">
                        <a:solidFill>
                          <a:srgbClr val="FF0000"/>
                        </a:solidFill>
                        <a:latin typeface="Cambria Math"/>
                        <a:ea typeface="Cambria Math"/>
                      </a:rPr>
                      <m:t>≡</m:t>
                    </m:r>
                    <m:r>
                      <a:rPr lang="en-US" b="0" i="1" smtClean="0">
                        <a:solidFill>
                          <a:srgbClr val="FF0000"/>
                        </a:solidFill>
                        <a:latin typeface="Cambria Math"/>
                        <a:ea typeface="Cambria Math"/>
                      </a:rPr>
                      <m:t>𝑎</m:t>
                    </m:r>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𝑏</m:t>
                        </m:r>
                        <m:r>
                          <a:rPr lang="en-US" i="1">
                            <a:solidFill>
                              <a:srgbClr val="FF0000"/>
                            </a:solidFill>
                            <a:latin typeface="Cambria Math"/>
                            <a:ea typeface="Cambria Math"/>
                          </a:rPr>
                          <m:t>∧</m:t>
                        </m:r>
                        <m:r>
                          <m:rPr>
                            <m:sty m:val="p"/>
                          </m:rPr>
                          <a:rPr lang="en-US" b="0" i="0" smtClean="0">
                            <a:solidFill>
                              <a:srgbClr val="FF0000"/>
                            </a:solidFill>
                            <a:latin typeface="Cambria Math"/>
                            <a:ea typeface="Cambria Math"/>
                          </a:rPr>
                          <m:t>c</m:t>
                        </m:r>
                      </m:e>
                    </m:d>
                  </m:oMath>
                </a14:m>
                <a:endParaRPr lang="en-US" dirty="0"/>
              </a:p>
              <a:p>
                <a:r>
                  <a:rPr lang="en-US" dirty="0"/>
                  <a:t>Distributive laws </a:t>
                </a:r>
              </a:p>
              <a:p>
                <a:pPr lvl="1"/>
                <a14:m>
                  <m:oMath xmlns:m="http://schemas.openxmlformats.org/officeDocument/2006/math">
                    <m:r>
                      <a:rPr lang="en-US" b="0" i="1" smtClean="0">
                        <a:solidFill>
                          <a:srgbClr val="FF0000"/>
                        </a:solidFill>
                        <a:latin typeface="Cambria Math"/>
                        <a:ea typeface="Cambria Math"/>
                      </a:rPr>
                      <m:t>𝑎</m:t>
                    </m:r>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𝑏</m:t>
                        </m:r>
                        <m:r>
                          <a:rPr lang="en-US" i="1">
                            <a:solidFill>
                              <a:srgbClr val="FF0000"/>
                            </a:solidFill>
                            <a:latin typeface="Cambria Math"/>
                            <a:ea typeface="Cambria Math"/>
                          </a:rPr>
                          <m:t>∨</m:t>
                        </m:r>
                        <m:r>
                          <m:rPr>
                            <m:sty m:val="p"/>
                          </m:rPr>
                          <a:rPr lang="en-US" b="0" i="0" smtClean="0">
                            <a:solidFill>
                              <a:srgbClr val="FF0000"/>
                            </a:solidFill>
                            <a:latin typeface="Cambria Math"/>
                            <a:ea typeface="Cambria Math"/>
                          </a:rPr>
                          <m:t>c</m:t>
                        </m:r>
                      </m:e>
                    </m:d>
                    <m:r>
                      <a:rPr lang="en-US" i="1">
                        <a:solidFill>
                          <a:srgbClr val="FF0000"/>
                        </a:solidFill>
                        <a:latin typeface="Cambria Math"/>
                        <a:ea typeface="Cambria Math"/>
                      </a:rPr>
                      <m:t>≡</m:t>
                    </m:r>
                  </m:oMath>
                </a14:m>
                <a:r>
                  <a:rPr lang="en-US" dirty="0">
                    <a:solidFill>
                      <a:srgbClr val="FF0000"/>
                    </a:solidFill>
                    <a:ea typeface="Cambria Math"/>
                  </a:rPr>
                  <a:t> </a:t>
                </a:r>
                <a14:m>
                  <m:oMath xmlns:m="http://schemas.openxmlformats.org/officeDocument/2006/math">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𝑏</m:t>
                        </m:r>
                      </m:e>
                    </m:d>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𝑐</m:t>
                        </m:r>
                      </m:e>
                    </m:d>
                  </m:oMath>
                </a14:m>
                <a:endParaRPr lang="en-US" dirty="0"/>
              </a:p>
              <a:p>
                <a:pPr lvl="1"/>
                <a14:m>
                  <m:oMath xmlns:m="http://schemas.openxmlformats.org/officeDocument/2006/math">
                    <m:r>
                      <a:rPr lang="en-US" b="0" i="1" smtClean="0">
                        <a:solidFill>
                          <a:srgbClr val="FF0000"/>
                        </a:solidFill>
                        <a:latin typeface="Cambria Math"/>
                        <a:ea typeface="Cambria Math"/>
                      </a:rPr>
                      <m:t>𝑎</m:t>
                    </m:r>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𝑏</m:t>
                        </m:r>
                        <m:r>
                          <a:rPr lang="en-US" i="1">
                            <a:solidFill>
                              <a:srgbClr val="FF0000"/>
                            </a:solidFill>
                            <a:latin typeface="Cambria Math"/>
                            <a:ea typeface="Cambria Math"/>
                          </a:rPr>
                          <m:t>∧</m:t>
                        </m:r>
                        <m:r>
                          <m:rPr>
                            <m:sty m:val="p"/>
                          </m:rPr>
                          <a:rPr lang="en-US" b="0" i="0" smtClean="0">
                            <a:solidFill>
                              <a:srgbClr val="FF0000"/>
                            </a:solidFill>
                            <a:latin typeface="Cambria Math"/>
                            <a:ea typeface="Cambria Math"/>
                          </a:rPr>
                          <m:t>c</m:t>
                        </m:r>
                      </m:e>
                    </m:d>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𝑏</m:t>
                        </m:r>
                      </m:e>
                    </m:d>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b="0" i="1" smtClean="0">
                            <a:solidFill>
                              <a:srgbClr val="FF0000"/>
                            </a:solidFill>
                            <a:latin typeface="Cambria Math"/>
                            <a:ea typeface="Cambria Math"/>
                          </a:rPr>
                          <m:t>𝑎</m:t>
                        </m:r>
                        <m:r>
                          <a:rPr lang="en-US" i="1">
                            <a:solidFill>
                              <a:srgbClr val="FF0000"/>
                            </a:solidFill>
                            <a:latin typeface="Cambria Math"/>
                            <a:ea typeface="Cambria Math"/>
                          </a:rPr>
                          <m:t>∨</m:t>
                        </m:r>
                        <m:r>
                          <a:rPr lang="en-US" b="0" i="1" smtClean="0">
                            <a:solidFill>
                              <a:srgbClr val="FF0000"/>
                            </a:solidFill>
                            <a:latin typeface="Cambria Math"/>
                            <a:ea typeface="Cambria Math"/>
                          </a:rPr>
                          <m:t>𝑐</m:t>
                        </m:r>
                      </m:e>
                    </m:d>
                  </m:oMath>
                </a14:m>
                <a:endParaRPr lang="en-US" b="0" dirty="0">
                  <a:solidFill>
                    <a:srgbClr val="FF0000"/>
                  </a:solidFill>
                  <a:ea typeface="Cambria Math"/>
                </a:endParaRPr>
              </a:p>
              <a:p>
                <a:r>
                  <a:rPr lang="en-US" dirty="0"/>
                  <a:t>De Morgan’s laws </a:t>
                </a:r>
              </a:p>
              <a:p>
                <a:pPr lvl="1"/>
                <a14:m>
                  <m:oMath xmlns:m="http://schemas.openxmlformats.org/officeDocument/2006/math">
                    <m:r>
                      <a:rPr lang="en-US" i="1">
                        <a:solidFill>
                          <a:srgbClr val="FF0000"/>
                        </a:solidFill>
                        <a:latin typeface="Cambria Math"/>
                        <a:ea typeface="Cambria Math"/>
                      </a:rPr>
                      <m:t>¬(</m:t>
                    </m:r>
                    <m:r>
                      <a:rPr lang="en-US" i="1">
                        <a:solidFill>
                          <a:srgbClr val="FF0000"/>
                        </a:solidFill>
                        <a:latin typeface="Cambria Math"/>
                        <a:ea typeface="Cambria Math"/>
                      </a:rPr>
                      <m:t>𝑎</m:t>
                    </m:r>
                    <m:r>
                      <a:rPr lang="en-US" i="1">
                        <a:solidFill>
                          <a:srgbClr val="FF0000"/>
                        </a:solidFill>
                        <a:latin typeface="Cambria Math"/>
                        <a:ea typeface="Cambria Math"/>
                      </a:rPr>
                      <m:t>∨</m:t>
                    </m:r>
                    <m:r>
                      <a:rPr lang="en-US" i="1">
                        <a:solidFill>
                          <a:srgbClr val="FF0000"/>
                        </a:solidFill>
                        <a:latin typeface="Cambria Math"/>
                        <a:ea typeface="Cambria Math"/>
                      </a:rPr>
                      <m:t>𝑏</m:t>
                    </m:r>
                    <m:r>
                      <a:rPr lang="en-US" i="1">
                        <a:solidFill>
                          <a:srgbClr val="FF0000"/>
                        </a:solidFill>
                        <a:latin typeface="Cambria Math"/>
                        <a:ea typeface="Cambria Math"/>
                      </a:rPr>
                      <m:t>)≡¬</m:t>
                    </m:r>
                    <m:r>
                      <a:rPr lang="en-US" i="1">
                        <a:solidFill>
                          <a:srgbClr val="FF0000"/>
                        </a:solidFill>
                        <a:latin typeface="Cambria Math"/>
                        <a:ea typeface="Cambria Math"/>
                      </a:rPr>
                      <m:t>𝑎</m:t>
                    </m:r>
                    <m:r>
                      <a:rPr lang="en-US" i="1">
                        <a:solidFill>
                          <a:srgbClr val="FF0000"/>
                        </a:solidFill>
                        <a:latin typeface="Cambria Math"/>
                        <a:ea typeface="Cambria Math"/>
                      </a:rPr>
                      <m:t>∧</m:t>
                    </m:r>
                  </m:oMath>
                </a14:m>
                <a:r>
                  <a:rPr lang="en-US" dirty="0">
                    <a:solidFill>
                      <a:srgbClr val="FF0000"/>
                    </a:solidFill>
                    <a:ea typeface="Cambria Math"/>
                  </a:rPr>
                  <a:t> </a:t>
                </a:r>
                <a14:m>
                  <m:oMath xmlns:m="http://schemas.openxmlformats.org/officeDocument/2006/math">
                    <m:r>
                      <a:rPr lang="en-US" i="1">
                        <a:solidFill>
                          <a:srgbClr val="FF0000"/>
                        </a:solidFill>
                        <a:latin typeface="Cambria Math"/>
                        <a:ea typeface="Cambria Math"/>
                      </a:rPr>
                      <m:t>¬</m:t>
                    </m:r>
                    <m:r>
                      <a:rPr lang="en-US" i="1">
                        <a:solidFill>
                          <a:srgbClr val="FF0000"/>
                        </a:solidFill>
                        <a:latin typeface="Cambria Math"/>
                        <a:ea typeface="Cambria Math"/>
                      </a:rPr>
                      <m:t>𝑏</m:t>
                    </m:r>
                  </m:oMath>
                </a14:m>
                <a:endParaRPr lang="en-US" i="1" dirty="0">
                  <a:solidFill>
                    <a:srgbClr val="FF0000"/>
                  </a:solidFill>
                  <a:latin typeface="Cambria Math"/>
                  <a:ea typeface="Cambria Math"/>
                </a:endParaRPr>
              </a:p>
              <a:p>
                <a:pPr lvl="1"/>
                <a14:m>
                  <m:oMath xmlns:m="http://schemas.openxmlformats.org/officeDocument/2006/math">
                    <m:r>
                      <a:rPr lang="en-US" i="1">
                        <a:solidFill>
                          <a:srgbClr val="FF0000"/>
                        </a:solidFill>
                        <a:latin typeface="Cambria Math"/>
                        <a:ea typeface="Cambria Math"/>
                      </a:rPr>
                      <m:t>¬(</m:t>
                    </m:r>
                    <m:r>
                      <a:rPr lang="en-US" i="1">
                        <a:solidFill>
                          <a:srgbClr val="FF0000"/>
                        </a:solidFill>
                        <a:latin typeface="Cambria Math"/>
                        <a:ea typeface="Cambria Math"/>
                      </a:rPr>
                      <m:t>𝑎</m:t>
                    </m:r>
                    <m:r>
                      <a:rPr lang="en-US" i="1">
                        <a:solidFill>
                          <a:srgbClr val="FF0000"/>
                        </a:solidFill>
                        <a:latin typeface="Cambria Math"/>
                        <a:ea typeface="Cambria Math"/>
                      </a:rPr>
                      <m:t>∧</m:t>
                    </m:r>
                    <m:r>
                      <a:rPr lang="en-US" i="1">
                        <a:solidFill>
                          <a:srgbClr val="FF0000"/>
                        </a:solidFill>
                        <a:latin typeface="Cambria Math"/>
                        <a:ea typeface="Cambria Math"/>
                      </a:rPr>
                      <m:t>𝑏</m:t>
                    </m:r>
                    <m:r>
                      <a:rPr lang="en-US" i="1">
                        <a:solidFill>
                          <a:srgbClr val="FF0000"/>
                        </a:solidFill>
                        <a:latin typeface="Cambria Math"/>
                        <a:ea typeface="Cambria Math"/>
                      </a:rPr>
                      <m:t>)≡¬</m:t>
                    </m:r>
                    <m:r>
                      <a:rPr lang="en-US" i="1">
                        <a:solidFill>
                          <a:srgbClr val="FF0000"/>
                        </a:solidFill>
                        <a:latin typeface="Cambria Math"/>
                        <a:ea typeface="Cambria Math"/>
                      </a:rPr>
                      <m:t>𝑎</m:t>
                    </m:r>
                  </m:oMath>
                </a14:m>
                <a:r>
                  <a:rPr lang="en-US" dirty="0">
                    <a:solidFill>
                      <a:srgbClr val="FF0000"/>
                    </a:solidFill>
                    <a:ea typeface="Cambria Math"/>
                  </a:rPr>
                  <a:t> </a:t>
                </a:r>
                <a14:m>
                  <m:oMath xmlns:m="http://schemas.openxmlformats.org/officeDocument/2006/math">
                    <m:r>
                      <a:rPr lang="en-US" i="1">
                        <a:solidFill>
                          <a:srgbClr val="FF0000"/>
                        </a:solidFill>
                        <a:latin typeface="Cambria Math"/>
                        <a:ea typeface="Cambria Math"/>
                      </a:rPr>
                      <m:t>∨</m:t>
                    </m:r>
                  </m:oMath>
                </a14:m>
                <a:r>
                  <a:rPr lang="en-US" dirty="0">
                    <a:solidFill>
                      <a:srgbClr val="FF0000"/>
                    </a:solidFill>
                    <a:ea typeface="Cambria Math"/>
                  </a:rPr>
                  <a:t> </a:t>
                </a:r>
                <a14:m>
                  <m:oMath xmlns:m="http://schemas.openxmlformats.org/officeDocument/2006/math">
                    <m:r>
                      <a:rPr lang="en-US" i="1">
                        <a:solidFill>
                          <a:srgbClr val="FF0000"/>
                        </a:solidFill>
                        <a:latin typeface="Cambria Math"/>
                        <a:ea typeface="Cambria Math"/>
                      </a:rPr>
                      <m:t>¬</m:t>
                    </m:r>
                    <m:r>
                      <a:rPr lang="en-US" i="1">
                        <a:solidFill>
                          <a:srgbClr val="FF0000"/>
                        </a:solidFill>
                        <a:latin typeface="Cambria Math"/>
                        <a:ea typeface="Cambria Math"/>
                      </a:rPr>
                      <m:t>𝑏</m:t>
                    </m:r>
                  </m:oMath>
                </a14:m>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3964692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335"/>
            <a:ext cx="7848600" cy="867410"/>
          </a:xfrm>
        </p:spPr>
        <p:txBody>
          <a:bodyPr>
            <a:normAutofit/>
          </a:bodyPr>
          <a:lstStyle/>
          <a:p>
            <a:r>
              <a:rPr lang="en-US" dirty="0"/>
              <a:t>Conjunctive normal form - CNF(1/2)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A disjunction preposition is the disjunction of many literal clause.</a:t>
                </a:r>
              </a:p>
              <a:p>
                <a:pPr lvl="1"/>
                <a:r>
                  <a:rPr lang="en-US" dirty="0"/>
                  <a:t>Disjunction clause has form </a:t>
                </a:r>
                <a14:m>
                  <m:oMath xmlns:m="http://schemas.openxmlformats.org/officeDocument/2006/math">
                    <m:r>
                      <a:rPr lang="en-US" i="1" dirty="0" smtClean="0">
                        <a:solidFill>
                          <a:srgbClr val="FF0000"/>
                        </a:solidFill>
                        <a:latin typeface="Cambria Math"/>
                      </a:rPr>
                      <m:t>𝑝</m:t>
                    </m:r>
                    <m:r>
                      <a:rPr lang="en-US" i="1" baseline="-25000" dirty="0">
                        <a:solidFill>
                          <a:srgbClr val="FF0000"/>
                        </a:solidFill>
                        <a:latin typeface="Cambria Math"/>
                      </a:rPr>
                      <m:t>1</m:t>
                    </m:r>
                    <m:r>
                      <a:rPr lang="en-US" i="1" dirty="0" smtClean="0">
                        <a:solidFill>
                          <a:srgbClr val="FF0000"/>
                        </a:solidFill>
                        <a:latin typeface="Cambria Math"/>
                        <a:ea typeface="Cambria Math"/>
                        <a:sym typeface="Symbol" pitchFamily="18" charset="2"/>
                      </a:rPr>
                      <m:t>∨</m:t>
                    </m:r>
                    <m:r>
                      <a:rPr lang="en-US" i="1" dirty="0">
                        <a:solidFill>
                          <a:srgbClr val="FF0000"/>
                        </a:solidFill>
                        <a:latin typeface="Cambria Math"/>
                      </a:rPr>
                      <m:t>𝑝</m:t>
                    </m:r>
                    <m:r>
                      <a:rPr lang="en-US" i="1" baseline="-25000" dirty="0">
                        <a:solidFill>
                          <a:srgbClr val="FF0000"/>
                        </a:solidFill>
                        <a:latin typeface="Cambria Math"/>
                      </a:rPr>
                      <m:t>2</m:t>
                    </m:r>
                    <m:r>
                      <a:rPr lang="en-US" i="1" dirty="0" smtClean="0">
                        <a:solidFill>
                          <a:srgbClr val="FF0000"/>
                        </a:solidFill>
                        <a:latin typeface="Cambria Math"/>
                        <a:ea typeface="Cambria Math"/>
                        <a:sym typeface="Symbol" pitchFamily="18" charset="2"/>
                      </a:rPr>
                      <m:t>∨</m:t>
                    </m:r>
                    <m:r>
                      <a:rPr lang="en-US" i="1" dirty="0">
                        <a:solidFill>
                          <a:srgbClr val="FF0000"/>
                        </a:solidFill>
                        <a:latin typeface="Cambria Math"/>
                        <a:sym typeface="Symbol" pitchFamily="18" charset="2"/>
                      </a:rPr>
                      <m:t>.</m:t>
                    </m:r>
                    <m:r>
                      <a:rPr lang="en-US" b="0" i="1" dirty="0" smtClean="0">
                        <a:solidFill>
                          <a:srgbClr val="FF0000"/>
                        </a:solidFill>
                        <a:latin typeface="Cambria Math"/>
                        <a:sym typeface="Symbol" pitchFamily="18" charset="2"/>
                      </a:rPr>
                      <m:t>.</m:t>
                    </m:r>
                    <m:r>
                      <a:rPr lang="en-US" i="1" dirty="0">
                        <a:solidFill>
                          <a:srgbClr val="FF0000"/>
                        </a:solidFill>
                        <a:latin typeface="Cambria Math"/>
                        <a:sym typeface="Symbol" pitchFamily="18" charset="2"/>
                      </a:rPr>
                      <m:t>.</m:t>
                    </m:r>
                    <m:r>
                      <a:rPr lang="en-US" i="1" dirty="0" smtClean="0">
                        <a:solidFill>
                          <a:srgbClr val="FF0000"/>
                        </a:solidFill>
                        <a:latin typeface="Cambria Math"/>
                        <a:ea typeface="Cambria Math"/>
                        <a:sym typeface="Symbol" pitchFamily="18" charset="2"/>
                      </a:rPr>
                      <m:t>∨</m:t>
                    </m:r>
                    <m:r>
                      <a:rPr lang="en-US" i="1" dirty="0" err="1" smtClean="0">
                        <a:solidFill>
                          <a:srgbClr val="FF0000"/>
                        </a:solidFill>
                        <a:latin typeface="Cambria Math"/>
                      </a:rPr>
                      <m:t>𝑝</m:t>
                    </m:r>
                    <m:r>
                      <a:rPr lang="en-US" i="1" baseline="-25000" dirty="0" err="1" smtClean="0">
                        <a:solidFill>
                          <a:srgbClr val="FF0000"/>
                        </a:solidFill>
                        <a:latin typeface="Cambria Math"/>
                      </a:rPr>
                      <m:t>𝑛</m:t>
                    </m:r>
                    <m:r>
                      <a:rPr lang="en-US" i="1" baseline="-25000" dirty="0" smtClean="0">
                        <a:solidFill>
                          <a:srgbClr val="FF0000"/>
                        </a:solidFill>
                        <a:latin typeface="Cambria Math"/>
                      </a:rPr>
                      <m:t> </m:t>
                    </m:r>
                  </m:oMath>
                </a14:m>
                <a:r>
                  <a:rPr lang="en-US" dirty="0"/>
                  <a:t> where </a:t>
                </a:r>
                <a14:m>
                  <m:oMath xmlns:m="http://schemas.openxmlformats.org/officeDocument/2006/math">
                    <m:r>
                      <a:rPr lang="en-US" i="1" dirty="0">
                        <a:latin typeface="Cambria Math"/>
                      </a:rPr>
                      <m:t>𝑝</m:t>
                    </m:r>
                    <m:r>
                      <a:rPr lang="en-US" b="0" i="1" baseline="-25000" dirty="0" smtClean="0">
                        <a:latin typeface="Cambria Math"/>
                      </a:rPr>
                      <m:t>𝑖</m:t>
                    </m:r>
                  </m:oMath>
                </a14:m>
                <a:r>
                  <a:rPr lang="en-US" dirty="0"/>
                  <a:t> is literal clause</a:t>
                </a:r>
              </a:p>
              <a:p>
                <a:endParaRPr lang="en-US" dirty="0"/>
              </a:p>
              <a:p>
                <a:r>
                  <a:rPr lang="en-US" dirty="0"/>
                  <a:t>A formula in CNF if it is the conjunction of many disjunction clauses.</a:t>
                </a:r>
              </a:p>
              <a:p>
                <a:pPr marL="274320" lvl="1"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a:ea typeface="Cambria Math"/>
                        </a:rPr>
                        <m:t>(</m:t>
                      </m:r>
                      <m:r>
                        <a:rPr lang="en-US" i="1">
                          <a:solidFill>
                            <a:srgbClr val="FF0000"/>
                          </a:solidFill>
                          <a:latin typeface="Cambria Math"/>
                          <a:ea typeface="Cambria Math"/>
                        </a:rPr>
                        <m:t>𝑎</m:t>
                      </m:r>
                      <m:r>
                        <a:rPr lang="en-US" i="1" smtClean="0">
                          <a:solidFill>
                            <a:srgbClr val="FF0000"/>
                          </a:solidFill>
                          <a:latin typeface="Cambria Math"/>
                          <a:ea typeface="Cambria Math"/>
                        </a:rPr>
                        <m:t>∨</m:t>
                      </m:r>
                      <m:r>
                        <a:rPr lang="en-US" b="0" i="1" smtClean="0">
                          <a:solidFill>
                            <a:srgbClr val="FF0000"/>
                          </a:solidFill>
                          <a:latin typeface="Cambria Math"/>
                          <a:ea typeface="Cambria Math"/>
                        </a:rPr>
                        <m:t>𝑒</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𝑓</m:t>
                      </m:r>
                      <m:r>
                        <a:rPr lang="en-US" b="0" i="1" smtClean="0">
                          <a:solidFill>
                            <a:srgbClr val="FF0000"/>
                          </a:solidFill>
                          <a:latin typeface="Cambria Math"/>
                          <a:ea typeface="Cambria Math"/>
                        </a:rPr>
                        <m:t>∨</m:t>
                      </m:r>
                      <m:r>
                        <a:rPr lang="en-US" b="0" i="1" smtClean="0">
                          <a:solidFill>
                            <a:srgbClr val="FF0000"/>
                          </a:solidFill>
                          <a:latin typeface="Cambria Math"/>
                          <a:ea typeface="Cambria Math"/>
                        </a:rPr>
                        <m:t>𝑔</m:t>
                      </m:r>
                      <m:r>
                        <a:rPr lang="en-US" b="0" i="1" smtClean="0">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i="1">
                              <a:solidFill>
                                <a:srgbClr val="FF0000"/>
                              </a:solidFill>
                              <a:latin typeface="Cambria Math"/>
                              <a:ea typeface="Cambria Math"/>
                            </a:rPr>
                            <m:t>𝑏</m:t>
                          </m:r>
                          <m:r>
                            <a:rPr lang="en-US" i="1">
                              <a:solidFill>
                                <a:srgbClr val="FF0000"/>
                              </a:solidFill>
                              <a:latin typeface="Cambria Math"/>
                              <a:ea typeface="Cambria Math"/>
                            </a:rPr>
                            <m:t>∨</m:t>
                          </m:r>
                          <m:r>
                            <m:rPr>
                              <m:sty m:val="p"/>
                            </m:rPr>
                            <a:rPr lang="en-US">
                              <a:solidFill>
                                <a:srgbClr val="FF0000"/>
                              </a:solidFill>
                              <a:latin typeface="Cambria Math"/>
                              <a:ea typeface="Cambria Math"/>
                            </a:rPr>
                            <m:t>c</m:t>
                          </m:r>
                          <m:r>
                            <a:rPr lang="en-US" i="1" smtClean="0">
                              <a:solidFill>
                                <a:srgbClr val="FF0000"/>
                              </a:solidFill>
                              <a:latin typeface="Cambria Math"/>
                              <a:ea typeface="Cambria Math"/>
                            </a:rPr>
                            <m:t>∨</m:t>
                          </m:r>
                          <m:r>
                            <a:rPr lang="en-US" b="0" i="1" smtClean="0">
                              <a:solidFill>
                                <a:srgbClr val="FF0000"/>
                              </a:solidFill>
                              <a:latin typeface="Cambria Math"/>
                              <a:ea typeface="Cambria Math"/>
                            </a:rPr>
                            <m:t>𝑑</m:t>
                          </m:r>
                        </m:e>
                      </m:d>
                    </m:oMath>
                  </m:oMathPara>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333"/>
                </a:stretch>
              </a:blipFill>
            </p:spPr>
            <p:txBody>
              <a:bodyPr/>
              <a:lstStyle/>
              <a:p>
                <a:r>
                  <a:rPr lang="en-US">
                    <a:noFill/>
                  </a:rPr>
                  <a:t> </a:t>
                </a:r>
              </a:p>
            </p:txBody>
          </p:sp>
        </mc:Fallback>
      </mc:AlternateContent>
    </p:spTree>
    <p:extLst>
      <p:ext uri="{BB962C8B-B14F-4D97-AF65-F5344CB8AC3E}">
        <p14:creationId xmlns:p14="http://schemas.microsoft.com/office/powerpoint/2010/main" val="263305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Conjunctive normal form – CNF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We can convert any formula to CNF by transforming according to the following principle:</a:t>
                </a:r>
              </a:p>
              <a:p>
                <a:pPr lvl="1"/>
                <a:r>
                  <a:rPr lang="en-US" dirty="0"/>
                  <a:t>Eliminate equivalences: </a:t>
                </a:r>
              </a:p>
              <a:p>
                <a:pPr marL="274320" lvl="1" indent="0">
                  <a:buNone/>
                </a:pPr>
                <a14:m>
                  <m:oMathPara xmlns:m="http://schemas.openxmlformats.org/officeDocument/2006/math">
                    <m:oMathParaPr>
                      <m:jc m:val="centerGroup"/>
                    </m:oMathParaPr>
                    <m:oMath xmlns:m="http://schemas.openxmlformats.org/officeDocument/2006/math">
                      <m:r>
                        <a:rPr lang="en-US" i="1">
                          <a:solidFill>
                            <a:srgbClr val="FF0000"/>
                          </a:solidFill>
                          <a:latin typeface="Cambria Math"/>
                        </a:rPr>
                        <m:t>𝑎</m:t>
                      </m:r>
                      <m:r>
                        <a:rPr lang="en-US" i="1">
                          <a:solidFill>
                            <a:srgbClr val="FF0000"/>
                          </a:solidFill>
                          <a:latin typeface="Cambria Math"/>
                          <a:ea typeface="Cambria Math"/>
                        </a:rPr>
                        <m:t>⇔</m:t>
                      </m:r>
                      <m:r>
                        <a:rPr lang="en-US" i="1">
                          <a:solidFill>
                            <a:srgbClr val="FF0000"/>
                          </a:solidFill>
                          <a:latin typeface="Cambria Math"/>
                          <a:ea typeface="Cambria Math"/>
                        </a:rPr>
                        <m:t>𝑏</m:t>
                      </m:r>
                      <m:r>
                        <a:rPr lang="en-US" i="1">
                          <a:solidFill>
                            <a:srgbClr val="FF0000"/>
                          </a:solidFill>
                          <a:latin typeface="Cambria Math"/>
                          <a:ea typeface="Cambria Math"/>
                        </a:rPr>
                        <m:t>≡</m:t>
                      </m:r>
                      <m:r>
                        <a:rPr lang="en-US">
                          <a:solidFill>
                            <a:srgbClr val="FF0000"/>
                          </a:solidFill>
                          <a:latin typeface="Cambria Math"/>
                          <a:ea typeface="Cambria Math"/>
                        </a:rPr>
                        <m:t>(</m:t>
                      </m:r>
                      <m:r>
                        <a:rPr lang="en-US" i="1">
                          <a:solidFill>
                            <a:srgbClr val="FF0000"/>
                          </a:solidFill>
                          <a:latin typeface="Cambria Math"/>
                        </a:rPr>
                        <m:t>𝑎</m:t>
                      </m:r>
                      <m:r>
                        <a:rPr lang="en-US" i="1">
                          <a:solidFill>
                            <a:srgbClr val="FF0000"/>
                          </a:solidFill>
                          <a:latin typeface="Cambria Math"/>
                          <a:ea typeface="Cambria Math"/>
                        </a:rPr>
                        <m:t>⇒</m:t>
                      </m:r>
                      <m:r>
                        <a:rPr lang="en-US" i="1">
                          <a:solidFill>
                            <a:srgbClr val="FF0000"/>
                          </a:solidFill>
                          <a:latin typeface="Cambria Math"/>
                          <a:ea typeface="Cambria Math"/>
                        </a:rPr>
                        <m:t>𝑏</m:t>
                      </m:r>
                      <m:r>
                        <a:rPr lang="en-US">
                          <a:solidFill>
                            <a:srgbClr val="FF0000"/>
                          </a:solidFill>
                          <a:latin typeface="Cambria Math"/>
                          <a:ea typeface="Cambria Math"/>
                        </a:rPr>
                        <m:t>)</m:t>
                      </m:r>
                      <m:r>
                        <a:rPr lang="en-US" i="1">
                          <a:solidFill>
                            <a:srgbClr val="FF0000"/>
                          </a:solidFill>
                          <a:latin typeface="Cambria Math"/>
                          <a:ea typeface="Cambria Math"/>
                        </a:rPr>
                        <m:t>∧</m:t>
                      </m:r>
                      <m:r>
                        <a:rPr lang="en-US">
                          <a:solidFill>
                            <a:srgbClr val="FF0000"/>
                          </a:solidFill>
                          <a:latin typeface="Cambria Math"/>
                          <a:ea typeface="Cambria Math"/>
                        </a:rPr>
                        <m:t>(</m:t>
                      </m:r>
                      <m:r>
                        <a:rPr lang="en-US" i="1">
                          <a:solidFill>
                            <a:srgbClr val="FF0000"/>
                          </a:solidFill>
                          <a:latin typeface="Cambria Math"/>
                          <a:ea typeface="Cambria Math"/>
                        </a:rPr>
                        <m:t>𝑏</m:t>
                      </m:r>
                      <m:r>
                        <a:rPr lang="en-US" i="1">
                          <a:solidFill>
                            <a:srgbClr val="FF0000"/>
                          </a:solidFill>
                          <a:latin typeface="Cambria Math"/>
                          <a:ea typeface="Cambria Math"/>
                        </a:rPr>
                        <m:t>⇒</m:t>
                      </m:r>
                      <m:r>
                        <a:rPr lang="en-US" i="1">
                          <a:solidFill>
                            <a:srgbClr val="FF0000"/>
                          </a:solidFill>
                          <a:latin typeface="Cambria Math"/>
                          <a:ea typeface="Cambria Math"/>
                        </a:rPr>
                        <m:t>𝑎</m:t>
                      </m:r>
                      <m:r>
                        <a:rPr lang="en-US">
                          <a:solidFill>
                            <a:srgbClr val="FF0000"/>
                          </a:solidFill>
                          <a:latin typeface="Cambria Math"/>
                          <a:ea typeface="Cambria Math"/>
                        </a:rPr>
                        <m:t>)</m:t>
                      </m:r>
                    </m:oMath>
                  </m:oMathPara>
                </a14:m>
                <a:endParaRPr lang="en-US" dirty="0"/>
              </a:p>
              <a:p>
                <a:pPr lvl="1"/>
                <a:r>
                  <a:rPr lang="en-US" dirty="0"/>
                  <a:t>Eliminate material implication:</a:t>
                </a:r>
              </a:p>
              <a:p>
                <a:pPr marL="274320" lvl="1" indent="0">
                  <a:buNone/>
                </a:pPr>
                <a14:m>
                  <m:oMathPara xmlns:m="http://schemas.openxmlformats.org/officeDocument/2006/math">
                    <m:oMathParaPr>
                      <m:jc m:val="centerGroup"/>
                    </m:oMathParaPr>
                    <m:oMath xmlns:m="http://schemas.openxmlformats.org/officeDocument/2006/math">
                      <m:r>
                        <a:rPr lang="en-US" i="1">
                          <a:solidFill>
                            <a:srgbClr val="FF0000"/>
                          </a:solidFill>
                          <a:latin typeface="Cambria Math"/>
                        </a:rPr>
                        <m:t>𝑎</m:t>
                      </m:r>
                      <m:r>
                        <a:rPr lang="en-US" i="1">
                          <a:solidFill>
                            <a:srgbClr val="FF0000"/>
                          </a:solidFill>
                          <a:latin typeface="Cambria Math"/>
                          <a:ea typeface="Cambria Math"/>
                        </a:rPr>
                        <m:t>⇒</m:t>
                      </m:r>
                      <m:r>
                        <a:rPr lang="en-US" i="1">
                          <a:solidFill>
                            <a:srgbClr val="FF0000"/>
                          </a:solidFill>
                          <a:latin typeface="Cambria Math"/>
                          <a:ea typeface="Cambria Math"/>
                        </a:rPr>
                        <m:t>𝑏</m:t>
                      </m:r>
                      <m:r>
                        <a:rPr lang="en-US" i="1">
                          <a:solidFill>
                            <a:srgbClr val="FF0000"/>
                          </a:solidFill>
                          <a:latin typeface="Cambria Math"/>
                          <a:ea typeface="Cambria Math"/>
                        </a:rPr>
                        <m:t>≡¬</m:t>
                      </m:r>
                      <m:r>
                        <a:rPr lang="en-US" i="1">
                          <a:solidFill>
                            <a:srgbClr val="FF0000"/>
                          </a:solidFill>
                          <a:latin typeface="Cambria Math"/>
                          <a:ea typeface="Cambria Math"/>
                        </a:rPr>
                        <m:t>𝑎</m:t>
                      </m:r>
                      <m:r>
                        <a:rPr lang="en-US" i="1">
                          <a:solidFill>
                            <a:srgbClr val="FF0000"/>
                          </a:solidFill>
                          <a:latin typeface="Cambria Math"/>
                          <a:ea typeface="Cambria Math"/>
                        </a:rPr>
                        <m:t>∨</m:t>
                      </m:r>
                      <m:r>
                        <a:rPr lang="en-US" i="1">
                          <a:solidFill>
                            <a:srgbClr val="FF0000"/>
                          </a:solidFill>
                          <a:latin typeface="Cambria Math"/>
                          <a:ea typeface="Cambria Math"/>
                        </a:rPr>
                        <m:t>𝑏</m:t>
                      </m:r>
                    </m:oMath>
                  </m:oMathPara>
                </a14:m>
                <a:endParaRPr lang="en-US" i="1" dirty="0">
                  <a:solidFill>
                    <a:srgbClr val="FF0000"/>
                  </a:solidFill>
                  <a:latin typeface="Cambria Math"/>
                  <a:ea typeface="Cambria Math"/>
                </a:endParaRPr>
              </a:p>
              <a:p>
                <a:pPr lvl="1"/>
                <a:r>
                  <a:rPr lang="en-US" dirty="0"/>
                  <a:t>Transform negations into propositional notation by applying De Morgan’s law. </a:t>
                </a:r>
              </a:p>
              <a:p>
                <a:pPr lvl="1"/>
                <a:r>
                  <a:rPr lang="en-US" dirty="0"/>
                  <a:t>Eliminate double negation: </a:t>
                </a:r>
                <a14:m>
                  <m:oMath xmlns:m="http://schemas.openxmlformats.org/officeDocument/2006/math">
                    <m:r>
                      <a:rPr lang="en-US" i="1">
                        <a:solidFill>
                          <a:srgbClr val="FF0000"/>
                        </a:solidFill>
                        <a:latin typeface="Cambria Math"/>
                        <a:ea typeface="Cambria Math"/>
                      </a:rPr>
                      <m:t>¬(¬</m:t>
                    </m:r>
                    <m:r>
                      <a:rPr lang="en-US" i="1">
                        <a:solidFill>
                          <a:srgbClr val="FF0000"/>
                        </a:solidFill>
                        <a:latin typeface="Cambria Math"/>
                        <a:ea typeface="Cambria Math"/>
                      </a:rPr>
                      <m:t>𝑎</m:t>
                    </m:r>
                    <m:r>
                      <a:rPr lang="en-US" i="1">
                        <a:solidFill>
                          <a:srgbClr val="FF0000"/>
                        </a:solidFill>
                        <a:latin typeface="Cambria Math"/>
                        <a:ea typeface="Cambria Math"/>
                      </a:rPr>
                      <m:t>)≡</m:t>
                    </m:r>
                    <m:r>
                      <a:rPr lang="en-US" i="1">
                        <a:solidFill>
                          <a:srgbClr val="FF0000"/>
                        </a:solidFill>
                        <a:latin typeface="Cambria Math"/>
                      </a:rPr>
                      <m:t>𝑎</m:t>
                    </m:r>
                  </m:oMath>
                </a14:m>
                <a:endParaRPr lang="en-US" dirty="0"/>
              </a:p>
              <a:p>
                <a:pPr lvl="1"/>
                <a:r>
                  <a:rPr lang="en-US" dirty="0"/>
                  <a:t>Apply distributive laws: </a:t>
                </a:r>
              </a:p>
              <a:p>
                <a:pPr marL="274320" lvl="1" indent="0">
                  <a:buNone/>
                </a:pPr>
                <a14:m>
                  <m:oMathPara xmlns:m="http://schemas.openxmlformats.org/officeDocument/2006/math">
                    <m:oMathParaPr>
                      <m:jc m:val="centerGroup"/>
                    </m:oMathParaPr>
                    <m:oMath xmlns:m="http://schemas.openxmlformats.org/officeDocument/2006/math">
                      <m:r>
                        <a:rPr lang="en-US" i="1">
                          <a:solidFill>
                            <a:srgbClr val="FF0000"/>
                          </a:solidFill>
                          <a:latin typeface="Cambria Math"/>
                          <a:ea typeface="Cambria Math"/>
                        </a:rPr>
                        <m:t>𝑎</m:t>
                      </m:r>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i="1">
                              <a:solidFill>
                                <a:srgbClr val="FF0000"/>
                              </a:solidFill>
                              <a:latin typeface="Cambria Math"/>
                              <a:ea typeface="Cambria Math"/>
                            </a:rPr>
                            <m:t>𝑏</m:t>
                          </m:r>
                          <m:r>
                            <a:rPr lang="en-US" i="1">
                              <a:solidFill>
                                <a:srgbClr val="FF0000"/>
                              </a:solidFill>
                              <a:latin typeface="Cambria Math"/>
                              <a:ea typeface="Cambria Math"/>
                            </a:rPr>
                            <m:t>∧</m:t>
                          </m:r>
                          <m:r>
                            <m:rPr>
                              <m:sty m:val="p"/>
                            </m:rPr>
                            <a:rPr lang="en-US">
                              <a:solidFill>
                                <a:srgbClr val="FF0000"/>
                              </a:solidFill>
                              <a:latin typeface="Cambria Math"/>
                              <a:ea typeface="Cambria Math"/>
                            </a:rPr>
                            <m:t>c</m:t>
                          </m:r>
                        </m:e>
                      </m:d>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i="1">
                              <a:solidFill>
                                <a:srgbClr val="FF0000"/>
                              </a:solidFill>
                              <a:latin typeface="Cambria Math"/>
                              <a:ea typeface="Cambria Math"/>
                            </a:rPr>
                            <m:t>𝑎</m:t>
                          </m:r>
                          <m:r>
                            <a:rPr lang="en-US" i="1">
                              <a:solidFill>
                                <a:srgbClr val="FF0000"/>
                              </a:solidFill>
                              <a:latin typeface="Cambria Math"/>
                              <a:ea typeface="Cambria Math"/>
                            </a:rPr>
                            <m:t>∨</m:t>
                          </m:r>
                          <m:r>
                            <a:rPr lang="en-US" i="1">
                              <a:solidFill>
                                <a:srgbClr val="FF0000"/>
                              </a:solidFill>
                              <a:latin typeface="Cambria Math"/>
                              <a:ea typeface="Cambria Math"/>
                            </a:rPr>
                            <m:t>𝑏</m:t>
                          </m:r>
                        </m:e>
                      </m:d>
                      <m:r>
                        <a:rPr lang="en-US" i="1">
                          <a:solidFill>
                            <a:srgbClr val="FF0000"/>
                          </a:solidFill>
                          <a:latin typeface="Cambria Math"/>
                          <a:ea typeface="Cambria Math"/>
                        </a:rPr>
                        <m:t>∧</m:t>
                      </m:r>
                      <m:d>
                        <m:dPr>
                          <m:ctrlPr>
                            <a:rPr lang="en-US" i="1">
                              <a:solidFill>
                                <a:srgbClr val="FF0000"/>
                              </a:solidFill>
                              <a:latin typeface="Cambria Math" panose="02040503050406030204" pitchFamily="18" charset="0"/>
                              <a:ea typeface="Cambria Math"/>
                            </a:rPr>
                          </m:ctrlPr>
                        </m:dPr>
                        <m:e>
                          <m:r>
                            <a:rPr lang="en-US" i="1">
                              <a:solidFill>
                                <a:srgbClr val="FF0000"/>
                              </a:solidFill>
                              <a:latin typeface="Cambria Math"/>
                              <a:ea typeface="Cambria Math"/>
                            </a:rPr>
                            <m:t>𝑎</m:t>
                          </m:r>
                          <m:r>
                            <a:rPr lang="en-US" i="1">
                              <a:solidFill>
                                <a:srgbClr val="FF0000"/>
                              </a:solidFill>
                              <a:latin typeface="Cambria Math"/>
                              <a:ea typeface="Cambria Math"/>
                            </a:rPr>
                            <m:t>∨</m:t>
                          </m:r>
                          <m:r>
                            <a:rPr lang="en-US" i="1">
                              <a:solidFill>
                                <a:srgbClr val="FF0000"/>
                              </a:solidFill>
                              <a:latin typeface="Cambria Math"/>
                              <a:ea typeface="Cambria Math"/>
                            </a:rPr>
                            <m:t>𝑐</m:t>
                          </m:r>
                        </m:e>
                      </m:d>
                    </m:oMath>
                  </m:oMathPara>
                </a14:m>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3665532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Content Placeholder 4"/>
          <p:cNvSpPr>
            <a:spLocks noGrp="1"/>
          </p:cNvSpPr>
          <p:nvPr>
            <p:ph sz="quarter" idx="1"/>
          </p:nvPr>
        </p:nvSpPr>
        <p:spPr/>
        <p:txBody>
          <a:bodyPr/>
          <a:lstStyle/>
          <a:p>
            <a:r>
              <a:rPr lang="en-US" dirty="0"/>
              <a:t>Using truth table method, prove the logical equivalences between propositions:</a:t>
            </a:r>
          </a:p>
          <a:p>
            <a:pPr lvl="1"/>
            <a:r>
              <a:rPr lang="en-US" dirty="0"/>
              <a:t>Basic equivalent propositions.</a:t>
            </a:r>
          </a:p>
          <a:p>
            <a:pPr lvl="1"/>
            <a:r>
              <a:rPr lang="en-US" dirty="0"/>
              <a:t>Laws.</a:t>
            </a:r>
          </a:p>
          <a:p>
            <a:pPr lvl="1"/>
            <a:endParaRPr lang="en-US" dirty="0"/>
          </a:p>
          <a:p>
            <a:pPr algn="just"/>
            <a:r>
              <a:rPr lang="en-US" dirty="0"/>
              <a:t>Using basic equivalent propositions and laws (associative, commutative, distributive, De Morgan) prove the logical equivalence between propositions:</a:t>
            </a:r>
          </a:p>
          <a:p>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2593848" y="4572000"/>
                <a:ext cx="3890168" cy="461665"/>
              </a:xfrm>
              <a:prstGeom prst="rect">
                <a:avLst/>
              </a:prstGeom>
              <a:noFill/>
            </p:spPr>
            <p:txBody>
              <a:bodyPr wrap="none" rtlCol="0">
                <a:spAutoFit/>
              </a:bodyPr>
              <a:lstStyle/>
              <a:p>
                <a14:m>
                  <m:oMath xmlns:m="http://schemas.openxmlformats.org/officeDocument/2006/math">
                    <m:r>
                      <a:rPr lang="en-US" sz="2400" i="1" smtClean="0">
                        <a:solidFill>
                          <a:srgbClr val="FF0000"/>
                        </a:solidFill>
                        <a:latin typeface="Cambria Math"/>
                        <a:ea typeface="Cambria Math"/>
                      </a:rPr>
                      <m:t>¬</m:t>
                    </m:r>
                    <m:r>
                      <a:rPr lang="en-US" sz="2400" b="0" i="1" smtClean="0">
                        <a:solidFill>
                          <a:srgbClr val="FF0000"/>
                        </a:solidFill>
                        <a:latin typeface="Cambria Math"/>
                        <a:ea typeface="Cambria Math"/>
                      </a:rPr>
                      <m:t>(</m:t>
                    </m:r>
                    <m:r>
                      <a:rPr lang="en-US" sz="2400" b="0" i="1" smtClean="0">
                        <a:solidFill>
                          <a:srgbClr val="FF0000"/>
                        </a:solidFill>
                        <a:latin typeface="Cambria Math"/>
                        <a:ea typeface="Cambria Math"/>
                      </a:rPr>
                      <m:t>𝑝</m:t>
                    </m:r>
                    <m:r>
                      <a:rPr lang="en-US" sz="2400" b="0" i="1" smtClean="0">
                        <a:solidFill>
                          <a:srgbClr val="FF0000"/>
                        </a:solidFill>
                        <a:latin typeface="Cambria Math"/>
                        <a:ea typeface="Cambria Math"/>
                      </a:rPr>
                      <m:t>∨(¬</m:t>
                    </m:r>
                    <m:r>
                      <a:rPr lang="en-US" sz="2400" b="0" i="1" smtClean="0">
                        <a:solidFill>
                          <a:srgbClr val="FF0000"/>
                        </a:solidFill>
                        <a:latin typeface="Cambria Math"/>
                        <a:ea typeface="Cambria Math"/>
                      </a:rPr>
                      <m:t>𝑝</m:t>
                    </m:r>
                    <m:r>
                      <a:rPr lang="en-US" sz="2400" i="1">
                        <a:solidFill>
                          <a:srgbClr val="FF0000"/>
                        </a:solidFill>
                        <a:latin typeface="Cambria Math"/>
                        <a:ea typeface="Cambria Math"/>
                      </a:rPr>
                      <m:t>∧</m:t>
                    </m:r>
                    <m:r>
                      <a:rPr lang="en-US" sz="2400" b="0" i="1" smtClean="0">
                        <a:solidFill>
                          <a:srgbClr val="FF0000"/>
                        </a:solidFill>
                        <a:latin typeface="Cambria Math"/>
                        <a:ea typeface="Cambria Math"/>
                      </a:rPr>
                      <m:t>𝑞</m:t>
                    </m:r>
                    <m:r>
                      <a:rPr lang="en-US" sz="2400" b="0" i="1" smtClean="0">
                        <a:solidFill>
                          <a:srgbClr val="FF0000"/>
                        </a:solidFill>
                        <a:latin typeface="Cambria Math"/>
                        <a:ea typeface="Cambria Math"/>
                      </a:rPr>
                      <m:t>))≡¬</m:t>
                    </m:r>
                    <m:r>
                      <a:rPr lang="en-US" sz="2400" b="0" i="1" smtClean="0">
                        <a:solidFill>
                          <a:srgbClr val="FF0000"/>
                        </a:solidFill>
                        <a:latin typeface="Cambria Math"/>
                        <a:ea typeface="Cambria Math"/>
                      </a:rPr>
                      <m:t>𝑝</m:t>
                    </m:r>
                    <m:r>
                      <a:rPr lang="en-US" sz="2400" b="0" i="1" smtClean="0">
                        <a:solidFill>
                          <a:srgbClr val="FF0000"/>
                        </a:solidFill>
                        <a:latin typeface="Cambria Math"/>
                        <a:ea typeface="Cambria Math"/>
                      </a:rPr>
                      <m:t>∧¬</m:t>
                    </m:r>
                  </m:oMath>
                </a14:m>
                <a:r>
                  <a:rPr lang="en-US" sz="2400" dirty="0">
                    <a:solidFill>
                      <a:srgbClr val="FF0000"/>
                    </a:solidFill>
                  </a:rPr>
                  <a:t>q</a:t>
                </a:r>
              </a:p>
            </p:txBody>
          </p:sp>
        </mc:Choice>
        <mc:Fallback xmlns="">
          <p:sp>
            <p:nvSpPr>
              <p:cNvPr id="6" name="TextBox 5"/>
              <p:cNvSpPr txBox="1">
                <a:spLocks noRot="1" noChangeAspect="1" noMove="1" noResize="1" noEditPoints="1" noAdjustHandles="1" noChangeArrowheads="1" noChangeShapeType="1" noTextEdit="1"/>
              </p:cNvSpPr>
              <p:nvPr/>
            </p:nvSpPr>
            <p:spPr>
              <a:xfrm>
                <a:off x="2593848" y="4572000"/>
                <a:ext cx="3890168" cy="461665"/>
              </a:xfrm>
              <a:prstGeom prst="rect">
                <a:avLst/>
              </a:prstGeom>
              <a:blipFill>
                <a:blip r:embed="rId2"/>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3213997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5" name="Content Placeholder 4"/>
          <p:cNvSpPr>
            <a:spLocks noGrp="1"/>
          </p:cNvSpPr>
          <p:nvPr>
            <p:ph sz="quarter" idx="1"/>
          </p:nvPr>
        </p:nvSpPr>
        <p:spPr/>
        <p:txBody>
          <a:bodyPr/>
          <a:lstStyle/>
          <a:p>
            <a:r>
              <a:rPr lang="en-US" dirty="0"/>
              <a:t>Prove following propositions are valid:</a:t>
            </a:r>
          </a:p>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3733606580"/>
              </p:ext>
            </p:extLst>
          </p:nvPr>
        </p:nvGraphicFramePr>
        <p:xfrm>
          <a:off x="895350" y="1843088"/>
          <a:ext cx="2859088" cy="2408237"/>
        </p:xfrm>
        <a:graphic>
          <a:graphicData uri="http://schemas.openxmlformats.org/presentationml/2006/ole">
            <mc:AlternateContent xmlns:mc="http://schemas.openxmlformats.org/markup-compatibility/2006">
              <mc:Choice xmlns:v="urn:schemas-microsoft-com:vml" Requires="v">
                <p:oleObj spid="_x0000_s1037" name="Equation" r:id="rId3" imgW="1473120" imgH="1346040" progId="Equation.3">
                  <p:embed/>
                </p:oleObj>
              </mc:Choice>
              <mc:Fallback>
                <p:oleObj name="Equation" r:id="rId3" imgW="1473120" imgH="1346040" progId="Equation.3">
                  <p:embed/>
                  <p:pic>
                    <p:nvPicPr>
                      <p:cNvPr id="0" name="Object 10"/>
                      <p:cNvPicPr>
                        <a:picLocks noChangeAspect="1" noChangeArrowheads="1"/>
                      </p:cNvPicPr>
                      <p:nvPr/>
                    </p:nvPicPr>
                    <p:blipFill>
                      <a:blip r:embed="rId4"/>
                      <a:srcRect/>
                      <a:stretch>
                        <a:fillRect/>
                      </a:stretch>
                    </p:blipFill>
                    <p:spPr bwMode="auto">
                      <a:xfrm>
                        <a:off x="895350" y="1843088"/>
                        <a:ext cx="2859088" cy="240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Box 7"/>
              <p:cNvSpPr txBox="1"/>
              <p:nvPr/>
            </p:nvSpPr>
            <p:spPr>
              <a:xfrm>
                <a:off x="4572000" y="1905000"/>
                <a:ext cx="3886200" cy="2133600"/>
              </a:xfrm>
              <a:prstGeom prst="rect">
                <a:avLst/>
              </a:prstGeom>
              <a:noFill/>
            </p:spPr>
            <p:txBody>
              <a:bodyPr wrap="square" rtlCol="0">
                <a:normAutofit/>
              </a:bodyPr>
              <a:lstStyle/>
              <a:p>
                <a:r>
                  <a:rPr lang="en-US" dirty="0"/>
                  <a:t>g) </a:t>
                </a:r>
                <a14:m>
                  <m:oMath xmlns:m="http://schemas.openxmlformats.org/officeDocument/2006/math">
                    <m:r>
                      <a:rPr lang="en-US" i="1" smtClean="0">
                        <a:latin typeface="Cambria Math"/>
                        <a:ea typeface="Cambria Math"/>
                      </a:rPr>
                      <m:t>¬</m:t>
                    </m:r>
                    <m:r>
                      <a:rPr lang="en-US" b="0" i="1" smtClean="0">
                        <a:latin typeface="Cambria Math"/>
                        <a:ea typeface="Cambria Math"/>
                      </a:rPr>
                      <m:t>𝑝</m:t>
                    </m:r>
                    <m:r>
                      <a:rPr lang="en-US" b="0" i="1" smtClean="0">
                        <a:latin typeface="Cambria Math"/>
                        <a:ea typeface="Cambria Math"/>
                      </a:rPr>
                      <m:t>∧</m:t>
                    </m:r>
                    <m:d>
                      <m:dPr>
                        <m:ctrlPr>
                          <a:rPr lang="en-US" b="0" i="1" smtClean="0">
                            <a:latin typeface="Cambria Math" panose="02040503050406030204" pitchFamily="18" charset="0"/>
                            <a:ea typeface="Cambria Math"/>
                          </a:rPr>
                        </m:ctrlPr>
                      </m:dPr>
                      <m:e>
                        <m:r>
                          <a:rPr lang="en-US" b="0" i="1" smtClean="0">
                            <a:latin typeface="Cambria Math"/>
                            <a:ea typeface="Cambria Math"/>
                          </a:rPr>
                          <m:t>𝑝</m:t>
                        </m:r>
                        <m:r>
                          <a:rPr lang="en-US" b="0" i="1" smtClean="0">
                            <a:latin typeface="Cambria Math"/>
                            <a:ea typeface="Cambria Math"/>
                          </a:rPr>
                          <m:t>∨</m:t>
                        </m:r>
                        <m:r>
                          <a:rPr lang="en-US" b="0" i="1" smtClean="0">
                            <a:latin typeface="Cambria Math"/>
                            <a:ea typeface="Cambria Math"/>
                          </a:rPr>
                          <m:t>𝑞</m:t>
                        </m:r>
                      </m:e>
                    </m:d>
                    <m:r>
                      <a:rPr lang="en-US" b="0" i="1" smtClean="0">
                        <a:latin typeface="Cambria Math"/>
                        <a:ea typeface="Cambria Math"/>
                      </a:rPr>
                      <m:t>⇒</m:t>
                    </m:r>
                    <m:r>
                      <a:rPr lang="en-US" b="0" i="1" smtClean="0">
                        <a:latin typeface="Cambria Math"/>
                        <a:ea typeface="Cambria Math"/>
                      </a:rPr>
                      <m:t>𝑞</m:t>
                    </m:r>
                  </m:oMath>
                </a14:m>
                <a:endParaRPr lang="en-US" b="0" dirty="0">
                  <a:ea typeface="Cambria Math"/>
                </a:endParaRPr>
              </a:p>
              <a:p>
                <a:endParaRPr lang="en-US" b="0" dirty="0">
                  <a:ea typeface="Cambria Math"/>
                </a:endParaRPr>
              </a:p>
              <a:p>
                <a:r>
                  <a:rPr lang="en-US" dirty="0"/>
                  <a:t>h) </a:t>
                </a:r>
                <a14:m>
                  <m:oMath xmlns:m="http://schemas.openxmlformats.org/officeDocument/2006/math">
                    <m:r>
                      <a:rPr lang="en-US" b="0" i="1" smtClean="0">
                        <a:latin typeface="Cambria Math"/>
                      </a:rPr>
                      <m:t>(</m:t>
                    </m:r>
                    <m:r>
                      <a:rPr lang="en-US" b="0" i="1" smtClean="0">
                        <a:latin typeface="Cambria Math"/>
                      </a:rPr>
                      <m:t>𝑝</m:t>
                    </m:r>
                    <m:r>
                      <a:rPr lang="en-US" i="1">
                        <a:latin typeface="Cambria Math"/>
                        <a:ea typeface="Cambria Math"/>
                      </a:rPr>
                      <m:t>⇒</m:t>
                    </m:r>
                    <m:r>
                      <a:rPr lang="en-US" b="0" i="1" smtClean="0">
                        <a:latin typeface="Cambria Math"/>
                        <a:ea typeface="Cambria Math"/>
                      </a:rPr>
                      <m:t>𝑞</m:t>
                    </m:r>
                    <m:r>
                      <a:rPr lang="en-US" b="0" i="1" smtClean="0">
                        <a:latin typeface="Cambria Math"/>
                      </a:rPr>
                      <m:t>)</m:t>
                    </m:r>
                  </m:oMath>
                </a14:m>
                <a:r>
                  <a:rPr lang="en-US" dirty="0">
                    <a:ea typeface="Cambria Math"/>
                  </a:rPr>
                  <a:t> </a:t>
                </a:r>
                <a14:m>
                  <m:oMath xmlns:m="http://schemas.openxmlformats.org/officeDocument/2006/math">
                    <m:r>
                      <a:rPr lang="en-US" i="1">
                        <a:latin typeface="Cambria Math"/>
                        <a:ea typeface="Cambria Math"/>
                      </a:rPr>
                      <m:t>∧</m:t>
                    </m:r>
                    <m:d>
                      <m:dPr>
                        <m:ctrlPr>
                          <a:rPr lang="en-US" b="0" i="1" smtClean="0">
                            <a:latin typeface="Cambria Math" panose="02040503050406030204" pitchFamily="18" charset="0"/>
                          </a:rPr>
                        </m:ctrlPr>
                      </m:dPr>
                      <m:e>
                        <m:r>
                          <a:rPr lang="en-US" b="0" i="1" smtClean="0">
                            <a:latin typeface="Cambria Math"/>
                          </a:rPr>
                          <m:t>𝑞</m:t>
                        </m:r>
                        <m:r>
                          <a:rPr lang="en-US" i="1">
                            <a:latin typeface="Cambria Math"/>
                            <a:ea typeface="Cambria Math"/>
                          </a:rPr>
                          <m:t>⇒</m:t>
                        </m:r>
                        <m:r>
                          <a:rPr lang="en-US" b="0" i="1" smtClean="0">
                            <a:latin typeface="Cambria Math"/>
                            <a:ea typeface="Cambria Math"/>
                          </a:rPr>
                          <m:t>𝑟</m:t>
                        </m:r>
                      </m:e>
                    </m:d>
                    <m:r>
                      <a:rPr lang="en-US" i="1">
                        <a:latin typeface="Cambria Math"/>
                        <a:ea typeface="Cambria Math"/>
                      </a:rPr>
                      <m:t>⇒</m:t>
                    </m:r>
                    <m:d>
                      <m:dPr>
                        <m:ctrlPr>
                          <a:rPr lang="en-US" b="0" i="1" smtClean="0">
                            <a:latin typeface="Cambria Math" panose="02040503050406030204" pitchFamily="18" charset="0"/>
                            <a:ea typeface="Cambria Math"/>
                          </a:rPr>
                        </m:ctrlPr>
                      </m:dPr>
                      <m:e>
                        <m:r>
                          <a:rPr lang="en-US" i="1">
                            <a:latin typeface="Cambria Math"/>
                          </a:rPr>
                          <m:t>𝑝</m:t>
                        </m:r>
                        <m:r>
                          <a:rPr lang="en-US" i="1">
                            <a:latin typeface="Cambria Math"/>
                            <a:ea typeface="Cambria Math"/>
                          </a:rPr>
                          <m:t>⇒</m:t>
                        </m:r>
                        <m:r>
                          <a:rPr lang="en-US" b="0" i="1" smtClean="0">
                            <a:latin typeface="Cambria Math"/>
                            <a:ea typeface="Cambria Math"/>
                          </a:rPr>
                          <m:t>𝑟</m:t>
                        </m:r>
                      </m:e>
                    </m:d>
                  </m:oMath>
                </a14:m>
                <a:endParaRPr lang="en-US" dirty="0"/>
              </a:p>
              <a:p>
                <a:endParaRPr lang="en-US" dirty="0"/>
              </a:p>
              <a:p>
                <a:pPr marL="400050" indent="-400050">
                  <a:buAutoNum type="romanLcParenR"/>
                </a:pPr>
                <a14:m>
                  <m:oMath xmlns:m="http://schemas.openxmlformats.org/officeDocument/2006/math">
                    <m:r>
                      <a:rPr lang="en-US" b="0" i="0" smtClean="0">
                        <a:latin typeface="Cambria Math"/>
                        <a:ea typeface="Cambria Math"/>
                      </a:rPr>
                      <m:t>(</m:t>
                    </m:r>
                    <m:r>
                      <a:rPr lang="en-US" i="1">
                        <a:latin typeface="Cambria Math"/>
                        <a:ea typeface="Cambria Math"/>
                      </a:rPr>
                      <m:t>𝑝</m:t>
                    </m:r>
                    <m:r>
                      <a:rPr lang="en-US" i="1">
                        <a:latin typeface="Cambria Math"/>
                        <a:ea typeface="Cambria Math"/>
                      </a:rPr>
                      <m:t>∧</m:t>
                    </m:r>
                  </m:oMath>
                </a14:m>
                <a:r>
                  <a:rPr lang="en-US" dirty="0"/>
                  <a:t> </a:t>
                </a:r>
                <a14:m>
                  <m:oMath xmlns:m="http://schemas.openxmlformats.org/officeDocument/2006/math">
                    <m:r>
                      <a:rPr lang="en-US" i="1">
                        <a:latin typeface="Cambria Math"/>
                      </a:rPr>
                      <m:t>(</m:t>
                    </m:r>
                    <m:r>
                      <a:rPr lang="en-US" i="1">
                        <a:latin typeface="Cambria Math"/>
                      </a:rPr>
                      <m:t>𝑝</m:t>
                    </m:r>
                    <m:r>
                      <a:rPr lang="en-US" i="1">
                        <a:latin typeface="Cambria Math"/>
                        <a:ea typeface="Cambria Math"/>
                      </a:rPr>
                      <m:t>⇒</m:t>
                    </m:r>
                    <m:r>
                      <a:rPr lang="en-US" i="1">
                        <a:latin typeface="Cambria Math"/>
                        <a:ea typeface="Cambria Math"/>
                      </a:rPr>
                      <m:t>𝑞</m:t>
                    </m:r>
                    <m:r>
                      <a:rPr lang="en-US" i="1">
                        <a:latin typeface="Cambria Math"/>
                      </a:rPr>
                      <m:t>)</m:t>
                    </m:r>
                  </m:oMath>
                </a14:m>
                <a:r>
                  <a:rPr lang="en-US" dirty="0">
                    <a:ea typeface="Cambria Math"/>
                  </a:rPr>
                  <a:t> ) </a:t>
                </a:r>
                <a14:m>
                  <m:oMath xmlns:m="http://schemas.openxmlformats.org/officeDocument/2006/math">
                    <m:r>
                      <a:rPr lang="en-US" i="1">
                        <a:latin typeface="Cambria Math"/>
                        <a:ea typeface="Cambria Math"/>
                      </a:rPr>
                      <m:t>⇒</m:t>
                    </m:r>
                    <m:r>
                      <a:rPr lang="en-US" i="1">
                        <a:latin typeface="Cambria Math"/>
                        <a:ea typeface="Cambria Math"/>
                      </a:rPr>
                      <m:t>𝑞</m:t>
                    </m:r>
                  </m:oMath>
                </a14:m>
                <a:endParaRPr lang="en-US" dirty="0"/>
              </a:p>
              <a:p>
                <a:pPr marL="400050" indent="-400050">
                  <a:buAutoNum type="romanLcParenR"/>
                </a:pPr>
                <a:endParaRPr lang="en-US" dirty="0"/>
              </a:p>
              <a:p>
                <a:r>
                  <a:rPr lang="en-US" dirty="0"/>
                  <a:t>j) (</a:t>
                </a:r>
                <a14:m>
                  <m:oMath xmlns:m="http://schemas.openxmlformats.org/officeDocument/2006/math">
                    <m:d>
                      <m:dPr>
                        <m:ctrlPr>
                          <a:rPr lang="en-US" i="1">
                            <a:latin typeface="Cambria Math" panose="02040503050406030204" pitchFamily="18" charset="0"/>
                            <a:ea typeface="Cambria Math"/>
                          </a:rPr>
                        </m:ctrlPr>
                      </m:dPr>
                      <m:e>
                        <m:r>
                          <a:rPr lang="en-US" i="1">
                            <a:latin typeface="Cambria Math"/>
                            <a:ea typeface="Cambria Math"/>
                          </a:rPr>
                          <m:t>𝑝</m:t>
                        </m:r>
                        <m:r>
                          <a:rPr lang="en-US" i="1">
                            <a:latin typeface="Cambria Math"/>
                            <a:ea typeface="Cambria Math"/>
                          </a:rPr>
                          <m:t>∨</m:t>
                        </m:r>
                        <m:r>
                          <a:rPr lang="en-US" i="1">
                            <a:latin typeface="Cambria Math"/>
                            <a:ea typeface="Cambria Math"/>
                          </a:rPr>
                          <m:t>𝑞</m:t>
                        </m:r>
                      </m:e>
                    </m:d>
                  </m:oMath>
                </a14:m>
                <a:r>
                  <a:rPr lang="en-US" dirty="0">
                    <a:ea typeface="Cambria Math"/>
                  </a:rPr>
                  <a:t> </a:t>
                </a:r>
                <a14:m>
                  <m:oMath xmlns:m="http://schemas.openxmlformats.org/officeDocument/2006/math">
                    <m:r>
                      <a:rPr lang="en-US" i="1">
                        <a:latin typeface="Cambria Math"/>
                        <a:ea typeface="Cambria Math"/>
                      </a:rPr>
                      <m:t>∧</m:t>
                    </m:r>
                  </m:oMath>
                </a14:m>
                <a:r>
                  <a:rPr lang="en-US" dirty="0">
                    <a:ea typeface="Cambria Math"/>
                  </a:rPr>
                  <a:t> </a:t>
                </a:r>
                <a14:m>
                  <m:oMath xmlns:m="http://schemas.openxmlformats.org/officeDocument/2006/math">
                    <m:d>
                      <m:dPr>
                        <m:ctrlPr>
                          <a:rPr lang="en-US" i="1">
                            <a:latin typeface="Cambria Math" panose="02040503050406030204" pitchFamily="18" charset="0"/>
                            <a:ea typeface="Cambria Math"/>
                          </a:rPr>
                        </m:ctrlPr>
                      </m:dPr>
                      <m:e>
                        <m:r>
                          <a:rPr lang="en-US" i="1">
                            <a:latin typeface="Cambria Math"/>
                          </a:rPr>
                          <m:t>𝑝</m:t>
                        </m:r>
                        <m:r>
                          <a:rPr lang="en-US" i="1">
                            <a:latin typeface="Cambria Math"/>
                            <a:ea typeface="Cambria Math"/>
                          </a:rPr>
                          <m:t>⇒</m:t>
                        </m:r>
                        <m:r>
                          <a:rPr lang="en-US" i="1">
                            <a:latin typeface="Cambria Math"/>
                            <a:ea typeface="Cambria Math"/>
                          </a:rPr>
                          <m:t>𝑟</m:t>
                        </m:r>
                      </m:e>
                    </m:d>
                  </m:oMath>
                </a14:m>
                <a:r>
                  <a:rPr lang="en-US" dirty="0">
                    <a:ea typeface="Cambria Math"/>
                  </a:rPr>
                  <a:t> </a:t>
                </a:r>
                <a14:m>
                  <m:oMath xmlns:m="http://schemas.openxmlformats.org/officeDocument/2006/math">
                    <m:r>
                      <a:rPr lang="en-US" i="1">
                        <a:latin typeface="Cambria Math"/>
                        <a:ea typeface="Cambria Math"/>
                      </a:rPr>
                      <m:t>∧</m:t>
                    </m:r>
                  </m:oMath>
                </a14:m>
                <a:r>
                  <a:rPr lang="en-US" dirty="0">
                    <a:ea typeface="Cambria Math"/>
                  </a:rPr>
                  <a:t> </a:t>
                </a:r>
                <a14:m>
                  <m:oMath xmlns:m="http://schemas.openxmlformats.org/officeDocument/2006/math">
                    <m:d>
                      <m:dPr>
                        <m:ctrlPr>
                          <a:rPr lang="en-US" i="1">
                            <a:latin typeface="Cambria Math" panose="02040503050406030204" pitchFamily="18" charset="0"/>
                            <a:ea typeface="Cambria Math"/>
                          </a:rPr>
                        </m:ctrlPr>
                      </m:dPr>
                      <m:e>
                        <m:r>
                          <a:rPr lang="en-US" b="0" i="1" smtClean="0">
                            <a:latin typeface="Cambria Math"/>
                          </a:rPr>
                          <m:t>𝑞</m:t>
                        </m:r>
                        <m:r>
                          <a:rPr lang="en-US" i="1">
                            <a:latin typeface="Cambria Math"/>
                            <a:ea typeface="Cambria Math"/>
                          </a:rPr>
                          <m:t>⇒</m:t>
                        </m:r>
                        <m:r>
                          <a:rPr lang="en-US" i="1">
                            <a:latin typeface="Cambria Math"/>
                            <a:ea typeface="Cambria Math"/>
                          </a:rPr>
                          <m:t>𝑟</m:t>
                        </m:r>
                      </m:e>
                    </m:d>
                    <m:r>
                      <a:rPr lang="en-US" b="0" i="1" smtClean="0">
                        <a:latin typeface="Cambria Math"/>
                        <a:ea typeface="Cambria Math"/>
                      </a:rPr>
                      <m:t>)</m:t>
                    </m:r>
                    <m:r>
                      <a:rPr lang="en-US" i="1">
                        <a:latin typeface="Cambria Math"/>
                        <a:ea typeface="Cambria Math"/>
                      </a:rPr>
                      <m:t>⇒</m:t>
                    </m:r>
                    <m:r>
                      <a:rPr lang="en-US" b="0" i="1" smtClean="0">
                        <a:latin typeface="Cambria Math"/>
                        <a:ea typeface="Cambria Math"/>
                      </a:rPr>
                      <m:t>𝑟</m:t>
                    </m:r>
                  </m:oMath>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572000" y="1905000"/>
                <a:ext cx="3886200" cy="2133600"/>
              </a:xfrm>
              <a:prstGeom prst="rect">
                <a:avLst/>
              </a:prstGeom>
              <a:blipFill rotWithShape="1">
                <a:blip r:embed="rId5"/>
                <a:stretch>
                  <a:fillRect l="-1254" t="-1429"/>
                </a:stretch>
              </a:blipFill>
            </p:spPr>
            <p:txBody>
              <a:bodyPr/>
              <a:lstStyle/>
              <a:p>
                <a:r>
                  <a:rPr lang="en-US">
                    <a:noFill/>
                  </a:rPr>
                  <a:t> </a:t>
                </a:r>
              </a:p>
            </p:txBody>
          </p:sp>
        </mc:Fallback>
      </mc:AlternateContent>
    </p:spTree>
    <p:extLst>
      <p:ext uri="{BB962C8B-B14F-4D97-AF65-F5344CB8AC3E}">
        <p14:creationId xmlns:p14="http://schemas.microsoft.com/office/powerpoint/2010/main" val="1647158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5" name="Content Placeholder 4"/>
          <p:cNvSpPr>
            <a:spLocks noGrp="1"/>
          </p:cNvSpPr>
          <p:nvPr>
            <p:ph sz="quarter" idx="1"/>
          </p:nvPr>
        </p:nvSpPr>
        <p:spPr/>
        <p:txBody>
          <a:bodyPr/>
          <a:lstStyle/>
          <a:p>
            <a:r>
              <a:rPr lang="en-US" dirty="0"/>
              <a:t>Prove the following logical equivalences:</a:t>
            </a:r>
          </a:p>
          <a:p>
            <a:endParaRPr lang="en-US" dirty="0"/>
          </a:p>
          <a:p>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990600" y="1752600"/>
                <a:ext cx="3626185" cy="1477328"/>
              </a:xfrm>
              <a:prstGeom prst="rect">
                <a:avLst/>
              </a:prstGeom>
              <a:noFill/>
            </p:spPr>
            <p:txBody>
              <a:bodyPr wrap="none" rtlCol="0">
                <a:spAutoFit/>
              </a:bodyPr>
              <a:lstStyle/>
              <a:p>
                <a:pPr marL="342900" indent="-342900">
                  <a:buAutoNum type="arabicParenR"/>
                </a:pP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𝑝</m:t>
                        </m:r>
                        <m:r>
                          <a:rPr lang="en-US" b="0" i="1" smtClean="0">
                            <a:latin typeface="Cambria Math"/>
                            <a:ea typeface="Cambria Math"/>
                          </a:rPr>
                          <m:t>⇔</m:t>
                        </m:r>
                        <m:r>
                          <a:rPr lang="en-US" b="0" i="1" smtClean="0">
                            <a:latin typeface="Cambria Math"/>
                            <a:ea typeface="Cambria Math"/>
                          </a:rPr>
                          <m:t>𝑞</m:t>
                        </m:r>
                      </m:e>
                    </m:d>
                    <m:r>
                      <a:rPr lang="en-US" b="0" i="1" smtClean="0">
                        <a:latin typeface="Cambria Math"/>
                        <a:ea typeface="Cambria Math"/>
                      </a:rPr>
                      <m:t>≡</m:t>
                    </m:r>
                    <m:d>
                      <m:dPr>
                        <m:ctrlPr>
                          <a:rPr lang="en-US" b="0" i="1" smtClean="0">
                            <a:latin typeface="Cambria Math" panose="02040503050406030204" pitchFamily="18" charset="0"/>
                            <a:ea typeface="Cambria Math"/>
                          </a:rPr>
                        </m:ctrlPr>
                      </m:dPr>
                      <m:e>
                        <m:r>
                          <a:rPr lang="en-US" b="0" i="1" smtClean="0">
                            <a:latin typeface="Cambria Math"/>
                            <a:ea typeface="Cambria Math"/>
                          </a:rPr>
                          <m:t>𝑝</m:t>
                        </m:r>
                        <m:r>
                          <a:rPr lang="en-US" b="0" i="1" smtClean="0">
                            <a:latin typeface="Cambria Math"/>
                            <a:ea typeface="Cambria Math"/>
                          </a:rPr>
                          <m:t>∧</m:t>
                        </m:r>
                        <m:r>
                          <a:rPr lang="en-US" b="0" i="1" smtClean="0">
                            <a:latin typeface="Cambria Math"/>
                            <a:ea typeface="Cambria Math"/>
                          </a:rPr>
                          <m:t>𝑞</m:t>
                        </m:r>
                      </m:e>
                    </m:d>
                    <m:r>
                      <a:rPr lang="en-US" b="0" i="1" smtClean="0">
                        <a:latin typeface="Cambria Math"/>
                        <a:ea typeface="Cambria Math"/>
                      </a:rPr>
                      <m:t>∨</m:t>
                    </m:r>
                    <m:d>
                      <m:dPr>
                        <m:ctrlPr>
                          <a:rPr lang="en-US" b="0" i="1" smtClean="0">
                            <a:latin typeface="Cambria Math" panose="02040503050406030204" pitchFamily="18" charset="0"/>
                            <a:ea typeface="Cambria Math"/>
                          </a:rPr>
                        </m:ctrlPr>
                      </m:dPr>
                      <m:e>
                        <m:r>
                          <a:rPr lang="en-US" b="0" i="1" smtClean="0">
                            <a:latin typeface="Cambria Math"/>
                            <a:ea typeface="Cambria Math"/>
                          </a:rPr>
                          <m:t>¬</m:t>
                        </m:r>
                        <m:r>
                          <a:rPr lang="en-US" b="0" i="1" smtClean="0">
                            <a:latin typeface="Cambria Math"/>
                            <a:ea typeface="Cambria Math"/>
                          </a:rPr>
                          <m:t>𝑝</m:t>
                        </m:r>
                        <m:r>
                          <a:rPr lang="en-US" b="0" i="1" smtClean="0">
                            <a:latin typeface="Cambria Math"/>
                            <a:ea typeface="Cambria Math"/>
                          </a:rPr>
                          <m:t>∧¬</m:t>
                        </m:r>
                        <m:r>
                          <a:rPr lang="en-US" b="0" i="1" smtClean="0">
                            <a:latin typeface="Cambria Math"/>
                            <a:ea typeface="Cambria Math"/>
                          </a:rPr>
                          <m:t>𝑞</m:t>
                        </m:r>
                      </m:e>
                    </m:d>
                  </m:oMath>
                </a14:m>
                <a:endParaRPr lang="en-US" b="0" dirty="0">
                  <a:ea typeface="Cambria Math"/>
                </a:endParaRPr>
              </a:p>
              <a:p>
                <a:pPr marL="342900" indent="-342900">
                  <a:buAutoNum type="arabicParenR"/>
                </a:pPr>
                <a:endParaRPr lang="en-US" b="0" dirty="0">
                  <a:ea typeface="Cambria Math"/>
                </a:endParaRPr>
              </a:p>
              <a:p>
                <a:r>
                  <a:rPr lang="en-US" dirty="0"/>
                  <a:t> 2) </a:t>
                </a:r>
                <a14:m>
                  <m:oMath xmlns:m="http://schemas.openxmlformats.org/officeDocument/2006/math">
                    <m:r>
                      <a:rPr lang="en-US" i="1">
                        <a:latin typeface="Cambria Math"/>
                        <a:ea typeface="Cambria Math"/>
                      </a:rPr>
                      <m:t>¬</m:t>
                    </m:r>
                    <m:r>
                      <a:rPr lang="en-US" i="1">
                        <a:latin typeface="Cambria Math"/>
                        <a:ea typeface="Cambria Math"/>
                      </a:rPr>
                      <m:t>𝑝</m:t>
                    </m:r>
                    <m:r>
                      <a:rPr lang="en-US" i="1">
                        <a:latin typeface="Cambria Math"/>
                        <a:ea typeface="Cambria Math"/>
                      </a:rPr>
                      <m:t>⇔</m:t>
                    </m:r>
                    <m:r>
                      <a:rPr lang="en-US" i="1">
                        <a:latin typeface="Cambria Math"/>
                        <a:ea typeface="Cambria Math"/>
                      </a:rPr>
                      <m:t>𝑞</m:t>
                    </m:r>
                    <m:r>
                      <a:rPr lang="en-US" i="1">
                        <a:latin typeface="Cambria Math"/>
                        <a:ea typeface="Cambria Math"/>
                      </a:rPr>
                      <m:t>≡</m:t>
                    </m:r>
                  </m:oMath>
                </a14:m>
                <a:r>
                  <a:rPr lang="en-US" dirty="0"/>
                  <a:t> </a:t>
                </a:r>
                <a14:m>
                  <m:oMath xmlns:m="http://schemas.openxmlformats.org/officeDocument/2006/math">
                    <m:r>
                      <a:rPr lang="en-US" i="1">
                        <a:latin typeface="Cambria Math"/>
                        <a:ea typeface="Cambria Math"/>
                      </a:rPr>
                      <m:t>𝑝</m:t>
                    </m:r>
                    <m:r>
                      <a:rPr lang="en-US" i="1">
                        <a:latin typeface="Cambria Math"/>
                        <a:ea typeface="Cambria Math"/>
                      </a:rPr>
                      <m:t>⇔¬</m:t>
                    </m:r>
                    <m:r>
                      <a:rPr lang="en-US" i="1">
                        <a:latin typeface="Cambria Math"/>
                        <a:ea typeface="Cambria Math"/>
                      </a:rPr>
                      <m:t>𝑞</m:t>
                    </m:r>
                  </m:oMath>
                </a14:m>
                <a:endParaRPr lang="en-US" dirty="0">
                  <a:ea typeface="Cambria Math"/>
                </a:endParaRPr>
              </a:p>
              <a:p>
                <a:endParaRPr lang="en-US" dirty="0">
                  <a:ea typeface="Cambria Math"/>
                </a:endParaRPr>
              </a:p>
              <a:p>
                <a:r>
                  <a:rPr lang="en-US" dirty="0"/>
                  <a:t> 3) </a:t>
                </a:r>
                <a14:m>
                  <m:oMath xmlns:m="http://schemas.openxmlformats.org/officeDocument/2006/math">
                    <m:r>
                      <a:rPr lang="en-US" i="1">
                        <a:latin typeface="Cambria Math"/>
                        <a:ea typeface="Cambria Math"/>
                      </a:rPr>
                      <m:t>¬</m:t>
                    </m:r>
                    <m:r>
                      <a:rPr lang="en-US" b="0" i="1" smtClean="0">
                        <a:latin typeface="Cambria Math"/>
                        <a:ea typeface="Cambria Math"/>
                      </a:rPr>
                      <m:t>(</m:t>
                    </m:r>
                    <m:r>
                      <a:rPr lang="en-US" i="1">
                        <a:latin typeface="Cambria Math"/>
                        <a:ea typeface="Cambria Math"/>
                      </a:rPr>
                      <m:t>𝑝</m:t>
                    </m:r>
                    <m:r>
                      <a:rPr lang="en-US" i="1">
                        <a:latin typeface="Cambria Math"/>
                        <a:ea typeface="Cambria Math"/>
                      </a:rPr>
                      <m:t>⇔</m:t>
                    </m:r>
                    <m:r>
                      <a:rPr lang="en-US" i="1">
                        <a:latin typeface="Cambria Math"/>
                        <a:ea typeface="Cambria Math"/>
                      </a:rPr>
                      <m:t>𝑞</m:t>
                    </m:r>
                    <m:r>
                      <a:rPr lang="en-US" b="0" i="1" smtClean="0">
                        <a:latin typeface="Cambria Math"/>
                        <a:ea typeface="Cambria Math"/>
                      </a:rPr>
                      <m:t>)</m:t>
                    </m:r>
                    <m:r>
                      <a:rPr lang="en-US" i="1">
                        <a:latin typeface="Cambria Math"/>
                        <a:ea typeface="Cambria Math"/>
                      </a:rPr>
                      <m:t>≡</m:t>
                    </m:r>
                  </m:oMath>
                </a14:m>
                <a:r>
                  <a:rPr lang="en-US" dirty="0">
                    <a:ea typeface="Cambria Math"/>
                  </a:rPr>
                  <a:t> </a:t>
                </a:r>
                <a14:m>
                  <m:oMath xmlns:m="http://schemas.openxmlformats.org/officeDocument/2006/math">
                    <m:r>
                      <a:rPr lang="en-US" i="1">
                        <a:latin typeface="Cambria Math"/>
                        <a:ea typeface="Cambria Math"/>
                      </a:rPr>
                      <m:t>¬</m:t>
                    </m:r>
                    <m:r>
                      <a:rPr lang="en-US" i="1">
                        <a:latin typeface="Cambria Math"/>
                        <a:ea typeface="Cambria Math"/>
                      </a:rPr>
                      <m:t>𝑝</m:t>
                    </m:r>
                    <m:r>
                      <a:rPr lang="en-US" i="1">
                        <a:latin typeface="Cambria Math"/>
                        <a:ea typeface="Cambria Math"/>
                      </a:rPr>
                      <m:t>⇔</m:t>
                    </m:r>
                    <m:r>
                      <a:rPr lang="en-US" i="1">
                        <a:latin typeface="Cambria Math"/>
                        <a:ea typeface="Cambria Math"/>
                      </a:rPr>
                      <m:t>𝑞</m:t>
                    </m:r>
                  </m:oMath>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990600" y="1752600"/>
                <a:ext cx="3626185" cy="1477328"/>
              </a:xfrm>
              <a:prstGeom prst="rect">
                <a:avLst/>
              </a:prstGeom>
              <a:blipFill rotWithShape="1">
                <a:blip r:embed="rId2"/>
                <a:stretch>
                  <a:fillRect l="-1347" t="-1653" b="-5372"/>
                </a:stretch>
              </a:blipFill>
            </p:spPr>
            <p:txBody>
              <a:bodyPr/>
              <a:lstStyle/>
              <a:p>
                <a:r>
                  <a:rPr lang="en-US">
                    <a:noFill/>
                  </a:rPr>
                  <a:t> </a:t>
                </a:r>
              </a:p>
            </p:txBody>
          </p:sp>
        </mc:Fallback>
      </mc:AlternateContent>
    </p:spTree>
    <p:extLst>
      <p:ext uri="{BB962C8B-B14F-4D97-AF65-F5344CB8AC3E}">
        <p14:creationId xmlns:p14="http://schemas.microsoft.com/office/powerpoint/2010/main" val="2215960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5" name="Content Placeholder 4"/>
          <p:cNvSpPr>
            <a:spLocks noGrp="1"/>
          </p:cNvSpPr>
          <p:nvPr>
            <p:ph sz="quarter" idx="1"/>
          </p:nvPr>
        </p:nvSpPr>
        <p:spPr/>
        <p:txBody>
          <a:bodyPr/>
          <a:lstStyle/>
          <a:p>
            <a:r>
              <a:rPr lang="en-US" dirty="0"/>
              <a:t>Convert to CNF:</a:t>
            </a:r>
          </a:p>
          <a:p>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2667000" y="1752600"/>
                <a:ext cx="29652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a:ea typeface="Cambria Math"/>
                        </a:rPr>
                        <m:t>(</m:t>
                      </m:r>
                      <m:r>
                        <a:rPr lang="en-US" sz="2400" i="1" smtClean="0">
                          <a:solidFill>
                            <a:srgbClr val="FF0000"/>
                          </a:solidFill>
                          <a:latin typeface="Cambria Math"/>
                          <a:ea typeface="Cambria Math"/>
                        </a:rPr>
                        <m:t>𝑝</m:t>
                      </m:r>
                      <m:r>
                        <a:rPr lang="en-US" sz="2400" i="1" smtClean="0">
                          <a:solidFill>
                            <a:srgbClr val="FF0000"/>
                          </a:solidFill>
                          <a:latin typeface="Cambria Math"/>
                          <a:ea typeface="Cambria Math"/>
                        </a:rPr>
                        <m:t>⇒</m:t>
                      </m:r>
                      <m:r>
                        <a:rPr lang="en-US" sz="2400" b="0" i="1" smtClean="0">
                          <a:solidFill>
                            <a:srgbClr val="FF0000"/>
                          </a:solidFill>
                          <a:latin typeface="Cambria Math"/>
                          <a:ea typeface="Cambria Math"/>
                        </a:rPr>
                        <m:t>𝑞</m:t>
                      </m:r>
                      <m:r>
                        <a:rPr lang="en-US" sz="2400" b="0" i="1" smtClean="0">
                          <a:solidFill>
                            <a:srgbClr val="FF0000"/>
                          </a:solidFill>
                          <a:latin typeface="Cambria Math"/>
                          <a:ea typeface="Cambria Math"/>
                        </a:rPr>
                        <m:t>)∨¬(</m:t>
                      </m:r>
                      <m:r>
                        <a:rPr lang="en-US" sz="2400" b="0" i="1" smtClean="0">
                          <a:solidFill>
                            <a:srgbClr val="FF0000"/>
                          </a:solidFill>
                          <a:latin typeface="Cambria Math"/>
                          <a:ea typeface="Cambria Math"/>
                        </a:rPr>
                        <m:t>𝑟</m:t>
                      </m:r>
                      <m:r>
                        <a:rPr lang="en-US" sz="2400" b="0" i="1" smtClean="0">
                          <a:solidFill>
                            <a:srgbClr val="FF0000"/>
                          </a:solidFill>
                          <a:latin typeface="Cambria Math"/>
                          <a:ea typeface="Cambria Math"/>
                        </a:rPr>
                        <m:t>∨¬</m:t>
                      </m:r>
                      <m:r>
                        <a:rPr lang="en-US" sz="2400" b="0" i="1" smtClean="0">
                          <a:solidFill>
                            <a:srgbClr val="FF0000"/>
                          </a:solidFill>
                          <a:latin typeface="Cambria Math"/>
                          <a:ea typeface="Cambria Math"/>
                        </a:rPr>
                        <m:t>𝑠</m:t>
                      </m:r>
                      <m:r>
                        <a:rPr lang="en-US" sz="2400" b="0" i="1" smtClean="0">
                          <a:solidFill>
                            <a:srgbClr val="FF0000"/>
                          </a:solidFill>
                          <a:latin typeface="Cambria Math"/>
                          <a:ea typeface="Cambria Math"/>
                        </a:rPr>
                        <m:t>)</m:t>
                      </m:r>
                    </m:oMath>
                  </m:oMathPara>
                </a14:m>
                <a:endParaRPr lang="en-US" sz="2400"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667000" y="1752600"/>
                <a:ext cx="2965299" cy="461665"/>
              </a:xfrm>
              <a:prstGeom prst="rect">
                <a:avLst/>
              </a:prstGeom>
              <a:blipFill rotWithShape="1">
                <a:blip r:embed="rId2"/>
                <a:stretch>
                  <a:fillRect b="-18667"/>
                </a:stretch>
              </a:blipFill>
            </p:spPr>
            <p:txBody>
              <a:bodyPr/>
              <a:lstStyle/>
              <a:p>
                <a:r>
                  <a:rPr lang="en-US">
                    <a:noFill/>
                  </a:rPr>
                  <a:t> </a:t>
                </a:r>
              </a:p>
            </p:txBody>
          </p:sp>
        </mc:Fallback>
      </mc:AlternateContent>
    </p:spTree>
    <p:extLst>
      <p:ext uri="{BB962C8B-B14F-4D97-AF65-F5344CB8AC3E}">
        <p14:creationId xmlns:p14="http://schemas.microsoft.com/office/powerpoint/2010/main" val="3132430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Contents</a:t>
            </a:r>
          </a:p>
        </p:txBody>
      </p:sp>
      <p:sp>
        <p:nvSpPr>
          <p:cNvPr id="3" name="Content Placeholder 2"/>
          <p:cNvSpPr>
            <a:spLocks noGrp="1"/>
          </p:cNvSpPr>
          <p:nvPr>
            <p:ph sz="quarter" idx="1"/>
          </p:nvPr>
        </p:nvSpPr>
        <p:spPr/>
        <p:txBody>
          <a:bodyPr>
            <a:normAutofit/>
          </a:bodyPr>
          <a:lstStyle/>
          <a:p>
            <a:r>
              <a:rPr lang="en-US" dirty="0">
                <a:solidFill>
                  <a:schemeClr val="bg1">
                    <a:lumMod val="75000"/>
                  </a:schemeClr>
                </a:solidFill>
              </a:rPr>
              <a:t>Set theory</a:t>
            </a:r>
          </a:p>
          <a:p>
            <a:r>
              <a:rPr lang="en-US" dirty="0">
                <a:solidFill>
                  <a:schemeClr val="bg1">
                    <a:lumMod val="65000"/>
                  </a:schemeClr>
                </a:solidFill>
              </a:rPr>
              <a:t>Propositional logic</a:t>
            </a:r>
            <a:endParaRPr lang="en-US" sz="2400" dirty="0">
              <a:solidFill>
                <a:schemeClr val="bg1">
                  <a:lumMod val="65000"/>
                </a:schemeClr>
              </a:solidFill>
            </a:endParaRPr>
          </a:p>
          <a:p>
            <a:r>
              <a:rPr lang="en-US" dirty="0"/>
              <a:t>Algorithms and complexity</a:t>
            </a:r>
          </a:p>
          <a:p>
            <a:r>
              <a:rPr lang="en-US" sz="2400" dirty="0">
                <a:latin typeface="Tahoma" pitchFamily="34" charset="0"/>
                <a:ea typeface="Tahoma" pitchFamily="34" charset="0"/>
                <a:cs typeface="Tahoma" pitchFamily="34" charset="0"/>
              </a:rPr>
              <a:t>Exercise</a:t>
            </a:r>
          </a:p>
        </p:txBody>
      </p:sp>
      <p:sp>
        <p:nvSpPr>
          <p:cNvPr id="4" name="Footer Placeholder 3"/>
          <p:cNvSpPr>
            <a:spLocks noGrp="1"/>
          </p:cNvSpPr>
          <p:nvPr>
            <p:ph type="ftr" sz="quarter" idx="11"/>
          </p:nvPr>
        </p:nvSpPr>
        <p:spPr/>
        <p:txBody>
          <a:bodyPr/>
          <a:lstStyle/>
          <a:p>
            <a:r>
              <a:rPr lang="en-US"/>
              <a:t>http://www.ptit.edu.vn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756114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algorithm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5" name="Content Placeholder 4"/>
          <p:cNvSpPr>
            <a:spLocks noGrp="1"/>
          </p:cNvSpPr>
          <p:nvPr>
            <p:ph sz="quarter" idx="1"/>
          </p:nvPr>
        </p:nvSpPr>
        <p:spPr/>
        <p:txBody>
          <a:bodyPr/>
          <a:lstStyle/>
          <a:p>
            <a:r>
              <a:rPr lang="en-US" dirty="0"/>
              <a:t>Algorithm</a:t>
            </a:r>
          </a:p>
          <a:p>
            <a:pPr lvl="1"/>
            <a:r>
              <a:rPr lang="en-US" dirty="0"/>
              <a:t>A procedure that solves a problem in a finite number of steps</a:t>
            </a:r>
          </a:p>
          <a:p>
            <a:pPr lvl="1"/>
            <a:r>
              <a:rPr lang="en-US" dirty="0"/>
              <a:t>A finite set of well-defined instructions to solve a problem</a:t>
            </a:r>
          </a:p>
          <a:p>
            <a:pPr lvl="1"/>
            <a:r>
              <a:rPr lang="en-US" dirty="0"/>
              <a:t>A set of rules that define exactly a sequence of actions</a:t>
            </a:r>
          </a:p>
          <a:p>
            <a:r>
              <a:rPr lang="en-US" dirty="0"/>
              <a:t>Algorithm description</a:t>
            </a:r>
          </a:p>
          <a:p>
            <a:pPr lvl="1"/>
            <a:r>
              <a:rPr lang="en-US" dirty="0"/>
              <a:t>Use natural language</a:t>
            </a:r>
          </a:p>
          <a:p>
            <a:pPr lvl="1"/>
            <a:r>
              <a:rPr lang="en-US" dirty="0"/>
              <a:t>Use Pseudo-code</a:t>
            </a:r>
          </a:p>
          <a:p>
            <a:pPr lvl="1"/>
            <a:r>
              <a:rPr lang="en-US" dirty="0"/>
              <a:t>Use programming language</a:t>
            </a:r>
          </a:p>
        </p:txBody>
      </p:sp>
    </p:spTree>
    <p:extLst>
      <p:ext uri="{BB962C8B-B14F-4D97-AF65-F5344CB8AC3E}">
        <p14:creationId xmlns:p14="http://schemas.microsoft.com/office/powerpoint/2010/main" val="1936124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example(1/2)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
        <p:nvSpPr>
          <p:cNvPr id="5" name="Content Placeholder 4"/>
          <p:cNvSpPr>
            <a:spLocks noGrp="1"/>
          </p:cNvSpPr>
          <p:nvPr>
            <p:ph sz="quarter" idx="1"/>
          </p:nvPr>
        </p:nvSpPr>
        <p:spPr/>
        <p:txBody>
          <a:bodyPr>
            <a:normAutofit/>
          </a:bodyPr>
          <a:lstStyle/>
          <a:p>
            <a:r>
              <a:rPr lang="en-US" b="1" dirty="0"/>
              <a:t>Algorithm</a:t>
            </a:r>
            <a:r>
              <a:rPr lang="en-US" dirty="0"/>
              <a:t>: Find the largest integer in a list of integers (unsorted)</a:t>
            </a:r>
          </a:p>
          <a:p>
            <a:endParaRPr lang="en-US" dirty="0"/>
          </a:p>
          <a:p>
            <a:r>
              <a:rPr lang="en-US" dirty="0"/>
              <a:t>Description of algorithms using natural language</a:t>
            </a:r>
          </a:p>
          <a:p>
            <a:pPr lvl="1"/>
            <a:r>
              <a:rPr lang="en-US" dirty="0"/>
              <a:t>If there is no number in the list then there is no greatest number.</a:t>
            </a:r>
          </a:p>
          <a:p>
            <a:pPr lvl="1"/>
            <a:r>
              <a:rPr lang="en-US" dirty="0"/>
              <a:t>Assume the first number is the largest number in the list.</a:t>
            </a:r>
          </a:p>
          <a:p>
            <a:pPr lvl="1"/>
            <a:r>
              <a:rPr lang="en-US" dirty="0"/>
              <a:t>For each remaining number in the list, if this number is greater than the current largest number, then consider this number the largest number.</a:t>
            </a:r>
          </a:p>
          <a:p>
            <a:pPr lvl="1"/>
            <a:r>
              <a:rPr lang="en-US" dirty="0"/>
              <a:t>When all numbers in the list have been considered, the current largest number is result.</a:t>
            </a:r>
          </a:p>
          <a:p>
            <a:endParaRPr lang="en-US" dirty="0"/>
          </a:p>
          <a:p>
            <a:endParaRPr lang="en-US" dirty="0"/>
          </a:p>
        </p:txBody>
      </p:sp>
      <p:sp>
        <p:nvSpPr>
          <p:cNvPr id="6" name="TextBox 5"/>
          <p:cNvSpPr txBox="1"/>
          <p:nvPr/>
        </p:nvSpPr>
        <p:spPr>
          <a:xfrm>
            <a:off x="2895600" y="5407967"/>
            <a:ext cx="2795958" cy="461665"/>
          </a:xfrm>
          <a:prstGeom prst="rect">
            <a:avLst/>
          </a:prstGeom>
          <a:noFill/>
        </p:spPr>
        <p:txBody>
          <a:bodyPr wrap="none" rtlCol="0">
            <a:spAutoFit/>
          </a:bodyPr>
          <a:lstStyle/>
          <a:p>
            <a:r>
              <a:rPr lang="en-US" sz="2400" dirty="0">
                <a:solidFill>
                  <a:srgbClr val="FF0000"/>
                </a:solidFill>
                <a:latin typeface="Tahoma" pitchFamily="34" charset="0"/>
                <a:ea typeface="Tahoma" pitchFamily="34" charset="0"/>
                <a:cs typeface="Tahoma" pitchFamily="34" charset="0"/>
              </a:rPr>
              <a:t>Complicated, rarely</a:t>
            </a:r>
          </a:p>
        </p:txBody>
      </p:sp>
    </p:spTree>
    <p:extLst>
      <p:ext uri="{BB962C8B-B14F-4D97-AF65-F5344CB8AC3E}">
        <p14:creationId xmlns:p14="http://schemas.microsoft.com/office/powerpoint/2010/main" val="267094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example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Content Placeholder 4"/>
          <p:cNvSpPr>
            <a:spLocks noGrp="1"/>
          </p:cNvSpPr>
          <p:nvPr>
            <p:ph sz="quarter" idx="1"/>
          </p:nvPr>
        </p:nvSpPr>
        <p:spPr/>
        <p:txBody>
          <a:bodyPr>
            <a:normAutofit/>
          </a:bodyPr>
          <a:lstStyle/>
          <a:p>
            <a:r>
              <a:rPr lang="en-US" b="1" dirty="0"/>
              <a:t>Algorithm</a:t>
            </a:r>
            <a:r>
              <a:rPr lang="en-US" dirty="0"/>
              <a:t>: Find the largest integer in a list of integers (unsorted)</a:t>
            </a:r>
          </a:p>
          <a:p>
            <a:r>
              <a:rPr lang="en-US" dirty="0"/>
              <a:t>Describe the algorithm using Pseudo code</a:t>
            </a:r>
          </a:p>
          <a:p>
            <a:endParaRPr lang="en-US" dirty="0"/>
          </a:p>
          <a:p>
            <a:endParaRPr lang="en-US" dirty="0"/>
          </a:p>
        </p:txBody>
      </p:sp>
      <mc:AlternateContent xmlns:mc="http://schemas.openxmlformats.org/markup-compatibility/2006" xmlns:a14="http://schemas.microsoft.com/office/drawing/2010/main">
        <mc:Choice Requires="a14">
          <p:sp>
            <p:nvSpPr>
              <p:cNvPr id="6" name="TextBox 5"/>
              <p:cNvSpPr txBox="1"/>
              <p:nvPr/>
            </p:nvSpPr>
            <p:spPr>
              <a:xfrm>
                <a:off x="736232" y="3039070"/>
                <a:ext cx="4502258" cy="1015663"/>
              </a:xfrm>
              <a:prstGeom prst="rect">
                <a:avLst/>
              </a:prstGeom>
              <a:noFill/>
            </p:spPr>
            <p:txBody>
              <a:bodyPr wrap="none" rtlCol="0">
                <a:spAutoFit/>
              </a:bodyPr>
              <a:lstStyle/>
              <a:p>
                <a:r>
                  <a:rPr lang="en-US" sz="2000" b="1" dirty="0"/>
                  <a:t>Algorithm</a:t>
                </a:r>
                <a:r>
                  <a:rPr lang="en-US" sz="2000" dirty="0"/>
                  <a:t> </a:t>
                </a:r>
                <a:r>
                  <a:rPr lang="en-US" sz="2000" dirty="0" err="1"/>
                  <a:t>LargestNumber</a:t>
                </a:r>
                <a:r>
                  <a:rPr lang="en-US" sz="2000" dirty="0"/>
                  <a:t> </a:t>
                </a:r>
              </a:p>
              <a:p>
                <a:r>
                  <a:rPr lang="en-US" sz="2000" b="1" dirty="0"/>
                  <a:t>Input</a:t>
                </a:r>
                <a:r>
                  <a:rPr lang="en-US" sz="2000" dirty="0"/>
                  <a:t>:  A list of numbers </a:t>
                </a:r>
                <a14:m>
                  <m:oMath xmlns:m="http://schemas.openxmlformats.org/officeDocument/2006/math">
                    <m:r>
                      <a:rPr lang="en-US" sz="2000" i="1" dirty="0" smtClean="0">
                        <a:latin typeface="Cambria Math"/>
                      </a:rPr>
                      <m:t>𝐿</m:t>
                    </m:r>
                  </m:oMath>
                </a14:m>
                <a:r>
                  <a:rPr lang="en-US" sz="2000" dirty="0"/>
                  <a:t>. </a:t>
                </a:r>
              </a:p>
              <a:p>
                <a:r>
                  <a:rPr lang="en-US" sz="2000" b="1" dirty="0"/>
                  <a:t>Output</a:t>
                </a:r>
                <a:r>
                  <a:rPr lang="en-US" sz="2000" dirty="0"/>
                  <a:t>:  The largest number in the list </a:t>
                </a:r>
                <a14:m>
                  <m:oMath xmlns:m="http://schemas.openxmlformats.org/officeDocument/2006/math">
                    <m:r>
                      <a:rPr lang="en-US" sz="2000" i="1" dirty="0" smtClean="0">
                        <a:latin typeface="Cambria Math"/>
                      </a:rPr>
                      <m:t>𝐿</m:t>
                    </m:r>
                  </m:oMath>
                </a14:m>
                <a:r>
                  <a:rPr lang="en-US" sz="20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736232" y="3039070"/>
                <a:ext cx="4502258" cy="1015663"/>
              </a:xfrm>
              <a:prstGeom prst="rect">
                <a:avLst/>
              </a:prstGeom>
              <a:blipFill rotWithShape="1">
                <a:blip r:embed="rId3"/>
                <a:stretch>
                  <a:fillRect l="-1491" t="-3012" r="-1220" b="-10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838200" y="4114800"/>
                <a:ext cx="3657600" cy="1631216"/>
              </a:xfrm>
              <a:prstGeom prst="rect">
                <a:avLst/>
              </a:prstGeom>
              <a:noFill/>
            </p:spPr>
            <p:txBody>
              <a:bodyPr wrap="square" rtlCol="0">
                <a:spAutoFit/>
              </a:bodyPr>
              <a:lstStyle/>
              <a:p>
                <a:r>
                  <a:rPr lang="en-US" sz="2000" i="1" dirty="0"/>
                  <a:t>largest</a:t>
                </a:r>
                <a:r>
                  <a:rPr lang="en-US" sz="2000" dirty="0"/>
                  <a:t> ← null </a:t>
                </a:r>
              </a:p>
              <a:p>
                <a:r>
                  <a:rPr lang="en-US" sz="2000" b="1" dirty="0"/>
                  <a:t>for each</a:t>
                </a:r>
                <a:r>
                  <a:rPr lang="en-US" sz="2000" dirty="0"/>
                  <a:t> </a:t>
                </a:r>
                <a:r>
                  <a:rPr lang="en-US" sz="2000" i="1" dirty="0"/>
                  <a:t>item</a:t>
                </a:r>
                <a:r>
                  <a:rPr lang="en-US" sz="2000" dirty="0"/>
                  <a:t> </a:t>
                </a:r>
                <a:r>
                  <a:rPr lang="en-US" sz="2000" b="1" dirty="0"/>
                  <a:t>in</a:t>
                </a:r>
                <a:r>
                  <a:rPr lang="en-US" sz="2000" dirty="0"/>
                  <a:t> </a:t>
                </a:r>
                <a14:m>
                  <m:oMath xmlns:m="http://schemas.openxmlformats.org/officeDocument/2006/math">
                    <m:r>
                      <a:rPr lang="en-US" sz="2000" i="1" dirty="0" smtClean="0">
                        <a:latin typeface="Cambria Math"/>
                      </a:rPr>
                      <m:t>𝐿</m:t>
                    </m:r>
                  </m:oMath>
                </a14:m>
                <a:r>
                  <a:rPr lang="en-US" sz="2000" dirty="0"/>
                  <a:t> </a:t>
                </a:r>
                <a:r>
                  <a:rPr lang="en-US" sz="2000" b="1" dirty="0"/>
                  <a:t>do</a:t>
                </a:r>
              </a:p>
              <a:p>
                <a:r>
                  <a:rPr lang="en-US" sz="2000" b="1" dirty="0"/>
                  <a:t>     if</a:t>
                </a:r>
                <a:r>
                  <a:rPr lang="en-US" sz="2000" dirty="0"/>
                  <a:t> </a:t>
                </a:r>
                <a:r>
                  <a:rPr lang="en-US" sz="2000" i="1" dirty="0"/>
                  <a:t>item</a:t>
                </a:r>
                <a:r>
                  <a:rPr lang="en-US" sz="2000" dirty="0"/>
                  <a:t> &gt; </a:t>
                </a:r>
                <a:r>
                  <a:rPr lang="en-US" sz="2000" i="1" dirty="0"/>
                  <a:t>largest</a:t>
                </a:r>
                <a:r>
                  <a:rPr lang="en-US" sz="2000" dirty="0"/>
                  <a:t> </a:t>
                </a:r>
                <a:r>
                  <a:rPr lang="en-US" sz="2000" b="1" dirty="0"/>
                  <a:t>then</a:t>
                </a:r>
              </a:p>
              <a:p>
                <a:r>
                  <a:rPr lang="en-US" sz="2000" i="1" dirty="0"/>
                  <a:t>          largest</a:t>
                </a:r>
                <a:r>
                  <a:rPr lang="en-US" sz="2000" dirty="0"/>
                  <a:t> ← </a:t>
                </a:r>
                <a:r>
                  <a:rPr lang="en-US" sz="2000" i="1" dirty="0"/>
                  <a:t>item</a:t>
                </a:r>
              </a:p>
              <a:p>
                <a:r>
                  <a:rPr lang="en-US" sz="2000" b="1" dirty="0"/>
                  <a:t>return</a:t>
                </a:r>
                <a:r>
                  <a:rPr lang="en-US" sz="2000" dirty="0"/>
                  <a:t> </a:t>
                </a:r>
                <a:r>
                  <a:rPr lang="en-US" sz="2000" i="1" dirty="0"/>
                  <a:t>largest</a:t>
                </a:r>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838200" y="4114800"/>
                <a:ext cx="3657600" cy="1631216"/>
              </a:xfrm>
              <a:prstGeom prst="rect">
                <a:avLst/>
              </a:prstGeom>
              <a:blipFill rotWithShape="1">
                <a:blip r:embed="rId4"/>
                <a:stretch>
                  <a:fillRect l="-1833" t="-1866" b="-5597"/>
                </a:stretch>
              </a:blipFill>
            </p:spPr>
            <p:txBody>
              <a:bodyPr/>
              <a:lstStyle/>
              <a:p>
                <a:r>
                  <a:rPr lang="en-US">
                    <a:noFill/>
                  </a:rPr>
                  <a:t> </a:t>
                </a:r>
              </a:p>
            </p:txBody>
          </p:sp>
        </mc:Fallback>
      </mc:AlternateContent>
      <p:sp>
        <p:nvSpPr>
          <p:cNvPr id="8" name="TextBox 7"/>
          <p:cNvSpPr txBox="1"/>
          <p:nvPr/>
        </p:nvSpPr>
        <p:spPr>
          <a:xfrm>
            <a:off x="2987361" y="5355996"/>
            <a:ext cx="5935920" cy="830997"/>
          </a:xfrm>
          <a:prstGeom prst="rect">
            <a:avLst/>
          </a:prstGeom>
          <a:noFill/>
        </p:spPr>
        <p:txBody>
          <a:bodyPr wrap="none" rtlCol="0">
            <a:spAutoFit/>
          </a:bodyPr>
          <a:lstStyle/>
          <a:p>
            <a:r>
              <a:rPr lang="en-US" sz="2400" dirty="0">
                <a:solidFill>
                  <a:srgbClr val="FF0000"/>
                </a:solidFill>
                <a:latin typeface="Tahoma" pitchFamily="34" charset="0"/>
                <a:ea typeface="Tahoma" pitchFamily="34" charset="0"/>
                <a:cs typeface="Tahoma" pitchFamily="34" charset="0"/>
              </a:rPr>
              <a:t>Easy to understand, easy to use,</a:t>
            </a:r>
          </a:p>
          <a:p>
            <a:r>
              <a:rPr lang="en-US" sz="2400" dirty="0">
                <a:solidFill>
                  <a:srgbClr val="FF0000"/>
                </a:solidFill>
                <a:latin typeface="Tahoma" pitchFamily="34" charset="0"/>
                <a:ea typeface="Tahoma" pitchFamily="34" charset="0"/>
                <a:cs typeface="Tahoma" pitchFamily="34" charset="0"/>
              </a:rPr>
              <a:t>not depend on the programming language</a:t>
            </a:r>
          </a:p>
        </p:txBody>
      </p:sp>
    </p:spTree>
    <p:extLst>
      <p:ext uri="{BB962C8B-B14F-4D97-AF65-F5344CB8AC3E}">
        <p14:creationId xmlns:p14="http://schemas.microsoft.com/office/powerpoint/2010/main" val="1553272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of algorithms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5" name="Content Placeholder 4"/>
          <p:cNvSpPr>
            <a:spLocks noGrp="1"/>
          </p:cNvSpPr>
          <p:nvPr>
            <p:ph sz="quarter" idx="1"/>
          </p:nvPr>
        </p:nvSpPr>
        <p:spPr>
          <a:xfrm>
            <a:off x="457200" y="1219200"/>
            <a:ext cx="8458200" cy="4937760"/>
          </a:xfrm>
        </p:spPr>
        <p:txBody>
          <a:bodyPr>
            <a:normAutofit/>
          </a:bodyPr>
          <a:lstStyle/>
          <a:p>
            <a:r>
              <a:rPr lang="en-US" dirty="0"/>
              <a:t>Most algorithms are designed to work with arbitrary size of input data </a:t>
            </a:r>
          </a:p>
          <a:p>
            <a:pPr lvl="1"/>
            <a:r>
              <a:rPr lang="en-US" dirty="0"/>
              <a:t>For example, the algorithm on the previous page, the input data size is the number of elements in the list (n).</a:t>
            </a:r>
          </a:p>
          <a:p>
            <a:r>
              <a:rPr lang="en-US" dirty="0"/>
              <a:t>Time complexity</a:t>
            </a:r>
          </a:p>
          <a:p>
            <a:pPr lvl="1"/>
            <a:r>
              <a:rPr lang="en-US" dirty="0"/>
              <a:t>Determine the amount of time required to execute the algorithm</a:t>
            </a:r>
          </a:p>
          <a:p>
            <a:pPr lvl="2"/>
            <a:r>
              <a:rPr lang="en-US" dirty="0"/>
              <a:t>Calculated as the number of operations to perform the algorithm</a:t>
            </a:r>
          </a:p>
          <a:p>
            <a:r>
              <a:rPr lang="en-US" dirty="0"/>
              <a:t>Space complexity</a:t>
            </a:r>
          </a:p>
          <a:p>
            <a:pPr lvl="1"/>
            <a:r>
              <a:rPr lang="en-US" dirty="0"/>
              <a:t>Determine the amount of memory required to execute the algorithm</a:t>
            </a:r>
          </a:p>
          <a:p>
            <a:pPr lvl="2"/>
            <a:r>
              <a:rPr lang="en-US" dirty="0"/>
              <a:t>Maximum amount of memory required to store objects of the algorithm at a time of algorithm execution</a:t>
            </a:r>
          </a:p>
        </p:txBody>
      </p:sp>
      <p:sp>
        <p:nvSpPr>
          <p:cNvPr id="6" name="TextBox 5"/>
          <p:cNvSpPr txBox="1"/>
          <p:nvPr/>
        </p:nvSpPr>
        <p:spPr>
          <a:xfrm>
            <a:off x="457200" y="5791200"/>
            <a:ext cx="6159250" cy="400110"/>
          </a:xfrm>
          <a:prstGeom prst="rect">
            <a:avLst/>
          </a:prstGeom>
          <a:noFill/>
        </p:spPr>
        <p:txBody>
          <a:bodyPr wrap="none" rtlCol="0">
            <a:spAutoFit/>
          </a:bodyPr>
          <a:lstStyle/>
          <a:p>
            <a:pPr marL="0" lvl="1"/>
            <a:r>
              <a:rPr lang="en-US" sz="2000" dirty="0">
                <a:solidFill>
                  <a:srgbClr val="FF0000"/>
                </a:solidFill>
                <a:latin typeface="Tahoma" pitchFamily="34" charset="0"/>
                <a:ea typeface="Tahoma" pitchFamily="34" charset="0"/>
                <a:cs typeface="Tahoma" pitchFamily="34" charset="0"/>
              </a:rPr>
              <a:t>Usually described as a function of the input data size</a:t>
            </a:r>
          </a:p>
        </p:txBody>
      </p:sp>
    </p:spTree>
    <p:extLst>
      <p:ext uri="{BB962C8B-B14F-4D97-AF65-F5344CB8AC3E}">
        <p14:creationId xmlns:p14="http://schemas.microsoft.com/office/powerpoint/2010/main" val="26678723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Big-O</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14:m>
                  <m:oMath xmlns:m="http://schemas.openxmlformats.org/officeDocument/2006/math">
                    <m:r>
                      <a:rPr lang="en-US" i="1" dirty="0" smtClean="0">
                        <a:solidFill>
                          <a:srgbClr val="FF0000"/>
                        </a:solidFill>
                        <a:latin typeface="Cambria Math"/>
                      </a:rPr>
                      <m:t>𝑓</m:t>
                    </m:r>
                    <m:r>
                      <a:rPr lang="en-US" i="1" dirty="0" smtClean="0">
                        <a:solidFill>
                          <a:srgbClr val="FF0000"/>
                        </a:solidFill>
                        <a:latin typeface="Cambria Math"/>
                      </a:rPr>
                      <m:t>(</m:t>
                    </m:r>
                    <m:r>
                      <a:rPr lang="en-US" i="1" dirty="0" smtClean="0">
                        <a:solidFill>
                          <a:srgbClr val="FF0000"/>
                        </a:solidFill>
                        <a:latin typeface="Cambria Math"/>
                      </a:rPr>
                      <m:t>𝑛</m:t>
                    </m:r>
                    <m:r>
                      <a:rPr lang="en-US" i="1" dirty="0" smtClean="0">
                        <a:solidFill>
                          <a:srgbClr val="FF0000"/>
                        </a:solidFill>
                        <a:latin typeface="Cambria Math"/>
                      </a:rPr>
                      <m:t>)=</m:t>
                    </m:r>
                    <m:r>
                      <a:rPr lang="en-US" i="1" dirty="0" smtClean="0">
                        <a:solidFill>
                          <a:srgbClr val="FF0000"/>
                        </a:solidFill>
                        <a:latin typeface="Cambria Math"/>
                      </a:rPr>
                      <m:t>𝑂</m:t>
                    </m:r>
                    <m:r>
                      <a:rPr lang="en-US" i="1" dirty="0" smtClean="0">
                        <a:solidFill>
                          <a:srgbClr val="FF0000"/>
                        </a:solidFill>
                        <a:latin typeface="Cambria Math"/>
                      </a:rPr>
                      <m:t>(</m:t>
                    </m:r>
                    <m:r>
                      <a:rPr lang="en-US" i="1" dirty="0" smtClean="0">
                        <a:solidFill>
                          <a:srgbClr val="FF0000"/>
                        </a:solidFill>
                        <a:latin typeface="Cambria Math"/>
                      </a:rPr>
                      <m:t>𝑔</m:t>
                    </m:r>
                    <m:r>
                      <a:rPr lang="en-US" i="1" dirty="0" smtClean="0">
                        <a:solidFill>
                          <a:srgbClr val="FF0000"/>
                        </a:solidFill>
                        <a:latin typeface="Cambria Math"/>
                      </a:rPr>
                      <m:t>(</m:t>
                    </m:r>
                    <m:r>
                      <a:rPr lang="en-US" i="1" dirty="0" smtClean="0">
                        <a:solidFill>
                          <a:srgbClr val="FF0000"/>
                        </a:solidFill>
                        <a:latin typeface="Cambria Math"/>
                      </a:rPr>
                      <m:t>𝑛</m:t>
                    </m:r>
                    <m:r>
                      <a:rPr lang="en-US" i="1" dirty="0" smtClean="0">
                        <a:solidFill>
                          <a:srgbClr val="FF0000"/>
                        </a:solidFill>
                        <a:latin typeface="Cambria Math"/>
                      </a:rPr>
                      <m:t>))</m:t>
                    </m:r>
                  </m:oMath>
                </a14:m>
                <a:r>
                  <a:rPr lang="en-US" dirty="0"/>
                  <a:t>, with enough big </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𝑛</m:t>
                    </m:r>
                  </m:oMath>
                </a14:m>
                <a:r>
                  <a:rPr lang="en-US" dirty="0"/>
                  <a:t>, </a:t>
                </a:r>
                <a14:m>
                  <m:oMath xmlns:m="http://schemas.openxmlformats.org/officeDocument/2006/math">
                    <m:r>
                      <a:rPr lang="en-US" i="1" dirty="0">
                        <a:latin typeface="Cambria Math"/>
                      </a:rPr>
                      <m:t>𝑓</m:t>
                    </m:r>
                    <m:d>
                      <m:dPr>
                        <m:ctrlPr>
                          <a:rPr lang="en-US" i="1" dirty="0">
                            <a:latin typeface="Cambria Math" panose="02040503050406030204" pitchFamily="18" charset="0"/>
                          </a:rPr>
                        </m:ctrlPr>
                      </m:dPr>
                      <m:e>
                        <m:r>
                          <a:rPr lang="en-US" i="1" dirty="0">
                            <a:latin typeface="Cambria Math"/>
                          </a:rPr>
                          <m:t>𝑛</m:t>
                        </m:r>
                      </m:e>
                    </m:d>
                  </m:oMath>
                </a14:m>
                <a:r>
                  <a:rPr lang="en-US" dirty="0"/>
                  <a:t> is not larger than multiplication of a constant with </a:t>
                </a:r>
                <a14:m>
                  <m:oMath xmlns:m="http://schemas.openxmlformats.org/officeDocument/2006/math">
                    <m:r>
                      <a:rPr lang="en-US" i="1" dirty="0">
                        <a:latin typeface="Cambria Math"/>
                      </a:rPr>
                      <m:t>𝑔</m:t>
                    </m:r>
                    <m:r>
                      <a:rPr lang="en-US" i="1" dirty="0">
                        <a:latin typeface="Cambria Math"/>
                      </a:rPr>
                      <m:t>(</m:t>
                    </m:r>
                    <m:r>
                      <a:rPr lang="en-US" i="1" dirty="0">
                        <a:latin typeface="Cambria Math"/>
                      </a:rPr>
                      <m:t>𝑛</m:t>
                    </m:r>
                    <m:r>
                      <a:rPr lang="en-US" i="1" dirty="0">
                        <a:latin typeface="Cambria Math"/>
                      </a:rPr>
                      <m:t>)</m:t>
                    </m:r>
                  </m:oMath>
                </a14:m>
                <a:endParaRPr lang="en-US" dirty="0"/>
              </a:p>
              <a:p>
                <a:pPr lvl="1"/>
                <a14:m>
                  <m:oMath xmlns:m="http://schemas.openxmlformats.org/officeDocument/2006/math">
                    <m:r>
                      <a:rPr lang="en-US" i="1" dirty="0" smtClean="0">
                        <a:latin typeface="Cambria Math"/>
                      </a:rPr>
                      <m:t>𝑛</m:t>
                    </m:r>
                  </m:oMath>
                </a14:m>
                <a:r>
                  <a:rPr lang="en-US" dirty="0"/>
                  <a:t> is a positive integer representing the size of the input data</a:t>
                </a:r>
              </a:p>
              <a:p>
                <a:pPr lvl="1"/>
                <a:endParaRPr lang="en-US" dirty="0"/>
              </a:p>
              <a:p>
                <a:pPr lvl="1"/>
                <a:endParaRPr lang="en-US" dirty="0"/>
              </a:p>
              <a:p>
                <a:pPr lvl="1"/>
                <a:endParaRPr lang="en-US" dirty="0"/>
              </a:p>
              <a:p>
                <a:r>
                  <a:rPr lang="en-US" dirty="0">
                    <a:solidFill>
                      <a:srgbClr val="FF0000"/>
                    </a:solidFill>
                  </a:rPr>
                  <a:t>Theorem</a:t>
                </a:r>
              </a:p>
              <a:p>
                <a:pPr lvl="1"/>
                <a:r>
                  <a:rPr lang="en-US" dirty="0"/>
                  <a:t>if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𝑙𝑖𝑚</m:t>
                        </m:r>
                      </m:e>
                      <m:sub>
                        <m:r>
                          <a:rPr lang="en-US" b="0" i="1" dirty="0" smtClean="0">
                            <a:latin typeface="Cambria Math"/>
                          </a:rPr>
                          <m:t>𝑛</m:t>
                        </m:r>
                        <m:r>
                          <a:rPr lang="en-US" b="0" i="1" dirty="0" smtClean="0">
                            <a:latin typeface="Cambria Math"/>
                            <a:ea typeface="Cambria Math"/>
                          </a:rPr>
                          <m:t>→∞</m:t>
                        </m:r>
                      </m:sub>
                    </m:sSub>
                    <m:f>
                      <m:fPr>
                        <m:ctrlPr>
                          <a:rPr lang="en-US" i="1" dirty="0" smtClean="0">
                            <a:latin typeface="Cambria Math" panose="02040503050406030204" pitchFamily="18" charset="0"/>
                          </a:rPr>
                        </m:ctrlPr>
                      </m:fPr>
                      <m:num>
                        <m:r>
                          <a:rPr lang="en-US" b="0" i="1" dirty="0" smtClean="0">
                            <a:latin typeface="Cambria Math"/>
                          </a:rPr>
                          <m:t>𝑓</m:t>
                        </m:r>
                        <m:r>
                          <a:rPr lang="en-US" b="0" i="1" dirty="0" smtClean="0">
                            <a:latin typeface="Cambria Math"/>
                          </a:rPr>
                          <m:t>(</m:t>
                        </m:r>
                        <m:r>
                          <a:rPr lang="en-US" b="0" i="1" dirty="0" smtClean="0">
                            <a:latin typeface="Cambria Math"/>
                          </a:rPr>
                          <m:t>𝑛</m:t>
                        </m:r>
                        <m:r>
                          <a:rPr lang="en-US" b="0" i="1" dirty="0" smtClean="0">
                            <a:latin typeface="Cambria Math"/>
                          </a:rPr>
                          <m:t>)</m:t>
                        </m:r>
                      </m:num>
                      <m:den>
                        <m:r>
                          <a:rPr lang="en-US" b="0" i="1" dirty="0" smtClean="0">
                            <a:latin typeface="Cambria Math"/>
                          </a:rPr>
                          <m:t>𝑔</m:t>
                        </m:r>
                        <m:r>
                          <a:rPr lang="en-US" b="0" i="1" dirty="0" smtClean="0">
                            <a:latin typeface="Cambria Math"/>
                          </a:rPr>
                          <m:t>(</m:t>
                        </m:r>
                        <m:r>
                          <a:rPr lang="en-US" b="0" i="1" dirty="0" smtClean="0">
                            <a:latin typeface="Cambria Math"/>
                          </a:rPr>
                          <m:t>𝑛</m:t>
                        </m:r>
                        <m:r>
                          <a:rPr lang="en-US" b="0" i="1" dirty="0" smtClean="0">
                            <a:latin typeface="Cambria Math"/>
                          </a:rPr>
                          <m:t>)</m:t>
                        </m:r>
                      </m:den>
                    </m:f>
                  </m:oMath>
                </a14:m>
                <a:r>
                  <a:rPr lang="en-US" dirty="0"/>
                  <a:t> is existent and finite, so </a:t>
                </a:r>
                <a14:m>
                  <m:oMath xmlns:m="http://schemas.openxmlformats.org/officeDocument/2006/math">
                    <m:r>
                      <a:rPr lang="pt-BR" i="1" dirty="0" smtClean="0">
                        <a:solidFill>
                          <a:schemeClr val="tx1"/>
                        </a:solidFill>
                        <a:latin typeface="Cambria Math"/>
                      </a:rPr>
                      <m:t>𝑓</m:t>
                    </m:r>
                    <m:d>
                      <m:dPr>
                        <m:ctrlPr>
                          <a:rPr lang="pt-BR" i="1" dirty="0">
                            <a:solidFill>
                              <a:schemeClr val="tx1"/>
                            </a:solidFill>
                            <a:latin typeface="Cambria Math" panose="02040503050406030204" pitchFamily="18" charset="0"/>
                          </a:rPr>
                        </m:ctrlPr>
                      </m:dPr>
                      <m:e>
                        <m:r>
                          <a:rPr lang="pt-BR" i="1" dirty="0">
                            <a:solidFill>
                              <a:schemeClr val="tx1"/>
                            </a:solidFill>
                            <a:latin typeface="Cambria Math"/>
                          </a:rPr>
                          <m:t>𝑛</m:t>
                        </m:r>
                      </m:e>
                    </m:d>
                    <m:r>
                      <a:rPr lang="pt-BR" i="1" dirty="0">
                        <a:solidFill>
                          <a:schemeClr val="tx1"/>
                        </a:solidFill>
                        <a:latin typeface="Cambria Math"/>
                      </a:rPr>
                      <m:t>=</m:t>
                    </m:r>
                    <m:r>
                      <a:rPr lang="pt-BR" i="1" dirty="0">
                        <a:solidFill>
                          <a:schemeClr val="tx1"/>
                        </a:solidFill>
                        <a:latin typeface="Cambria Math"/>
                      </a:rPr>
                      <m:t>𝑂</m:t>
                    </m:r>
                    <m:d>
                      <m:dPr>
                        <m:ctrlPr>
                          <a:rPr lang="pt-BR" i="1" dirty="0">
                            <a:solidFill>
                              <a:schemeClr val="tx1"/>
                            </a:solidFill>
                            <a:latin typeface="Cambria Math" panose="02040503050406030204" pitchFamily="18" charset="0"/>
                          </a:rPr>
                        </m:ctrlPr>
                      </m:dPr>
                      <m:e>
                        <m:r>
                          <a:rPr lang="pt-BR" i="1" dirty="0">
                            <a:solidFill>
                              <a:schemeClr val="tx1"/>
                            </a:solidFill>
                            <a:latin typeface="Cambria Math"/>
                          </a:rPr>
                          <m:t>𝑔</m:t>
                        </m:r>
                        <m:d>
                          <m:dPr>
                            <m:ctrlPr>
                              <a:rPr lang="pt-BR" i="1" dirty="0">
                                <a:solidFill>
                                  <a:schemeClr val="tx1"/>
                                </a:solidFill>
                                <a:latin typeface="Cambria Math" panose="02040503050406030204" pitchFamily="18" charset="0"/>
                              </a:rPr>
                            </m:ctrlPr>
                          </m:dPr>
                          <m:e>
                            <m:r>
                              <a:rPr lang="pt-BR" i="1" dirty="0">
                                <a:solidFill>
                                  <a:schemeClr val="tx1"/>
                                </a:solidFill>
                                <a:latin typeface="Cambria Math"/>
                              </a:rPr>
                              <m:t>𝑛</m:t>
                            </m:r>
                          </m:e>
                        </m:d>
                      </m:e>
                    </m:d>
                  </m:oMath>
                </a14:m>
                <a:endParaRPr lang="en-US" dirty="0">
                  <a:solidFill>
                    <a:schemeClr val="tx1"/>
                  </a:solidFill>
                </a:endParaRP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38200" y="2590800"/>
                <a:ext cx="7229095" cy="509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400" i="1" dirty="0" smtClean="0">
                          <a:solidFill>
                            <a:srgbClr val="FF0000"/>
                          </a:solidFill>
                          <a:latin typeface="Cambria Math"/>
                        </a:rPr>
                        <m:t>𝑓</m:t>
                      </m:r>
                      <m:d>
                        <m:dPr>
                          <m:ctrlPr>
                            <a:rPr lang="pt-BR" sz="2400" i="1" dirty="0" smtClean="0">
                              <a:solidFill>
                                <a:srgbClr val="FF0000"/>
                              </a:solidFill>
                              <a:latin typeface="Cambria Math" panose="02040503050406030204" pitchFamily="18" charset="0"/>
                            </a:rPr>
                          </m:ctrlPr>
                        </m:dPr>
                        <m:e>
                          <m:r>
                            <a:rPr lang="pt-BR" sz="2400" i="1" dirty="0" smtClean="0">
                              <a:solidFill>
                                <a:srgbClr val="FF0000"/>
                              </a:solidFill>
                              <a:latin typeface="Cambria Math"/>
                            </a:rPr>
                            <m:t>𝑛</m:t>
                          </m:r>
                        </m:e>
                      </m:d>
                      <m:r>
                        <a:rPr lang="pt-BR" sz="2400" i="1" dirty="0" smtClean="0">
                          <a:solidFill>
                            <a:srgbClr val="FF0000"/>
                          </a:solidFill>
                          <a:latin typeface="Cambria Math"/>
                        </a:rPr>
                        <m:t>=</m:t>
                      </m:r>
                      <m:r>
                        <a:rPr lang="pt-BR" sz="2400" i="1" dirty="0" smtClean="0">
                          <a:solidFill>
                            <a:srgbClr val="FF0000"/>
                          </a:solidFill>
                          <a:latin typeface="Cambria Math"/>
                        </a:rPr>
                        <m:t>𝑂</m:t>
                      </m:r>
                      <m:d>
                        <m:dPr>
                          <m:ctrlPr>
                            <a:rPr lang="pt-BR" sz="2400" i="1" dirty="0" smtClean="0">
                              <a:solidFill>
                                <a:srgbClr val="FF0000"/>
                              </a:solidFill>
                              <a:latin typeface="Cambria Math" panose="02040503050406030204" pitchFamily="18" charset="0"/>
                            </a:rPr>
                          </m:ctrlPr>
                        </m:dPr>
                        <m:e>
                          <m:r>
                            <a:rPr lang="pt-BR" sz="2400" i="1" dirty="0" smtClean="0">
                              <a:solidFill>
                                <a:srgbClr val="FF0000"/>
                              </a:solidFill>
                              <a:latin typeface="Cambria Math"/>
                            </a:rPr>
                            <m:t>𝑔</m:t>
                          </m:r>
                          <m:d>
                            <m:dPr>
                              <m:ctrlPr>
                                <a:rPr lang="pt-BR" sz="2400" i="1" dirty="0" smtClean="0">
                                  <a:solidFill>
                                    <a:srgbClr val="FF0000"/>
                                  </a:solidFill>
                                  <a:latin typeface="Cambria Math" panose="02040503050406030204" pitchFamily="18" charset="0"/>
                                </a:rPr>
                              </m:ctrlPr>
                            </m:dPr>
                            <m:e>
                              <m:r>
                                <a:rPr lang="pt-BR" sz="2400" i="1" dirty="0" smtClean="0">
                                  <a:solidFill>
                                    <a:srgbClr val="FF0000"/>
                                  </a:solidFill>
                                  <a:latin typeface="Cambria Math"/>
                                </a:rPr>
                                <m:t>𝑛</m:t>
                              </m:r>
                            </m:e>
                          </m:d>
                        </m:e>
                      </m:d>
                      <m:r>
                        <a:rPr lang="pt-BR" sz="2400" i="1" dirty="0" smtClean="0">
                          <a:solidFill>
                            <a:srgbClr val="FF0000"/>
                          </a:solidFill>
                          <a:latin typeface="Cambria Math"/>
                        </a:rPr>
                        <m:t>⇔∃</m:t>
                      </m:r>
                      <m:r>
                        <a:rPr lang="pt-BR" sz="2400" i="1" dirty="0" smtClean="0">
                          <a:solidFill>
                            <a:srgbClr val="FF0000"/>
                          </a:solidFill>
                          <a:latin typeface="Cambria Math"/>
                        </a:rPr>
                        <m:t>𝑐</m:t>
                      </m:r>
                      <m:r>
                        <a:rPr lang="pt-BR" sz="2400" i="1" dirty="0" smtClean="0">
                          <a:solidFill>
                            <a:srgbClr val="FF0000"/>
                          </a:solidFill>
                          <a:latin typeface="Cambria Math"/>
                        </a:rPr>
                        <m:t>,</m:t>
                      </m:r>
                      <m:sSub>
                        <m:sSubPr>
                          <m:ctrlPr>
                            <a:rPr lang="pt-BR" sz="2400" i="1" dirty="0">
                              <a:solidFill>
                                <a:srgbClr val="FF0000"/>
                              </a:solidFill>
                              <a:latin typeface="Cambria Math" panose="02040503050406030204" pitchFamily="18" charset="0"/>
                            </a:rPr>
                          </m:ctrlPr>
                        </m:sSubPr>
                        <m:e>
                          <m:r>
                            <a:rPr lang="en-US" sz="2400" i="1" dirty="0">
                              <a:solidFill>
                                <a:srgbClr val="FF0000"/>
                              </a:solidFill>
                              <a:latin typeface="Cambria Math"/>
                            </a:rPr>
                            <m:t>𝑛</m:t>
                          </m:r>
                        </m:e>
                        <m:sub>
                          <m:r>
                            <a:rPr lang="en-US" sz="2400" i="1" dirty="0">
                              <a:solidFill>
                                <a:srgbClr val="FF0000"/>
                              </a:solidFill>
                              <a:latin typeface="Cambria Math"/>
                            </a:rPr>
                            <m:t>0</m:t>
                          </m:r>
                        </m:sub>
                      </m:sSub>
                      <m:r>
                        <a:rPr lang="pt-BR" sz="2400" i="1" dirty="0" smtClean="0">
                          <a:solidFill>
                            <a:srgbClr val="FF0000"/>
                          </a:solidFill>
                          <a:latin typeface="Cambria Math"/>
                        </a:rPr>
                        <m:t>.∀</m:t>
                      </m:r>
                      <m:r>
                        <a:rPr lang="pt-BR" sz="2400" i="1" dirty="0" smtClean="0">
                          <a:solidFill>
                            <a:srgbClr val="FF0000"/>
                          </a:solidFill>
                          <a:latin typeface="Cambria Math"/>
                        </a:rPr>
                        <m:t>𝑛</m:t>
                      </m:r>
                      <m:r>
                        <a:rPr lang="pt-BR" sz="2400" i="1" dirty="0" smtClean="0">
                          <a:solidFill>
                            <a:srgbClr val="FF0000"/>
                          </a:solidFill>
                          <a:latin typeface="Cambria Math"/>
                        </a:rPr>
                        <m:t>≥</m:t>
                      </m:r>
                      <m:sSub>
                        <m:sSubPr>
                          <m:ctrlPr>
                            <a:rPr lang="pt-BR" sz="2400" i="1" dirty="0" smtClean="0">
                              <a:solidFill>
                                <a:srgbClr val="FF0000"/>
                              </a:solidFill>
                              <a:latin typeface="Cambria Math" panose="02040503050406030204" pitchFamily="18" charset="0"/>
                            </a:rPr>
                          </m:ctrlPr>
                        </m:sSubPr>
                        <m:e>
                          <m:r>
                            <a:rPr lang="en-US" sz="2400" b="0" i="1" dirty="0" smtClean="0">
                              <a:solidFill>
                                <a:srgbClr val="FF0000"/>
                              </a:solidFill>
                              <a:latin typeface="Cambria Math"/>
                            </a:rPr>
                            <m:t>𝑛</m:t>
                          </m:r>
                        </m:e>
                        <m:sub>
                          <m:r>
                            <a:rPr lang="en-US" sz="2400" b="0" i="1" dirty="0" smtClean="0">
                              <a:solidFill>
                                <a:srgbClr val="FF0000"/>
                              </a:solidFill>
                              <a:latin typeface="Cambria Math"/>
                            </a:rPr>
                            <m:t>0</m:t>
                          </m:r>
                        </m:sub>
                      </m:sSub>
                      <m:r>
                        <a:rPr lang="en-US" sz="2400" b="0" i="1" dirty="0" smtClean="0">
                          <a:solidFill>
                            <a:srgbClr val="FF0000"/>
                          </a:solidFill>
                          <a:latin typeface="Cambria Math"/>
                        </a:rPr>
                        <m:t>,</m:t>
                      </m:r>
                      <m:r>
                        <a:rPr lang="pt-BR" sz="2400" i="1" dirty="0" smtClean="0">
                          <a:solidFill>
                            <a:srgbClr val="FF0000"/>
                          </a:solidFill>
                          <a:latin typeface="Cambria Math"/>
                        </a:rPr>
                        <m:t> </m:t>
                      </m:r>
                      <m:r>
                        <a:rPr lang="pt-BR" sz="2400" i="1" dirty="0" smtClean="0">
                          <a:solidFill>
                            <a:srgbClr val="FF0000"/>
                          </a:solidFill>
                          <a:latin typeface="Cambria Math"/>
                        </a:rPr>
                        <m:t>𝑓</m:t>
                      </m:r>
                      <m:d>
                        <m:dPr>
                          <m:ctrlPr>
                            <a:rPr lang="pt-BR" sz="2400" i="1" dirty="0" smtClean="0">
                              <a:solidFill>
                                <a:srgbClr val="FF0000"/>
                              </a:solidFill>
                              <a:latin typeface="Cambria Math" panose="02040503050406030204" pitchFamily="18" charset="0"/>
                            </a:rPr>
                          </m:ctrlPr>
                        </m:dPr>
                        <m:e>
                          <m:r>
                            <a:rPr lang="pt-BR" sz="2400" i="1" dirty="0" smtClean="0">
                              <a:solidFill>
                                <a:srgbClr val="FF0000"/>
                              </a:solidFill>
                              <a:latin typeface="Cambria Math"/>
                            </a:rPr>
                            <m:t>𝑛</m:t>
                          </m:r>
                        </m:e>
                      </m:d>
                      <m:r>
                        <a:rPr lang="pt-BR" sz="2400" i="1" dirty="0" smtClean="0">
                          <a:solidFill>
                            <a:srgbClr val="FF0000"/>
                          </a:solidFill>
                          <a:latin typeface="Cambria Math"/>
                        </a:rPr>
                        <m:t>≤</m:t>
                      </m:r>
                      <m:r>
                        <a:rPr lang="pt-BR" sz="2400" i="1" dirty="0" smtClean="0">
                          <a:solidFill>
                            <a:srgbClr val="FF0000"/>
                          </a:solidFill>
                          <a:latin typeface="Cambria Math"/>
                        </a:rPr>
                        <m:t>𝑐</m:t>
                      </m:r>
                      <m:r>
                        <a:rPr lang="en-US" sz="2400" b="0" i="1" dirty="0" smtClean="0">
                          <a:solidFill>
                            <a:srgbClr val="FF0000"/>
                          </a:solidFill>
                          <a:latin typeface="Cambria Math"/>
                          <a:ea typeface="Cambria Math"/>
                        </a:rPr>
                        <m:t>∗</m:t>
                      </m:r>
                      <m:r>
                        <a:rPr lang="pt-BR" sz="2400" i="1" dirty="0" smtClean="0">
                          <a:solidFill>
                            <a:srgbClr val="FF0000"/>
                          </a:solidFill>
                          <a:latin typeface="Cambria Math"/>
                        </a:rPr>
                        <m:t>𝑔</m:t>
                      </m:r>
                      <m:r>
                        <a:rPr lang="pt-BR" sz="2400" i="1" dirty="0" smtClean="0">
                          <a:solidFill>
                            <a:srgbClr val="FF0000"/>
                          </a:solidFill>
                          <a:latin typeface="Cambria Math"/>
                        </a:rPr>
                        <m:t>(</m:t>
                      </m:r>
                      <m:r>
                        <a:rPr lang="pt-BR" sz="2400" i="1" dirty="0" smtClean="0">
                          <a:solidFill>
                            <a:srgbClr val="FF0000"/>
                          </a:solidFill>
                          <a:latin typeface="Cambria Math"/>
                        </a:rPr>
                        <m:t>𝑛</m:t>
                      </m:r>
                      <m:r>
                        <a:rPr lang="pt-BR" sz="2400" i="1" dirty="0" smtClean="0">
                          <a:solidFill>
                            <a:srgbClr val="FF0000"/>
                          </a:solidFill>
                          <a:latin typeface="Cambria Math"/>
                        </a:rPr>
                        <m:t>).</m:t>
                      </m:r>
                    </m:oMath>
                  </m:oMathPara>
                </a14:m>
                <a:endParaRPr lang="en-US" sz="2400"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38200" y="2590800"/>
                <a:ext cx="7229095" cy="509178"/>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3921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
        <p:nvSpPr>
          <p:cNvPr id="5" name="Content Placeholder 4"/>
          <p:cNvSpPr>
            <a:spLocks noGrp="1"/>
          </p:cNvSpPr>
          <p:nvPr>
            <p:ph sz="quarter" idx="1"/>
          </p:nvPr>
        </p:nvSpPr>
        <p:spPr/>
        <p:txBody>
          <a:bodyPr/>
          <a:lstStyle/>
          <a:p>
            <a:r>
              <a:rPr lang="en-US" b="1" dirty="0"/>
              <a:t>Algorithm</a:t>
            </a:r>
            <a:r>
              <a:rPr lang="en-US" dirty="0"/>
              <a:t>: Find the largest integer in a list of integers</a:t>
            </a:r>
          </a:p>
        </p:txBody>
      </p:sp>
      <mc:AlternateContent xmlns:mc="http://schemas.openxmlformats.org/markup-compatibility/2006" xmlns:a14="http://schemas.microsoft.com/office/drawing/2010/main">
        <mc:Choice Requires="a14">
          <p:sp>
            <p:nvSpPr>
              <p:cNvPr id="6" name="TextBox 5"/>
              <p:cNvSpPr txBox="1"/>
              <p:nvPr/>
            </p:nvSpPr>
            <p:spPr>
              <a:xfrm>
                <a:off x="736232" y="2133600"/>
                <a:ext cx="4502258" cy="1015663"/>
              </a:xfrm>
              <a:prstGeom prst="rect">
                <a:avLst/>
              </a:prstGeom>
              <a:noFill/>
            </p:spPr>
            <p:txBody>
              <a:bodyPr wrap="none" rtlCol="0">
                <a:spAutoFit/>
              </a:bodyPr>
              <a:lstStyle/>
              <a:p>
                <a:r>
                  <a:rPr lang="en-US" sz="2000" b="1" dirty="0"/>
                  <a:t>Algorithm</a:t>
                </a:r>
                <a:r>
                  <a:rPr lang="en-US" sz="2000" dirty="0"/>
                  <a:t> </a:t>
                </a:r>
                <a:r>
                  <a:rPr lang="en-US" sz="2000" dirty="0" err="1"/>
                  <a:t>LargestNumber</a:t>
                </a:r>
                <a:r>
                  <a:rPr lang="en-US" sz="2000" dirty="0"/>
                  <a:t> </a:t>
                </a:r>
              </a:p>
              <a:p>
                <a:r>
                  <a:rPr lang="en-US" sz="2000" b="1" dirty="0"/>
                  <a:t>Input</a:t>
                </a:r>
                <a:r>
                  <a:rPr lang="en-US" sz="2000" dirty="0"/>
                  <a:t>:  A list of numbers </a:t>
                </a:r>
                <a14:m>
                  <m:oMath xmlns:m="http://schemas.openxmlformats.org/officeDocument/2006/math">
                    <m:r>
                      <a:rPr lang="en-US" sz="2000" i="1" dirty="0" smtClean="0">
                        <a:latin typeface="Cambria Math"/>
                      </a:rPr>
                      <m:t>𝐿</m:t>
                    </m:r>
                  </m:oMath>
                </a14:m>
                <a:r>
                  <a:rPr lang="en-US" sz="2000" dirty="0"/>
                  <a:t>. </a:t>
                </a:r>
              </a:p>
              <a:p>
                <a:r>
                  <a:rPr lang="en-US" sz="2000" b="1" dirty="0"/>
                  <a:t>Output</a:t>
                </a:r>
                <a:r>
                  <a:rPr lang="en-US" sz="2000" dirty="0"/>
                  <a:t>:  The largest number in the list </a:t>
                </a:r>
                <a14:m>
                  <m:oMath xmlns:m="http://schemas.openxmlformats.org/officeDocument/2006/math">
                    <m:r>
                      <a:rPr lang="en-US" sz="2000" i="1" dirty="0" smtClean="0">
                        <a:latin typeface="Cambria Math"/>
                      </a:rPr>
                      <m:t>𝐿</m:t>
                    </m:r>
                  </m:oMath>
                </a14:m>
                <a:r>
                  <a:rPr lang="en-US" sz="20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736232" y="2133600"/>
                <a:ext cx="4502258" cy="1015663"/>
              </a:xfrm>
              <a:prstGeom prst="rect">
                <a:avLst/>
              </a:prstGeom>
              <a:blipFill rotWithShape="1">
                <a:blip r:embed="rId3"/>
                <a:stretch>
                  <a:fillRect l="-1491" t="-2994" r="-1220" b="-9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838200" y="3209330"/>
                <a:ext cx="3657600" cy="1631216"/>
              </a:xfrm>
              <a:prstGeom prst="rect">
                <a:avLst/>
              </a:prstGeom>
              <a:noFill/>
            </p:spPr>
            <p:txBody>
              <a:bodyPr wrap="square" rtlCol="0">
                <a:spAutoFit/>
              </a:bodyPr>
              <a:lstStyle/>
              <a:p>
                <a:r>
                  <a:rPr lang="en-US" sz="2000" i="1" dirty="0"/>
                  <a:t>largest</a:t>
                </a:r>
                <a:r>
                  <a:rPr lang="en-US" sz="2000" dirty="0"/>
                  <a:t> ← null </a:t>
                </a:r>
              </a:p>
              <a:p>
                <a:r>
                  <a:rPr lang="en-US" sz="2000" b="1" dirty="0"/>
                  <a:t>for each</a:t>
                </a:r>
                <a:r>
                  <a:rPr lang="en-US" sz="2000" dirty="0"/>
                  <a:t> </a:t>
                </a:r>
                <a:r>
                  <a:rPr lang="en-US" sz="2000" i="1" dirty="0"/>
                  <a:t>item</a:t>
                </a:r>
                <a:r>
                  <a:rPr lang="en-US" sz="2000" dirty="0"/>
                  <a:t> </a:t>
                </a:r>
                <a:r>
                  <a:rPr lang="en-US" sz="2000" b="1" dirty="0"/>
                  <a:t>in</a:t>
                </a:r>
                <a:r>
                  <a:rPr lang="en-US" sz="2000" dirty="0"/>
                  <a:t> </a:t>
                </a:r>
                <a14:m>
                  <m:oMath xmlns:m="http://schemas.openxmlformats.org/officeDocument/2006/math">
                    <m:r>
                      <a:rPr lang="en-US" sz="2000" i="1" dirty="0" smtClean="0">
                        <a:latin typeface="Cambria Math"/>
                      </a:rPr>
                      <m:t>𝐿</m:t>
                    </m:r>
                  </m:oMath>
                </a14:m>
                <a:r>
                  <a:rPr lang="en-US" sz="2000" dirty="0"/>
                  <a:t> </a:t>
                </a:r>
                <a:r>
                  <a:rPr lang="en-US" sz="2000" b="1" dirty="0"/>
                  <a:t>do</a:t>
                </a:r>
              </a:p>
              <a:p>
                <a:r>
                  <a:rPr lang="en-US" sz="2000" b="1" dirty="0"/>
                  <a:t>     if</a:t>
                </a:r>
                <a:r>
                  <a:rPr lang="en-US" sz="2000" dirty="0"/>
                  <a:t> </a:t>
                </a:r>
                <a:r>
                  <a:rPr lang="en-US" sz="2000" i="1" dirty="0"/>
                  <a:t>item</a:t>
                </a:r>
                <a:r>
                  <a:rPr lang="en-US" sz="2000" dirty="0"/>
                  <a:t> &gt; </a:t>
                </a:r>
                <a:r>
                  <a:rPr lang="en-US" sz="2000" i="1" dirty="0"/>
                  <a:t>largest</a:t>
                </a:r>
                <a:r>
                  <a:rPr lang="en-US" sz="2000" dirty="0"/>
                  <a:t> </a:t>
                </a:r>
                <a:r>
                  <a:rPr lang="en-US" sz="2000" b="1" dirty="0"/>
                  <a:t>then</a:t>
                </a:r>
              </a:p>
              <a:p>
                <a:r>
                  <a:rPr lang="en-US" sz="2000" i="1" dirty="0"/>
                  <a:t>          largest</a:t>
                </a:r>
                <a:r>
                  <a:rPr lang="en-US" sz="2000" dirty="0"/>
                  <a:t> ← </a:t>
                </a:r>
                <a:r>
                  <a:rPr lang="en-US" sz="2000" i="1" dirty="0"/>
                  <a:t>item</a:t>
                </a:r>
              </a:p>
              <a:p>
                <a:r>
                  <a:rPr lang="en-US" sz="2000" b="1" dirty="0"/>
                  <a:t>return</a:t>
                </a:r>
                <a:r>
                  <a:rPr lang="en-US" sz="2000" dirty="0"/>
                  <a:t> </a:t>
                </a:r>
                <a:r>
                  <a:rPr lang="en-US" sz="2000" i="1" dirty="0"/>
                  <a:t>largest</a:t>
                </a:r>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838200" y="3209330"/>
                <a:ext cx="3657600" cy="1631216"/>
              </a:xfrm>
              <a:prstGeom prst="rect">
                <a:avLst/>
              </a:prstGeom>
              <a:blipFill rotWithShape="1">
                <a:blip r:embed="rId4"/>
                <a:stretch>
                  <a:fillRect l="-1833" t="-1866" b="-5597"/>
                </a:stretch>
              </a:blipFill>
            </p:spPr>
            <p:txBody>
              <a:bodyPr/>
              <a:lstStyle/>
              <a:p>
                <a:r>
                  <a:rPr lang="en-US">
                    <a:noFill/>
                  </a:rPr>
                  <a:t> </a:t>
                </a:r>
              </a:p>
            </p:txBody>
          </p:sp>
        </mc:Fallback>
      </mc:AlternateContent>
      <p:sp>
        <p:nvSpPr>
          <p:cNvPr id="8" name="TextBox 7"/>
          <p:cNvSpPr txBox="1"/>
          <p:nvPr/>
        </p:nvSpPr>
        <p:spPr>
          <a:xfrm>
            <a:off x="1828800" y="5117068"/>
            <a:ext cx="4368312" cy="369332"/>
          </a:xfrm>
          <a:prstGeom prst="rect">
            <a:avLst/>
          </a:prstGeom>
          <a:noFill/>
        </p:spPr>
        <p:txBody>
          <a:bodyPr wrap="none" rtlCol="0">
            <a:spAutoFit/>
          </a:bodyPr>
          <a:lstStyle/>
          <a:p>
            <a:r>
              <a:rPr lang="en-US" dirty="0">
                <a:solidFill>
                  <a:srgbClr val="FF0000"/>
                </a:solidFill>
                <a:latin typeface="Tahoma" pitchFamily="34" charset="0"/>
                <a:ea typeface="Tahoma" pitchFamily="34" charset="0"/>
                <a:cs typeface="Tahoma" pitchFamily="34" charset="0"/>
              </a:rPr>
              <a:t>Both time and space complexity are O(n)</a:t>
            </a:r>
          </a:p>
        </p:txBody>
      </p:sp>
    </p:spTree>
    <p:extLst>
      <p:ext uri="{BB962C8B-B14F-4D97-AF65-F5344CB8AC3E}">
        <p14:creationId xmlns:p14="http://schemas.microsoft.com/office/powerpoint/2010/main" val="385795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5" name="Content Placeholder 4"/>
          <p:cNvSpPr>
            <a:spLocks noGrp="1"/>
          </p:cNvSpPr>
          <p:nvPr>
            <p:ph sz="quarter" idx="1"/>
          </p:nvPr>
        </p:nvSpPr>
        <p:spPr/>
        <p:txBody>
          <a:bodyPr/>
          <a:lstStyle/>
          <a:p>
            <a:r>
              <a:rPr lang="en-US" dirty="0"/>
              <a:t>Find the complexity of bubble sort algorithm</a:t>
            </a:r>
          </a:p>
        </p:txBody>
      </p:sp>
      <mc:AlternateContent xmlns:mc="http://schemas.openxmlformats.org/markup-compatibility/2006" xmlns:a14="http://schemas.microsoft.com/office/drawing/2010/main">
        <mc:Choice Requires="a14">
          <p:sp>
            <p:nvSpPr>
              <p:cNvPr id="6" name="TextBox 5"/>
              <p:cNvSpPr txBox="1"/>
              <p:nvPr/>
            </p:nvSpPr>
            <p:spPr>
              <a:xfrm>
                <a:off x="762000" y="2362200"/>
                <a:ext cx="7086600" cy="2585323"/>
              </a:xfrm>
              <a:prstGeom prst="rect">
                <a:avLst/>
              </a:prstGeom>
              <a:noFill/>
            </p:spPr>
            <p:txBody>
              <a:bodyPr wrap="square" rtlCol="0">
                <a:spAutoFit/>
              </a:bodyPr>
              <a:lstStyle/>
              <a:p>
                <a:r>
                  <a:rPr lang="en-US" b="1" dirty="0">
                    <a:latin typeface="Gill Sans MT (Body)"/>
                  </a:rPr>
                  <a:t>function</a:t>
                </a:r>
                <a:r>
                  <a:rPr lang="vi-VN" dirty="0">
                    <a:latin typeface="Gill Sans MT (Body)"/>
                  </a:rPr>
                  <a:t> bubble_sort(</a:t>
                </a:r>
                <a:r>
                  <a:rPr lang="en-US" dirty="0">
                    <a:latin typeface="Gill Sans MT (Body)"/>
                  </a:rPr>
                  <a:t>List</a:t>
                </a:r>
                <a:r>
                  <a:rPr lang="vi-VN" dirty="0">
                    <a:latin typeface="Gill Sans MT (Body)"/>
                  </a:rPr>
                  <a:t> </a:t>
                </a:r>
                <a14:m>
                  <m:oMath xmlns:m="http://schemas.openxmlformats.org/officeDocument/2006/math">
                    <m:r>
                      <a:rPr lang="vi-VN" i="1" dirty="0" smtClean="0">
                        <a:latin typeface="Cambria Math"/>
                      </a:rPr>
                      <m:t>𝐿</m:t>
                    </m:r>
                  </m:oMath>
                </a14:m>
                <a:r>
                  <a:rPr lang="vi-VN" dirty="0">
                    <a:latin typeface="Gill Sans MT (Body)"/>
                  </a:rPr>
                  <a:t>, </a:t>
                </a:r>
                <a:r>
                  <a:rPr lang="en-US" dirty="0">
                    <a:latin typeface="Gill Sans MT (Body)"/>
                  </a:rPr>
                  <a:t>number</a:t>
                </a:r>
                <a:r>
                  <a:rPr lang="en-US" i="1" dirty="0">
                    <a:latin typeface="Gill Sans MT (Body)"/>
                  </a:rPr>
                  <a:t> </a:t>
                </a:r>
                <a14:m>
                  <m:oMath xmlns:m="http://schemas.openxmlformats.org/officeDocument/2006/math">
                    <m:r>
                      <a:rPr lang="vi-VN" i="1" dirty="0" smtClean="0">
                        <a:latin typeface="Cambria Math"/>
                      </a:rPr>
                      <m:t>𝑛</m:t>
                    </m:r>
                  </m:oMath>
                </a14:m>
                <a:r>
                  <a:rPr lang="vi-VN" dirty="0">
                    <a:latin typeface="Gill Sans MT (Body)"/>
                  </a:rPr>
                  <a:t>) //</a:t>
                </a:r>
                <a:endParaRPr lang="en-US" dirty="0">
                  <a:latin typeface="Gill Sans MT (Body)"/>
                </a:endParaRPr>
              </a:p>
              <a:p>
                <a:pPr lvl="1"/>
                <a:r>
                  <a:rPr lang="en-US" b="1" dirty="0">
                    <a:latin typeface="Gill Sans MT (Body)"/>
                  </a:rPr>
                  <a:t>f</a:t>
                </a:r>
                <a:r>
                  <a:rPr lang="vi-VN" b="1" dirty="0">
                    <a:latin typeface="Gill Sans MT (Body)"/>
                  </a:rPr>
                  <a:t>or</a:t>
                </a:r>
                <a:r>
                  <a:rPr lang="vi-VN" dirty="0">
                    <a:latin typeface="Gill Sans MT (Body)"/>
                  </a:rPr>
                  <a:t> i </a:t>
                </a:r>
                <a:r>
                  <a:rPr lang="vi-VN" b="1" dirty="0">
                    <a:latin typeface="Gill Sans MT (Body)"/>
                  </a:rPr>
                  <a:t>from </a:t>
                </a:r>
                <a:r>
                  <a:rPr lang="vi-VN" dirty="0">
                    <a:latin typeface="Gill Sans MT (Body)"/>
                  </a:rPr>
                  <a:t>n </a:t>
                </a:r>
                <a:r>
                  <a:rPr lang="vi-VN" b="1" dirty="0">
                    <a:latin typeface="Gill Sans MT (Body)"/>
                  </a:rPr>
                  <a:t>downto</a:t>
                </a:r>
                <a:r>
                  <a:rPr lang="vi-VN" dirty="0">
                    <a:latin typeface="Gill Sans MT (Body)"/>
                  </a:rPr>
                  <a:t> 2 </a:t>
                </a:r>
                <a:endParaRPr lang="en-US" dirty="0">
                  <a:latin typeface="Gill Sans MT (Body)"/>
                </a:endParaRPr>
              </a:p>
              <a:p>
                <a:pPr lvl="1"/>
                <a:r>
                  <a:rPr lang="en-US" b="1" dirty="0">
                    <a:latin typeface="Gill Sans MT (Body)"/>
                  </a:rPr>
                  <a:t>       </a:t>
                </a:r>
                <a:r>
                  <a:rPr lang="vi-VN" b="1" dirty="0">
                    <a:latin typeface="Gill Sans MT (Body)"/>
                  </a:rPr>
                  <a:t>for</a:t>
                </a:r>
                <a:r>
                  <a:rPr lang="vi-VN" dirty="0">
                    <a:latin typeface="Gill Sans MT (Body)"/>
                  </a:rPr>
                  <a:t> j </a:t>
                </a:r>
                <a:r>
                  <a:rPr lang="vi-VN" b="1" dirty="0">
                    <a:latin typeface="Gill Sans MT (Body)"/>
                  </a:rPr>
                  <a:t>from</a:t>
                </a:r>
                <a:r>
                  <a:rPr lang="vi-VN" dirty="0">
                    <a:latin typeface="Gill Sans MT (Body)"/>
                  </a:rPr>
                  <a:t> 1 </a:t>
                </a:r>
                <a:r>
                  <a:rPr lang="vi-VN" b="1" dirty="0">
                    <a:latin typeface="Gill Sans MT (Body)"/>
                  </a:rPr>
                  <a:t>to</a:t>
                </a:r>
                <a:r>
                  <a:rPr lang="vi-VN" dirty="0">
                    <a:latin typeface="Gill Sans MT (Body)"/>
                  </a:rPr>
                  <a:t> (i - 1) </a:t>
                </a:r>
                <a:endParaRPr lang="en-US" dirty="0">
                  <a:latin typeface="Gill Sans MT (Body)"/>
                </a:endParaRPr>
              </a:p>
              <a:p>
                <a:pPr lvl="1"/>
                <a:r>
                  <a:rPr lang="en-US" b="1" dirty="0">
                    <a:latin typeface="Gill Sans MT (Body)"/>
                  </a:rPr>
                  <a:t>	        </a:t>
                </a:r>
                <a:r>
                  <a:rPr lang="vi-VN" b="1" dirty="0">
                    <a:latin typeface="Gill Sans MT (Body)"/>
                  </a:rPr>
                  <a:t>if</a:t>
                </a:r>
                <a:r>
                  <a:rPr lang="vi-VN" dirty="0">
                    <a:latin typeface="Gill Sans MT (Body)"/>
                  </a:rPr>
                  <a:t> L[j] &gt; L[j + 1] </a:t>
                </a:r>
                <a:r>
                  <a:rPr lang="en-US" b="1" dirty="0">
                    <a:latin typeface="Gill Sans MT (Body)"/>
                  </a:rPr>
                  <a:t>then</a:t>
                </a:r>
                <a:r>
                  <a:rPr lang="en-US" dirty="0">
                    <a:latin typeface="Gill Sans MT (Body)"/>
                  </a:rPr>
                  <a:t> </a:t>
                </a:r>
                <a:r>
                  <a:rPr lang="vi-VN" dirty="0">
                    <a:latin typeface="Gill Sans MT (Body)"/>
                  </a:rPr>
                  <a:t>// </a:t>
                </a:r>
                <a:endParaRPr lang="en-US" dirty="0">
                  <a:latin typeface="Gill Sans MT (Body)"/>
                </a:endParaRPr>
              </a:p>
              <a:p>
                <a:pPr lvl="1"/>
                <a:r>
                  <a:rPr lang="en-US" dirty="0">
                    <a:latin typeface="Gill Sans MT (Body)"/>
                  </a:rPr>
                  <a:t>                      </a:t>
                </a:r>
                <a:r>
                  <a:rPr lang="vi-VN" dirty="0">
                    <a:latin typeface="Gill Sans MT (Body)"/>
                  </a:rPr>
                  <a:t>swap(L[j], L[j + 1]) // </a:t>
                </a:r>
                <a:endParaRPr lang="en-US" dirty="0">
                  <a:latin typeface="Gill Sans MT (Body)"/>
                </a:endParaRPr>
              </a:p>
              <a:p>
                <a:pPr lvl="1"/>
                <a:r>
                  <a:rPr lang="en-US" b="1" dirty="0">
                    <a:latin typeface="Gill Sans MT (Body)"/>
                  </a:rPr>
                  <a:t>               end </a:t>
                </a:r>
                <a:r>
                  <a:rPr lang="vi-VN" b="1" dirty="0">
                    <a:latin typeface="Gill Sans MT (Body)"/>
                  </a:rPr>
                  <a:t>if</a:t>
                </a:r>
                <a:r>
                  <a:rPr lang="vi-VN" dirty="0">
                    <a:latin typeface="Gill Sans MT (Body)"/>
                  </a:rPr>
                  <a:t> </a:t>
                </a:r>
                <a:endParaRPr lang="en-US" dirty="0">
                  <a:latin typeface="Gill Sans MT (Body)"/>
                </a:endParaRPr>
              </a:p>
              <a:p>
                <a:pPr lvl="1"/>
                <a:r>
                  <a:rPr lang="en-US" b="1" dirty="0">
                    <a:latin typeface="Gill Sans MT (Body)"/>
                  </a:rPr>
                  <a:t>       e</a:t>
                </a:r>
                <a:r>
                  <a:rPr lang="vi-VN" b="1" dirty="0">
                    <a:latin typeface="Gill Sans MT (Body)"/>
                  </a:rPr>
                  <a:t>nd</a:t>
                </a:r>
                <a:r>
                  <a:rPr lang="en-US" b="1" dirty="0">
                    <a:latin typeface="Gill Sans MT (Body)"/>
                  </a:rPr>
                  <a:t> </a:t>
                </a:r>
                <a:r>
                  <a:rPr lang="vi-VN" b="1" dirty="0">
                    <a:latin typeface="Gill Sans MT (Body)"/>
                  </a:rPr>
                  <a:t>for</a:t>
                </a:r>
                <a:r>
                  <a:rPr lang="vi-VN" dirty="0">
                    <a:latin typeface="Gill Sans MT (Body)"/>
                  </a:rPr>
                  <a:t> </a:t>
                </a:r>
                <a:endParaRPr lang="en-US" dirty="0">
                  <a:latin typeface="Gill Sans MT (Body)"/>
                </a:endParaRPr>
              </a:p>
              <a:p>
                <a:pPr lvl="1"/>
                <a:r>
                  <a:rPr lang="en-US" b="1" dirty="0">
                    <a:latin typeface="Gill Sans MT (Body)"/>
                  </a:rPr>
                  <a:t>e</a:t>
                </a:r>
                <a:r>
                  <a:rPr lang="vi-VN" b="1" dirty="0">
                    <a:latin typeface="Gill Sans MT (Body)"/>
                  </a:rPr>
                  <a:t>nd</a:t>
                </a:r>
                <a:r>
                  <a:rPr lang="en-US" b="1" dirty="0">
                    <a:latin typeface="Gill Sans MT (Body)"/>
                  </a:rPr>
                  <a:t> </a:t>
                </a:r>
                <a:r>
                  <a:rPr lang="vi-VN" b="1" dirty="0">
                    <a:latin typeface="Gill Sans MT (Body)"/>
                  </a:rPr>
                  <a:t>for</a:t>
                </a:r>
                <a:endParaRPr lang="en-US" b="1" dirty="0">
                  <a:latin typeface="Gill Sans MT (Body)"/>
                </a:endParaRPr>
              </a:p>
              <a:p>
                <a:r>
                  <a:rPr lang="en-US" b="1" dirty="0">
                    <a:latin typeface="Gill Sans MT (Body)"/>
                  </a:rPr>
                  <a:t>end function</a:t>
                </a:r>
                <a:endParaRPr lang="en-US" dirty="0">
                  <a:latin typeface="Gill Sans MT (Body)"/>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762000" y="2362200"/>
                <a:ext cx="7086600" cy="2585323"/>
              </a:xfrm>
              <a:prstGeom prst="rect">
                <a:avLst/>
              </a:prstGeom>
              <a:blipFill>
                <a:blip r:embed="rId2"/>
                <a:stretch>
                  <a:fillRect l="-688" t="-1415" b="-2594"/>
                </a:stretch>
              </a:blipFill>
            </p:spPr>
            <p:txBody>
              <a:bodyPr/>
              <a:lstStyle/>
              <a:p>
                <a:r>
                  <a:rPr lang="en-US">
                    <a:noFill/>
                  </a:rPr>
                  <a:t> </a:t>
                </a:r>
              </a:p>
            </p:txBody>
          </p:sp>
        </mc:Fallback>
      </mc:AlternateContent>
    </p:spTree>
    <p:extLst>
      <p:ext uri="{BB962C8B-B14F-4D97-AF65-F5344CB8AC3E}">
        <p14:creationId xmlns:p14="http://schemas.microsoft.com/office/powerpoint/2010/main" val="602014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
        <p:nvSpPr>
          <p:cNvPr id="5" name="Content Placeholder 4"/>
          <p:cNvSpPr>
            <a:spLocks noGrp="1"/>
          </p:cNvSpPr>
          <p:nvPr>
            <p:ph sz="quarter" idx="1"/>
          </p:nvPr>
        </p:nvSpPr>
        <p:spPr>
          <a:xfrm>
            <a:off x="457200" y="1219200"/>
            <a:ext cx="8458200" cy="4937760"/>
          </a:xfrm>
        </p:spPr>
        <p:txBody>
          <a:bodyPr/>
          <a:lstStyle/>
          <a:p>
            <a:r>
              <a:rPr lang="en-US" dirty="0"/>
              <a:t>Find the complexity of binary search algorithm in sorted list</a:t>
            </a:r>
          </a:p>
        </p:txBody>
      </p:sp>
      <mc:AlternateContent xmlns:mc="http://schemas.openxmlformats.org/markup-compatibility/2006" xmlns:a14="http://schemas.microsoft.com/office/drawing/2010/main">
        <mc:Choice Requires="a14">
          <p:sp>
            <p:nvSpPr>
              <p:cNvPr id="6" name="TextBox 5"/>
              <p:cNvSpPr txBox="1"/>
              <p:nvPr/>
            </p:nvSpPr>
            <p:spPr>
              <a:xfrm>
                <a:off x="914400" y="2209800"/>
                <a:ext cx="6553200" cy="3970318"/>
              </a:xfrm>
              <a:prstGeom prst="rect">
                <a:avLst/>
              </a:prstGeom>
              <a:noFill/>
            </p:spPr>
            <p:txBody>
              <a:bodyPr wrap="square" rtlCol="0">
                <a:spAutoFit/>
              </a:bodyPr>
              <a:lstStyle/>
              <a:p>
                <a:r>
                  <a:rPr lang="en-US" b="1" dirty="0"/>
                  <a:t>function</a:t>
                </a:r>
                <a:r>
                  <a:rPr lang="en-US" dirty="0"/>
                  <a:t> </a:t>
                </a:r>
                <a:r>
                  <a:rPr lang="en-US" dirty="0" err="1"/>
                  <a:t>binary_search</a:t>
                </a:r>
                <a:r>
                  <a:rPr lang="en-US" dirty="0"/>
                  <a:t>(</a:t>
                </a:r>
                <a14:m>
                  <m:oMath xmlns:m="http://schemas.openxmlformats.org/officeDocument/2006/math">
                    <m:r>
                      <a:rPr lang="en-US" i="1" dirty="0" smtClean="0">
                        <a:latin typeface="Cambria Math"/>
                      </a:rPr>
                      <m:t>𝐴</m:t>
                    </m:r>
                    <m:r>
                      <a:rPr lang="en-US" i="1" dirty="0" smtClean="0">
                        <a:latin typeface="Cambria Math"/>
                      </a:rPr>
                      <m:t>,</m:t>
                    </m:r>
                    <m:r>
                      <a:rPr lang="en-US" i="1" dirty="0" smtClean="0">
                        <a:latin typeface="Cambria Math"/>
                      </a:rPr>
                      <m:t>𝑥</m:t>
                    </m:r>
                    <m:r>
                      <a:rPr lang="en-US" i="1" dirty="0" smtClean="0">
                        <a:latin typeface="Cambria Math"/>
                      </a:rPr>
                      <m:t>,</m:t>
                    </m:r>
                    <m:r>
                      <a:rPr lang="en-US" i="1" dirty="0" smtClean="0">
                        <a:latin typeface="Cambria Math"/>
                      </a:rPr>
                      <m:t>𝐿</m:t>
                    </m:r>
                    <m:r>
                      <a:rPr lang="en-US" i="1" dirty="0" smtClean="0">
                        <a:latin typeface="Cambria Math"/>
                      </a:rPr>
                      <m:t>,</m:t>
                    </m:r>
                    <m:r>
                      <a:rPr lang="en-US" i="1" dirty="0" smtClean="0">
                        <a:latin typeface="Cambria Math"/>
                      </a:rPr>
                      <m:t>𝑅</m:t>
                    </m:r>
                  </m:oMath>
                </a14:m>
                <a:r>
                  <a:rPr lang="en-US" dirty="0"/>
                  <a:t>)</a:t>
                </a:r>
              </a:p>
              <a:p>
                <a:pPr lvl="1"/>
                <a:r>
                  <a:rPr lang="en-US" b="1" dirty="0"/>
                  <a:t>if</a:t>
                </a:r>
                <a:r>
                  <a:rPr lang="en-US" dirty="0"/>
                  <a:t> </a:t>
                </a:r>
                <a14:m>
                  <m:oMath xmlns:m="http://schemas.openxmlformats.org/officeDocument/2006/math">
                    <m:r>
                      <a:rPr lang="en-US" i="1" dirty="0" smtClean="0">
                        <a:latin typeface="Cambria Math"/>
                      </a:rPr>
                      <m:t>𝐿</m:t>
                    </m:r>
                    <m:r>
                      <a:rPr lang="en-US" i="1" dirty="0" smtClean="0">
                        <a:latin typeface="Cambria Math"/>
                      </a:rPr>
                      <m:t>&gt;</m:t>
                    </m:r>
                    <m:r>
                      <a:rPr lang="en-US" i="1" dirty="0" smtClean="0">
                        <a:latin typeface="Cambria Math"/>
                      </a:rPr>
                      <m:t>𝑅</m:t>
                    </m:r>
                    <m:r>
                      <a:rPr lang="en-US" i="1" dirty="0" smtClean="0">
                        <a:latin typeface="Cambria Math"/>
                      </a:rPr>
                      <m:t> </m:t>
                    </m:r>
                  </m:oMath>
                </a14:m>
                <a:r>
                  <a:rPr lang="en-US" b="1" dirty="0"/>
                  <a:t>then</a:t>
                </a:r>
              </a:p>
              <a:p>
                <a:r>
                  <a:rPr lang="en-US" dirty="0"/>
                  <a:t>	</a:t>
                </a:r>
                <a:r>
                  <a:rPr lang="en-US" b="1" dirty="0"/>
                  <a:t>return</a:t>
                </a:r>
                <a:r>
                  <a:rPr lang="en-US" dirty="0"/>
                  <a:t> Fail</a:t>
                </a:r>
              </a:p>
              <a:p>
                <a:r>
                  <a:rPr lang="en-US" dirty="0"/>
                  <a:t>       </a:t>
                </a:r>
                <a:r>
                  <a:rPr lang="en-US" b="1" dirty="0"/>
                  <a:t>else</a:t>
                </a:r>
              </a:p>
              <a:p>
                <a:r>
                  <a:rPr lang="en-US" dirty="0"/>
                  <a:t>	</a:t>
                </a:r>
                <a14:m>
                  <m:oMath xmlns:m="http://schemas.openxmlformats.org/officeDocument/2006/math">
                    <m:r>
                      <a:rPr lang="en-US" i="1" dirty="0" smtClean="0">
                        <a:latin typeface="Cambria Math"/>
                      </a:rPr>
                      <m:t>𝑖</m:t>
                    </m:r>
                    <m:r>
                      <a:rPr lang="en-US" i="1" dirty="0" smtClean="0">
                        <a:latin typeface="Cambria Math"/>
                      </a:rPr>
                      <m:t> ← </m:t>
                    </m:r>
                    <m:d>
                      <m:dPr>
                        <m:begChr m:val="⌊"/>
                        <m:endChr m:val="⌋"/>
                        <m:ctrlPr>
                          <a:rPr lang="en-US" i="1" dirty="0" smtClean="0">
                            <a:latin typeface="Cambria Math" panose="02040503050406030204" pitchFamily="18" charset="0"/>
                          </a:rPr>
                        </m:ctrlPr>
                      </m:dPr>
                      <m:e>
                        <m:r>
                          <a:rPr lang="en-US" i="1" dirty="0">
                            <a:latin typeface="Cambria Math"/>
                          </a:rPr>
                          <m:t>(</m:t>
                        </m:r>
                        <m:r>
                          <a:rPr lang="en-US" i="1" dirty="0">
                            <a:latin typeface="Cambria Math"/>
                          </a:rPr>
                          <m:t>𝐿</m:t>
                        </m:r>
                        <m:r>
                          <a:rPr lang="en-US" i="1" dirty="0">
                            <a:latin typeface="Cambria Math"/>
                          </a:rPr>
                          <m:t> + </m:t>
                        </m:r>
                        <m:r>
                          <a:rPr lang="en-US" i="1" dirty="0">
                            <a:latin typeface="Cambria Math"/>
                          </a:rPr>
                          <m:t>𝑅</m:t>
                        </m:r>
                        <m:r>
                          <a:rPr lang="en-US" i="1" dirty="0">
                            <a:latin typeface="Cambria Math"/>
                          </a:rPr>
                          <m:t>)/2</m:t>
                        </m:r>
                      </m:e>
                    </m:d>
                  </m:oMath>
                </a14:m>
                <a:endParaRPr lang="en-US" dirty="0"/>
              </a:p>
              <a:p>
                <a:r>
                  <a:rPr lang="en-US" dirty="0"/>
                  <a:t>       	</a:t>
                </a:r>
                <a:r>
                  <a:rPr lang="en-US" b="1" dirty="0"/>
                  <a:t>if</a:t>
                </a:r>
                <a:r>
                  <a:rPr lang="en-US" dirty="0"/>
                  <a:t>  </a:t>
                </a:r>
                <a14:m>
                  <m:oMath xmlns:m="http://schemas.openxmlformats.org/officeDocument/2006/math">
                    <m:r>
                      <a:rPr lang="en-US" i="1" dirty="0" smtClean="0">
                        <a:latin typeface="Cambria Math"/>
                      </a:rPr>
                      <m:t>𝐴</m:t>
                    </m:r>
                    <m:r>
                      <a:rPr lang="en-US" i="1" dirty="0" smtClean="0">
                        <a:latin typeface="Cambria Math"/>
                      </a:rPr>
                      <m:t>[</m:t>
                    </m:r>
                    <m:r>
                      <a:rPr lang="en-US" i="1" dirty="0" smtClean="0">
                        <a:latin typeface="Cambria Math"/>
                      </a:rPr>
                      <m:t>𝑖</m:t>
                    </m:r>
                    <m:r>
                      <a:rPr lang="en-US" i="1" dirty="0">
                        <a:latin typeface="Cambria Math"/>
                      </a:rPr>
                      <m:t>]==</m:t>
                    </m:r>
                    <m:r>
                      <a:rPr lang="en-US" i="1" dirty="0">
                        <a:latin typeface="Cambria Math"/>
                      </a:rPr>
                      <m:t>𝑥</m:t>
                    </m:r>
                  </m:oMath>
                </a14:m>
                <a:r>
                  <a:rPr lang="en-US" dirty="0"/>
                  <a:t> </a:t>
                </a:r>
                <a:r>
                  <a:rPr lang="en-US" b="1" dirty="0"/>
                  <a:t>then</a:t>
                </a:r>
              </a:p>
              <a:p>
                <a:r>
                  <a:rPr lang="en-US" dirty="0"/>
                  <a:t>	       </a:t>
                </a:r>
                <a:r>
                  <a:rPr lang="en-US" b="1" dirty="0"/>
                  <a:t>return</a:t>
                </a:r>
                <a:r>
                  <a:rPr lang="en-US" dirty="0"/>
                  <a:t> </a:t>
                </a:r>
                <a14:m>
                  <m:oMath xmlns:m="http://schemas.openxmlformats.org/officeDocument/2006/math">
                    <m:r>
                      <a:rPr lang="en-US" i="1" dirty="0" smtClean="0">
                        <a:latin typeface="Cambria Math"/>
                      </a:rPr>
                      <m:t>𝑖</m:t>
                    </m:r>
                  </m:oMath>
                </a14:m>
                <a:endParaRPr lang="en-US" dirty="0"/>
              </a:p>
              <a:p>
                <a:r>
                  <a:rPr lang="en-US" dirty="0"/>
                  <a:t>	</a:t>
                </a:r>
                <a:r>
                  <a:rPr lang="en-US" b="1" dirty="0"/>
                  <a:t>else if</a:t>
                </a:r>
                <a:r>
                  <a:rPr lang="en-US" dirty="0"/>
                  <a:t> </a:t>
                </a:r>
                <a14:m>
                  <m:oMath xmlns:m="http://schemas.openxmlformats.org/officeDocument/2006/math">
                    <m:r>
                      <a:rPr lang="en-US" i="1" dirty="0" smtClean="0">
                        <a:latin typeface="Cambria Math"/>
                      </a:rPr>
                      <m:t>𝐴</m:t>
                    </m:r>
                    <m:r>
                      <a:rPr lang="en-US" i="1" dirty="0" smtClean="0">
                        <a:latin typeface="Cambria Math"/>
                      </a:rPr>
                      <m:t>[</m:t>
                    </m:r>
                    <m:r>
                      <a:rPr lang="en-US" i="1" dirty="0" smtClean="0">
                        <a:latin typeface="Cambria Math"/>
                      </a:rPr>
                      <m:t>𝑖</m:t>
                    </m:r>
                    <m:r>
                      <a:rPr lang="en-US" i="1" dirty="0" smtClean="0">
                        <a:latin typeface="Cambria Math"/>
                      </a:rPr>
                      <m:t>]&gt;</m:t>
                    </m:r>
                    <m:r>
                      <a:rPr lang="en-US" i="1" dirty="0" smtClean="0">
                        <a:latin typeface="Cambria Math"/>
                      </a:rPr>
                      <m:t>𝑥</m:t>
                    </m:r>
                  </m:oMath>
                </a14:m>
                <a:r>
                  <a:rPr lang="en-US" dirty="0"/>
                  <a:t> </a:t>
                </a:r>
                <a:r>
                  <a:rPr lang="en-US" b="1" dirty="0"/>
                  <a:t>then</a:t>
                </a:r>
              </a:p>
              <a:p>
                <a:r>
                  <a:rPr lang="en-US" dirty="0"/>
                  <a:t>	       </a:t>
                </a:r>
                <a:r>
                  <a:rPr lang="en-US" b="1" dirty="0"/>
                  <a:t>return</a:t>
                </a:r>
                <a:r>
                  <a:rPr lang="en-US" dirty="0"/>
                  <a:t> </a:t>
                </a:r>
                <a:r>
                  <a:rPr lang="en-US" dirty="0" err="1"/>
                  <a:t>binary_search</a:t>
                </a:r>
                <a:r>
                  <a:rPr lang="en-US" dirty="0"/>
                  <a:t>(</a:t>
                </a:r>
                <a14:m>
                  <m:oMath xmlns:m="http://schemas.openxmlformats.org/officeDocument/2006/math">
                    <m:r>
                      <a:rPr lang="en-US" i="1" dirty="0" smtClean="0">
                        <a:latin typeface="Cambria Math"/>
                      </a:rPr>
                      <m:t>𝐴</m:t>
                    </m:r>
                    <m:r>
                      <a:rPr lang="en-US" i="1" dirty="0" smtClean="0">
                        <a:latin typeface="Cambria Math"/>
                      </a:rPr>
                      <m:t>,</m:t>
                    </m:r>
                    <m:r>
                      <a:rPr lang="en-US" i="1" dirty="0" smtClean="0">
                        <a:latin typeface="Cambria Math"/>
                      </a:rPr>
                      <m:t>𝑥</m:t>
                    </m:r>
                    <m:r>
                      <a:rPr lang="en-US" i="1" dirty="0" smtClean="0">
                        <a:latin typeface="Cambria Math"/>
                      </a:rPr>
                      <m:t>,</m:t>
                    </m:r>
                    <m:r>
                      <a:rPr lang="en-US" i="1" dirty="0" smtClean="0">
                        <a:latin typeface="Cambria Math"/>
                      </a:rPr>
                      <m:t>𝐿</m:t>
                    </m:r>
                    <m:r>
                      <a:rPr lang="en-US" i="1" dirty="0" smtClean="0">
                        <a:latin typeface="Cambria Math"/>
                      </a:rPr>
                      <m:t>,</m:t>
                    </m:r>
                    <m:r>
                      <a:rPr lang="en-US" i="1" dirty="0" smtClean="0">
                        <a:latin typeface="Cambria Math"/>
                      </a:rPr>
                      <m:t>𝑖</m:t>
                    </m:r>
                    <m:r>
                      <a:rPr lang="en-US" i="1" dirty="0">
                        <a:latin typeface="Cambria Math"/>
                      </a:rPr>
                      <m:t>−1</m:t>
                    </m:r>
                  </m:oMath>
                </a14:m>
                <a:r>
                  <a:rPr lang="en-US" dirty="0"/>
                  <a:t>)</a:t>
                </a:r>
              </a:p>
              <a:p>
                <a:r>
                  <a:rPr lang="en-US" dirty="0"/>
                  <a:t>	</a:t>
                </a:r>
                <a:r>
                  <a:rPr lang="en-US" b="1" dirty="0"/>
                  <a:t>else</a:t>
                </a:r>
              </a:p>
              <a:p>
                <a:r>
                  <a:rPr lang="en-US" dirty="0"/>
                  <a:t>	       </a:t>
                </a:r>
                <a:r>
                  <a:rPr lang="en-US" b="1" dirty="0"/>
                  <a:t>return</a:t>
                </a:r>
                <a:r>
                  <a:rPr lang="en-US" dirty="0"/>
                  <a:t> </a:t>
                </a:r>
                <a:r>
                  <a:rPr lang="en-US" dirty="0" err="1"/>
                  <a:t>binary_search</a:t>
                </a:r>
                <a:r>
                  <a:rPr lang="en-US" dirty="0"/>
                  <a:t>(</a:t>
                </a:r>
                <a14:m>
                  <m:oMath xmlns:m="http://schemas.openxmlformats.org/officeDocument/2006/math">
                    <m:r>
                      <a:rPr lang="en-US" i="1" dirty="0" smtClean="0">
                        <a:latin typeface="Cambria Math"/>
                      </a:rPr>
                      <m:t>𝐴</m:t>
                    </m:r>
                    <m:r>
                      <a:rPr lang="en-US" i="1" dirty="0" smtClean="0">
                        <a:latin typeface="Cambria Math"/>
                      </a:rPr>
                      <m:t>,</m:t>
                    </m:r>
                    <m:r>
                      <a:rPr lang="en-US" i="1" dirty="0" smtClean="0">
                        <a:latin typeface="Cambria Math"/>
                      </a:rPr>
                      <m:t>𝑥</m:t>
                    </m:r>
                    <m:r>
                      <a:rPr lang="en-US" i="1" dirty="0" smtClean="0">
                        <a:latin typeface="Cambria Math"/>
                      </a:rPr>
                      <m:t>,</m:t>
                    </m:r>
                    <m:r>
                      <a:rPr lang="en-US" i="1" dirty="0" smtClean="0">
                        <a:latin typeface="Cambria Math"/>
                      </a:rPr>
                      <m:t>𝑖</m:t>
                    </m:r>
                    <m:r>
                      <a:rPr lang="en-US" i="1" dirty="0">
                        <a:latin typeface="Cambria Math"/>
                      </a:rPr>
                      <m:t>+1,</m:t>
                    </m:r>
                    <m:r>
                      <a:rPr lang="en-US" i="1" dirty="0">
                        <a:latin typeface="Cambria Math"/>
                      </a:rPr>
                      <m:t>𝑅</m:t>
                    </m:r>
                  </m:oMath>
                </a14:m>
                <a:r>
                  <a:rPr lang="en-US" dirty="0"/>
                  <a:t>)</a:t>
                </a:r>
              </a:p>
              <a:p>
                <a:r>
                  <a:rPr lang="en-US" dirty="0"/>
                  <a:t>	</a:t>
                </a:r>
                <a:r>
                  <a:rPr lang="en-US" b="1" dirty="0"/>
                  <a:t>end if</a:t>
                </a:r>
              </a:p>
              <a:p>
                <a:r>
                  <a:rPr lang="en-US" dirty="0"/>
                  <a:t>       </a:t>
                </a:r>
                <a:r>
                  <a:rPr lang="en-US" b="1" dirty="0"/>
                  <a:t>end if</a:t>
                </a:r>
              </a:p>
              <a:p>
                <a:r>
                  <a:rPr lang="en-US" b="1" dirty="0"/>
                  <a:t>end function</a:t>
                </a:r>
              </a:p>
            </p:txBody>
          </p:sp>
        </mc:Choice>
        <mc:Fallback xmlns="">
          <p:sp>
            <p:nvSpPr>
              <p:cNvPr id="6" name="TextBox 5"/>
              <p:cNvSpPr txBox="1">
                <a:spLocks noRot="1" noChangeAspect="1" noMove="1" noResize="1" noEditPoints="1" noAdjustHandles="1" noChangeArrowheads="1" noChangeShapeType="1" noTextEdit="1"/>
              </p:cNvSpPr>
              <p:nvPr/>
            </p:nvSpPr>
            <p:spPr>
              <a:xfrm>
                <a:off x="914400" y="2209800"/>
                <a:ext cx="6553200" cy="3970318"/>
              </a:xfrm>
              <a:prstGeom prst="rect">
                <a:avLst/>
              </a:prstGeom>
              <a:blipFill rotWithShape="1">
                <a:blip r:embed="rId2"/>
                <a:stretch>
                  <a:fillRect l="-744" t="-768" b="-1382"/>
                </a:stretch>
              </a:blipFill>
            </p:spPr>
            <p:txBody>
              <a:bodyPr/>
              <a:lstStyle/>
              <a:p>
                <a:r>
                  <a:rPr lang="en-US">
                    <a:noFill/>
                  </a:rPr>
                  <a:t> </a:t>
                </a:r>
              </a:p>
            </p:txBody>
          </p:sp>
        </mc:Fallback>
      </mc:AlternateContent>
    </p:spTree>
    <p:extLst>
      <p:ext uri="{BB962C8B-B14F-4D97-AF65-F5344CB8AC3E}">
        <p14:creationId xmlns:p14="http://schemas.microsoft.com/office/powerpoint/2010/main" val="10724722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1626</TotalTime>
  <Words>3293</Words>
  <Application>Microsoft Office PowerPoint</Application>
  <PresentationFormat>On-screen Show (4:3)</PresentationFormat>
  <Paragraphs>472</Paragraphs>
  <Slides>40</Slides>
  <Notes>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4" baseType="lpstr">
      <vt:lpstr>Bookman Old Style</vt:lpstr>
      <vt:lpstr>Calibri</vt:lpstr>
      <vt:lpstr>Cambria Math</vt:lpstr>
      <vt:lpstr>Courier New</vt:lpstr>
      <vt:lpstr>Georgia</vt:lpstr>
      <vt:lpstr>Gill Sans MT</vt:lpstr>
      <vt:lpstr>Gill Sans MT (Body)</vt:lpstr>
      <vt:lpstr>Symbol</vt:lpstr>
      <vt:lpstr>Tahoma</vt:lpstr>
      <vt:lpstr>Trebuchet MS</vt:lpstr>
      <vt:lpstr>Wingdings</vt:lpstr>
      <vt:lpstr>Wingdings 3</vt:lpstr>
      <vt:lpstr>Origin</vt:lpstr>
      <vt:lpstr>Equation</vt:lpstr>
      <vt:lpstr>Some basic knowledge</vt:lpstr>
      <vt:lpstr>Contents</vt:lpstr>
      <vt:lpstr>Mathematical notation</vt:lpstr>
      <vt:lpstr>Set operators</vt:lpstr>
      <vt:lpstr>Relations</vt:lpstr>
      <vt:lpstr>Equivalence relation and partition</vt:lpstr>
      <vt:lpstr>Example of equivalence relation</vt:lpstr>
      <vt:lpstr>Addition principle</vt:lpstr>
      <vt:lpstr>Multiplication principle</vt:lpstr>
      <vt:lpstr>Repeating arrangement</vt:lpstr>
      <vt:lpstr>Non-repeating arrangement</vt:lpstr>
      <vt:lpstr>Permutation</vt:lpstr>
      <vt:lpstr>Combination</vt:lpstr>
      <vt:lpstr>Exercise 1</vt:lpstr>
      <vt:lpstr>Exercise 2</vt:lpstr>
      <vt:lpstr>Exercise 3</vt:lpstr>
      <vt:lpstr>Exercise 4</vt:lpstr>
      <vt:lpstr>Contents</vt:lpstr>
      <vt:lpstr>Some definitions of propositional logic</vt:lpstr>
      <vt:lpstr>   Mathematical operations of  propositional logic (1/2)</vt:lpstr>
      <vt:lpstr> Mathematical operations of  propositional logic (2/2)</vt:lpstr>
      <vt:lpstr>Truth table</vt:lpstr>
      <vt:lpstr>Some definitions</vt:lpstr>
      <vt:lpstr> Logically equivalent propositions (1/2)</vt:lpstr>
      <vt:lpstr>  Logically equivalent propositions (2/2)</vt:lpstr>
      <vt:lpstr>Conjunctive normal form - CNF(1/2)</vt:lpstr>
      <vt:lpstr>Conjunctive normal form – CNF (2/2)</vt:lpstr>
      <vt:lpstr>Exercise1</vt:lpstr>
      <vt:lpstr>Exercise 2</vt:lpstr>
      <vt:lpstr>Exercise 3</vt:lpstr>
      <vt:lpstr>Exercise 4</vt:lpstr>
      <vt:lpstr>Contents</vt:lpstr>
      <vt:lpstr>Definition of algorithm</vt:lpstr>
      <vt:lpstr>Algorithm example(1/2)</vt:lpstr>
      <vt:lpstr>Algorithm example (2/2)</vt:lpstr>
      <vt:lpstr>Complexity of algorithms</vt:lpstr>
      <vt:lpstr>Definition of Big-O</vt:lpstr>
      <vt:lpstr>Example</vt:lpstr>
      <vt:lpstr>Exercise 1</vt:lpstr>
      <vt:lpstr>Exercise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bachnx</dc:creator>
  <cp:lastModifiedBy>Thuy Quynh</cp:lastModifiedBy>
  <cp:revision>180</cp:revision>
  <dcterms:created xsi:type="dcterms:W3CDTF">2006-08-16T00:00:00Z</dcterms:created>
  <dcterms:modified xsi:type="dcterms:W3CDTF">2022-11-07T05:13:50Z</dcterms:modified>
</cp:coreProperties>
</file>