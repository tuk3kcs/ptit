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6" r:id="rId1"/>
  </p:sldMasterIdLst>
  <p:notesMasterIdLst>
    <p:notesMasterId r:id="rId41"/>
  </p:notesMasterIdLst>
  <p:handoutMasterIdLst>
    <p:handoutMasterId r:id="rId4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95" r:id="rId20"/>
    <p:sldId id="274" r:id="rId21"/>
    <p:sldId id="276" r:id="rId22"/>
    <p:sldId id="277" r:id="rId23"/>
    <p:sldId id="296" r:id="rId24"/>
    <p:sldId id="279" r:id="rId25"/>
    <p:sldId id="280" r:id="rId26"/>
    <p:sldId id="281" r:id="rId27"/>
    <p:sldId id="283" r:id="rId28"/>
    <p:sldId id="284" r:id="rId29"/>
    <p:sldId id="282" r:id="rId30"/>
    <p:sldId id="285" r:id="rId31"/>
    <p:sldId id="286" r:id="rId32"/>
    <p:sldId id="287" r:id="rId33"/>
    <p:sldId id="288" r:id="rId34"/>
    <p:sldId id="293" r:id="rId35"/>
    <p:sldId id="294" r:id="rId36"/>
    <p:sldId id="289" r:id="rId37"/>
    <p:sldId id="290" r:id="rId38"/>
    <p:sldId id="291" r:id="rId39"/>
    <p:sldId id="292"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A9A58A-EAC3-483A-9C35-5BE7307B20A0}">
          <p14:sldIdLst>
            <p14:sldId id="256"/>
            <p14:sldId id="257"/>
            <p14:sldId id="258"/>
            <p14:sldId id="259"/>
          </p14:sldIdLst>
        </p14:section>
        <p14:section name="Untitled Section" id="{1CBCBB7F-8154-4979-BC88-A57A1A33C7B1}">
          <p14:sldIdLst>
            <p14:sldId id="260"/>
            <p14:sldId id="261"/>
            <p14:sldId id="262"/>
            <p14:sldId id="263"/>
            <p14:sldId id="264"/>
            <p14:sldId id="265"/>
            <p14:sldId id="266"/>
            <p14:sldId id="267"/>
            <p14:sldId id="268"/>
            <p14:sldId id="269"/>
            <p14:sldId id="270"/>
            <p14:sldId id="271"/>
            <p14:sldId id="272"/>
            <p14:sldId id="273"/>
            <p14:sldId id="295"/>
            <p14:sldId id="274"/>
            <p14:sldId id="276"/>
            <p14:sldId id="277"/>
            <p14:sldId id="296"/>
            <p14:sldId id="279"/>
            <p14:sldId id="280"/>
            <p14:sldId id="281"/>
            <p14:sldId id="283"/>
            <p14:sldId id="284"/>
            <p14:sldId id="282"/>
            <p14:sldId id="285"/>
            <p14:sldId id="286"/>
            <p14:sldId id="287"/>
            <p14:sldId id="288"/>
            <p14:sldId id="293"/>
            <p14:sldId id="294"/>
            <p14:sldId id="289"/>
            <p14:sldId id="290"/>
            <p14:sldId id="291"/>
            <p14:sldId id="29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2" d="100"/>
          <a:sy n="72" d="100"/>
        </p:scale>
        <p:origin x="132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D26F4E3-F401-4DC3-88B8-6423B362AAD2}" type="datetimeFigureOut">
              <a:rPr lang="en-US" smtClean="0"/>
              <a:t>11/7/2022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43EF8E-F52D-4609-913F-23254647DF12}" type="slidenum">
              <a:rPr lang="en-US" smtClean="0"/>
              <a:t>‹#›</a:t>
            </a:fld>
            <a:endParaRPr lang="en-US"/>
          </a:p>
        </p:txBody>
      </p:sp>
    </p:spTree>
    <p:extLst>
      <p:ext uri="{BB962C8B-B14F-4D97-AF65-F5344CB8AC3E}">
        <p14:creationId xmlns:p14="http://schemas.microsoft.com/office/powerpoint/2010/main" val="97970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72C9E9-F47F-43FB-BD67-61E05AD56ABC}" type="datetimeFigureOut">
              <a:rPr lang="en-US" smtClean="0"/>
              <a:t>11/7/2022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13A30B-9554-4543-B09D-457694D42B7A}" type="slidenum">
              <a:rPr lang="en-US" smtClean="0"/>
              <a:t>‹#›</a:t>
            </a:fld>
            <a:endParaRPr lang="en-US"/>
          </a:p>
        </p:txBody>
      </p:sp>
    </p:spTree>
    <p:extLst>
      <p:ext uri="{BB962C8B-B14F-4D97-AF65-F5344CB8AC3E}">
        <p14:creationId xmlns:p14="http://schemas.microsoft.com/office/powerpoint/2010/main" val="186726193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52510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44698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499"/>
            <a:ext cx="160020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8" name="Footer Placeholder 7"/>
          <p:cNvSpPr>
            <a:spLocks noGrp="1"/>
          </p:cNvSpPr>
          <p:nvPr>
            <p:ph type="ftr" sz="quarter" idx="11"/>
          </p:nvPr>
        </p:nvSpPr>
        <p:spPr/>
        <p:txBody>
          <a:bodyPr/>
          <a:lstStyle/>
          <a:p>
            <a:r>
              <a:rPr lang="en-US"/>
              <a:t>http://www.ptit.edu.vn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a:xfrm>
            <a:off x="6400800" y="6356350"/>
            <a:ext cx="2289048" cy="365760"/>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0" y="6356350"/>
            <a:ext cx="2289048" cy="365760"/>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3" name="Footer Placeholder 2"/>
          <p:cNvSpPr>
            <a:spLocks noGrp="1"/>
          </p:cNvSpPr>
          <p:nvPr>
            <p:ph type="ftr" sz="quarter" idx="3"/>
          </p:nvPr>
        </p:nvSpPr>
        <p:spPr>
          <a:xfrm>
            <a:off x="5181600"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http://www.ptit.edu.vn</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hdr="0" dt="0"/>
  <p:txStyles>
    <p:titleStyle>
      <a:lvl1pPr algn="ctr"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Tahoma" pitchFamily="34" charset="0"/>
          <a:ea typeface="Tahoma" pitchFamily="34" charset="0"/>
          <a:cs typeface="Tahoma" pitchFamily="34" charset="0"/>
        </a:defRPr>
      </a:lvl1pPr>
      <a:lvl2pPr marL="548640" indent="-274320" algn="l" rtl="0" eaLnBrk="1" latinLnBrk="0" hangingPunct="1">
        <a:spcBef>
          <a:spcPts val="500"/>
        </a:spcBef>
        <a:buClr>
          <a:schemeClr val="accent2"/>
        </a:buClr>
        <a:buSzPct val="76000"/>
        <a:buFont typeface="Courier New" pitchFamily="49" charset="0"/>
        <a:buChar char="o"/>
        <a:defRPr kumimoji="0" sz="2000" kern="1200">
          <a:solidFill>
            <a:schemeClr val="tx2"/>
          </a:solidFill>
          <a:latin typeface="Tahoma" pitchFamily="34" charset="0"/>
          <a:ea typeface="Tahoma" pitchFamily="34" charset="0"/>
          <a:cs typeface="Tahoma" pitchFamily="34" charset="0"/>
        </a:defRPr>
      </a:lvl2pPr>
      <a:lvl3pPr marL="822960" indent="-228600" algn="l" rtl="0" eaLnBrk="1" latinLnBrk="0" hangingPunct="1">
        <a:spcBef>
          <a:spcPts val="500"/>
        </a:spcBef>
        <a:buClr>
          <a:schemeClr val="bg1">
            <a:shade val="50000"/>
          </a:schemeClr>
        </a:buClr>
        <a:buSzPct val="76000"/>
        <a:buFont typeface="Wingdings" pitchFamily="2" charset="2"/>
        <a:buChar char="§"/>
        <a:defRPr kumimoji="0" sz="1800" kern="1200">
          <a:solidFill>
            <a:schemeClr val="tx1"/>
          </a:solidFill>
          <a:latin typeface="Tahoma" pitchFamily="34" charset="0"/>
          <a:ea typeface="Tahoma" pitchFamily="34" charset="0"/>
          <a:cs typeface="Tahoma"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Tahoma" pitchFamily="34" charset="0"/>
          <a:ea typeface="Tahoma" pitchFamily="34" charset="0"/>
          <a:cs typeface="Tahoma" pitchFamily="34" charset="0"/>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Tahoma" pitchFamily="34" charset="0"/>
          <a:ea typeface="Tahoma" pitchFamily="34" charset="0"/>
          <a:cs typeface="Tahoma"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9.wmf"/><Relationship Id="rId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1.wmf"/><Relationship Id="rId4"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image" Target="../media/image13.w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4.bin"/><Relationship Id="rId5" Type="http://schemas.openxmlformats.org/officeDocument/2006/relationships/image" Target="../media/image14.wmf"/><Relationship Id="rId4" Type="http://schemas.openxmlformats.org/officeDocument/2006/relationships/oleObject" Target="../embeddings/oleObject13.bin"/></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6.bin"/><Relationship Id="rId5" Type="http://schemas.openxmlformats.org/officeDocument/2006/relationships/image" Target="../media/image17.wmf"/><Relationship Id="rId4"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44.png"/><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8.bin"/><Relationship Id="rId5" Type="http://schemas.openxmlformats.org/officeDocument/2006/relationships/image" Target="../media/image19.wmf"/><Relationship Id="rId4" Type="http://schemas.openxmlformats.org/officeDocument/2006/relationships/oleObject" Target="../embeddings/oleObject17.bin"/><Relationship Id="rId9" Type="http://schemas.openxmlformats.org/officeDocument/2006/relationships/image" Target="../media/image2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 Id="rId9" Type="http://schemas.openxmlformats.org/officeDocument/2006/relationships/image" Target="../media/image320.png"/></Relationships>
</file>

<file path=ppt/slides/_rels/slide31.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6.png"/><Relationship Id="rId7"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3.bin"/><Relationship Id="rId5" Type="http://schemas.openxmlformats.org/officeDocument/2006/relationships/image" Target="../media/image24.wmf"/><Relationship Id="rId4" Type="http://schemas.openxmlformats.org/officeDocument/2006/relationships/oleObject" Target="../embeddings/oleObject22.bin"/><Relationship Id="rId9" Type="http://schemas.openxmlformats.org/officeDocument/2006/relationships/image" Target="../media/image370.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7.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26.bin"/><Relationship Id="rId5" Type="http://schemas.openxmlformats.org/officeDocument/2006/relationships/image" Target="../media/image28.wmf"/><Relationship Id="rId4" Type="http://schemas.openxmlformats.org/officeDocument/2006/relationships/oleObject" Target="../embeddings/oleObject25.bin"/></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962400"/>
            <a:ext cx="6858000" cy="762000"/>
          </a:xfrm>
        </p:spPr>
        <p:txBody>
          <a:bodyPr>
            <a:normAutofit/>
          </a:bodyPr>
          <a:lstStyle/>
          <a:p>
            <a:pPr algn="ctr"/>
            <a:r>
              <a:rPr lang="en-US" dirty="0"/>
              <a:t>Optimization problem</a:t>
            </a:r>
          </a:p>
        </p:txBody>
      </p:sp>
      <p:sp>
        <p:nvSpPr>
          <p:cNvPr id="3" name="Subtitle 2"/>
          <p:cNvSpPr>
            <a:spLocks noGrp="1"/>
          </p:cNvSpPr>
          <p:nvPr>
            <p:ph type="subTitle" idx="1"/>
          </p:nvPr>
        </p:nvSpPr>
        <p:spPr/>
        <p:txBody>
          <a:bodyPr>
            <a:normAutofit fontScale="85000" lnSpcReduction="20000"/>
          </a:bodyPr>
          <a:lstStyle/>
          <a:p>
            <a:pPr algn="ctr"/>
            <a:r>
              <a:rPr lang="en-US" sz="1800" dirty="0"/>
              <a:t>Ngo Xuan Bach</a:t>
            </a:r>
          </a:p>
          <a:p>
            <a:pPr algn="ctr"/>
            <a:r>
              <a:rPr lang="en-US" sz="1800" dirty="0"/>
              <a:t>Dao </a:t>
            </a:r>
            <a:r>
              <a:rPr lang="en-US" sz="1800" dirty="0" err="1"/>
              <a:t>Thi</a:t>
            </a:r>
            <a:r>
              <a:rPr lang="en-US" sz="1800"/>
              <a:t> Thuy Quynh</a:t>
            </a:r>
          </a:p>
          <a:p>
            <a:pPr algn="ctr"/>
            <a:endParaRPr lang="en-US" sz="1800" dirty="0"/>
          </a:p>
        </p:txBody>
      </p:sp>
      <p:sp>
        <p:nvSpPr>
          <p:cNvPr id="5" name="TextBox 4"/>
          <p:cNvSpPr txBox="1"/>
          <p:nvPr/>
        </p:nvSpPr>
        <p:spPr>
          <a:xfrm>
            <a:off x="1600200" y="304800"/>
            <a:ext cx="6324600" cy="646331"/>
          </a:xfrm>
          <a:prstGeom prst="rect">
            <a:avLst/>
          </a:prstGeom>
          <a:noFill/>
        </p:spPr>
        <p:txBody>
          <a:bodyPr wrap="square" rtlCol="0">
            <a:spAutoFit/>
          </a:bodyPr>
          <a:lstStyle/>
          <a:p>
            <a:pPr algn="ctr"/>
            <a:r>
              <a:rPr lang="en-US" dirty="0">
                <a:latin typeface="Tahoma" pitchFamily="34" charset="0"/>
                <a:ea typeface="Tahoma" pitchFamily="34" charset="0"/>
                <a:cs typeface="Tahoma" pitchFamily="34" charset="0"/>
              </a:rPr>
              <a:t>Posts and Telecommunication Institute of Technology</a:t>
            </a:r>
          </a:p>
          <a:p>
            <a:pPr algn="ctr"/>
            <a:r>
              <a:rPr lang="en-US" dirty="0">
                <a:latin typeface="Tahoma" pitchFamily="34" charset="0"/>
                <a:ea typeface="Tahoma" pitchFamily="34" charset="0"/>
                <a:cs typeface="Tahoma" pitchFamily="34" charset="0"/>
              </a:rPr>
              <a:t>Faculty of Information Technology 1</a:t>
            </a:r>
          </a:p>
        </p:txBody>
      </p:sp>
      <p:sp>
        <p:nvSpPr>
          <p:cNvPr id="8" name="Title 1"/>
          <p:cNvSpPr txBox="1">
            <a:spLocks/>
          </p:cNvSpPr>
          <p:nvPr/>
        </p:nvSpPr>
        <p:spPr>
          <a:xfrm>
            <a:off x="1371600" y="1981200"/>
            <a:ext cx="6858000" cy="609600"/>
          </a:xfrm>
          <a:prstGeom prst="rect">
            <a:avLst/>
          </a:prstGeom>
        </p:spPr>
        <p:txBody>
          <a:bodyPr vert="horz" anchor="t" anchorCtr="0">
            <a:norm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algn="ctr"/>
            <a:r>
              <a:rPr lang="en-US" sz="2400" dirty="0"/>
              <a:t>Mathematic discrete1</a:t>
            </a:r>
            <a:endParaRPr lang="en-US" sz="1400" dirty="0"/>
          </a:p>
        </p:txBody>
      </p:sp>
    </p:spTree>
    <p:extLst>
      <p:ext uri="{BB962C8B-B14F-4D97-AF65-F5344CB8AC3E}">
        <p14:creationId xmlns:p14="http://schemas.microsoft.com/office/powerpoint/2010/main" val="166442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Content Placeholder 4"/>
          <p:cNvSpPr>
            <a:spLocks noGrp="1"/>
          </p:cNvSpPr>
          <p:nvPr>
            <p:ph sz="quarter" idx="1"/>
          </p:nvPr>
        </p:nvSpPr>
        <p:spPr/>
        <p:txBody>
          <a:bodyPr/>
          <a:lstStyle/>
          <a:p>
            <a:pPr>
              <a:spcBef>
                <a:spcPct val="50000"/>
              </a:spcBef>
            </a:pPr>
            <a:r>
              <a:rPr lang="en-US" dirty="0"/>
              <a:t>Introduction</a:t>
            </a:r>
          </a:p>
          <a:p>
            <a:pPr>
              <a:spcBef>
                <a:spcPct val="50000"/>
              </a:spcBef>
            </a:pPr>
            <a:r>
              <a:rPr lang="en-US" dirty="0"/>
              <a:t>Brute force method</a:t>
            </a:r>
          </a:p>
          <a:p>
            <a:pPr>
              <a:spcBef>
                <a:spcPct val="50000"/>
              </a:spcBef>
            </a:pPr>
            <a:r>
              <a:rPr lang="en-US" dirty="0"/>
              <a:t>Branch and bound algorithm</a:t>
            </a:r>
          </a:p>
          <a:p>
            <a:pPr>
              <a:spcBef>
                <a:spcPct val="50000"/>
              </a:spcBef>
            </a:pPr>
            <a:r>
              <a:rPr lang="en-US" dirty="0"/>
              <a:t>Exercise</a:t>
            </a:r>
          </a:p>
          <a:p>
            <a:endParaRPr lang="en-US" dirty="0"/>
          </a:p>
        </p:txBody>
      </p:sp>
    </p:spTree>
    <p:extLst>
      <p:ext uri="{BB962C8B-B14F-4D97-AF65-F5344CB8AC3E}">
        <p14:creationId xmlns:p14="http://schemas.microsoft.com/office/powerpoint/2010/main" val="793227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Introduce optimization problem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Content Placeholder 4"/>
          <p:cNvSpPr>
            <a:spLocks noGrp="1"/>
          </p:cNvSpPr>
          <p:nvPr>
            <p:ph sz="quarter" idx="1"/>
          </p:nvPr>
        </p:nvSpPr>
        <p:spPr/>
        <p:txBody>
          <a:bodyPr>
            <a:normAutofit lnSpcReduction="10000"/>
          </a:bodyPr>
          <a:lstStyle/>
          <a:p>
            <a:pPr algn="just">
              <a:spcBef>
                <a:spcPct val="50000"/>
              </a:spcBef>
            </a:pPr>
            <a:r>
              <a:rPr lang="en-US" b="1" dirty="0"/>
              <a:t>Counting problem </a:t>
            </a:r>
            <a:r>
              <a:rPr lang="en-US" dirty="0"/>
              <a:t>: Count all combinatorial configurations that satisfy the constrains of problem. The desired solution is to build a formula to find out result of the problem.</a:t>
            </a:r>
          </a:p>
          <a:p>
            <a:pPr algn="just">
              <a:spcBef>
                <a:spcPct val="50000"/>
              </a:spcBef>
            </a:pPr>
            <a:r>
              <a:rPr lang="en-US" b="1" dirty="0"/>
              <a:t>Listing problem </a:t>
            </a:r>
            <a:r>
              <a:rPr lang="en-US" dirty="0"/>
              <a:t>: Consider all combinatorial configurations that satisfy the constrains of the problem. The solution method usually returns a brute force algorithm (generation algorithm, backtracking algorithm,…)</a:t>
            </a:r>
          </a:p>
          <a:p>
            <a:pPr algn="just">
              <a:spcBef>
                <a:spcPct val="50000"/>
              </a:spcBef>
            </a:pPr>
            <a:r>
              <a:rPr lang="en-US" b="1" dirty="0"/>
              <a:t>Optimization problem :</a:t>
            </a:r>
            <a:r>
              <a:rPr lang="en-US" dirty="0"/>
              <a:t> Among the combinatorial configurations that satisfy the requirements of problem, choose the solution with the best use value (optimize the objective function)</a:t>
            </a:r>
          </a:p>
          <a:p>
            <a:endParaRPr lang="en-US" dirty="0"/>
          </a:p>
        </p:txBody>
      </p:sp>
    </p:spTree>
    <p:extLst>
      <p:ext uri="{BB962C8B-B14F-4D97-AF65-F5344CB8AC3E}">
        <p14:creationId xmlns:p14="http://schemas.microsoft.com/office/powerpoint/2010/main" val="3423993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 problem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spcBef>
                    <a:spcPct val="50000"/>
                  </a:spcBef>
                </a:pPr>
                <a:r>
                  <a:rPr lang="en-US" dirty="0"/>
                  <a:t>Find the maximum (or minimum) of </a:t>
                </a:r>
                <a14:m>
                  <m:oMath xmlns:m="http://schemas.openxmlformats.org/officeDocument/2006/math">
                    <m:r>
                      <a:rPr lang="en-US" dirty="0">
                        <a:solidFill>
                          <a:srgbClr val="FF0000"/>
                        </a:solidFill>
                        <a:latin typeface="Cambria Math" panose="02040503050406030204" pitchFamily="18" charset="0"/>
                      </a:rPr>
                      <m:t> </m:t>
                    </m:r>
                    <m:r>
                      <a:rPr lang="en-US" i="1" dirty="0" smtClean="0">
                        <a:solidFill>
                          <a:srgbClr val="FF0000"/>
                        </a:solidFill>
                        <a:latin typeface="Cambria Math"/>
                      </a:rPr>
                      <m:t>𝑓</m:t>
                    </m:r>
                    <m:r>
                      <a:rPr lang="en-US" i="1" dirty="0" smtClean="0">
                        <a:solidFill>
                          <a:srgbClr val="FF0000"/>
                        </a:solidFill>
                        <a:latin typeface="Cambria Math"/>
                      </a:rPr>
                      <m:t>(</m:t>
                    </m:r>
                    <m:r>
                      <a:rPr lang="en-US" i="1" dirty="0" smtClean="0">
                        <a:solidFill>
                          <a:srgbClr val="FF0000"/>
                        </a:solidFill>
                        <a:latin typeface="Cambria Math"/>
                      </a:rPr>
                      <m:t>𝑥</m:t>
                    </m:r>
                    <m:r>
                      <a:rPr lang="en-US" i="1" dirty="0" smtClean="0">
                        <a:solidFill>
                          <a:srgbClr val="FF0000"/>
                        </a:solidFill>
                        <a:latin typeface="Cambria Math"/>
                      </a:rPr>
                      <m:t>)→</m:t>
                    </m:r>
                    <m:r>
                      <a:rPr lang="en-US" i="1" dirty="0">
                        <a:solidFill>
                          <a:srgbClr val="FF0000"/>
                        </a:solidFill>
                        <a:latin typeface="Cambria Math"/>
                        <a:sym typeface="Symbol" pitchFamily="18" charset="2"/>
                      </a:rPr>
                      <m:t>𝑀𝑎𝑥</m:t>
                    </m:r>
                    <m:r>
                      <a:rPr lang="en-US" i="1" dirty="0">
                        <a:solidFill>
                          <a:srgbClr val="FF0000"/>
                        </a:solidFill>
                        <a:latin typeface="Cambria Math"/>
                        <a:sym typeface="Symbol" pitchFamily="18" charset="2"/>
                      </a:rPr>
                      <m:t>(</m:t>
                    </m:r>
                    <m:r>
                      <a:rPr lang="en-US" i="1" dirty="0">
                        <a:solidFill>
                          <a:srgbClr val="FF0000"/>
                        </a:solidFill>
                        <a:latin typeface="Cambria Math"/>
                        <a:sym typeface="Symbol" pitchFamily="18" charset="2"/>
                      </a:rPr>
                      <m:t>𝑀𝑖𝑛</m:t>
                    </m:r>
                    <m:r>
                      <a:rPr lang="en-US" i="1" dirty="0">
                        <a:solidFill>
                          <a:srgbClr val="FF0000"/>
                        </a:solidFill>
                        <a:latin typeface="Cambria Math"/>
                        <a:sym typeface="Symbol" pitchFamily="18" charset="2"/>
                      </a:rPr>
                      <m:t>)</m:t>
                    </m:r>
                  </m:oMath>
                </a14:m>
                <a:r>
                  <a:rPr lang="en-US" dirty="0">
                    <a:sym typeface="Symbol" pitchFamily="18" charset="2"/>
                  </a:rPr>
                  <a:t> with condition </a:t>
                </a:r>
                <a14:m>
                  <m:oMath xmlns:m="http://schemas.openxmlformats.org/officeDocument/2006/math">
                    <m:r>
                      <a:rPr lang="en-US" i="1" dirty="0" smtClean="0">
                        <a:latin typeface="Cambria Math"/>
                        <a:sym typeface="Symbol" pitchFamily="18" charset="2"/>
                      </a:rPr>
                      <m:t>𝑥</m:t>
                    </m:r>
                    <m:r>
                      <a:rPr lang="en-US" i="1" dirty="0" smtClean="0">
                        <a:latin typeface="Cambria Math"/>
                        <a:ea typeface="Cambria Math"/>
                        <a:sym typeface="Symbol" pitchFamily="18" charset="2"/>
                      </a:rPr>
                      <m:t>∈</m:t>
                    </m:r>
                    <m:r>
                      <a:rPr lang="en-US" i="1" dirty="0" smtClean="0">
                        <a:latin typeface="Cambria Math"/>
                        <a:sym typeface="Symbol" pitchFamily="18" charset="2"/>
                      </a:rPr>
                      <m:t>𝐷</m:t>
                    </m:r>
                  </m:oMath>
                </a14:m>
                <a:r>
                  <a:rPr lang="en-US" dirty="0">
                    <a:sym typeface="Symbol" pitchFamily="18" charset="2"/>
                  </a:rPr>
                  <a:t>, where </a:t>
                </a:r>
                <a14:m>
                  <m:oMath xmlns:m="http://schemas.openxmlformats.org/officeDocument/2006/math">
                    <m:r>
                      <a:rPr lang="en-US" i="1" dirty="0" smtClean="0">
                        <a:latin typeface="Cambria Math"/>
                        <a:sym typeface="Symbol" pitchFamily="18" charset="2"/>
                      </a:rPr>
                      <m:t>𝐷</m:t>
                    </m:r>
                  </m:oMath>
                </a14:m>
                <a:r>
                  <a:rPr lang="en-US" dirty="0">
                    <a:sym typeface="Symbol" pitchFamily="18" charset="2"/>
                  </a:rPr>
                  <a:t> is a finite set</a:t>
                </a:r>
              </a:p>
              <a:p>
                <a:pPr lvl="1">
                  <a:spcBef>
                    <a:spcPct val="50000"/>
                  </a:spcBef>
                </a:pPr>
                <a:r>
                  <a:rPr lang="en-US" dirty="0">
                    <a:sym typeface="Symbol" pitchFamily="18" charset="2"/>
                  </a:rPr>
                  <a:t>The function </a:t>
                </a:r>
                <a14:m>
                  <m:oMath xmlns:m="http://schemas.openxmlformats.org/officeDocument/2006/math">
                    <m:r>
                      <a:rPr lang="en-US" i="1" dirty="0" smtClean="0">
                        <a:latin typeface="Cambria Math"/>
                        <a:sym typeface="Symbol" pitchFamily="18" charset="2"/>
                      </a:rPr>
                      <m:t>𝑓</m:t>
                    </m:r>
                    <m:r>
                      <a:rPr lang="en-US" i="1" dirty="0" smtClean="0">
                        <a:latin typeface="Cambria Math"/>
                        <a:sym typeface="Symbol" pitchFamily="18" charset="2"/>
                      </a:rPr>
                      <m:t>(</m:t>
                    </m:r>
                    <m:r>
                      <a:rPr lang="en-US" i="1" dirty="0" smtClean="0">
                        <a:latin typeface="Cambria Math"/>
                        <a:sym typeface="Symbol" pitchFamily="18" charset="2"/>
                      </a:rPr>
                      <m:t>𝑥</m:t>
                    </m:r>
                    <m:r>
                      <a:rPr lang="en-US" i="1" dirty="0" smtClean="0">
                        <a:latin typeface="Cambria Math"/>
                        <a:sym typeface="Symbol" pitchFamily="18" charset="2"/>
                      </a:rPr>
                      <m:t>)</m:t>
                    </m:r>
                  </m:oMath>
                </a14:m>
                <a:r>
                  <a:rPr lang="en-US" dirty="0">
                    <a:sym typeface="Symbol" pitchFamily="18" charset="2"/>
                  </a:rPr>
                  <a:t> is called the target function of the problem.</a:t>
                </a:r>
              </a:p>
              <a:p>
                <a:pPr lvl="1">
                  <a:spcBef>
                    <a:spcPct val="50000"/>
                  </a:spcBef>
                </a:pPr>
                <a:r>
                  <a:rPr lang="en-US" dirty="0">
                    <a:sym typeface="Symbol" pitchFamily="18" charset="2"/>
                  </a:rPr>
                  <a:t>Each element </a:t>
                </a:r>
                <a14:m>
                  <m:oMath xmlns:m="http://schemas.openxmlformats.org/officeDocument/2006/math">
                    <m:r>
                      <a:rPr lang="en-US" i="1" dirty="0">
                        <a:latin typeface="Cambria Math"/>
                        <a:sym typeface="Symbol" pitchFamily="18" charset="2"/>
                      </a:rPr>
                      <m:t>𝑥</m:t>
                    </m:r>
                    <m:r>
                      <a:rPr lang="en-US" i="1" dirty="0">
                        <a:latin typeface="Cambria Math"/>
                        <a:ea typeface="Cambria Math"/>
                        <a:sym typeface="Symbol" pitchFamily="18" charset="2"/>
                      </a:rPr>
                      <m:t>∈</m:t>
                    </m:r>
                    <m:r>
                      <a:rPr lang="en-US" i="1" dirty="0">
                        <a:latin typeface="Cambria Math"/>
                        <a:sym typeface="Symbol" pitchFamily="18" charset="2"/>
                      </a:rPr>
                      <m:t>𝐷</m:t>
                    </m:r>
                  </m:oMath>
                </a14:m>
                <a:r>
                  <a:rPr lang="en-US" dirty="0">
                    <a:sym typeface="Symbol" pitchFamily="18" charset="2"/>
                  </a:rPr>
                  <a:t> is called a solution, </a:t>
                </a:r>
                <a14:m>
                  <m:oMath xmlns:m="http://schemas.openxmlformats.org/officeDocument/2006/math">
                    <m:r>
                      <a:rPr lang="en-US" i="1" dirty="0">
                        <a:latin typeface="Cambria Math"/>
                        <a:sym typeface="Symbol" pitchFamily="18" charset="2"/>
                      </a:rPr>
                      <m:t>𝐷</m:t>
                    </m:r>
                  </m:oMath>
                </a14:m>
                <a:r>
                  <a:rPr lang="en-US" dirty="0">
                    <a:sym typeface="Symbol" pitchFamily="18" charset="2"/>
                  </a:rPr>
                  <a:t> is the set of solutions of problem.</a:t>
                </a:r>
              </a:p>
              <a:p>
                <a:pPr lvl="1">
                  <a:spcBef>
                    <a:spcPct val="50000"/>
                  </a:spcBef>
                </a:pPr>
                <a:r>
                  <a:rPr lang="en-US" dirty="0">
                    <a:sym typeface="Symbol" pitchFamily="18" charset="2"/>
                  </a:rPr>
                  <a:t>Solution </a:t>
                </a:r>
                <a14:m>
                  <m:oMath xmlns:m="http://schemas.openxmlformats.org/officeDocument/2006/math">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𝑥</m:t>
                        </m:r>
                      </m:e>
                      <m:sup>
                        <m:r>
                          <a:rPr lang="en-US" b="0" i="1" dirty="0" smtClean="0">
                            <a:latin typeface="Cambria Math"/>
                            <a:sym typeface="Symbol" pitchFamily="18" charset="2"/>
                          </a:rPr>
                          <m:t>∗</m:t>
                        </m:r>
                      </m:sup>
                    </m:sSup>
                    <m:r>
                      <a:rPr lang="en-US" i="1" dirty="0">
                        <a:latin typeface="Cambria Math"/>
                        <a:ea typeface="Cambria Math"/>
                        <a:sym typeface="Symbol" pitchFamily="18" charset="2"/>
                      </a:rPr>
                      <m:t>∈</m:t>
                    </m:r>
                    <m:r>
                      <a:rPr lang="en-US" i="1" dirty="0">
                        <a:latin typeface="Cambria Math"/>
                        <a:sym typeface="Symbol" pitchFamily="18" charset="2"/>
                      </a:rPr>
                      <m:t>𝐷</m:t>
                    </m:r>
                  </m:oMath>
                </a14:m>
                <a:r>
                  <a:rPr lang="en-US" dirty="0">
                    <a:sym typeface="Symbol" pitchFamily="18" charset="2"/>
                  </a:rPr>
                  <a:t> that makes the target function have the largest (or smallest) value is called the optimal solution of problem.</a:t>
                </a:r>
              </a:p>
              <a:p>
                <a:pPr lvl="1">
                  <a:spcBef>
                    <a:spcPct val="50000"/>
                  </a:spcBef>
                </a:pPr>
                <a14:m>
                  <m:oMath xmlns:m="http://schemas.openxmlformats.org/officeDocument/2006/math">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𝑓</m:t>
                        </m:r>
                      </m:e>
                      <m:sup>
                        <m:r>
                          <a:rPr lang="en-US" b="0" i="1" dirty="0" smtClean="0">
                            <a:latin typeface="Cambria Math"/>
                            <a:sym typeface="Symbol" pitchFamily="18" charset="2"/>
                          </a:rPr>
                          <m:t>∗</m:t>
                        </m:r>
                      </m:sup>
                    </m:sSup>
                    <m:r>
                      <a:rPr lang="en-US" i="1" dirty="0">
                        <a:latin typeface="Cambria Math"/>
                        <a:sym typeface="Symbol" pitchFamily="18" charset="2"/>
                      </a:rPr>
                      <m:t>=</m:t>
                    </m:r>
                    <m:r>
                      <a:rPr lang="en-US" i="1" dirty="0">
                        <a:latin typeface="Cambria Math"/>
                        <a:sym typeface="Symbol" pitchFamily="18" charset="2"/>
                      </a:rPr>
                      <m:t>𝑓</m:t>
                    </m:r>
                    <m:r>
                      <a:rPr lang="en-US" i="1" dirty="0">
                        <a:latin typeface="Cambria Math"/>
                        <a:sym typeface="Symbol" pitchFamily="18" charset="2"/>
                      </a:rPr>
                      <m:t>(</m:t>
                    </m:r>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𝑥</m:t>
                        </m:r>
                      </m:e>
                      <m:sup>
                        <m:r>
                          <a:rPr lang="en-US" b="0" i="1" dirty="0" smtClean="0">
                            <a:latin typeface="Cambria Math"/>
                            <a:sym typeface="Symbol" pitchFamily="18" charset="2"/>
                          </a:rPr>
                          <m:t>∗</m:t>
                        </m:r>
                      </m:sup>
                    </m:sSup>
                    <m:r>
                      <a:rPr lang="en-US" i="1" dirty="0">
                        <a:latin typeface="Cambria Math"/>
                        <a:sym typeface="Symbol" pitchFamily="18" charset="2"/>
                      </a:rPr>
                      <m:t>)</m:t>
                    </m:r>
                  </m:oMath>
                </a14:m>
                <a:r>
                  <a:rPr lang="en-US" dirty="0">
                    <a:sym typeface="Symbol" pitchFamily="18" charset="2"/>
                  </a:rPr>
                  <a:t> is called the optimal value of problem.</a:t>
                </a: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704"/>
                </a:stretch>
              </a:blipFill>
            </p:spPr>
            <p:txBody>
              <a:bodyPr/>
              <a:lstStyle/>
              <a:p>
                <a:r>
                  <a:rPr lang="en-US">
                    <a:noFill/>
                  </a:rPr>
                  <a:t> </a:t>
                </a:r>
              </a:p>
            </p:txBody>
          </p:sp>
        </mc:Fallback>
      </mc:AlternateContent>
    </p:spTree>
    <p:extLst>
      <p:ext uri="{BB962C8B-B14F-4D97-AF65-F5344CB8AC3E}">
        <p14:creationId xmlns:p14="http://schemas.microsoft.com/office/powerpoint/2010/main" val="218114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(1/4)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Knapsack/Bag problem: </a:t>
                </a:r>
                <a:r>
                  <a:rPr lang="en-US" dirty="0"/>
                  <a:t>An adventurer needs to carry a bag weighing no more than B. There are N items to bring. The </a:t>
                </a:r>
                <a:r>
                  <a:rPr lang="en-US" dirty="0" err="1"/>
                  <a:t>i</a:t>
                </a:r>
                <a:r>
                  <a:rPr lang="en-US" baseline="30000" dirty="0" err="1"/>
                  <a:t>th</a:t>
                </a:r>
                <a:r>
                  <a:rPr lang="en-US" dirty="0"/>
                  <a:t> object has weight a</a:t>
                </a:r>
                <a:r>
                  <a:rPr lang="en-US" baseline="-25000" dirty="0"/>
                  <a:t>i </a:t>
                </a:r>
                <a:r>
                  <a:rPr lang="en-US" dirty="0"/>
                  <a:t>, has using value c</a:t>
                </a:r>
                <a:r>
                  <a:rPr lang="en-US" baseline="-25000" dirty="0"/>
                  <a:t>i</a:t>
                </a:r>
                <a:r>
                  <a:rPr lang="en-US" dirty="0"/>
                  <a:t> (</a:t>
                </a:r>
                <a:r>
                  <a:rPr lang="en-US" dirty="0" err="1"/>
                  <a:t>i</a:t>
                </a:r>
                <a:r>
                  <a:rPr lang="en-US" dirty="0"/>
                  <a:t> = 1, 2, …, N; a</a:t>
                </a:r>
                <a:r>
                  <a:rPr lang="en-US" baseline="-25000" dirty="0"/>
                  <a:t>i</a:t>
                </a:r>
                <a:r>
                  <a:rPr lang="en-US" dirty="0"/>
                  <a:t>, c</a:t>
                </a:r>
                <a:r>
                  <a:rPr lang="en-US" baseline="-25000" dirty="0"/>
                  <a:t>i</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oMath>
                </a14:m>
                <a:r>
                  <a:rPr lang="en-US" dirty="0"/>
                  <a:t>). Find a way to put objects in the adventurer’s bag so that the total using value in the bag is maximum.</a:t>
                </a:r>
                <a:endParaRPr lang="en-US" dirty="0">
                  <a:sym typeface="Symbol" pitchFamily="18" charset="2"/>
                </a:endParaRPr>
              </a:p>
              <a:p>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3828724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Content Placeholder 4"/>
          <p:cNvSpPr>
            <a:spLocks noGrp="1"/>
          </p:cNvSpPr>
          <p:nvPr>
            <p:ph sz="quarter" idx="1"/>
          </p:nvPr>
        </p:nvSpPr>
        <p:spPr/>
        <p:txBody>
          <a:bodyPr/>
          <a:lstStyle/>
          <a:p>
            <a:pPr algn="just"/>
            <a:r>
              <a:rPr lang="en-US" b="1" dirty="0">
                <a:sym typeface="Symbol" pitchFamily="18" charset="2"/>
              </a:rPr>
              <a:t>Set of solutions</a:t>
            </a:r>
            <a:r>
              <a:rPr lang="en-US" dirty="0">
                <a:sym typeface="Symbol" pitchFamily="18" charset="2"/>
              </a:rPr>
              <a:t>: Each solution of the problem is a binary string of length N. In which, x</a:t>
            </a:r>
            <a:r>
              <a:rPr lang="en-US" baseline="-25000" dirty="0">
                <a:sym typeface="Symbol" pitchFamily="18" charset="2"/>
              </a:rPr>
              <a:t>i</a:t>
            </a:r>
            <a:r>
              <a:rPr lang="en-US" dirty="0">
                <a:sym typeface="Symbol" pitchFamily="18" charset="2"/>
              </a:rPr>
              <a:t> = 1 corresponds to the object </a:t>
            </a:r>
            <a:r>
              <a:rPr lang="en-US" dirty="0" err="1">
                <a:sym typeface="Symbol" pitchFamily="18" charset="2"/>
              </a:rPr>
              <a:t>i</a:t>
            </a:r>
            <a:r>
              <a:rPr lang="en-US" dirty="0">
                <a:sym typeface="Symbol" pitchFamily="18" charset="2"/>
              </a:rPr>
              <a:t> put in the bag, x</a:t>
            </a:r>
            <a:r>
              <a:rPr lang="en-US" baseline="-25000" dirty="0">
                <a:sym typeface="Symbol" pitchFamily="18" charset="2"/>
              </a:rPr>
              <a:t>i</a:t>
            </a:r>
            <a:r>
              <a:rPr lang="en-US" dirty="0">
                <a:sym typeface="Symbol" pitchFamily="18" charset="2"/>
              </a:rPr>
              <a:t> = 0 corresponds to the object I not put in the bag. The set of binary strings X = (x</a:t>
            </a:r>
            <a:r>
              <a:rPr lang="en-US" baseline="-25000" dirty="0">
                <a:sym typeface="Symbol" pitchFamily="18" charset="2"/>
              </a:rPr>
              <a:t>1</a:t>
            </a:r>
            <a:r>
              <a:rPr lang="en-US" dirty="0">
                <a:sym typeface="Symbol" pitchFamily="18" charset="2"/>
              </a:rPr>
              <a:t>,…,</a:t>
            </a:r>
            <a:r>
              <a:rPr lang="en-US" dirty="0" err="1">
                <a:sym typeface="Symbol" pitchFamily="18" charset="2"/>
              </a:rPr>
              <a:t>x</a:t>
            </a:r>
            <a:r>
              <a:rPr lang="en-US" baseline="-25000" dirty="0" err="1">
                <a:sym typeface="Symbol" pitchFamily="18" charset="2"/>
              </a:rPr>
              <a:t>N</a:t>
            </a:r>
            <a:r>
              <a:rPr lang="en-US" dirty="0">
                <a:sym typeface="Symbol" pitchFamily="18" charset="2"/>
              </a:rPr>
              <a:t>) must also satisfy the condition that the total weight does not exceed B. In other words, the set of solutions D of the problem is defined as the following formula:</a:t>
            </a:r>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3393884189"/>
              </p:ext>
            </p:extLst>
          </p:nvPr>
        </p:nvGraphicFramePr>
        <p:xfrm>
          <a:off x="1243013" y="4495800"/>
          <a:ext cx="6229350" cy="887413"/>
        </p:xfrm>
        <a:graphic>
          <a:graphicData uri="http://schemas.openxmlformats.org/presentationml/2006/ole">
            <mc:AlternateContent xmlns:mc="http://schemas.openxmlformats.org/markup-compatibility/2006">
              <mc:Choice xmlns:v="urn:schemas-microsoft-com:vml" Requires="v">
                <p:oleObj spid="_x0000_s1037" name="Equation" r:id="rId3" imgW="3213000" imgH="457200" progId="Equation.3">
                  <p:embed/>
                </p:oleObj>
              </mc:Choice>
              <mc:Fallback>
                <p:oleObj name="Equation" r:id="rId3" imgW="3213000" imgH="457200" progId="Equation.3">
                  <p:embed/>
                  <p:pic>
                    <p:nvPicPr>
                      <p:cNvPr id="0" name="Object 8"/>
                      <p:cNvPicPr>
                        <a:picLocks noChangeAspect="1" noChangeArrowheads="1"/>
                      </p:cNvPicPr>
                      <p:nvPr/>
                    </p:nvPicPr>
                    <p:blipFill>
                      <a:blip r:embed="rId4"/>
                      <a:srcRect/>
                      <a:stretch>
                        <a:fillRect/>
                      </a:stretch>
                    </p:blipFill>
                    <p:spPr bwMode="auto">
                      <a:xfrm>
                        <a:off x="1243013" y="4495800"/>
                        <a:ext cx="622935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20023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(3/4)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sym typeface="Symbol" pitchFamily="18" charset="2"/>
                  </a:rPr>
                  <a:t>Target function</a:t>
                </a:r>
                <a:r>
                  <a:rPr lang="en-US" dirty="0">
                    <a:sym typeface="Symbol" pitchFamily="18" charset="2"/>
                  </a:rPr>
                  <a:t>: For each solution </a:t>
                </a:r>
                <a14:m>
                  <m:oMath xmlns:m="http://schemas.openxmlformats.org/officeDocument/2006/math">
                    <m:r>
                      <a:rPr lang="en-US" i="1" dirty="0" smtClean="0">
                        <a:latin typeface="Cambria Math"/>
                        <a:sym typeface="Symbol" pitchFamily="18" charset="2"/>
                      </a:rPr>
                      <m:t>𝑋</m:t>
                    </m:r>
                    <m:r>
                      <a:rPr lang="en-US" i="1" dirty="0" smtClean="0">
                        <a:latin typeface="Cambria Math"/>
                        <a:sym typeface="Symbol" pitchFamily="18" charset="2"/>
                      </a:rPr>
                      <m:t>=(</m:t>
                    </m:r>
                    <m:r>
                      <a:rPr lang="en-US" i="1" dirty="0" smtClean="0">
                        <a:latin typeface="Cambria Math"/>
                        <a:sym typeface="Symbol" pitchFamily="18" charset="2"/>
                      </a:rPr>
                      <m:t>𝑥</m:t>
                    </m:r>
                    <m:r>
                      <a:rPr lang="en-US" i="1" baseline="-25000" dirty="0">
                        <a:latin typeface="Cambria Math"/>
                        <a:sym typeface="Symbol" pitchFamily="18" charset="2"/>
                      </a:rPr>
                      <m:t>1</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𝑁</m:t>
                        </m:r>
                      </m:sub>
                    </m:sSub>
                    <m:r>
                      <a:rPr lang="en-US" i="1" dirty="0">
                        <a:latin typeface="Cambria Math"/>
                        <a:sym typeface="Symbol" pitchFamily="18" charset="2"/>
                      </a:rPr>
                      <m:t>)∈</m:t>
                    </m:r>
                    <m:r>
                      <a:rPr lang="en-US" i="1" dirty="0">
                        <a:latin typeface="Cambria Math"/>
                        <a:sym typeface="Symbol" pitchFamily="18" charset="2"/>
                      </a:rPr>
                      <m:t>𝐷</m:t>
                    </m:r>
                  </m:oMath>
                </a14:m>
                <a:r>
                  <a:rPr lang="en-US" dirty="0">
                    <a:sym typeface="Symbol" pitchFamily="18" charset="2"/>
                  </a:rPr>
                  <a:t>, we need to find the solution </a:t>
                </a:r>
                <a:endParaRPr lang="en-US" i="1" dirty="0">
                  <a:latin typeface="Cambria Math"/>
                  <a:sym typeface="Symbol" pitchFamily="18" charset="2"/>
                </a:endParaRPr>
              </a:p>
              <a:p>
                <a:pPr marL="0" indent="0">
                  <a:buNone/>
                </a:pPr>
                <a14:m>
                  <m:oMath xmlns:m="http://schemas.openxmlformats.org/officeDocument/2006/math">
                    <m:r>
                      <a:rPr lang="en-US" b="0" i="1" dirty="0" smtClean="0">
                        <a:latin typeface="Cambria Math"/>
                        <a:sym typeface="Symbol" pitchFamily="18" charset="2"/>
                      </a:rPr>
                      <m:t>    </m:t>
                    </m:r>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𝑋</m:t>
                        </m:r>
                      </m:e>
                      <m:sup>
                        <m:r>
                          <a:rPr lang="en-US" b="0" i="1" dirty="0" smtClean="0">
                            <a:latin typeface="Cambria Math"/>
                            <a:sym typeface="Symbol" pitchFamily="18" charset="2"/>
                          </a:rPr>
                          <m:t>∗</m:t>
                        </m:r>
                      </m:sup>
                    </m:sSup>
                    <m:r>
                      <a:rPr lang="en-US" b="0" i="1" dirty="0" smtClean="0">
                        <a:latin typeface="Cambria Math"/>
                        <a:sym typeface="Symbol" pitchFamily="18" charset="2"/>
                      </a:rPr>
                      <m:t>=</m:t>
                    </m:r>
                    <m:d>
                      <m:dPr>
                        <m:ctrlPr>
                          <a:rPr lang="en-US" b="0" i="1" dirty="0" smtClean="0">
                            <a:latin typeface="Cambria Math" panose="02040503050406030204" pitchFamily="18" charset="0"/>
                            <a:sym typeface="Symbol" pitchFamily="18" charset="2"/>
                          </a:rPr>
                        </m:ctrlPr>
                      </m:dPr>
                      <m:e>
                        <m:sSubSup>
                          <m:sSubSupPr>
                            <m:ctrlPr>
                              <a:rPr lang="en-US" i="1">
                                <a:latin typeface="Cambria Math" panose="02040503050406030204" pitchFamily="18" charset="0"/>
                              </a:rPr>
                            </m:ctrlPr>
                          </m:sSubSupPr>
                          <m:e>
                            <m:r>
                              <a:rPr lang="en-US" i="1">
                                <a:latin typeface="Cambria Math"/>
                              </a:rPr>
                              <m:t>𝑥</m:t>
                            </m:r>
                          </m:e>
                          <m:sub>
                            <m:r>
                              <a:rPr lang="en-US" i="1">
                                <a:latin typeface="Cambria Math"/>
                              </a:rPr>
                              <m:t>1</m:t>
                            </m:r>
                          </m:sub>
                          <m:sup>
                            <m:r>
                              <a:rPr lang="en-US" i="1">
                                <a:latin typeface="Cambria Math"/>
                              </a:rPr>
                              <m:t>∗</m:t>
                            </m:r>
                          </m:sup>
                        </m:sSubSup>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Sup>
                          <m:sSubSupPr>
                            <m:ctrlPr>
                              <a:rPr lang="en-US" i="1">
                                <a:latin typeface="Cambria Math" panose="02040503050406030204" pitchFamily="18" charset="0"/>
                              </a:rPr>
                            </m:ctrlPr>
                          </m:sSubSupPr>
                          <m:e>
                            <m:r>
                              <a:rPr lang="en-US" i="1">
                                <a:latin typeface="Cambria Math"/>
                              </a:rPr>
                              <m:t>𝑥</m:t>
                            </m:r>
                          </m:e>
                          <m:sub>
                            <m:r>
                              <a:rPr lang="en-US" b="0" i="1" smtClean="0">
                                <a:latin typeface="Cambria Math"/>
                              </a:rPr>
                              <m:t>𝑁</m:t>
                            </m:r>
                          </m:sub>
                          <m:sup>
                            <m:r>
                              <a:rPr lang="en-US" i="1">
                                <a:latin typeface="Cambria Math"/>
                              </a:rPr>
                              <m:t>∗</m:t>
                            </m:r>
                          </m:sup>
                        </m:sSubSup>
                      </m:e>
                    </m:d>
                  </m:oMath>
                </a14:m>
                <a:r>
                  <a:rPr lang="en-US" dirty="0"/>
                  <a:t> such that the total using values in the bag is the maximum. The total using values of objects is determined by the following formula:</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1111" t="-1111" r="-963"/>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530898055"/>
              </p:ext>
            </p:extLst>
          </p:nvPr>
        </p:nvGraphicFramePr>
        <p:xfrm>
          <a:off x="2895600" y="3124200"/>
          <a:ext cx="2957512" cy="977900"/>
        </p:xfrm>
        <a:graphic>
          <a:graphicData uri="http://schemas.openxmlformats.org/presentationml/2006/ole">
            <mc:AlternateContent xmlns:mc="http://schemas.openxmlformats.org/markup-compatibility/2006">
              <mc:Choice xmlns:v="urn:schemas-microsoft-com:vml" Requires="v">
                <p:oleObj spid="_x0000_s2061" name="Equation" r:id="rId4" imgW="1307532" imgH="431613" progId="Equation.3">
                  <p:embed/>
                </p:oleObj>
              </mc:Choice>
              <mc:Fallback>
                <p:oleObj name="Equation" r:id="rId4" imgW="1307532" imgH="431613"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124200"/>
                        <a:ext cx="2957512"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84501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(4/4)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Autofit/>
              </a:bodyPr>
              <a:lstStyle/>
              <a:p>
                <a:pPr algn="just">
                  <a:spcBef>
                    <a:spcPct val="50000"/>
                  </a:spcBef>
                </a:pPr>
                <a:r>
                  <a:rPr lang="en-US" sz="1800" b="1" dirty="0"/>
                  <a:t>Problem can be restated as follows</a:t>
                </a:r>
                <a:r>
                  <a:rPr lang="en-US" sz="1800" dirty="0"/>
                  <a:t>: Among the binary strings </a:t>
                </a:r>
                <a14:m>
                  <m:oMath xmlns:m="http://schemas.openxmlformats.org/officeDocument/2006/math">
                    <m:r>
                      <a:rPr lang="en-US" sz="1800" i="1" dirty="0" smtClean="0">
                        <a:latin typeface="Cambria Math"/>
                      </a:rPr>
                      <m:t>𝑋</m:t>
                    </m:r>
                    <m:r>
                      <a:rPr lang="en-US" sz="1800" i="1" dirty="0" smtClean="0">
                        <a:latin typeface="Cambria Math"/>
                      </a:rPr>
                      <m:t>=(</m:t>
                    </m:r>
                    <m:r>
                      <a:rPr lang="en-US" sz="1800" i="1" dirty="0" smtClean="0">
                        <a:latin typeface="Cambria Math"/>
                      </a:rPr>
                      <m:t>𝑥</m:t>
                    </m:r>
                    <m:r>
                      <a:rPr lang="en-US" sz="1800" i="1" baseline="-25000" dirty="0">
                        <a:latin typeface="Cambria Math"/>
                      </a:rPr>
                      <m:t>1</m:t>
                    </m:r>
                    <m:r>
                      <a:rPr lang="en-US" sz="1800" i="1" dirty="0">
                        <a:latin typeface="Cambria Math"/>
                      </a:rPr>
                      <m:t>,.</m:t>
                    </m:r>
                    <m:r>
                      <a:rPr lang="en-US" sz="1800" b="0" i="1" dirty="0" smtClean="0">
                        <a:latin typeface="Cambria Math"/>
                      </a:rPr>
                      <m:t>.</m:t>
                    </m:r>
                    <m:r>
                      <a:rPr lang="en-US" sz="1800" i="1" dirty="0">
                        <a:latin typeface="Cambria Math"/>
                      </a:rPr>
                      <m:t>.,</m:t>
                    </m:r>
                    <m:sSub>
                      <m:sSubPr>
                        <m:ctrlPr>
                          <a:rPr lang="en-US" sz="1800" i="1" dirty="0" smtClean="0">
                            <a:latin typeface="Cambria Math" panose="02040503050406030204" pitchFamily="18" charset="0"/>
                          </a:rPr>
                        </m:ctrlPr>
                      </m:sSubPr>
                      <m:e>
                        <m:r>
                          <a:rPr lang="en-US" sz="1800" b="0" i="1" dirty="0" smtClean="0">
                            <a:latin typeface="Cambria Math"/>
                          </a:rPr>
                          <m:t>𝑥</m:t>
                        </m:r>
                      </m:e>
                      <m:sub>
                        <m:r>
                          <a:rPr lang="en-US" sz="1800" b="0" i="1" dirty="0" smtClean="0">
                            <a:latin typeface="Cambria Math"/>
                          </a:rPr>
                          <m:t>𝑁</m:t>
                        </m:r>
                      </m:sub>
                    </m:sSub>
                    <m:r>
                      <a:rPr lang="en-US" sz="1800" i="1" dirty="0">
                        <a:latin typeface="Cambria Math"/>
                      </a:rPr>
                      <m:t>) </m:t>
                    </m:r>
                  </m:oMath>
                </a14:m>
                <a:r>
                  <a:rPr lang="en-US" sz="1800" dirty="0"/>
                  <a:t>satisfy the condition </a:t>
                </a:r>
                <a14:m>
                  <m:oMath xmlns:m="http://schemas.openxmlformats.org/officeDocument/2006/math">
                    <m:r>
                      <a:rPr lang="en-US" sz="1800" i="1" dirty="0" smtClean="0">
                        <a:latin typeface="Cambria Math"/>
                      </a:rPr>
                      <m:t>𝑔</m:t>
                    </m:r>
                    <m:r>
                      <a:rPr lang="en-US" sz="1800" i="1" dirty="0" smtClean="0">
                        <a:latin typeface="Cambria Math"/>
                      </a:rPr>
                      <m:t>(</m:t>
                    </m:r>
                    <m:r>
                      <a:rPr lang="en-US" sz="1800" i="1" dirty="0" smtClean="0">
                        <a:latin typeface="Cambria Math"/>
                      </a:rPr>
                      <m:t>𝑋</m:t>
                    </m:r>
                    <m:r>
                      <a:rPr lang="en-US" sz="1800" i="1" dirty="0" smtClean="0">
                        <a:latin typeface="Cambria Math"/>
                      </a:rPr>
                      <m:t>)≤</m:t>
                    </m:r>
                    <m:r>
                      <a:rPr lang="en-US" sz="1800" i="1" dirty="0" smtClean="0">
                        <a:latin typeface="Cambria Math"/>
                      </a:rPr>
                      <m:t>𝐵</m:t>
                    </m:r>
                  </m:oMath>
                </a14:m>
                <a:r>
                  <a:rPr lang="en-US" sz="1800" dirty="0"/>
                  <a:t>, find vector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a:rPr>
                          <m:t>𝑋</m:t>
                        </m:r>
                      </m:e>
                      <m:sup>
                        <m:r>
                          <a:rPr lang="en-US" sz="1800" b="0" i="1" smtClean="0">
                            <a:latin typeface="Cambria Math"/>
                          </a:rPr>
                          <m:t>∗</m:t>
                        </m:r>
                      </m:sup>
                    </m:sSup>
                    <m:r>
                      <a:rPr lang="en-US" sz="1800" b="0" i="1" smtClean="0">
                        <a:latin typeface="Cambria Math"/>
                      </a:rPr>
                      <m:t> </m:t>
                    </m:r>
                  </m:oMath>
                </a14:m>
                <a:r>
                  <a:rPr lang="en-US" sz="1800" dirty="0"/>
                  <a:t>so that </a:t>
                </a:r>
                <a14:m>
                  <m:oMath xmlns:m="http://schemas.openxmlformats.org/officeDocument/2006/math">
                    <m:r>
                      <a:rPr lang="en-US" sz="1800" i="1" dirty="0" smtClean="0">
                        <a:latin typeface="Cambria Math"/>
                      </a:rPr>
                      <m:t>𝑓</m:t>
                    </m:r>
                    <m:d>
                      <m:dPr>
                        <m:ctrlPr>
                          <a:rPr lang="en-US" sz="1800" i="1" dirty="0" smtClean="0">
                            <a:latin typeface="Cambria Math" panose="02040503050406030204" pitchFamily="18" charset="0"/>
                          </a:rPr>
                        </m:ctrlPr>
                      </m:dPr>
                      <m:e>
                        <m:r>
                          <a:rPr lang="en-US" sz="1800" i="1" dirty="0" smtClean="0">
                            <a:latin typeface="Cambria Math"/>
                          </a:rPr>
                          <m:t>𝑋</m:t>
                        </m:r>
                      </m:e>
                    </m:d>
                  </m:oMath>
                </a14:m>
                <a:r>
                  <a:rPr lang="en-US" sz="1800" dirty="0"/>
                  <a:t> has the maximum value.</a:t>
                </a:r>
              </a:p>
              <a:p>
                <a:pPr algn="just">
                  <a:spcBef>
                    <a:spcPct val="50000"/>
                  </a:spcBef>
                </a:pPr>
                <a:r>
                  <a:rPr lang="en-US" sz="1800" b="1" dirty="0"/>
                  <a:t>Input</a:t>
                </a:r>
                <a:r>
                  <a:rPr lang="en-US" sz="1800" dirty="0"/>
                  <a:t>:</a:t>
                </a:r>
              </a:p>
              <a:p>
                <a:pPr lvl="1" algn="just">
                  <a:spcBef>
                    <a:spcPct val="50000"/>
                  </a:spcBef>
                </a:pPr>
                <a:r>
                  <a:rPr lang="en-US" sz="1800" dirty="0"/>
                  <a:t>Number of objects: </a:t>
                </a:r>
                <a14:m>
                  <m:oMath xmlns:m="http://schemas.openxmlformats.org/officeDocument/2006/math">
                    <m:r>
                      <a:rPr lang="en-US" sz="1800" i="1" dirty="0" smtClean="0">
                        <a:latin typeface="Cambria Math"/>
                      </a:rPr>
                      <m:t>𝑁</m:t>
                    </m:r>
                  </m:oMath>
                </a14:m>
                <a:endParaRPr lang="en-US" sz="1800" dirty="0"/>
              </a:p>
              <a:p>
                <a:pPr lvl="1" algn="just">
                  <a:spcBef>
                    <a:spcPct val="50000"/>
                  </a:spcBef>
                </a:pPr>
                <a:r>
                  <a:rPr lang="en-US" sz="1800" dirty="0"/>
                  <a:t>Vector of weights: </a:t>
                </a:r>
                <a14:m>
                  <m:oMath xmlns:m="http://schemas.openxmlformats.org/officeDocument/2006/math">
                    <m:r>
                      <a:rPr lang="en-US" sz="1800" i="1" dirty="0" smtClean="0">
                        <a:latin typeface="Cambria Math"/>
                      </a:rPr>
                      <m:t>𝐴</m:t>
                    </m:r>
                    <m:r>
                      <a:rPr lang="en-US" sz="1800" i="1" dirty="0" smtClean="0">
                        <a:latin typeface="Cambria Math"/>
                      </a:rPr>
                      <m:t>=(</m:t>
                    </m:r>
                    <m:r>
                      <a:rPr lang="en-US" sz="1800" i="1" dirty="0" smtClean="0">
                        <a:latin typeface="Cambria Math"/>
                      </a:rPr>
                      <m:t>𝑎</m:t>
                    </m:r>
                    <m:r>
                      <a:rPr lang="en-US" sz="1800" i="1" baseline="-25000" dirty="0">
                        <a:latin typeface="Cambria Math"/>
                      </a:rPr>
                      <m:t>1</m:t>
                    </m:r>
                    <m:r>
                      <a:rPr lang="en-US" sz="1800" i="1" dirty="0">
                        <a:latin typeface="Cambria Math"/>
                      </a:rPr>
                      <m:t>, </m:t>
                    </m:r>
                    <m:r>
                      <a:rPr lang="en-US" sz="1800" i="1" dirty="0">
                        <a:latin typeface="Cambria Math"/>
                      </a:rPr>
                      <m:t>𝑎</m:t>
                    </m:r>
                    <m:r>
                      <a:rPr lang="en-US" sz="1800" i="1" baseline="-25000" dirty="0">
                        <a:latin typeface="Cambria Math"/>
                      </a:rPr>
                      <m:t>2</m:t>
                    </m:r>
                    <m:r>
                      <a:rPr lang="en-US" sz="1800" i="1" dirty="0">
                        <a:latin typeface="Cambria Math"/>
                      </a:rPr>
                      <m:t>, .</m:t>
                    </m:r>
                    <m:r>
                      <a:rPr lang="en-US" sz="1800" b="0" i="1" dirty="0" smtClean="0">
                        <a:latin typeface="Cambria Math"/>
                      </a:rPr>
                      <m:t>.</m:t>
                    </m:r>
                    <m:r>
                      <a:rPr lang="en-US" sz="1800" i="1" dirty="0">
                        <a:latin typeface="Cambria Math"/>
                      </a:rPr>
                      <m:t>., </m:t>
                    </m:r>
                    <m:r>
                      <a:rPr lang="en-US" sz="1800" i="1" dirty="0" err="1">
                        <a:latin typeface="Cambria Math"/>
                      </a:rPr>
                      <m:t>𝑎</m:t>
                    </m:r>
                    <m:r>
                      <a:rPr lang="en-US" sz="1800" i="1" baseline="-25000" dirty="0" err="1">
                        <a:latin typeface="Cambria Math"/>
                      </a:rPr>
                      <m:t>𝑁</m:t>
                    </m:r>
                    <m:r>
                      <a:rPr lang="en-US" sz="1800" i="1" dirty="0">
                        <a:latin typeface="Cambria Math"/>
                      </a:rPr>
                      <m:t>)</m:t>
                    </m:r>
                  </m:oMath>
                </a14:m>
                <a:endParaRPr lang="en-US" sz="1800" dirty="0"/>
              </a:p>
              <a:p>
                <a:pPr lvl="1" algn="just">
                  <a:spcBef>
                    <a:spcPct val="50000"/>
                  </a:spcBef>
                </a:pPr>
                <a:r>
                  <a:rPr lang="en-US" sz="1800" dirty="0"/>
                  <a:t>Vector of using values: </a:t>
                </a:r>
                <a14:m>
                  <m:oMath xmlns:m="http://schemas.openxmlformats.org/officeDocument/2006/math">
                    <m:r>
                      <a:rPr lang="en-US" sz="1800" i="1" dirty="0" smtClean="0">
                        <a:latin typeface="Cambria Math"/>
                      </a:rPr>
                      <m:t>𝐶</m:t>
                    </m:r>
                    <m:r>
                      <a:rPr lang="en-US" sz="1800" i="1" dirty="0" smtClean="0">
                        <a:latin typeface="Cambria Math"/>
                      </a:rPr>
                      <m:t>=(</m:t>
                    </m:r>
                    <m:r>
                      <a:rPr lang="en-US" sz="1800" i="1" dirty="0" smtClean="0">
                        <a:latin typeface="Cambria Math"/>
                      </a:rPr>
                      <m:t>𝑐</m:t>
                    </m:r>
                    <m:r>
                      <a:rPr lang="en-US" sz="1800" i="1" baseline="-25000" dirty="0">
                        <a:latin typeface="Cambria Math"/>
                      </a:rPr>
                      <m:t>1</m:t>
                    </m:r>
                    <m:r>
                      <a:rPr lang="en-US" sz="1800" i="1" dirty="0">
                        <a:latin typeface="Cambria Math"/>
                      </a:rPr>
                      <m:t>, </m:t>
                    </m:r>
                    <m:r>
                      <a:rPr lang="en-US" sz="1800" i="1" dirty="0">
                        <a:latin typeface="Cambria Math"/>
                      </a:rPr>
                      <m:t>𝑐</m:t>
                    </m:r>
                    <m:r>
                      <a:rPr lang="en-US" sz="1800" i="1" baseline="-25000" dirty="0">
                        <a:latin typeface="Cambria Math"/>
                      </a:rPr>
                      <m:t>2</m:t>
                    </m:r>
                    <m:r>
                      <a:rPr lang="en-US" sz="1800" i="1" dirty="0">
                        <a:latin typeface="Cambria Math"/>
                      </a:rPr>
                      <m:t>, .</m:t>
                    </m:r>
                    <m:r>
                      <a:rPr lang="en-US" sz="1800" b="0" i="1" dirty="0" smtClean="0">
                        <a:latin typeface="Cambria Math"/>
                      </a:rPr>
                      <m:t>.</m:t>
                    </m:r>
                    <m:r>
                      <a:rPr lang="en-US" sz="1800" i="1" dirty="0">
                        <a:latin typeface="Cambria Math"/>
                      </a:rPr>
                      <m:t>., </m:t>
                    </m:r>
                    <m:r>
                      <a:rPr lang="en-US" sz="1800" i="1" dirty="0" err="1">
                        <a:latin typeface="Cambria Math"/>
                      </a:rPr>
                      <m:t>𝑐</m:t>
                    </m:r>
                    <m:r>
                      <a:rPr lang="en-US" sz="1800" i="1" baseline="-25000" dirty="0" err="1">
                        <a:latin typeface="Cambria Math"/>
                      </a:rPr>
                      <m:t>𝑁</m:t>
                    </m:r>
                    <m:r>
                      <a:rPr lang="en-US" sz="1800" i="1" dirty="0">
                        <a:latin typeface="Cambria Math"/>
                      </a:rPr>
                      <m:t>)</m:t>
                    </m:r>
                  </m:oMath>
                </a14:m>
                <a:endParaRPr lang="en-US" sz="1800" dirty="0"/>
              </a:p>
              <a:p>
                <a:pPr algn="just">
                  <a:spcBef>
                    <a:spcPct val="50000"/>
                  </a:spcBef>
                </a:pPr>
                <a:r>
                  <a:rPr lang="en-US" sz="1800" b="1" dirty="0"/>
                  <a:t> Output</a:t>
                </a:r>
                <a:r>
                  <a:rPr lang="en-US" sz="1800" dirty="0"/>
                  <a:t>:</a:t>
                </a:r>
              </a:p>
              <a:p>
                <a:pPr lvl="1" algn="just">
                  <a:spcBef>
                    <a:spcPct val="50000"/>
                  </a:spcBef>
                </a:pPr>
                <a:r>
                  <a:rPr lang="en-US" sz="1800" dirty="0"/>
                  <a:t>Optimal solution: </a:t>
                </a:r>
                <a14:m>
                  <m:oMath xmlns:m="http://schemas.openxmlformats.org/officeDocument/2006/math">
                    <m:sSup>
                      <m:sSupPr>
                        <m:ctrlPr>
                          <a:rPr lang="en-US" sz="1800" i="1" dirty="0">
                            <a:latin typeface="Cambria Math" panose="02040503050406030204" pitchFamily="18" charset="0"/>
                            <a:sym typeface="Symbol" pitchFamily="18" charset="2"/>
                          </a:rPr>
                        </m:ctrlPr>
                      </m:sSupPr>
                      <m:e>
                        <m:r>
                          <a:rPr lang="en-US" sz="1800" i="1" dirty="0">
                            <a:latin typeface="Cambria Math"/>
                            <a:sym typeface="Symbol" pitchFamily="18" charset="2"/>
                          </a:rPr>
                          <m:t>𝑋</m:t>
                        </m:r>
                      </m:e>
                      <m:sup>
                        <m:r>
                          <a:rPr lang="en-US" sz="1800" i="1" dirty="0">
                            <a:latin typeface="Cambria Math"/>
                            <a:sym typeface="Symbol" pitchFamily="18" charset="2"/>
                          </a:rPr>
                          <m:t>∗</m:t>
                        </m:r>
                      </m:sup>
                    </m:sSup>
                    <m:r>
                      <a:rPr lang="en-US" sz="1800" i="1" dirty="0">
                        <a:latin typeface="Cambria Math"/>
                        <a:sym typeface="Symbol" pitchFamily="18" charset="2"/>
                      </a:rPr>
                      <m:t>=(</m:t>
                    </m:r>
                    <m:sSubSup>
                      <m:sSubSupPr>
                        <m:ctrlPr>
                          <a:rPr lang="en-US" sz="1800" i="1">
                            <a:latin typeface="Cambria Math" panose="02040503050406030204" pitchFamily="18" charset="0"/>
                          </a:rPr>
                        </m:ctrlPr>
                      </m:sSubSupPr>
                      <m:e>
                        <m:r>
                          <a:rPr lang="en-US" sz="1800" i="1">
                            <a:latin typeface="Cambria Math"/>
                          </a:rPr>
                          <m:t>𝑥</m:t>
                        </m:r>
                      </m:e>
                      <m:sub>
                        <m:r>
                          <a:rPr lang="en-US" sz="1800" i="1">
                            <a:latin typeface="Cambria Math"/>
                          </a:rPr>
                          <m:t>1</m:t>
                        </m:r>
                      </m:sub>
                      <m:sup>
                        <m:r>
                          <a:rPr lang="en-US" sz="1800" i="1">
                            <a:latin typeface="Cambria Math"/>
                          </a:rPr>
                          <m:t>∗</m:t>
                        </m:r>
                      </m:sup>
                    </m:sSubSup>
                    <m:r>
                      <a:rPr lang="en-US" sz="1800" i="1" dirty="0">
                        <a:latin typeface="Cambria Math"/>
                        <a:sym typeface="Symbol" pitchFamily="18" charset="2"/>
                      </a:rPr>
                      <m:t>,...,</m:t>
                    </m:r>
                    <m:sSubSup>
                      <m:sSubSupPr>
                        <m:ctrlPr>
                          <a:rPr lang="en-US" sz="1800" i="1">
                            <a:latin typeface="Cambria Math" panose="02040503050406030204" pitchFamily="18" charset="0"/>
                          </a:rPr>
                        </m:ctrlPr>
                      </m:sSubSupPr>
                      <m:e>
                        <m:r>
                          <a:rPr lang="en-US" sz="1800" i="1">
                            <a:latin typeface="Cambria Math"/>
                          </a:rPr>
                          <m:t>𝑥</m:t>
                        </m:r>
                      </m:e>
                      <m:sub>
                        <m:r>
                          <a:rPr lang="en-US" sz="1800" b="0" i="1" smtClean="0">
                            <a:latin typeface="Cambria Math"/>
                          </a:rPr>
                          <m:t>𝑁</m:t>
                        </m:r>
                      </m:sub>
                      <m:sup>
                        <m:r>
                          <a:rPr lang="en-US" sz="1800" i="1">
                            <a:latin typeface="Cambria Math"/>
                          </a:rPr>
                          <m:t>∗</m:t>
                        </m:r>
                      </m:sup>
                    </m:sSubSup>
                    <m:r>
                      <a:rPr lang="en-US" sz="1800" i="1" dirty="0">
                        <a:latin typeface="Cambria Math"/>
                        <a:sym typeface="Symbol" pitchFamily="18" charset="2"/>
                      </a:rPr>
                      <m:t>)</m:t>
                    </m:r>
                    <m:r>
                      <a:rPr lang="en-US" sz="1800" i="1" dirty="0" smtClean="0">
                        <a:latin typeface="Cambria Math"/>
                        <a:ea typeface="Cambria Math"/>
                        <a:sym typeface="Symbol" pitchFamily="18" charset="2"/>
                      </a:rPr>
                      <m:t>∈</m:t>
                    </m:r>
                    <m:r>
                      <a:rPr lang="en-US" sz="1800" b="0" i="1" dirty="0" smtClean="0">
                        <a:latin typeface="Cambria Math"/>
                        <a:ea typeface="Cambria Math"/>
                        <a:sym typeface="Symbol" pitchFamily="18" charset="2"/>
                      </a:rPr>
                      <m:t>𝐷</m:t>
                    </m:r>
                  </m:oMath>
                </a14:m>
                <a:r>
                  <a:rPr lang="en-US" sz="1800" dirty="0">
                    <a:sym typeface="Symbol" pitchFamily="18" charset="2"/>
                  </a:rPr>
                  <a:t> so that</a:t>
                </a:r>
                <a:r>
                  <a:rPr lang="en-US" sz="1800" dirty="0"/>
                  <a:t> </a:t>
                </a:r>
                <a14:m>
                  <m:oMath xmlns:m="http://schemas.openxmlformats.org/officeDocument/2006/math">
                    <m:r>
                      <m:rPr>
                        <m:sty m:val="p"/>
                      </m:rPr>
                      <a:rPr lang="en-US" sz="1800" b="0" i="0" dirty="0" smtClean="0">
                        <a:latin typeface="Cambria Math"/>
                        <a:sym typeface="Symbol" pitchFamily="18" charset="2"/>
                      </a:rPr>
                      <m:t>f</m:t>
                    </m:r>
                    <m:r>
                      <a:rPr lang="en-US" sz="1800" b="0" i="0" dirty="0" smtClean="0">
                        <a:latin typeface="Cambria Math"/>
                        <a:sym typeface="Symbol" pitchFamily="18" charset="2"/>
                      </a:rPr>
                      <m:t>(</m:t>
                    </m:r>
                    <m:sSup>
                      <m:sSupPr>
                        <m:ctrlPr>
                          <a:rPr lang="en-US" sz="1800" i="1" dirty="0">
                            <a:latin typeface="Cambria Math" panose="02040503050406030204" pitchFamily="18" charset="0"/>
                            <a:sym typeface="Symbol" pitchFamily="18" charset="2"/>
                          </a:rPr>
                        </m:ctrlPr>
                      </m:sSupPr>
                      <m:e>
                        <m:r>
                          <a:rPr lang="en-US" sz="1800" i="1" dirty="0">
                            <a:latin typeface="Cambria Math"/>
                            <a:sym typeface="Symbol" pitchFamily="18" charset="2"/>
                          </a:rPr>
                          <m:t>𝑋</m:t>
                        </m:r>
                      </m:e>
                      <m:sup>
                        <m:r>
                          <a:rPr lang="en-US" sz="1800" i="1" dirty="0">
                            <a:latin typeface="Cambria Math"/>
                            <a:sym typeface="Symbol" pitchFamily="18" charset="2"/>
                          </a:rPr>
                          <m:t>∗</m:t>
                        </m:r>
                      </m:sup>
                    </m:sSup>
                    <m:r>
                      <a:rPr lang="en-US" sz="1800" b="0" i="1" dirty="0" smtClean="0">
                        <a:latin typeface="Cambria Math"/>
                        <a:sym typeface="Symbol" pitchFamily="18" charset="2"/>
                      </a:rPr>
                      <m:t>)</m:t>
                    </m:r>
                  </m:oMath>
                </a14:m>
                <a:r>
                  <a:rPr lang="en-US" sz="1800" dirty="0"/>
                  <a:t> is the biggest</a:t>
                </a:r>
              </a:p>
              <a:p>
                <a:pPr lvl="1" algn="just">
                  <a:spcBef>
                    <a:spcPct val="50000"/>
                  </a:spcBef>
                </a:pPr>
                <a:r>
                  <a:rPr lang="en-US" sz="1800" dirty="0"/>
                  <a:t>Optimal value: </a:t>
                </a:r>
                <a14:m>
                  <m:oMath xmlns:m="http://schemas.openxmlformats.org/officeDocument/2006/math">
                    <m:r>
                      <m:rPr>
                        <m:sty m:val="p"/>
                      </m:rPr>
                      <a:rPr lang="en-US" sz="1800" dirty="0">
                        <a:latin typeface="Cambria Math"/>
                        <a:sym typeface="Symbol" pitchFamily="18" charset="2"/>
                      </a:rPr>
                      <m:t>f</m:t>
                    </m:r>
                    <m:r>
                      <a:rPr lang="en-US" sz="1800" dirty="0">
                        <a:latin typeface="Cambria Math"/>
                        <a:sym typeface="Symbol" pitchFamily="18" charset="2"/>
                      </a:rPr>
                      <m:t>(</m:t>
                    </m:r>
                    <m:sSup>
                      <m:sSupPr>
                        <m:ctrlPr>
                          <a:rPr lang="en-US" sz="1800" i="1" dirty="0">
                            <a:latin typeface="Cambria Math" panose="02040503050406030204" pitchFamily="18" charset="0"/>
                            <a:sym typeface="Symbol" pitchFamily="18" charset="2"/>
                          </a:rPr>
                        </m:ctrlPr>
                      </m:sSupPr>
                      <m:e>
                        <m:r>
                          <a:rPr lang="en-US" sz="1800" i="1" dirty="0">
                            <a:latin typeface="Cambria Math"/>
                            <a:sym typeface="Symbol" pitchFamily="18" charset="2"/>
                          </a:rPr>
                          <m:t>𝑋</m:t>
                        </m:r>
                      </m:e>
                      <m:sup>
                        <m:r>
                          <a:rPr lang="en-US" sz="1800" i="1" dirty="0">
                            <a:latin typeface="Cambria Math"/>
                            <a:sym typeface="Symbol" pitchFamily="18" charset="2"/>
                          </a:rPr>
                          <m:t>∗</m:t>
                        </m:r>
                      </m:sup>
                    </m:sSup>
                    <m:r>
                      <a:rPr lang="en-US" sz="1800" i="1" dirty="0">
                        <a:latin typeface="Cambria Math"/>
                        <a:sym typeface="Symbol" pitchFamily="18" charset="2"/>
                      </a:rPr>
                      <m:t>)</m:t>
                    </m:r>
                  </m:oMath>
                </a14:m>
                <a:endParaRPr lang="en-US" sz="1800"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74" t="-617" r="-593"/>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69221214"/>
              </p:ext>
            </p:extLst>
          </p:nvPr>
        </p:nvGraphicFramePr>
        <p:xfrm>
          <a:off x="1905000" y="4953000"/>
          <a:ext cx="5737225" cy="887413"/>
        </p:xfrm>
        <a:graphic>
          <a:graphicData uri="http://schemas.openxmlformats.org/presentationml/2006/ole">
            <mc:AlternateContent xmlns:mc="http://schemas.openxmlformats.org/markup-compatibility/2006">
              <mc:Choice xmlns:v="urn:schemas-microsoft-com:vml" Requires="v">
                <p:oleObj spid="_x0000_s3096" name="Equation" r:id="rId4" imgW="2959100" imgH="457200" progId="Equation.3">
                  <p:embed/>
                </p:oleObj>
              </mc:Choice>
              <mc:Fallback>
                <p:oleObj name="Equation" r:id="rId4" imgW="2959100" imgH="4572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953000"/>
                        <a:ext cx="5737225"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184736872"/>
              </p:ext>
            </p:extLst>
          </p:nvPr>
        </p:nvGraphicFramePr>
        <p:xfrm>
          <a:off x="2362200" y="5575300"/>
          <a:ext cx="2957512" cy="977900"/>
        </p:xfrm>
        <a:graphic>
          <a:graphicData uri="http://schemas.openxmlformats.org/presentationml/2006/ole">
            <mc:AlternateContent xmlns:mc="http://schemas.openxmlformats.org/markup-compatibility/2006">
              <mc:Choice xmlns:v="urn:schemas-microsoft-com:vml" Requires="v">
                <p:oleObj spid="_x0000_s3097" name="Equation" r:id="rId6" imgW="1307532" imgH="431613" progId="Equation.3">
                  <p:embed/>
                </p:oleObj>
              </mc:Choice>
              <mc:Fallback>
                <p:oleObj name="Equation" r:id="rId6" imgW="1307532" imgH="431613"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5575300"/>
                        <a:ext cx="2957512"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 Box 12"/>
              <p:cNvSpPr txBox="1">
                <a:spLocks noChangeArrowheads="1"/>
              </p:cNvSpPr>
              <p:nvPr/>
            </p:nvSpPr>
            <p:spPr bwMode="auto">
              <a:xfrm>
                <a:off x="5539740" y="5867400"/>
                <a:ext cx="1219200" cy="3667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err="1"/>
                  <a:t>với</a:t>
                </a:r>
                <a:r>
                  <a:rPr lang="en-US" dirty="0"/>
                  <a:t> </a:t>
                </a:r>
                <a14:m>
                  <m:oMath xmlns:m="http://schemas.openxmlformats.org/officeDocument/2006/math">
                    <m:r>
                      <a:rPr lang="en-US" i="1" dirty="0" smtClean="0">
                        <a:latin typeface="Cambria Math"/>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oMath>
                </a14:m>
                <a:endParaRPr lang="en-US" dirty="0">
                  <a:sym typeface="Symbol" pitchFamily="18" charset="2"/>
                </a:endParaRPr>
              </a:p>
            </p:txBody>
          </p:sp>
        </mc:Choice>
        <mc:Fallback xmlns="">
          <p:sp>
            <p:nvSpPr>
              <p:cNvPr id="8" name="Text Box 12"/>
              <p:cNvSpPr txBox="1">
                <a:spLocks noRot="1" noChangeAspect="1" noMove="1" noResize="1" noEditPoints="1" noAdjustHandles="1" noChangeArrowheads="1" noChangeShapeType="1" noTextEdit="1"/>
              </p:cNvSpPr>
              <p:nvPr/>
            </p:nvSpPr>
            <p:spPr bwMode="auto">
              <a:xfrm>
                <a:off x="5539740" y="5867400"/>
                <a:ext cx="1219200" cy="366713"/>
              </a:xfrm>
              <a:prstGeom prst="rect">
                <a:avLst/>
              </a:prstGeom>
              <a:blipFill rotWithShape="1">
                <a:blip r:embed="rId8"/>
                <a:stretch>
                  <a:fillRect l="-4500" t="-8333"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58545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(1/4)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The tourist problem</a:t>
                </a:r>
                <a:r>
                  <a:rPr lang="en-US" dirty="0"/>
                  <a:t>: A tourist wants to visit N cities </a:t>
                </a:r>
                <a14:m>
                  <m:oMath xmlns:m="http://schemas.openxmlformats.org/officeDocument/2006/math">
                    <m:r>
                      <a:rPr lang="en-US" i="1" dirty="0" smtClean="0">
                        <a:latin typeface="Cambria Math"/>
                      </a:rPr>
                      <m:t>𝑇</m:t>
                    </m:r>
                    <m:r>
                      <a:rPr lang="en-US" i="1" baseline="-25000" dirty="0">
                        <a:latin typeface="Cambria Math"/>
                      </a:rPr>
                      <m:t>1</m:t>
                    </m:r>
                    <m:r>
                      <a:rPr lang="en-US" i="1" dirty="0">
                        <a:latin typeface="Cambria Math"/>
                      </a:rPr>
                      <m:t>, </m:t>
                    </m:r>
                    <m:r>
                      <a:rPr lang="en-US" i="1" dirty="0">
                        <a:latin typeface="Cambria Math"/>
                      </a:rPr>
                      <m:t>𝑇</m:t>
                    </m:r>
                    <m:r>
                      <a:rPr lang="en-US" i="1" baseline="-25000" dirty="0">
                        <a:latin typeface="Cambria Math"/>
                      </a:rPr>
                      <m:t>2</m:t>
                    </m:r>
                    <m:r>
                      <a:rPr lang="en-US" i="1" dirty="0">
                        <a:latin typeface="Cambria Math"/>
                      </a:rPr>
                      <m:t>,.</m:t>
                    </m:r>
                    <m:r>
                      <a:rPr lang="en-US" b="0" i="1" dirty="0" smtClean="0">
                        <a:latin typeface="Cambria Math"/>
                      </a:rPr>
                      <m:t>.</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𝑇</m:t>
                        </m:r>
                      </m:e>
                      <m:sub>
                        <m:r>
                          <a:rPr lang="en-US" b="0" i="1" dirty="0" smtClean="0">
                            <a:latin typeface="Cambria Math"/>
                          </a:rPr>
                          <m:t>𝑁</m:t>
                        </m:r>
                      </m:sub>
                    </m:sSub>
                  </m:oMath>
                </a14:m>
                <a:r>
                  <a:rPr lang="en-US" dirty="0"/>
                  <a:t>. Starting in a certain city, the traveler wants to go through all the remaining cities exactly once and then return to the original city. Know that </a:t>
                </a:r>
                <a14:m>
                  <m:oMath xmlns:m="http://schemas.openxmlformats.org/officeDocument/2006/math">
                    <m:r>
                      <a:rPr lang="en-US" i="1" dirty="0" smtClean="0">
                        <a:latin typeface="Cambria Math"/>
                      </a:rPr>
                      <m:t>𝑐</m:t>
                    </m:r>
                    <m:r>
                      <a:rPr lang="en-US" i="1" baseline="-25000" dirty="0" err="1">
                        <a:latin typeface="Cambria Math"/>
                      </a:rPr>
                      <m:t>𝑖𝑗</m:t>
                    </m:r>
                  </m:oMath>
                </a14:m>
                <a:r>
                  <a:rPr lang="en-US" dirty="0"/>
                  <a:t> is the cost of travelling from city </a:t>
                </a:r>
                <a14:m>
                  <m:oMath xmlns:m="http://schemas.openxmlformats.org/officeDocument/2006/math">
                    <m:r>
                      <a:rPr lang="en-US" i="1" dirty="0" smtClean="0">
                        <a:latin typeface="Cambria Math"/>
                      </a:rPr>
                      <m:t>𝑇</m:t>
                    </m:r>
                    <m:r>
                      <a:rPr lang="en-US" i="1" baseline="-25000" dirty="0">
                        <a:latin typeface="Cambria Math"/>
                      </a:rPr>
                      <m:t>𝑖</m:t>
                    </m:r>
                  </m:oMath>
                </a14:m>
                <a:r>
                  <a:rPr lang="en-US" dirty="0"/>
                  <a:t> to city </a:t>
                </a:r>
                <a14:m>
                  <m:oMath xmlns:m="http://schemas.openxmlformats.org/officeDocument/2006/math">
                    <m:r>
                      <a:rPr lang="en-US" i="1" dirty="0" smtClean="0">
                        <a:latin typeface="Cambria Math"/>
                      </a:rPr>
                      <m:t>𝑇</m:t>
                    </m:r>
                    <m:r>
                      <a:rPr lang="en-US" i="1" baseline="-25000" dirty="0" err="1">
                        <a:latin typeface="Cambria Math"/>
                      </a:rPr>
                      <m:t>𝑗</m:t>
                    </m:r>
                  </m:oMath>
                </a14:m>
                <a:r>
                  <a:rPr lang="en-US" dirty="0"/>
                  <a:t>. Find a route for the traveler so that the total cost is the lowest.</a:t>
                </a:r>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180060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sym typeface="Symbol" pitchFamily="18" charset="2"/>
                  </a:rPr>
                  <a:t>Set of solutions: </a:t>
                </a:r>
                <a:r>
                  <a:rPr lang="en-US" dirty="0">
                    <a:sym typeface="Symbol" pitchFamily="18" charset="2"/>
                  </a:rPr>
                  <a:t>Without limiting the generality of the problem, we fixed the starting point as the city </a:t>
                </a:r>
                <a14:m>
                  <m:oMath xmlns:m="http://schemas.openxmlformats.org/officeDocument/2006/math">
                    <m:r>
                      <a:rPr lang="en-US" i="1" dirty="0" smtClean="0">
                        <a:latin typeface="Cambria Math"/>
                        <a:sym typeface="Symbol" pitchFamily="18" charset="2"/>
                      </a:rPr>
                      <m:t>𝑇</m:t>
                    </m:r>
                    <m:r>
                      <a:rPr lang="en-US" i="1" baseline="-25000" dirty="0">
                        <a:latin typeface="Cambria Math"/>
                        <a:sym typeface="Symbol" pitchFamily="18" charset="2"/>
                      </a:rPr>
                      <m:t>1</m:t>
                    </m:r>
                    <m:r>
                      <a:rPr lang="en-US" i="1" dirty="0">
                        <a:latin typeface="Cambria Math"/>
                        <a:sym typeface="Symbol" pitchFamily="18" charset="2"/>
                      </a:rPr>
                      <m:t>= 1</m:t>
                    </m:r>
                  </m:oMath>
                </a14:m>
                <a:r>
                  <a:rPr lang="en-US" dirty="0">
                    <a:sym typeface="Symbol" pitchFamily="18" charset="2"/>
                  </a:rPr>
                  <a:t>. Then, each journey of the traveler </a:t>
                </a:r>
                <a14:m>
                  <m:oMath xmlns:m="http://schemas.openxmlformats.org/officeDocument/2006/math">
                    <m:r>
                      <a:rPr lang="en-US" i="1" dirty="0" smtClean="0">
                        <a:latin typeface="Cambria Math"/>
                        <a:sym typeface="Symbol" pitchFamily="18" charset="2"/>
                      </a:rPr>
                      <m:t>𝑇</m:t>
                    </m:r>
                    <m:r>
                      <a:rPr lang="en-US" i="1" baseline="-25000" dirty="0">
                        <a:latin typeface="Cambria Math"/>
                        <a:sym typeface="Symbol" pitchFamily="18" charset="2"/>
                      </a:rPr>
                      <m:t>1</m:t>
                    </m:r>
                    <m:r>
                      <a:rPr lang="en-US" i="1" dirty="0">
                        <a:latin typeface="Cambria Math"/>
                        <a:sym typeface="Symbol" pitchFamily="18" charset="2"/>
                      </a:rPr>
                      <m:t></m:t>
                    </m:r>
                    <m:r>
                      <a:rPr lang="en-US" i="1" dirty="0">
                        <a:latin typeface="Cambria Math"/>
                        <a:sym typeface="Symbol" pitchFamily="18" charset="2"/>
                      </a:rPr>
                      <m:t>𝑇</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 </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𝑇</m:t>
                        </m:r>
                      </m:e>
                      <m:sub>
                        <m:r>
                          <a:rPr lang="en-US" b="0" i="1" dirty="0" smtClean="0">
                            <a:latin typeface="Cambria Math"/>
                            <a:sym typeface="Symbol" pitchFamily="18" charset="2"/>
                          </a:rPr>
                          <m:t>𝑁</m:t>
                        </m:r>
                      </m:sub>
                    </m:sSub>
                    <m:r>
                      <a:rPr lang="en-US" i="1" dirty="0">
                        <a:latin typeface="Cambria Math"/>
                        <a:sym typeface="Symbol" pitchFamily="18" charset="2"/>
                      </a:rPr>
                      <m:t> </m:t>
                    </m:r>
                    <m:r>
                      <a:rPr lang="en-US" i="1" dirty="0">
                        <a:latin typeface="Cambria Math"/>
                        <a:sym typeface="Symbol" pitchFamily="18" charset="2"/>
                      </a:rPr>
                      <m:t>𝑇</m:t>
                    </m:r>
                    <m:r>
                      <a:rPr lang="en-US" i="1" baseline="-25000" dirty="0">
                        <a:latin typeface="Cambria Math"/>
                        <a:sym typeface="Symbol" pitchFamily="18" charset="2"/>
                      </a:rPr>
                      <m:t>1 </m:t>
                    </m:r>
                  </m:oMath>
                </a14:m>
                <a:r>
                  <a:rPr lang="en-US" dirty="0">
                    <a:sym typeface="Symbol" pitchFamily="18" charset="2"/>
                  </a:rPr>
                  <a:t>is considered as a permutation of </a:t>
                </a:r>
                <a14:m>
                  <m:oMath xmlns:m="http://schemas.openxmlformats.org/officeDocument/2006/math">
                    <m:r>
                      <a:rPr lang="en-US" i="1" dirty="0" smtClean="0">
                        <a:latin typeface="Cambria Math"/>
                        <a:sym typeface="Symbol" pitchFamily="18" charset="2"/>
                      </a:rPr>
                      <m:t>1,2,…, </m:t>
                    </m:r>
                    <m:r>
                      <a:rPr lang="en-US" i="1" dirty="0">
                        <a:latin typeface="Cambria Math"/>
                        <a:sym typeface="Symbol" pitchFamily="18" charset="2"/>
                      </a:rPr>
                      <m:t>𝑁</m:t>
                    </m:r>
                  </m:oMath>
                </a14:m>
                <a:r>
                  <a:rPr lang="en-US" dirty="0">
                    <a:sym typeface="Symbol" pitchFamily="18" charset="2"/>
                  </a:rPr>
                  <a:t> is </a:t>
                </a:r>
                <a14:m>
                  <m:oMath xmlns:m="http://schemas.openxmlformats.org/officeDocument/2006/math">
                    <m:r>
                      <a:rPr lang="en-US" i="1" dirty="0" smtClean="0">
                        <a:latin typeface="Cambria Math"/>
                        <a:sym typeface="Symbol" pitchFamily="18" charset="2"/>
                      </a:rPr>
                      <m:t>𝑋</m:t>
                    </m:r>
                    <m:r>
                      <a:rPr lang="en-US" i="1" dirty="0" smtClean="0">
                        <a:latin typeface="Cambria Math"/>
                        <a:sym typeface="Symbol" pitchFamily="18" charset="2"/>
                      </a:rPr>
                      <m:t>=(</m:t>
                    </m:r>
                    <m:r>
                      <a:rPr lang="en-US" i="1" dirty="0" smtClean="0">
                        <a:latin typeface="Cambria Math"/>
                        <a:sym typeface="Symbol" pitchFamily="18" charset="2"/>
                      </a:rPr>
                      <m:t>𝑥</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𝑥</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𝑁</m:t>
                        </m:r>
                      </m:sub>
                    </m:sSub>
                    <m:r>
                      <a:rPr lang="en-US" i="1" dirty="0">
                        <a:latin typeface="Cambria Math"/>
                        <a:sym typeface="Symbol" pitchFamily="18" charset="2"/>
                      </a:rPr>
                      <m:t>)</m:t>
                    </m:r>
                  </m:oMath>
                </a14:m>
                <a:r>
                  <a:rPr lang="en-US" dirty="0">
                    <a:sym typeface="Symbol" pitchFamily="18" charset="2"/>
                  </a:rPr>
                  <a:t>, where </a:t>
                </a:r>
                <a14:m>
                  <m:oMath xmlns:m="http://schemas.openxmlformats.org/officeDocument/2006/math">
                    <m:r>
                      <a:rPr lang="en-US" i="1" dirty="0" smtClean="0">
                        <a:latin typeface="Cambria Math"/>
                        <a:sym typeface="Symbol" pitchFamily="18" charset="2"/>
                      </a:rPr>
                      <m:t>𝑥</m:t>
                    </m:r>
                    <m:r>
                      <a:rPr lang="en-US" i="1" baseline="-25000" dirty="0" smtClean="0">
                        <a:latin typeface="Cambria Math"/>
                        <a:sym typeface="Symbol" pitchFamily="18" charset="2"/>
                      </a:rPr>
                      <m:t>1</m:t>
                    </m:r>
                    <m:r>
                      <a:rPr lang="en-US" i="1" dirty="0" smtClean="0">
                        <a:latin typeface="Cambria Math"/>
                        <a:sym typeface="Symbol" pitchFamily="18" charset="2"/>
                      </a:rPr>
                      <m:t>=1</m:t>
                    </m:r>
                  </m:oMath>
                </a14:m>
                <a:r>
                  <a:rPr lang="en-US" dirty="0">
                    <a:sym typeface="Symbol" pitchFamily="18" charset="2"/>
                  </a:rPr>
                  <a:t>. So, the set of solutions </a:t>
                </a:r>
                <a14:m>
                  <m:oMath xmlns:m="http://schemas.openxmlformats.org/officeDocument/2006/math">
                    <m:r>
                      <a:rPr lang="en-US" i="1" dirty="0" smtClean="0">
                        <a:latin typeface="Cambria Math"/>
                        <a:sym typeface="Symbol" pitchFamily="18" charset="2"/>
                      </a:rPr>
                      <m:t>𝐷</m:t>
                    </m:r>
                  </m:oMath>
                </a14:m>
                <a:r>
                  <a:rPr lang="en-US" dirty="0">
                    <a:sym typeface="Symbol" pitchFamily="18" charset="2"/>
                  </a:rPr>
                  <a:t> of problem is the set of permutations </a:t>
                </a:r>
                <a14:m>
                  <m:oMath xmlns:m="http://schemas.openxmlformats.org/officeDocument/2006/math">
                    <m:r>
                      <a:rPr lang="en-US" i="1" dirty="0" smtClean="0">
                        <a:latin typeface="Cambria Math"/>
                        <a:sym typeface="Symbol" pitchFamily="18" charset="2"/>
                      </a:rPr>
                      <m:t>𝑋</m:t>
                    </m:r>
                    <m:r>
                      <a:rPr lang="en-US" i="1" dirty="0" smtClean="0">
                        <a:latin typeface="Cambria Math"/>
                        <a:sym typeface="Symbol" pitchFamily="18" charset="2"/>
                      </a:rPr>
                      <m:t>=</m:t>
                    </m:r>
                    <m:d>
                      <m:dPr>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𝑥</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𝑥</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𝑁</m:t>
                            </m:r>
                          </m:sub>
                        </m:sSub>
                      </m:e>
                    </m:d>
                  </m:oMath>
                </a14:m>
                <a:r>
                  <a:rPr lang="en-US" dirty="0">
                    <a:sym typeface="Symbol" pitchFamily="18" charset="2"/>
                  </a:rPr>
                  <a:t> with </a:t>
                </a:r>
                <a14:m>
                  <m:oMath xmlns:m="http://schemas.openxmlformats.org/officeDocument/2006/math">
                    <m:r>
                      <a:rPr lang="en-US" i="1" dirty="0" smtClean="0">
                        <a:latin typeface="Cambria Math"/>
                        <a:sym typeface="Symbol" pitchFamily="18" charset="2"/>
                      </a:rPr>
                      <m:t>𝑥</m:t>
                    </m:r>
                    <m:r>
                      <a:rPr lang="en-US" i="1" baseline="-25000" dirty="0">
                        <a:latin typeface="Cambria Math"/>
                        <a:sym typeface="Symbol" pitchFamily="18" charset="2"/>
                      </a:rPr>
                      <m:t>1</m:t>
                    </m:r>
                    <m:r>
                      <a:rPr lang="en-US" i="1" dirty="0" smtClean="0">
                        <a:latin typeface="Cambria Math"/>
                        <a:sym typeface="Symbol" pitchFamily="18" charset="2"/>
                      </a:rPr>
                      <m:t>=</m:t>
                    </m:r>
                    <m:r>
                      <a:rPr lang="en-US" i="1" dirty="0">
                        <a:latin typeface="Cambria Math"/>
                        <a:sym typeface="Symbol" pitchFamily="18" charset="2"/>
                      </a:rPr>
                      <m:t>1</m:t>
                    </m:r>
                  </m:oMath>
                </a14:m>
                <a:r>
                  <a:rPr lang="en-US" dirty="0">
                    <a:sym typeface="Symbol" pitchFamily="18" charset="2"/>
                  </a:rPr>
                  <a:t>.</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988" r="-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4146687593"/>
              </p:ext>
            </p:extLst>
          </p:nvPr>
        </p:nvGraphicFramePr>
        <p:xfrm>
          <a:off x="953" y="4038600"/>
          <a:ext cx="9166225" cy="573087"/>
        </p:xfrm>
        <a:graphic>
          <a:graphicData uri="http://schemas.openxmlformats.org/presentationml/2006/ole">
            <mc:AlternateContent xmlns:mc="http://schemas.openxmlformats.org/markup-compatibility/2006">
              <mc:Choice xmlns:v="urn:schemas-microsoft-com:vml" Requires="v">
                <p:oleObj spid="_x0000_s4109" name="Equation" r:id="rId4" imgW="3860640" imgH="241200" progId="Equation.3">
                  <p:embed/>
                </p:oleObj>
              </mc:Choice>
              <mc:Fallback>
                <p:oleObj name="Equation" r:id="rId4" imgW="3860640" imgH="241200" progId="Equation.3">
                  <p:embed/>
                  <p:pic>
                    <p:nvPicPr>
                      <p:cNvPr id="0" name="Object 14"/>
                      <p:cNvPicPr>
                        <a:picLocks noChangeAspect="1" noChangeArrowheads="1"/>
                      </p:cNvPicPr>
                      <p:nvPr/>
                    </p:nvPicPr>
                    <p:blipFill>
                      <a:blip r:embed="rId5"/>
                      <a:srcRect/>
                      <a:stretch>
                        <a:fillRect/>
                      </a:stretch>
                    </p:blipFill>
                    <p:spPr bwMode="auto">
                      <a:xfrm>
                        <a:off x="953" y="4038600"/>
                        <a:ext cx="9166225"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79904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(3/4)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382000" cy="4937760"/>
              </a:xfrm>
              <a:ln>
                <a:solidFill>
                  <a:schemeClr val="accent1"/>
                </a:solidFill>
              </a:ln>
            </p:spPr>
            <p:txBody>
              <a:bodyPr/>
              <a:lstStyle/>
              <a:p>
                <a:pPr algn="just"/>
                <a:r>
                  <a:rPr lang="en-US" b="1" dirty="0">
                    <a:sym typeface="Symbol" pitchFamily="18" charset="2"/>
                  </a:rPr>
                  <a:t>Target function</a:t>
                </a:r>
                <a:r>
                  <a:rPr lang="en-US" dirty="0">
                    <a:sym typeface="Symbol" pitchFamily="18" charset="2"/>
                  </a:rPr>
                  <a:t>: For each solution </a:t>
                </a:r>
                <a14:m>
                  <m:oMath xmlns:m="http://schemas.openxmlformats.org/officeDocument/2006/math">
                    <m:r>
                      <a:rPr lang="en-US" i="1" dirty="0" smtClean="0">
                        <a:latin typeface="Cambria Math"/>
                        <a:sym typeface="Symbol" pitchFamily="18" charset="2"/>
                      </a:rPr>
                      <m:t>𝑋</m:t>
                    </m:r>
                    <m:r>
                      <a:rPr lang="en-US" i="1" dirty="0" smtClean="0">
                        <a:latin typeface="Cambria Math"/>
                        <a:sym typeface="Symbol" pitchFamily="18" charset="2"/>
                      </a:rPr>
                      <m:t>=(</m:t>
                    </m:r>
                    <m:r>
                      <a:rPr lang="en-US" i="1" dirty="0" smtClean="0">
                        <a:latin typeface="Cambria Math"/>
                        <a:sym typeface="Symbol" pitchFamily="18" charset="2"/>
                      </a:rPr>
                      <m:t>𝑥</m:t>
                    </m:r>
                    <m:r>
                      <a:rPr lang="en-US" i="1" baseline="-25000" dirty="0">
                        <a:latin typeface="Cambria Math"/>
                        <a:sym typeface="Symbol" pitchFamily="18" charset="2"/>
                      </a:rPr>
                      <m:t>1</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𝑁</m:t>
                        </m:r>
                      </m:sub>
                    </m:sSub>
                    <m:r>
                      <a:rPr lang="en-US" i="1" dirty="0">
                        <a:latin typeface="Cambria Math"/>
                        <a:sym typeface="Symbol" pitchFamily="18" charset="2"/>
                      </a:rPr>
                      <m:t>)∈</m:t>
                    </m:r>
                    <m:r>
                      <a:rPr lang="en-US" i="1" dirty="0">
                        <a:latin typeface="Cambria Math"/>
                        <a:sym typeface="Symbol" pitchFamily="18" charset="2"/>
                      </a:rPr>
                      <m:t>𝐷</m:t>
                    </m:r>
                  </m:oMath>
                </a14:m>
                <a:r>
                  <a:rPr lang="en-US" dirty="0">
                    <a:sym typeface="Symbol" pitchFamily="18" charset="2"/>
                  </a:rPr>
                  <a:t>, the travel cost from city </a:t>
                </a:r>
                <a14:m>
                  <m:oMath xmlns:m="http://schemas.openxmlformats.org/officeDocument/2006/math">
                    <m:r>
                      <a:rPr lang="en-US" i="1" dirty="0" smtClean="0">
                        <a:latin typeface="Cambria Math"/>
                        <a:sym typeface="Symbol" pitchFamily="18" charset="2"/>
                      </a:rPr>
                      <m:t>𝑖</m:t>
                    </m:r>
                  </m:oMath>
                </a14:m>
                <a:r>
                  <a:rPr lang="en-US" dirty="0">
                    <a:sym typeface="Symbol" pitchFamily="18" charset="2"/>
                  </a:rPr>
                  <a:t> to city </a:t>
                </a:r>
                <a14:m>
                  <m:oMath xmlns:m="http://schemas.openxmlformats.org/officeDocument/2006/math">
                    <m:r>
                      <a:rPr lang="en-US" b="0" i="1" dirty="0" smtClean="0">
                        <a:latin typeface="Cambria Math" panose="02040503050406030204" pitchFamily="18" charset="0"/>
                        <a:sym typeface="Symbol" pitchFamily="18" charset="2"/>
                      </a:rPr>
                      <m:t>𝑖</m:t>
                    </m:r>
                    <m:r>
                      <a:rPr lang="en-US" b="0" i="1" dirty="0" smtClean="0">
                        <a:latin typeface="Cambria Math" panose="02040503050406030204" pitchFamily="18" charset="0"/>
                        <a:sym typeface="Symbol" pitchFamily="18" charset="2"/>
                      </a:rPr>
                      <m:t>+1</m:t>
                    </m:r>
                  </m:oMath>
                </a14:m>
                <a:r>
                  <a:rPr lang="en-US" dirty="0">
                    <a:sym typeface="Symbol" pitchFamily="18" charset="2"/>
                  </a:rPr>
                  <a:t> is </a:t>
                </a:r>
                <a14:m>
                  <m:oMath xmlns:m="http://schemas.openxmlformats.org/officeDocument/2006/math">
                    <m:r>
                      <a:rPr lang="en-US" i="1" dirty="0" smtClean="0">
                        <a:latin typeface="Cambria Math"/>
                        <a:sym typeface="Symbol" pitchFamily="18" charset="2"/>
                      </a:rPr>
                      <m:t>𝐶</m:t>
                    </m:r>
                    <m:r>
                      <a:rPr lang="en-US" i="1" dirty="0" smtClean="0">
                        <a:latin typeface="Cambria Math"/>
                        <a:sym typeface="Symbol" pitchFamily="18" charset="2"/>
                      </a:rPr>
                      <m:t>[</m:t>
                    </m:r>
                    <m:r>
                      <a:rPr lang="en-US" i="1" dirty="0" smtClean="0">
                        <a:latin typeface="Cambria Math"/>
                        <a:sym typeface="Symbol" pitchFamily="18" charset="2"/>
                      </a:rPr>
                      <m:t>𝑋</m:t>
                    </m:r>
                    <m:r>
                      <a:rPr lang="en-US" i="1" dirty="0" smtClean="0">
                        <a:latin typeface="Cambria Math"/>
                        <a:sym typeface="Symbol" pitchFamily="18" charset="2"/>
                      </a:rPr>
                      <m:t>[</m:t>
                    </m:r>
                    <m:r>
                      <a:rPr lang="en-US" i="1" dirty="0" smtClean="0">
                        <a:latin typeface="Cambria Math"/>
                        <a:sym typeface="Symbol" pitchFamily="18" charset="2"/>
                      </a:rPr>
                      <m:t>𝑖</m:t>
                    </m:r>
                    <m:r>
                      <a:rPr lang="en-US" i="1" dirty="0" smtClean="0">
                        <a:latin typeface="Cambria Math"/>
                        <a:sym typeface="Symbol" pitchFamily="18" charset="2"/>
                      </a:rPr>
                      <m:t>]][</m:t>
                    </m:r>
                    <m:r>
                      <a:rPr lang="en-US" i="1" dirty="0" smtClean="0">
                        <a:latin typeface="Cambria Math"/>
                        <a:sym typeface="Symbol" pitchFamily="18" charset="2"/>
                      </a:rPr>
                      <m:t>𝑋</m:t>
                    </m:r>
                    <m:d>
                      <m:dPr>
                        <m:begChr m:val="["/>
                        <m:endChr m:val="]"/>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𝑖</m:t>
                        </m:r>
                        <m:r>
                          <a:rPr lang="en-US" i="1" dirty="0" smtClean="0">
                            <a:latin typeface="Cambria Math"/>
                            <a:sym typeface="Symbol" pitchFamily="18" charset="2"/>
                          </a:rPr>
                          <m:t>+1</m:t>
                        </m:r>
                      </m:e>
                    </m:d>
                    <m:r>
                      <a:rPr lang="en-US" b="0" i="1" dirty="0" smtClean="0">
                        <a:latin typeface="Cambria Math"/>
                        <a:sym typeface="Symbol" pitchFamily="18" charset="2"/>
                      </a:rPr>
                      <m:t>]</m:t>
                    </m:r>
                    <m:r>
                      <a:rPr lang="en-US" i="1" dirty="0" smtClean="0">
                        <a:latin typeface="Cambria Math"/>
                        <a:sym typeface="Symbol" pitchFamily="18" charset="2"/>
                      </a:rPr>
                      <m:t> (</m:t>
                    </m:r>
                    <m:r>
                      <a:rPr lang="en-US" i="1" dirty="0" smtClean="0">
                        <a:latin typeface="Cambria Math"/>
                        <a:sym typeface="Symbol" pitchFamily="18" charset="2"/>
                      </a:rPr>
                      <m:t>𝑖</m:t>
                    </m:r>
                    <m:r>
                      <a:rPr lang="en-US" i="1" dirty="0" smtClean="0">
                        <a:latin typeface="Cambria Math"/>
                        <a:sym typeface="Symbol" pitchFamily="18" charset="2"/>
                      </a:rPr>
                      <m:t>=1, 2,..., </m:t>
                    </m:r>
                    <m:r>
                      <a:rPr lang="en-US" i="1" dirty="0" smtClean="0">
                        <a:latin typeface="Cambria Math"/>
                        <a:sym typeface="Symbol" pitchFamily="18" charset="2"/>
                      </a:rPr>
                      <m:t>𝑁</m:t>
                    </m:r>
                    <m:r>
                      <a:rPr lang="en-US" i="1" dirty="0" smtClean="0">
                        <a:latin typeface="Cambria Math"/>
                        <a:sym typeface="Symbol" pitchFamily="18" charset="2"/>
                      </a:rPr>
                      <m:t>−1)</m:t>
                    </m:r>
                  </m:oMath>
                </a14:m>
                <a:r>
                  <a:rPr lang="en-US" dirty="0">
                    <a:sym typeface="Symbol" pitchFamily="18" charset="2"/>
                  </a:rPr>
                  <a:t>. Then we return the beginning city with a cost of </a:t>
                </a:r>
                <a14:m>
                  <m:oMath xmlns:m="http://schemas.openxmlformats.org/officeDocument/2006/math">
                    <m:r>
                      <a:rPr lang="en-US" i="1" dirty="0" smtClean="0">
                        <a:latin typeface="Cambria Math"/>
                        <a:sym typeface="Symbol" pitchFamily="18" charset="2"/>
                      </a:rPr>
                      <m:t>𝐶</m:t>
                    </m:r>
                    <m:d>
                      <m:dPr>
                        <m:begChr m:val="["/>
                        <m:endChr m:val="]"/>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𝑋</m:t>
                        </m:r>
                        <m:d>
                          <m:dPr>
                            <m:begChr m:val="["/>
                            <m:endChr m:val="]"/>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𝑁</m:t>
                            </m:r>
                          </m:e>
                        </m:d>
                      </m:e>
                    </m:d>
                    <m:d>
                      <m:dPr>
                        <m:begChr m:val="["/>
                        <m:endChr m:val="]"/>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𝑋</m:t>
                        </m:r>
                        <m:d>
                          <m:dPr>
                            <m:begChr m:val="["/>
                            <m:endChr m:val="]"/>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1</m:t>
                            </m:r>
                          </m:e>
                        </m:d>
                      </m:e>
                    </m:d>
                  </m:oMath>
                </a14:m>
                <a:r>
                  <a:rPr lang="en-US" dirty="0">
                    <a:sym typeface="Symbol" pitchFamily="18" charset="2"/>
                  </a:rPr>
                  <a:t>. So, the total cost of the entire journey is determined by the formula:</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382000" cy="4937760"/>
              </a:xfrm>
              <a:blipFill>
                <a:blip r:embed="rId3"/>
                <a:stretch>
                  <a:fillRect l="-436" t="-4433" r="-2687"/>
                </a:stretch>
              </a:blipFill>
              <a:ln>
                <a:solidFill>
                  <a:schemeClr val="accent1"/>
                </a:solidFill>
              </a:ln>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2908756434"/>
              </p:ext>
            </p:extLst>
          </p:nvPr>
        </p:nvGraphicFramePr>
        <p:xfrm>
          <a:off x="1778000" y="3505200"/>
          <a:ext cx="4206875" cy="1003300"/>
        </p:xfrm>
        <a:graphic>
          <a:graphicData uri="http://schemas.openxmlformats.org/presentationml/2006/ole">
            <mc:AlternateContent xmlns:mc="http://schemas.openxmlformats.org/markup-compatibility/2006">
              <mc:Choice xmlns:v="urn:schemas-microsoft-com:vml" Requires="v">
                <p:oleObj spid="_x0000_s5133" name="Equation" r:id="rId4" imgW="1815840" imgH="431640" progId="Equation.3">
                  <p:embed/>
                </p:oleObj>
              </mc:Choice>
              <mc:Fallback>
                <p:oleObj name="Equation" r:id="rId4" imgW="1815840" imgH="431640" progId="Equation.3">
                  <p:embed/>
                  <p:pic>
                    <p:nvPicPr>
                      <p:cNvPr id="0" name="Object 10"/>
                      <p:cNvPicPr>
                        <a:picLocks noChangeAspect="1" noChangeArrowheads="1"/>
                      </p:cNvPicPr>
                      <p:nvPr/>
                    </p:nvPicPr>
                    <p:blipFill>
                      <a:blip r:embed="rId5"/>
                      <a:srcRect/>
                      <a:stretch>
                        <a:fillRect/>
                      </a:stretch>
                    </p:blipFill>
                    <p:spPr bwMode="auto">
                      <a:xfrm>
                        <a:off x="1778000" y="3505200"/>
                        <a:ext cx="4206875"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6909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990600"/>
          </a:xfrm>
        </p:spPr>
        <p:txBody>
          <a:bodyPr/>
          <a:lstStyle/>
          <a:p>
            <a:r>
              <a:rPr lang="en-US" dirty="0"/>
              <a:t>Example 2 (4/4)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381000" y="1219200"/>
                <a:ext cx="8534400" cy="5090160"/>
              </a:xfrm>
            </p:spPr>
            <p:txBody>
              <a:bodyPr/>
              <a:lstStyle/>
              <a:p>
                <a:pPr>
                  <a:spcBef>
                    <a:spcPct val="50000"/>
                  </a:spcBef>
                </a:pPr>
                <a:r>
                  <a:rPr lang="en-US" sz="2000" b="1" dirty="0"/>
                  <a:t>Problem can be restated as follows </a:t>
                </a:r>
              </a:p>
              <a:p>
                <a:pPr algn="just">
                  <a:spcBef>
                    <a:spcPct val="50000"/>
                  </a:spcBef>
                </a:pPr>
                <a:r>
                  <a:rPr lang="en-US" sz="2000" b="1" dirty="0"/>
                  <a:t>Input</a:t>
                </a:r>
                <a:r>
                  <a:rPr lang="en-US" sz="2000" dirty="0"/>
                  <a:t>:</a:t>
                </a:r>
              </a:p>
              <a:p>
                <a:pPr lvl="1">
                  <a:spcBef>
                    <a:spcPct val="50000"/>
                  </a:spcBef>
                </a:pPr>
                <a:r>
                  <a:rPr lang="en-US" dirty="0"/>
                  <a:t>Number of city: </a:t>
                </a:r>
                <a14:m>
                  <m:oMath xmlns:m="http://schemas.openxmlformats.org/officeDocument/2006/math">
                    <m:r>
                      <a:rPr lang="en-US" dirty="0">
                        <a:latin typeface="Cambria Math"/>
                      </a:rPr>
                      <m:t>𝑁</m:t>
                    </m:r>
                  </m:oMath>
                </a14:m>
                <a:endParaRPr lang="en-US" dirty="0"/>
              </a:p>
              <a:p>
                <a:pPr lvl="1">
                  <a:spcBef>
                    <a:spcPct val="50000"/>
                  </a:spcBef>
                </a:pPr>
                <a:r>
                  <a:rPr lang="en-US" dirty="0"/>
                  <a:t>N-level matrix of cost:</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𝑐</m:t>
                        </m:r>
                      </m:e>
                      <m:sub>
                        <m:r>
                          <a:rPr lang="en-US" i="1">
                            <a:latin typeface="Cambria Math"/>
                          </a:rPr>
                          <m:t>𝑖𝑗</m:t>
                        </m:r>
                      </m:sub>
                    </m:sSub>
                    <m:r>
                      <a:rPr lang="en-US" i="1">
                        <a:latin typeface="Cambria Math"/>
                      </a:rPr>
                      <m:t>}</m:t>
                    </m:r>
                  </m:oMath>
                </a14:m>
                <a:endParaRPr lang="en-US" dirty="0"/>
              </a:p>
              <a:p>
                <a:pPr algn="just">
                  <a:spcBef>
                    <a:spcPct val="50000"/>
                  </a:spcBef>
                </a:pPr>
                <a:r>
                  <a:rPr lang="en-US" sz="2000" b="1" dirty="0"/>
                  <a:t>Output</a:t>
                </a:r>
                <a:r>
                  <a:rPr lang="en-US" sz="2000" dirty="0"/>
                  <a:t>:</a:t>
                </a:r>
              </a:p>
              <a:p>
                <a:pPr lvl="1" algn="just">
                  <a:spcBef>
                    <a:spcPct val="50000"/>
                  </a:spcBef>
                </a:pPr>
                <a:r>
                  <a:rPr lang="en-US" dirty="0"/>
                  <a:t>Optimal solution: </a:t>
                </a:r>
                <a14:m>
                  <m:oMath xmlns:m="http://schemas.openxmlformats.org/officeDocument/2006/math">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𝑋</m:t>
                        </m:r>
                      </m:e>
                      <m:sup>
                        <m:r>
                          <a:rPr lang="en-US" i="1" dirty="0">
                            <a:latin typeface="Cambria Math"/>
                            <a:sym typeface="Symbol" pitchFamily="18" charset="2"/>
                          </a:rPr>
                          <m:t>∗</m:t>
                        </m:r>
                      </m:sup>
                    </m:sSup>
                    <m:r>
                      <a:rPr lang="en-US" i="1" dirty="0">
                        <a:latin typeface="Cambria Math"/>
                        <a:sym typeface="Symbol" pitchFamily="18" charset="2"/>
                      </a:rPr>
                      <m:t>=(</m:t>
                    </m:r>
                    <m:sSubSup>
                      <m:sSubSupPr>
                        <m:ctrlPr>
                          <a:rPr lang="en-US" i="1">
                            <a:latin typeface="Cambria Math" panose="02040503050406030204" pitchFamily="18" charset="0"/>
                          </a:rPr>
                        </m:ctrlPr>
                      </m:sSubSupPr>
                      <m:e>
                        <m:r>
                          <a:rPr lang="en-US" i="1">
                            <a:latin typeface="Cambria Math"/>
                          </a:rPr>
                          <m:t>𝑥</m:t>
                        </m:r>
                      </m:e>
                      <m:sub>
                        <m:r>
                          <a:rPr lang="en-US" i="1">
                            <a:latin typeface="Cambria Math"/>
                          </a:rPr>
                          <m:t>1</m:t>
                        </m:r>
                      </m:sub>
                      <m:sup>
                        <m:r>
                          <a:rPr lang="en-US" i="1">
                            <a:latin typeface="Cambria Math"/>
                          </a:rPr>
                          <m:t>∗</m:t>
                        </m:r>
                      </m:sup>
                    </m:sSubSup>
                    <m:r>
                      <a:rPr lang="en-US" i="1" dirty="0">
                        <a:latin typeface="Cambria Math"/>
                        <a:sym typeface="Symbol" pitchFamily="18" charset="2"/>
                      </a:rPr>
                      <m:t>,...,</m:t>
                    </m:r>
                    <m:sSubSup>
                      <m:sSubSupPr>
                        <m:ctrlPr>
                          <a:rPr lang="en-US" i="1">
                            <a:latin typeface="Cambria Math" panose="02040503050406030204" pitchFamily="18" charset="0"/>
                          </a:rPr>
                        </m:ctrlPr>
                      </m:sSubSupPr>
                      <m:e>
                        <m:r>
                          <a:rPr lang="en-US" i="1">
                            <a:latin typeface="Cambria Math"/>
                          </a:rPr>
                          <m:t>𝑥</m:t>
                        </m:r>
                      </m:e>
                      <m:sub>
                        <m:r>
                          <a:rPr lang="en-US" i="1">
                            <a:latin typeface="Cambria Math"/>
                          </a:rPr>
                          <m:t>𝑁</m:t>
                        </m:r>
                      </m:sub>
                      <m:sup>
                        <m:r>
                          <a:rPr lang="en-US" i="1">
                            <a:latin typeface="Cambria Math"/>
                          </a:rPr>
                          <m:t>∗</m:t>
                        </m:r>
                      </m:sup>
                    </m:sSubSup>
                    <m:r>
                      <a:rPr lang="en-US" i="1" dirty="0">
                        <a:latin typeface="Cambria Math"/>
                        <a:sym typeface="Symbol" pitchFamily="18" charset="2"/>
                      </a:rPr>
                      <m:t>)</m:t>
                    </m:r>
                    <m:r>
                      <a:rPr lang="en-US" i="1" dirty="0">
                        <a:latin typeface="Cambria Math"/>
                        <a:ea typeface="Cambria Math"/>
                        <a:sym typeface="Symbol" pitchFamily="18" charset="2"/>
                      </a:rPr>
                      <m:t>∈</m:t>
                    </m:r>
                    <m:r>
                      <a:rPr lang="en-US" i="1" dirty="0">
                        <a:latin typeface="Cambria Math"/>
                        <a:ea typeface="Cambria Math"/>
                        <a:sym typeface="Symbol" pitchFamily="18" charset="2"/>
                      </a:rPr>
                      <m:t>𝐷</m:t>
                    </m:r>
                  </m:oMath>
                </a14:m>
                <a:r>
                  <a:rPr lang="en-US" dirty="0">
                    <a:sym typeface="Symbol" pitchFamily="18" charset="2"/>
                  </a:rPr>
                  <a:t> so that</a:t>
                </a:r>
                <a:r>
                  <a:rPr lang="en-US" dirty="0"/>
                  <a:t> </a:t>
                </a:r>
                <a14:m>
                  <m:oMath xmlns:m="http://schemas.openxmlformats.org/officeDocument/2006/math">
                    <m:r>
                      <m:rPr>
                        <m:sty m:val="p"/>
                      </m:rPr>
                      <a:rPr lang="en-US" dirty="0">
                        <a:latin typeface="Cambria Math"/>
                        <a:sym typeface="Symbol" pitchFamily="18" charset="2"/>
                      </a:rPr>
                      <m:t>f</m:t>
                    </m:r>
                    <m:r>
                      <a:rPr lang="en-US" dirty="0">
                        <a:latin typeface="Cambria Math"/>
                        <a:sym typeface="Symbol" pitchFamily="18" charset="2"/>
                      </a:rPr>
                      <m:t>(</m:t>
                    </m:r>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𝑋</m:t>
                        </m:r>
                      </m:e>
                      <m:sup>
                        <m:r>
                          <a:rPr lang="en-US" i="1" dirty="0">
                            <a:latin typeface="Cambria Math"/>
                            <a:sym typeface="Symbol" pitchFamily="18" charset="2"/>
                          </a:rPr>
                          <m:t>∗</m:t>
                        </m:r>
                      </m:sup>
                    </m:sSup>
                    <m:r>
                      <a:rPr lang="en-US" i="1" dirty="0">
                        <a:latin typeface="Cambria Math"/>
                        <a:sym typeface="Symbol" pitchFamily="18" charset="2"/>
                      </a:rPr>
                      <m:t>)</m:t>
                    </m:r>
                  </m:oMath>
                </a14:m>
                <a:r>
                  <a:rPr lang="en-US" dirty="0"/>
                  <a:t> is smallest</a:t>
                </a:r>
              </a:p>
              <a:p>
                <a:pPr lvl="1" algn="just">
                  <a:spcBef>
                    <a:spcPct val="50000"/>
                  </a:spcBef>
                </a:pPr>
                <a:r>
                  <a:rPr lang="en-US" dirty="0"/>
                  <a:t>Optimal value: </a:t>
                </a:r>
                <a14:m>
                  <m:oMath xmlns:m="http://schemas.openxmlformats.org/officeDocument/2006/math">
                    <m:r>
                      <m:rPr>
                        <m:sty m:val="p"/>
                      </m:rPr>
                      <a:rPr lang="en-US" dirty="0">
                        <a:latin typeface="Cambria Math"/>
                        <a:sym typeface="Symbol" pitchFamily="18" charset="2"/>
                      </a:rPr>
                      <m:t>f</m:t>
                    </m:r>
                    <m:r>
                      <a:rPr lang="en-US" dirty="0">
                        <a:latin typeface="Cambria Math"/>
                        <a:sym typeface="Symbol" pitchFamily="18" charset="2"/>
                      </a:rPr>
                      <m:t>(</m:t>
                    </m:r>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𝑋</m:t>
                        </m:r>
                      </m:e>
                      <m:sup>
                        <m:r>
                          <a:rPr lang="en-US" i="1" dirty="0">
                            <a:latin typeface="Cambria Math"/>
                            <a:sym typeface="Symbol" pitchFamily="18" charset="2"/>
                          </a:rPr>
                          <m:t>∗</m:t>
                        </m:r>
                      </m:sup>
                    </m:sSup>
                    <m:r>
                      <a:rPr lang="en-US" i="1" dirty="0">
                        <a:latin typeface="Cambria Math"/>
                        <a:sym typeface="Symbol" pitchFamily="18" charset="2"/>
                      </a:rPr>
                      <m:t>)</m:t>
                    </m:r>
                  </m:oMath>
                </a14:m>
                <a:endParaRPr lang="en-US" dirty="0"/>
              </a:p>
              <a:p>
                <a:pPr lvl="1">
                  <a:spcBef>
                    <a:spcPct val="50000"/>
                  </a:spcBef>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381000" y="1219200"/>
                <a:ext cx="8534400" cy="5090160"/>
              </a:xfrm>
              <a:blipFill>
                <a:blip r:embed="rId3"/>
                <a:stretch>
                  <a:fillRect l="-286" t="-599"/>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3516830019"/>
              </p:ext>
            </p:extLst>
          </p:nvPr>
        </p:nvGraphicFramePr>
        <p:xfrm>
          <a:off x="0" y="4837113"/>
          <a:ext cx="9166225" cy="573087"/>
        </p:xfrm>
        <a:graphic>
          <a:graphicData uri="http://schemas.openxmlformats.org/presentationml/2006/ole">
            <mc:AlternateContent xmlns:mc="http://schemas.openxmlformats.org/markup-compatibility/2006">
              <mc:Choice xmlns:v="urn:schemas-microsoft-com:vml" Requires="v">
                <p:oleObj spid="_x0000_s6168" name="Equation" r:id="rId4" imgW="3860640" imgH="241200" progId="Equation.3">
                  <p:embed/>
                </p:oleObj>
              </mc:Choice>
              <mc:Fallback>
                <p:oleObj name="Equation" r:id="rId4" imgW="3860640" imgH="241200" progId="Equation.3">
                  <p:embed/>
                  <p:pic>
                    <p:nvPicPr>
                      <p:cNvPr id="0" name="Object 10"/>
                      <p:cNvPicPr>
                        <a:picLocks noChangeAspect="1" noChangeArrowheads="1"/>
                      </p:cNvPicPr>
                      <p:nvPr/>
                    </p:nvPicPr>
                    <p:blipFill>
                      <a:blip r:embed="rId5"/>
                      <a:srcRect/>
                      <a:stretch>
                        <a:fillRect/>
                      </a:stretch>
                    </p:blipFill>
                    <p:spPr bwMode="auto">
                      <a:xfrm>
                        <a:off x="0" y="4837113"/>
                        <a:ext cx="9166225"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017626004"/>
              </p:ext>
            </p:extLst>
          </p:nvPr>
        </p:nvGraphicFramePr>
        <p:xfrm>
          <a:off x="1447800" y="5410200"/>
          <a:ext cx="3971925" cy="1003300"/>
        </p:xfrm>
        <a:graphic>
          <a:graphicData uri="http://schemas.openxmlformats.org/presentationml/2006/ole">
            <mc:AlternateContent xmlns:mc="http://schemas.openxmlformats.org/markup-compatibility/2006">
              <mc:Choice xmlns:v="urn:schemas-microsoft-com:vml" Requires="v">
                <p:oleObj spid="_x0000_s6169" name="Equation" r:id="rId6" imgW="1714500" imgH="431800" progId="Equation.3">
                  <p:embed/>
                </p:oleObj>
              </mc:Choice>
              <mc:Fallback>
                <p:oleObj name="Equation" r:id="rId6" imgW="1714500" imgH="43180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5410200"/>
                        <a:ext cx="3971925"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 Box 12"/>
              <p:cNvSpPr txBox="1">
                <a:spLocks noChangeArrowheads="1"/>
              </p:cNvSpPr>
              <p:nvPr/>
            </p:nvSpPr>
            <p:spPr bwMode="auto">
              <a:xfrm>
                <a:off x="5562600" y="5715000"/>
                <a:ext cx="13716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With </a:t>
                </a:r>
                <a14:m>
                  <m:oMath xmlns:m="http://schemas.openxmlformats.org/officeDocument/2006/math">
                    <m:r>
                      <a:rPr lang="en-US" i="1" dirty="0" smtClean="0">
                        <a:latin typeface="Cambria Math"/>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oMath>
                </a14:m>
                <a:endParaRPr lang="en-US" dirty="0">
                  <a:sym typeface="Symbol" pitchFamily="18" charset="2"/>
                </a:endParaRPr>
              </a:p>
            </p:txBody>
          </p:sp>
        </mc:Choice>
        <mc:Fallback xmlns="">
          <p:sp>
            <p:nvSpPr>
              <p:cNvPr id="8" name="Text Box 12"/>
              <p:cNvSpPr txBox="1">
                <a:spLocks noRot="1" noChangeAspect="1" noMove="1" noResize="1" noEditPoints="1" noAdjustHandles="1" noChangeArrowheads="1" noChangeShapeType="1" noTextEdit="1"/>
              </p:cNvSpPr>
              <p:nvPr/>
            </p:nvSpPr>
            <p:spPr bwMode="auto">
              <a:xfrm>
                <a:off x="5562600" y="5715000"/>
                <a:ext cx="1371600" cy="369332"/>
              </a:xfrm>
              <a:prstGeom prst="rect">
                <a:avLst/>
              </a:prstGeom>
              <a:blipFill>
                <a:blip r:embed="rId8"/>
                <a:stretch>
                  <a:fillRect l="-4000" t="-10000"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727658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(1/3)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r>
                  <a:rPr lang="en-US" b="1" dirty="0"/>
                  <a:t>Machine rental problem</a:t>
                </a:r>
                <a:r>
                  <a:rPr lang="en-US" dirty="0"/>
                  <a:t>: A boss has a rental machine. At the beginning of the month, he received a requires form </a:t>
                </a:r>
                <a14:m>
                  <m:oMath xmlns:m="http://schemas.openxmlformats.org/officeDocument/2006/math">
                    <m:r>
                      <a:rPr lang="en-US" i="1" dirty="0" smtClean="0">
                        <a:latin typeface="Cambria Math"/>
                      </a:rPr>
                      <m:t>𝑀</m:t>
                    </m:r>
                  </m:oMath>
                </a14:m>
                <a:r>
                  <a:rPr lang="en-US" dirty="0"/>
                  <a:t> customers to rent the machine for the next </a:t>
                </a:r>
                <a14:m>
                  <m:oMath xmlns:m="http://schemas.openxmlformats.org/officeDocument/2006/math">
                    <m:r>
                      <a:rPr lang="en-US" i="1" dirty="0" smtClean="0">
                        <a:latin typeface="Cambria Math"/>
                      </a:rPr>
                      <m:t>𝑁</m:t>
                    </m:r>
                  </m:oMath>
                </a14:m>
                <a:r>
                  <a:rPr lang="en-US" dirty="0"/>
                  <a:t> days. Each customer </a:t>
                </a:r>
                <a14:m>
                  <m:oMath xmlns:m="http://schemas.openxmlformats.org/officeDocument/2006/math">
                    <m:r>
                      <a:rPr lang="en-US" i="1" dirty="0" smtClean="0">
                        <a:latin typeface="Cambria Math"/>
                      </a:rPr>
                      <m:t>𝑖</m:t>
                    </m:r>
                  </m:oMath>
                </a14:m>
                <a:r>
                  <a:rPr lang="en-US" dirty="0"/>
                  <a:t> indicates the set of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𝑁</m:t>
                        </m:r>
                      </m:e>
                      <m:sub>
                        <m:r>
                          <a:rPr lang="en-US" b="0" i="1" dirty="0" smtClean="0">
                            <a:latin typeface="Cambria Math"/>
                          </a:rPr>
                          <m:t>𝑖</m:t>
                        </m:r>
                      </m:sub>
                    </m:sSub>
                  </m:oMath>
                </a14:m>
                <a:r>
                  <a:rPr lang="en-US" dirty="0"/>
                  <a:t> days they need to rent machine. The owner has the right to either refuse the customer’s request for if he accepts the  requires, he must arrange the machine according to the days requested by the customer. Find a plan to rent the machine to help the owner so that the total number of days to rent the machine is the maximum..</a:t>
                </a:r>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766668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(2/3)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sym typeface="Symbol" pitchFamily="18" charset="2"/>
                  </a:rPr>
                  <a:t>Set of solutions</a:t>
                </a:r>
                <a:r>
                  <a:rPr lang="en-US" dirty="0">
                    <a:sym typeface="Symbol" pitchFamily="18" charset="2"/>
                  </a:rPr>
                  <a:t>: Let </a:t>
                </a:r>
                <a14:m>
                  <m:oMath xmlns:m="http://schemas.openxmlformats.org/officeDocument/2006/math">
                    <m:r>
                      <a:rPr lang="en-US" i="1" dirty="0" smtClean="0">
                        <a:latin typeface="Cambria Math"/>
                        <a:sym typeface="Symbol" pitchFamily="18" charset="2"/>
                      </a:rPr>
                      <m:t>𝐼</m:t>
                    </m:r>
                    <m:r>
                      <a:rPr lang="en-US" i="1" dirty="0" smtClean="0">
                        <a:latin typeface="Cambria Math"/>
                        <a:sym typeface="Symbol" pitchFamily="18" charset="2"/>
                      </a:rPr>
                      <m:t>={ 1, 2, ..., </m:t>
                    </m:r>
                    <m:r>
                      <a:rPr lang="en-US" i="1" dirty="0" smtClean="0">
                        <a:latin typeface="Cambria Math"/>
                        <a:sym typeface="Symbol" pitchFamily="18" charset="2"/>
                      </a:rPr>
                      <m:t>𝑀</m:t>
                    </m:r>
                    <m:r>
                      <a:rPr lang="en-US" i="1" dirty="0" smtClean="0">
                        <a:latin typeface="Cambria Math"/>
                        <a:sym typeface="Symbol" pitchFamily="18" charset="2"/>
                      </a:rPr>
                      <m:t>} </m:t>
                    </m:r>
                  </m:oMath>
                </a14:m>
                <a:r>
                  <a:rPr lang="en-US" dirty="0">
                    <a:sym typeface="Symbol" pitchFamily="18" charset="2"/>
                  </a:rPr>
                  <a:t>be the set of customer indexes, </a:t>
                </a:r>
                <a14:m>
                  <m:oMath xmlns:m="http://schemas.openxmlformats.org/officeDocument/2006/math">
                    <m:r>
                      <a:rPr lang="en-US" i="1" dirty="0" smtClean="0">
                        <a:latin typeface="Cambria Math"/>
                        <a:sym typeface="Symbol" pitchFamily="18" charset="2"/>
                      </a:rPr>
                      <m:t>𝑆</m:t>
                    </m:r>
                  </m:oMath>
                </a14:m>
                <a:r>
                  <a:rPr lang="en-US" dirty="0">
                    <a:sym typeface="Symbol" pitchFamily="18" charset="2"/>
                  </a:rPr>
                  <a:t> be the set of all subsets of </a:t>
                </a:r>
                <a14:m>
                  <m:oMath xmlns:m="http://schemas.openxmlformats.org/officeDocument/2006/math">
                    <m:r>
                      <a:rPr lang="en-US" i="1" dirty="0" smtClean="0">
                        <a:latin typeface="Cambria Math"/>
                        <a:sym typeface="Symbol" pitchFamily="18" charset="2"/>
                      </a:rPr>
                      <m:t>𝐼</m:t>
                    </m:r>
                  </m:oMath>
                </a14:m>
                <a:r>
                  <a:rPr lang="en-US" dirty="0">
                    <a:sym typeface="Symbol" pitchFamily="18" charset="2"/>
                  </a:rPr>
                  <a:t>. Then, the set of machine rental solution is:</a:t>
                </a:r>
              </a:p>
              <a:p>
                <a:endParaRPr lang="en-US" dirty="0">
                  <a:sym typeface="Symbol" pitchFamily="18" charset="2"/>
                </a:endParaRPr>
              </a:p>
              <a:p>
                <a:endParaRPr lang="en-US" dirty="0">
                  <a:sym typeface="Symbol" pitchFamily="18" charset="2"/>
                </a:endParaRPr>
              </a:p>
              <a:p>
                <a:r>
                  <a:rPr lang="en-US" b="1" dirty="0">
                    <a:sym typeface="Symbol" pitchFamily="18" charset="2"/>
                  </a:rPr>
                  <a:t>Target function</a:t>
                </a:r>
                <a:r>
                  <a:rPr lang="en-US" dirty="0">
                    <a:sym typeface="Symbol" pitchFamily="18" charset="2"/>
                  </a:rPr>
                  <a:t>: For each solution </a:t>
                </a:r>
                <a14:m>
                  <m:oMath xmlns:m="http://schemas.openxmlformats.org/officeDocument/2006/math">
                    <m:r>
                      <a:rPr lang="en-US" i="1" dirty="0" smtClean="0">
                        <a:latin typeface="Cambria Math"/>
                        <a:sym typeface="Symbol" pitchFamily="18" charset="2"/>
                      </a:rPr>
                      <m:t>𝐽</m:t>
                    </m:r>
                    <m:r>
                      <a:rPr lang="en-US" i="1" dirty="0" smtClean="0">
                        <a:latin typeface="Cambria Math"/>
                        <a:ea typeface="Cambria Math"/>
                        <a:sym typeface="Symbol" pitchFamily="18" charset="2"/>
                      </a:rPr>
                      <m:t>∈</m:t>
                    </m:r>
                    <m:r>
                      <a:rPr lang="en-US" i="1" dirty="0" smtClean="0">
                        <a:latin typeface="Cambria Math"/>
                        <a:sym typeface="Symbol" pitchFamily="18" charset="2"/>
                      </a:rPr>
                      <m:t>𝐷</m:t>
                    </m:r>
                  </m:oMath>
                </a14:m>
                <a:r>
                  <a:rPr lang="en-US" dirty="0">
                    <a:sym typeface="Symbol" pitchFamily="18" charset="2"/>
                  </a:rPr>
                  <a:t>, the total number of rental days is:</a:t>
                </a:r>
              </a:p>
              <a:p>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1111" r="-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3855348748"/>
              </p:ext>
            </p:extLst>
          </p:nvPr>
        </p:nvGraphicFramePr>
        <p:xfrm>
          <a:off x="1947863" y="2794000"/>
          <a:ext cx="5246687" cy="573088"/>
        </p:xfrm>
        <a:graphic>
          <a:graphicData uri="http://schemas.openxmlformats.org/presentationml/2006/ole">
            <mc:AlternateContent xmlns:mc="http://schemas.openxmlformats.org/markup-compatibility/2006">
              <mc:Choice xmlns:v="urn:schemas-microsoft-com:vml" Requires="v">
                <p:oleObj spid="_x0000_s7192" name="Equation" r:id="rId4" imgW="2209680" imgH="241200" progId="Equation.3">
                  <p:embed/>
                </p:oleObj>
              </mc:Choice>
              <mc:Fallback>
                <p:oleObj name="Equation" r:id="rId4" imgW="2209680" imgH="241200" progId="Equation.3">
                  <p:embed/>
                  <p:pic>
                    <p:nvPicPr>
                      <p:cNvPr id="0" name="Object 5"/>
                      <p:cNvPicPr>
                        <a:picLocks noChangeAspect="1" noChangeArrowheads="1"/>
                      </p:cNvPicPr>
                      <p:nvPr/>
                    </p:nvPicPr>
                    <p:blipFill>
                      <a:blip r:embed="rId5"/>
                      <a:srcRect/>
                      <a:stretch>
                        <a:fillRect/>
                      </a:stretch>
                    </p:blipFill>
                    <p:spPr bwMode="auto">
                      <a:xfrm>
                        <a:off x="1947863" y="2794000"/>
                        <a:ext cx="5246687"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953059810"/>
              </p:ext>
            </p:extLst>
          </p:nvPr>
        </p:nvGraphicFramePr>
        <p:xfrm>
          <a:off x="2819400" y="4777275"/>
          <a:ext cx="3087687" cy="855663"/>
        </p:xfrm>
        <a:graphic>
          <a:graphicData uri="http://schemas.openxmlformats.org/presentationml/2006/ole">
            <mc:AlternateContent xmlns:mc="http://schemas.openxmlformats.org/markup-compatibility/2006">
              <mc:Choice xmlns:v="urn:schemas-microsoft-com:vml" Requires="v">
                <p:oleObj spid="_x0000_s7193" name="Equation" r:id="rId6" imgW="1333500" imgH="368300" progId="Equation.3">
                  <p:embed/>
                </p:oleObj>
              </mc:Choice>
              <mc:Fallback>
                <p:oleObj name="Equation" r:id="rId6" imgW="1333500" imgH="3683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4777275"/>
                        <a:ext cx="3087687"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05327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(3/3)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458200" cy="4937760"/>
              </a:xfrm>
            </p:spPr>
            <p:txBody>
              <a:bodyPr>
                <a:normAutofit/>
              </a:bodyPr>
              <a:lstStyle/>
              <a:p>
                <a:pPr>
                  <a:spcBef>
                    <a:spcPct val="50000"/>
                  </a:spcBef>
                </a:pPr>
                <a:r>
                  <a:rPr lang="en-US" sz="2000" b="1" dirty="0"/>
                  <a:t>Problem can be restated as follows </a:t>
                </a:r>
              </a:p>
              <a:p>
                <a:pPr>
                  <a:spcBef>
                    <a:spcPct val="50000"/>
                  </a:spcBef>
                </a:pPr>
                <a:r>
                  <a:rPr lang="en-US" sz="2000" b="1" dirty="0"/>
                  <a:t>Input:</a:t>
                </a:r>
                <a:endParaRPr lang="en-US" sz="2000" dirty="0"/>
              </a:p>
              <a:p>
                <a:pPr lvl="1">
                  <a:spcBef>
                    <a:spcPct val="50000"/>
                  </a:spcBef>
                </a:pPr>
                <a:r>
                  <a:rPr lang="en-US" sz="1800" dirty="0"/>
                  <a:t>Number of customer: </a:t>
                </a:r>
                <a14:m>
                  <m:oMath xmlns:m="http://schemas.openxmlformats.org/officeDocument/2006/math">
                    <m:r>
                      <a:rPr lang="en-US" sz="1800" b="0" i="1" dirty="0" smtClean="0">
                        <a:latin typeface="Cambria Math"/>
                      </a:rPr>
                      <m:t>𝑀</m:t>
                    </m:r>
                  </m:oMath>
                </a14:m>
                <a:endParaRPr lang="en-US" sz="1800" b="0" dirty="0"/>
              </a:p>
              <a:p>
                <a:pPr lvl="1">
                  <a:spcBef>
                    <a:spcPct val="50000"/>
                  </a:spcBef>
                </a:pPr>
                <a:r>
                  <a:rPr lang="en-US" sz="1800" dirty="0"/>
                  <a:t>Number of rental days: </a:t>
                </a:r>
                <a14:m>
                  <m:oMath xmlns:m="http://schemas.openxmlformats.org/officeDocument/2006/math">
                    <m:r>
                      <a:rPr lang="en-US" sz="1800" b="0" i="1" dirty="0" smtClean="0">
                        <a:latin typeface="Cambria Math"/>
                      </a:rPr>
                      <m:t>𝑁</m:t>
                    </m:r>
                  </m:oMath>
                </a14:m>
                <a:endParaRPr lang="en-US" sz="1800" dirty="0"/>
              </a:p>
              <a:p>
                <a:pPr lvl="1">
                  <a:spcBef>
                    <a:spcPct val="50000"/>
                  </a:spcBef>
                </a:pPr>
                <a:r>
                  <a:rPr lang="en-US" sz="1800" dirty="0"/>
                  <a:t>Matrix [0,1] illustrates the number of rental days of each customer: </a:t>
                </a:r>
                <a14:m>
                  <m:oMath xmlns:m="http://schemas.openxmlformats.org/officeDocument/2006/math">
                    <m:r>
                      <a:rPr lang="en-US" sz="1800" i="1" dirty="0" smtClean="0">
                        <a:latin typeface="Cambria Math"/>
                      </a:rPr>
                      <m:t>𝐴</m:t>
                    </m:r>
                    <m:r>
                      <a:rPr lang="en-US" sz="1800" i="1" dirty="0" smtClean="0">
                        <a:latin typeface="Cambria Math"/>
                      </a:rPr>
                      <m:t>[</m:t>
                    </m:r>
                    <m:r>
                      <a:rPr lang="en-US" sz="1800" i="1" dirty="0" smtClean="0">
                        <a:latin typeface="Cambria Math"/>
                      </a:rPr>
                      <m:t>𝑀</m:t>
                    </m:r>
                    <m:r>
                      <a:rPr lang="en-US" sz="1800" i="1" dirty="0" smtClean="0">
                        <a:latin typeface="Cambria Math"/>
                      </a:rPr>
                      <m:t>][</m:t>
                    </m:r>
                    <m:r>
                      <a:rPr lang="en-US" sz="1800" i="1" dirty="0" smtClean="0">
                        <a:latin typeface="Cambria Math"/>
                      </a:rPr>
                      <m:t>𝑁</m:t>
                    </m:r>
                    <m:r>
                      <a:rPr lang="en-US" sz="1800" i="1" dirty="0" smtClean="0">
                        <a:latin typeface="Cambria Math"/>
                      </a:rPr>
                      <m:t>]</m:t>
                    </m:r>
                  </m:oMath>
                </a14:m>
                <a:endParaRPr lang="en-US" sz="1800" dirty="0"/>
              </a:p>
              <a:p>
                <a:pPr algn="just">
                  <a:spcBef>
                    <a:spcPct val="50000"/>
                  </a:spcBef>
                </a:pPr>
                <a:r>
                  <a:rPr lang="en-US" sz="2000" b="1" dirty="0"/>
                  <a:t>Output</a:t>
                </a:r>
                <a:r>
                  <a:rPr lang="en-US" sz="2000" dirty="0"/>
                  <a:t>:</a:t>
                </a:r>
              </a:p>
              <a:p>
                <a:pPr lvl="1">
                  <a:spcBef>
                    <a:spcPct val="50000"/>
                  </a:spcBef>
                </a:pPr>
                <a:r>
                  <a:rPr lang="en-US" sz="1800" dirty="0"/>
                  <a:t> Optimal solution: </a:t>
                </a:r>
                <a14:m>
                  <m:oMath xmlns:m="http://schemas.openxmlformats.org/officeDocument/2006/math">
                    <m:sSup>
                      <m:sSupPr>
                        <m:ctrlPr>
                          <a:rPr lang="en-US" sz="1800" i="1" dirty="0" smtClean="0">
                            <a:latin typeface="Cambria Math" panose="02040503050406030204" pitchFamily="18" charset="0"/>
                          </a:rPr>
                        </m:ctrlPr>
                      </m:sSupPr>
                      <m:e>
                        <m:r>
                          <a:rPr lang="en-US" sz="1800" b="0" i="1" dirty="0" smtClean="0">
                            <a:latin typeface="Cambria Math"/>
                          </a:rPr>
                          <m:t>𝐽</m:t>
                        </m:r>
                      </m:e>
                      <m:sup>
                        <m:r>
                          <a:rPr lang="en-US" sz="1800" b="0" i="1" dirty="0" smtClean="0">
                            <a:latin typeface="Cambria Math"/>
                          </a:rPr>
                          <m:t>∗</m:t>
                        </m:r>
                      </m:sup>
                    </m:sSup>
                    <m:r>
                      <a:rPr lang="en-US" sz="1800" i="1" dirty="0" smtClean="0">
                        <a:latin typeface="Cambria Math"/>
                        <a:ea typeface="Cambria Math"/>
                      </a:rPr>
                      <m:t>∈</m:t>
                    </m:r>
                    <m:r>
                      <a:rPr lang="en-US" sz="1800" i="1" dirty="0">
                        <a:latin typeface="Cambria Math"/>
                        <a:sym typeface="Symbol" pitchFamily="18" charset="2"/>
                      </a:rPr>
                      <m:t>𝑆</m:t>
                    </m:r>
                  </m:oMath>
                </a14:m>
                <a:endParaRPr lang="en-US" sz="1800" dirty="0"/>
              </a:p>
              <a:p>
                <a:pPr lvl="1">
                  <a:spcBef>
                    <a:spcPct val="50000"/>
                  </a:spcBef>
                </a:pPr>
                <a:r>
                  <a:rPr lang="en-US" sz="1800" dirty="0"/>
                  <a:t> Optimal value: </a:t>
                </a:r>
                <a14:m>
                  <m:oMath xmlns:m="http://schemas.openxmlformats.org/officeDocument/2006/math">
                    <m:r>
                      <a:rPr lang="en-US" sz="1800" i="1" dirty="0" smtClean="0">
                        <a:latin typeface="Cambria Math"/>
                      </a:rPr>
                      <m:t>𝑓</m:t>
                    </m:r>
                    <m:r>
                      <a:rPr lang="en-US" sz="1800" i="1" dirty="0" smtClean="0">
                        <a:latin typeface="Cambria Math"/>
                      </a:rPr>
                      <m:t>(</m:t>
                    </m:r>
                    <m:sSup>
                      <m:sSupPr>
                        <m:ctrlPr>
                          <a:rPr lang="en-US" sz="1800" i="1" dirty="0">
                            <a:latin typeface="Cambria Math" panose="02040503050406030204" pitchFamily="18" charset="0"/>
                          </a:rPr>
                        </m:ctrlPr>
                      </m:sSupPr>
                      <m:e>
                        <m:r>
                          <a:rPr lang="en-US" sz="1800" i="1" dirty="0">
                            <a:latin typeface="Cambria Math"/>
                          </a:rPr>
                          <m:t>𝐽</m:t>
                        </m:r>
                      </m:e>
                      <m:sup>
                        <m:r>
                          <a:rPr lang="en-US" sz="1800" i="1" dirty="0">
                            <a:latin typeface="Cambria Math"/>
                          </a:rPr>
                          <m:t>∗</m:t>
                        </m:r>
                      </m:sup>
                    </m:sSup>
                    <m:r>
                      <a:rPr lang="en-US" sz="1800" i="1" dirty="0" smtClean="0">
                        <a:latin typeface="Cambria Math"/>
                      </a:rPr>
                      <m:t>)</m:t>
                    </m:r>
                  </m:oMath>
                </a14:m>
                <a:endParaRPr lang="en-US" sz="1800" dirty="0"/>
              </a:p>
              <a:p>
                <a:pPr>
                  <a:spcBef>
                    <a:spcPct val="50000"/>
                  </a:spcBef>
                </a:pPr>
                <a:r>
                  <a:rPr lang="en-US" sz="2000" dirty="0"/>
                  <a:t>Where:</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458200" cy="4937760"/>
              </a:xfrm>
              <a:blipFill>
                <a:blip r:embed="rId3"/>
                <a:stretch>
                  <a:fillRect l="-288" t="-617" r="-72"/>
                </a:stretch>
              </a:blipFill>
            </p:spPr>
            <p:txBody>
              <a:bodyPr/>
              <a:lstStyle/>
              <a:p>
                <a:r>
                  <a:rPr lang="en-US">
                    <a:noFill/>
                  </a:rPr>
                  <a:t> </a:t>
                </a:r>
              </a:p>
            </p:txBody>
          </p:sp>
        </mc:Fallback>
      </mc:AlternateContent>
      <p:graphicFrame>
        <p:nvGraphicFramePr>
          <p:cNvPr id="7" name="Object 11"/>
          <p:cNvGraphicFramePr>
            <a:graphicFrameLocks noChangeAspect="1"/>
          </p:cNvGraphicFramePr>
          <p:nvPr>
            <p:extLst>
              <p:ext uri="{D42A27DB-BD31-4B8C-83A1-F6EECF244321}">
                <p14:modId xmlns:p14="http://schemas.microsoft.com/office/powerpoint/2010/main" val="3747066179"/>
              </p:ext>
            </p:extLst>
          </p:nvPr>
        </p:nvGraphicFramePr>
        <p:xfrm>
          <a:off x="1639888" y="5081588"/>
          <a:ext cx="5246687" cy="573087"/>
        </p:xfrm>
        <a:graphic>
          <a:graphicData uri="http://schemas.openxmlformats.org/presentationml/2006/ole">
            <mc:AlternateContent xmlns:mc="http://schemas.openxmlformats.org/markup-compatibility/2006">
              <mc:Choice xmlns:v="urn:schemas-microsoft-com:vml" Requires="v">
                <p:oleObj spid="_x0000_s8216" name="Equation" r:id="rId4" imgW="2209680" imgH="241200" progId="Equation.3">
                  <p:embed/>
                </p:oleObj>
              </mc:Choice>
              <mc:Fallback>
                <p:oleObj name="Equation" r:id="rId4" imgW="2209680" imgH="241200" progId="Equation.3">
                  <p:embed/>
                  <p:pic>
                    <p:nvPicPr>
                      <p:cNvPr id="0" name=""/>
                      <p:cNvPicPr>
                        <a:picLocks noChangeAspect="1" noChangeArrowheads="1"/>
                      </p:cNvPicPr>
                      <p:nvPr/>
                    </p:nvPicPr>
                    <p:blipFill>
                      <a:blip r:embed="rId5"/>
                      <a:srcRect/>
                      <a:stretch>
                        <a:fillRect/>
                      </a:stretch>
                    </p:blipFill>
                    <p:spPr bwMode="auto">
                      <a:xfrm>
                        <a:off x="1639888" y="5081588"/>
                        <a:ext cx="5246687"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2"/>
          <p:cNvGraphicFramePr>
            <a:graphicFrameLocks noChangeAspect="1"/>
          </p:cNvGraphicFramePr>
          <p:nvPr>
            <p:extLst>
              <p:ext uri="{D42A27DB-BD31-4B8C-83A1-F6EECF244321}">
                <p14:modId xmlns:p14="http://schemas.microsoft.com/office/powerpoint/2010/main" val="97908102"/>
              </p:ext>
            </p:extLst>
          </p:nvPr>
        </p:nvGraphicFramePr>
        <p:xfrm>
          <a:off x="1828800" y="5545138"/>
          <a:ext cx="3087688" cy="855662"/>
        </p:xfrm>
        <a:graphic>
          <a:graphicData uri="http://schemas.openxmlformats.org/presentationml/2006/ole">
            <mc:AlternateContent xmlns:mc="http://schemas.openxmlformats.org/markup-compatibility/2006">
              <mc:Choice xmlns:v="urn:schemas-microsoft-com:vml" Requires="v">
                <p:oleObj spid="_x0000_s8217" name="Equation" r:id="rId6" imgW="1333440" imgH="368280" progId="Equation.3">
                  <p:embed/>
                </p:oleObj>
              </mc:Choice>
              <mc:Fallback>
                <p:oleObj name="Equation" r:id="rId6" imgW="1333440" imgH="3682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5545138"/>
                        <a:ext cx="3087688"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9" name="Text Box 12"/>
              <p:cNvSpPr txBox="1">
                <a:spLocks noChangeArrowheads="1"/>
              </p:cNvSpPr>
              <p:nvPr/>
            </p:nvSpPr>
            <p:spPr bwMode="auto">
              <a:xfrm>
                <a:off x="5562599" y="5638800"/>
                <a:ext cx="1323976"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with </a:t>
                </a:r>
                <a14:m>
                  <m:oMath xmlns:m="http://schemas.openxmlformats.org/officeDocument/2006/math">
                    <m:r>
                      <a:rPr lang="en-US" i="1" dirty="0" smtClean="0">
                        <a:latin typeface="Cambria Math"/>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oMath>
                </a14:m>
                <a:endParaRPr lang="en-US" dirty="0">
                  <a:sym typeface="Symbol" pitchFamily="18" charset="2"/>
                </a:endParaRPr>
              </a:p>
            </p:txBody>
          </p:sp>
        </mc:Choice>
        <mc:Fallback xmlns="">
          <p:sp>
            <p:nvSpPr>
              <p:cNvPr id="9" name="Text Box 12"/>
              <p:cNvSpPr txBox="1">
                <a:spLocks noRot="1" noChangeAspect="1" noMove="1" noResize="1" noEditPoints="1" noAdjustHandles="1" noChangeArrowheads="1" noChangeShapeType="1" noTextEdit="1"/>
              </p:cNvSpPr>
              <p:nvPr/>
            </p:nvSpPr>
            <p:spPr bwMode="auto">
              <a:xfrm>
                <a:off x="5562599" y="5638800"/>
                <a:ext cx="1323976" cy="369332"/>
              </a:xfrm>
              <a:prstGeom prst="rect">
                <a:avLst/>
              </a:prstGeom>
              <a:blipFill>
                <a:blip r:embed="rId8"/>
                <a:stretch>
                  <a:fillRect l="-3670" t="-8197" b="-245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354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 (1/3)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Work assignment problem</a:t>
                </a:r>
                <a:r>
                  <a:rPr lang="en-US" dirty="0"/>
                  <a:t>: A system consists of </a:t>
                </a:r>
                <a14:m>
                  <m:oMath xmlns:m="http://schemas.openxmlformats.org/officeDocument/2006/math">
                    <m:r>
                      <a:rPr lang="en-US" i="1" dirty="0" smtClean="0">
                        <a:latin typeface="Cambria Math"/>
                      </a:rPr>
                      <m:t>𝑁</m:t>
                    </m:r>
                  </m:oMath>
                </a14:m>
                <a:r>
                  <a:rPr lang="en-US" dirty="0"/>
                  <a:t> processes that perform </a:t>
                </a:r>
                <a14:m>
                  <m:oMath xmlns:m="http://schemas.openxmlformats.org/officeDocument/2006/math">
                    <m:r>
                      <a:rPr lang="en-US" i="1" dirty="0" smtClean="0">
                        <a:latin typeface="Cambria Math"/>
                      </a:rPr>
                      <m:t>𝑁</m:t>
                    </m:r>
                  </m:oMath>
                </a14:m>
                <a:r>
                  <a:rPr lang="en-US" dirty="0"/>
                  <a:t> parallel works. Knowing that each process can do </a:t>
                </a:r>
                <a14:m>
                  <m:oMath xmlns:m="http://schemas.openxmlformats.org/officeDocument/2006/math">
                    <m:r>
                      <a:rPr lang="en-US" i="1" dirty="0" smtClean="0">
                        <a:latin typeface="Cambria Math"/>
                      </a:rPr>
                      <m:t>𝑁</m:t>
                    </m:r>
                  </m:oMath>
                </a14:m>
                <a:r>
                  <a:rPr lang="en-US" dirty="0"/>
                  <a:t> works as above but with different costs. Knowing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𝑐</m:t>
                        </m:r>
                      </m:e>
                      <m:sub>
                        <m:r>
                          <a:rPr lang="en-US" b="0" i="1" dirty="0" smtClean="0">
                            <a:latin typeface="Cambria Math"/>
                          </a:rPr>
                          <m:t>𝑖𝑗</m:t>
                        </m:r>
                      </m:sub>
                    </m:sSub>
                  </m:oMath>
                </a14:m>
                <a:r>
                  <a:rPr lang="en-US" dirty="0"/>
                  <a:t> is the time taken by process </a:t>
                </a:r>
                <a14:m>
                  <m:oMath xmlns:m="http://schemas.openxmlformats.org/officeDocument/2006/math">
                    <m:r>
                      <a:rPr lang="en-US" i="1" dirty="0" smtClean="0">
                        <a:latin typeface="Cambria Math"/>
                      </a:rPr>
                      <m:t>𝑖</m:t>
                    </m:r>
                  </m:oMath>
                </a14:m>
                <a:r>
                  <a:rPr lang="en-US" dirty="0"/>
                  <a:t> to do work </a:t>
                </a:r>
                <a14:m>
                  <m:oMath xmlns:m="http://schemas.openxmlformats.org/officeDocument/2006/math">
                    <m:r>
                      <a:rPr lang="en-US" i="1" dirty="0" smtClean="0">
                        <a:latin typeface="Cambria Math"/>
                      </a:rPr>
                      <m:t>𝑗</m:t>
                    </m:r>
                  </m:oMath>
                </a14:m>
                <a:r>
                  <a:rPr lang="en-US" dirty="0"/>
                  <a:t>. Find a way to assign works to each process so that the total time to do </a:t>
                </a:r>
                <a14:m>
                  <m:oMath xmlns:m="http://schemas.openxmlformats.org/officeDocument/2006/math">
                    <m:r>
                      <a:rPr lang="en-US" i="1" dirty="0" smtClean="0">
                        <a:latin typeface="Cambria Math"/>
                      </a:rPr>
                      <m:t>𝑁</m:t>
                    </m:r>
                  </m:oMath>
                </a14:m>
                <a:r>
                  <a:rPr lang="en-US" dirty="0"/>
                  <a:t> works above is minimal.</a:t>
                </a:r>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186227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 (2/3)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p:txBody>
              <a:bodyPr/>
              <a:lstStyle/>
              <a:p>
                <a:r>
                  <a:rPr lang="en-US" b="1" dirty="0">
                    <a:sym typeface="Symbol" pitchFamily="18" charset="2"/>
                  </a:rPr>
                  <a:t>Set of solutions</a:t>
                </a:r>
                <a:r>
                  <a:rPr lang="en-US" dirty="0">
                    <a:sym typeface="Symbol" pitchFamily="18" charset="2"/>
                  </a:rPr>
                  <a:t>: Let </a:t>
                </a:r>
                <a14:m>
                  <m:oMath xmlns:m="http://schemas.openxmlformats.org/officeDocument/2006/math">
                    <m:r>
                      <a:rPr lang="en-US" i="1" dirty="0" smtClean="0">
                        <a:latin typeface="Cambria Math"/>
                        <a:sym typeface="Symbol" pitchFamily="18" charset="2"/>
                      </a:rPr>
                      <m:t>𝑋</m:t>
                    </m:r>
                    <m:r>
                      <a:rPr lang="en-US" i="1" dirty="0" smtClean="0">
                        <a:latin typeface="Cambria Math"/>
                        <a:sym typeface="Symbol" pitchFamily="18" charset="2"/>
                      </a:rPr>
                      <m:t>=(</m:t>
                    </m:r>
                    <m:r>
                      <a:rPr lang="en-US" i="1" dirty="0" smtClean="0">
                        <a:latin typeface="Cambria Math"/>
                        <a:sym typeface="Symbol" pitchFamily="18" charset="2"/>
                      </a:rPr>
                      <m:t>𝑥</m:t>
                    </m:r>
                    <m:r>
                      <a:rPr lang="en-US" i="1" baseline="-25000" dirty="0">
                        <a:latin typeface="Cambria Math"/>
                        <a:sym typeface="Symbol" pitchFamily="18" charset="2"/>
                      </a:rPr>
                      <m:t>1</m:t>
                    </m:r>
                    <m:r>
                      <a:rPr lang="en-US" i="1" dirty="0">
                        <a:latin typeface="Cambria Math"/>
                        <a:sym typeface="Symbol" pitchFamily="18" charset="2"/>
                      </a:rPr>
                      <m:t>,</m:t>
                    </m:r>
                    <m:r>
                      <a:rPr lang="en-US" i="1" dirty="0">
                        <a:latin typeface="Cambria Math"/>
                        <a:sym typeface="Symbol" pitchFamily="18" charset="2"/>
                      </a:rPr>
                      <m:t>𝑥</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𝑁</m:t>
                        </m:r>
                      </m:sub>
                    </m:sSub>
                    <m:r>
                      <a:rPr lang="en-US" i="1" dirty="0">
                        <a:latin typeface="Cambria Math"/>
                        <a:sym typeface="Symbol" pitchFamily="18" charset="2"/>
                      </a:rPr>
                      <m:t>) </m:t>
                    </m:r>
                  </m:oMath>
                </a14:m>
                <a:r>
                  <a:rPr lang="en-US" dirty="0">
                    <a:sym typeface="Symbol" pitchFamily="18" charset="2"/>
                  </a:rPr>
                  <a:t>be a permutation of </a:t>
                </a:r>
                <a14:m>
                  <m:oMath xmlns:m="http://schemas.openxmlformats.org/officeDocument/2006/math">
                    <m:r>
                      <a:rPr lang="en-US" i="1" dirty="0" smtClean="0">
                        <a:latin typeface="Cambria Math"/>
                        <a:sym typeface="Symbol" pitchFamily="18" charset="2"/>
                      </a:rPr>
                      <m:t>1, 2,.</m:t>
                    </m:r>
                    <m:r>
                      <a:rPr lang="en-US" b="0" i="1" dirty="0" smtClean="0">
                        <a:latin typeface="Cambria Math"/>
                        <a:sym typeface="Symbol" pitchFamily="18" charset="2"/>
                      </a:rPr>
                      <m:t>.</m:t>
                    </m:r>
                    <m:r>
                      <a:rPr lang="en-US" i="1" dirty="0" smtClean="0">
                        <a:latin typeface="Cambria Math"/>
                        <a:sym typeface="Symbol" pitchFamily="18" charset="2"/>
                      </a:rPr>
                      <m:t>.,</m:t>
                    </m:r>
                    <m:r>
                      <a:rPr lang="en-US" i="1" dirty="0" smtClean="0">
                        <a:latin typeface="Cambria Math"/>
                        <a:sym typeface="Symbol" pitchFamily="18" charset="2"/>
                      </a:rPr>
                      <m:t>𝑁</m:t>
                    </m:r>
                  </m:oMath>
                </a14:m>
                <a:r>
                  <a:rPr lang="en-US" dirty="0">
                    <a:sym typeface="Symbol" pitchFamily="18" charset="2"/>
                  </a:rPr>
                  <a:t>. If </a:t>
                </a:r>
                <a14:m>
                  <m:oMath xmlns:m="http://schemas.openxmlformats.org/officeDocument/2006/math">
                    <m:r>
                      <a:rPr lang="en-US" i="1" dirty="0" smtClean="0">
                        <a:latin typeface="Cambria Math"/>
                        <a:sym typeface="Symbol" pitchFamily="18" charset="2"/>
                      </a:rPr>
                      <m:t>𝑥</m:t>
                    </m:r>
                    <m:r>
                      <a:rPr lang="en-US" i="1" baseline="-25000" dirty="0">
                        <a:latin typeface="Cambria Math"/>
                        <a:sym typeface="Symbol" pitchFamily="18" charset="2"/>
                      </a:rPr>
                      <m:t>𝑖</m:t>
                    </m:r>
                    <m:r>
                      <a:rPr lang="en-US" i="1" dirty="0">
                        <a:latin typeface="Cambria Math"/>
                        <a:sym typeface="Symbol" pitchFamily="18" charset="2"/>
                      </a:rPr>
                      <m:t>=</m:t>
                    </m:r>
                    <m:r>
                      <a:rPr lang="en-US" i="1" dirty="0">
                        <a:latin typeface="Cambria Math"/>
                        <a:sym typeface="Symbol" pitchFamily="18" charset="2"/>
                      </a:rPr>
                      <m:t>𝑗</m:t>
                    </m:r>
                  </m:oMath>
                </a14:m>
                <a:r>
                  <a:rPr lang="en-US" dirty="0">
                    <a:sym typeface="Symbol" pitchFamily="18" charset="2"/>
                  </a:rPr>
                  <a:t> so we consider the </a:t>
                </a:r>
                <a14:m>
                  <m:oMath xmlns:m="http://schemas.openxmlformats.org/officeDocument/2006/math">
                    <m:r>
                      <a:rPr lang="en-US" i="1" dirty="0" smtClean="0">
                        <a:latin typeface="Cambria Math"/>
                        <a:sym typeface="Symbol" pitchFamily="18" charset="2"/>
                      </a:rPr>
                      <m:t>𝑖</m:t>
                    </m:r>
                    <m:r>
                      <a:rPr lang="en-US" b="0" i="1" baseline="30000" dirty="0" smtClean="0">
                        <a:latin typeface="Cambria Math" panose="02040503050406030204" pitchFamily="18" charset="0"/>
                        <a:sym typeface="Symbol" pitchFamily="18" charset="2"/>
                      </a:rPr>
                      <m:t>𝑡h</m:t>
                    </m:r>
                  </m:oMath>
                </a14:m>
                <a:r>
                  <a:rPr lang="en-US" dirty="0">
                    <a:sym typeface="Symbol" pitchFamily="18" charset="2"/>
                  </a:rPr>
                  <a:t> process to be done with work </a:t>
                </a:r>
                <a14:m>
                  <m:oMath xmlns:m="http://schemas.openxmlformats.org/officeDocument/2006/math">
                    <m:r>
                      <a:rPr lang="en-US" i="1" dirty="0" smtClean="0">
                        <a:latin typeface="Cambria Math"/>
                        <a:sym typeface="Symbol" pitchFamily="18" charset="2"/>
                      </a:rPr>
                      <m:t>𝑗</m:t>
                    </m:r>
                  </m:oMath>
                </a14:m>
                <a:r>
                  <a:rPr lang="en-US" dirty="0">
                    <a:sym typeface="Symbol" pitchFamily="18" charset="2"/>
                  </a:rPr>
                  <a:t>. So, the set of solutions of the problem is the set of permutations of </a:t>
                </a:r>
                <a14:m>
                  <m:oMath xmlns:m="http://schemas.openxmlformats.org/officeDocument/2006/math">
                    <m:r>
                      <a:rPr lang="en-US" i="1" dirty="0" smtClean="0">
                        <a:latin typeface="Cambria Math"/>
                        <a:sym typeface="Symbol" pitchFamily="18" charset="2"/>
                      </a:rPr>
                      <m:t>1</m:t>
                    </m:r>
                    <m:r>
                      <a:rPr lang="en-US" i="1" dirty="0">
                        <a:latin typeface="Cambria Math"/>
                        <a:sym typeface="Symbol" pitchFamily="18" charset="2"/>
                      </a:rPr>
                      <m:t>, 2, .</m:t>
                    </m:r>
                    <m:r>
                      <a:rPr lang="en-US" b="0" i="1" dirty="0" smtClean="0">
                        <a:latin typeface="Cambria Math"/>
                        <a:sym typeface="Symbol" pitchFamily="18" charset="2"/>
                      </a:rPr>
                      <m:t>.</m:t>
                    </m:r>
                    <m:r>
                      <a:rPr lang="en-US" i="1" dirty="0">
                        <a:latin typeface="Cambria Math"/>
                        <a:sym typeface="Symbol" pitchFamily="18" charset="2"/>
                      </a:rPr>
                      <m:t>., </m:t>
                    </m:r>
                    <m:r>
                      <a:rPr lang="en-US" i="1" dirty="0">
                        <a:latin typeface="Cambria Math"/>
                        <a:sym typeface="Symbol" pitchFamily="18" charset="2"/>
                      </a:rPr>
                      <m:t>𝑁</m:t>
                    </m:r>
                  </m:oMath>
                </a14:m>
                <a:r>
                  <a:rPr lang="en-US" dirty="0">
                    <a:sym typeface="Symbol" pitchFamily="18" charset="2"/>
                  </a:rPr>
                  <a:t>.</a:t>
                </a:r>
              </a:p>
              <a:p>
                <a:endParaRPr lang="en-US" dirty="0">
                  <a:sym typeface="Symbol" pitchFamily="18" charset="2"/>
                </a:endParaRPr>
              </a:p>
              <a:p>
                <a:endParaRPr lang="en-US" dirty="0">
                  <a:sym typeface="Symbol" pitchFamily="18" charset="2"/>
                </a:endParaRPr>
              </a:p>
              <a:p>
                <a:r>
                  <a:rPr lang="en-US" b="1" dirty="0">
                    <a:sym typeface="Symbol" pitchFamily="18" charset="2"/>
                  </a:rPr>
                  <a:t>Target function</a:t>
                </a:r>
                <a:r>
                  <a:rPr lang="en-US" dirty="0">
                    <a:sym typeface="Symbol" pitchFamily="18" charset="2"/>
                  </a:rPr>
                  <a:t>: For each solution </a:t>
                </a:r>
                <a14:m>
                  <m:oMath xmlns:m="http://schemas.openxmlformats.org/officeDocument/2006/math">
                    <m:r>
                      <a:rPr lang="en-US" i="1" dirty="0" smtClean="0">
                        <a:latin typeface="Cambria Math"/>
                        <a:sym typeface="Symbol" pitchFamily="18" charset="2"/>
                      </a:rPr>
                      <m:t>𝑋</m:t>
                    </m:r>
                    <m:r>
                      <a:rPr lang="en-US" i="1" dirty="0" smtClean="0">
                        <a:latin typeface="Cambria Math"/>
                        <a:ea typeface="Cambria Math"/>
                        <a:sym typeface="Symbol" pitchFamily="18" charset="2"/>
                      </a:rPr>
                      <m:t>∈</m:t>
                    </m:r>
                    <m:r>
                      <a:rPr lang="en-US" i="1" dirty="0" smtClean="0">
                        <a:latin typeface="Cambria Math"/>
                        <a:sym typeface="Symbol" pitchFamily="18" charset="2"/>
                      </a:rPr>
                      <m:t>𝐷</m:t>
                    </m:r>
                  </m:oMath>
                </a14:m>
                <a:r>
                  <a:rPr lang="en-US" dirty="0">
                    <a:sym typeface="Symbol" pitchFamily="18" charset="2"/>
                  </a:rPr>
                  <a:t>, the execution time of each solution is:</a:t>
                </a:r>
              </a:p>
              <a:p>
                <a:endParaRPr lang="en-US" dirty="0">
                  <a:sym typeface="Symbol" pitchFamily="18" charset="2"/>
                </a:endParaRPr>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1111" r="-1926"/>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243638632"/>
              </p:ext>
            </p:extLst>
          </p:nvPr>
        </p:nvGraphicFramePr>
        <p:xfrm>
          <a:off x="608013" y="3160713"/>
          <a:ext cx="7961312" cy="573087"/>
        </p:xfrm>
        <a:graphic>
          <a:graphicData uri="http://schemas.openxmlformats.org/presentationml/2006/ole">
            <mc:AlternateContent xmlns:mc="http://schemas.openxmlformats.org/markup-compatibility/2006">
              <mc:Choice xmlns:v="urn:schemas-microsoft-com:vml" Requires="v">
                <p:oleObj spid="_x0000_s9240" name="Equation" r:id="rId4" imgW="3352680" imgH="241200" progId="Equation.3">
                  <p:embed/>
                </p:oleObj>
              </mc:Choice>
              <mc:Fallback>
                <p:oleObj name="Equation" r:id="rId4" imgW="3352680" imgH="241200" progId="Equation.3">
                  <p:embed/>
                  <p:pic>
                    <p:nvPicPr>
                      <p:cNvPr id="0" name="Object 5"/>
                      <p:cNvPicPr>
                        <a:picLocks noChangeAspect="1" noChangeArrowheads="1"/>
                      </p:cNvPicPr>
                      <p:nvPr/>
                    </p:nvPicPr>
                    <p:blipFill>
                      <a:blip r:embed="rId5"/>
                      <a:srcRect/>
                      <a:stretch>
                        <a:fillRect/>
                      </a:stretch>
                    </p:blipFill>
                    <p:spPr bwMode="auto">
                      <a:xfrm>
                        <a:off x="608013" y="3160713"/>
                        <a:ext cx="7961312"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805663895"/>
              </p:ext>
            </p:extLst>
          </p:nvPr>
        </p:nvGraphicFramePr>
        <p:xfrm>
          <a:off x="1985963" y="4787900"/>
          <a:ext cx="3500437" cy="1003300"/>
        </p:xfrm>
        <a:graphic>
          <a:graphicData uri="http://schemas.openxmlformats.org/presentationml/2006/ole">
            <mc:AlternateContent xmlns:mc="http://schemas.openxmlformats.org/markup-compatibility/2006">
              <mc:Choice xmlns:v="urn:schemas-microsoft-com:vml" Requires="v">
                <p:oleObj spid="_x0000_s9241" name="Equation" r:id="rId6" imgW="1511300" imgH="431800" progId="Equation.3">
                  <p:embed/>
                </p:oleObj>
              </mc:Choice>
              <mc:Fallback>
                <p:oleObj name="Equation" r:id="rId6" imgW="1511300" imgH="431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5963" y="4787900"/>
                        <a:ext cx="3500437"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3139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 (3/3)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spcBef>
                    <a:spcPct val="50000"/>
                  </a:spcBef>
                </a:pPr>
                <a:r>
                  <a:rPr lang="en-US" sz="2000" b="1" dirty="0"/>
                  <a:t>Problem can be restated as follows </a:t>
                </a:r>
              </a:p>
              <a:p>
                <a:pPr>
                  <a:spcBef>
                    <a:spcPct val="50000"/>
                  </a:spcBef>
                </a:pPr>
                <a:r>
                  <a:rPr lang="en-US" sz="2000" b="1" dirty="0"/>
                  <a:t>Input:</a:t>
                </a:r>
                <a:endParaRPr lang="en-US" sz="2000" dirty="0"/>
              </a:p>
              <a:p>
                <a:pPr lvl="1">
                  <a:spcBef>
                    <a:spcPct val="50000"/>
                  </a:spcBef>
                </a:pPr>
                <a:r>
                  <a:rPr lang="en-US" dirty="0"/>
                  <a:t>Number of processes: </a:t>
                </a:r>
                <a14:m>
                  <m:oMath xmlns:m="http://schemas.openxmlformats.org/officeDocument/2006/math">
                    <m:r>
                      <a:rPr lang="en-US" i="1" dirty="0" smtClean="0">
                        <a:latin typeface="Cambria Math"/>
                      </a:rPr>
                      <m:t>𝑁</m:t>
                    </m:r>
                  </m:oMath>
                </a14:m>
                <a:endParaRPr lang="en-US" dirty="0"/>
              </a:p>
              <a:p>
                <a:pPr lvl="1">
                  <a:spcBef>
                    <a:spcPct val="50000"/>
                  </a:spcBef>
                </a:pPr>
                <a:r>
                  <a:rPr lang="en-US" dirty="0"/>
                  <a:t>Cost matrix for time: </a:t>
                </a:r>
                <a14:m>
                  <m:oMath xmlns:m="http://schemas.openxmlformats.org/officeDocument/2006/math">
                    <m:r>
                      <a:rPr lang="en-US" i="1" dirty="0" smtClean="0">
                        <a:latin typeface="Cambria Math"/>
                      </a:rPr>
                      <m:t>𝐶</m:t>
                    </m:r>
                    <m:r>
                      <a:rPr lang="en-US" i="1" dirty="0" smtClean="0">
                        <a:latin typeface="Cambria Math"/>
                      </a:rPr>
                      <m:t>[</m:t>
                    </m:r>
                    <m:r>
                      <a:rPr lang="en-US" i="1" dirty="0" smtClean="0">
                        <a:latin typeface="Cambria Math"/>
                      </a:rPr>
                      <m:t>𝑁</m:t>
                    </m:r>
                    <m:r>
                      <a:rPr lang="en-US" i="1" dirty="0" smtClean="0">
                        <a:latin typeface="Cambria Math"/>
                      </a:rPr>
                      <m:t>][</m:t>
                    </m:r>
                    <m:r>
                      <a:rPr lang="en-US" i="1" dirty="0" smtClean="0">
                        <a:latin typeface="Cambria Math"/>
                      </a:rPr>
                      <m:t>𝑁</m:t>
                    </m:r>
                    <m:r>
                      <a:rPr lang="en-US" i="1" dirty="0" smtClean="0">
                        <a:latin typeface="Cambria Math"/>
                      </a:rPr>
                      <m:t>]</m:t>
                    </m:r>
                  </m:oMath>
                </a14:m>
                <a:endParaRPr lang="en-US" dirty="0"/>
              </a:p>
              <a:p>
                <a:pPr algn="just">
                  <a:spcBef>
                    <a:spcPct val="50000"/>
                  </a:spcBef>
                </a:pPr>
                <a:r>
                  <a:rPr lang="en-US" sz="2000" b="1" dirty="0"/>
                  <a:t>Output</a:t>
                </a:r>
                <a:r>
                  <a:rPr lang="en-US" sz="2000" dirty="0"/>
                  <a:t>:</a:t>
                </a:r>
              </a:p>
              <a:p>
                <a:pPr lvl="1">
                  <a:spcBef>
                    <a:spcPct val="50000"/>
                  </a:spcBef>
                </a:pPr>
                <a:r>
                  <a:rPr lang="en-US" dirty="0"/>
                  <a:t>Optimal solution: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a:rPr>
                          <m:t>𝑋</m:t>
                        </m:r>
                      </m:e>
                      <m:sup>
                        <m:r>
                          <a:rPr lang="en-US" b="0" i="1" dirty="0" smtClean="0">
                            <a:latin typeface="Cambria Math"/>
                          </a:rPr>
                          <m:t>∗</m:t>
                        </m:r>
                      </m:sup>
                    </m:sSup>
                    <m:r>
                      <a:rPr lang="en-US" i="1" dirty="0" smtClean="0">
                        <a:latin typeface="Cambria Math"/>
                        <a:ea typeface="Cambria Math"/>
                        <a:sym typeface="Symbol" pitchFamily="18" charset="2"/>
                      </a:rPr>
                      <m:t>∈</m:t>
                    </m:r>
                    <m:r>
                      <a:rPr lang="en-US" i="1" dirty="0" smtClean="0">
                        <a:latin typeface="Cambria Math"/>
                        <a:sym typeface="Symbol" pitchFamily="18" charset="2"/>
                      </a:rPr>
                      <m:t>𝐷</m:t>
                    </m:r>
                  </m:oMath>
                </a14:m>
                <a:endParaRPr lang="en-US" dirty="0"/>
              </a:p>
              <a:p>
                <a:pPr lvl="1">
                  <a:spcBef>
                    <a:spcPct val="50000"/>
                  </a:spcBef>
                </a:pPr>
                <a:r>
                  <a:rPr lang="en-US" dirty="0"/>
                  <a:t>Optimal value: </a:t>
                </a:r>
                <a14:m>
                  <m:oMath xmlns:m="http://schemas.openxmlformats.org/officeDocument/2006/math">
                    <m:r>
                      <a:rPr lang="en-US" i="1" dirty="0" smtClean="0">
                        <a:latin typeface="Cambria Math"/>
                      </a:rPr>
                      <m:t>𝑓</m:t>
                    </m:r>
                    <m:r>
                      <a:rPr lang="en-US" i="1" dirty="0" smtClean="0">
                        <a:latin typeface="Cambria Math"/>
                      </a:rPr>
                      <m:t>(</m:t>
                    </m:r>
                    <m:sSup>
                      <m:sSupPr>
                        <m:ctrlPr>
                          <a:rPr lang="en-US" i="1" dirty="0" smtClean="0">
                            <a:latin typeface="Cambria Math" panose="02040503050406030204" pitchFamily="18" charset="0"/>
                          </a:rPr>
                        </m:ctrlPr>
                      </m:sSupPr>
                      <m:e>
                        <m:r>
                          <a:rPr lang="en-US" b="0" i="1" dirty="0" smtClean="0">
                            <a:latin typeface="Cambria Math"/>
                          </a:rPr>
                          <m:t>𝑋</m:t>
                        </m:r>
                      </m:e>
                      <m:sup>
                        <m:r>
                          <a:rPr lang="en-US" b="0" i="1" dirty="0" smtClean="0">
                            <a:latin typeface="Cambria Math"/>
                          </a:rPr>
                          <m:t>∗</m:t>
                        </m:r>
                      </m:sup>
                    </m:sSup>
                    <m:r>
                      <a:rPr lang="en-US" i="1" dirty="0" smtClean="0">
                        <a:latin typeface="Cambria Math"/>
                      </a:rPr>
                      <m:t>)</m:t>
                    </m:r>
                  </m:oMath>
                </a14:m>
                <a:endParaRPr lang="en-US" dirty="0"/>
              </a:p>
              <a:p>
                <a:pPr>
                  <a:spcBef>
                    <a:spcPct val="50000"/>
                  </a:spcBef>
                </a:pPr>
                <a:r>
                  <a:rPr lang="en-US" sz="2000" dirty="0"/>
                  <a:t>Where: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296" t="-617"/>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1993396506"/>
              </p:ext>
            </p:extLst>
          </p:nvPr>
        </p:nvGraphicFramePr>
        <p:xfrm>
          <a:off x="1600200" y="5321300"/>
          <a:ext cx="3500437" cy="1003300"/>
        </p:xfrm>
        <a:graphic>
          <a:graphicData uri="http://schemas.openxmlformats.org/presentationml/2006/ole">
            <mc:AlternateContent xmlns:mc="http://schemas.openxmlformats.org/markup-compatibility/2006">
              <mc:Choice xmlns:v="urn:schemas-microsoft-com:vml" Requires="v">
                <p:oleObj spid="_x0000_s10264" name="Equation" r:id="rId4" imgW="1511300" imgH="431800" progId="Equation.3">
                  <p:embed/>
                </p:oleObj>
              </mc:Choice>
              <mc:Fallback>
                <p:oleObj name="Equation" r:id="rId4" imgW="1511300" imgH="4318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5321300"/>
                        <a:ext cx="3500437"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887303131"/>
              </p:ext>
            </p:extLst>
          </p:nvPr>
        </p:nvGraphicFramePr>
        <p:xfrm>
          <a:off x="752475" y="4862513"/>
          <a:ext cx="8081963" cy="573087"/>
        </p:xfrm>
        <a:graphic>
          <a:graphicData uri="http://schemas.openxmlformats.org/presentationml/2006/ole">
            <mc:AlternateContent xmlns:mc="http://schemas.openxmlformats.org/markup-compatibility/2006">
              <mc:Choice xmlns:v="urn:schemas-microsoft-com:vml" Requires="v">
                <p:oleObj spid="_x0000_s10265" name="Equation" r:id="rId6" imgW="3403440" imgH="241200" progId="Equation.3">
                  <p:embed/>
                </p:oleObj>
              </mc:Choice>
              <mc:Fallback>
                <p:oleObj name="Equation" r:id="rId6" imgW="3403440" imgH="241200" progId="Equation.3">
                  <p:embed/>
                  <p:pic>
                    <p:nvPicPr>
                      <p:cNvPr id="0" name="Object 12"/>
                      <p:cNvPicPr>
                        <a:picLocks noChangeAspect="1" noChangeArrowheads="1"/>
                      </p:cNvPicPr>
                      <p:nvPr/>
                    </p:nvPicPr>
                    <p:blipFill>
                      <a:blip r:embed="rId7"/>
                      <a:srcRect/>
                      <a:stretch>
                        <a:fillRect/>
                      </a:stretch>
                    </p:blipFill>
                    <p:spPr bwMode="auto">
                      <a:xfrm>
                        <a:off x="752475" y="4862513"/>
                        <a:ext cx="8081963"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 Box 12"/>
              <p:cNvSpPr txBox="1">
                <a:spLocks noChangeArrowheads="1"/>
              </p:cNvSpPr>
              <p:nvPr/>
            </p:nvSpPr>
            <p:spPr bwMode="auto">
              <a:xfrm>
                <a:off x="5562600" y="5638800"/>
                <a:ext cx="14478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with </a:t>
                </a:r>
                <a14:m>
                  <m:oMath xmlns:m="http://schemas.openxmlformats.org/officeDocument/2006/math">
                    <m:r>
                      <a:rPr lang="en-US" i="1" dirty="0" smtClean="0">
                        <a:latin typeface="Cambria Math"/>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oMath>
                </a14:m>
                <a:endParaRPr lang="en-US" dirty="0">
                  <a:sym typeface="Symbol" pitchFamily="18" charset="2"/>
                </a:endParaRPr>
              </a:p>
            </p:txBody>
          </p:sp>
        </mc:Choice>
        <mc:Fallback xmlns="">
          <p:sp>
            <p:nvSpPr>
              <p:cNvPr id="8" name="Text Box 12"/>
              <p:cNvSpPr txBox="1">
                <a:spLocks noRot="1" noChangeAspect="1" noMove="1" noResize="1" noEditPoints="1" noAdjustHandles="1" noChangeArrowheads="1" noChangeShapeType="1" noTextEdit="1"/>
              </p:cNvSpPr>
              <p:nvPr/>
            </p:nvSpPr>
            <p:spPr bwMode="auto">
              <a:xfrm>
                <a:off x="5562600" y="5638800"/>
                <a:ext cx="1447800" cy="369332"/>
              </a:xfrm>
              <a:prstGeom prst="rect">
                <a:avLst/>
              </a:prstGeom>
              <a:blipFill>
                <a:blip r:embed="rId8"/>
                <a:stretch>
                  <a:fillRect l="-3797" t="-8197" b="-245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65222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dirty="0">
                <a:solidFill>
                  <a:schemeClr val="bg1">
                    <a:lumMod val="75000"/>
                  </a:schemeClr>
                </a:solidFill>
              </a:rPr>
              <a:t>Introduction</a:t>
            </a:r>
          </a:p>
          <a:p>
            <a:pPr>
              <a:spcBef>
                <a:spcPct val="50000"/>
              </a:spcBef>
            </a:pPr>
            <a:r>
              <a:rPr lang="en-US" dirty="0"/>
              <a:t>Brute force algorithm </a:t>
            </a:r>
          </a:p>
          <a:p>
            <a:pPr>
              <a:spcBef>
                <a:spcPct val="50000"/>
              </a:spcBef>
            </a:pPr>
            <a:r>
              <a:rPr lang="en-US" dirty="0"/>
              <a:t>Branch and bound algorithm</a:t>
            </a:r>
          </a:p>
          <a:p>
            <a:pPr>
              <a:spcBef>
                <a:spcPct val="50000"/>
              </a:spcBef>
            </a:pPr>
            <a:r>
              <a:rPr lang="en-US" dirty="0"/>
              <a:t>Exercise</a:t>
            </a:r>
          </a:p>
          <a:p>
            <a:endParaRPr lang="en-US" dirty="0"/>
          </a:p>
        </p:txBody>
      </p:sp>
    </p:spTree>
    <p:extLst>
      <p:ext uri="{BB962C8B-B14F-4D97-AF65-F5344CB8AC3E}">
        <p14:creationId xmlns:p14="http://schemas.microsoft.com/office/powerpoint/2010/main" val="2179353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Brute force algorithm</a:t>
            </a:r>
          </a:p>
        </p:txBody>
      </p:sp>
      <p:sp>
        <p:nvSpPr>
          <p:cNvPr id="3" name="Footer Placeholder 2"/>
          <p:cNvSpPr>
            <a:spLocks noGrp="1"/>
          </p:cNvSpPr>
          <p:nvPr>
            <p:ph type="ftr" sz="quarter" idx="11"/>
          </p:nvPr>
        </p:nvSpPr>
        <p:spPr/>
        <p:txBody>
          <a:bodyPr/>
          <a:lstStyle/>
          <a:p>
            <a:r>
              <a:rPr lang="en-US" dirty="0"/>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Assume that </a:t>
                </a:r>
                <a14:m>
                  <m:oMath xmlns:m="http://schemas.openxmlformats.org/officeDocument/2006/math">
                    <m:r>
                      <a:rPr lang="en-US" i="1" dirty="0" smtClean="0">
                        <a:latin typeface="Cambria Math"/>
                      </a:rPr>
                      <m:t>𝐷</m:t>
                    </m:r>
                  </m:oMath>
                </a14:m>
                <a:r>
                  <a:rPr lang="en-US" dirty="0"/>
                  <a:t> is the set of solutions. We need to </a:t>
                </a:r>
                <a:r>
                  <a:rPr lang="en-US" dirty="0" err="1"/>
                  <a:t>find</a:t>
                </a:r>
                <a14:m>
                  <m:oMath xmlns:m="http://schemas.openxmlformats.org/officeDocument/2006/math">
                    <m:r>
                      <a:rPr lang="en-US" b="0" i="0"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b="0" i="1" dirty="0" smtClean="0">
                            <a:latin typeface="Cambria Math"/>
                          </a:rPr>
                          <m:t>𝑋</m:t>
                        </m:r>
                      </m:e>
                      <m:sup>
                        <m:r>
                          <a:rPr lang="en-US" b="0" i="1" dirty="0" smtClean="0">
                            <a:latin typeface="Cambria Math"/>
                          </a:rPr>
                          <m:t>∗</m:t>
                        </m:r>
                      </m:sup>
                    </m:sSup>
                    <m:r>
                      <a:rPr lang="en-US" i="1" dirty="0" smtClean="0">
                        <a:latin typeface="Cambria Math"/>
                        <a:ea typeface="Cambria Math"/>
                      </a:rPr>
                      <m:t>∈</m:t>
                    </m:r>
                    <m:r>
                      <a:rPr lang="en-US" i="1" dirty="0">
                        <a:latin typeface="Cambria Math"/>
                        <a:sym typeface="Symbol" pitchFamily="18" charset="2"/>
                      </a:rPr>
                      <m:t>𝐷</m:t>
                    </m:r>
                  </m:oMath>
                </a14:m>
                <a:r>
                  <a:rPr lang="en-US" dirty="0">
                    <a:sym typeface="Symbol" pitchFamily="18" charset="2"/>
                  </a:rPr>
                  <a:t> so that </a:t>
                </a:r>
                <a14:m>
                  <m:oMath xmlns:m="http://schemas.openxmlformats.org/officeDocument/2006/math">
                    <m:r>
                      <a:rPr lang="en-US" i="1" dirty="0" smtClean="0">
                        <a:latin typeface="Cambria Math"/>
                        <a:sym typeface="Symbol" pitchFamily="18" charset="2"/>
                      </a:rPr>
                      <m:t>𝑓</m:t>
                    </m:r>
                    <m:r>
                      <a:rPr lang="en-US" i="1" dirty="0" smtClean="0">
                        <a:latin typeface="Cambria Math"/>
                        <a:sym typeface="Symbol" pitchFamily="18" charset="2"/>
                      </a:rPr>
                      <m:t>(</m:t>
                    </m:r>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𝑋</m:t>
                        </m:r>
                      </m:e>
                      <m:sup>
                        <m:r>
                          <a:rPr lang="en-US" b="0" i="1" dirty="0" smtClean="0">
                            <a:latin typeface="Cambria Math"/>
                            <a:sym typeface="Symbol" pitchFamily="18" charset="2"/>
                          </a:rPr>
                          <m:t>∗</m:t>
                        </m:r>
                      </m:sup>
                    </m:sSup>
                    <m:r>
                      <a:rPr lang="en-US" i="1" dirty="0" smtClean="0">
                        <a:latin typeface="Cambria Math"/>
                        <a:sym typeface="Symbol" pitchFamily="18" charset="2"/>
                      </a:rPr>
                      <m:t>)</m:t>
                    </m:r>
                    <m:r>
                      <m:rPr>
                        <m:sty m:val="p"/>
                      </m:rPr>
                      <a:rPr lang="en-US" i="1" dirty="0" smtClean="0">
                        <a:latin typeface="Cambria Math"/>
                        <a:sym typeface="Symbol" pitchFamily="18" charset="2"/>
                      </a:rPr>
                      <m:t>max</m:t>
                    </m:r>
                    <m:r>
                      <a:rPr lang="en-US" i="1" dirty="0" smtClean="0">
                        <a:latin typeface="Cambria Math"/>
                        <a:sym typeface="Symbol" pitchFamily="18" charset="2"/>
                      </a:rPr>
                      <m:t>⁡(</m:t>
                    </m:r>
                    <m:r>
                      <m:rPr>
                        <m:sty m:val="p"/>
                      </m:rPr>
                      <a:rPr lang="en-US" i="1" dirty="0" smtClean="0">
                        <a:latin typeface="Cambria Math"/>
                        <a:sym typeface="Symbol" pitchFamily="18" charset="2"/>
                      </a:rPr>
                      <m:t>min</m:t>
                    </m:r>
                    <m:r>
                      <a:rPr lang="en-US" i="1" dirty="0" smtClean="0">
                        <a:latin typeface="Cambria Math"/>
                        <a:sym typeface="Symbol" pitchFamily="18" charset="2"/>
                      </a:rPr>
                      <m:t>)</m:t>
                    </m:r>
                  </m:oMath>
                </a14:m>
                <a:r>
                  <a:rPr lang="en-US" dirty="0">
                    <a:sym typeface="Symbol" pitchFamily="18" charset="2"/>
                  </a:rPr>
                  <a:t>. Brute force algorithm is carried out as follows:</a:t>
                </a: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906303" y="2362201"/>
                <a:ext cx="6637497" cy="4185761"/>
              </a:xfrm>
              <a:prstGeom prst="rect">
                <a:avLst/>
              </a:prstGeom>
              <a:noFill/>
            </p:spPr>
            <p:txBody>
              <a:bodyPr wrap="square" rtlCol="0">
                <a:spAutoFit/>
              </a:bodyPr>
              <a:lstStyle/>
              <a:p>
                <a:pPr>
                  <a:spcBef>
                    <a:spcPct val="50000"/>
                  </a:spcBef>
                </a:pPr>
                <a:r>
                  <a:rPr lang="en-US" sz="1400" b="1" u="sng" dirty="0">
                    <a:latin typeface="+mj-lt"/>
                  </a:rPr>
                  <a:t>Step 1</a:t>
                </a:r>
                <a:r>
                  <a:rPr lang="en-US" sz="1400" b="1" dirty="0">
                    <a:latin typeface="+mj-lt"/>
                  </a:rPr>
                  <a:t> </a:t>
                </a:r>
                <a:r>
                  <a:rPr lang="en-US" sz="1400" dirty="0">
                    <a:latin typeface="+mj-lt"/>
                  </a:rPr>
                  <a:t>(Init</a:t>
                </a:r>
                <a:r>
                  <a:rPr lang="en-US" sz="1400" b="1" dirty="0">
                    <a:latin typeface="+mj-lt"/>
                  </a:rPr>
                  <a:t>):</a:t>
                </a:r>
              </a:p>
              <a:p>
                <a:pPr>
                  <a:spcBef>
                    <a:spcPct val="50000"/>
                  </a:spcBef>
                </a:pPr>
                <a:r>
                  <a:rPr lang="en-US" sz="1400" dirty="0">
                    <a:latin typeface="+mj-lt"/>
                  </a:rPr>
                  <a:t>	</a:t>
                </a:r>
                <a14:m>
                  <m:oMath xmlns:m="http://schemas.openxmlformats.org/officeDocument/2006/math">
                    <m:r>
                      <a:rPr lang="en-US" sz="1400" i="1" dirty="0" smtClean="0">
                        <a:latin typeface="Cambria Math"/>
                      </a:rPr>
                      <m:t>𝑋𝑂𝑃𝑇</m:t>
                    </m:r>
                    <m:r>
                      <a:rPr lang="en-US" sz="1400" i="1" dirty="0" smtClean="0">
                        <a:latin typeface="Cambria Math"/>
                      </a:rPr>
                      <m:t>=∅</m:t>
                    </m:r>
                  </m:oMath>
                </a14:m>
                <a:r>
                  <a:rPr lang="en-US" sz="1400" dirty="0">
                    <a:latin typeface="+mj-lt"/>
                    <a:sym typeface="Symbol" pitchFamily="18" charset="2"/>
                  </a:rPr>
                  <a:t>; //Optimal solution</a:t>
                </a:r>
              </a:p>
              <a:p>
                <a:pPr>
                  <a:spcBef>
                    <a:spcPct val="50000"/>
                  </a:spcBef>
                </a:pPr>
                <a:r>
                  <a:rPr lang="en-US" sz="1400" dirty="0">
                    <a:latin typeface="+mj-lt"/>
                    <a:sym typeface="Symbol" pitchFamily="18" charset="2"/>
                  </a:rPr>
                  <a:t>	</a:t>
                </a:r>
                <a14:m>
                  <m:oMath xmlns:m="http://schemas.openxmlformats.org/officeDocument/2006/math">
                    <m:r>
                      <a:rPr lang="en-US" sz="1400" i="1" dirty="0" smtClean="0">
                        <a:latin typeface="Cambria Math"/>
                        <a:sym typeface="Symbol" pitchFamily="18" charset="2"/>
                      </a:rPr>
                      <m:t>𝐹𝑂𝑃𝑇</m:t>
                    </m:r>
                    <m:r>
                      <a:rPr lang="en-US" sz="1400" i="1" dirty="0">
                        <a:latin typeface="Cambria Math"/>
                        <a:sym typeface="Symbol" pitchFamily="18" charset="2"/>
                      </a:rPr>
                      <m:t>=−  (+ );</m:t>
                    </m:r>
                  </m:oMath>
                </a14:m>
                <a:r>
                  <a:rPr lang="en-US" sz="1400" dirty="0">
                    <a:latin typeface="+mj-lt"/>
                    <a:sym typeface="Symbol" pitchFamily="18" charset="2"/>
                  </a:rPr>
                  <a:t>//Optimal value</a:t>
                </a:r>
              </a:p>
              <a:p>
                <a:pPr>
                  <a:spcBef>
                    <a:spcPct val="50000"/>
                  </a:spcBef>
                </a:pPr>
                <a:r>
                  <a:rPr lang="en-US" sz="1400" b="1" u="sng" dirty="0">
                    <a:latin typeface="+mj-lt"/>
                    <a:sym typeface="Symbol" pitchFamily="18" charset="2"/>
                  </a:rPr>
                  <a:t>Step 2 </a:t>
                </a:r>
                <a:r>
                  <a:rPr lang="en-US" sz="1400" dirty="0">
                    <a:latin typeface="+mj-lt"/>
                    <a:sym typeface="Symbol" pitchFamily="18" charset="2"/>
                  </a:rPr>
                  <a:t>(</a:t>
                </a:r>
                <a:r>
                  <a:rPr lang="en-US" sz="1400" i="1" dirty="0">
                    <a:latin typeface="+mj-lt"/>
                    <a:sym typeface="Symbol" pitchFamily="18" charset="2"/>
                  </a:rPr>
                  <a:t>Loop</a:t>
                </a:r>
                <a:r>
                  <a:rPr lang="en-US" sz="1400" dirty="0">
                    <a:latin typeface="+mj-lt"/>
                    <a:sym typeface="Symbol" pitchFamily="18" charset="2"/>
                  </a:rPr>
                  <a:t>):</a:t>
                </a:r>
              </a:p>
              <a:p>
                <a:pPr>
                  <a:spcBef>
                    <a:spcPct val="50000"/>
                  </a:spcBef>
                </a:pPr>
                <a:r>
                  <a:rPr lang="en-US" sz="1400" dirty="0">
                    <a:latin typeface="+mj-lt"/>
                    <a:sym typeface="Symbol" pitchFamily="18" charset="2"/>
                  </a:rPr>
                  <a:t>	</a:t>
                </a:r>
                <a:r>
                  <a:rPr lang="en-US" sz="1400" b="1" dirty="0">
                    <a:latin typeface="+mj-lt"/>
                    <a:sym typeface="Symbol" pitchFamily="18" charset="2"/>
                  </a:rPr>
                  <a:t>for</a:t>
                </a:r>
                <a:r>
                  <a:rPr lang="en-US" sz="1400" dirty="0">
                    <a:latin typeface="+mj-lt"/>
                    <a:sym typeface="Symbol" pitchFamily="18" charset="2"/>
                  </a:rPr>
                  <a:t> (</a:t>
                </a:r>
                <a14:m>
                  <m:oMath xmlns:m="http://schemas.openxmlformats.org/officeDocument/2006/math">
                    <m:r>
                      <a:rPr lang="en-US" sz="1400" i="1" dirty="0" smtClean="0">
                        <a:latin typeface="Cambria Math"/>
                        <a:sym typeface="Symbol" pitchFamily="18" charset="2"/>
                      </a:rPr>
                      <m:t>𝑋</m:t>
                    </m:r>
                    <m:r>
                      <a:rPr lang="en-US" sz="1400" i="1" dirty="0" smtClean="0">
                        <a:latin typeface="Cambria Math"/>
                        <a:ea typeface="Cambria Math"/>
                        <a:sym typeface="Symbol" pitchFamily="18" charset="2"/>
                      </a:rPr>
                      <m:t>∈</m:t>
                    </m:r>
                    <m:r>
                      <a:rPr lang="en-US" sz="1400" i="1" dirty="0" smtClean="0">
                        <a:latin typeface="Cambria Math"/>
                        <a:sym typeface="Symbol" pitchFamily="18" charset="2"/>
                      </a:rPr>
                      <m:t>𝐷</m:t>
                    </m:r>
                  </m:oMath>
                </a14:m>
                <a:r>
                  <a:rPr lang="en-US" sz="1400" dirty="0">
                    <a:latin typeface="+mj-lt"/>
                    <a:sym typeface="Symbol" pitchFamily="18" charset="2"/>
                  </a:rPr>
                  <a:t>){ //Each element from set of solutions</a:t>
                </a:r>
              </a:p>
              <a:p>
                <a:pPr>
                  <a:spcBef>
                    <a:spcPct val="50000"/>
                  </a:spcBef>
                </a:pPr>
                <a:r>
                  <a:rPr lang="en-US" sz="1400" dirty="0">
                    <a:latin typeface="+mj-lt"/>
                    <a:sym typeface="Symbol" pitchFamily="18" charset="2"/>
                  </a:rPr>
                  <a:t>	        </a:t>
                </a:r>
                <a14:m>
                  <m:oMath xmlns:m="http://schemas.openxmlformats.org/officeDocument/2006/math">
                    <m:r>
                      <a:rPr lang="en-US" sz="1400" i="1" dirty="0" smtClean="0">
                        <a:latin typeface="Cambria Math"/>
                        <a:sym typeface="Symbol" pitchFamily="18" charset="2"/>
                      </a:rPr>
                      <m:t>𝑆</m:t>
                    </m:r>
                    <m:r>
                      <a:rPr lang="en-US" sz="1400" i="1" dirty="0">
                        <a:latin typeface="Cambria Math"/>
                        <a:sym typeface="Symbol" pitchFamily="18" charset="2"/>
                      </a:rPr>
                      <m:t>=</m:t>
                    </m:r>
                    <m:r>
                      <a:rPr lang="en-US" sz="1400" i="1" dirty="0">
                        <a:latin typeface="Cambria Math"/>
                        <a:sym typeface="Symbol" pitchFamily="18" charset="2"/>
                      </a:rPr>
                      <m:t>𝑓</m:t>
                    </m:r>
                    <m:r>
                      <a:rPr lang="en-US" sz="1400" i="1" dirty="0">
                        <a:latin typeface="Cambria Math"/>
                        <a:sym typeface="Symbol" pitchFamily="18" charset="2"/>
                      </a:rPr>
                      <m:t>(</m:t>
                    </m:r>
                    <m:r>
                      <a:rPr lang="en-US" sz="1400" i="1" dirty="0">
                        <a:latin typeface="Cambria Math"/>
                        <a:sym typeface="Symbol" pitchFamily="18" charset="2"/>
                      </a:rPr>
                      <m:t>𝑋</m:t>
                    </m:r>
                  </m:oMath>
                </a14:m>
                <a:r>
                  <a:rPr lang="en-US" sz="1400" dirty="0">
                    <a:latin typeface="+mj-lt"/>
                    <a:sym typeface="Symbol" pitchFamily="18" charset="2"/>
                  </a:rPr>
                  <a:t>);// compute value of target function for solution X</a:t>
                </a:r>
              </a:p>
              <a:p>
                <a:pPr>
                  <a:spcBef>
                    <a:spcPct val="50000"/>
                  </a:spcBef>
                </a:pPr>
                <a:r>
                  <a:rPr lang="en-US" sz="1400" dirty="0">
                    <a:latin typeface="+mj-lt"/>
                    <a:sym typeface="Symbol" pitchFamily="18" charset="2"/>
                  </a:rPr>
                  <a:t>	        </a:t>
                </a:r>
                <a:r>
                  <a:rPr lang="en-US" sz="1400" b="1" dirty="0">
                    <a:latin typeface="+mj-lt"/>
                    <a:sym typeface="Symbol" pitchFamily="18" charset="2"/>
                  </a:rPr>
                  <a:t>if</a:t>
                </a:r>
                <a:r>
                  <a:rPr lang="en-US" sz="1400" dirty="0">
                    <a:latin typeface="+mj-lt"/>
                    <a:sym typeface="Symbol" pitchFamily="18" charset="2"/>
                  </a:rPr>
                  <a:t> ( </a:t>
                </a:r>
                <a14:m>
                  <m:oMath xmlns:m="http://schemas.openxmlformats.org/officeDocument/2006/math">
                    <m:r>
                      <a:rPr lang="en-US" sz="1400" i="1" dirty="0" smtClean="0">
                        <a:latin typeface="Cambria Math"/>
                        <a:sym typeface="Symbol" pitchFamily="18" charset="2"/>
                      </a:rPr>
                      <m:t>𝐹𝑂𝑃𝑇</m:t>
                    </m:r>
                    <m:r>
                      <a:rPr lang="en-US" sz="1400" i="1" dirty="0" smtClean="0">
                        <a:latin typeface="Cambria Math"/>
                        <a:sym typeface="Symbol" pitchFamily="18" charset="2"/>
                      </a:rPr>
                      <m:t>&lt;</m:t>
                    </m:r>
                    <m:r>
                      <a:rPr lang="en-US" sz="1400" i="1" dirty="0" smtClean="0">
                        <a:latin typeface="Cambria Math"/>
                        <a:sym typeface="Symbol" pitchFamily="18" charset="2"/>
                      </a:rPr>
                      <m:t>𝑆</m:t>
                    </m:r>
                  </m:oMath>
                </a14:m>
                <a:r>
                  <a:rPr lang="en-US" sz="1400" dirty="0">
                    <a:latin typeface="+mj-lt"/>
                    <a:sym typeface="Symbol" pitchFamily="18" charset="2"/>
                  </a:rPr>
                  <a:t> ) { //Update optimal solution</a:t>
                </a:r>
              </a:p>
              <a:p>
                <a:pPr>
                  <a:spcBef>
                    <a:spcPct val="50000"/>
                  </a:spcBef>
                </a:pPr>
                <a:r>
                  <a:rPr lang="en-US" sz="1400" dirty="0">
                    <a:latin typeface="+mj-lt"/>
                    <a:sym typeface="Symbol" pitchFamily="18" charset="2"/>
                  </a:rPr>
                  <a:t>		</a:t>
                </a:r>
                <a14:m>
                  <m:oMath xmlns:m="http://schemas.openxmlformats.org/officeDocument/2006/math">
                    <m:r>
                      <a:rPr lang="en-US" sz="1400" i="1" dirty="0" smtClean="0">
                        <a:latin typeface="Cambria Math"/>
                        <a:sym typeface="Symbol" pitchFamily="18" charset="2"/>
                      </a:rPr>
                      <m:t>𝐹𝑂𝑃𝑇</m:t>
                    </m:r>
                    <m:r>
                      <a:rPr lang="en-US" sz="1400" i="1" dirty="0" smtClean="0">
                        <a:latin typeface="Cambria Math"/>
                        <a:sym typeface="Symbol" pitchFamily="18" charset="2"/>
                      </a:rPr>
                      <m:t> = </m:t>
                    </m:r>
                    <m:r>
                      <a:rPr lang="en-US" sz="1400" i="1" dirty="0" smtClean="0">
                        <a:latin typeface="Cambria Math"/>
                        <a:sym typeface="Symbol" pitchFamily="18" charset="2"/>
                      </a:rPr>
                      <m:t>𝑆</m:t>
                    </m:r>
                  </m:oMath>
                </a14:m>
                <a:r>
                  <a:rPr lang="en-US" sz="1400" dirty="0">
                    <a:latin typeface="+mj-lt"/>
                    <a:sym typeface="Symbol" pitchFamily="18" charset="2"/>
                  </a:rPr>
                  <a:t>; //Update optimal value</a:t>
                </a:r>
              </a:p>
              <a:p>
                <a:pPr>
                  <a:spcBef>
                    <a:spcPct val="50000"/>
                  </a:spcBef>
                </a:pPr>
                <a:r>
                  <a:rPr lang="en-US" sz="1400" dirty="0">
                    <a:latin typeface="+mj-lt"/>
                    <a:sym typeface="Symbol" pitchFamily="18" charset="2"/>
                  </a:rPr>
                  <a:t>		</a:t>
                </a:r>
                <a14:m>
                  <m:oMath xmlns:m="http://schemas.openxmlformats.org/officeDocument/2006/math">
                    <m:r>
                      <a:rPr lang="en-US" sz="1400" i="1" dirty="0" smtClean="0">
                        <a:latin typeface="Cambria Math"/>
                        <a:sym typeface="Symbol" pitchFamily="18" charset="2"/>
                      </a:rPr>
                      <m:t>𝑋𝑂𝑃𝑇</m:t>
                    </m:r>
                    <m:r>
                      <a:rPr lang="en-US" sz="1400" i="1" dirty="0" smtClean="0">
                        <a:latin typeface="Cambria Math"/>
                        <a:sym typeface="Symbol" pitchFamily="18" charset="2"/>
                      </a:rPr>
                      <m:t> = </m:t>
                    </m:r>
                    <m:r>
                      <a:rPr lang="en-US" sz="1400" i="1" dirty="0" smtClean="0">
                        <a:latin typeface="Cambria Math"/>
                        <a:sym typeface="Symbol" pitchFamily="18" charset="2"/>
                      </a:rPr>
                      <m:t>𝑋</m:t>
                    </m:r>
                  </m:oMath>
                </a14:m>
                <a:r>
                  <a:rPr lang="en-US" sz="1400" dirty="0">
                    <a:latin typeface="+mj-lt"/>
                    <a:sym typeface="Symbol" pitchFamily="18" charset="2"/>
                  </a:rPr>
                  <a:t>;// New optimal solution</a:t>
                </a:r>
              </a:p>
              <a:p>
                <a:pPr>
                  <a:spcBef>
                    <a:spcPct val="50000"/>
                  </a:spcBef>
                </a:pPr>
                <a:r>
                  <a:rPr lang="en-US" sz="1400" dirty="0">
                    <a:latin typeface="+mj-lt"/>
                    <a:sym typeface="Symbol" pitchFamily="18" charset="2"/>
                  </a:rPr>
                  <a:t>	        }</a:t>
                </a:r>
              </a:p>
              <a:p>
                <a:pPr>
                  <a:spcBef>
                    <a:spcPct val="50000"/>
                  </a:spcBef>
                </a:pPr>
                <a:r>
                  <a:rPr lang="en-US" sz="1400" dirty="0">
                    <a:latin typeface="+mj-lt"/>
                    <a:sym typeface="Symbol" pitchFamily="18" charset="2"/>
                  </a:rPr>
                  <a:t>	}</a:t>
                </a:r>
              </a:p>
              <a:p>
                <a:pPr>
                  <a:spcBef>
                    <a:spcPct val="50000"/>
                  </a:spcBef>
                </a:pPr>
                <a:r>
                  <a:rPr lang="en-US" sz="1400" b="1" u="sng" dirty="0">
                    <a:latin typeface="+mj-lt"/>
                    <a:sym typeface="Symbol" pitchFamily="18" charset="2"/>
                  </a:rPr>
                  <a:t>Step 3</a:t>
                </a:r>
                <a:r>
                  <a:rPr lang="en-US" sz="1400" dirty="0">
                    <a:latin typeface="+mj-lt"/>
                    <a:sym typeface="Symbol" pitchFamily="18" charset="2"/>
                  </a:rPr>
                  <a:t> (</a:t>
                </a:r>
                <a:r>
                  <a:rPr lang="en-US" sz="1400" i="1" dirty="0">
                    <a:latin typeface="+mj-lt"/>
                    <a:sym typeface="Symbol" pitchFamily="18" charset="2"/>
                  </a:rPr>
                  <a:t>Return result</a:t>
                </a:r>
                <a:r>
                  <a:rPr lang="en-US" sz="1400" dirty="0">
                    <a:latin typeface="+mj-lt"/>
                    <a:sym typeface="Symbol" pitchFamily="18" charset="2"/>
                  </a:rPr>
                  <a:t>):</a:t>
                </a:r>
              </a:p>
              <a:p>
                <a:pPr>
                  <a:spcBef>
                    <a:spcPct val="50000"/>
                  </a:spcBef>
                </a:pPr>
                <a:r>
                  <a:rPr lang="en-US" sz="1400" dirty="0">
                    <a:latin typeface="+mj-lt"/>
                    <a:sym typeface="Symbol" pitchFamily="18" charset="2"/>
                  </a:rPr>
                  <a:t>		Return(</a:t>
                </a:r>
                <a14:m>
                  <m:oMath xmlns:m="http://schemas.openxmlformats.org/officeDocument/2006/math">
                    <m:r>
                      <a:rPr lang="en-US" sz="1400" i="1" dirty="0" smtClean="0">
                        <a:latin typeface="Cambria Math"/>
                        <a:sym typeface="Symbol" pitchFamily="18" charset="2"/>
                      </a:rPr>
                      <m:t>𝑋𝑂𝑃𝑇</m:t>
                    </m:r>
                    <m:r>
                      <a:rPr lang="en-US" sz="1400" i="1" dirty="0" smtClean="0">
                        <a:latin typeface="Cambria Math"/>
                        <a:sym typeface="Symbol" pitchFamily="18" charset="2"/>
                      </a:rPr>
                      <m:t>, </m:t>
                    </m:r>
                    <m:r>
                      <a:rPr lang="en-US" sz="1400" i="1" dirty="0" smtClean="0">
                        <a:latin typeface="Cambria Math"/>
                        <a:sym typeface="Symbol" pitchFamily="18" charset="2"/>
                      </a:rPr>
                      <m:t>𝐹𝑂𝑃𝑇</m:t>
                    </m:r>
                  </m:oMath>
                </a14:m>
                <a:r>
                  <a:rPr lang="en-US" sz="1400" dirty="0">
                    <a:latin typeface="+mj-lt"/>
                    <a:sym typeface="Symbol" pitchFamily="18" charset="2"/>
                  </a:rPr>
                  <a:t>);</a:t>
                </a:r>
                <a:endParaRPr lang="en-US" sz="1400" dirty="0">
                  <a:latin typeface="+mj-lt"/>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06303" y="2362201"/>
                <a:ext cx="6637497" cy="4185761"/>
              </a:xfrm>
              <a:prstGeom prst="rect">
                <a:avLst/>
              </a:prstGeom>
              <a:blipFill>
                <a:blip r:embed="rId3"/>
                <a:stretch>
                  <a:fillRect l="-275" t="-292" r="-92" b="-583"/>
                </a:stretch>
              </a:blipFill>
            </p:spPr>
            <p:txBody>
              <a:bodyPr/>
              <a:lstStyle/>
              <a:p>
                <a:r>
                  <a:rPr lang="en-US">
                    <a:noFill/>
                  </a:rPr>
                  <a:t> </a:t>
                </a:r>
              </a:p>
            </p:txBody>
          </p:sp>
        </mc:Fallback>
      </mc:AlternateContent>
    </p:spTree>
    <p:extLst>
      <p:ext uri="{BB962C8B-B14F-4D97-AF65-F5344CB8AC3E}">
        <p14:creationId xmlns:p14="http://schemas.microsoft.com/office/powerpoint/2010/main" val="2380106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Brute force algorithm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Content Placeholder 4"/>
          <p:cNvSpPr>
            <a:spLocks noGrp="1"/>
          </p:cNvSpPr>
          <p:nvPr>
            <p:ph sz="quarter" idx="1"/>
          </p:nvPr>
        </p:nvSpPr>
        <p:spPr/>
        <p:txBody>
          <a:bodyPr/>
          <a:lstStyle/>
          <a:p>
            <a:pPr>
              <a:spcBef>
                <a:spcPct val="50000"/>
              </a:spcBef>
            </a:pPr>
            <a:r>
              <a:rPr lang="en-US" b="1" dirty="0"/>
              <a:t>Advantages</a:t>
            </a:r>
            <a:r>
              <a:rPr lang="en-US" dirty="0"/>
              <a:t>:</a:t>
            </a:r>
          </a:p>
          <a:p>
            <a:pPr lvl="1">
              <a:spcBef>
                <a:spcPct val="50000"/>
              </a:spcBef>
            </a:pPr>
            <a:r>
              <a:rPr lang="en-US" dirty="0"/>
              <a:t>Simple and easy to implement</a:t>
            </a:r>
          </a:p>
          <a:p>
            <a:pPr lvl="1">
              <a:spcBef>
                <a:spcPct val="50000"/>
              </a:spcBef>
            </a:pPr>
            <a:r>
              <a:rPr lang="en-US" dirty="0"/>
              <a:t>Can be performed on any optimization problem</a:t>
            </a:r>
          </a:p>
          <a:p>
            <a:pPr>
              <a:spcBef>
                <a:spcPct val="50000"/>
              </a:spcBef>
            </a:pPr>
            <a:r>
              <a:rPr lang="en-US" b="1" dirty="0"/>
              <a:t>Disadvantages</a:t>
            </a:r>
            <a:r>
              <a:rPr lang="en-US" dirty="0"/>
              <a:t>:</a:t>
            </a:r>
          </a:p>
          <a:p>
            <a:pPr lvl="1">
              <a:spcBef>
                <a:spcPct val="50000"/>
              </a:spcBef>
            </a:pPr>
            <a:r>
              <a:rPr lang="en-US" dirty="0"/>
              <a:t>Large computational cost</a:t>
            </a:r>
          </a:p>
        </p:txBody>
      </p:sp>
    </p:spTree>
    <p:extLst>
      <p:ext uri="{BB962C8B-B14F-4D97-AF65-F5344CB8AC3E}">
        <p14:creationId xmlns:p14="http://schemas.microsoft.com/office/powerpoint/2010/main" val="4220065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5" name="Content Placeholder 4"/>
          <p:cNvSpPr>
            <a:spLocks noGrp="1"/>
          </p:cNvSpPr>
          <p:nvPr>
            <p:ph sz="quarter" idx="1"/>
          </p:nvPr>
        </p:nvSpPr>
        <p:spPr/>
        <p:txBody>
          <a:bodyPr/>
          <a:lstStyle/>
          <a:p>
            <a:pPr>
              <a:spcBef>
                <a:spcPct val="50000"/>
              </a:spcBef>
            </a:pPr>
            <a:r>
              <a:rPr lang="en-US" dirty="0"/>
              <a:t>Write programs to solve the following problems on a computer using the Brute force algorithm</a:t>
            </a:r>
          </a:p>
          <a:p>
            <a:pPr lvl="3">
              <a:spcBef>
                <a:spcPct val="50000"/>
              </a:spcBef>
              <a:buFontTx/>
              <a:buAutoNum type="arabicParenR"/>
            </a:pPr>
            <a:r>
              <a:rPr lang="en-US" sz="2000" dirty="0"/>
              <a:t>The bag problem</a:t>
            </a:r>
          </a:p>
          <a:p>
            <a:pPr lvl="3">
              <a:spcBef>
                <a:spcPct val="50000"/>
              </a:spcBef>
              <a:buFontTx/>
              <a:buAutoNum type="arabicParenR"/>
            </a:pPr>
            <a:r>
              <a:rPr lang="en-US" sz="2000" dirty="0"/>
              <a:t>The tourist problem</a:t>
            </a:r>
          </a:p>
          <a:p>
            <a:pPr lvl="3">
              <a:spcBef>
                <a:spcPct val="50000"/>
              </a:spcBef>
              <a:buFontTx/>
              <a:buAutoNum type="arabicParenR"/>
            </a:pPr>
            <a:r>
              <a:rPr lang="en-US" sz="2000" dirty="0"/>
              <a:t>The machine rental problem</a:t>
            </a:r>
          </a:p>
          <a:p>
            <a:pPr lvl="3">
              <a:spcBef>
                <a:spcPct val="50000"/>
              </a:spcBef>
              <a:buFontTx/>
              <a:buAutoNum type="arabicParenR"/>
            </a:pPr>
            <a:r>
              <a:rPr lang="en-US" sz="2000" dirty="0"/>
              <a:t>The work assignment problem</a:t>
            </a:r>
          </a:p>
          <a:p>
            <a:endParaRPr lang="en-US" dirty="0"/>
          </a:p>
        </p:txBody>
      </p:sp>
    </p:spTree>
    <p:extLst>
      <p:ext uri="{BB962C8B-B14F-4D97-AF65-F5344CB8AC3E}">
        <p14:creationId xmlns:p14="http://schemas.microsoft.com/office/powerpoint/2010/main" val="953215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dirty="0">
                <a:solidFill>
                  <a:schemeClr val="bg1">
                    <a:lumMod val="75000"/>
                  </a:schemeClr>
                </a:solidFill>
              </a:rPr>
              <a:t>Introduction</a:t>
            </a:r>
          </a:p>
          <a:p>
            <a:pPr>
              <a:spcBef>
                <a:spcPct val="50000"/>
              </a:spcBef>
            </a:pPr>
            <a:r>
              <a:rPr lang="en-US" dirty="0">
                <a:solidFill>
                  <a:schemeClr val="bg1">
                    <a:lumMod val="75000"/>
                  </a:schemeClr>
                </a:solidFill>
              </a:rPr>
              <a:t>Brute force algorithm </a:t>
            </a:r>
          </a:p>
          <a:p>
            <a:pPr>
              <a:spcBef>
                <a:spcPct val="50000"/>
              </a:spcBef>
            </a:pPr>
            <a:r>
              <a:rPr lang="en-US" dirty="0"/>
              <a:t>Branch and bound algorithm</a:t>
            </a:r>
          </a:p>
          <a:p>
            <a:pPr>
              <a:spcBef>
                <a:spcPct val="50000"/>
              </a:spcBef>
            </a:pPr>
            <a:r>
              <a:rPr lang="en-US" dirty="0"/>
              <a:t>Exercise</a:t>
            </a:r>
          </a:p>
          <a:p>
            <a:endParaRPr lang="en-US" dirty="0"/>
          </a:p>
        </p:txBody>
      </p:sp>
    </p:spTree>
    <p:extLst>
      <p:ext uri="{BB962C8B-B14F-4D97-AF65-F5344CB8AC3E}">
        <p14:creationId xmlns:p14="http://schemas.microsoft.com/office/powerpoint/2010/main" val="1298129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Branch-and-bound algorithm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382000" cy="4937760"/>
              </a:xfrm>
            </p:spPr>
            <p:txBody>
              <a:bodyPr>
                <a:normAutofit fontScale="62500" lnSpcReduction="20000"/>
              </a:bodyPr>
              <a:lstStyle/>
              <a:p>
                <a:pPr>
                  <a:spcBef>
                    <a:spcPct val="50000"/>
                  </a:spcBef>
                </a:pPr>
                <a:r>
                  <a:rPr lang="en-US" sz="2600" dirty="0"/>
                  <a:t>The combinatorial optimization problem is restated as follows:</a:t>
                </a:r>
              </a:p>
              <a:p>
                <a:pPr marL="0" indent="0">
                  <a:spcBef>
                    <a:spcPct val="50000"/>
                  </a:spcBef>
                  <a:buNone/>
                </a:pPr>
                <a:r>
                  <a:rPr lang="en-US" sz="2600" dirty="0"/>
                  <a:t>	Find  </a:t>
                </a:r>
                <a14:m>
                  <m:oMath xmlns:m="http://schemas.openxmlformats.org/officeDocument/2006/math">
                    <m:r>
                      <m:rPr>
                        <m:sty m:val="p"/>
                      </m:rPr>
                      <a:rPr lang="en-US" sz="2600" i="1" dirty="0" smtClean="0">
                        <a:latin typeface="Cambria Math"/>
                      </a:rPr>
                      <m:t>min</m:t>
                    </m:r>
                    <m:r>
                      <a:rPr lang="en-US" sz="2600" i="1" dirty="0" smtClean="0">
                        <a:latin typeface="Cambria Math"/>
                      </a:rPr>
                      <m:t>⁡{</m:t>
                    </m:r>
                    <m:r>
                      <a:rPr lang="en-US" sz="2600" i="1" dirty="0" smtClean="0">
                        <a:latin typeface="Cambria Math"/>
                      </a:rPr>
                      <m:t>𝑓</m:t>
                    </m:r>
                    <m:r>
                      <a:rPr lang="en-US" sz="2600" i="1" dirty="0" smtClean="0">
                        <a:latin typeface="Cambria Math"/>
                      </a:rPr>
                      <m:t>(</m:t>
                    </m:r>
                    <m:r>
                      <a:rPr lang="en-US" sz="2600" i="1" dirty="0" smtClean="0">
                        <a:latin typeface="Cambria Math"/>
                      </a:rPr>
                      <m:t>𝑋</m:t>
                    </m:r>
                    <m:r>
                      <a:rPr lang="en-US" sz="2600" i="1" dirty="0">
                        <a:latin typeface="Cambria Math"/>
                      </a:rPr>
                      <m:t>) : </m:t>
                    </m:r>
                    <m:r>
                      <a:rPr lang="en-US" sz="2600" i="1" dirty="0">
                        <a:latin typeface="Cambria Math"/>
                      </a:rPr>
                      <m:t>𝑋</m:t>
                    </m:r>
                    <m:r>
                      <a:rPr lang="en-US" sz="2600" i="1" dirty="0" smtClean="0">
                        <a:latin typeface="Cambria Math"/>
                        <a:ea typeface="Cambria Math"/>
                        <a:sym typeface="Symbol" pitchFamily="18" charset="2"/>
                      </a:rPr>
                      <m:t>∈</m:t>
                    </m:r>
                    <m:r>
                      <a:rPr lang="en-US" sz="2600" i="1" dirty="0">
                        <a:latin typeface="Cambria Math"/>
                        <a:sym typeface="Symbol" pitchFamily="18" charset="2"/>
                      </a:rPr>
                      <m:t>𝐷</m:t>
                    </m:r>
                    <m:r>
                      <a:rPr lang="en-US" sz="2600" i="1" dirty="0">
                        <a:latin typeface="Cambria Math"/>
                        <a:sym typeface="Symbol" pitchFamily="18" charset="2"/>
                      </a:rPr>
                      <m:t> }</m:t>
                    </m:r>
                  </m:oMath>
                </a14:m>
                <a:endParaRPr lang="en-US" sz="2600" dirty="0">
                  <a:sym typeface="Symbol" pitchFamily="18" charset="2"/>
                </a:endParaRPr>
              </a:p>
              <a:p>
                <a:pPr>
                  <a:spcBef>
                    <a:spcPct val="50000"/>
                  </a:spcBef>
                </a:pPr>
                <a:r>
                  <a:rPr lang="en-US" sz="2600" dirty="0">
                    <a:sym typeface="Symbol" pitchFamily="18" charset="2"/>
                  </a:rPr>
                  <a:t>In which, </a:t>
                </a:r>
                <a14:m>
                  <m:oMath xmlns:m="http://schemas.openxmlformats.org/officeDocument/2006/math">
                    <m:r>
                      <a:rPr lang="en-US" sz="2600" i="1" dirty="0" smtClean="0">
                        <a:latin typeface="Cambria Math"/>
                        <a:sym typeface="Symbol" pitchFamily="18" charset="2"/>
                      </a:rPr>
                      <m:t>𝐷</m:t>
                    </m:r>
                    <m:r>
                      <a:rPr lang="en-US" sz="2600" b="0" i="1" dirty="0" smtClean="0">
                        <a:latin typeface="Cambria Math" panose="02040503050406030204" pitchFamily="18" charset="0"/>
                        <a:sym typeface="Symbol" pitchFamily="18" charset="2"/>
                      </a:rPr>
                      <m:t> </m:t>
                    </m:r>
                  </m:oMath>
                </a14:m>
                <a:r>
                  <a:rPr lang="en-US" sz="2600" dirty="0">
                    <a:sym typeface="Symbol" pitchFamily="18" charset="2"/>
                  </a:rPr>
                  <a:t>is a finite set of elements. The set </a:t>
                </a:r>
                <a14:m>
                  <m:oMath xmlns:m="http://schemas.openxmlformats.org/officeDocument/2006/math">
                    <m:r>
                      <a:rPr lang="en-US" sz="2600" i="1" dirty="0" smtClean="0">
                        <a:latin typeface="Cambria Math"/>
                        <a:sym typeface="Symbol" pitchFamily="18" charset="2"/>
                      </a:rPr>
                      <m:t>𝐷</m:t>
                    </m:r>
                  </m:oMath>
                </a14:m>
                <a:r>
                  <a:rPr lang="en-US" sz="2600" dirty="0">
                    <a:sym typeface="Symbol" pitchFamily="18" charset="2"/>
                  </a:rPr>
                  <a:t> can be described as follows:</a:t>
                </a:r>
              </a:p>
              <a:p>
                <a:pPr marL="0" indent="0">
                  <a:spcBef>
                    <a:spcPct val="50000"/>
                  </a:spcBef>
                  <a:buNone/>
                </a:pPr>
                <a:r>
                  <a:rPr lang="en-US" sz="2600" dirty="0">
                    <a:sym typeface="Symbol" pitchFamily="18" charset="2"/>
                  </a:rPr>
                  <a:t>	</a:t>
                </a:r>
                <a14:m>
                  <m:oMath xmlns:m="http://schemas.openxmlformats.org/officeDocument/2006/math">
                    <m:r>
                      <a:rPr lang="en-US" sz="2600" i="1" dirty="0" smtClean="0">
                        <a:latin typeface="Cambria Math"/>
                        <a:sym typeface="Symbol" pitchFamily="18" charset="2"/>
                      </a:rPr>
                      <m:t>𝐷</m:t>
                    </m:r>
                    <m:r>
                      <a:rPr lang="en-US" sz="2600" i="1" dirty="0" smtClean="0">
                        <a:latin typeface="Cambria Math"/>
                        <a:sym typeface="Symbol" pitchFamily="18" charset="2"/>
                      </a:rPr>
                      <m:t>={</m:t>
                    </m:r>
                    <m:r>
                      <a:rPr lang="en-US" sz="2600" i="1" dirty="0" smtClean="0">
                        <a:latin typeface="Cambria Math"/>
                        <a:sym typeface="Symbol" pitchFamily="18" charset="2"/>
                      </a:rPr>
                      <m:t>𝑋</m:t>
                    </m:r>
                    <m:r>
                      <a:rPr lang="en-US" sz="2600" i="1" dirty="0" smtClean="0">
                        <a:latin typeface="Cambria Math"/>
                        <a:sym typeface="Symbol" pitchFamily="18" charset="2"/>
                      </a:rPr>
                      <m:t>=(</m:t>
                    </m:r>
                    <m:r>
                      <a:rPr lang="en-US" sz="2600" i="1" dirty="0" smtClean="0">
                        <a:latin typeface="Cambria Math"/>
                        <a:sym typeface="Symbol" pitchFamily="18" charset="2"/>
                      </a:rPr>
                      <m:t>𝑥</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𝑥</m:t>
                    </m:r>
                    <m:r>
                      <a:rPr lang="en-US" sz="2600" i="1" baseline="-25000" dirty="0">
                        <a:latin typeface="Cambria Math"/>
                        <a:sym typeface="Symbol" pitchFamily="18" charset="2"/>
                      </a:rPr>
                      <m:t>2</m:t>
                    </m:r>
                    <m:r>
                      <a:rPr lang="en-US" sz="2600" i="1" dirty="0">
                        <a:latin typeface="Cambria Math"/>
                        <a:sym typeface="Symbol" pitchFamily="18" charset="2"/>
                      </a:rPr>
                      <m:t>,.</m:t>
                    </m:r>
                    <m:r>
                      <a:rPr lang="en-US" sz="2600" b="0" i="1" dirty="0" smtClean="0">
                        <a:latin typeface="Cambria Math"/>
                        <a:sym typeface="Symbol" pitchFamily="18" charset="2"/>
                      </a:rPr>
                      <m:t>.</m:t>
                    </m:r>
                    <m:r>
                      <a:rPr lang="en-US" sz="2600" i="1" dirty="0">
                        <a:latin typeface="Cambria Math"/>
                        <a:sym typeface="Symbol" pitchFamily="18" charset="2"/>
                      </a:rPr>
                      <m:t>.,</m:t>
                    </m:r>
                    <m:sSub>
                      <m:sSubPr>
                        <m:ctrlPr>
                          <a:rPr lang="en-US" sz="2600" i="1" dirty="0" smtClean="0">
                            <a:latin typeface="Cambria Math" panose="02040503050406030204" pitchFamily="18" charset="0"/>
                            <a:sym typeface="Symbol" pitchFamily="18" charset="2"/>
                          </a:rPr>
                        </m:ctrlPr>
                      </m:sSubPr>
                      <m:e>
                        <m:r>
                          <a:rPr lang="en-US" sz="2600" b="0" i="1" dirty="0" smtClean="0">
                            <a:latin typeface="Cambria Math"/>
                            <a:sym typeface="Symbol" pitchFamily="18" charset="2"/>
                          </a:rPr>
                          <m:t>𝑥</m:t>
                        </m:r>
                      </m:e>
                      <m:sub>
                        <m:r>
                          <a:rPr lang="en-US" sz="2600" b="0" i="1" dirty="0" smtClean="0">
                            <a:latin typeface="Cambria Math"/>
                            <a:sym typeface="Symbol" pitchFamily="18" charset="2"/>
                          </a:rPr>
                          <m:t>𝑛</m:t>
                        </m:r>
                      </m:sub>
                    </m:sSub>
                    <m:r>
                      <a:rPr lang="en-US" sz="2600" i="1" dirty="0">
                        <a:latin typeface="Cambria Math"/>
                        <a:sym typeface="Symbol" pitchFamily="18" charset="2"/>
                      </a:rPr>
                      <m:t>)∈</m:t>
                    </m:r>
                    <m:r>
                      <a:rPr lang="en-US" sz="2600" i="1" dirty="0">
                        <a:latin typeface="Cambria Math"/>
                        <a:sym typeface="Symbol" pitchFamily="18" charset="2"/>
                      </a:rPr>
                      <m:t>𝐴</m:t>
                    </m:r>
                    <m:r>
                      <a:rPr lang="en-US" sz="2600" i="1" baseline="-25000" dirty="0">
                        <a:latin typeface="Cambria Math"/>
                        <a:sym typeface="Symbol" pitchFamily="18" charset="2"/>
                      </a:rPr>
                      <m:t>1</m:t>
                    </m:r>
                    <m:r>
                      <a:rPr lang="en-US" sz="2600" i="1" dirty="0" smtClean="0">
                        <a:latin typeface="Cambria Math"/>
                        <a:ea typeface="Cambria Math"/>
                        <a:sym typeface="Symbol" pitchFamily="18" charset="2"/>
                      </a:rPr>
                      <m:t>×</m:t>
                    </m:r>
                    <m:r>
                      <a:rPr lang="en-US" sz="2600" i="1" dirty="0">
                        <a:latin typeface="Cambria Math"/>
                        <a:sym typeface="Symbol" pitchFamily="18" charset="2"/>
                      </a:rPr>
                      <m:t>𝐴</m:t>
                    </m:r>
                    <m:r>
                      <a:rPr lang="en-US" sz="2600" i="1" baseline="-25000" dirty="0">
                        <a:latin typeface="Cambria Math"/>
                        <a:sym typeface="Symbol" pitchFamily="18" charset="2"/>
                      </a:rPr>
                      <m:t>2</m:t>
                    </m:r>
                    <m:r>
                      <a:rPr lang="en-US" sz="2600" i="1" dirty="0">
                        <a:latin typeface="Cambria Math"/>
                        <a:ea typeface="Cambria Math"/>
                        <a:sym typeface="Symbol" pitchFamily="18" charset="2"/>
                      </a:rPr>
                      <m:t>×</m:t>
                    </m:r>
                    <m:r>
                      <a:rPr lang="en-US" sz="2600" b="0" i="1" dirty="0" smtClean="0">
                        <a:latin typeface="Cambria Math"/>
                        <a:sym typeface="Symbol" pitchFamily="18" charset="2"/>
                      </a:rPr>
                      <m:t>…</m:t>
                    </m:r>
                    <m:r>
                      <a:rPr lang="en-US" sz="2600" i="1" dirty="0">
                        <a:latin typeface="Cambria Math"/>
                        <a:ea typeface="Cambria Math"/>
                        <a:sym typeface="Symbol" pitchFamily="18" charset="2"/>
                      </a:rPr>
                      <m:t>×</m:t>
                    </m:r>
                    <m:r>
                      <a:rPr lang="en-US" sz="2600" i="1" dirty="0">
                        <a:latin typeface="Cambria Math"/>
                        <a:sym typeface="Symbol" pitchFamily="18" charset="2"/>
                      </a:rPr>
                      <m:t>𝐴</m:t>
                    </m:r>
                    <m:r>
                      <a:rPr lang="en-US" sz="2600" i="1" baseline="-25000" dirty="0">
                        <a:latin typeface="Cambria Math"/>
                        <a:sym typeface="Symbol" pitchFamily="18" charset="2"/>
                      </a:rPr>
                      <m:t>𝑛</m:t>
                    </m:r>
                    <m:r>
                      <a:rPr lang="en-US" sz="2600" i="1" dirty="0">
                        <a:latin typeface="Cambria Math"/>
                        <a:sym typeface="Symbol" pitchFamily="18" charset="2"/>
                      </a:rPr>
                      <m:t>: </m:t>
                    </m:r>
                    <m:r>
                      <a:rPr lang="en-US" sz="2600" i="1" dirty="0">
                        <a:latin typeface="Cambria Math"/>
                        <a:sym typeface="Symbol" pitchFamily="18" charset="2"/>
                      </a:rPr>
                      <m:t>𝑋</m:t>
                    </m:r>
                    <m:r>
                      <a:rPr lang="en-US" sz="2600" b="0" i="1" dirty="0" smtClean="0">
                        <a:latin typeface="Cambria Math" panose="02040503050406030204" pitchFamily="18" charset="0"/>
                        <a:sym typeface="Symbol" pitchFamily="18" charset="2"/>
                      </a:rPr>
                      <m:t> </m:t>
                    </m:r>
                    <m:r>
                      <a:rPr lang="en-US" sz="2600" b="0" i="1" dirty="0" smtClean="0">
                        <a:latin typeface="Cambria Math" panose="02040503050406030204" pitchFamily="18" charset="0"/>
                        <a:sym typeface="Symbol" pitchFamily="18" charset="2"/>
                      </a:rPr>
                      <m:t>𝑖𝑠</m:t>
                    </m:r>
                    <m:r>
                      <a:rPr lang="en-US" sz="2600" b="0" i="1" dirty="0" smtClean="0">
                        <a:latin typeface="Cambria Math" panose="02040503050406030204" pitchFamily="18" charset="0"/>
                        <a:sym typeface="Symbol" pitchFamily="18" charset="2"/>
                      </a:rPr>
                      <m:t> </m:t>
                    </m:r>
                    <m:r>
                      <a:rPr lang="en-US" sz="2600" i="1" dirty="0">
                        <a:latin typeface="Cambria Math"/>
                        <a:sym typeface="Symbol" pitchFamily="18" charset="2"/>
                      </a:rPr>
                      <m:t>𝑠𝑎𝑡𝑖𝑠𝑓𝑦</m:t>
                    </m:r>
                    <m:r>
                      <a:rPr lang="en-US" sz="2600" i="1" dirty="0">
                        <a:latin typeface="Cambria Math"/>
                        <a:sym typeface="Symbol" pitchFamily="18" charset="2"/>
                      </a:rPr>
                      <m:t> </m:t>
                    </m:r>
                    <m:r>
                      <a:rPr lang="en-US" sz="2600" i="1" dirty="0">
                        <a:latin typeface="Cambria Math"/>
                        <a:sym typeface="Symbol" pitchFamily="18" charset="2"/>
                      </a:rPr>
                      <m:t>𝑡h𝑒</m:t>
                    </m:r>
                    <m:r>
                      <a:rPr lang="en-US" sz="2600" i="1" dirty="0">
                        <a:latin typeface="Cambria Math"/>
                        <a:sym typeface="Symbol" pitchFamily="18" charset="2"/>
                      </a:rPr>
                      <m:t> </m:t>
                    </m:r>
                    <m:r>
                      <a:rPr lang="en-US" sz="2600" i="1" dirty="0">
                        <a:latin typeface="Cambria Math"/>
                        <a:sym typeface="Symbol" pitchFamily="18" charset="2"/>
                      </a:rPr>
                      <m:t>𝑝𝑟𝑜𝑝𝑒𝑟𝑡𝑦</m:t>
                    </m:r>
                    <m:r>
                      <a:rPr lang="en-US" sz="2600" b="0" i="1" dirty="0" smtClean="0">
                        <a:latin typeface="Cambria Math" panose="02040503050406030204" pitchFamily="18" charset="0"/>
                        <a:sym typeface="Symbol" pitchFamily="18" charset="2"/>
                      </a:rPr>
                      <m:t>  </m:t>
                    </m:r>
                    <m:r>
                      <a:rPr lang="en-US" sz="2600" i="1" dirty="0">
                        <a:latin typeface="Cambria Math"/>
                        <a:sym typeface="Symbol" pitchFamily="18" charset="2"/>
                      </a:rPr>
                      <m:t>𝑃</m:t>
                    </m:r>
                    <m:r>
                      <a:rPr lang="en-US" sz="2600" i="1" dirty="0">
                        <a:latin typeface="Cambria Math"/>
                        <a:sym typeface="Symbol" pitchFamily="18" charset="2"/>
                      </a:rPr>
                      <m:t> }</m:t>
                    </m:r>
                  </m:oMath>
                </a14:m>
                <a:endParaRPr lang="en-US" sz="2600" dirty="0">
                  <a:sym typeface="Symbol" pitchFamily="18" charset="2"/>
                </a:endParaRPr>
              </a:p>
              <a:p>
                <a:pPr>
                  <a:spcBef>
                    <a:spcPct val="50000"/>
                  </a:spcBef>
                </a:pPr>
                <a:r>
                  <a:rPr lang="en-US" sz="2600" b="1" dirty="0">
                    <a:sym typeface="Symbol" pitchFamily="18" charset="2"/>
                  </a:rPr>
                  <a:t>Construct the function to determine the lower bound of the target function:</a:t>
                </a:r>
              </a:p>
              <a:p>
                <a:pPr>
                  <a:spcBef>
                    <a:spcPct val="50000"/>
                  </a:spcBef>
                </a:pPr>
                <a:r>
                  <a:rPr lang="en-US" sz="2600" dirty="0">
                    <a:sym typeface="Symbol" pitchFamily="18" charset="2"/>
                  </a:rPr>
                  <a:t>The branch-and-bound algorithm can solve the given problem if we find a function </a:t>
                </a:r>
                <a14:m>
                  <m:oMath xmlns:m="http://schemas.openxmlformats.org/officeDocument/2006/math">
                    <m:r>
                      <a:rPr lang="en-US" sz="2600" i="1" dirty="0" smtClean="0">
                        <a:latin typeface="Cambria Math"/>
                        <a:sym typeface="Symbol" pitchFamily="18" charset="2"/>
                      </a:rPr>
                      <m:t>𝑔</m:t>
                    </m:r>
                  </m:oMath>
                </a14:m>
                <a:r>
                  <a:rPr lang="en-US" sz="2600" i="1" dirty="0">
                    <a:sym typeface="Symbol" pitchFamily="18" charset="2"/>
                  </a:rPr>
                  <a:t> </a:t>
                </a:r>
                <a:r>
                  <a:rPr lang="en-US" sz="2600" dirty="0">
                    <a:sym typeface="Symbol" pitchFamily="18" charset="2"/>
                  </a:rPr>
                  <a:t>defined on all partial solutions of the problem satisfying the inequality :	</a:t>
                </a:r>
                <a14:m>
                  <m:oMath xmlns:m="http://schemas.openxmlformats.org/officeDocument/2006/math">
                    <m:r>
                      <a:rPr lang="en-US" sz="2600" i="1" dirty="0" smtClean="0">
                        <a:latin typeface="Cambria Math"/>
                        <a:sym typeface="Symbol" pitchFamily="18" charset="2"/>
                      </a:rPr>
                      <m:t>𝑔</m:t>
                    </m:r>
                    <m:r>
                      <a:rPr lang="en-US" sz="2600" i="1" dirty="0" smtClean="0">
                        <a:latin typeface="Cambria Math"/>
                        <a:sym typeface="Symbol" pitchFamily="18" charset="2"/>
                      </a:rPr>
                      <m:t>(</m:t>
                    </m:r>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 …,</m:t>
                    </m:r>
                    <m:sSub>
                      <m:sSubPr>
                        <m:ctrlPr>
                          <a:rPr lang="en-US" sz="2600" i="1" dirty="0" smtClean="0">
                            <a:latin typeface="Cambria Math" panose="02040503050406030204" pitchFamily="18" charset="0"/>
                            <a:sym typeface="Symbol" pitchFamily="18" charset="2"/>
                          </a:rPr>
                        </m:ctrlPr>
                      </m:sSubPr>
                      <m:e>
                        <m:r>
                          <a:rPr lang="en-US" sz="2600" b="0" i="1" dirty="0" smtClean="0">
                            <a:latin typeface="Cambria Math"/>
                            <a:sym typeface="Symbol" pitchFamily="18" charset="2"/>
                          </a:rPr>
                          <m:t>𝑎</m:t>
                        </m:r>
                      </m:e>
                      <m:sub>
                        <m:r>
                          <a:rPr lang="en-US" sz="2600" b="0" i="1" dirty="0" smtClean="0">
                            <a:latin typeface="Cambria Math"/>
                            <a:sym typeface="Symbol" pitchFamily="18" charset="2"/>
                          </a:rPr>
                          <m:t>𝑘</m:t>
                        </m:r>
                      </m:sub>
                    </m:sSub>
                    <m:r>
                      <a:rPr lang="en-US" sz="2600" i="1" dirty="0">
                        <a:latin typeface="Cambria Math"/>
                        <a:sym typeface="Symbol" pitchFamily="18" charset="2"/>
                      </a:rPr>
                      <m:t>)≤</m:t>
                    </m:r>
                    <m:r>
                      <m:rPr>
                        <m:sty m:val="p"/>
                      </m:rPr>
                      <a:rPr lang="en-US" sz="2600" i="1" dirty="0">
                        <a:latin typeface="Cambria Math"/>
                        <a:sym typeface="Symbol" pitchFamily="18" charset="2"/>
                      </a:rPr>
                      <m:t>min</m:t>
                    </m:r>
                    <m:r>
                      <a:rPr lang="en-US" sz="2600" i="1" dirty="0">
                        <a:latin typeface="Cambria Math"/>
                        <a:sym typeface="Symbol" pitchFamily="18" charset="2"/>
                      </a:rPr>
                      <m:t>⁡{</m:t>
                    </m:r>
                    <m:r>
                      <a:rPr lang="en-US" sz="2600" i="1" dirty="0">
                        <a:latin typeface="Cambria Math"/>
                        <a:sym typeface="Symbol" pitchFamily="18" charset="2"/>
                      </a:rPr>
                      <m:t>𝑓</m:t>
                    </m:r>
                    <m:r>
                      <a:rPr lang="en-US" sz="2600" i="1" dirty="0">
                        <a:latin typeface="Cambria Math"/>
                        <a:sym typeface="Symbol" pitchFamily="18" charset="2"/>
                      </a:rPr>
                      <m:t>(</m:t>
                    </m:r>
                    <m:r>
                      <a:rPr lang="en-US" sz="2600" i="1" dirty="0">
                        <a:latin typeface="Cambria Math"/>
                        <a:sym typeface="Symbol" pitchFamily="18" charset="2"/>
                      </a:rPr>
                      <m:t>𝑋</m:t>
                    </m:r>
                    <m:r>
                      <a:rPr lang="en-US" sz="2600" i="1" dirty="0">
                        <a:latin typeface="Cambria Math"/>
                        <a:sym typeface="Symbol" pitchFamily="18" charset="2"/>
                      </a:rPr>
                      <m:t>):</m:t>
                    </m:r>
                    <m:r>
                      <a:rPr lang="en-US" sz="2600" i="1" dirty="0">
                        <a:latin typeface="Cambria Math"/>
                        <a:sym typeface="Symbol" pitchFamily="18" charset="2"/>
                      </a:rPr>
                      <m:t>𝑋</m:t>
                    </m:r>
                    <m:r>
                      <a:rPr lang="en-US" sz="2600" i="1" dirty="0" smtClean="0">
                        <a:latin typeface="Cambria Math"/>
                        <a:ea typeface="Cambria Math"/>
                        <a:sym typeface="Symbol" pitchFamily="18" charset="2"/>
                      </a:rPr>
                      <m:t>∈</m:t>
                    </m:r>
                    <m:r>
                      <a:rPr lang="en-US" sz="2600" i="1" dirty="0">
                        <a:latin typeface="Cambria Math"/>
                        <a:sym typeface="Symbol" pitchFamily="18" charset="2"/>
                      </a:rPr>
                      <m:t>𝐷</m:t>
                    </m:r>
                    <m:r>
                      <a:rPr lang="en-US" sz="2600" i="1" dirty="0">
                        <a:latin typeface="Cambria Math"/>
                        <a:sym typeface="Symbol" pitchFamily="18" charset="2"/>
                      </a:rPr>
                      <m:t>, </m:t>
                    </m:r>
                    <m:sSub>
                      <m:sSubPr>
                        <m:ctrlPr>
                          <a:rPr lang="en-US" sz="2600" i="1" dirty="0" smtClean="0">
                            <a:latin typeface="Cambria Math" panose="02040503050406030204" pitchFamily="18" charset="0"/>
                            <a:sym typeface="Symbol" pitchFamily="18" charset="2"/>
                          </a:rPr>
                        </m:ctrlPr>
                      </m:sSubPr>
                      <m:e>
                        <m:r>
                          <a:rPr lang="en-US" sz="2600" b="0" i="1" dirty="0" smtClean="0">
                            <a:latin typeface="Cambria Math"/>
                            <a:sym typeface="Symbol" pitchFamily="18" charset="2"/>
                          </a:rPr>
                          <m:t>𝑥</m:t>
                        </m:r>
                      </m:e>
                      <m:sub>
                        <m:r>
                          <a:rPr lang="en-US" sz="2600" b="0" i="1" dirty="0" smtClean="0">
                            <a:latin typeface="Cambria Math"/>
                            <a:sym typeface="Symbol" pitchFamily="18" charset="2"/>
                          </a:rPr>
                          <m:t>𝑖</m:t>
                        </m:r>
                      </m:sub>
                    </m:sSub>
                    <m:r>
                      <a:rPr lang="en-US" sz="2600" i="1" dirty="0">
                        <a:latin typeface="Cambria Math"/>
                        <a:sym typeface="Symbol" pitchFamily="18" charset="2"/>
                      </a:rPr>
                      <m:t>=</m:t>
                    </m:r>
                    <m:r>
                      <a:rPr lang="en-US" sz="2600" i="1" dirty="0" err="1">
                        <a:latin typeface="Cambria Math"/>
                        <a:sym typeface="Symbol" pitchFamily="18" charset="2"/>
                      </a:rPr>
                      <m:t>𝑎</m:t>
                    </m:r>
                    <m:r>
                      <a:rPr lang="en-US" sz="2600" i="1" baseline="-25000" dirty="0" err="1">
                        <a:latin typeface="Cambria Math"/>
                        <a:sym typeface="Symbol" pitchFamily="18" charset="2"/>
                      </a:rPr>
                      <m:t>𝑖</m:t>
                    </m:r>
                    <m:r>
                      <a:rPr lang="en-US" sz="2600" i="1" dirty="0">
                        <a:latin typeface="Cambria Math"/>
                        <a:sym typeface="Symbol" pitchFamily="18" charset="2"/>
                      </a:rPr>
                      <m:t>, </m:t>
                    </m:r>
                    <m:r>
                      <a:rPr lang="en-US" sz="2600" i="1" dirty="0">
                        <a:latin typeface="Cambria Math"/>
                        <a:sym typeface="Symbol" pitchFamily="18" charset="2"/>
                      </a:rPr>
                      <m:t>𝑖</m:t>
                    </m:r>
                    <m:r>
                      <a:rPr lang="en-US" sz="2600" i="1" dirty="0">
                        <a:latin typeface="Cambria Math"/>
                        <a:sym typeface="Symbol" pitchFamily="18" charset="2"/>
                      </a:rPr>
                      <m:t>=1, 2,...,</m:t>
                    </m:r>
                    <m:r>
                      <a:rPr lang="en-US" sz="2600" i="1" dirty="0">
                        <a:latin typeface="Cambria Math"/>
                        <a:sym typeface="Symbol" pitchFamily="18" charset="2"/>
                      </a:rPr>
                      <m:t>𝑘</m:t>
                    </m:r>
                    <m:r>
                      <a:rPr lang="en-US" sz="2600" i="1" dirty="0">
                        <a:latin typeface="Cambria Math"/>
                        <a:sym typeface="Symbol" pitchFamily="18" charset="2"/>
                      </a:rPr>
                      <m:t>}</m:t>
                    </m:r>
                  </m:oMath>
                </a14:m>
                <a:r>
                  <a:rPr lang="en-US" sz="2600" dirty="0">
                    <a:sym typeface="Symbol" pitchFamily="18" charset="2"/>
                  </a:rPr>
                  <a:t>		</a:t>
                </a:r>
              </a:p>
              <a:p>
                <a:pPr>
                  <a:spcBef>
                    <a:spcPct val="50000"/>
                  </a:spcBef>
                </a:pPr>
                <a:r>
                  <a:rPr lang="en-US" sz="2600" dirty="0">
                    <a:sym typeface="Symbol" pitchFamily="18" charset="2"/>
                  </a:rPr>
                  <a:t>In other words, the value of the function </a:t>
                </a:r>
                <a14:m>
                  <m:oMath xmlns:m="http://schemas.openxmlformats.org/officeDocument/2006/math">
                    <m:r>
                      <a:rPr lang="en-US" sz="2600" i="1" dirty="0" smtClean="0">
                        <a:latin typeface="Cambria Math"/>
                        <a:sym typeface="Symbol" pitchFamily="18" charset="2"/>
                      </a:rPr>
                      <m:t>𝑔</m:t>
                    </m:r>
                  </m:oMath>
                </a14:m>
                <a:r>
                  <a:rPr lang="en-US" sz="2600" dirty="0">
                    <a:sym typeface="Symbol" pitchFamily="18" charset="2"/>
                  </a:rPr>
                  <a:t> at k-level partial </a:t>
                </a:r>
                <a:r>
                  <a:rPr lang="en-US" sz="2600" dirty="0" err="1">
                    <a:sym typeface="Symbol" pitchFamily="18" charset="2"/>
                  </a:rPr>
                  <a:t>solution</a:t>
                </a:r>
                <a14:m>
                  <m:oMath xmlns:m="http://schemas.openxmlformats.org/officeDocument/2006/math">
                    <m:r>
                      <a:rPr lang="en-US" sz="2600" i="1" dirty="0" smtClean="0">
                        <a:latin typeface="Cambria Math"/>
                        <a:sym typeface="Symbol" pitchFamily="18" charset="2"/>
                      </a:rPr>
                      <m:t> </m:t>
                    </m:r>
                    <m:d>
                      <m:dPr>
                        <m:ctrlPr>
                          <a:rPr lang="en-US" sz="2600" i="1" dirty="0" smtClean="0">
                            <a:latin typeface="Cambria Math" panose="02040503050406030204" pitchFamily="18" charset="0"/>
                            <a:sym typeface="Symbol" pitchFamily="18" charset="2"/>
                          </a:rPr>
                        </m:ctrlPr>
                      </m:dPr>
                      <m:e>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m:t>
                        </m:r>
                        <m:r>
                          <a:rPr lang="en-US" sz="2600" b="0" i="1" dirty="0" smtClean="0">
                            <a:latin typeface="Cambria Math"/>
                            <a:sym typeface="Symbol" pitchFamily="18" charset="2"/>
                          </a:rPr>
                          <m:t>.</m:t>
                        </m:r>
                        <m:r>
                          <a:rPr lang="en-US" sz="2600" i="1" dirty="0">
                            <a:latin typeface="Cambria Math"/>
                            <a:sym typeface="Symbol" pitchFamily="18" charset="2"/>
                          </a:rPr>
                          <m:t>.,</m:t>
                        </m:r>
                        <m:sSub>
                          <m:sSubPr>
                            <m:ctrlPr>
                              <a:rPr lang="en-US" sz="2600" i="1" dirty="0" smtClean="0">
                                <a:latin typeface="Cambria Math" panose="02040503050406030204" pitchFamily="18" charset="0"/>
                                <a:sym typeface="Symbol" pitchFamily="18" charset="2"/>
                              </a:rPr>
                            </m:ctrlPr>
                          </m:sSubPr>
                          <m:e>
                            <m:r>
                              <a:rPr lang="en-US" sz="2600" b="0" i="1" dirty="0" smtClean="0">
                                <a:latin typeface="Cambria Math"/>
                                <a:sym typeface="Symbol" pitchFamily="18" charset="2"/>
                              </a:rPr>
                              <m:t>𝑎</m:t>
                            </m:r>
                          </m:e>
                          <m:sub>
                            <m:r>
                              <a:rPr lang="en-US" sz="2600" b="0" i="1" dirty="0" smtClean="0">
                                <a:latin typeface="Cambria Math"/>
                                <a:sym typeface="Symbol" pitchFamily="18" charset="2"/>
                              </a:rPr>
                              <m:t>𝑘</m:t>
                            </m:r>
                          </m:sub>
                        </m:sSub>
                      </m:e>
                    </m:d>
                  </m:oMath>
                </a14:m>
                <a:r>
                  <a:rPr lang="en-US" sz="2600" dirty="0">
                    <a:sym typeface="Symbol" pitchFamily="18" charset="2"/>
                  </a:rPr>
                  <a:t> does not exceed the minimum value of the target function on a subset of the solutions</a:t>
                </a:r>
              </a:p>
              <a:p>
                <a:pPr marL="0" indent="0">
                  <a:spcBef>
                    <a:spcPct val="50000"/>
                  </a:spcBef>
                  <a:buNone/>
                </a:pPr>
                <a:r>
                  <a:rPr lang="en-US" sz="2600" dirty="0">
                    <a:sym typeface="Symbol" pitchFamily="18" charset="2"/>
                  </a:rPr>
                  <a:t>	</a:t>
                </a:r>
                <a14:m>
                  <m:oMath xmlns:m="http://schemas.openxmlformats.org/officeDocument/2006/math">
                    <m:r>
                      <a:rPr lang="en-US" sz="2600" i="1" dirty="0" smtClean="0">
                        <a:latin typeface="Cambria Math"/>
                        <a:sym typeface="Symbol" pitchFamily="18" charset="2"/>
                      </a:rPr>
                      <m:t>𝐷</m:t>
                    </m:r>
                    <m:r>
                      <a:rPr lang="en-US" sz="2600" i="1" dirty="0" smtClean="0">
                        <a:latin typeface="Cambria Math"/>
                        <a:sym typeface="Symbol" pitchFamily="18" charset="2"/>
                      </a:rPr>
                      <m:t>(</m:t>
                    </m:r>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m:t>
                    </m:r>
                    <m:r>
                      <a:rPr lang="en-US" sz="2600" b="0" i="1" dirty="0" smtClean="0">
                        <a:latin typeface="Cambria Math"/>
                        <a:sym typeface="Symbol" pitchFamily="18" charset="2"/>
                      </a:rPr>
                      <m:t>.</m:t>
                    </m:r>
                    <m:r>
                      <a:rPr lang="en-US" sz="2600" i="1" dirty="0">
                        <a:latin typeface="Cambria Math"/>
                        <a:sym typeface="Symbol" pitchFamily="18" charset="2"/>
                      </a:rPr>
                      <m:t>.,</m:t>
                    </m:r>
                    <m:sSub>
                      <m:sSubPr>
                        <m:ctrlPr>
                          <a:rPr lang="en-US" sz="2600" i="1" dirty="0" smtClean="0">
                            <a:latin typeface="Cambria Math" panose="02040503050406030204" pitchFamily="18" charset="0"/>
                            <a:sym typeface="Symbol" pitchFamily="18" charset="2"/>
                          </a:rPr>
                        </m:ctrlPr>
                      </m:sSubPr>
                      <m:e>
                        <m:r>
                          <a:rPr lang="en-US" sz="2600" b="0" i="1" dirty="0" smtClean="0">
                            <a:latin typeface="Cambria Math"/>
                            <a:sym typeface="Symbol" pitchFamily="18" charset="2"/>
                          </a:rPr>
                          <m:t>𝑎</m:t>
                        </m:r>
                      </m:e>
                      <m:sub>
                        <m:r>
                          <a:rPr lang="en-US" sz="2600" b="0" i="1" dirty="0" smtClean="0">
                            <a:latin typeface="Cambria Math"/>
                            <a:sym typeface="Symbol" pitchFamily="18" charset="2"/>
                          </a:rPr>
                          <m:t>𝑘</m:t>
                        </m:r>
                      </m:sub>
                    </m:sSub>
                    <m:r>
                      <a:rPr lang="en-US" sz="2600" i="1" dirty="0">
                        <a:latin typeface="Cambria Math"/>
                        <a:sym typeface="Symbol" pitchFamily="18" charset="2"/>
                      </a:rPr>
                      <m:t>)={</m:t>
                    </m:r>
                    <m:r>
                      <a:rPr lang="en-US" sz="2600" i="1" dirty="0">
                        <a:latin typeface="Cambria Math"/>
                        <a:sym typeface="Symbol" pitchFamily="18" charset="2"/>
                      </a:rPr>
                      <m:t>𝑋</m:t>
                    </m:r>
                    <m:r>
                      <a:rPr lang="en-US" sz="2600" i="1" dirty="0" smtClean="0">
                        <a:latin typeface="Cambria Math"/>
                        <a:ea typeface="Cambria Math"/>
                        <a:sym typeface="Symbol" pitchFamily="18" charset="2"/>
                      </a:rPr>
                      <m:t>∈</m:t>
                    </m:r>
                    <m:r>
                      <a:rPr lang="en-US" sz="2600" i="1" dirty="0">
                        <a:latin typeface="Cambria Math"/>
                        <a:sym typeface="Symbol" pitchFamily="18" charset="2"/>
                      </a:rPr>
                      <m:t>𝐷</m:t>
                    </m:r>
                    <m:r>
                      <a:rPr lang="en-US" sz="2600" i="1" dirty="0">
                        <a:latin typeface="Cambria Math"/>
                        <a:sym typeface="Symbol" pitchFamily="18" charset="2"/>
                      </a:rPr>
                      <m:t>: </m:t>
                    </m:r>
                    <m:sSub>
                      <m:sSubPr>
                        <m:ctrlPr>
                          <a:rPr lang="en-US" sz="2600" i="1" dirty="0" smtClean="0">
                            <a:latin typeface="Cambria Math" panose="02040503050406030204" pitchFamily="18" charset="0"/>
                            <a:sym typeface="Symbol" pitchFamily="18" charset="2"/>
                          </a:rPr>
                        </m:ctrlPr>
                      </m:sSubPr>
                      <m:e>
                        <m:r>
                          <a:rPr lang="en-US" sz="2600" b="0" i="1" dirty="0" smtClean="0">
                            <a:latin typeface="Cambria Math"/>
                            <a:sym typeface="Symbol" pitchFamily="18" charset="2"/>
                          </a:rPr>
                          <m:t>𝑥</m:t>
                        </m:r>
                      </m:e>
                      <m:sub>
                        <m:r>
                          <a:rPr lang="en-US" sz="2600" b="0" i="1" dirty="0" smtClean="0">
                            <a:latin typeface="Cambria Math"/>
                            <a:sym typeface="Symbol" pitchFamily="18" charset="2"/>
                          </a:rPr>
                          <m:t>𝑖</m:t>
                        </m:r>
                      </m:sub>
                    </m:sSub>
                    <m:r>
                      <a:rPr lang="en-US" sz="2600" i="1" dirty="0">
                        <a:latin typeface="Cambria Math"/>
                        <a:sym typeface="Symbol" pitchFamily="18" charset="2"/>
                      </a:rPr>
                      <m:t>=</m:t>
                    </m:r>
                    <m:r>
                      <a:rPr lang="en-US" sz="2600" i="1" dirty="0" err="1">
                        <a:latin typeface="Cambria Math"/>
                        <a:sym typeface="Symbol" pitchFamily="18" charset="2"/>
                      </a:rPr>
                      <m:t>𝑎</m:t>
                    </m:r>
                    <m:r>
                      <a:rPr lang="en-US" sz="2600" i="1" baseline="-25000" dirty="0" err="1">
                        <a:latin typeface="Cambria Math"/>
                        <a:sym typeface="Symbol" pitchFamily="18" charset="2"/>
                      </a:rPr>
                      <m:t>𝑖</m:t>
                    </m:r>
                    <m:r>
                      <a:rPr lang="en-US" sz="2600" i="1" dirty="0">
                        <a:latin typeface="Cambria Math"/>
                        <a:sym typeface="Symbol" pitchFamily="18" charset="2"/>
                      </a:rPr>
                      <m:t>, </m:t>
                    </m:r>
                    <m:r>
                      <a:rPr lang="en-US" sz="2600" i="1" dirty="0">
                        <a:latin typeface="Cambria Math"/>
                        <a:sym typeface="Symbol" pitchFamily="18" charset="2"/>
                      </a:rPr>
                      <m:t>𝑖</m:t>
                    </m:r>
                    <m:r>
                      <a:rPr lang="en-US" sz="2600" i="1" dirty="0">
                        <a:latin typeface="Cambria Math"/>
                        <a:sym typeface="Symbol" pitchFamily="18" charset="2"/>
                      </a:rPr>
                      <m:t>=1, 2, ..., </m:t>
                    </m:r>
                    <m:r>
                      <a:rPr lang="en-US" sz="2600" i="1" dirty="0">
                        <a:latin typeface="Cambria Math"/>
                        <a:sym typeface="Symbol" pitchFamily="18" charset="2"/>
                      </a:rPr>
                      <m:t>𝑘</m:t>
                    </m:r>
                    <m:r>
                      <a:rPr lang="en-US" sz="2600" i="1" dirty="0">
                        <a:latin typeface="Cambria Math"/>
                        <a:sym typeface="Symbol" pitchFamily="18" charset="2"/>
                      </a:rPr>
                      <m:t>}</m:t>
                    </m:r>
                  </m:oMath>
                </a14:m>
                <a:endParaRPr lang="en-US" sz="2600" dirty="0">
                  <a:sym typeface="Symbol" pitchFamily="18" charset="2"/>
                </a:endParaRPr>
              </a:p>
              <a:p>
                <a:pPr>
                  <a:spcBef>
                    <a:spcPct val="50000"/>
                  </a:spcBef>
                </a:pPr>
                <a:r>
                  <a:rPr lang="en-US" sz="2600" dirty="0">
                    <a:sym typeface="Symbol" pitchFamily="18" charset="2"/>
                  </a:rPr>
                  <a:t>The value of function </a:t>
                </a:r>
                <a14:m>
                  <m:oMath xmlns:m="http://schemas.openxmlformats.org/officeDocument/2006/math">
                    <m:r>
                      <a:rPr lang="en-US" sz="2600" i="1" dirty="0" smtClean="0">
                        <a:latin typeface="Cambria Math"/>
                        <a:sym typeface="Symbol" pitchFamily="18" charset="2"/>
                      </a:rPr>
                      <m:t>𝑔</m:t>
                    </m:r>
                    <m:r>
                      <a:rPr lang="en-US" sz="2600" i="1" dirty="0" smtClean="0">
                        <a:latin typeface="Cambria Math"/>
                        <a:sym typeface="Symbol" pitchFamily="18" charset="2"/>
                      </a:rPr>
                      <m:t>(</m:t>
                    </m:r>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 .</m:t>
                    </m:r>
                    <m:r>
                      <a:rPr lang="en-US" sz="2600" b="0" i="1" dirty="0" smtClean="0">
                        <a:latin typeface="Cambria Math"/>
                        <a:sym typeface="Symbol" pitchFamily="18" charset="2"/>
                      </a:rPr>
                      <m:t>.</m:t>
                    </m:r>
                    <m:r>
                      <a:rPr lang="en-US" sz="2600" i="1" dirty="0">
                        <a:latin typeface="Cambria Math"/>
                        <a:sym typeface="Symbol" pitchFamily="18" charset="2"/>
                      </a:rPr>
                      <m:t>.,</m:t>
                    </m:r>
                    <m:r>
                      <a:rPr lang="en-US" sz="2600" i="1" dirty="0" err="1">
                        <a:latin typeface="Cambria Math"/>
                        <a:sym typeface="Symbol" pitchFamily="18" charset="2"/>
                      </a:rPr>
                      <m:t>𝑎</m:t>
                    </m:r>
                    <m:r>
                      <a:rPr lang="en-US" sz="2600" i="1" baseline="-25000" dirty="0" err="1">
                        <a:latin typeface="Cambria Math"/>
                        <a:sym typeface="Symbol" pitchFamily="18" charset="2"/>
                      </a:rPr>
                      <m:t>𝑘</m:t>
                    </m:r>
                    <m:r>
                      <a:rPr lang="en-US" sz="2600" i="1" dirty="0">
                        <a:latin typeface="Cambria Math"/>
                        <a:sym typeface="Symbol" pitchFamily="18" charset="2"/>
                      </a:rPr>
                      <m:t>) </m:t>
                    </m:r>
                  </m:oMath>
                </a14:m>
                <a:r>
                  <a:rPr lang="en-US" sz="2600" dirty="0">
                    <a:sym typeface="Symbol" pitchFamily="18" charset="2"/>
                  </a:rPr>
                  <a:t>is the lower bound of the target function on the set </a:t>
                </a:r>
                <a14:m>
                  <m:oMath xmlns:m="http://schemas.openxmlformats.org/officeDocument/2006/math">
                    <m:r>
                      <a:rPr lang="en-US" sz="2600" i="1" dirty="0" smtClean="0">
                        <a:latin typeface="Cambria Math"/>
                        <a:sym typeface="Symbol" pitchFamily="18" charset="2"/>
                      </a:rPr>
                      <m:t>𝐷</m:t>
                    </m:r>
                    <m:r>
                      <a:rPr lang="en-US" sz="2600" i="1" dirty="0" smtClean="0">
                        <a:latin typeface="Cambria Math"/>
                        <a:sym typeface="Symbol" pitchFamily="18" charset="2"/>
                      </a:rPr>
                      <m:t>(</m:t>
                    </m:r>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m:t>
                    </m:r>
                    <m:r>
                      <a:rPr lang="en-US" sz="2600" b="0" i="1" dirty="0" smtClean="0">
                        <a:latin typeface="Cambria Math"/>
                        <a:sym typeface="Symbol" pitchFamily="18" charset="2"/>
                      </a:rPr>
                      <m:t>.</m:t>
                    </m:r>
                    <m:r>
                      <a:rPr lang="en-US" sz="2600" i="1" dirty="0">
                        <a:latin typeface="Cambria Math"/>
                        <a:sym typeface="Symbol" pitchFamily="18" charset="2"/>
                      </a:rPr>
                      <m:t>.,</m:t>
                    </m:r>
                    <m:sSub>
                      <m:sSubPr>
                        <m:ctrlPr>
                          <a:rPr lang="en-US" sz="2600" i="1" dirty="0">
                            <a:latin typeface="Cambria Math" panose="02040503050406030204" pitchFamily="18" charset="0"/>
                            <a:sym typeface="Symbol" pitchFamily="18" charset="2"/>
                          </a:rPr>
                        </m:ctrlPr>
                      </m:sSubPr>
                      <m:e>
                        <m:r>
                          <a:rPr lang="en-US" sz="2600" i="1" dirty="0">
                            <a:latin typeface="Cambria Math"/>
                            <a:sym typeface="Symbol" pitchFamily="18" charset="2"/>
                          </a:rPr>
                          <m:t>𝑎</m:t>
                        </m:r>
                      </m:e>
                      <m:sub>
                        <m:r>
                          <a:rPr lang="en-US" sz="2600" i="1" dirty="0">
                            <a:latin typeface="Cambria Math"/>
                            <a:sym typeface="Symbol" pitchFamily="18" charset="2"/>
                          </a:rPr>
                          <m:t>𝑘</m:t>
                        </m:r>
                      </m:sub>
                    </m:sSub>
                    <m:r>
                      <a:rPr lang="en-US" sz="2600" i="1" dirty="0">
                        <a:latin typeface="Cambria Math"/>
                        <a:sym typeface="Symbol" pitchFamily="18" charset="2"/>
                      </a:rPr>
                      <m:t>)</m:t>
                    </m:r>
                  </m:oMath>
                </a14:m>
                <a:r>
                  <a:rPr lang="en-US" sz="2600" dirty="0">
                    <a:sym typeface="Symbol" pitchFamily="18" charset="2"/>
                  </a:rPr>
                  <a:t>. Function </a:t>
                </a:r>
                <a14:m>
                  <m:oMath xmlns:m="http://schemas.openxmlformats.org/officeDocument/2006/math">
                    <m:r>
                      <a:rPr lang="en-US" sz="2600" i="1" dirty="0" smtClean="0">
                        <a:latin typeface="Cambria Math"/>
                        <a:sym typeface="Symbol" pitchFamily="18" charset="2"/>
                      </a:rPr>
                      <m:t>𝑔</m:t>
                    </m:r>
                  </m:oMath>
                </a14:m>
                <a:r>
                  <a:rPr lang="en-US" sz="2600" dirty="0">
                    <a:sym typeface="Symbol" pitchFamily="18" charset="2"/>
                  </a:rPr>
                  <a:t> is called the lower bound function, </a:t>
                </a:r>
                <a14:m>
                  <m:oMath xmlns:m="http://schemas.openxmlformats.org/officeDocument/2006/math">
                    <m:r>
                      <a:rPr lang="en-US" sz="2600" i="1" dirty="0" smtClean="0">
                        <a:latin typeface="Cambria Math"/>
                        <a:sym typeface="Symbol" pitchFamily="18" charset="2"/>
                      </a:rPr>
                      <m:t>𝑔</m:t>
                    </m:r>
                    <m:d>
                      <m:dPr>
                        <m:ctrlPr>
                          <a:rPr lang="en-US" sz="2600" i="1" dirty="0" smtClean="0">
                            <a:latin typeface="Cambria Math" panose="02040503050406030204" pitchFamily="18" charset="0"/>
                            <a:sym typeface="Symbol" pitchFamily="18" charset="2"/>
                          </a:rPr>
                        </m:ctrlPr>
                      </m:dPr>
                      <m:e>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 .</m:t>
                        </m:r>
                        <m:r>
                          <a:rPr lang="en-US" sz="2600" b="0" i="1" dirty="0" smtClean="0">
                            <a:latin typeface="Cambria Math"/>
                            <a:sym typeface="Symbol" pitchFamily="18" charset="2"/>
                          </a:rPr>
                          <m:t>.</m:t>
                        </m:r>
                        <m:r>
                          <a:rPr lang="en-US" sz="2600" i="1" dirty="0">
                            <a:latin typeface="Cambria Math"/>
                            <a:sym typeface="Symbol" pitchFamily="18" charset="2"/>
                          </a:rPr>
                          <m:t>.,</m:t>
                        </m:r>
                        <m:r>
                          <a:rPr lang="en-US" sz="2600" i="1" dirty="0" err="1">
                            <a:latin typeface="Cambria Math"/>
                            <a:sym typeface="Symbol" pitchFamily="18" charset="2"/>
                          </a:rPr>
                          <m:t>𝑎</m:t>
                        </m:r>
                        <m:r>
                          <a:rPr lang="en-US" sz="2600" i="1" baseline="-25000" dirty="0" err="1">
                            <a:latin typeface="Cambria Math"/>
                            <a:sym typeface="Symbol" pitchFamily="18" charset="2"/>
                          </a:rPr>
                          <m:t>𝑘</m:t>
                        </m:r>
                      </m:e>
                    </m:d>
                  </m:oMath>
                </a14:m>
                <a:r>
                  <a:rPr lang="en-US" sz="2600" dirty="0">
                    <a:sym typeface="Symbol" pitchFamily="18" charset="2"/>
                  </a:rPr>
                  <a:t> is called the lower bound of the set </a:t>
                </a:r>
                <a14:m>
                  <m:oMath xmlns:m="http://schemas.openxmlformats.org/officeDocument/2006/math">
                    <m:r>
                      <a:rPr lang="en-US" sz="2600" i="1" dirty="0" smtClean="0">
                        <a:latin typeface="Cambria Math"/>
                        <a:sym typeface="Symbol" pitchFamily="18" charset="2"/>
                      </a:rPr>
                      <m:t>𝐷</m:t>
                    </m:r>
                    <m:r>
                      <a:rPr lang="en-US" sz="2600" i="1" dirty="0" smtClean="0">
                        <a:latin typeface="Cambria Math"/>
                        <a:sym typeface="Symbol" pitchFamily="18" charset="2"/>
                      </a:rPr>
                      <m:t>(</m:t>
                    </m:r>
                    <m:r>
                      <a:rPr lang="en-US" sz="2600" i="1" dirty="0" smtClean="0">
                        <a:latin typeface="Cambria Math"/>
                        <a:sym typeface="Symbol" pitchFamily="18" charset="2"/>
                      </a:rPr>
                      <m:t>𝑎</m:t>
                    </m:r>
                    <m:r>
                      <a:rPr lang="en-US" sz="2600" i="1" baseline="-25000" dirty="0">
                        <a:latin typeface="Cambria Math"/>
                        <a:sym typeface="Symbol" pitchFamily="18" charset="2"/>
                      </a:rPr>
                      <m:t>1</m:t>
                    </m:r>
                    <m:r>
                      <a:rPr lang="en-US" sz="2600" i="1" dirty="0">
                        <a:latin typeface="Cambria Math"/>
                        <a:sym typeface="Symbol" pitchFamily="18" charset="2"/>
                      </a:rPr>
                      <m:t>, </m:t>
                    </m:r>
                    <m:r>
                      <a:rPr lang="en-US" sz="2600" i="1" dirty="0">
                        <a:latin typeface="Cambria Math"/>
                        <a:sym typeface="Symbol" pitchFamily="18" charset="2"/>
                      </a:rPr>
                      <m:t>𝑎</m:t>
                    </m:r>
                    <m:r>
                      <a:rPr lang="en-US" sz="2600" i="1" baseline="-25000" dirty="0">
                        <a:latin typeface="Cambria Math"/>
                        <a:sym typeface="Symbol" pitchFamily="18" charset="2"/>
                      </a:rPr>
                      <m:t>2</m:t>
                    </m:r>
                    <m:r>
                      <a:rPr lang="en-US" sz="2600" i="1" dirty="0">
                        <a:latin typeface="Cambria Math"/>
                        <a:sym typeface="Symbol" pitchFamily="18" charset="2"/>
                      </a:rPr>
                      <m:t>,.</m:t>
                    </m:r>
                    <m:r>
                      <a:rPr lang="en-US" sz="2600" b="0" i="1" dirty="0" smtClean="0">
                        <a:latin typeface="Cambria Math"/>
                        <a:sym typeface="Symbol" pitchFamily="18" charset="2"/>
                      </a:rPr>
                      <m:t>.</m:t>
                    </m:r>
                    <m:r>
                      <a:rPr lang="en-US" sz="2600" i="1" dirty="0">
                        <a:latin typeface="Cambria Math"/>
                        <a:sym typeface="Symbol" pitchFamily="18" charset="2"/>
                      </a:rPr>
                      <m:t>.,</m:t>
                    </m:r>
                    <m:sSub>
                      <m:sSubPr>
                        <m:ctrlPr>
                          <a:rPr lang="en-US" sz="2600" i="1" dirty="0">
                            <a:latin typeface="Cambria Math" panose="02040503050406030204" pitchFamily="18" charset="0"/>
                            <a:sym typeface="Symbol" pitchFamily="18" charset="2"/>
                          </a:rPr>
                        </m:ctrlPr>
                      </m:sSubPr>
                      <m:e>
                        <m:r>
                          <a:rPr lang="en-US" sz="2600" i="1" dirty="0">
                            <a:latin typeface="Cambria Math"/>
                            <a:sym typeface="Symbol" pitchFamily="18" charset="2"/>
                          </a:rPr>
                          <m:t>𝑎</m:t>
                        </m:r>
                      </m:e>
                      <m:sub>
                        <m:r>
                          <a:rPr lang="en-US" sz="2600" i="1" dirty="0">
                            <a:latin typeface="Cambria Math"/>
                            <a:sym typeface="Symbol" pitchFamily="18" charset="2"/>
                          </a:rPr>
                          <m:t>𝑘</m:t>
                        </m:r>
                      </m:sub>
                    </m:sSub>
                    <m:r>
                      <a:rPr lang="en-US" sz="2600" i="1" dirty="0">
                        <a:latin typeface="Cambria Math"/>
                        <a:sym typeface="Symbol" pitchFamily="18" charset="2"/>
                      </a:rPr>
                      <m:t>)</m:t>
                    </m:r>
                  </m:oMath>
                </a14:m>
                <a:r>
                  <a:rPr lang="en-US" sz="2600" dirty="0">
                    <a:sym typeface="Symbol" pitchFamily="18" charset="2"/>
                  </a:rPr>
                  <a:t>.</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382000" cy="4937760"/>
              </a:xfrm>
              <a:blipFill>
                <a:blip r:embed="rId2"/>
                <a:stretch>
                  <a:fillRect t="-1358" r="-1091"/>
                </a:stretch>
              </a:blipFill>
            </p:spPr>
            <p:txBody>
              <a:bodyPr/>
              <a:lstStyle/>
              <a:p>
                <a:r>
                  <a:rPr lang="en-US">
                    <a:noFill/>
                  </a:rPr>
                  <a:t> </a:t>
                </a:r>
              </a:p>
            </p:txBody>
          </p:sp>
        </mc:Fallback>
      </mc:AlternateContent>
    </p:spTree>
    <p:extLst>
      <p:ext uri="{BB962C8B-B14F-4D97-AF65-F5344CB8AC3E}">
        <p14:creationId xmlns:p14="http://schemas.microsoft.com/office/powerpoint/2010/main" val="1149547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Limiting solution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85000" lnSpcReduction="10000"/>
              </a:bodyPr>
              <a:lstStyle/>
              <a:p>
                <a:pPr algn="just">
                  <a:spcBef>
                    <a:spcPct val="50000"/>
                  </a:spcBef>
                </a:pPr>
                <a:r>
                  <a:rPr lang="en-US" dirty="0">
                    <a:sym typeface="Symbol" pitchFamily="18" charset="2"/>
                  </a:rPr>
                  <a:t>Assume we already have a function </a:t>
                </a:r>
                <a14:m>
                  <m:oMath xmlns:m="http://schemas.openxmlformats.org/officeDocument/2006/math">
                    <m:r>
                      <a:rPr lang="en-US" i="1" dirty="0" smtClean="0">
                        <a:latin typeface="Cambria Math"/>
                        <a:sym typeface="Symbol" pitchFamily="18" charset="2"/>
                      </a:rPr>
                      <m:t>𝑔</m:t>
                    </m:r>
                  </m:oMath>
                </a14:m>
                <a:r>
                  <a:rPr lang="en-US" dirty="0">
                    <a:sym typeface="Symbol" pitchFamily="18" charset="2"/>
                  </a:rPr>
                  <a:t>. In order to reduce the number of solutions in listing process by backtracking algorithm, we can determine that </a:t>
                </a:r>
                <a14:m>
                  <m:oMath xmlns:m="http://schemas.openxmlformats.org/officeDocument/2006/math">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𝑋</m:t>
                        </m:r>
                      </m:e>
                      <m:sup>
                        <m:r>
                          <a:rPr lang="en-US" b="0" i="1" dirty="0" smtClean="0">
                            <a:latin typeface="Cambria Math"/>
                            <a:sym typeface="Symbol" pitchFamily="18" charset="2"/>
                          </a:rPr>
                          <m:t>∗</m:t>
                        </m:r>
                      </m:sup>
                    </m:sSup>
                    <m:r>
                      <a:rPr lang="en-US" i="1" dirty="0" smtClean="0">
                        <a:latin typeface="Cambria Math"/>
                        <a:sym typeface="Symbol" pitchFamily="18" charset="2"/>
                      </a:rPr>
                      <m:t> </m:t>
                    </m:r>
                  </m:oMath>
                </a14:m>
                <a:r>
                  <a:rPr lang="en-US" dirty="0">
                    <a:sym typeface="Symbol" pitchFamily="18" charset="2"/>
                  </a:rPr>
                  <a:t>is the solution that makes for the target function the smallest value among the solutions found </a:t>
                </a:r>
                <a14:m>
                  <m:oMath xmlns:m="http://schemas.openxmlformats.org/officeDocument/2006/math">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𝑓</m:t>
                        </m:r>
                      </m:e>
                      <m:sup>
                        <m:r>
                          <a:rPr lang="en-US" b="0" i="1" dirty="0" smtClean="0">
                            <a:latin typeface="Cambria Math"/>
                            <a:sym typeface="Symbol" pitchFamily="18" charset="2"/>
                          </a:rPr>
                          <m:t>∗</m:t>
                        </m:r>
                      </m:sup>
                    </m:sSup>
                    <m:r>
                      <a:rPr lang="en-US" i="1" dirty="0" smtClean="0">
                        <a:latin typeface="Cambria Math"/>
                        <a:sym typeface="Symbol" pitchFamily="18" charset="2"/>
                      </a:rPr>
                      <m:t>=</m:t>
                    </m:r>
                    <m:r>
                      <a:rPr lang="en-US" i="1" dirty="0" smtClean="0">
                        <a:latin typeface="Cambria Math"/>
                        <a:sym typeface="Symbol" pitchFamily="18" charset="2"/>
                      </a:rPr>
                      <m:t>𝑓</m:t>
                    </m:r>
                    <m:r>
                      <a:rPr lang="en-US" i="1" dirty="0" smtClean="0">
                        <a:latin typeface="Cambria Math"/>
                        <a:sym typeface="Symbol" pitchFamily="18" charset="2"/>
                      </a:rPr>
                      <m:t>(</m:t>
                    </m:r>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𝑋</m:t>
                        </m:r>
                      </m:e>
                      <m:sup>
                        <m:r>
                          <a:rPr lang="en-US" i="1" dirty="0">
                            <a:latin typeface="Cambria Math"/>
                            <a:sym typeface="Symbol" pitchFamily="18" charset="2"/>
                          </a:rPr>
                          <m:t>∗</m:t>
                        </m:r>
                      </m:sup>
                    </m:sSup>
                    <m:r>
                      <a:rPr lang="en-US" i="1" dirty="0" smtClean="0">
                        <a:latin typeface="Cambria Math"/>
                        <a:sym typeface="Symbol" pitchFamily="18" charset="2"/>
                      </a:rPr>
                      <m:t>)</m:t>
                    </m:r>
                  </m:oMath>
                </a14:m>
                <a:r>
                  <a:rPr lang="en-US" dirty="0">
                    <a:sym typeface="Symbol" pitchFamily="18" charset="2"/>
                  </a:rPr>
                  <a:t>. We call </a:t>
                </a:r>
                <a14:m>
                  <m:oMath xmlns:m="http://schemas.openxmlformats.org/officeDocument/2006/math">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𝑋</m:t>
                        </m:r>
                      </m:e>
                      <m:sup>
                        <m:r>
                          <a:rPr lang="en-US" i="1" dirty="0">
                            <a:latin typeface="Cambria Math"/>
                            <a:sym typeface="Symbol" pitchFamily="18" charset="2"/>
                          </a:rPr>
                          <m:t>∗</m:t>
                        </m:r>
                      </m:sup>
                    </m:sSup>
                  </m:oMath>
                </a14:m>
                <a:r>
                  <a:rPr lang="en-US" dirty="0">
                    <a:sym typeface="Symbol" pitchFamily="18" charset="2"/>
                  </a:rPr>
                  <a:t> is the best available solution, </a:t>
                </a:r>
                <a14:m>
                  <m:oMath xmlns:m="http://schemas.openxmlformats.org/officeDocument/2006/math">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𝑓</m:t>
                        </m:r>
                      </m:e>
                      <m:sup>
                        <m:r>
                          <a:rPr lang="en-US" i="1" dirty="0">
                            <a:latin typeface="Cambria Math"/>
                            <a:sym typeface="Symbol" pitchFamily="18" charset="2"/>
                          </a:rPr>
                          <m:t>∗</m:t>
                        </m:r>
                      </m:sup>
                    </m:sSup>
                  </m:oMath>
                </a14:m>
                <a:r>
                  <a:rPr lang="en-US" dirty="0">
                    <a:sym typeface="Symbol" pitchFamily="18" charset="2"/>
                  </a:rPr>
                  <a:t> is the current record.</a:t>
                </a:r>
              </a:p>
              <a:p>
                <a:pPr marL="0" indent="0">
                  <a:spcBef>
                    <a:spcPct val="50000"/>
                  </a:spcBef>
                  <a:buNone/>
                </a:pPr>
                <a:r>
                  <a:rPr lang="en-US" dirty="0">
                    <a:sym typeface="Symbol" pitchFamily="18" charset="2"/>
                  </a:rPr>
                  <a:t>  If</a:t>
                </a:r>
              </a:p>
              <a:p>
                <a:pPr marL="0" indent="0">
                  <a:spcBef>
                    <a:spcPct val="50000"/>
                  </a:spcBef>
                  <a:buNone/>
                </a:pPr>
                <a:r>
                  <a:rPr lang="en-US" dirty="0">
                    <a:sym typeface="Symbol" pitchFamily="18" charset="2"/>
                  </a:rPr>
                  <a:t>	</a:t>
                </a:r>
                <a14:m>
                  <m:oMath xmlns:m="http://schemas.openxmlformats.org/officeDocument/2006/math">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𝑓</m:t>
                        </m:r>
                      </m:e>
                      <m:sup>
                        <m:r>
                          <a:rPr lang="en-US" i="1" dirty="0">
                            <a:latin typeface="Cambria Math"/>
                            <a:sym typeface="Symbol" pitchFamily="18" charset="2"/>
                          </a:rPr>
                          <m:t>∗</m:t>
                        </m:r>
                      </m:sup>
                    </m:sSup>
                    <m:r>
                      <a:rPr lang="en-US" i="1" dirty="0" smtClean="0">
                        <a:latin typeface="Cambria Math"/>
                        <a:sym typeface="Symbol" pitchFamily="18" charset="2"/>
                      </a:rPr>
                      <m:t>&lt; </m:t>
                    </m:r>
                    <m:r>
                      <a:rPr lang="en-US" i="1" dirty="0" smtClean="0">
                        <a:latin typeface="Cambria Math"/>
                        <a:sym typeface="Symbol" pitchFamily="18" charset="2"/>
                      </a:rPr>
                      <m:t>𝑔</m:t>
                    </m:r>
                    <m:r>
                      <a:rPr lang="en-US" i="1" dirty="0" smtClean="0">
                        <a:latin typeface="Cambria Math"/>
                        <a:sym typeface="Symbol" pitchFamily="18" charset="2"/>
                      </a:rPr>
                      <m:t>(</m:t>
                    </m:r>
                    <m:r>
                      <a:rPr lang="en-US" i="1" dirty="0" smtClean="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𝑎</m:t>
                        </m:r>
                      </m:e>
                      <m:sub>
                        <m:r>
                          <a:rPr lang="en-US" i="1" dirty="0">
                            <a:latin typeface="Cambria Math"/>
                            <a:sym typeface="Symbol" pitchFamily="18" charset="2"/>
                          </a:rPr>
                          <m:t>𝑘</m:t>
                        </m:r>
                      </m:sub>
                    </m:sSub>
                    <m:r>
                      <a:rPr lang="en-US" i="1" dirty="0">
                        <a:latin typeface="Cambria Math"/>
                        <a:sym typeface="Symbol" pitchFamily="18" charset="2"/>
                      </a:rPr>
                      <m:t>)</m:t>
                    </m:r>
                  </m:oMath>
                </a14:m>
                <a:endParaRPr lang="en-US" dirty="0">
                  <a:sym typeface="Symbol" pitchFamily="18" charset="2"/>
                </a:endParaRPr>
              </a:p>
              <a:p>
                <a:pPr marL="0" indent="0">
                  <a:spcBef>
                    <a:spcPct val="50000"/>
                  </a:spcBef>
                  <a:buNone/>
                </a:pPr>
                <a:r>
                  <a:rPr lang="en-US" dirty="0">
                    <a:sym typeface="Symbol" pitchFamily="18" charset="2"/>
                  </a:rPr>
                  <a:t>  then	</a:t>
                </a:r>
              </a:p>
              <a:p>
                <a:pPr marL="0" indent="0">
                  <a:spcBef>
                    <a:spcPct val="50000"/>
                  </a:spcBef>
                  <a:buNone/>
                </a:pPr>
                <a:r>
                  <a:rPr lang="en-US" dirty="0">
                    <a:sym typeface="Symbol" pitchFamily="18" charset="2"/>
                  </a:rPr>
                  <a:t>	</a:t>
                </a:r>
                <a14:m>
                  <m:oMath xmlns:m="http://schemas.openxmlformats.org/officeDocument/2006/math">
                    <m:sSup>
                      <m:sSupPr>
                        <m:ctrlPr>
                          <a:rPr lang="en-US" i="1" dirty="0">
                            <a:latin typeface="Cambria Math" panose="02040503050406030204" pitchFamily="18" charset="0"/>
                            <a:sym typeface="Symbol" pitchFamily="18" charset="2"/>
                          </a:rPr>
                        </m:ctrlPr>
                      </m:sSupPr>
                      <m:e>
                        <m:r>
                          <a:rPr lang="en-US" i="1" dirty="0">
                            <a:latin typeface="Cambria Math"/>
                            <a:sym typeface="Symbol" pitchFamily="18" charset="2"/>
                          </a:rPr>
                          <m:t>𝑓</m:t>
                        </m:r>
                      </m:e>
                      <m:sup>
                        <m:r>
                          <a:rPr lang="en-US" i="1" dirty="0">
                            <a:latin typeface="Cambria Math"/>
                            <a:sym typeface="Symbol" pitchFamily="18" charset="2"/>
                          </a:rPr>
                          <m:t>∗</m:t>
                        </m:r>
                      </m:sup>
                    </m:sSup>
                    <m:r>
                      <a:rPr lang="en-US" i="1" dirty="0" smtClean="0">
                        <a:latin typeface="Cambria Math"/>
                        <a:sym typeface="Symbol" pitchFamily="18" charset="2"/>
                      </a:rPr>
                      <m:t>&lt; </m:t>
                    </m:r>
                    <m:r>
                      <a:rPr lang="en-US" i="1" dirty="0" smtClean="0">
                        <a:latin typeface="Cambria Math"/>
                        <a:sym typeface="Symbol" pitchFamily="18" charset="2"/>
                      </a:rPr>
                      <m:t>𝑔</m:t>
                    </m:r>
                    <m:r>
                      <a:rPr lang="en-US" i="1" dirty="0" smtClean="0">
                        <a:latin typeface="Cambria Math"/>
                        <a:sym typeface="Symbol" pitchFamily="18" charset="2"/>
                      </a:rPr>
                      <m:t>(</m:t>
                    </m:r>
                    <m:r>
                      <a:rPr lang="en-US" i="1" dirty="0" smtClean="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𝑎</m:t>
                        </m:r>
                      </m:e>
                      <m:sub>
                        <m:r>
                          <a:rPr lang="en-US" i="1" dirty="0">
                            <a:latin typeface="Cambria Math"/>
                            <a:sym typeface="Symbol" pitchFamily="18" charset="2"/>
                          </a:rPr>
                          <m:t>𝑘</m:t>
                        </m:r>
                      </m:sub>
                    </m:sSub>
                    <m:r>
                      <a:rPr lang="en-US" i="1" dirty="0">
                        <a:latin typeface="Cambria Math"/>
                        <a:sym typeface="Symbol" pitchFamily="18" charset="2"/>
                      </a:rPr>
                      <m:t>) ≤</m:t>
                    </m:r>
                    <m:r>
                      <m:rPr>
                        <m:sty m:val="p"/>
                      </m:rPr>
                      <a:rPr lang="en-US" i="1" dirty="0">
                        <a:latin typeface="Cambria Math"/>
                        <a:sym typeface="Symbol" pitchFamily="18" charset="2"/>
                      </a:rPr>
                      <m:t>min</m:t>
                    </m:r>
                    <m:r>
                      <a:rPr lang="en-US" i="1" dirty="0">
                        <a:latin typeface="Cambria Math"/>
                        <a:sym typeface="Symbol" pitchFamily="18" charset="2"/>
                      </a:rPr>
                      <m:t>⁡{</m:t>
                    </m:r>
                    <m:r>
                      <a:rPr lang="en-US" i="1" dirty="0">
                        <a:latin typeface="Cambria Math"/>
                        <a:sym typeface="Symbol" pitchFamily="18" charset="2"/>
                      </a:rPr>
                      <m:t>𝑓</m:t>
                    </m:r>
                    <m:r>
                      <a:rPr lang="en-US" i="1" dirty="0">
                        <a:latin typeface="Cambria Math"/>
                        <a:sym typeface="Symbol" pitchFamily="18" charset="2"/>
                      </a:rPr>
                      <m:t>(</m:t>
                    </m:r>
                    <m:r>
                      <a:rPr lang="en-US" i="1" dirty="0">
                        <a:latin typeface="Cambria Math"/>
                        <a:sym typeface="Symbol" pitchFamily="18" charset="2"/>
                      </a:rPr>
                      <m:t>𝑋</m:t>
                    </m:r>
                    <m:r>
                      <a:rPr lang="en-US" i="1" dirty="0">
                        <a:latin typeface="Cambria Math"/>
                        <a:sym typeface="Symbol" pitchFamily="18" charset="2"/>
                      </a:rPr>
                      <m:t>):</m:t>
                    </m:r>
                    <m:r>
                      <a:rPr lang="en-US" i="1" dirty="0">
                        <a:latin typeface="Cambria Math"/>
                        <a:sym typeface="Symbol" pitchFamily="18" charset="2"/>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r>
                      <a:rPr lang="en-US" i="1" dirty="0">
                        <a:latin typeface="Cambria Math"/>
                        <a:sym typeface="Symbol" pitchFamily="18" charset="2"/>
                      </a:rPr>
                      <m:t>, </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𝑖</m:t>
                        </m:r>
                      </m:sub>
                    </m:sSub>
                    <m:r>
                      <a:rPr lang="en-US" i="1" dirty="0">
                        <a:latin typeface="Cambria Math"/>
                        <a:sym typeface="Symbol" pitchFamily="18" charset="2"/>
                      </a:rPr>
                      <m:t>=</m:t>
                    </m:r>
                    <m:r>
                      <a:rPr lang="en-US" i="1" dirty="0" err="1">
                        <a:latin typeface="Cambria Math"/>
                        <a:sym typeface="Symbol" pitchFamily="18" charset="2"/>
                      </a:rPr>
                      <m:t>𝑎</m:t>
                    </m:r>
                    <m:r>
                      <a:rPr lang="en-US" i="1" baseline="-25000" dirty="0" err="1">
                        <a:latin typeface="Cambria Math"/>
                        <a:sym typeface="Symbol" pitchFamily="18" charset="2"/>
                      </a:rPr>
                      <m:t>𝑖</m:t>
                    </m:r>
                    <m:r>
                      <a:rPr lang="en-US" i="1" dirty="0">
                        <a:latin typeface="Cambria Math"/>
                        <a:sym typeface="Symbol" pitchFamily="18" charset="2"/>
                      </a:rPr>
                      <m:t>, </m:t>
                    </m:r>
                    <m:r>
                      <a:rPr lang="en-US" i="1" dirty="0">
                        <a:latin typeface="Cambria Math"/>
                        <a:sym typeface="Symbol" pitchFamily="18" charset="2"/>
                      </a:rPr>
                      <m:t>𝑖</m:t>
                    </m:r>
                    <m:r>
                      <a:rPr lang="en-US" i="1" dirty="0">
                        <a:latin typeface="Cambria Math"/>
                        <a:sym typeface="Symbol" pitchFamily="18" charset="2"/>
                      </a:rPr>
                      <m:t>=1, 2, ...,</m:t>
                    </m:r>
                    <m:r>
                      <a:rPr lang="en-US" i="1" dirty="0">
                        <a:latin typeface="Cambria Math"/>
                        <a:sym typeface="Symbol" pitchFamily="18" charset="2"/>
                      </a:rPr>
                      <m:t>𝑘</m:t>
                    </m:r>
                    <m:r>
                      <a:rPr lang="en-US" i="1" dirty="0">
                        <a:latin typeface="Cambria Math"/>
                        <a:sym typeface="Symbol" pitchFamily="18" charset="2"/>
                      </a:rPr>
                      <m:t>}</m:t>
                    </m:r>
                  </m:oMath>
                </a14:m>
                <a:endParaRPr lang="en-US" dirty="0">
                  <a:sym typeface="Symbol" pitchFamily="18" charset="2"/>
                </a:endParaRPr>
              </a:p>
              <a:p>
                <a:pPr>
                  <a:spcBef>
                    <a:spcPct val="50000"/>
                  </a:spcBef>
                </a:pPr>
                <a:r>
                  <a:rPr lang="en-US" dirty="0">
                    <a:sym typeface="Symbol" pitchFamily="18" charset="2"/>
                  </a:rPr>
                  <a:t>This means that the set </a:t>
                </a:r>
                <a14:m>
                  <m:oMath xmlns:m="http://schemas.openxmlformats.org/officeDocument/2006/math">
                    <m:r>
                      <a:rPr lang="en-US" i="1" dirty="0" smtClean="0">
                        <a:latin typeface="Cambria Math"/>
                        <a:sym typeface="Symbol" pitchFamily="18" charset="2"/>
                      </a:rPr>
                      <m:t>𝐷</m:t>
                    </m:r>
                    <m:r>
                      <a:rPr lang="en-US" i="1" dirty="0" smtClean="0">
                        <a:latin typeface="Cambria Math"/>
                        <a:sym typeface="Symbol" pitchFamily="18" charset="2"/>
                      </a:rPr>
                      <m:t>(</m:t>
                    </m:r>
                    <m:r>
                      <a:rPr lang="en-US" i="1" dirty="0" smtClean="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 </m:t>
                    </m:r>
                    <m:r>
                      <a:rPr lang="en-US" i="1" dirty="0" err="1">
                        <a:latin typeface="Cambria Math"/>
                        <a:sym typeface="Symbol" pitchFamily="18" charset="2"/>
                      </a:rPr>
                      <m:t>𝑎</m:t>
                    </m:r>
                    <m:r>
                      <a:rPr lang="en-US" i="1" baseline="-25000" dirty="0" err="1">
                        <a:latin typeface="Cambria Math"/>
                        <a:sym typeface="Symbol" pitchFamily="18" charset="2"/>
                      </a:rPr>
                      <m:t>𝑘</m:t>
                    </m:r>
                    <m:r>
                      <a:rPr lang="en-US" i="1" dirty="0">
                        <a:latin typeface="Cambria Math"/>
                        <a:sym typeface="Symbol" pitchFamily="18" charset="2"/>
                      </a:rPr>
                      <m:t>) </m:t>
                    </m:r>
                  </m:oMath>
                </a14:m>
                <a:r>
                  <a:rPr lang="en-US" dirty="0">
                    <a:sym typeface="Symbol" pitchFamily="18" charset="2"/>
                  </a:rPr>
                  <a:t>definitely does not contain the optimal solution. In this case, we do not need to implement the partial plan </a:t>
                </a:r>
                <a14:m>
                  <m:oMath xmlns:m="http://schemas.openxmlformats.org/officeDocument/2006/math">
                    <m:r>
                      <a:rPr lang="en-US" i="1" dirty="0" smtClean="0">
                        <a:latin typeface="Cambria Math"/>
                        <a:sym typeface="Symbol" pitchFamily="18" charset="2"/>
                      </a:rPr>
                      <m:t>(</m:t>
                    </m:r>
                    <m:r>
                      <a:rPr lang="en-US" i="1" dirty="0" smtClean="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𝑎</m:t>
                        </m:r>
                      </m:e>
                      <m:sub>
                        <m:r>
                          <a:rPr lang="en-US" i="1" dirty="0">
                            <a:latin typeface="Cambria Math"/>
                            <a:sym typeface="Symbol" pitchFamily="18" charset="2"/>
                          </a:rPr>
                          <m:t>𝑘</m:t>
                        </m:r>
                      </m:sub>
                    </m:sSub>
                    <m:r>
                      <a:rPr lang="en-US" i="1" dirty="0">
                        <a:latin typeface="Cambria Math"/>
                        <a:sym typeface="Symbol" pitchFamily="18" charset="2"/>
                      </a:rPr>
                      <m:t>)</m:t>
                    </m:r>
                  </m:oMath>
                </a14:m>
                <a:r>
                  <a:rPr lang="en-US" dirty="0">
                    <a:sym typeface="Symbol" pitchFamily="18" charset="2"/>
                  </a:rPr>
                  <a:t>. The set </a:t>
                </a:r>
                <a14:m>
                  <m:oMath xmlns:m="http://schemas.openxmlformats.org/officeDocument/2006/math">
                    <m:r>
                      <a:rPr lang="en-US" i="1" dirty="0" smtClean="0">
                        <a:latin typeface="Cambria Math"/>
                        <a:sym typeface="Symbol" pitchFamily="18" charset="2"/>
                      </a:rPr>
                      <m:t>𝐷</m:t>
                    </m:r>
                    <m:r>
                      <a:rPr lang="en-US" i="1" dirty="0" smtClean="0">
                        <a:latin typeface="Cambria Math"/>
                        <a:sym typeface="Symbol" pitchFamily="18" charset="2"/>
                      </a:rPr>
                      <m:t>(</m:t>
                    </m:r>
                    <m:r>
                      <a:rPr lang="en-US" i="1" dirty="0" smtClean="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r>
                      <a:rPr lang="en-US" i="1" dirty="0" smtClean="0">
                        <a:latin typeface="Cambria Math"/>
                        <a:sym typeface="Symbol" pitchFamily="18" charset="2"/>
                      </a:rPr>
                      <m:t>…,</m:t>
                    </m:r>
                    <m:r>
                      <a:rPr lang="en-US" i="1" dirty="0">
                        <a:latin typeface="Cambria Math"/>
                        <a:sym typeface="Symbol" pitchFamily="18" charset="2"/>
                      </a:rPr>
                      <m:t>𝑎</m:t>
                    </m:r>
                    <m:r>
                      <a:rPr lang="en-US" i="1" baseline="-25000" dirty="0">
                        <a:latin typeface="Cambria Math"/>
                        <a:sym typeface="Symbol" pitchFamily="18" charset="2"/>
                      </a:rPr>
                      <m:t>𝑘</m:t>
                    </m:r>
                    <m:r>
                      <a:rPr lang="en-US" i="1" dirty="0">
                        <a:latin typeface="Cambria Math"/>
                        <a:sym typeface="Symbol" pitchFamily="18" charset="2"/>
                      </a:rPr>
                      <m:t>) </m:t>
                    </m:r>
                  </m:oMath>
                </a14:m>
                <a:r>
                  <a:rPr lang="en-US" dirty="0">
                    <a:sym typeface="Symbol" pitchFamily="18" charset="2"/>
                  </a:rPr>
                  <a:t>is also removed from the browsing process. As a result, the number of set is reduced in the search process.</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296" t="-1235" r="-815"/>
                </a:stretch>
              </a:blipFill>
            </p:spPr>
            <p:txBody>
              <a:bodyPr/>
              <a:lstStyle/>
              <a:p>
                <a:r>
                  <a:rPr lang="en-US">
                    <a:noFill/>
                  </a:rPr>
                  <a:t> </a:t>
                </a:r>
              </a:p>
            </p:txBody>
          </p:sp>
        </mc:Fallback>
      </mc:AlternateContent>
    </p:spTree>
    <p:extLst>
      <p:ext uri="{BB962C8B-B14F-4D97-AF65-F5344CB8AC3E}">
        <p14:creationId xmlns:p14="http://schemas.microsoft.com/office/powerpoint/2010/main" val="1189848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200367"/>
            <a:ext cx="6629400" cy="990600"/>
          </a:xfrm>
        </p:spPr>
        <p:txBody>
          <a:bodyPr>
            <a:normAutofit fontScale="90000"/>
          </a:bodyPr>
          <a:lstStyle/>
          <a:p>
            <a:r>
              <a:rPr lang="en-US" dirty="0"/>
              <a:t>Branch-and-bound algorithm (pseudo code)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mc:AlternateContent xmlns:mc="http://schemas.openxmlformats.org/markup-compatibility/2006" xmlns:a14="http://schemas.microsoft.com/office/drawing/2010/main">
        <mc:Choice Requires="a14">
          <p:sp>
            <p:nvSpPr>
              <p:cNvPr id="6" name="TextBox 5"/>
              <p:cNvSpPr txBox="1"/>
              <p:nvPr/>
            </p:nvSpPr>
            <p:spPr>
              <a:xfrm>
                <a:off x="762000" y="1524000"/>
                <a:ext cx="6700873" cy="4901535"/>
              </a:xfrm>
              <a:prstGeom prst="rect">
                <a:avLst/>
              </a:prstGeom>
              <a:noFill/>
            </p:spPr>
            <p:txBody>
              <a:bodyPr wrap="none" rtlCol="0">
                <a:spAutoFit/>
              </a:bodyPr>
              <a:lstStyle/>
              <a:p>
                <a:pPr>
                  <a:spcBef>
                    <a:spcPct val="50000"/>
                  </a:spcBef>
                </a:pPr>
                <a:r>
                  <a:rPr lang="en-US" dirty="0" err="1">
                    <a:sym typeface="Symbol" pitchFamily="18" charset="2"/>
                  </a:rPr>
                  <a:t>Branch_And_Bound</a:t>
                </a:r>
                <a:r>
                  <a:rPr lang="en-US" dirty="0">
                    <a:sym typeface="Symbol" pitchFamily="18" charset="2"/>
                  </a:rPr>
                  <a:t> algorithm (</a:t>
                </a:r>
                <a14:m>
                  <m:oMath xmlns:m="http://schemas.openxmlformats.org/officeDocument/2006/math">
                    <m:r>
                      <a:rPr lang="en-US" i="1" dirty="0" smtClean="0">
                        <a:latin typeface="Cambria Math"/>
                        <a:sym typeface="Symbol" pitchFamily="18" charset="2"/>
                      </a:rPr>
                      <m:t>𝑘</m:t>
                    </m:r>
                  </m:oMath>
                </a14:m>
                <a:r>
                  <a:rPr lang="en-US" dirty="0">
                    <a:sym typeface="Symbol" pitchFamily="18" charset="2"/>
                  </a:rPr>
                  <a:t>) {</a:t>
                </a:r>
              </a:p>
              <a:p>
                <a:pPr>
                  <a:spcBef>
                    <a:spcPct val="50000"/>
                  </a:spcBef>
                </a:pPr>
                <a:r>
                  <a:rPr lang="en-US" dirty="0">
                    <a:sym typeface="Symbol" pitchFamily="18" charset="2"/>
                  </a:rPr>
                  <a:t>	</a:t>
                </a:r>
                <a:r>
                  <a:rPr lang="en-US" b="1" dirty="0">
                    <a:sym typeface="Symbol" pitchFamily="18" charset="2"/>
                  </a:rPr>
                  <a:t>for</a:t>
                </a:r>
                <a:r>
                  <a:rPr lang="en-US" dirty="0">
                    <a:sym typeface="Symbol" pitchFamily="18" charset="2"/>
                  </a:rPr>
                  <a:t> (</a:t>
                </a:r>
                <a14:m>
                  <m:oMath xmlns:m="http://schemas.openxmlformats.org/officeDocument/2006/math">
                    <m:r>
                      <a:rPr lang="en-US" i="1" dirty="0" smtClean="0">
                        <a:latin typeface="Cambria Math"/>
                        <a:sym typeface="Symbol" pitchFamily="18" charset="2"/>
                      </a:rPr>
                      <m:t>𝑎</m:t>
                    </m:r>
                    <m:r>
                      <a:rPr lang="en-US" i="1" baseline="-25000" dirty="0" err="1" smtClean="0">
                        <a:latin typeface="Cambria Math"/>
                        <a:sym typeface="Symbol" pitchFamily="18" charset="2"/>
                      </a:rPr>
                      <m:t>𝑘</m:t>
                    </m:r>
                    <m:r>
                      <a:rPr lang="en-US" i="1" dirty="0" smtClean="0">
                        <a:latin typeface="Cambria Math"/>
                        <a:ea typeface="Cambria Math"/>
                        <a:sym typeface="Symbol" pitchFamily="18" charset="2"/>
                      </a:rPr>
                      <m:t>∈</m:t>
                    </m:r>
                    <m:r>
                      <a:rPr lang="en-US" i="1" dirty="0" err="1" smtClean="0">
                        <a:latin typeface="Cambria Math"/>
                        <a:sym typeface="Symbol" pitchFamily="18" charset="2"/>
                      </a:rPr>
                      <m:t>𝐴</m:t>
                    </m:r>
                    <m:r>
                      <a:rPr lang="en-US" i="1" baseline="-25000" dirty="0" err="1" smtClean="0">
                        <a:latin typeface="Cambria Math"/>
                        <a:sym typeface="Symbol" pitchFamily="18" charset="2"/>
                      </a:rPr>
                      <m:t>𝑘</m:t>
                    </m:r>
                  </m:oMath>
                </a14:m>
                <a:r>
                  <a:rPr lang="en-US" dirty="0">
                    <a:sym typeface="Symbol" pitchFamily="18" charset="2"/>
                  </a:rPr>
                  <a:t>){</a:t>
                </a:r>
              </a:p>
              <a:p>
                <a:pPr>
                  <a:spcBef>
                    <a:spcPct val="50000"/>
                  </a:spcBef>
                </a:pPr>
                <a:r>
                  <a:rPr lang="en-US" dirty="0">
                    <a:sym typeface="Symbol" pitchFamily="18" charset="2"/>
                  </a:rPr>
                  <a:t>		</a:t>
                </a:r>
                <a:r>
                  <a:rPr lang="en-US" b="1" dirty="0">
                    <a:sym typeface="Symbol" pitchFamily="18" charset="2"/>
                  </a:rPr>
                  <a:t>if</a:t>
                </a:r>
                <a:r>
                  <a:rPr lang="en-US" dirty="0">
                    <a:sym typeface="Symbol" pitchFamily="18" charset="2"/>
                  </a:rPr>
                  <a:t>(&lt;accept </a:t>
                </a:r>
                <a14:m>
                  <m:oMath xmlns:m="http://schemas.openxmlformats.org/officeDocument/2006/math">
                    <m:r>
                      <a:rPr lang="en-US" i="1" dirty="0" smtClean="0">
                        <a:latin typeface="Cambria Math"/>
                        <a:sym typeface="Symbol" pitchFamily="18" charset="2"/>
                      </a:rPr>
                      <m:t>𝑎</m:t>
                    </m:r>
                    <m:r>
                      <a:rPr lang="en-US" i="1" baseline="-25000" dirty="0" err="1">
                        <a:latin typeface="Cambria Math"/>
                        <a:sym typeface="Symbol" pitchFamily="18" charset="2"/>
                      </a:rPr>
                      <m:t>𝑘</m:t>
                    </m:r>
                  </m:oMath>
                </a14:m>
                <a:r>
                  <a:rPr lang="en-US" dirty="0">
                    <a:sym typeface="Symbol" pitchFamily="18" charset="2"/>
                  </a:rPr>
                  <a:t>&gt;){</a:t>
                </a:r>
              </a:p>
              <a:p>
                <a:pPr>
                  <a:spcBef>
                    <a:spcPct val="50000"/>
                  </a:spcBef>
                </a:pPr>
                <a:r>
                  <a:rPr lang="en-US" dirty="0">
                    <a:sym typeface="Symbol" pitchFamily="18" charset="2"/>
                  </a:rPr>
                  <a:t>			</a:t>
                </a:r>
                <a14:m>
                  <m:oMath xmlns:m="http://schemas.openxmlformats.org/officeDocument/2006/math">
                    <m:r>
                      <a:rPr lang="en-US" i="1" dirty="0" smtClean="0">
                        <a:latin typeface="Cambria Math"/>
                        <a:sym typeface="Symbol" pitchFamily="18" charset="2"/>
                      </a:rPr>
                      <m:t>𝑥</m:t>
                    </m:r>
                    <m:r>
                      <a:rPr lang="en-US" i="1" baseline="-25000" dirty="0" err="1">
                        <a:latin typeface="Cambria Math"/>
                        <a:sym typeface="Symbol" pitchFamily="18" charset="2"/>
                      </a:rPr>
                      <m:t>𝑘</m:t>
                    </m:r>
                    <m:r>
                      <a:rPr lang="en-US" i="1" dirty="0">
                        <a:latin typeface="Cambria Math"/>
                        <a:sym typeface="Symbol" pitchFamily="18" charset="2"/>
                      </a:rPr>
                      <m:t>=</m:t>
                    </m:r>
                    <m:r>
                      <a:rPr lang="en-US" i="1" dirty="0" err="1">
                        <a:latin typeface="Cambria Math"/>
                        <a:sym typeface="Symbol" pitchFamily="18" charset="2"/>
                      </a:rPr>
                      <m:t>𝑎</m:t>
                    </m:r>
                    <m:r>
                      <a:rPr lang="en-US" i="1" baseline="-25000" dirty="0" err="1">
                        <a:latin typeface="Cambria Math"/>
                        <a:sym typeface="Symbol" pitchFamily="18" charset="2"/>
                      </a:rPr>
                      <m:t>𝑘</m:t>
                    </m:r>
                  </m:oMath>
                </a14:m>
                <a:r>
                  <a:rPr lang="en-US" dirty="0">
                    <a:sym typeface="Symbol" pitchFamily="18" charset="2"/>
                  </a:rPr>
                  <a:t>;</a:t>
                </a:r>
              </a:p>
              <a:p>
                <a:pPr>
                  <a:spcBef>
                    <a:spcPct val="50000"/>
                  </a:spcBef>
                </a:pPr>
                <a:r>
                  <a:rPr lang="en-US" dirty="0">
                    <a:sym typeface="Symbol" pitchFamily="18" charset="2"/>
                  </a:rPr>
                  <a:t>			</a:t>
                </a:r>
                <a:r>
                  <a:rPr lang="en-US" b="1" dirty="0">
                    <a:sym typeface="Symbol" pitchFamily="18" charset="2"/>
                  </a:rPr>
                  <a:t>if</a:t>
                </a:r>
                <a:r>
                  <a:rPr lang="en-US" dirty="0">
                    <a:sym typeface="Symbol" pitchFamily="18" charset="2"/>
                  </a:rPr>
                  <a:t> ( </a:t>
                </a:r>
                <a14:m>
                  <m:oMath xmlns:m="http://schemas.openxmlformats.org/officeDocument/2006/math">
                    <m:r>
                      <a:rPr lang="en-US" i="1" dirty="0" smtClean="0">
                        <a:latin typeface="Cambria Math"/>
                        <a:sym typeface="Symbol" pitchFamily="18" charset="2"/>
                      </a:rPr>
                      <m:t>𝑘</m:t>
                    </m:r>
                    <m:r>
                      <a:rPr lang="en-US" i="1" dirty="0" smtClean="0">
                        <a:latin typeface="Cambria Math"/>
                        <a:sym typeface="Symbol" pitchFamily="18" charset="2"/>
                      </a:rPr>
                      <m:t>==</m:t>
                    </m:r>
                    <m:r>
                      <a:rPr lang="en-US" i="1" dirty="0" smtClean="0">
                        <a:latin typeface="Cambria Math"/>
                        <a:sym typeface="Symbol" pitchFamily="18" charset="2"/>
                      </a:rPr>
                      <m:t>𝑛</m:t>
                    </m:r>
                    <m:r>
                      <a:rPr lang="en-US" i="1" dirty="0" smtClean="0">
                        <a:latin typeface="Cambria Math"/>
                        <a:sym typeface="Symbol" pitchFamily="18" charset="2"/>
                      </a:rPr>
                      <m:t> </m:t>
                    </m:r>
                  </m:oMath>
                </a14:m>
                <a:r>
                  <a:rPr lang="en-US" dirty="0">
                    <a:sym typeface="Symbol" pitchFamily="18" charset="2"/>
                  </a:rPr>
                  <a:t>)</a:t>
                </a:r>
              </a:p>
              <a:p>
                <a:pPr>
                  <a:spcBef>
                    <a:spcPct val="50000"/>
                  </a:spcBef>
                </a:pPr>
                <a:r>
                  <a:rPr lang="en-US" dirty="0">
                    <a:sym typeface="Symbol" pitchFamily="18" charset="2"/>
                  </a:rPr>
                  <a:t>				&lt;update optimum&gt;;</a:t>
                </a:r>
              </a:p>
              <a:p>
                <a:pPr>
                  <a:spcBef>
                    <a:spcPct val="50000"/>
                  </a:spcBef>
                </a:pPr>
                <a:r>
                  <a:rPr lang="en-US" dirty="0">
                    <a:sym typeface="Symbol" pitchFamily="18" charset="2"/>
                  </a:rPr>
                  <a:t>			</a:t>
                </a:r>
                <a:r>
                  <a:rPr lang="en-US" b="1" dirty="0">
                    <a:sym typeface="Symbol" pitchFamily="18" charset="2"/>
                  </a:rPr>
                  <a:t>else if </a:t>
                </a:r>
                <a:r>
                  <a:rPr lang="en-US" dirty="0">
                    <a:sym typeface="Symbol" pitchFamily="18" charset="2"/>
                  </a:rPr>
                  <a:t>( </a:t>
                </a:r>
                <a14:m>
                  <m:oMath xmlns:m="http://schemas.openxmlformats.org/officeDocument/2006/math">
                    <m:r>
                      <a:rPr lang="en-US" i="1" dirty="0" smtClean="0">
                        <a:latin typeface="Cambria Math"/>
                        <a:sym typeface="Symbol" pitchFamily="18" charset="2"/>
                      </a:rPr>
                      <m:t>𝑔</m:t>
                    </m:r>
                    <m:d>
                      <m:dPr>
                        <m:ctrlPr>
                          <a:rPr lang="en-US" i="1" dirty="0" smtClean="0">
                            <a:latin typeface="Cambria Math" panose="02040503050406030204" pitchFamily="18" charset="0"/>
                            <a:sym typeface="Symbol" pitchFamily="18" charset="2"/>
                          </a:rPr>
                        </m:ctrlPr>
                      </m:dPr>
                      <m:e>
                        <m:r>
                          <a:rPr lang="en-US" i="1" dirty="0" smtClean="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𝑎</m:t>
                            </m:r>
                          </m:e>
                          <m:sub>
                            <m:r>
                              <a:rPr lang="en-US" b="0" i="1" dirty="0" smtClean="0">
                                <a:latin typeface="Cambria Math"/>
                                <a:sym typeface="Symbol" pitchFamily="18" charset="2"/>
                              </a:rPr>
                              <m:t>𝑘</m:t>
                            </m:r>
                          </m:sub>
                        </m:sSub>
                      </m:e>
                    </m:d>
                    <m:r>
                      <a:rPr lang="en-US" b="0" i="1" dirty="0" smtClean="0">
                        <a:latin typeface="Cambria Math" panose="02040503050406030204" pitchFamily="18" charset="0"/>
                        <a:sym typeface="Symbol" pitchFamily="18" charset="2"/>
                      </a:rPr>
                      <m:t>&lt;</m:t>
                    </m:r>
                    <m:sSup>
                      <m:sSupPr>
                        <m:ctrlPr>
                          <a:rPr lang="en-US" i="1" dirty="0" smtClean="0">
                            <a:latin typeface="Cambria Math" panose="02040503050406030204" pitchFamily="18" charset="0"/>
                            <a:sym typeface="Symbol" pitchFamily="18" charset="2"/>
                          </a:rPr>
                        </m:ctrlPr>
                      </m:sSupPr>
                      <m:e>
                        <m:r>
                          <a:rPr lang="en-US" b="0" i="1" dirty="0" smtClean="0">
                            <a:latin typeface="Cambria Math"/>
                            <a:sym typeface="Symbol" pitchFamily="18" charset="2"/>
                          </a:rPr>
                          <m:t>𝑓</m:t>
                        </m:r>
                      </m:e>
                      <m:sup>
                        <m:r>
                          <a:rPr lang="en-US" b="0" i="1" dirty="0" smtClean="0">
                            <a:latin typeface="Cambria Math"/>
                            <a:sym typeface="Symbol" pitchFamily="18" charset="2"/>
                          </a:rPr>
                          <m:t>∗</m:t>
                        </m:r>
                      </m:sup>
                    </m:sSup>
                  </m:oMath>
                </a14:m>
                <a:r>
                  <a:rPr lang="en-US" dirty="0">
                    <a:sym typeface="Symbol" pitchFamily="18" charset="2"/>
                  </a:rPr>
                  <a:t>)</a:t>
                </a:r>
              </a:p>
              <a:p>
                <a:pPr>
                  <a:spcBef>
                    <a:spcPct val="50000"/>
                  </a:spcBef>
                </a:pPr>
                <a:r>
                  <a:rPr lang="en-US" dirty="0">
                    <a:sym typeface="Symbol" pitchFamily="18" charset="2"/>
                  </a:rPr>
                  <a:t>				 </a:t>
                </a:r>
                <a:r>
                  <a:rPr lang="en-US" dirty="0" err="1">
                    <a:sym typeface="Symbol" pitchFamily="18" charset="2"/>
                  </a:rPr>
                  <a:t>Branch_And_Bound</a:t>
                </a:r>
                <a:r>
                  <a:rPr lang="en-US" dirty="0">
                    <a:sym typeface="Symbol" pitchFamily="18" charset="2"/>
                  </a:rPr>
                  <a:t> (</a:t>
                </a:r>
                <a14:m>
                  <m:oMath xmlns:m="http://schemas.openxmlformats.org/officeDocument/2006/math">
                    <m:r>
                      <a:rPr lang="en-US" i="1" dirty="0" smtClean="0">
                        <a:latin typeface="Cambria Math"/>
                        <a:sym typeface="Symbol" pitchFamily="18" charset="2"/>
                      </a:rPr>
                      <m:t>𝑘</m:t>
                    </m:r>
                    <m:r>
                      <a:rPr lang="en-US" i="1" dirty="0" smtClean="0">
                        <a:latin typeface="Cambria Math"/>
                        <a:sym typeface="Symbol" pitchFamily="18" charset="2"/>
                      </a:rPr>
                      <m:t>+1</m:t>
                    </m:r>
                  </m:oMath>
                </a14:m>
                <a:r>
                  <a:rPr lang="en-US" dirty="0">
                    <a:sym typeface="Symbol" pitchFamily="18" charset="2"/>
                  </a:rPr>
                  <a:t>)	;</a:t>
                </a:r>
              </a:p>
              <a:p>
                <a:pPr>
                  <a:spcBef>
                    <a:spcPct val="50000"/>
                  </a:spcBef>
                </a:pPr>
                <a:r>
                  <a:rPr lang="en-US" dirty="0">
                    <a:sym typeface="Symbol" pitchFamily="18" charset="2"/>
                  </a:rPr>
                  <a:t>		}</a:t>
                </a:r>
              </a:p>
              <a:p>
                <a:pPr>
                  <a:spcBef>
                    <a:spcPct val="50000"/>
                  </a:spcBef>
                </a:pPr>
                <a:r>
                  <a:rPr lang="en-US" dirty="0">
                    <a:sym typeface="Symbol" pitchFamily="18" charset="2"/>
                  </a:rPr>
                  <a:t>	}</a:t>
                </a:r>
              </a:p>
              <a:p>
                <a:pPr>
                  <a:spcBef>
                    <a:spcPct val="50000"/>
                  </a:spcBef>
                </a:pPr>
                <a:r>
                  <a:rPr lang="en-US" dirty="0">
                    <a:sym typeface="Symbol" pitchFamily="18" charset="2"/>
                  </a:rPr>
                  <a:t>}	</a:t>
                </a:r>
              </a:p>
              <a:p>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62000" y="1524000"/>
                <a:ext cx="6700873" cy="4901535"/>
              </a:xfrm>
              <a:prstGeom prst="rect">
                <a:avLst/>
              </a:prstGeom>
              <a:blipFill>
                <a:blip r:embed="rId2"/>
                <a:stretch>
                  <a:fillRect l="-728" t="-62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6FFB9744-5A45-4569-96EF-006E7385EF31}"/>
              </a:ext>
            </a:extLst>
          </p:cNvPr>
          <p:cNvSpPr/>
          <p:nvPr/>
        </p:nvSpPr>
        <p:spPr>
          <a:xfrm>
            <a:off x="4312920" y="4038600"/>
            <a:ext cx="2133600" cy="304800"/>
          </a:xfrm>
          <a:prstGeom prst="rect">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3262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Construct the function </a:t>
                </a:r>
                <a14:m>
                  <m:oMath xmlns:m="http://schemas.openxmlformats.org/officeDocument/2006/math">
                    <m:r>
                      <a:rPr lang="en-US" i="1" dirty="0" smtClean="0">
                        <a:latin typeface="Cambria Math"/>
                      </a:rPr>
                      <m:t>𝑔</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b="-19632"/>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The construction of the function </a:t>
                </a:r>
                <a14:m>
                  <m:oMath xmlns:m="http://schemas.openxmlformats.org/officeDocument/2006/math">
                    <m:r>
                      <a:rPr lang="en-US" i="1" dirty="0" smtClean="0">
                        <a:latin typeface="Cambria Math"/>
                      </a:rPr>
                      <m:t>𝑔</m:t>
                    </m:r>
                  </m:oMath>
                </a14:m>
                <a:r>
                  <a:rPr lang="en-US" dirty="0"/>
                  <a:t> depends on each specific combinatorial optimization problem. We try to construct </a:t>
                </a:r>
                <a14:m>
                  <m:oMath xmlns:m="http://schemas.openxmlformats.org/officeDocument/2006/math">
                    <m:r>
                      <a:rPr lang="en-US" i="1" dirty="0" smtClean="0">
                        <a:latin typeface="Cambria Math"/>
                      </a:rPr>
                      <m:t>𝑔</m:t>
                    </m:r>
                  </m:oMath>
                </a14:m>
                <a:r>
                  <a:rPr lang="en-US" dirty="0"/>
                  <a:t> so that:</a:t>
                </a:r>
              </a:p>
              <a:p>
                <a:pPr lvl="1"/>
                <a:r>
                  <a:rPr lang="en-US" dirty="0"/>
                  <a:t>Calculating the value of g should be simpler than solving the combinatorial optimization problem</a:t>
                </a:r>
              </a:p>
              <a:p>
                <a:pPr marL="274320" lvl="1" indent="0">
                  <a:buNone/>
                </a:pPr>
                <a14:m>
                  <m:oMathPara xmlns:m="http://schemas.openxmlformats.org/officeDocument/2006/math">
                    <m:oMathParaPr>
                      <m:jc m:val="centerGroup"/>
                    </m:oMathParaPr>
                    <m:oMath xmlns:m="http://schemas.openxmlformats.org/officeDocument/2006/math">
                      <m:func>
                        <m:funcPr>
                          <m:ctrlPr>
                            <a:rPr lang="en-US" i="1" dirty="0">
                              <a:latin typeface="Cambria Math" panose="02040503050406030204" pitchFamily="18" charset="0"/>
                              <a:sym typeface="Symbol" pitchFamily="18" charset="2"/>
                            </a:rPr>
                          </m:ctrlPr>
                        </m:funcPr>
                        <m:fName>
                          <m:r>
                            <m:rPr>
                              <m:sty m:val="p"/>
                            </m:rPr>
                            <a:rPr lang="en-US" dirty="0">
                              <a:latin typeface="Cambria Math"/>
                              <a:sym typeface="Symbol" pitchFamily="18" charset="2"/>
                            </a:rPr>
                            <m:t>min</m:t>
                          </m:r>
                        </m:fName>
                        <m:e>
                          <m:d>
                            <m:dPr>
                              <m:begChr m:val="{"/>
                              <m:endChr m:val="}"/>
                              <m:ctrlPr>
                                <a:rPr lang="en-US" i="1" dirty="0">
                                  <a:latin typeface="Cambria Math" panose="02040503050406030204" pitchFamily="18" charset="0"/>
                                  <a:sym typeface="Symbol" pitchFamily="18" charset="2"/>
                                </a:rPr>
                              </m:ctrlPr>
                            </m:dPr>
                            <m:e>
                              <m:r>
                                <a:rPr lang="en-US" i="1" dirty="0">
                                  <a:latin typeface="Cambria Math"/>
                                  <a:sym typeface="Symbol" pitchFamily="18" charset="2"/>
                                </a:rPr>
                                <m:t>𝑓</m:t>
                              </m:r>
                              <m:d>
                                <m:dPr>
                                  <m:ctrlPr>
                                    <a:rPr lang="en-US" i="1" dirty="0">
                                      <a:latin typeface="Cambria Math" panose="02040503050406030204" pitchFamily="18" charset="0"/>
                                      <a:sym typeface="Symbol" pitchFamily="18" charset="2"/>
                                    </a:rPr>
                                  </m:ctrlPr>
                                </m:dPr>
                                <m:e>
                                  <m:r>
                                    <a:rPr lang="en-US" i="1" dirty="0">
                                      <a:latin typeface="Cambria Math"/>
                                      <a:sym typeface="Symbol" pitchFamily="18" charset="2"/>
                                    </a:rPr>
                                    <m:t>𝑋</m:t>
                                  </m:r>
                                </m:e>
                              </m:d>
                              <m:r>
                                <a:rPr lang="en-US" i="1" dirty="0">
                                  <a:latin typeface="Cambria Math"/>
                                  <a:sym typeface="Symbol" pitchFamily="18" charset="2"/>
                                </a:rPr>
                                <m:t>:</m:t>
                              </m:r>
                              <m:r>
                                <a:rPr lang="en-US" i="1" dirty="0">
                                  <a:latin typeface="Cambria Math"/>
                                  <a:sym typeface="Symbol" pitchFamily="18" charset="2"/>
                                </a:rPr>
                                <m:t>𝑋</m:t>
                              </m:r>
                              <m:r>
                                <a:rPr lang="en-US" i="1" dirty="0">
                                  <a:latin typeface="Cambria Math"/>
                                  <a:ea typeface="Cambria Math"/>
                                  <a:sym typeface="Symbol" pitchFamily="18" charset="2"/>
                                </a:rPr>
                                <m:t>∈</m:t>
                              </m:r>
                              <m:r>
                                <a:rPr lang="en-US" i="1" dirty="0">
                                  <a:latin typeface="Cambria Math"/>
                                  <a:sym typeface="Symbol" pitchFamily="18" charset="2"/>
                                </a:rPr>
                                <m:t>𝐷</m:t>
                              </m:r>
                              <m:r>
                                <a:rPr lang="en-US" i="1" dirty="0">
                                  <a:latin typeface="Cambria Math"/>
                                  <a:sym typeface="Symbol" pitchFamily="18" charset="2"/>
                                </a:rPr>
                                <m:t>, </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𝑖</m:t>
                                  </m:r>
                                </m:sub>
                              </m:sSub>
                              <m:r>
                                <a:rPr lang="en-US" i="1" dirty="0">
                                  <a:latin typeface="Cambria Math"/>
                                  <a:sym typeface="Symbol" pitchFamily="18" charset="2"/>
                                </a:rPr>
                                <m:t>=</m:t>
                              </m:r>
                              <m:r>
                                <a:rPr lang="en-US" i="1" dirty="0" err="1">
                                  <a:latin typeface="Cambria Math"/>
                                  <a:sym typeface="Symbol" pitchFamily="18" charset="2"/>
                                </a:rPr>
                                <m:t>𝑎</m:t>
                              </m:r>
                              <m:r>
                                <a:rPr lang="en-US" i="1" baseline="-25000" dirty="0" err="1">
                                  <a:latin typeface="Cambria Math"/>
                                  <a:sym typeface="Symbol" pitchFamily="18" charset="2"/>
                                </a:rPr>
                                <m:t>𝑖</m:t>
                              </m:r>
                              <m:r>
                                <a:rPr lang="en-US" i="1" dirty="0">
                                  <a:latin typeface="Cambria Math"/>
                                  <a:sym typeface="Symbol" pitchFamily="18" charset="2"/>
                                </a:rPr>
                                <m:t>, </m:t>
                              </m:r>
                              <m:r>
                                <a:rPr lang="en-US" i="1" dirty="0">
                                  <a:latin typeface="Cambria Math"/>
                                  <a:sym typeface="Symbol" pitchFamily="18" charset="2"/>
                                </a:rPr>
                                <m:t>𝑖</m:t>
                              </m:r>
                              <m:r>
                                <a:rPr lang="en-US" i="1" dirty="0">
                                  <a:latin typeface="Cambria Math"/>
                                  <a:sym typeface="Symbol" pitchFamily="18" charset="2"/>
                                </a:rPr>
                                <m:t>=1, 2, ...,</m:t>
                              </m:r>
                              <m:r>
                                <a:rPr lang="en-US" i="1" dirty="0">
                                  <a:latin typeface="Cambria Math"/>
                                  <a:sym typeface="Symbol" pitchFamily="18" charset="2"/>
                                </a:rPr>
                                <m:t>𝑘</m:t>
                              </m:r>
                            </m:e>
                          </m:d>
                        </m:e>
                      </m:func>
                    </m:oMath>
                  </m:oMathPara>
                </a14:m>
                <a:endParaRPr lang="en-US" dirty="0">
                  <a:sym typeface="Symbol" pitchFamily="18" charset="2"/>
                </a:endParaRPr>
              </a:p>
              <a:p>
                <a:pPr lvl="1"/>
                <a:r>
                  <a:rPr lang="en-US" dirty="0"/>
                  <a:t>Value of </a:t>
                </a:r>
                <a14:m>
                  <m:oMath xmlns:m="http://schemas.openxmlformats.org/officeDocument/2006/math">
                    <m:r>
                      <a:rPr lang="en-US" i="1" dirty="0">
                        <a:latin typeface="Cambria Math"/>
                        <a:sym typeface="Symbol" pitchFamily="18" charset="2"/>
                      </a:rPr>
                      <m:t>𝑔</m:t>
                    </m:r>
                    <m:r>
                      <a:rPr lang="en-US" i="1" dirty="0">
                        <a:latin typeface="Cambria Math"/>
                        <a:sym typeface="Symbol" pitchFamily="18" charset="2"/>
                      </a:rPr>
                      <m:t>(</m:t>
                    </m:r>
                    <m:r>
                      <a:rPr lang="en-US" i="1" dirty="0">
                        <a:latin typeface="Cambria Math"/>
                        <a:sym typeface="Symbol" pitchFamily="18" charset="2"/>
                      </a:rPr>
                      <m:t>𝑎</m:t>
                    </m:r>
                    <m:r>
                      <a:rPr lang="en-US" i="1" baseline="-25000" dirty="0">
                        <a:latin typeface="Cambria Math"/>
                        <a:sym typeface="Symbol" pitchFamily="18" charset="2"/>
                      </a:rPr>
                      <m:t>1</m:t>
                    </m:r>
                    <m:r>
                      <a:rPr lang="en-US" i="1" dirty="0">
                        <a:latin typeface="Cambria Math"/>
                        <a:sym typeface="Symbol" pitchFamily="18" charset="2"/>
                      </a:rPr>
                      <m:t>, </m:t>
                    </m:r>
                    <m:r>
                      <a:rPr lang="en-US" i="1" dirty="0">
                        <a:latin typeface="Cambria Math"/>
                        <a:sym typeface="Symbol" pitchFamily="18" charset="2"/>
                      </a:rPr>
                      <m:t>𝑎</m:t>
                    </m:r>
                    <m:r>
                      <a:rPr lang="en-US" i="1" baseline="-25000" dirty="0">
                        <a:latin typeface="Cambria Math"/>
                        <a:sym typeface="Symbol" pitchFamily="18" charset="2"/>
                      </a:rPr>
                      <m:t>2</m:t>
                    </m:r>
                    <m:r>
                      <a:rPr lang="en-US" i="1" dirty="0">
                        <a:latin typeface="Cambria Math"/>
                        <a:sym typeface="Symbol" pitchFamily="18" charset="2"/>
                      </a:rPr>
                      <m:t>,...,</m:t>
                    </m:r>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𝑎</m:t>
                        </m:r>
                      </m:e>
                      <m:sub>
                        <m:r>
                          <a:rPr lang="en-US" i="1" dirty="0">
                            <a:latin typeface="Cambria Math"/>
                            <a:sym typeface="Symbol" pitchFamily="18" charset="2"/>
                          </a:rPr>
                          <m:t>𝑘</m:t>
                        </m:r>
                      </m:sub>
                    </m:sSub>
                    <m:r>
                      <a:rPr lang="en-US" i="1" dirty="0">
                        <a:latin typeface="Cambria Math"/>
                        <a:sym typeface="Symbol" pitchFamily="18" charset="2"/>
                      </a:rPr>
                      <m:t>)</m:t>
                    </m:r>
                  </m:oMath>
                </a14:m>
                <a:r>
                  <a:rPr lang="en-US" dirty="0">
                    <a:sym typeface="Symbol" pitchFamily="18" charset="2"/>
                  </a:rPr>
                  <a:t> must be close to the value of</a:t>
                </a:r>
              </a:p>
              <a:p>
                <a:pPr lvl="1"/>
                <a:endParaRPr lang="en-US" dirty="0">
                  <a:sym typeface="Symbol" pitchFamily="18" charset="2"/>
                </a:endParaRPr>
              </a:p>
              <a:p>
                <a:pPr marL="274320" lvl="1" indent="0">
                  <a:buNone/>
                </a:pPr>
                <a14:m>
                  <m:oMathPara xmlns:m="http://schemas.openxmlformats.org/officeDocument/2006/math">
                    <m:oMathParaPr>
                      <m:jc m:val="centerGroup"/>
                    </m:oMathParaPr>
                    <m:oMath xmlns:m="http://schemas.openxmlformats.org/officeDocument/2006/math">
                      <m:func>
                        <m:funcPr>
                          <m:ctrlPr>
                            <a:rPr lang="en-US" i="1" dirty="0">
                              <a:latin typeface="Cambria Math" panose="02040503050406030204" pitchFamily="18" charset="0"/>
                              <a:sym typeface="Symbol" pitchFamily="18" charset="2"/>
                            </a:rPr>
                          </m:ctrlPr>
                        </m:funcPr>
                        <m:fName>
                          <m:r>
                            <m:rPr>
                              <m:sty m:val="p"/>
                            </m:rPr>
                            <a:rPr lang="en-US" i="0" dirty="0">
                              <a:latin typeface="Cambria Math"/>
                              <a:sym typeface="Symbol" pitchFamily="18" charset="2"/>
                            </a:rPr>
                            <m:t>min</m:t>
                          </m:r>
                        </m:fName>
                        <m:e>
                          <m:d>
                            <m:dPr>
                              <m:begChr m:val="{"/>
                              <m:endChr m:val="}"/>
                              <m:ctrlPr>
                                <a:rPr lang="en-US" i="1" dirty="0">
                                  <a:latin typeface="Cambria Math" panose="02040503050406030204" pitchFamily="18" charset="0"/>
                                  <a:sym typeface="Symbol" pitchFamily="18" charset="2"/>
                                </a:rPr>
                              </m:ctrlPr>
                            </m:dPr>
                            <m:e>
                              <m:r>
                                <a:rPr lang="en-US" i="1" dirty="0">
                                  <a:latin typeface="Cambria Math"/>
                                  <a:sym typeface="Symbol" pitchFamily="18" charset="2"/>
                                </a:rPr>
                                <m:t>𝑓</m:t>
                              </m:r>
                              <m:d>
                                <m:dPr>
                                  <m:ctrlPr>
                                    <a:rPr lang="en-US" i="1" dirty="0">
                                      <a:latin typeface="Cambria Math" panose="02040503050406030204" pitchFamily="18" charset="0"/>
                                      <a:sym typeface="Symbol" pitchFamily="18" charset="2"/>
                                    </a:rPr>
                                  </m:ctrlPr>
                                </m:dPr>
                                <m:e>
                                  <m:r>
                                    <a:rPr lang="en-US" i="1" dirty="0">
                                      <a:latin typeface="Cambria Math"/>
                                      <a:sym typeface="Symbol" pitchFamily="18" charset="2"/>
                                    </a:rPr>
                                    <m:t>𝑋</m:t>
                                  </m:r>
                                </m:e>
                              </m:d>
                              <m:r>
                                <a:rPr lang="en-US" i="1" dirty="0">
                                  <a:latin typeface="Cambria Math"/>
                                  <a:sym typeface="Symbol" pitchFamily="18" charset="2"/>
                                </a:rPr>
                                <m:t>:</m:t>
                              </m:r>
                              <m:r>
                                <a:rPr lang="en-US" i="1" dirty="0">
                                  <a:latin typeface="Cambria Math"/>
                                  <a:sym typeface="Symbol" pitchFamily="18" charset="2"/>
                                </a:rPr>
                                <m:t>𝑋</m:t>
                              </m:r>
                              <m:r>
                                <a:rPr lang="en-US" i="1" dirty="0">
                                  <a:latin typeface="Cambria Math"/>
                                  <a:ea typeface="Cambria Math"/>
                                  <a:sym typeface="Symbol" pitchFamily="18" charset="2"/>
                                </a:rPr>
                                <m:t>∈</m:t>
                              </m:r>
                              <m:r>
                                <a:rPr lang="en-US" i="1" dirty="0">
                                  <a:latin typeface="Cambria Math"/>
                                  <a:sym typeface="Symbol" pitchFamily="18" charset="2"/>
                                </a:rPr>
                                <m:t>𝐷</m:t>
                              </m:r>
                              <m:r>
                                <a:rPr lang="en-US" i="1" dirty="0">
                                  <a:latin typeface="Cambria Math"/>
                                  <a:sym typeface="Symbol" pitchFamily="18" charset="2"/>
                                </a:rPr>
                                <m:t>, </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𝑖</m:t>
                                  </m:r>
                                </m:sub>
                              </m:sSub>
                              <m:r>
                                <a:rPr lang="en-US" i="1" dirty="0">
                                  <a:latin typeface="Cambria Math"/>
                                  <a:sym typeface="Symbol" pitchFamily="18" charset="2"/>
                                </a:rPr>
                                <m:t>=</m:t>
                              </m:r>
                              <m:r>
                                <a:rPr lang="en-US" i="1" dirty="0" err="1">
                                  <a:latin typeface="Cambria Math"/>
                                  <a:sym typeface="Symbol" pitchFamily="18" charset="2"/>
                                </a:rPr>
                                <m:t>𝑎</m:t>
                              </m:r>
                              <m:r>
                                <a:rPr lang="en-US" i="1" baseline="-25000" dirty="0" err="1">
                                  <a:latin typeface="Cambria Math"/>
                                  <a:sym typeface="Symbol" pitchFamily="18" charset="2"/>
                                </a:rPr>
                                <m:t>𝑖</m:t>
                              </m:r>
                              <m:r>
                                <a:rPr lang="en-US" i="1" dirty="0">
                                  <a:latin typeface="Cambria Math"/>
                                  <a:sym typeface="Symbol" pitchFamily="18" charset="2"/>
                                </a:rPr>
                                <m:t>, </m:t>
                              </m:r>
                              <m:r>
                                <a:rPr lang="en-US" i="1" dirty="0">
                                  <a:latin typeface="Cambria Math"/>
                                  <a:sym typeface="Symbol" pitchFamily="18" charset="2"/>
                                </a:rPr>
                                <m:t>𝑖</m:t>
                              </m:r>
                              <m:r>
                                <a:rPr lang="en-US" i="1" dirty="0">
                                  <a:latin typeface="Cambria Math"/>
                                  <a:sym typeface="Symbol" pitchFamily="18" charset="2"/>
                                </a:rPr>
                                <m:t>=1, 2, ...,</m:t>
                              </m:r>
                              <m:r>
                                <a:rPr lang="en-US" i="1" dirty="0">
                                  <a:latin typeface="Cambria Math"/>
                                  <a:sym typeface="Symbol" pitchFamily="18" charset="2"/>
                                </a:rPr>
                                <m:t>𝑘</m:t>
                              </m:r>
                            </m:e>
                          </m:d>
                        </m:e>
                      </m:func>
                    </m:oMath>
                  </m:oMathPara>
                </a14:m>
                <a:endParaRPr lang="en-US" dirty="0">
                  <a:sym typeface="Symbol" pitchFamily="18" charset="2"/>
                </a:endParaRPr>
              </a:p>
              <a:p>
                <a:pPr marL="274320" lvl="1" indent="0">
                  <a:buNone/>
                </a:pPr>
                <a:endParaRPr lang="en-US" dirty="0">
                  <a:sym typeface="Symbol" pitchFamily="18" charset="2"/>
                </a:endParaRPr>
              </a:p>
              <a:p>
                <a:pPr lvl="1"/>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1111"/>
                </a:stretch>
              </a:blipFill>
            </p:spPr>
            <p:txBody>
              <a:bodyPr/>
              <a:lstStyle/>
              <a:p>
                <a:r>
                  <a:rPr lang="en-US">
                    <a:noFill/>
                  </a:rPr>
                  <a:t> </a:t>
                </a:r>
              </a:p>
            </p:txBody>
          </p:sp>
        </mc:Fallback>
      </mc:AlternateContent>
      <p:sp>
        <p:nvSpPr>
          <p:cNvPr id="6" name="TextBox 5"/>
          <p:cNvSpPr txBox="1"/>
          <p:nvPr/>
        </p:nvSpPr>
        <p:spPr>
          <a:xfrm>
            <a:off x="457199" y="4807803"/>
            <a:ext cx="8229601" cy="830997"/>
          </a:xfrm>
          <a:prstGeom prst="rect">
            <a:avLst/>
          </a:prstGeom>
          <a:noFill/>
        </p:spPr>
        <p:txBody>
          <a:bodyPr wrap="square" rtlCol="0">
            <a:spAutoFit/>
          </a:bodyPr>
          <a:lstStyle/>
          <a:p>
            <a:pPr algn="ctr"/>
            <a:r>
              <a:rPr lang="en-US" sz="2400" dirty="0">
                <a:solidFill>
                  <a:srgbClr val="FF0000"/>
                </a:solidFill>
                <a:latin typeface="Tahoma" pitchFamily="34" charset="0"/>
                <a:ea typeface="Tahoma" pitchFamily="34" charset="0"/>
                <a:cs typeface="Tahoma" pitchFamily="34" charset="0"/>
              </a:rPr>
              <a:t>These two requirements are often contradictory and difficult to satisfy at the same time in reality</a:t>
            </a:r>
          </a:p>
        </p:txBody>
      </p:sp>
    </p:spTree>
    <p:extLst>
      <p:ext uri="{BB962C8B-B14F-4D97-AF65-F5344CB8AC3E}">
        <p14:creationId xmlns:p14="http://schemas.microsoft.com/office/powerpoint/2010/main" val="153946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467600" cy="990600"/>
          </a:xfrm>
        </p:spPr>
        <p:txBody>
          <a:bodyPr>
            <a:normAutofit fontScale="90000"/>
          </a:bodyPr>
          <a:lstStyle/>
          <a:p>
            <a:r>
              <a:rPr lang="en-US" sz="3200" dirty="0"/>
              <a:t>Solving the Bag problem by branch-and-bound algorithm </a:t>
            </a:r>
            <a:r>
              <a:rPr lang="en-US" dirty="0"/>
              <a:t>(1/4)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spcBef>
                    <a:spcPct val="50000"/>
                  </a:spcBef>
                </a:pPr>
                <a:r>
                  <a:rPr lang="en-US" b="1" dirty="0"/>
                  <a:t>Another form of the Knapsack problem</a:t>
                </a:r>
                <a:r>
                  <a:rPr lang="en-US" dirty="0"/>
                  <a:t>: Assume that there are </a:t>
                </a:r>
                <a14:m>
                  <m:oMath xmlns:m="http://schemas.openxmlformats.org/officeDocument/2006/math">
                    <m:r>
                      <a:rPr lang="en-US" i="1" dirty="0" smtClean="0">
                        <a:latin typeface="Cambria Math"/>
                        <a:sym typeface="Symbol" pitchFamily="18" charset="2"/>
                      </a:rPr>
                      <m:t>𝑛</m:t>
                    </m:r>
                  </m:oMath>
                </a14:m>
                <a:r>
                  <a:rPr lang="en-US" dirty="0">
                    <a:sym typeface="Symbol" pitchFamily="18" charset="2"/>
                  </a:rPr>
                  <a:t> types of objects and unlimited number of objects of each type. Objects of type </a:t>
                </a:r>
                <a14:m>
                  <m:oMath xmlns:m="http://schemas.openxmlformats.org/officeDocument/2006/math">
                    <m:r>
                      <a:rPr lang="en-US" i="1" dirty="0" smtClean="0">
                        <a:latin typeface="Cambria Math"/>
                        <a:sym typeface="Symbol" pitchFamily="18" charset="2"/>
                      </a:rPr>
                      <m:t>𝑗</m:t>
                    </m:r>
                  </m:oMath>
                </a14:m>
                <a:r>
                  <a:rPr lang="en-US" dirty="0">
                    <a:sym typeface="Symbol" pitchFamily="18" charset="2"/>
                  </a:rPr>
                  <a:t> have weight </a:t>
                </a:r>
                <a14:m>
                  <m:oMath xmlns:m="http://schemas.openxmlformats.org/officeDocument/2006/math">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𝑎</m:t>
                        </m:r>
                      </m:e>
                      <m:sub>
                        <m:r>
                          <a:rPr lang="en-US" b="0" i="1" dirty="0" smtClean="0">
                            <a:latin typeface="Cambria Math"/>
                            <a:sym typeface="Symbol" pitchFamily="18" charset="2"/>
                          </a:rPr>
                          <m:t>𝑗</m:t>
                        </m:r>
                      </m:sub>
                    </m:sSub>
                  </m:oMath>
                </a14:m>
                <a:r>
                  <a:rPr lang="en-US" dirty="0">
                    <a:sym typeface="Symbol" pitchFamily="18" charset="2"/>
                  </a:rPr>
                  <a:t> and using cost </a:t>
                </a:r>
                <a14:m>
                  <m:oMath xmlns:m="http://schemas.openxmlformats.org/officeDocument/2006/math">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𝑐</m:t>
                        </m:r>
                      </m:e>
                      <m:sub>
                        <m:r>
                          <a:rPr lang="en-US" b="0" i="1" dirty="0" smtClean="0">
                            <a:latin typeface="Cambria Math"/>
                            <a:sym typeface="Symbol" pitchFamily="18" charset="2"/>
                          </a:rPr>
                          <m:t>𝑗</m:t>
                        </m:r>
                      </m:sub>
                    </m:sSub>
                  </m:oMath>
                </a14:m>
                <a:r>
                  <a:rPr lang="en-US" dirty="0">
                    <a:sym typeface="Symbol" pitchFamily="18" charset="2"/>
                  </a:rPr>
                  <a:t> </a:t>
                </a:r>
                <a14:m>
                  <m:oMath xmlns:m="http://schemas.openxmlformats.org/officeDocument/2006/math">
                    <m:r>
                      <a:rPr lang="en-US" i="1" dirty="0" smtClean="0">
                        <a:latin typeface="Cambria Math"/>
                        <a:sym typeface="Symbol" pitchFamily="18" charset="2"/>
                      </a:rPr>
                      <m:t>(</m:t>
                    </m:r>
                    <m:r>
                      <a:rPr lang="en-US" i="1" dirty="0" smtClean="0">
                        <a:latin typeface="Cambria Math"/>
                        <a:sym typeface="Symbol" pitchFamily="18" charset="2"/>
                      </a:rPr>
                      <m:t>𝑗</m:t>
                    </m:r>
                    <m:r>
                      <a:rPr lang="en-US" i="1" dirty="0" smtClean="0">
                        <a:latin typeface="Cambria Math"/>
                        <a:sym typeface="Symbol" pitchFamily="18" charset="2"/>
                      </a:rPr>
                      <m:t>=1,2,…,</m:t>
                    </m:r>
                    <m:r>
                      <a:rPr lang="en-US" i="1" dirty="0" smtClean="0">
                        <a:latin typeface="Cambria Math"/>
                        <a:sym typeface="Symbol" pitchFamily="18" charset="2"/>
                      </a:rPr>
                      <m:t>𝑛</m:t>
                    </m:r>
                    <m:r>
                      <a:rPr lang="en-US" i="1" dirty="0" smtClean="0">
                        <a:latin typeface="Cambria Math"/>
                        <a:sym typeface="Symbol" pitchFamily="18" charset="2"/>
                      </a:rPr>
                      <m:t>)</m:t>
                    </m:r>
                  </m:oMath>
                </a14:m>
                <a:r>
                  <a:rPr lang="en-US" dirty="0">
                    <a:sym typeface="Symbol" pitchFamily="18" charset="2"/>
                  </a:rPr>
                  <a:t>. These items need to be loaded into a bag of weight </a:t>
                </a:r>
                <a14:m>
                  <m:oMath xmlns:m="http://schemas.openxmlformats.org/officeDocument/2006/math">
                    <m:r>
                      <a:rPr lang="en-US" i="1" dirty="0" smtClean="0">
                        <a:latin typeface="Cambria Math"/>
                        <a:sym typeface="Symbol" pitchFamily="18" charset="2"/>
                      </a:rPr>
                      <m:t>𝑏</m:t>
                    </m:r>
                  </m:oMath>
                </a14:m>
                <a:r>
                  <a:rPr lang="en-US" dirty="0">
                    <a:sym typeface="Symbol" pitchFamily="18" charset="2"/>
                  </a:rPr>
                  <a:t> so that the total value of the items in the bag is the maximum (each type of object can be taken many times).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3459858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467600" cy="990600"/>
          </a:xfrm>
        </p:spPr>
        <p:txBody>
          <a:bodyPr>
            <a:normAutofit/>
          </a:bodyPr>
          <a:lstStyle/>
          <a:p>
            <a:r>
              <a:rPr lang="en-US" sz="2400" dirty="0"/>
              <a:t>Solving the Bag problem by branch-and-bound algorithm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spcBef>
                    <a:spcPct val="50000"/>
                  </a:spcBef>
                </a:pPr>
                <a:r>
                  <a:rPr lang="en-US" dirty="0"/>
                  <a:t>The bag problem can be generalized as follows: Find the maximum value of the targe </a:t>
                </a:r>
                <a:r>
                  <a:rPr lang="en-US" dirty="0" err="1"/>
                  <a:t>function</a:t>
                </a:r>
                <a:r>
                  <a:rPr lang="en-US" dirty="0"/>
                  <a:t> </a:t>
                </a:r>
                <a14:m>
                  <m:oMath xmlns:m="http://schemas.openxmlformats.org/officeDocument/2006/math">
                    <m:r>
                      <a:rPr lang="en-US" i="1" dirty="0" smtClean="0">
                        <a:latin typeface="Cambria Math"/>
                      </a:rPr>
                      <m:t>𝑓</m:t>
                    </m:r>
                    <m:r>
                      <a:rPr lang="en-US" i="1" dirty="0" smtClean="0">
                        <a:latin typeface="Cambria Math"/>
                      </a:rPr>
                      <m:t>(</m:t>
                    </m:r>
                    <m:r>
                      <a:rPr lang="en-US" i="1" dirty="0" smtClean="0">
                        <a:latin typeface="Cambria Math"/>
                      </a:rPr>
                      <m:t>𝑋</m:t>
                    </m:r>
                    <m:r>
                      <a:rPr lang="en-US" i="1" dirty="0" smtClean="0">
                        <a:latin typeface="Cambria Math"/>
                      </a:rPr>
                      <m:t>)</m:t>
                    </m:r>
                  </m:oMath>
                </a14:m>
                <a:r>
                  <a:rPr lang="en-US" dirty="0"/>
                  <a:t> with </a:t>
                </a:r>
                <a14:m>
                  <m:oMath xmlns:m="http://schemas.openxmlformats.org/officeDocument/2006/math">
                    <m:r>
                      <a:rPr lang="en-US" i="1" dirty="0" smtClean="0">
                        <a:latin typeface="Cambria Math"/>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oMath>
                </a14:m>
                <a:r>
                  <a:rPr lang="en-US" dirty="0">
                    <a:sym typeface="Symbol" pitchFamily="18" charset="2"/>
                  </a:rPr>
                  <a:t>. In which, </a:t>
                </a:r>
                <a14:m>
                  <m:oMath xmlns:m="http://schemas.openxmlformats.org/officeDocument/2006/math">
                    <m:r>
                      <a:rPr lang="en-US" i="1" dirty="0" smtClean="0">
                        <a:latin typeface="Cambria Math"/>
                        <a:sym typeface="Symbol" pitchFamily="18" charset="2"/>
                      </a:rPr>
                      <m:t>𝑓</m:t>
                    </m:r>
                    <m:r>
                      <a:rPr lang="en-US" i="1" dirty="0" smtClean="0">
                        <a:latin typeface="Cambria Math"/>
                        <a:sym typeface="Symbol" pitchFamily="18" charset="2"/>
                      </a:rPr>
                      <m:t>(</m:t>
                    </m:r>
                    <m:r>
                      <a:rPr lang="en-US" i="1" dirty="0" smtClean="0">
                        <a:latin typeface="Cambria Math"/>
                        <a:sym typeface="Symbol" pitchFamily="18" charset="2"/>
                      </a:rPr>
                      <m:t>𝑋</m:t>
                    </m:r>
                    <m:r>
                      <a:rPr lang="en-US" i="1" dirty="0" smtClean="0">
                        <a:latin typeface="Cambria Math"/>
                        <a:sym typeface="Symbol" pitchFamily="18" charset="2"/>
                      </a:rPr>
                      <m:t>)</m:t>
                    </m:r>
                  </m:oMath>
                </a14:m>
                <a:r>
                  <a:rPr lang="en-US" dirty="0">
                    <a:sym typeface="Symbol" pitchFamily="18" charset="2"/>
                  </a:rPr>
                  <a:t> is determined as below:</a:t>
                </a:r>
              </a:p>
              <a:p>
                <a:pPr>
                  <a:spcBef>
                    <a:spcPct val="50000"/>
                  </a:spcBef>
                </a:pPr>
                <a:endParaRPr lang="en-US" dirty="0">
                  <a:sym typeface="Symbol" pitchFamily="18" charset="2"/>
                </a:endParaRPr>
              </a:p>
              <a:p>
                <a:pPr>
                  <a:spcBef>
                    <a:spcPct val="50000"/>
                  </a:spcBef>
                </a:pPr>
                <a:endParaRPr lang="en-US" dirty="0">
                  <a:sym typeface="Symbol" pitchFamily="18" charset="2"/>
                </a:endParaRPr>
              </a:p>
              <a:p>
                <a:pPr>
                  <a:spcBef>
                    <a:spcPct val="50000"/>
                  </a:spcBef>
                </a:pPr>
                <a:endParaRPr lang="en-US" dirty="0">
                  <a:sym typeface="Symbol" pitchFamily="18" charset="2"/>
                </a:endParaRPr>
              </a:p>
              <a:p>
                <a:pPr>
                  <a:spcBef>
                    <a:spcPct val="50000"/>
                  </a:spcBef>
                </a:pPr>
                <a:r>
                  <a:rPr lang="en-US" dirty="0"/>
                  <a:t>Example of a bag problem:</a:t>
                </a:r>
              </a:p>
              <a:p>
                <a:pPr>
                  <a:spcBef>
                    <a:spcPct val="50000"/>
                  </a:spcBef>
                </a:pPr>
                <a:endParaRPr lang="en-US" dirty="0">
                  <a:sym typeface="Symbol" pitchFamily="18" charset="2"/>
                </a:endParaRPr>
              </a:p>
              <a:p>
                <a:pPr>
                  <a:spcBef>
                    <a:spcPct val="50000"/>
                  </a:spcBef>
                </a:pPr>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988" r="-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556051365"/>
              </p:ext>
            </p:extLst>
          </p:nvPr>
        </p:nvGraphicFramePr>
        <p:xfrm>
          <a:off x="762000" y="3276600"/>
          <a:ext cx="6781800" cy="936625"/>
        </p:xfrm>
        <a:graphic>
          <a:graphicData uri="http://schemas.openxmlformats.org/presentationml/2006/ole">
            <mc:AlternateContent xmlns:mc="http://schemas.openxmlformats.org/markup-compatibility/2006">
              <mc:Choice xmlns:v="urn:schemas-microsoft-com:vml" Requires="v">
                <p:oleObj spid="_x0000_s11296" name="Equation" r:id="rId4" imgW="3314700" imgH="457200" progId="Equation.3">
                  <p:embed/>
                </p:oleObj>
              </mc:Choice>
              <mc:Fallback>
                <p:oleObj name="Equation" r:id="rId4" imgW="3314700" imgH="457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276600"/>
                        <a:ext cx="67818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770326878"/>
              </p:ext>
            </p:extLst>
          </p:nvPr>
        </p:nvGraphicFramePr>
        <p:xfrm>
          <a:off x="920750" y="2438400"/>
          <a:ext cx="7042150" cy="936625"/>
        </p:xfrm>
        <a:graphic>
          <a:graphicData uri="http://schemas.openxmlformats.org/presentationml/2006/ole">
            <mc:AlternateContent xmlns:mc="http://schemas.openxmlformats.org/markup-compatibility/2006">
              <mc:Choice xmlns:v="urn:schemas-microsoft-com:vml" Requires="v">
                <p:oleObj spid="_x0000_s11297" name="Equation" r:id="rId6" imgW="3441600" imgH="457200" progId="Equation.3">
                  <p:embed/>
                </p:oleObj>
              </mc:Choice>
              <mc:Fallback>
                <p:oleObj name="Equation" r:id="rId6" imgW="3441600" imgH="457200" progId="Equation.3">
                  <p:embed/>
                  <p:pic>
                    <p:nvPicPr>
                      <p:cNvPr id="0" name="Object 8"/>
                      <p:cNvPicPr>
                        <a:picLocks noChangeAspect="1" noChangeArrowheads="1"/>
                      </p:cNvPicPr>
                      <p:nvPr/>
                    </p:nvPicPr>
                    <p:blipFill>
                      <a:blip r:embed="rId7"/>
                      <a:srcRect/>
                      <a:stretch>
                        <a:fillRect/>
                      </a:stretch>
                    </p:blipFill>
                    <p:spPr bwMode="auto">
                      <a:xfrm>
                        <a:off x="920750" y="2438400"/>
                        <a:ext cx="70421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p:cNvGraphicFramePr>
            <a:graphicFrameLocks noChangeAspect="1"/>
          </p:cNvGraphicFramePr>
          <p:nvPr/>
        </p:nvGraphicFramePr>
        <p:xfrm>
          <a:off x="2286000" y="4724400"/>
          <a:ext cx="5562600" cy="1436688"/>
        </p:xfrm>
        <a:graphic>
          <a:graphicData uri="http://schemas.openxmlformats.org/presentationml/2006/ole">
            <mc:AlternateContent xmlns:mc="http://schemas.openxmlformats.org/markup-compatibility/2006">
              <mc:Choice xmlns:v="urn:schemas-microsoft-com:vml" Requires="v">
                <p:oleObj spid="_x0000_s11298" name="Equation" r:id="rId8" imgW="2171700" imgH="660400" progId="Equation.3">
                  <p:embed/>
                </p:oleObj>
              </mc:Choice>
              <mc:Fallback>
                <p:oleObj name="Equation" r:id="rId8" imgW="2171700" imgH="6604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0" y="4724400"/>
                        <a:ext cx="5562600" cy="1436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83152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620000" cy="990600"/>
          </a:xfrm>
        </p:spPr>
        <p:txBody>
          <a:bodyPr>
            <a:normAutofit/>
          </a:bodyPr>
          <a:lstStyle/>
          <a:p>
            <a:r>
              <a:rPr lang="en-US" sz="2800" dirty="0"/>
              <a:t>Solving the Bag problem by branch-and-bound algorithm (3/4)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Content Placeholder 4"/>
          <p:cNvSpPr>
            <a:spLocks noGrp="1"/>
          </p:cNvSpPr>
          <p:nvPr>
            <p:ph sz="quarter" idx="1"/>
          </p:nvPr>
        </p:nvSpPr>
        <p:spPr>
          <a:xfrm>
            <a:off x="457200" y="1219200"/>
            <a:ext cx="8229600" cy="5181600"/>
          </a:xfrm>
        </p:spPr>
        <p:txBody>
          <a:bodyPr>
            <a:normAutofit fontScale="92500" lnSpcReduction="10000"/>
          </a:bodyPr>
          <a:lstStyle/>
          <a:p>
            <a:r>
              <a:rPr lang="en-US" b="1" dirty="0">
                <a:sym typeface="Symbol" pitchFamily="18" charset="2"/>
              </a:rPr>
              <a:t>Step 1</a:t>
            </a:r>
            <a:r>
              <a:rPr lang="en-US" dirty="0">
                <a:sym typeface="Symbol" pitchFamily="18" charset="2"/>
              </a:rPr>
              <a:t>: Arrange objects so that</a:t>
            </a:r>
          </a:p>
          <a:p>
            <a:endParaRPr lang="en-US" dirty="0">
              <a:sym typeface="Symbol" pitchFamily="18" charset="2"/>
            </a:endParaRPr>
          </a:p>
          <a:p>
            <a:endParaRPr lang="en-US" dirty="0">
              <a:sym typeface="Symbol" pitchFamily="18" charset="2"/>
            </a:endParaRPr>
          </a:p>
          <a:p>
            <a:r>
              <a:rPr lang="en-US" b="1" dirty="0">
                <a:sym typeface="Symbol" pitchFamily="18" charset="2"/>
              </a:rPr>
              <a:t>Step 2 </a:t>
            </a:r>
            <a:r>
              <a:rPr lang="en-US" dirty="0">
                <a:sym typeface="Symbol" pitchFamily="18" charset="2"/>
              </a:rPr>
              <a:t>(Loop):</a:t>
            </a:r>
            <a:r>
              <a:rPr lang="en-US" b="1" dirty="0">
                <a:sym typeface="Symbol" pitchFamily="18" charset="2"/>
              </a:rPr>
              <a:t> </a:t>
            </a:r>
            <a:r>
              <a:rPr lang="en-US" dirty="0">
                <a:sym typeface="Symbol" pitchFamily="18" charset="2"/>
              </a:rPr>
              <a:t>loop over k-level partial problems:</a:t>
            </a:r>
          </a:p>
          <a:p>
            <a:endParaRPr lang="en-US" dirty="0">
              <a:sym typeface="Symbol" pitchFamily="18" charset="2"/>
            </a:endParaRPr>
          </a:p>
          <a:p>
            <a:pPr marL="605790" lvl="2" indent="-285750">
              <a:spcBef>
                <a:spcPts val="600"/>
              </a:spcBef>
              <a:buClr>
                <a:schemeClr val="accent1"/>
              </a:buClr>
              <a:buFont typeface="Courier New" pitchFamily="49" charset="0"/>
              <a:buChar char="o"/>
            </a:pPr>
            <a:r>
              <a:rPr lang="en-US" dirty="0">
                <a:sym typeface="Symbol" pitchFamily="18" charset="2"/>
              </a:rPr>
              <a:t>Using values of k objects in bag:</a:t>
            </a:r>
          </a:p>
          <a:p>
            <a:pPr marL="342900" lvl="1" indent="-342900">
              <a:spcBef>
                <a:spcPts val="600"/>
              </a:spcBef>
              <a:buClr>
                <a:schemeClr val="accent1"/>
              </a:buClr>
            </a:pPr>
            <a:endParaRPr lang="en-US" dirty="0">
              <a:sym typeface="Symbol" pitchFamily="18" charset="2"/>
            </a:endParaRPr>
          </a:p>
          <a:p>
            <a:pPr marL="342900" lvl="1" indent="-342900">
              <a:spcBef>
                <a:spcPts val="600"/>
              </a:spcBef>
              <a:buClr>
                <a:schemeClr val="accent1"/>
              </a:buClr>
            </a:pPr>
            <a:endParaRPr lang="en-US" dirty="0">
              <a:sym typeface="Symbol" pitchFamily="18" charset="2"/>
            </a:endParaRPr>
          </a:p>
          <a:p>
            <a:pPr marL="605790" lvl="2" indent="-285750">
              <a:spcBef>
                <a:spcPts val="600"/>
              </a:spcBef>
              <a:buClr>
                <a:schemeClr val="accent1"/>
              </a:buClr>
              <a:buFont typeface="Courier New" pitchFamily="49" charset="0"/>
              <a:buChar char="o"/>
            </a:pPr>
            <a:r>
              <a:rPr lang="en-US" dirty="0">
                <a:sym typeface="Symbol" pitchFamily="18" charset="2"/>
              </a:rPr>
              <a:t>Remaining weight of bag:</a:t>
            </a:r>
          </a:p>
          <a:p>
            <a:pPr marL="342900" lvl="1" indent="-342900">
              <a:spcBef>
                <a:spcPts val="600"/>
              </a:spcBef>
              <a:buClr>
                <a:schemeClr val="accent1"/>
              </a:buClr>
            </a:pPr>
            <a:endParaRPr lang="en-US" dirty="0">
              <a:sym typeface="Symbol" pitchFamily="18" charset="2"/>
            </a:endParaRPr>
          </a:p>
          <a:p>
            <a:pPr marL="605790" lvl="2" indent="-285750">
              <a:spcBef>
                <a:spcPts val="600"/>
              </a:spcBef>
              <a:buClr>
                <a:schemeClr val="accent1"/>
              </a:buClr>
              <a:buFont typeface="Courier New" pitchFamily="49" charset="0"/>
              <a:buChar char="o"/>
            </a:pPr>
            <a:r>
              <a:rPr lang="en-US" dirty="0">
                <a:sym typeface="Symbol" pitchFamily="18" charset="2"/>
              </a:rPr>
              <a:t>Upper bound of the k-level partial solution:</a:t>
            </a:r>
          </a:p>
          <a:p>
            <a:endParaRPr lang="en-US" b="1" dirty="0">
              <a:sym typeface="Symbol" pitchFamily="18" charset="2"/>
            </a:endParaRPr>
          </a:p>
          <a:p>
            <a:endParaRPr lang="en-US" b="1" dirty="0">
              <a:sym typeface="Symbol" pitchFamily="18" charset="2"/>
            </a:endParaRPr>
          </a:p>
          <a:p>
            <a:r>
              <a:rPr lang="en-US" b="1" dirty="0">
                <a:sym typeface="Symbol" pitchFamily="18" charset="2"/>
              </a:rPr>
              <a:t>Step 3 </a:t>
            </a:r>
            <a:r>
              <a:rPr lang="en-US" dirty="0">
                <a:sym typeface="Symbol" pitchFamily="18" charset="2"/>
              </a:rPr>
              <a:t>(Return result): Optimal solution and optimal value</a:t>
            </a:r>
          </a:p>
          <a:p>
            <a:pPr marL="274320" lvl="1">
              <a:spcBef>
                <a:spcPts val="600"/>
              </a:spcBef>
              <a:buClr>
                <a:schemeClr val="accent1"/>
              </a:buClr>
              <a:buFont typeface="Wingdings 3"/>
              <a:buChar char=""/>
            </a:pPr>
            <a:endParaRPr lang="en-US" dirty="0">
              <a:sym typeface="Symbol" pitchFamily="18" charset="2"/>
            </a:endParaRPr>
          </a:p>
          <a:p>
            <a:endParaRPr lang="en-US" dirty="0">
              <a:sym typeface="Symbol" pitchFamily="18" charset="2"/>
            </a:endParaRPr>
          </a:p>
          <a:p>
            <a:endParaRPr lang="en-US" dirty="0">
              <a:sym typeface="Symbol" pitchFamily="18" charset="2"/>
            </a:endParaRPr>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1003383053"/>
              </p:ext>
            </p:extLst>
          </p:nvPr>
        </p:nvGraphicFramePr>
        <p:xfrm>
          <a:off x="2057400" y="1524000"/>
          <a:ext cx="2406650" cy="974725"/>
        </p:xfrm>
        <a:graphic>
          <a:graphicData uri="http://schemas.openxmlformats.org/presentationml/2006/ole">
            <mc:AlternateContent xmlns:mc="http://schemas.openxmlformats.org/markup-compatibility/2006">
              <mc:Choice xmlns:v="urn:schemas-microsoft-com:vml" Requires="v">
                <p:oleObj spid="_x0000_s12310" name="Equation" r:id="rId3" imgW="1002865" imgH="406224" progId="Equation.3">
                  <p:embed/>
                </p:oleObj>
              </mc:Choice>
              <mc:Fallback>
                <p:oleObj name="Equation" r:id="rId3" imgW="1002865" imgH="40622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524000"/>
                        <a:ext cx="240665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989357211"/>
              </p:ext>
            </p:extLst>
          </p:nvPr>
        </p:nvGraphicFramePr>
        <p:xfrm>
          <a:off x="4005803" y="3712038"/>
          <a:ext cx="2401887" cy="1089025"/>
        </p:xfrm>
        <a:graphic>
          <a:graphicData uri="http://schemas.openxmlformats.org/presentationml/2006/ole">
            <mc:AlternateContent xmlns:mc="http://schemas.openxmlformats.org/markup-compatibility/2006">
              <mc:Choice xmlns:v="urn:schemas-microsoft-com:vml" Requires="v">
                <p:oleObj spid="_x0000_s12311" name="Equation" r:id="rId5" imgW="952200" imgH="431640" progId="Equation.3">
                  <p:embed/>
                </p:oleObj>
              </mc:Choice>
              <mc:Fallback>
                <p:oleObj name="Equation" r:id="rId5" imgW="952200" imgH="431640" progId="Equation.3">
                  <p:embed/>
                  <p:pic>
                    <p:nvPicPr>
                      <p:cNvPr id="0" name="Object 10"/>
                      <p:cNvPicPr>
                        <a:picLocks noChangeAspect="1" noChangeArrowheads="1"/>
                      </p:cNvPicPr>
                      <p:nvPr/>
                    </p:nvPicPr>
                    <p:blipFill>
                      <a:blip r:embed="rId6"/>
                      <a:srcRect/>
                      <a:stretch>
                        <a:fillRect/>
                      </a:stretch>
                    </p:blipFill>
                    <p:spPr bwMode="auto">
                      <a:xfrm>
                        <a:off x="4005803" y="3712038"/>
                        <a:ext cx="2401887"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9" name="TextBox 8"/>
              <p:cNvSpPr txBox="1"/>
              <p:nvPr/>
            </p:nvSpPr>
            <p:spPr>
              <a:xfrm>
                <a:off x="4876800" y="2694891"/>
                <a:ext cx="1932837" cy="11382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sym typeface="Symbol" pitchFamily="18" charset="2"/>
                            </a:rPr>
                          </m:ctrlPr>
                        </m:sSubPr>
                        <m:e>
                          <m:r>
                            <a:rPr lang="en-US" sz="2400" i="1">
                              <a:latin typeface="Cambria Math"/>
                              <a:ea typeface="Cambria Math"/>
                              <a:sym typeface="Symbol" pitchFamily="18" charset="2"/>
                            </a:rPr>
                            <m:t>𝛿</m:t>
                          </m:r>
                        </m:e>
                        <m:sub>
                          <m:r>
                            <a:rPr lang="en-US" sz="2400" i="1">
                              <a:latin typeface="Cambria Math"/>
                              <a:sym typeface="Symbol" pitchFamily="18" charset="2"/>
                            </a:rPr>
                            <m:t>𝑘</m:t>
                          </m:r>
                        </m:sub>
                      </m:sSub>
                      <m:r>
                        <a:rPr lang="en-US" sz="2400" i="1">
                          <a:latin typeface="Cambria Math"/>
                          <a:sym typeface="Symbol" pitchFamily="18" charset="2"/>
                        </a:rPr>
                        <m:t>=</m:t>
                      </m:r>
                      <m:nary>
                        <m:naryPr>
                          <m:chr m:val="∑"/>
                          <m:ctrlPr>
                            <a:rPr lang="en-US" sz="2400" i="1">
                              <a:latin typeface="Cambria Math" panose="02040503050406030204" pitchFamily="18" charset="0"/>
                              <a:sym typeface="Symbol" pitchFamily="18" charset="2"/>
                            </a:rPr>
                          </m:ctrlPr>
                        </m:naryPr>
                        <m:sub>
                          <m:r>
                            <m:rPr>
                              <m:brk m:alnAt="23"/>
                            </m:rPr>
                            <a:rPr lang="en-US" sz="2400" i="1">
                              <a:latin typeface="Cambria Math"/>
                              <a:sym typeface="Symbol" pitchFamily="18" charset="2"/>
                            </a:rPr>
                            <m:t>𝑖</m:t>
                          </m:r>
                          <m:r>
                            <a:rPr lang="en-US" sz="2400" i="1">
                              <a:latin typeface="Cambria Math"/>
                              <a:sym typeface="Symbol" pitchFamily="18" charset="2"/>
                            </a:rPr>
                            <m:t>=1</m:t>
                          </m:r>
                        </m:sub>
                        <m:sup>
                          <m:r>
                            <a:rPr lang="en-US" sz="2400" i="1">
                              <a:latin typeface="Cambria Math"/>
                              <a:sym typeface="Symbol" pitchFamily="18" charset="2"/>
                            </a:rPr>
                            <m:t>𝑘</m:t>
                          </m:r>
                        </m:sup>
                        <m:e>
                          <m:sSub>
                            <m:sSubPr>
                              <m:ctrlPr>
                                <a:rPr lang="en-US" sz="2400" i="1">
                                  <a:latin typeface="Cambria Math" panose="02040503050406030204" pitchFamily="18" charset="0"/>
                                  <a:sym typeface="Symbol" pitchFamily="18" charset="2"/>
                                </a:rPr>
                              </m:ctrlPr>
                            </m:sSubPr>
                            <m:e>
                              <m:r>
                                <a:rPr lang="en-US" sz="2400" i="1">
                                  <a:latin typeface="Cambria Math"/>
                                  <a:sym typeface="Symbol" pitchFamily="18" charset="2"/>
                                </a:rPr>
                                <m:t>𝑐</m:t>
                              </m:r>
                            </m:e>
                            <m:sub>
                              <m:r>
                                <a:rPr lang="en-US" sz="2400" i="1">
                                  <a:latin typeface="Cambria Math"/>
                                  <a:sym typeface="Symbol" pitchFamily="18" charset="2"/>
                                </a:rPr>
                                <m:t>𝑖</m:t>
                              </m:r>
                            </m:sub>
                          </m:sSub>
                          <m:sSub>
                            <m:sSubPr>
                              <m:ctrlPr>
                                <a:rPr lang="en-US" sz="2400" i="1">
                                  <a:latin typeface="Cambria Math" panose="02040503050406030204" pitchFamily="18" charset="0"/>
                                  <a:sym typeface="Symbol" pitchFamily="18" charset="2"/>
                                </a:rPr>
                              </m:ctrlPr>
                            </m:sSubPr>
                            <m:e>
                              <m:r>
                                <a:rPr lang="en-US" sz="2400" i="1">
                                  <a:latin typeface="Cambria Math"/>
                                  <a:sym typeface="Symbol" pitchFamily="18" charset="2"/>
                                </a:rPr>
                                <m:t>𝑥</m:t>
                              </m:r>
                            </m:e>
                            <m:sub>
                              <m:r>
                                <a:rPr lang="en-US" sz="2400" i="1">
                                  <a:latin typeface="Cambria Math"/>
                                  <a:sym typeface="Symbol" pitchFamily="18" charset="2"/>
                                </a:rPr>
                                <m:t>𝑖</m:t>
                              </m:r>
                            </m:sub>
                          </m:sSub>
                        </m:e>
                      </m:nary>
                    </m:oMath>
                  </m:oMathPara>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4876800" y="2694891"/>
                <a:ext cx="1932837" cy="113826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267200" y="4724400"/>
                <a:ext cx="4280980" cy="7851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𝑔</m:t>
                          </m:r>
                          <m:d>
                            <m:dPr>
                              <m:ctrlPr>
                                <a:rPr lang="en-US" sz="2400" b="0" i="1" smtClean="0">
                                  <a:latin typeface="Cambria Math" panose="02040503050406030204" pitchFamily="18" charset="0"/>
                                  <a:sym typeface="Symbol" pitchFamily="18" charset="2"/>
                                </a:rPr>
                              </m:ctrlPr>
                            </m:dPr>
                            <m:e>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𝑥</m:t>
                                  </m:r>
                                </m:e>
                                <m:sub>
                                  <m:r>
                                    <a:rPr lang="en-US" sz="2400" b="0" i="1" smtClean="0">
                                      <a:latin typeface="Cambria Math"/>
                                      <a:sym typeface="Symbol" pitchFamily="18" charset="2"/>
                                    </a:rPr>
                                    <m:t>1</m:t>
                                  </m:r>
                                </m:sub>
                              </m:sSub>
                              <m:r>
                                <a:rPr lang="en-US" sz="2400" b="0" i="1" smtClean="0">
                                  <a:latin typeface="Cambria Math"/>
                                  <a:sym typeface="Symbol" pitchFamily="18" charset="2"/>
                                </a:rPr>
                                <m:t>,</m:t>
                              </m:r>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𝑥</m:t>
                                  </m:r>
                                </m:e>
                                <m:sub>
                                  <m:r>
                                    <a:rPr lang="en-US" sz="2400" b="0" i="1" smtClean="0">
                                      <a:latin typeface="Cambria Math"/>
                                      <a:sym typeface="Symbol" pitchFamily="18" charset="2"/>
                                    </a:rPr>
                                    <m:t>2</m:t>
                                  </m:r>
                                </m:sub>
                              </m:sSub>
                              <m:r>
                                <a:rPr lang="en-US" sz="2400" b="0" i="1" smtClean="0">
                                  <a:latin typeface="Cambria Math"/>
                                  <a:sym typeface="Symbol" pitchFamily="18" charset="2"/>
                                </a:rPr>
                                <m:t>,…,</m:t>
                              </m:r>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𝑥</m:t>
                                  </m:r>
                                </m:e>
                                <m:sub>
                                  <m:r>
                                    <a:rPr lang="en-US" sz="2400" b="0" i="1" smtClean="0">
                                      <a:latin typeface="Cambria Math"/>
                                      <a:sym typeface="Symbol" pitchFamily="18" charset="2"/>
                                    </a:rPr>
                                    <m:t>𝑘</m:t>
                                  </m:r>
                                </m:sub>
                              </m:sSub>
                            </m:e>
                          </m:d>
                          <m:r>
                            <a:rPr lang="en-US" sz="2400" b="0" i="1" smtClean="0">
                              <a:latin typeface="Cambria Math"/>
                              <a:sym typeface="Symbol" pitchFamily="18" charset="2"/>
                            </a:rPr>
                            <m:t>=</m:t>
                          </m:r>
                          <m:r>
                            <a:rPr lang="en-US" sz="2400" i="1">
                              <a:latin typeface="Cambria Math"/>
                              <a:ea typeface="Cambria Math"/>
                              <a:sym typeface="Symbol" pitchFamily="18" charset="2"/>
                            </a:rPr>
                            <m:t>𝛿</m:t>
                          </m:r>
                        </m:e>
                        <m:sub>
                          <m:r>
                            <a:rPr lang="en-US" sz="2400" i="1">
                              <a:latin typeface="Cambria Math"/>
                              <a:sym typeface="Symbol" pitchFamily="18" charset="2"/>
                            </a:rPr>
                            <m:t>𝑘</m:t>
                          </m:r>
                        </m:sub>
                      </m:sSub>
                      <m:r>
                        <a:rPr lang="en-US" sz="2400" b="0" i="1" smtClean="0">
                          <a:latin typeface="Cambria Math"/>
                          <a:sym typeface="Symbol" pitchFamily="18" charset="2"/>
                        </a:rPr>
                        <m:t>+</m:t>
                      </m:r>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𝑏</m:t>
                          </m:r>
                        </m:e>
                        <m:sub>
                          <m:r>
                            <a:rPr lang="en-US" sz="2400" b="0" i="1" smtClean="0">
                              <a:latin typeface="Cambria Math"/>
                              <a:sym typeface="Symbol" pitchFamily="18" charset="2"/>
                            </a:rPr>
                            <m:t>𝑘</m:t>
                          </m:r>
                        </m:sub>
                      </m:sSub>
                      <m:f>
                        <m:fPr>
                          <m:ctrlPr>
                            <a:rPr lang="en-US" sz="2400" b="0" i="1" smtClean="0">
                              <a:latin typeface="Cambria Math" panose="02040503050406030204" pitchFamily="18" charset="0"/>
                              <a:sym typeface="Symbol" pitchFamily="18" charset="2"/>
                            </a:rPr>
                          </m:ctrlPr>
                        </m:fPr>
                        <m:num>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𝑐</m:t>
                              </m:r>
                            </m:e>
                            <m:sub>
                              <m:r>
                                <a:rPr lang="en-US" sz="2400" b="0" i="1" smtClean="0">
                                  <a:latin typeface="Cambria Math"/>
                                  <a:sym typeface="Symbol" pitchFamily="18" charset="2"/>
                                </a:rPr>
                                <m:t>𝑘</m:t>
                              </m:r>
                              <m:r>
                                <a:rPr lang="en-US" sz="2400" b="0" i="1" smtClean="0">
                                  <a:latin typeface="Cambria Math"/>
                                  <a:sym typeface="Symbol" pitchFamily="18" charset="2"/>
                                </a:rPr>
                                <m:t>+1</m:t>
                              </m:r>
                            </m:sub>
                          </m:sSub>
                        </m:num>
                        <m:den>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𝑎</m:t>
                              </m:r>
                            </m:e>
                            <m:sub>
                              <m:r>
                                <a:rPr lang="en-US" sz="2400" b="0" i="1" smtClean="0">
                                  <a:latin typeface="Cambria Math"/>
                                  <a:sym typeface="Symbol" pitchFamily="18" charset="2"/>
                                </a:rPr>
                                <m:t>𝑘</m:t>
                              </m:r>
                              <m:r>
                                <a:rPr lang="en-US" sz="2400" b="0" i="1" smtClean="0">
                                  <a:latin typeface="Cambria Math"/>
                                  <a:sym typeface="Symbol" pitchFamily="18" charset="2"/>
                                </a:rPr>
                                <m:t>+1</m:t>
                              </m:r>
                            </m:sub>
                          </m:sSub>
                        </m:den>
                      </m:f>
                    </m:oMath>
                  </m:oMathPara>
                </a14:m>
                <a:endParaRPr lang="en-US" sz="2400" dirty="0"/>
              </a:p>
            </p:txBody>
          </p:sp>
        </mc:Choice>
        <mc:Fallback xmlns="">
          <p:sp>
            <p:nvSpPr>
              <p:cNvPr id="11" name="Rectangle 10"/>
              <p:cNvSpPr>
                <a:spLocks noRot="1" noChangeAspect="1" noMove="1" noResize="1" noEditPoints="1" noAdjustHandles="1" noChangeArrowheads="1" noChangeShapeType="1" noTextEdit="1"/>
              </p:cNvSpPr>
              <p:nvPr/>
            </p:nvSpPr>
            <p:spPr>
              <a:xfrm>
                <a:off x="4267200" y="4724400"/>
                <a:ext cx="4280980" cy="785151"/>
              </a:xfrm>
              <a:prstGeom prst="rect">
                <a:avLst/>
              </a:prstGeom>
              <a:blipFill rotWithShape="1">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9545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543800" cy="990600"/>
          </a:xfrm>
        </p:spPr>
        <p:txBody>
          <a:bodyPr>
            <a:normAutofit/>
          </a:bodyPr>
          <a:lstStyle/>
          <a:p>
            <a:r>
              <a:rPr lang="en-US" sz="2400" dirty="0"/>
              <a:t>Solving the Bag problem by branch-and-bound algorithm (4/4)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mc:AlternateContent xmlns:mc="http://schemas.openxmlformats.org/markup-compatibility/2006">
        <mc:Choice xmlns:a14="http://schemas.microsoft.com/office/drawing/2010/main" Requires="a14">
          <p:sp>
            <p:nvSpPr>
              <p:cNvPr id="6" name="TextBox 5"/>
              <p:cNvSpPr txBox="1"/>
              <p:nvPr/>
            </p:nvSpPr>
            <p:spPr>
              <a:xfrm>
                <a:off x="762000" y="1447800"/>
                <a:ext cx="6705600" cy="4524315"/>
              </a:xfrm>
              <a:prstGeom prst="rect">
                <a:avLst/>
              </a:prstGeom>
              <a:noFill/>
            </p:spPr>
            <p:txBody>
              <a:bodyPr wrap="square" rtlCol="0">
                <a:spAutoFit/>
              </a:bodyPr>
              <a:lstStyle/>
              <a:p>
                <a:pPr>
                  <a:spcBef>
                    <a:spcPct val="50000"/>
                  </a:spcBef>
                </a:pPr>
                <a:r>
                  <a:rPr lang="en-US" dirty="0">
                    <a:latin typeface="+mj-lt"/>
                    <a:sym typeface="Symbol" pitchFamily="18" charset="2"/>
                  </a:rPr>
                  <a:t>Branch-and-bound algorithm (k) {</a:t>
                </a:r>
              </a:p>
              <a:p>
                <a:pPr>
                  <a:spcBef>
                    <a:spcPct val="50000"/>
                  </a:spcBef>
                </a:pPr>
                <a:r>
                  <a:rPr lang="en-US" dirty="0">
                    <a:latin typeface="+mj-lt"/>
                    <a:sym typeface="Symbol" pitchFamily="18" charset="2"/>
                  </a:rPr>
                  <a:t>	</a:t>
                </a:r>
                <a:r>
                  <a:rPr lang="en-US" b="1" dirty="0">
                    <a:latin typeface="+mj-lt"/>
                    <a:sym typeface="Symbol" pitchFamily="18" charset="2"/>
                  </a:rPr>
                  <a:t>for</a:t>
                </a:r>
                <a:r>
                  <a:rPr lang="en-US" dirty="0">
                    <a:latin typeface="+mj-lt"/>
                    <a:sym typeface="Symbol" pitchFamily="18" charset="2"/>
                  </a:rPr>
                  <a:t> (j =</a:t>
                </a:r>
                <a14:m>
                  <m:oMath xmlns:m="http://schemas.openxmlformats.org/officeDocument/2006/math">
                    <m:d>
                      <m:dPr>
                        <m:begChr m:val="⌊"/>
                        <m:endChr m:val="⌋"/>
                        <m:ctrlPr>
                          <a:rPr lang="en-US" i="1" smtClean="0">
                            <a:latin typeface="Cambria Math" panose="02040503050406030204" pitchFamily="18" charset="0"/>
                            <a:sym typeface="Symbol" pitchFamily="18" charset="2"/>
                          </a:rPr>
                        </m:ctrlPr>
                      </m:dPr>
                      <m:e>
                        <m:sSub>
                          <m:sSubPr>
                            <m:ctrlPr>
                              <a:rPr lang="en-US" i="1" smtClean="0">
                                <a:latin typeface="Cambria Math" panose="02040503050406030204" pitchFamily="18" charset="0"/>
                                <a:sym typeface="Symbol" pitchFamily="18" charset="2"/>
                              </a:rPr>
                            </m:ctrlPr>
                          </m:sSubPr>
                          <m:e>
                            <m:r>
                              <a:rPr lang="en-US" b="0" i="1" smtClean="0">
                                <a:latin typeface="Cambria Math"/>
                                <a:sym typeface="Symbol" pitchFamily="18" charset="2"/>
                              </a:rPr>
                              <m:t>𝑏</m:t>
                            </m:r>
                          </m:e>
                          <m:sub>
                            <m:r>
                              <a:rPr lang="en-US" b="0" i="1" smtClean="0">
                                <a:latin typeface="Cambria Math"/>
                                <a:sym typeface="Symbol" pitchFamily="18" charset="2"/>
                              </a:rPr>
                              <m:t>𝑘</m:t>
                            </m:r>
                          </m:sub>
                        </m:sSub>
                        <m:r>
                          <a:rPr lang="en-US" b="0" i="1" smtClean="0">
                            <a:latin typeface="Cambria Math"/>
                            <a:sym typeface="Symbol" pitchFamily="18" charset="2"/>
                          </a:rPr>
                          <m:t>/</m:t>
                        </m:r>
                        <m:sSub>
                          <m:sSubPr>
                            <m:ctrlPr>
                              <a:rPr lang="en-US" b="0" i="1" smtClean="0">
                                <a:latin typeface="Cambria Math" panose="02040503050406030204" pitchFamily="18" charset="0"/>
                                <a:sym typeface="Symbol" pitchFamily="18" charset="2"/>
                              </a:rPr>
                            </m:ctrlPr>
                          </m:sSubPr>
                          <m:e>
                            <m:r>
                              <a:rPr lang="en-US" b="0" i="1" smtClean="0">
                                <a:latin typeface="Cambria Math"/>
                                <a:sym typeface="Symbol" pitchFamily="18" charset="2"/>
                              </a:rPr>
                              <m:t>𝑎</m:t>
                            </m:r>
                          </m:e>
                          <m:sub>
                            <m:r>
                              <a:rPr lang="en-US" b="0" i="1" smtClean="0">
                                <a:latin typeface="Cambria Math"/>
                                <a:sym typeface="Symbol" pitchFamily="18" charset="2"/>
                              </a:rPr>
                              <m:t>𝑘</m:t>
                            </m:r>
                          </m:sub>
                        </m:sSub>
                      </m:e>
                    </m:d>
                  </m:oMath>
                </a14:m>
                <a:r>
                  <a:rPr lang="en-US" dirty="0">
                    <a:latin typeface="+mj-lt"/>
                    <a:sym typeface="Symbol" pitchFamily="18" charset="2"/>
                  </a:rPr>
                  <a:t>; j&gt;=0; j--){</a:t>
                </a:r>
              </a:p>
              <a:p>
                <a:pPr>
                  <a:spcBef>
                    <a:spcPct val="50000"/>
                  </a:spcBef>
                </a:pPr>
                <a:r>
                  <a:rPr lang="en-US" dirty="0">
                    <a:latin typeface="+mj-lt"/>
                    <a:sym typeface="Symbol" pitchFamily="18" charset="2"/>
                  </a:rPr>
                  <a:t>		x[k] = j;</a:t>
                </a:r>
              </a:p>
              <a:p>
                <a:pPr>
                  <a:spcBef>
                    <a:spcPct val="50000"/>
                  </a:spcBef>
                </a:pPr>
                <a:endParaRPr lang="en-US" dirty="0">
                  <a:latin typeface="+mj-lt"/>
                  <a:sym typeface="Symbol" pitchFamily="18" charset="2"/>
                </a:endParaRPr>
              </a:p>
              <a:p>
                <a:pPr>
                  <a:spcBef>
                    <a:spcPct val="50000"/>
                  </a:spcBef>
                </a:pPr>
                <a:r>
                  <a:rPr lang="en-US" dirty="0">
                    <a:latin typeface="+mj-lt"/>
                    <a:sym typeface="Symbol" pitchFamily="18" charset="2"/>
                  </a:rPr>
                  <a:t>		</a:t>
                </a:r>
                <a:r>
                  <a:rPr lang="en-US" b="1" dirty="0">
                    <a:latin typeface="+mj-lt"/>
                    <a:sym typeface="Symbol" pitchFamily="18" charset="2"/>
                  </a:rPr>
                  <a:t>if</a:t>
                </a:r>
                <a:r>
                  <a:rPr lang="en-US" dirty="0">
                    <a:latin typeface="+mj-lt"/>
                    <a:sym typeface="Symbol" pitchFamily="18" charset="2"/>
                  </a:rPr>
                  <a:t> (k==n) &lt; Record &gt;;</a:t>
                </a:r>
              </a:p>
              <a:p>
                <a:pPr>
                  <a:spcBef>
                    <a:spcPct val="50000"/>
                  </a:spcBef>
                </a:pPr>
                <a:r>
                  <a:rPr lang="en-US" dirty="0">
                    <a:latin typeface="+mj-lt"/>
                    <a:sym typeface="Symbol" pitchFamily="18" charset="2"/>
                  </a:rPr>
                  <a:t>		</a:t>
                </a:r>
                <a:r>
                  <a:rPr lang="en-US" b="1" dirty="0">
                    <a:latin typeface="+mj-lt"/>
                    <a:sym typeface="Symbol" pitchFamily="18" charset="2"/>
                  </a:rPr>
                  <a:t>else if</a:t>
                </a:r>
                <a:r>
                  <a:rPr lang="en-US" dirty="0">
                    <a:latin typeface="+mj-lt"/>
                    <a:sym typeface="Symbol" pitchFamily="18" charset="2"/>
                  </a:rPr>
                  <a:t> (</a:t>
                </a:r>
                <a:r>
                  <a:rPr lang="en-US" baseline="-25000" dirty="0">
                    <a:latin typeface="+mj-lt"/>
                    <a:sym typeface="Symbol" pitchFamily="18" charset="2"/>
                  </a:rPr>
                  <a:t>k</a:t>
                </a:r>
                <a:r>
                  <a:rPr lang="en-US" dirty="0">
                    <a:latin typeface="+mj-lt"/>
                    <a:sym typeface="Symbol" pitchFamily="18" charset="2"/>
                  </a:rPr>
                  <a:t> + (c</a:t>
                </a:r>
                <a:r>
                  <a:rPr lang="en-US" baseline="-25000" dirty="0">
                    <a:latin typeface="+mj-lt"/>
                    <a:sym typeface="Symbol" pitchFamily="18" charset="2"/>
                  </a:rPr>
                  <a:t>k+1</a:t>
                </a:r>
                <a:r>
                  <a:rPr lang="en-US" dirty="0">
                    <a:latin typeface="+mj-lt"/>
                    <a:sym typeface="Symbol" pitchFamily="18" charset="2"/>
                  </a:rPr>
                  <a:t>*</a:t>
                </a:r>
                <a:r>
                  <a:rPr lang="en-US" dirty="0" err="1">
                    <a:latin typeface="+mj-lt"/>
                    <a:sym typeface="Symbol" pitchFamily="18" charset="2"/>
                  </a:rPr>
                  <a:t>b</a:t>
                </a:r>
                <a:r>
                  <a:rPr lang="en-US" baseline="-25000" dirty="0" err="1">
                    <a:latin typeface="+mj-lt"/>
                    <a:sym typeface="Symbol" pitchFamily="18" charset="2"/>
                  </a:rPr>
                  <a:t>k</a:t>
                </a:r>
                <a:r>
                  <a:rPr lang="en-US" dirty="0">
                    <a:latin typeface="+mj-lt"/>
                    <a:sym typeface="Symbol" pitchFamily="18" charset="2"/>
                  </a:rPr>
                  <a:t>)/a</a:t>
                </a:r>
                <a:r>
                  <a:rPr lang="en-US" baseline="-25000" dirty="0">
                    <a:latin typeface="+mj-lt"/>
                    <a:sym typeface="Symbol" pitchFamily="18" charset="2"/>
                  </a:rPr>
                  <a:t>k+1</a:t>
                </a:r>
                <a:r>
                  <a:rPr lang="en-US" dirty="0">
                    <a:latin typeface="+mj-lt"/>
                    <a:sym typeface="Symbol" pitchFamily="18" charset="2"/>
                  </a:rPr>
                  <a:t> &gt;FOPT)</a:t>
                </a:r>
              </a:p>
              <a:p>
                <a:pPr>
                  <a:spcBef>
                    <a:spcPct val="50000"/>
                  </a:spcBef>
                </a:pPr>
                <a:r>
                  <a:rPr lang="en-US" dirty="0">
                    <a:latin typeface="+mj-lt"/>
                    <a:sym typeface="Symbol" pitchFamily="18" charset="2"/>
                  </a:rPr>
                  <a:t>			</a:t>
                </a:r>
                <a:r>
                  <a:rPr lang="en-US" dirty="0" err="1">
                    <a:latin typeface="+mj-lt"/>
                    <a:sym typeface="Symbol" pitchFamily="18" charset="2"/>
                  </a:rPr>
                  <a:t>Branch_And_Bound</a:t>
                </a:r>
                <a:r>
                  <a:rPr lang="en-US" dirty="0">
                    <a:latin typeface="+mj-lt"/>
                    <a:sym typeface="Symbol" pitchFamily="18" charset="2"/>
                  </a:rPr>
                  <a:t>(k+1);</a:t>
                </a:r>
              </a:p>
              <a:p>
                <a:pPr>
                  <a:spcBef>
                    <a:spcPct val="50000"/>
                  </a:spcBef>
                </a:pPr>
                <a:endParaRPr lang="en-US" dirty="0">
                  <a:latin typeface="+mj-lt"/>
                  <a:sym typeface="Symbol" pitchFamily="18" charset="2"/>
                </a:endParaRPr>
              </a:p>
              <a:p>
                <a:pPr>
                  <a:spcBef>
                    <a:spcPct val="50000"/>
                  </a:spcBef>
                </a:pPr>
                <a:r>
                  <a:rPr lang="en-US" dirty="0">
                    <a:latin typeface="+mj-lt"/>
                    <a:sym typeface="Symbol" pitchFamily="18" charset="2"/>
                  </a:rPr>
                  <a:t>	}</a:t>
                </a:r>
              </a:p>
              <a:p>
                <a:pPr>
                  <a:spcBef>
                    <a:spcPct val="50000"/>
                  </a:spcBef>
                </a:pPr>
                <a:r>
                  <a:rPr lang="en-US" dirty="0">
                    <a:latin typeface="+mj-lt"/>
                    <a:sym typeface="Symbol" pitchFamily="18" charset="2"/>
                  </a:rPr>
                  <a:t>}</a:t>
                </a:r>
              </a:p>
              <a:p>
                <a:pPr>
                  <a:spcBef>
                    <a:spcPct val="50000"/>
                  </a:spcBef>
                </a:pPr>
                <a:endParaRPr lang="en-US" dirty="0">
                  <a:latin typeface="+mj-lt"/>
                  <a:sym typeface="Symbol" pitchFamily="18" charset="2"/>
                </a:endParaRPr>
              </a:p>
            </p:txBody>
          </p:sp>
        </mc:Choice>
        <mc:Fallback>
          <p:sp>
            <p:nvSpPr>
              <p:cNvPr id="6" name="TextBox 5"/>
              <p:cNvSpPr txBox="1">
                <a:spLocks noRot="1" noChangeAspect="1" noMove="1" noResize="1" noEditPoints="1" noAdjustHandles="1" noChangeArrowheads="1" noChangeShapeType="1" noTextEdit="1"/>
              </p:cNvSpPr>
              <p:nvPr/>
            </p:nvSpPr>
            <p:spPr>
              <a:xfrm>
                <a:off x="762000" y="1447800"/>
                <a:ext cx="6705600" cy="4524315"/>
              </a:xfrm>
              <a:prstGeom prst="rect">
                <a:avLst/>
              </a:prstGeom>
              <a:blipFill>
                <a:blip r:embed="rId3"/>
                <a:stretch>
                  <a:fillRect l="-727" t="-674"/>
                </a:stretch>
              </a:blipFill>
            </p:spPr>
            <p:txBody>
              <a:bodyPr/>
              <a:lstStyle/>
              <a:p>
                <a:r>
                  <a:rPr lang="en-US">
                    <a:noFill/>
                  </a:rPr>
                  <a:t> </a:t>
                </a:r>
              </a:p>
            </p:txBody>
          </p:sp>
        </mc:Fallback>
      </mc:AlternateContent>
      <p:graphicFrame>
        <p:nvGraphicFramePr>
          <p:cNvPr id="8" name="Object 7"/>
          <p:cNvGraphicFramePr>
            <a:graphicFrameLocks noChangeAspect="1"/>
          </p:cNvGraphicFramePr>
          <p:nvPr>
            <p:extLst>
              <p:ext uri="{D42A27DB-BD31-4B8C-83A1-F6EECF244321}">
                <p14:modId xmlns:p14="http://schemas.microsoft.com/office/powerpoint/2010/main" val="3859165878"/>
              </p:ext>
            </p:extLst>
          </p:nvPr>
        </p:nvGraphicFramePr>
        <p:xfrm>
          <a:off x="4860925" y="2641600"/>
          <a:ext cx="2274888" cy="574675"/>
        </p:xfrm>
        <a:graphic>
          <a:graphicData uri="http://schemas.openxmlformats.org/presentationml/2006/ole">
            <mc:AlternateContent xmlns:mc="http://schemas.openxmlformats.org/markup-compatibility/2006">
              <mc:Choice xmlns:v="urn:schemas-microsoft-com:vml" Requires="v">
                <p:oleObj spid="_x0000_s13334" name="Equation" r:id="rId4" imgW="901440" imgH="228600" progId="Equation.3">
                  <p:embed/>
                </p:oleObj>
              </mc:Choice>
              <mc:Fallback>
                <p:oleObj name="Equation" r:id="rId4" imgW="901440" imgH="228600" progId="Equation.3">
                  <p:embed/>
                  <p:pic>
                    <p:nvPicPr>
                      <p:cNvPr id="0" name="Object 10"/>
                      <p:cNvPicPr>
                        <a:picLocks noChangeAspect="1" noChangeArrowheads="1"/>
                      </p:cNvPicPr>
                      <p:nvPr/>
                    </p:nvPicPr>
                    <p:blipFill>
                      <a:blip r:embed="rId5"/>
                      <a:srcRect/>
                      <a:stretch>
                        <a:fillRect/>
                      </a:stretch>
                    </p:blipFill>
                    <p:spPr bwMode="auto">
                      <a:xfrm>
                        <a:off x="4860925" y="2641600"/>
                        <a:ext cx="2274888"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932795871"/>
              </p:ext>
            </p:extLst>
          </p:nvPr>
        </p:nvGraphicFramePr>
        <p:xfrm>
          <a:off x="5043488" y="4264025"/>
          <a:ext cx="2274887" cy="577850"/>
        </p:xfrm>
        <a:graphic>
          <a:graphicData uri="http://schemas.openxmlformats.org/presentationml/2006/ole">
            <mc:AlternateContent xmlns:mc="http://schemas.openxmlformats.org/markup-compatibility/2006">
              <mc:Choice xmlns:v="urn:schemas-microsoft-com:vml" Requires="v">
                <p:oleObj spid="_x0000_s13335" name="Equation" r:id="rId6" imgW="901440" imgH="228600" progId="Equation.3">
                  <p:embed/>
                </p:oleObj>
              </mc:Choice>
              <mc:Fallback>
                <p:oleObj name="Equation" r:id="rId6" imgW="901440" imgH="228600" progId="Equation.3">
                  <p:embed/>
                  <p:pic>
                    <p:nvPicPr>
                      <p:cNvPr id="0" name="Object 20"/>
                      <p:cNvPicPr>
                        <a:picLocks noChangeAspect="1" noChangeArrowheads="1"/>
                      </p:cNvPicPr>
                      <p:nvPr/>
                    </p:nvPicPr>
                    <p:blipFill>
                      <a:blip r:embed="rId7"/>
                      <a:srcRect/>
                      <a:stretch>
                        <a:fillRect/>
                      </a:stretch>
                    </p:blipFill>
                    <p:spPr bwMode="auto">
                      <a:xfrm>
                        <a:off x="5043488" y="4264025"/>
                        <a:ext cx="2274887"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 name="Rectangle 10"/>
              <p:cNvSpPr/>
              <p:nvPr/>
            </p:nvSpPr>
            <p:spPr>
              <a:xfrm>
                <a:off x="2533650" y="2657475"/>
                <a:ext cx="233147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sym typeface="Symbol" pitchFamily="18" charset="2"/>
                            </a:rPr>
                          </m:ctrlPr>
                        </m:sSubPr>
                        <m:e>
                          <m:r>
                            <a:rPr lang="en-US" sz="2400" i="1">
                              <a:latin typeface="Cambria Math"/>
                              <a:ea typeface="Cambria Math"/>
                              <a:sym typeface="Symbol" pitchFamily="18" charset="2"/>
                            </a:rPr>
                            <m:t>𝛿</m:t>
                          </m:r>
                        </m:e>
                        <m:sub>
                          <m:r>
                            <a:rPr lang="en-US" sz="2400" i="1">
                              <a:latin typeface="Cambria Math"/>
                              <a:sym typeface="Symbol" pitchFamily="18" charset="2"/>
                            </a:rPr>
                            <m:t>𝑘</m:t>
                          </m:r>
                        </m:sub>
                      </m:sSub>
                      <m:r>
                        <a:rPr lang="en-US" sz="2400" i="1">
                          <a:latin typeface="Cambria Math"/>
                          <a:sym typeface="Symbol" pitchFamily="18" charset="2"/>
                        </a:rPr>
                        <m:t>=</m:t>
                      </m:r>
                      <m:sSub>
                        <m:sSubPr>
                          <m:ctrlPr>
                            <a:rPr lang="en-US" sz="2400" i="1">
                              <a:latin typeface="Cambria Math" panose="02040503050406030204" pitchFamily="18" charset="0"/>
                              <a:sym typeface="Symbol" pitchFamily="18" charset="2"/>
                            </a:rPr>
                          </m:ctrlPr>
                        </m:sSubPr>
                        <m:e>
                          <m:r>
                            <a:rPr lang="en-US" sz="2400" i="1">
                              <a:latin typeface="Cambria Math"/>
                              <a:ea typeface="Cambria Math"/>
                              <a:sym typeface="Symbol" pitchFamily="18" charset="2"/>
                            </a:rPr>
                            <m:t>𝛿</m:t>
                          </m:r>
                        </m:e>
                        <m:sub>
                          <m:r>
                            <a:rPr lang="en-US" sz="2400" i="1">
                              <a:latin typeface="Cambria Math"/>
                              <a:sym typeface="Symbol" pitchFamily="18" charset="2"/>
                            </a:rPr>
                            <m:t>𝑘</m:t>
                          </m:r>
                        </m:sub>
                      </m:sSub>
                      <m:r>
                        <a:rPr lang="en-US" sz="2400" b="0" i="1" smtClean="0">
                          <a:latin typeface="Cambria Math"/>
                          <a:sym typeface="Symbol" pitchFamily="18" charset="2"/>
                        </a:rPr>
                        <m:t>+</m:t>
                      </m:r>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𝑐</m:t>
                          </m:r>
                        </m:e>
                        <m:sub>
                          <m:r>
                            <a:rPr lang="en-US" sz="2400" b="0" i="1" smtClean="0">
                              <a:latin typeface="Cambria Math"/>
                              <a:sym typeface="Symbol" pitchFamily="18" charset="2"/>
                            </a:rPr>
                            <m:t>𝑘</m:t>
                          </m:r>
                        </m:sub>
                      </m:sSub>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𝑥</m:t>
                          </m:r>
                        </m:e>
                        <m:sub>
                          <m:r>
                            <a:rPr lang="en-US" sz="2400" b="0" i="1" smtClean="0">
                              <a:latin typeface="Cambria Math"/>
                              <a:sym typeface="Symbol" pitchFamily="18" charset="2"/>
                            </a:rPr>
                            <m:t>𝑘</m:t>
                          </m:r>
                        </m:sub>
                      </m:sSub>
                      <m:r>
                        <a:rPr lang="en-US" sz="2400" b="0" i="1" smtClean="0">
                          <a:latin typeface="Cambria Math"/>
                          <a:sym typeface="Symbol" pitchFamily="18" charset="2"/>
                        </a:rPr>
                        <m:t>;</m:t>
                      </m:r>
                    </m:oMath>
                  </m:oMathPara>
                </a14:m>
                <a:endParaRPr lang="en-US" sz="2400" dirty="0"/>
              </a:p>
            </p:txBody>
          </p:sp>
        </mc:Choice>
        <mc:Fallback xmlns="">
          <p:sp>
            <p:nvSpPr>
              <p:cNvPr id="11" name="Rectangle 10"/>
              <p:cNvSpPr>
                <a:spLocks noRot="1" noChangeAspect="1" noMove="1" noResize="1" noEditPoints="1" noAdjustHandles="1" noChangeArrowheads="1" noChangeShapeType="1" noTextEdit="1"/>
              </p:cNvSpPr>
              <p:nvPr/>
            </p:nvSpPr>
            <p:spPr>
              <a:xfrm>
                <a:off x="2533650" y="2657475"/>
                <a:ext cx="2331472" cy="461665"/>
              </a:xfrm>
              <a:prstGeom prst="rect">
                <a:avLst/>
              </a:prstGeom>
              <a:blipFill rotWithShape="1">
                <a:blip r:embed="rId8"/>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505075" y="4276725"/>
                <a:ext cx="233147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sym typeface="Symbol" pitchFamily="18" charset="2"/>
                            </a:rPr>
                          </m:ctrlPr>
                        </m:sSubPr>
                        <m:e>
                          <m:r>
                            <a:rPr lang="en-US" sz="2400" i="1">
                              <a:latin typeface="Cambria Math"/>
                              <a:ea typeface="Cambria Math"/>
                              <a:sym typeface="Symbol" pitchFamily="18" charset="2"/>
                            </a:rPr>
                            <m:t>𝛿</m:t>
                          </m:r>
                        </m:e>
                        <m:sub>
                          <m:r>
                            <a:rPr lang="en-US" sz="2400" i="1">
                              <a:latin typeface="Cambria Math"/>
                              <a:sym typeface="Symbol" pitchFamily="18" charset="2"/>
                            </a:rPr>
                            <m:t>𝑘</m:t>
                          </m:r>
                        </m:sub>
                      </m:sSub>
                      <m:r>
                        <a:rPr lang="en-US" sz="2400" i="1">
                          <a:latin typeface="Cambria Math"/>
                          <a:sym typeface="Symbol" pitchFamily="18" charset="2"/>
                        </a:rPr>
                        <m:t>=</m:t>
                      </m:r>
                      <m:sSub>
                        <m:sSubPr>
                          <m:ctrlPr>
                            <a:rPr lang="en-US" sz="2400" i="1">
                              <a:latin typeface="Cambria Math" panose="02040503050406030204" pitchFamily="18" charset="0"/>
                              <a:sym typeface="Symbol" pitchFamily="18" charset="2"/>
                            </a:rPr>
                          </m:ctrlPr>
                        </m:sSubPr>
                        <m:e>
                          <m:r>
                            <a:rPr lang="en-US" sz="2400" i="1">
                              <a:latin typeface="Cambria Math"/>
                              <a:ea typeface="Cambria Math"/>
                              <a:sym typeface="Symbol" pitchFamily="18" charset="2"/>
                            </a:rPr>
                            <m:t>𝛿</m:t>
                          </m:r>
                        </m:e>
                        <m:sub>
                          <m:r>
                            <a:rPr lang="en-US" sz="2400" i="1">
                              <a:latin typeface="Cambria Math"/>
                              <a:sym typeface="Symbol" pitchFamily="18" charset="2"/>
                            </a:rPr>
                            <m:t>𝑘</m:t>
                          </m:r>
                        </m:sub>
                      </m:sSub>
                      <m:r>
                        <a:rPr lang="en-US" sz="2400" b="0" i="1" smtClean="0">
                          <a:latin typeface="Cambria Math"/>
                          <a:sym typeface="Symbol" pitchFamily="18" charset="2"/>
                        </a:rPr>
                        <m:t>−</m:t>
                      </m:r>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𝑐</m:t>
                          </m:r>
                        </m:e>
                        <m:sub>
                          <m:r>
                            <a:rPr lang="en-US" sz="2400" b="0" i="1" smtClean="0">
                              <a:latin typeface="Cambria Math"/>
                              <a:sym typeface="Symbol" pitchFamily="18" charset="2"/>
                            </a:rPr>
                            <m:t>𝑘</m:t>
                          </m:r>
                        </m:sub>
                      </m:sSub>
                      <m:sSub>
                        <m:sSubPr>
                          <m:ctrlPr>
                            <a:rPr lang="en-US" sz="2400" b="0" i="1" smtClean="0">
                              <a:latin typeface="Cambria Math" panose="02040503050406030204" pitchFamily="18" charset="0"/>
                              <a:sym typeface="Symbol" pitchFamily="18" charset="2"/>
                            </a:rPr>
                          </m:ctrlPr>
                        </m:sSubPr>
                        <m:e>
                          <m:r>
                            <a:rPr lang="en-US" sz="2400" b="0" i="1" smtClean="0">
                              <a:latin typeface="Cambria Math"/>
                              <a:sym typeface="Symbol" pitchFamily="18" charset="2"/>
                            </a:rPr>
                            <m:t>𝑥</m:t>
                          </m:r>
                        </m:e>
                        <m:sub>
                          <m:r>
                            <a:rPr lang="en-US" sz="2400" b="0" i="1" smtClean="0">
                              <a:latin typeface="Cambria Math"/>
                              <a:sym typeface="Symbol" pitchFamily="18" charset="2"/>
                            </a:rPr>
                            <m:t>𝑘</m:t>
                          </m:r>
                        </m:sub>
                      </m:sSub>
                      <m:r>
                        <a:rPr lang="en-US" sz="2400" b="0" i="1" smtClean="0">
                          <a:latin typeface="Cambria Math"/>
                          <a:sym typeface="Symbol" pitchFamily="18" charset="2"/>
                        </a:rPr>
                        <m:t>;</m:t>
                      </m:r>
                    </m:oMath>
                  </m:oMathPara>
                </a14:m>
                <a:endParaRPr lang="en-US" sz="2400" dirty="0"/>
              </a:p>
            </p:txBody>
          </p:sp>
        </mc:Choice>
        <mc:Fallback xmlns="">
          <p:sp>
            <p:nvSpPr>
              <p:cNvPr id="12" name="Rectangle 11"/>
              <p:cNvSpPr>
                <a:spLocks noRot="1" noChangeAspect="1" noMove="1" noResize="1" noEditPoints="1" noAdjustHandles="1" noChangeArrowheads="1" noChangeShapeType="1" noTextEdit="1"/>
              </p:cNvSpPr>
              <p:nvPr/>
            </p:nvSpPr>
            <p:spPr>
              <a:xfrm>
                <a:off x="2505075" y="4276725"/>
                <a:ext cx="2331472" cy="461665"/>
              </a:xfrm>
              <a:prstGeom prst="rect">
                <a:avLst/>
              </a:prstGeom>
              <a:blipFill rotWithShape="1">
                <a:blip r:embed="rId9"/>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3063241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373565676"/>
              </p:ext>
            </p:extLst>
          </p:nvPr>
        </p:nvGraphicFramePr>
        <p:xfrm>
          <a:off x="1282700" y="1709737"/>
          <a:ext cx="5575300" cy="1414463"/>
        </p:xfrm>
        <a:graphic>
          <a:graphicData uri="http://schemas.openxmlformats.org/presentationml/2006/ole">
            <mc:AlternateContent xmlns:mc="http://schemas.openxmlformats.org/markup-compatibility/2006">
              <mc:Choice xmlns:v="urn:schemas-microsoft-com:vml" Requires="v">
                <p:oleObj spid="_x0000_s14348" name="Equation" r:id="rId3" imgW="2336760" imgH="698400" progId="Equation.3">
                  <p:embed/>
                </p:oleObj>
              </mc:Choice>
              <mc:Fallback>
                <p:oleObj name="Equation" r:id="rId3" imgW="2336760" imgH="698400" progId="Equation.3">
                  <p:embed/>
                  <p:pic>
                    <p:nvPicPr>
                      <p:cNvPr id="0" name="Object 10"/>
                      <p:cNvPicPr>
                        <a:picLocks noChangeAspect="1" noChangeArrowheads="1"/>
                      </p:cNvPicPr>
                      <p:nvPr/>
                    </p:nvPicPr>
                    <p:blipFill>
                      <a:blip r:embed="rId4"/>
                      <a:srcRect/>
                      <a:stretch>
                        <a:fillRect/>
                      </a:stretch>
                    </p:blipFill>
                    <p:spPr bwMode="auto">
                      <a:xfrm>
                        <a:off x="1282700" y="1709737"/>
                        <a:ext cx="5575300"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97975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grpSp>
        <p:nvGrpSpPr>
          <p:cNvPr id="30" name="Group 29"/>
          <p:cNvGrpSpPr/>
          <p:nvPr/>
        </p:nvGrpSpPr>
        <p:grpSpPr>
          <a:xfrm>
            <a:off x="838200" y="1219200"/>
            <a:ext cx="7086600" cy="4876800"/>
            <a:chOff x="685800" y="1447800"/>
            <a:chExt cx="7086600" cy="4876800"/>
          </a:xfrm>
        </p:grpSpPr>
        <p:sp>
          <p:nvSpPr>
            <p:cNvPr id="6" name="Text Box 31"/>
            <p:cNvSpPr txBox="1">
              <a:spLocks noChangeArrowheads="1"/>
            </p:cNvSpPr>
            <p:nvPr/>
          </p:nvSpPr>
          <p:spPr bwMode="auto">
            <a:xfrm>
              <a:off x="5486400" y="175260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200" i="1">
                  <a:latin typeface="Tahoma" pitchFamily="34" charset="0"/>
                  <a:ea typeface="Tahoma" pitchFamily="34" charset="0"/>
                  <a:cs typeface="Tahoma" pitchFamily="34" charset="0"/>
                </a:rPr>
                <a:t>X</a:t>
              </a:r>
              <a:r>
                <a:rPr lang="en-US" sz="1200" baseline="-25000">
                  <a:latin typeface="Tahoma" pitchFamily="34" charset="0"/>
                  <a:ea typeface="Tahoma" pitchFamily="34" charset="0"/>
                  <a:cs typeface="Tahoma" pitchFamily="34" charset="0"/>
                </a:rPr>
                <a:t>1</a:t>
              </a:r>
              <a:r>
                <a:rPr lang="en-US" sz="1200">
                  <a:latin typeface="Tahoma" pitchFamily="34" charset="0"/>
                  <a:ea typeface="Tahoma" pitchFamily="34" charset="0"/>
                  <a:cs typeface="Tahoma" pitchFamily="34" charset="0"/>
                </a:rPr>
                <a:t>=0</a:t>
              </a:r>
            </a:p>
          </p:txBody>
        </p:sp>
        <p:sp>
          <p:nvSpPr>
            <p:cNvPr id="7" name="Text Box 30"/>
            <p:cNvSpPr txBox="1">
              <a:spLocks noChangeArrowheads="1"/>
            </p:cNvSpPr>
            <p:nvPr/>
          </p:nvSpPr>
          <p:spPr bwMode="auto">
            <a:xfrm>
              <a:off x="2743200" y="175260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200" i="1">
                  <a:latin typeface="Tahoma" pitchFamily="34" charset="0"/>
                  <a:ea typeface="Tahoma" pitchFamily="34" charset="0"/>
                  <a:cs typeface="Tahoma" pitchFamily="34" charset="0"/>
                </a:rPr>
                <a:t>X</a:t>
              </a:r>
              <a:r>
                <a:rPr lang="en-US" sz="1200" baseline="-25000">
                  <a:latin typeface="Tahoma" pitchFamily="34" charset="0"/>
                  <a:ea typeface="Tahoma" pitchFamily="34" charset="0"/>
                  <a:cs typeface="Tahoma" pitchFamily="34" charset="0"/>
                </a:rPr>
                <a:t>1</a:t>
              </a:r>
              <a:r>
                <a:rPr lang="en-US" sz="1200">
                  <a:latin typeface="Tahoma" pitchFamily="34" charset="0"/>
                  <a:ea typeface="Tahoma" pitchFamily="34" charset="0"/>
                  <a:cs typeface="Tahoma" pitchFamily="34" charset="0"/>
                </a:rPr>
                <a:t>=1</a:t>
              </a:r>
            </a:p>
          </p:txBody>
        </p:sp>
        <p:sp>
          <p:nvSpPr>
            <p:cNvPr id="8" name="Rectangle 12"/>
            <p:cNvSpPr>
              <a:spLocks noChangeArrowheads="1"/>
            </p:cNvSpPr>
            <p:nvPr/>
          </p:nvSpPr>
          <p:spPr bwMode="auto">
            <a:xfrm>
              <a:off x="3733800" y="1447800"/>
              <a:ext cx="1143000" cy="381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atin typeface="Tahoma" pitchFamily="34" charset="0"/>
                  <a:ea typeface="Tahoma" pitchFamily="34" charset="0"/>
                  <a:cs typeface="Tahoma" pitchFamily="34" charset="0"/>
                </a:rPr>
                <a:t>FOPT=-</a:t>
              </a:r>
              <a:r>
                <a:rPr lang="en-US">
                  <a:latin typeface="Tahoma" pitchFamily="34" charset="0"/>
                  <a:ea typeface="Tahoma" pitchFamily="34" charset="0"/>
                  <a:cs typeface="Tahoma" pitchFamily="34" charset="0"/>
                  <a:sym typeface="Symbol" pitchFamily="18" charset="2"/>
                </a:rPr>
                <a:t></a:t>
              </a:r>
            </a:p>
          </p:txBody>
        </p:sp>
        <p:sp>
          <p:nvSpPr>
            <p:cNvPr id="9" name="Rectangle 13"/>
            <p:cNvSpPr>
              <a:spLocks noChangeArrowheads="1"/>
            </p:cNvSpPr>
            <p:nvPr/>
          </p:nvSpPr>
          <p:spPr bwMode="auto">
            <a:xfrm>
              <a:off x="1981200" y="2209800"/>
              <a:ext cx="1295400" cy="762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buFontTx/>
                <a:buAutoNum type="arabicParenBoth"/>
              </a:pPr>
              <a:r>
                <a:rPr lang="en-US" dirty="0">
                  <a:latin typeface="Tahoma" pitchFamily="34" charset="0"/>
                  <a:ea typeface="Tahoma" pitchFamily="34" charset="0"/>
                  <a:cs typeface="Tahoma" pitchFamily="34" charset="0"/>
                  <a:sym typeface="Symbol" pitchFamily="18" charset="2"/>
                </a:rPr>
                <a:t></a:t>
              </a:r>
              <a:r>
                <a:rPr lang="en-US" baseline="-25000" dirty="0">
                  <a:latin typeface="Tahoma" pitchFamily="34" charset="0"/>
                  <a:ea typeface="Tahoma" pitchFamily="34" charset="0"/>
                  <a:cs typeface="Tahoma" pitchFamily="34" charset="0"/>
                  <a:sym typeface="Symbol" pitchFamily="18" charset="2"/>
                </a:rPr>
                <a:t>1</a:t>
              </a:r>
              <a:r>
                <a:rPr lang="en-US" dirty="0">
                  <a:latin typeface="Tahoma" pitchFamily="34" charset="0"/>
                  <a:ea typeface="Tahoma" pitchFamily="34" charset="0"/>
                  <a:cs typeface="Tahoma" pitchFamily="34" charset="0"/>
                  <a:sym typeface="Symbol" pitchFamily="18" charset="2"/>
                </a:rPr>
                <a:t>=10; </a:t>
              </a:r>
            </a:p>
            <a:p>
              <a:pPr marL="342900" indent="-342900" algn="ctr"/>
              <a:r>
                <a:rPr lang="en-US" dirty="0">
                  <a:latin typeface="Tahoma" pitchFamily="34" charset="0"/>
                  <a:ea typeface="Tahoma" pitchFamily="34" charset="0"/>
                  <a:cs typeface="Tahoma" pitchFamily="34" charset="0"/>
                  <a:sym typeface="Symbol" pitchFamily="18" charset="2"/>
                </a:rPr>
                <a:t> b</a:t>
              </a:r>
              <a:r>
                <a:rPr lang="en-US" baseline="-25000" dirty="0">
                  <a:latin typeface="Tahoma" pitchFamily="34" charset="0"/>
                  <a:ea typeface="Tahoma" pitchFamily="34" charset="0"/>
                  <a:cs typeface="Tahoma" pitchFamily="34" charset="0"/>
                  <a:sym typeface="Symbol" pitchFamily="18" charset="2"/>
                </a:rPr>
                <a:t>1</a:t>
              </a:r>
              <a:r>
                <a:rPr lang="en-US" dirty="0">
                  <a:latin typeface="Tahoma" pitchFamily="34" charset="0"/>
                  <a:ea typeface="Tahoma" pitchFamily="34" charset="0"/>
                  <a:cs typeface="Tahoma" pitchFamily="34" charset="0"/>
                  <a:sym typeface="Symbol" pitchFamily="18" charset="2"/>
                </a:rPr>
                <a:t>=3;g</a:t>
              </a:r>
              <a:r>
                <a:rPr lang="en-US" baseline="-25000" dirty="0">
                  <a:latin typeface="Tahoma" pitchFamily="34" charset="0"/>
                  <a:ea typeface="Tahoma" pitchFamily="34" charset="0"/>
                  <a:cs typeface="Tahoma" pitchFamily="34" charset="0"/>
                  <a:sym typeface="Symbol" pitchFamily="18" charset="2"/>
                </a:rPr>
                <a:t>1</a:t>
              </a:r>
              <a:r>
                <a:rPr lang="en-US" dirty="0">
                  <a:latin typeface="Tahoma" pitchFamily="34" charset="0"/>
                  <a:ea typeface="Tahoma" pitchFamily="34" charset="0"/>
                  <a:cs typeface="Tahoma" pitchFamily="34" charset="0"/>
                  <a:sym typeface="Symbol" pitchFamily="18" charset="2"/>
                </a:rPr>
                <a:t>=15</a:t>
              </a:r>
            </a:p>
          </p:txBody>
        </p:sp>
        <p:sp>
          <p:nvSpPr>
            <p:cNvPr id="10" name="Line 19"/>
            <p:cNvSpPr>
              <a:spLocks noChangeShapeType="1"/>
            </p:cNvSpPr>
            <p:nvPr/>
          </p:nvSpPr>
          <p:spPr bwMode="auto">
            <a:xfrm flipH="1">
              <a:off x="2590800" y="1828800"/>
              <a:ext cx="1143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11" name="Line 20"/>
            <p:cNvSpPr>
              <a:spLocks noChangeShapeType="1"/>
            </p:cNvSpPr>
            <p:nvPr/>
          </p:nvSpPr>
          <p:spPr bwMode="auto">
            <a:xfrm>
              <a:off x="4876800" y="1828800"/>
              <a:ext cx="1371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12" name="Rectangle 21"/>
            <p:cNvSpPr>
              <a:spLocks noChangeArrowheads="1"/>
            </p:cNvSpPr>
            <p:nvPr/>
          </p:nvSpPr>
          <p:spPr bwMode="auto">
            <a:xfrm>
              <a:off x="685800" y="3352800"/>
              <a:ext cx="1295400" cy="685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r>
                <a:rPr lang="en-US">
                  <a:latin typeface="Tahoma" pitchFamily="34" charset="0"/>
                  <a:ea typeface="Tahoma" pitchFamily="34" charset="0"/>
                  <a:cs typeface="Tahoma" pitchFamily="34" charset="0"/>
                  <a:sym typeface="Symbol" pitchFamily="18" charset="2"/>
                </a:rPr>
                <a:t>(1,1);</a:t>
              </a:r>
              <a:r>
                <a:rPr lang="en-US" baseline="-25000">
                  <a:latin typeface="Tahoma" pitchFamily="34" charset="0"/>
                  <a:ea typeface="Tahoma" pitchFamily="34" charset="0"/>
                  <a:cs typeface="Tahoma" pitchFamily="34" charset="0"/>
                  <a:sym typeface="Symbol" pitchFamily="18" charset="2"/>
                </a:rPr>
                <a:t>2</a:t>
              </a:r>
              <a:r>
                <a:rPr lang="en-US">
                  <a:latin typeface="Tahoma" pitchFamily="34" charset="0"/>
                  <a:ea typeface="Tahoma" pitchFamily="34" charset="0"/>
                  <a:cs typeface="Tahoma" pitchFamily="34" charset="0"/>
                  <a:sym typeface="Symbol" pitchFamily="18" charset="2"/>
                </a:rPr>
                <a:t>=15; </a:t>
              </a:r>
            </a:p>
            <a:p>
              <a:pPr marL="342900" indent="-342900" algn="ctr"/>
              <a:r>
                <a:rPr lang="en-US">
                  <a:latin typeface="Tahoma" pitchFamily="34" charset="0"/>
                  <a:ea typeface="Tahoma" pitchFamily="34" charset="0"/>
                  <a:cs typeface="Tahoma" pitchFamily="34" charset="0"/>
                  <a:sym typeface="Symbol" pitchFamily="18" charset="2"/>
                </a:rPr>
                <a:t>b</a:t>
              </a:r>
              <a:r>
                <a:rPr lang="en-US" baseline="-25000">
                  <a:latin typeface="Tahoma" pitchFamily="34" charset="0"/>
                  <a:ea typeface="Tahoma" pitchFamily="34" charset="0"/>
                  <a:cs typeface="Tahoma" pitchFamily="34" charset="0"/>
                  <a:sym typeface="Symbol" pitchFamily="18" charset="2"/>
                </a:rPr>
                <a:t>2</a:t>
              </a:r>
              <a:r>
                <a:rPr lang="en-US">
                  <a:latin typeface="Tahoma" pitchFamily="34" charset="0"/>
                  <a:ea typeface="Tahoma" pitchFamily="34" charset="0"/>
                  <a:cs typeface="Tahoma" pitchFamily="34" charset="0"/>
                  <a:sym typeface="Symbol" pitchFamily="18" charset="2"/>
                </a:rPr>
                <a:t>=0;g</a:t>
              </a:r>
              <a:r>
                <a:rPr lang="en-US" baseline="-25000">
                  <a:latin typeface="Tahoma" pitchFamily="34" charset="0"/>
                  <a:ea typeface="Tahoma" pitchFamily="34" charset="0"/>
                  <a:cs typeface="Tahoma" pitchFamily="34" charset="0"/>
                  <a:sym typeface="Symbol" pitchFamily="18" charset="2"/>
                </a:rPr>
                <a:t>2</a:t>
              </a:r>
              <a:r>
                <a:rPr lang="en-US">
                  <a:latin typeface="Tahoma" pitchFamily="34" charset="0"/>
                  <a:ea typeface="Tahoma" pitchFamily="34" charset="0"/>
                  <a:cs typeface="Tahoma" pitchFamily="34" charset="0"/>
                  <a:sym typeface="Symbol" pitchFamily="18" charset="2"/>
                </a:rPr>
                <a:t>=15;</a:t>
              </a:r>
            </a:p>
          </p:txBody>
        </p:sp>
        <p:sp>
          <p:nvSpPr>
            <p:cNvPr id="13" name="Rectangle 22"/>
            <p:cNvSpPr>
              <a:spLocks noChangeArrowheads="1"/>
            </p:cNvSpPr>
            <p:nvPr/>
          </p:nvSpPr>
          <p:spPr bwMode="auto">
            <a:xfrm>
              <a:off x="5562600" y="2209800"/>
              <a:ext cx="1447800" cy="6397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r>
                <a:rPr lang="en-US">
                  <a:latin typeface="Tahoma" pitchFamily="34" charset="0"/>
                  <a:ea typeface="Tahoma" pitchFamily="34" charset="0"/>
                  <a:cs typeface="Tahoma" pitchFamily="34" charset="0"/>
                  <a:sym typeface="Symbol" pitchFamily="18" charset="2"/>
                </a:rPr>
                <a:t>(0);</a:t>
              </a:r>
              <a:r>
                <a:rPr lang="en-US" baseline="-25000">
                  <a:latin typeface="Tahoma" pitchFamily="34" charset="0"/>
                  <a:ea typeface="Tahoma" pitchFamily="34" charset="0"/>
                  <a:cs typeface="Tahoma" pitchFamily="34" charset="0"/>
                  <a:sym typeface="Symbol" pitchFamily="18" charset="2"/>
                </a:rPr>
                <a:t>1</a:t>
              </a:r>
              <a:r>
                <a:rPr lang="en-US">
                  <a:latin typeface="Tahoma" pitchFamily="34" charset="0"/>
                  <a:ea typeface="Tahoma" pitchFamily="34" charset="0"/>
                  <a:cs typeface="Tahoma" pitchFamily="34" charset="0"/>
                  <a:sym typeface="Symbol" pitchFamily="18" charset="2"/>
                </a:rPr>
                <a:t>=0; </a:t>
              </a:r>
            </a:p>
            <a:p>
              <a:pPr marL="342900" indent="-342900" algn="ctr"/>
              <a:r>
                <a:rPr lang="en-US">
                  <a:latin typeface="Tahoma" pitchFamily="34" charset="0"/>
                  <a:ea typeface="Tahoma" pitchFamily="34" charset="0"/>
                  <a:cs typeface="Tahoma" pitchFamily="34" charset="0"/>
                  <a:sym typeface="Symbol" pitchFamily="18" charset="2"/>
                </a:rPr>
                <a:t>b</a:t>
              </a:r>
              <a:r>
                <a:rPr lang="en-US" baseline="-25000">
                  <a:latin typeface="Tahoma" pitchFamily="34" charset="0"/>
                  <a:ea typeface="Tahoma" pitchFamily="34" charset="0"/>
                  <a:cs typeface="Tahoma" pitchFamily="34" charset="0"/>
                  <a:sym typeface="Symbol" pitchFamily="18" charset="2"/>
                </a:rPr>
                <a:t>1</a:t>
              </a:r>
              <a:r>
                <a:rPr lang="en-US">
                  <a:latin typeface="Tahoma" pitchFamily="34" charset="0"/>
                  <a:ea typeface="Tahoma" pitchFamily="34" charset="0"/>
                  <a:cs typeface="Tahoma" pitchFamily="34" charset="0"/>
                  <a:sym typeface="Symbol" pitchFamily="18" charset="2"/>
                </a:rPr>
                <a:t>=8;g</a:t>
              </a:r>
              <a:r>
                <a:rPr lang="en-US" baseline="-25000">
                  <a:latin typeface="Tahoma" pitchFamily="34" charset="0"/>
                  <a:ea typeface="Tahoma" pitchFamily="34" charset="0"/>
                  <a:cs typeface="Tahoma" pitchFamily="34" charset="0"/>
                  <a:sym typeface="Symbol" pitchFamily="18" charset="2"/>
                </a:rPr>
                <a:t>1</a:t>
              </a:r>
              <a:r>
                <a:rPr lang="en-US">
                  <a:latin typeface="Tahoma" pitchFamily="34" charset="0"/>
                  <a:ea typeface="Tahoma" pitchFamily="34" charset="0"/>
                  <a:cs typeface="Tahoma" pitchFamily="34" charset="0"/>
                  <a:sym typeface="Symbol" pitchFamily="18" charset="2"/>
                </a:rPr>
                <a:t>=40/3</a:t>
              </a:r>
            </a:p>
          </p:txBody>
        </p:sp>
        <p:sp>
          <p:nvSpPr>
            <p:cNvPr id="14" name="Rectangle 23"/>
            <p:cNvSpPr>
              <a:spLocks noChangeArrowheads="1"/>
            </p:cNvSpPr>
            <p:nvPr/>
          </p:nvSpPr>
          <p:spPr bwMode="auto">
            <a:xfrm>
              <a:off x="3657600" y="3276600"/>
              <a:ext cx="1600200" cy="609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r>
                <a:rPr lang="en-US" dirty="0">
                  <a:latin typeface="Tahoma" pitchFamily="34" charset="0"/>
                  <a:ea typeface="Tahoma" pitchFamily="34" charset="0"/>
                  <a:cs typeface="Tahoma" pitchFamily="34" charset="0"/>
                  <a:sym typeface="Symbol" pitchFamily="18" charset="2"/>
                </a:rPr>
                <a:t>(1,0);</a:t>
              </a:r>
              <a:r>
                <a:rPr lang="en-US" baseline="-25000" dirty="0">
                  <a:latin typeface="Tahoma" pitchFamily="34" charset="0"/>
                  <a:ea typeface="Tahoma" pitchFamily="34" charset="0"/>
                  <a:cs typeface="Tahoma" pitchFamily="34" charset="0"/>
                  <a:sym typeface="Symbol" pitchFamily="18" charset="2"/>
                </a:rPr>
                <a:t>2</a:t>
              </a:r>
              <a:r>
                <a:rPr lang="en-US" dirty="0">
                  <a:latin typeface="Tahoma" pitchFamily="34" charset="0"/>
                  <a:ea typeface="Tahoma" pitchFamily="34" charset="0"/>
                  <a:cs typeface="Tahoma" pitchFamily="34" charset="0"/>
                  <a:sym typeface="Symbol" pitchFamily="18" charset="2"/>
                </a:rPr>
                <a:t>=10; </a:t>
              </a:r>
            </a:p>
            <a:p>
              <a:pPr marL="342900" indent="-342900" algn="ctr"/>
              <a:r>
                <a:rPr lang="en-US" dirty="0">
                  <a:latin typeface="Tahoma" pitchFamily="34" charset="0"/>
                  <a:ea typeface="Tahoma" pitchFamily="34" charset="0"/>
                  <a:cs typeface="Tahoma" pitchFamily="34" charset="0"/>
                  <a:sym typeface="Symbol" pitchFamily="18" charset="2"/>
                </a:rPr>
                <a:t>b</a:t>
              </a:r>
              <a:r>
                <a:rPr lang="en-US" baseline="-25000" dirty="0">
                  <a:latin typeface="Tahoma" pitchFamily="34" charset="0"/>
                  <a:ea typeface="Tahoma" pitchFamily="34" charset="0"/>
                  <a:cs typeface="Tahoma" pitchFamily="34" charset="0"/>
                  <a:sym typeface="Symbol" pitchFamily="18" charset="2"/>
                </a:rPr>
                <a:t>2</a:t>
              </a:r>
              <a:r>
                <a:rPr lang="en-US" dirty="0">
                  <a:latin typeface="Tahoma" pitchFamily="34" charset="0"/>
                  <a:ea typeface="Tahoma" pitchFamily="34" charset="0"/>
                  <a:cs typeface="Tahoma" pitchFamily="34" charset="0"/>
                  <a:sym typeface="Symbol" pitchFamily="18" charset="2"/>
                </a:rPr>
                <a:t>=3;g</a:t>
              </a:r>
              <a:r>
                <a:rPr lang="en-US" baseline="-25000" dirty="0">
                  <a:latin typeface="Tahoma" pitchFamily="34" charset="0"/>
                  <a:ea typeface="Tahoma" pitchFamily="34" charset="0"/>
                  <a:cs typeface="Tahoma" pitchFamily="34" charset="0"/>
                  <a:sym typeface="Symbol" pitchFamily="18" charset="2"/>
                </a:rPr>
                <a:t>2</a:t>
              </a:r>
              <a:r>
                <a:rPr lang="en-US" dirty="0">
                  <a:latin typeface="Tahoma" pitchFamily="34" charset="0"/>
                  <a:ea typeface="Tahoma" pitchFamily="34" charset="0"/>
                  <a:cs typeface="Tahoma" pitchFamily="34" charset="0"/>
                  <a:sym typeface="Symbol" pitchFamily="18" charset="2"/>
                </a:rPr>
                <a:t>=14.5;</a:t>
              </a:r>
            </a:p>
          </p:txBody>
        </p:sp>
        <p:sp>
          <p:nvSpPr>
            <p:cNvPr id="15" name="Line 24"/>
            <p:cNvSpPr>
              <a:spLocks noChangeShapeType="1"/>
            </p:cNvSpPr>
            <p:nvPr/>
          </p:nvSpPr>
          <p:spPr bwMode="auto">
            <a:xfrm flipH="1">
              <a:off x="1295400" y="2971800"/>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16" name="Line 25"/>
            <p:cNvSpPr>
              <a:spLocks noChangeShapeType="1"/>
            </p:cNvSpPr>
            <p:nvPr/>
          </p:nvSpPr>
          <p:spPr bwMode="auto">
            <a:xfrm>
              <a:off x="3276600" y="2971800"/>
              <a:ext cx="1219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17" name="Rectangle 26"/>
            <p:cNvSpPr>
              <a:spLocks noChangeArrowheads="1"/>
            </p:cNvSpPr>
            <p:nvPr/>
          </p:nvSpPr>
          <p:spPr bwMode="auto">
            <a:xfrm>
              <a:off x="685800" y="4495800"/>
              <a:ext cx="1524000" cy="762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r>
                <a:rPr lang="en-US">
                  <a:latin typeface="Tahoma" pitchFamily="34" charset="0"/>
                  <a:ea typeface="Tahoma" pitchFamily="34" charset="0"/>
                  <a:cs typeface="Tahoma" pitchFamily="34" charset="0"/>
                  <a:sym typeface="Symbol" pitchFamily="18" charset="2"/>
                </a:rPr>
                <a:t>(1,1,0);</a:t>
              </a:r>
              <a:r>
                <a:rPr lang="en-US" baseline="-25000">
                  <a:latin typeface="Tahoma" pitchFamily="34" charset="0"/>
                  <a:ea typeface="Tahoma" pitchFamily="34" charset="0"/>
                  <a:cs typeface="Tahoma" pitchFamily="34" charset="0"/>
                  <a:sym typeface="Symbol" pitchFamily="18" charset="2"/>
                </a:rPr>
                <a:t>3</a:t>
              </a:r>
              <a:r>
                <a:rPr lang="en-US">
                  <a:latin typeface="Tahoma" pitchFamily="34" charset="0"/>
                  <a:ea typeface="Tahoma" pitchFamily="34" charset="0"/>
                  <a:cs typeface="Tahoma" pitchFamily="34" charset="0"/>
                  <a:sym typeface="Symbol" pitchFamily="18" charset="2"/>
                </a:rPr>
                <a:t>=15; </a:t>
              </a:r>
            </a:p>
            <a:p>
              <a:pPr marL="342900" indent="-342900" algn="ctr"/>
              <a:r>
                <a:rPr lang="en-US">
                  <a:latin typeface="Tahoma" pitchFamily="34" charset="0"/>
                  <a:ea typeface="Tahoma" pitchFamily="34" charset="0"/>
                  <a:cs typeface="Tahoma" pitchFamily="34" charset="0"/>
                  <a:sym typeface="Symbol" pitchFamily="18" charset="2"/>
                </a:rPr>
                <a:t>b</a:t>
              </a:r>
              <a:r>
                <a:rPr lang="en-US" baseline="-25000">
                  <a:latin typeface="Tahoma" pitchFamily="34" charset="0"/>
                  <a:ea typeface="Tahoma" pitchFamily="34" charset="0"/>
                  <a:cs typeface="Tahoma" pitchFamily="34" charset="0"/>
                  <a:sym typeface="Symbol" pitchFamily="18" charset="2"/>
                </a:rPr>
                <a:t>3</a:t>
              </a:r>
              <a:r>
                <a:rPr lang="en-US">
                  <a:latin typeface="Tahoma" pitchFamily="34" charset="0"/>
                  <a:ea typeface="Tahoma" pitchFamily="34" charset="0"/>
                  <a:cs typeface="Tahoma" pitchFamily="34" charset="0"/>
                  <a:sym typeface="Symbol" pitchFamily="18" charset="2"/>
                </a:rPr>
                <a:t>=0;g</a:t>
              </a:r>
              <a:r>
                <a:rPr lang="en-US" baseline="-25000">
                  <a:latin typeface="Tahoma" pitchFamily="34" charset="0"/>
                  <a:ea typeface="Tahoma" pitchFamily="34" charset="0"/>
                  <a:cs typeface="Tahoma" pitchFamily="34" charset="0"/>
                  <a:sym typeface="Symbol" pitchFamily="18" charset="2"/>
                </a:rPr>
                <a:t>3</a:t>
              </a:r>
              <a:r>
                <a:rPr lang="en-US">
                  <a:latin typeface="Tahoma" pitchFamily="34" charset="0"/>
                  <a:ea typeface="Tahoma" pitchFamily="34" charset="0"/>
                  <a:cs typeface="Tahoma" pitchFamily="34" charset="0"/>
                  <a:sym typeface="Symbol" pitchFamily="18" charset="2"/>
                </a:rPr>
                <a:t>=15;</a:t>
              </a:r>
            </a:p>
          </p:txBody>
        </p:sp>
        <p:sp>
          <p:nvSpPr>
            <p:cNvPr id="18" name="Rectangle 27"/>
            <p:cNvSpPr>
              <a:spLocks noChangeArrowheads="1"/>
            </p:cNvSpPr>
            <p:nvPr/>
          </p:nvSpPr>
          <p:spPr bwMode="auto">
            <a:xfrm>
              <a:off x="685800" y="5638800"/>
              <a:ext cx="1752600" cy="685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r>
                <a:rPr lang="en-US" dirty="0">
                  <a:latin typeface="Tahoma" pitchFamily="34" charset="0"/>
                  <a:ea typeface="Tahoma" pitchFamily="34" charset="0"/>
                  <a:cs typeface="Tahoma" pitchFamily="34" charset="0"/>
                  <a:sym typeface="Symbol" pitchFamily="18" charset="2"/>
                </a:rPr>
                <a:t>(1,1,0,0);</a:t>
              </a:r>
              <a:r>
                <a:rPr lang="en-US" baseline="-25000" dirty="0">
                  <a:latin typeface="Tahoma" pitchFamily="34" charset="0"/>
                  <a:ea typeface="Tahoma" pitchFamily="34" charset="0"/>
                  <a:cs typeface="Tahoma" pitchFamily="34" charset="0"/>
                  <a:sym typeface="Symbol" pitchFamily="18" charset="2"/>
                </a:rPr>
                <a:t>4</a:t>
              </a:r>
              <a:r>
                <a:rPr lang="en-US" dirty="0">
                  <a:latin typeface="Tahoma" pitchFamily="34" charset="0"/>
                  <a:ea typeface="Tahoma" pitchFamily="34" charset="0"/>
                  <a:cs typeface="Tahoma" pitchFamily="34" charset="0"/>
                  <a:sym typeface="Symbol" pitchFamily="18" charset="2"/>
                </a:rPr>
                <a:t>=15; </a:t>
              </a:r>
            </a:p>
            <a:p>
              <a:pPr marL="342900" indent="-342900" algn="ctr"/>
              <a:r>
                <a:rPr lang="en-US" dirty="0">
                  <a:latin typeface="Tahoma" pitchFamily="34" charset="0"/>
                  <a:ea typeface="Tahoma" pitchFamily="34" charset="0"/>
                  <a:cs typeface="Tahoma" pitchFamily="34" charset="0"/>
                  <a:sym typeface="Symbol" pitchFamily="18" charset="2"/>
                </a:rPr>
                <a:t>b</a:t>
              </a:r>
              <a:r>
                <a:rPr lang="en-US" baseline="-25000" dirty="0">
                  <a:latin typeface="Tahoma" pitchFamily="34" charset="0"/>
                  <a:ea typeface="Tahoma" pitchFamily="34" charset="0"/>
                  <a:cs typeface="Tahoma" pitchFamily="34" charset="0"/>
                  <a:sym typeface="Symbol" pitchFamily="18" charset="2"/>
                </a:rPr>
                <a:t>4</a:t>
              </a:r>
              <a:r>
                <a:rPr lang="en-US" dirty="0">
                  <a:latin typeface="Tahoma" pitchFamily="34" charset="0"/>
                  <a:ea typeface="Tahoma" pitchFamily="34" charset="0"/>
                  <a:cs typeface="Tahoma" pitchFamily="34" charset="0"/>
                  <a:sym typeface="Symbol" pitchFamily="18" charset="2"/>
                </a:rPr>
                <a:t>=0;f*=15;</a:t>
              </a:r>
            </a:p>
          </p:txBody>
        </p:sp>
        <p:sp>
          <p:nvSpPr>
            <p:cNvPr id="19" name="Line 28"/>
            <p:cNvSpPr>
              <a:spLocks noChangeShapeType="1"/>
            </p:cNvSpPr>
            <p:nvPr/>
          </p:nvSpPr>
          <p:spPr bwMode="auto">
            <a:xfrm>
              <a:off x="1219200" y="40386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20" name="Line 29"/>
            <p:cNvSpPr>
              <a:spLocks noChangeShapeType="1"/>
            </p:cNvSpPr>
            <p:nvPr/>
          </p:nvSpPr>
          <p:spPr bwMode="auto">
            <a:xfrm>
              <a:off x="1295400" y="52578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21" name="Text Box 32"/>
            <p:cNvSpPr txBox="1">
              <a:spLocks noChangeArrowheads="1"/>
            </p:cNvSpPr>
            <p:nvPr/>
          </p:nvSpPr>
          <p:spPr bwMode="auto">
            <a:xfrm>
              <a:off x="1371600" y="2849563"/>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200" i="1">
                  <a:latin typeface="Tahoma" pitchFamily="34" charset="0"/>
                  <a:ea typeface="Tahoma" pitchFamily="34" charset="0"/>
                  <a:cs typeface="Tahoma" pitchFamily="34" charset="0"/>
                </a:rPr>
                <a:t>X</a:t>
              </a:r>
              <a:r>
                <a:rPr lang="en-US" sz="1200" baseline="-25000">
                  <a:latin typeface="Tahoma" pitchFamily="34" charset="0"/>
                  <a:ea typeface="Tahoma" pitchFamily="34" charset="0"/>
                  <a:cs typeface="Tahoma" pitchFamily="34" charset="0"/>
                </a:rPr>
                <a:t>2</a:t>
              </a:r>
              <a:r>
                <a:rPr lang="en-US" sz="1200">
                  <a:latin typeface="Tahoma" pitchFamily="34" charset="0"/>
                  <a:ea typeface="Tahoma" pitchFamily="34" charset="0"/>
                  <a:cs typeface="Tahoma" pitchFamily="34" charset="0"/>
                </a:rPr>
                <a:t>=1</a:t>
              </a:r>
            </a:p>
          </p:txBody>
        </p:sp>
        <p:sp>
          <p:nvSpPr>
            <p:cNvPr id="22" name="Text Box 33"/>
            <p:cNvSpPr txBox="1">
              <a:spLocks noChangeArrowheads="1"/>
            </p:cNvSpPr>
            <p:nvPr/>
          </p:nvSpPr>
          <p:spPr bwMode="auto">
            <a:xfrm>
              <a:off x="3505200" y="281940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200" i="1">
                  <a:latin typeface="Tahoma" pitchFamily="34" charset="0"/>
                  <a:ea typeface="Tahoma" pitchFamily="34" charset="0"/>
                  <a:cs typeface="Tahoma" pitchFamily="34" charset="0"/>
                </a:rPr>
                <a:t>X</a:t>
              </a:r>
              <a:r>
                <a:rPr lang="en-US" sz="1200" baseline="-25000">
                  <a:latin typeface="Tahoma" pitchFamily="34" charset="0"/>
                  <a:ea typeface="Tahoma" pitchFamily="34" charset="0"/>
                  <a:cs typeface="Tahoma" pitchFamily="34" charset="0"/>
                </a:rPr>
                <a:t>2</a:t>
              </a:r>
              <a:r>
                <a:rPr lang="en-US" sz="1200">
                  <a:latin typeface="Tahoma" pitchFamily="34" charset="0"/>
                  <a:ea typeface="Tahoma" pitchFamily="34" charset="0"/>
                  <a:cs typeface="Tahoma" pitchFamily="34" charset="0"/>
                </a:rPr>
                <a:t>=0</a:t>
              </a:r>
            </a:p>
          </p:txBody>
        </p:sp>
        <p:sp>
          <p:nvSpPr>
            <p:cNvPr id="23" name="Text Box 34"/>
            <p:cNvSpPr txBox="1">
              <a:spLocks noChangeArrowheads="1"/>
            </p:cNvSpPr>
            <p:nvPr/>
          </p:nvSpPr>
          <p:spPr bwMode="auto">
            <a:xfrm>
              <a:off x="1295400" y="4068763"/>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200" i="1">
                  <a:latin typeface="Tahoma" pitchFamily="34" charset="0"/>
                  <a:ea typeface="Tahoma" pitchFamily="34" charset="0"/>
                  <a:cs typeface="Tahoma" pitchFamily="34" charset="0"/>
                </a:rPr>
                <a:t>X</a:t>
              </a:r>
              <a:r>
                <a:rPr lang="en-US" sz="1200" baseline="-25000">
                  <a:latin typeface="Tahoma" pitchFamily="34" charset="0"/>
                  <a:ea typeface="Tahoma" pitchFamily="34" charset="0"/>
                  <a:cs typeface="Tahoma" pitchFamily="34" charset="0"/>
                </a:rPr>
                <a:t>3</a:t>
              </a:r>
              <a:r>
                <a:rPr lang="en-US" sz="1200">
                  <a:latin typeface="Tahoma" pitchFamily="34" charset="0"/>
                  <a:ea typeface="Tahoma" pitchFamily="34" charset="0"/>
                  <a:cs typeface="Tahoma" pitchFamily="34" charset="0"/>
                </a:rPr>
                <a:t>=0</a:t>
              </a:r>
            </a:p>
          </p:txBody>
        </p:sp>
        <p:sp>
          <p:nvSpPr>
            <p:cNvPr id="24" name="Text Box 35"/>
            <p:cNvSpPr txBox="1">
              <a:spLocks noChangeArrowheads="1"/>
            </p:cNvSpPr>
            <p:nvPr/>
          </p:nvSpPr>
          <p:spPr bwMode="auto">
            <a:xfrm>
              <a:off x="1524000" y="533400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200" i="1" dirty="0">
                  <a:latin typeface="Tahoma" pitchFamily="34" charset="0"/>
                  <a:ea typeface="Tahoma" pitchFamily="34" charset="0"/>
                  <a:cs typeface="Tahoma" pitchFamily="34" charset="0"/>
                </a:rPr>
                <a:t>X</a:t>
              </a:r>
              <a:r>
                <a:rPr lang="en-US" sz="1200" baseline="-25000" dirty="0">
                  <a:latin typeface="Tahoma" pitchFamily="34" charset="0"/>
                  <a:ea typeface="Tahoma" pitchFamily="34" charset="0"/>
                  <a:cs typeface="Tahoma" pitchFamily="34" charset="0"/>
                </a:rPr>
                <a:t>4</a:t>
              </a:r>
              <a:r>
                <a:rPr lang="en-US" sz="1200" dirty="0">
                  <a:latin typeface="Tahoma" pitchFamily="34" charset="0"/>
                  <a:ea typeface="Tahoma" pitchFamily="34" charset="0"/>
                  <a:cs typeface="Tahoma" pitchFamily="34" charset="0"/>
                </a:rPr>
                <a:t>=0</a:t>
              </a:r>
            </a:p>
          </p:txBody>
        </p:sp>
        <p:sp>
          <p:nvSpPr>
            <p:cNvPr id="27" name="Text Box 38"/>
            <p:cNvSpPr txBox="1">
              <a:spLocks noChangeArrowheads="1"/>
            </p:cNvSpPr>
            <p:nvPr/>
          </p:nvSpPr>
          <p:spPr bwMode="auto">
            <a:xfrm>
              <a:off x="6248400" y="4358640"/>
              <a:ext cx="1524000" cy="376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atin typeface="Tahoma" pitchFamily="34" charset="0"/>
                  <a:ea typeface="Tahoma" pitchFamily="34" charset="0"/>
                  <a:cs typeface="Tahoma" pitchFamily="34" charset="0"/>
                </a:rPr>
                <a:t>Loại vì g&lt;15</a:t>
              </a:r>
            </a:p>
          </p:txBody>
        </p:sp>
        <p:sp>
          <p:nvSpPr>
            <p:cNvPr id="28" name="Line 39"/>
            <p:cNvSpPr>
              <a:spLocks noChangeShapeType="1"/>
            </p:cNvSpPr>
            <p:nvPr/>
          </p:nvSpPr>
          <p:spPr bwMode="auto">
            <a:xfrm flipH="1" flipV="1">
              <a:off x="6286500" y="2849563"/>
              <a:ext cx="495300" cy="14938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sp>
          <p:nvSpPr>
            <p:cNvPr id="29" name="Line 40"/>
            <p:cNvSpPr>
              <a:spLocks noChangeShapeType="1"/>
            </p:cNvSpPr>
            <p:nvPr/>
          </p:nvSpPr>
          <p:spPr bwMode="auto">
            <a:xfrm flipH="1" flipV="1">
              <a:off x="5257800" y="3886200"/>
              <a:ext cx="1524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Tahoma" pitchFamily="34" charset="0"/>
                <a:ea typeface="Tahoma" pitchFamily="34" charset="0"/>
                <a:cs typeface="Tahoma" pitchFamily="34" charset="0"/>
              </a:endParaRPr>
            </a:p>
          </p:txBody>
        </p:sp>
      </p:grpSp>
    </p:spTree>
    <p:extLst>
      <p:ext uri="{BB962C8B-B14F-4D97-AF65-F5344CB8AC3E}">
        <p14:creationId xmlns:p14="http://schemas.microsoft.com/office/powerpoint/2010/main" val="711819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marL="0" indent="0">
                  <a:buNone/>
                </a:pPr>
                <a:r>
                  <a:rPr lang="en-US" dirty="0"/>
                  <a:t>Apply branch-and-bound algorithm to solve </a:t>
                </a:r>
                <a:r>
                  <a:rPr lang="en-US"/>
                  <a:t>the Knapsack/ Bag </a:t>
                </a:r>
                <a:r>
                  <a:rPr lang="en-US" dirty="0"/>
                  <a:t>problem, specify the result for each step:</a:t>
                </a:r>
              </a:p>
              <a:p>
                <a:pPr marL="0" indent="0">
                  <a:buNone/>
                </a:pPr>
                <a:r>
                  <a:rPr lang="en-US" dirty="0"/>
                  <a:t>	</a:t>
                </a:r>
                <a14:m>
                  <m:oMath xmlns:m="http://schemas.openxmlformats.org/officeDocument/2006/math">
                    <m:r>
                      <a:rPr lang="en-US" i="1" smtClean="0">
                        <a:latin typeface="Cambria Math"/>
                      </a:rPr>
                      <m:t>𝑓</m:t>
                    </m:r>
                    <m:d>
                      <m:dPr>
                        <m:ctrlPr>
                          <a:rPr lang="en-US" i="1">
                            <a:latin typeface="Cambria Math" panose="02040503050406030204" pitchFamily="18" charset="0"/>
                          </a:rPr>
                        </m:ctrlPr>
                      </m:dPr>
                      <m:e>
                        <m:r>
                          <a:rPr lang="en-US" i="1">
                            <a:latin typeface="Cambria Math"/>
                          </a:rPr>
                          <m:t>𝑋</m:t>
                        </m:r>
                      </m:e>
                    </m:d>
                    <m:r>
                      <a:rPr lang="en-US" i="1">
                        <a:latin typeface="Cambria Math"/>
                      </a:rPr>
                      <m:t>=7</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+4</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3</m:t>
                        </m:r>
                      </m:sub>
                    </m:sSub>
                    <m:r>
                      <a:rPr lang="en-US" i="1">
                        <a:latin typeface="Cambria Math"/>
                      </a:rPr>
                      <m:t>→</m:t>
                    </m:r>
                    <m:r>
                      <a:rPr lang="en-US" i="1">
                        <a:latin typeface="Cambria Math"/>
                      </a:rPr>
                      <m:t>𝑚𝑎𝑥</m:t>
                    </m:r>
                  </m:oMath>
                </a14:m>
                <a:endParaRPr lang="en-US" i="1" dirty="0"/>
              </a:p>
              <a:p>
                <a:pPr marL="0" indent="0">
                  <a:buNone/>
                </a:pPr>
                <a14:m>
                  <m:oMathPara xmlns:m="http://schemas.openxmlformats.org/officeDocument/2006/math">
                    <m:oMathParaPr>
                      <m:jc m:val="left"/>
                    </m:oMathParaPr>
                    <m:oMath xmlns:m="http://schemas.openxmlformats.org/officeDocument/2006/math">
                      <m:r>
                        <a:rPr lang="en-US" b="0" i="1" smtClean="0">
                          <a:latin typeface="Cambria Math"/>
                        </a:rPr>
                        <m:t>              </m:t>
                      </m:r>
                      <m:r>
                        <a:rPr lang="en-US" i="1">
                          <a:latin typeface="Cambria Math"/>
                        </a:rPr>
                        <m:t>4</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+3</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2</m:t>
                          </m:r>
                          <m:r>
                            <a:rPr lang="en-US" i="1">
                              <a:latin typeface="Cambria Math"/>
                            </a:rPr>
                            <m:t>𝑥</m:t>
                          </m:r>
                        </m:e>
                        <m:sub>
                          <m:r>
                            <a:rPr lang="en-US" i="1">
                              <a:latin typeface="Cambria Math"/>
                            </a:rPr>
                            <m:t>3</m:t>
                          </m:r>
                        </m:sub>
                      </m:sSub>
                      <m:r>
                        <a:rPr lang="en-US" i="1">
                          <a:latin typeface="Cambria Math"/>
                        </a:rPr>
                        <m:t>≤</m:t>
                      </m:r>
                      <m:r>
                        <a:rPr lang="en-US" b="0" i="1" smtClean="0">
                          <a:latin typeface="Cambria Math"/>
                        </a:rPr>
                        <m:t>6</m:t>
                      </m:r>
                    </m:oMath>
                  </m:oMathPara>
                </a14:m>
                <a:endParaRPr lang="en-US" b="0" i="1" dirty="0">
                  <a:latin typeface="Cambria Math"/>
                </a:endParaRPr>
              </a:p>
              <a:p>
                <a:pPr marL="0" indent="0">
                  <a:buNone/>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a:rPr>
                            <m:t>               </m:t>
                          </m:r>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i="1">
                          <a:latin typeface="Cambria Math"/>
                        </a:rPr>
                        <m:t>∈</m:t>
                      </m:r>
                      <m:r>
                        <a:rPr lang="en-US" b="0" i="1" smtClean="0">
                          <a:latin typeface="Cambria Math"/>
                        </a:rPr>
                        <m:t>{0,1}</m:t>
                      </m:r>
                      <m:r>
                        <a:rPr lang="en-US" i="1">
                          <a:latin typeface="Cambria Math"/>
                        </a:rPr>
                        <m:t>.</m:t>
                      </m:r>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n-US">
                    <a:noFill/>
                  </a:rPr>
                  <a:t> </a:t>
                </a:r>
              </a:p>
            </p:txBody>
          </p:sp>
        </mc:Fallback>
      </mc:AlternateContent>
    </p:spTree>
    <p:extLst>
      <p:ext uri="{BB962C8B-B14F-4D97-AF65-F5344CB8AC3E}">
        <p14:creationId xmlns:p14="http://schemas.microsoft.com/office/powerpoint/2010/main" val="28989924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marL="0" indent="0">
                  <a:buNone/>
                </a:pPr>
                <a:r>
                  <a:rPr lang="en-US" dirty="0"/>
                  <a:t>Apply branch-and-bound algorithm to solve the Tourist problem, specify the result for each step:</a:t>
                </a:r>
              </a:p>
              <a:p>
                <a:pPr marL="0" indent="0">
                  <a:buNone/>
                </a:pPr>
                <a:r>
                  <a:rPr lang="en-US" b="0" dirty="0"/>
                  <a:t>                      </a:t>
                </a:r>
                <a14:m>
                  <m:oMath xmlns:m="http://schemas.openxmlformats.org/officeDocument/2006/math">
                    <m:r>
                      <a:rPr lang="en-US" b="0" i="1" dirty="0" smtClean="0">
                        <a:latin typeface="Cambria Math"/>
                      </a:rPr>
                      <m:t>𝑓</m:t>
                    </m:r>
                    <m:d>
                      <m:dPr>
                        <m:ctrlPr>
                          <a:rPr lang="en-US" b="0" i="1" dirty="0" smtClean="0">
                            <a:latin typeface="Cambria Math" panose="02040503050406030204" pitchFamily="18" charset="0"/>
                          </a:rPr>
                        </m:ctrlPr>
                      </m:dPr>
                      <m:e>
                        <m:r>
                          <a:rPr lang="en-US" b="0" i="1" dirty="0" smtClean="0">
                            <a:latin typeface="Cambria Math"/>
                          </a:rPr>
                          <m:t>𝑋</m:t>
                        </m:r>
                      </m:e>
                    </m:d>
                    <m:r>
                      <a:rPr lang="en-US" b="0" i="1" dirty="0" smtClean="0">
                        <a:latin typeface="Cambria Math"/>
                      </a:rPr>
                      <m:t>=</m:t>
                    </m:r>
                    <m:r>
                      <a:rPr lang="en-US" i="1" dirty="0" smtClean="0">
                        <a:latin typeface="Cambria Math"/>
                      </a:rPr>
                      <m:t>5</m:t>
                    </m:r>
                    <m:r>
                      <a:rPr lang="en-US" i="1" dirty="0" smtClean="0">
                        <a:latin typeface="Cambria Math"/>
                      </a:rPr>
                      <m:t>𝑥</m:t>
                    </m:r>
                    <m:r>
                      <a:rPr lang="en-US" i="1" baseline="-25000" dirty="0">
                        <a:latin typeface="Cambria Math"/>
                      </a:rPr>
                      <m:t>1</m:t>
                    </m:r>
                    <m:r>
                      <a:rPr lang="en-US" i="1" dirty="0">
                        <a:latin typeface="Cambria Math"/>
                      </a:rPr>
                      <m:t> +</m:t>
                    </m:r>
                    <m:r>
                      <a:rPr lang="en-US" i="1" dirty="0">
                        <a:latin typeface="Cambria Math"/>
                      </a:rPr>
                      <m:t>𝑥</m:t>
                    </m:r>
                    <m:r>
                      <a:rPr lang="en-US" i="1" baseline="-25000" dirty="0">
                        <a:latin typeface="Cambria Math"/>
                      </a:rPr>
                      <m:t>2</m:t>
                    </m:r>
                    <m:r>
                      <a:rPr lang="en-US" i="1" dirty="0">
                        <a:latin typeface="Cambria Math"/>
                      </a:rPr>
                      <m:t> +8</m:t>
                    </m:r>
                    <m:r>
                      <a:rPr lang="en-US" i="1" dirty="0">
                        <a:latin typeface="Cambria Math"/>
                      </a:rPr>
                      <m:t>𝑥</m:t>
                    </m:r>
                    <m:r>
                      <a:rPr lang="en-US" i="1" baseline="-25000" dirty="0">
                        <a:latin typeface="Cambria Math"/>
                      </a:rPr>
                      <m:t>3</m:t>
                    </m:r>
                    <m:r>
                      <a:rPr lang="en-US" i="1" dirty="0">
                        <a:latin typeface="Cambria Math"/>
                      </a:rPr>
                      <m:t> +</m:t>
                    </m:r>
                    <m:r>
                      <a:rPr lang="en-US" i="1" dirty="0">
                        <a:latin typeface="Cambria Math"/>
                      </a:rPr>
                      <m:t>𝑥</m:t>
                    </m:r>
                    <m:r>
                      <a:rPr lang="en-US" i="1" baseline="-25000" dirty="0">
                        <a:latin typeface="Cambria Math"/>
                      </a:rPr>
                      <m:t>4</m:t>
                    </m:r>
                    <m:r>
                      <a:rPr lang="en-US" i="1" dirty="0">
                        <a:latin typeface="Cambria Math"/>
                      </a:rPr>
                      <m:t> → </m:t>
                    </m:r>
                    <m:r>
                      <m:rPr>
                        <m:sty m:val="p"/>
                      </m:rPr>
                      <a:rPr lang="en-US" i="1" dirty="0">
                        <a:latin typeface="Cambria Math"/>
                      </a:rPr>
                      <m:t>max</m:t>
                    </m:r>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a:rPr>
                        <m:t>4</m:t>
                      </m:r>
                      <m:r>
                        <a:rPr lang="en-US" i="1" dirty="0" smtClean="0">
                          <a:latin typeface="Cambria Math"/>
                        </a:rPr>
                        <m:t>𝑥</m:t>
                      </m:r>
                      <m:r>
                        <a:rPr lang="en-US" i="1" baseline="-25000" dirty="0">
                          <a:latin typeface="Cambria Math"/>
                        </a:rPr>
                        <m:t>1</m:t>
                      </m:r>
                      <m:r>
                        <a:rPr lang="en-US" i="1" dirty="0">
                          <a:latin typeface="Cambria Math"/>
                        </a:rPr>
                        <m:t> + 2</m:t>
                      </m:r>
                      <m:r>
                        <a:rPr lang="en-US" i="1" dirty="0">
                          <a:latin typeface="Cambria Math"/>
                        </a:rPr>
                        <m:t>𝑥</m:t>
                      </m:r>
                      <m:r>
                        <a:rPr lang="en-US" i="1" baseline="-25000" dirty="0">
                          <a:latin typeface="Cambria Math"/>
                        </a:rPr>
                        <m:t>2</m:t>
                      </m:r>
                      <m:r>
                        <a:rPr lang="en-US" i="1" dirty="0">
                          <a:latin typeface="Cambria Math"/>
                        </a:rPr>
                        <m:t> + 7</m:t>
                      </m:r>
                      <m:r>
                        <a:rPr lang="en-US" i="1" dirty="0">
                          <a:latin typeface="Cambria Math"/>
                        </a:rPr>
                        <m:t>𝑥</m:t>
                      </m:r>
                      <m:r>
                        <a:rPr lang="en-US" i="1" baseline="-25000" dirty="0">
                          <a:latin typeface="Cambria Math"/>
                        </a:rPr>
                        <m:t>3</m:t>
                      </m:r>
                      <m:r>
                        <a:rPr lang="en-US" i="1" dirty="0">
                          <a:latin typeface="Cambria Math"/>
                        </a:rPr>
                        <m:t> + </m:t>
                      </m:r>
                      <m:r>
                        <a:rPr lang="en-US" i="1" dirty="0">
                          <a:latin typeface="Cambria Math"/>
                        </a:rPr>
                        <m:t>𝑥</m:t>
                      </m:r>
                      <m:r>
                        <a:rPr lang="en-US" i="1" baseline="-25000" dirty="0">
                          <a:latin typeface="Cambria Math"/>
                        </a:rPr>
                        <m:t>4</m:t>
                      </m:r>
                      <m:r>
                        <a:rPr lang="en-US" i="1" dirty="0">
                          <a:latin typeface="Cambria Math"/>
                        </a:rPr>
                        <m:t> ≤ 9,</m:t>
                      </m:r>
                    </m:oMath>
                  </m:oMathPara>
                </a14:m>
                <a:endParaRPr lang="en-US" i="1" dirty="0">
                  <a:latin typeface="Cambria Math"/>
                </a:endParaRP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r>
                      <a:rPr lang="en-US" b="0" i="1" smtClean="0">
                        <a:latin typeface="Cambria Math"/>
                      </a:rPr>
                      <m:t>,</m:t>
                    </m:r>
                    <m:r>
                      <a:rPr lang="en-US" i="1" dirty="0">
                        <a:latin typeface="Cambria Math"/>
                      </a:rPr>
                      <m:t>𝑥</m:t>
                    </m:r>
                    <m:r>
                      <a:rPr lang="en-US" i="1" baseline="-25000" dirty="0">
                        <a:latin typeface="Cambria Math"/>
                      </a:rPr>
                      <m:t>4</m:t>
                    </m:r>
                    <m:r>
                      <a:rPr lang="en-US" i="1" smtClean="0">
                        <a:latin typeface="Cambria Math"/>
                      </a:rPr>
                      <m:t>∈</m:t>
                    </m:r>
                    <m:r>
                      <a:rPr lang="en-US" i="1">
                        <a:latin typeface="Cambria Math"/>
                      </a:rPr>
                      <m:t>{0,1}.</m:t>
                    </m:r>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n-US">
                    <a:noFill/>
                  </a:rPr>
                  <a:t> </a:t>
                </a:r>
              </a:p>
            </p:txBody>
          </p:sp>
        </mc:Fallback>
      </mc:AlternateContent>
    </p:spTree>
    <p:extLst>
      <p:ext uri="{BB962C8B-B14F-4D97-AF65-F5344CB8AC3E}">
        <p14:creationId xmlns:p14="http://schemas.microsoft.com/office/powerpoint/2010/main" val="1827599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83515"/>
            <a:ext cx="8229600" cy="990600"/>
          </a:xfrm>
        </p:spPr>
        <p:txBody>
          <a:bodyPr>
            <a:normAutofit/>
          </a:bodyPr>
          <a:lstStyle/>
          <a:p>
            <a:r>
              <a:rPr lang="en-US" sz="2800" dirty="0"/>
              <a:t>Solve the tourist problem by branch-and-bound algorithm (1/4)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37150"/>
              </a:xfrm>
            </p:spPr>
            <p:txBody>
              <a:bodyPr/>
              <a:lstStyle/>
              <a:p>
                <a:pPr algn="just">
                  <a:spcBef>
                    <a:spcPct val="50000"/>
                  </a:spcBef>
                </a:pPr>
                <a:r>
                  <a:rPr lang="en-US" dirty="0"/>
                  <a:t>The tourist problem can be generalized as follows: Find the minimum value of the target function </a:t>
                </a:r>
                <a14:m>
                  <m:oMath xmlns:m="http://schemas.openxmlformats.org/officeDocument/2006/math">
                    <m:r>
                      <a:rPr lang="en-US" i="1" dirty="0" smtClean="0">
                        <a:latin typeface="Cambria Math"/>
                      </a:rPr>
                      <m:t>𝑓</m:t>
                    </m:r>
                    <m:r>
                      <a:rPr lang="en-US" i="1" dirty="0" smtClean="0">
                        <a:latin typeface="Cambria Math"/>
                      </a:rPr>
                      <m:t>(</m:t>
                    </m:r>
                    <m:r>
                      <a:rPr lang="en-US" i="1" dirty="0" smtClean="0">
                        <a:latin typeface="Cambria Math"/>
                      </a:rPr>
                      <m:t>𝑋</m:t>
                    </m:r>
                    <m:r>
                      <a:rPr lang="en-US" i="1" dirty="0" smtClean="0">
                        <a:latin typeface="Cambria Math"/>
                      </a:rPr>
                      <m:t>)</m:t>
                    </m:r>
                  </m:oMath>
                </a14:m>
                <a:r>
                  <a:rPr lang="en-US" dirty="0"/>
                  <a:t> with </a:t>
                </a:r>
                <a14:m>
                  <m:oMath xmlns:m="http://schemas.openxmlformats.org/officeDocument/2006/math">
                    <m:r>
                      <a:rPr lang="en-US" i="1" dirty="0" smtClean="0">
                        <a:latin typeface="Cambria Math"/>
                      </a:rPr>
                      <m:t>𝑋</m:t>
                    </m:r>
                    <m:r>
                      <a:rPr lang="en-US" i="1" dirty="0" smtClean="0">
                        <a:latin typeface="Cambria Math"/>
                        <a:ea typeface="Cambria Math"/>
                        <a:sym typeface="Symbol" pitchFamily="18" charset="2"/>
                      </a:rPr>
                      <m:t>∈</m:t>
                    </m:r>
                    <m:r>
                      <a:rPr lang="en-US" i="1" dirty="0">
                        <a:latin typeface="Cambria Math"/>
                        <a:sym typeface="Symbol" pitchFamily="18" charset="2"/>
                      </a:rPr>
                      <m:t>𝐷</m:t>
                    </m:r>
                  </m:oMath>
                </a14:m>
                <a:r>
                  <a:rPr lang="en-US" dirty="0">
                    <a:sym typeface="Symbol" pitchFamily="18" charset="2"/>
                  </a:rPr>
                  <a:t>. In which, </a:t>
                </a:r>
                <a14:m>
                  <m:oMath xmlns:m="http://schemas.openxmlformats.org/officeDocument/2006/math">
                    <m:r>
                      <a:rPr lang="en-US" i="1" dirty="0" smtClean="0">
                        <a:latin typeface="Cambria Math"/>
                        <a:sym typeface="Symbol" pitchFamily="18" charset="2"/>
                      </a:rPr>
                      <m:t>𝑓</m:t>
                    </m:r>
                    <m:r>
                      <a:rPr lang="en-US" i="1" dirty="0" smtClean="0">
                        <a:latin typeface="Cambria Math"/>
                        <a:sym typeface="Symbol" pitchFamily="18" charset="2"/>
                      </a:rPr>
                      <m:t>(</m:t>
                    </m:r>
                    <m:r>
                      <a:rPr lang="en-US" i="1" dirty="0" smtClean="0">
                        <a:latin typeface="Cambria Math"/>
                        <a:sym typeface="Symbol" pitchFamily="18" charset="2"/>
                      </a:rPr>
                      <m:t>𝑋</m:t>
                    </m:r>
                    <m:r>
                      <a:rPr lang="en-US" i="1" dirty="0" smtClean="0">
                        <a:latin typeface="Cambria Math"/>
                        <a:sym typeface="Symbol" pitchFamily="18" charset="2"/>
                      </a:rPr>
                      <m:t>)</m:t>
                    </m:r>
                  </m:oMath>
                </a14:m>
                <a:r>
                  <a:rPr lang="en-US" dirty="0">
                    <a:sym typeface="Symbol" pitchFamily="18" charset="2"/>
                  </a:rPr>
                  <a:t> is determined as below:</a:t>
                </a:r>
              </a:p>
              <a:p>
                <a:pPr>
                  <a:spcBef>
                    <a:spcPct val="50000"/>
                  </a:spcBef>
                </a:pPr>
                <a:endParaRPr lang="en-US" dirty="0">
                  <a:sym typeface="Symbol" pitchFamily="18" charset="2"/>
                </a:endParaRPr>
              </a:p>
              <a:p>
                <a:pPr>
                  <a:spcBef>
                    <a:spcPct val="50000"/>
                  </a:spcBef>
                </a:pPr>
                <a:endParaRPr lang="en-US" dirty="0">
                  <a:sym typeface="Symbol" pitchFamily="18" charset="2"/>
                </a:endParaRPr>
              </a:p>
              <a:p>
                <a:pPr>
                  <a:spcBef>
                    <a:spcPct val="50000"/>
                  </a:spcBef>
                </a:pPr>
                <a:endParaRPr lang="en-US" dirty="0">
                  <a:sym typeface="Symbol" pitchFamily="18" charset="2"/>
                </a:endParaRPr>
              </a:p>
              <a:p>
                <a:pPr>
                  <a:spcBef>
                    <a:spcPct val="50000"/>
                  </a:spcBef>
                </a:pPr>
                <a:r>
                  <a:rPr lang="en-US" dirty="0">
                    <a:sym typeface="Symbol" pitchFamily="18" charset="2"/>
                  </a:rPr>
                  <a:t>Example of cost matrix</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37150"/>
              </a:xfrm>
              <a:blipFill>
                <a:blip r:embed="rId3"/>
                <a:stretch>
                  <a:fillRect l="-519" t="-949" r="-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203560041"/>
              </p:ext>
            </p:extLst>
          </p:nvPr>
        </p:nvGraphicFramePr>
        <p:xfrm>
          <a:off x="1325563" y="2949575"/>
          <a:ext cx="6262687" cy="936625"/>
        </p:xfrm>
        <a:graphic>
          <a:graphicData uri="http://schemas.openxmlformats.org/presentationml/2006/ole">
            <mc:AlternateContent xmlns:mc="http://schemas.openxmlformats.org/markup-compatibility/2006">
              <mc:Choice xmlns:v="urn:schemas-microsoft-com:vml" Requires="v">
                <p:oleObj spid="_x0000_s15382" name="Equation" r:id="rId4" imgW="3060360" imgH="457200" progId="Equation.3">
                  <p:embed/>
                </p:oleObj>
              </mc:Choice>
              <mc:Fallback>
                <p:oleObj name="Equation" r:id="rId4" imgW="3060360" imgH="457200" progId="Equation.3">
                  <p:embed/>
                  <p:pic>
                    <p:nvPicPr>
                      <p:cNvPr id="0" name="Object 6"/>
                      <p:cNvPicPr>
                        <a:picLocks noChangeAspect="1" noChangeArrowheads="1"/>
                      </p:cNvPicPr>
                      <p:nvPr/>
                    </p:nvPicPr>
                    <p:blipFill>
                      <a:blip r:embed="rId5"/>
                      <a:srcRect/>
                      <a:stretch>
                        <a:fillRect/>
                      </a:stretch>
                    </p:blipFill>
                    <p:spPr bwMode="auto">
                      <a:xfrm>
                        <a:off x="1325563" y="2949575"/>
                        <a:ext cx="6262687"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133454327"/>
              </p:ext>
            </p:extLst>
          </p:nvPr>
        </p:nvGraphicFramePr>
        <p:xfrm>
          <a:off x="1455738" y="2579688"/>
          <a:ext cx="6000750" cy="468312"/>
        </p:xfrm>
        <a:graphic>
          <a:graphicData uri="http://schemas.openxmlformats.org/presentationml/2006/ole">
            <mc:AlternateContent xmlns:mc="http://schemas.openxmlformats.org/markup-compatibility/2006">
              <mc:Choice xmlns:v="urn:schemas-microsoft-com:vml" Requires="v">
                <p:oleObj spid="_x0000_s15383" name="Equation" r:id="rId6" imgW="2933700" imgH="228600" progId="Equation.3">
                  <p:embed/>
                </p:oleObj>
              </mc:Choice>
              <mc:Fallback>
                <p:oleObj name="Equation" r:id="rId6" imgW="2933700" imgH="2286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738" y="2579688"/>
                        <a:ext cx="6000750"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Group 49"/>
          <p:cNvGraphicFramePr>
            <a:graphicFrameLocks noGrp="1"/>
          </p:cNvGraphicFramePr>
          <p:nvPr>
            <p:extLst>
              <p:ext uri="{D42A27DB-BD31-4B8C-83A1-F6EECF244321}">
                <p14:modId xmlns:p14="http://schemas.microsoft.com/office/powerpoint/2010/main" val="2947881255"/>
              </p:ext>
            </p:extLst>
          </p:nvPr>
        </p:nvGraphicFramePr>
        <p:xfrm>
          <a:off x="4876800" y="3886200"/>
          <a:ext cx="3352800" cy="2336801"/>
        </p:xfrm>
        <a:graphic>
          <a:graphicData uri="http://schemas.openxmlformats.org/drawingml/2006/table">
            <a:tbl>
              <a:tblPr/>
              <a:tblGrid>
                <a:gridCol w="669925">
                  <a:extLst>
                    <a:ext uri="{9D8B030D-6E8A-4147-A177-3AD203B41FA5}">
                      <a16:colId xmlns:a16="http://schemas.microsoft.com/office/drawing/2014/main" val="20000"/>
                    </a:ext>
                  </a:extLst>
                </a:gridCol>
                <a:gridCol w="671513">
                  <a:extLst>
                    <a:ext uri="{9D8B030D-6E8A-4147-A177-3AD203B41FA5}">
                      <a16:colId xmlns:a16="http://schemas.microsoft.com/office/drawing/2014/main" val="20001"/>
                    </a:ext>
                  </a:extLst>
                </a:gridCol>
                <a:gridCol w="669925">
                  <a:extLst>
                    <a:ext uri="{9D8B030D-6E8A-4147-A177-3AD203B41FA5}">
                      <a16:colId xmlns:a16="http://schemas.microsoft.com/office/drawing/2014/main" val="20002"/>
                    </a:ext>
                  </a:extLst>
                </a:gridCol>
                <a:gridCol w="671512">
                  <a:extLst>
                    <a:ext uri="{9D8B030D-6E8A-4147-A177-3AD203B41FA5}">
                      <a16:colId xmlns:a16="http://schemas.microsoft.com/office/drawing/2014/main" val="20003"/>
                    </a:ext>
                  </a:extLst>
                </a:gridCol>
                <a:gridCol w="669925">
                  <a:extLst>
                    <a:ext uri="{9D8B030D-6E8A-4147-A177-3AD203B41FA5}">
                      <a16:colId xmlns:a16="http://schemas.microsoft.com/office/drawing/2014/main" val="20004"/>
                    </a:ext>
                  </a:extLst>
                </a:gridCol>
              </a:tblGrid>
              <a:tr h="46672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313">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313">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00378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28905"/>
            <a:ext cx="8229600" cy="990600"/>
          </a:xfrm>
        </p:spPr>
        <p:txBody>
          <a:bodyPr>
            <a:normAutofit/>
          </a:bodyPr>
          <a:lstStyle/>
          <a:p>
            <a:r>
              <a:rPr lang="en-US" sz="2800" dirty="0"/>
              <a:t>Solve the tourist problem by branch-and-bound algorithm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92500" lnSpcReduction="10000"/>
              </a:bodyPr>
              <a:lstStyle/>
              <a:p>
                <a:pPr marL="0" indent="0" algn="just">
                  <a:spcBef>
                    <a:spcPct val="50000"/>
                  </a:spcBef>
                  <a:buNone/>
                </a:pPr>
                <a:r>
                  <a:rPr lang="en-US" dirty="0">
                    <a:sym typeface="Symbol" pitchFamily="18" charset="2"/>
                  </a:rPr>
                  <a:t>Let </a:t>
                </a:r>
                <a14:m>
                  <m:oMath xmlns:m="http://schemas.openxmlformats.org/officeDocument/2006/math">
                    <m:r>
                      <a:rPr lang="en-US" i="1" dirty="0" smtClean="0">
                        <a:latin typeface="Cambria Math"/>
                        <a:sym typeface="Symbol" pitchFamily="18" charset="2"/>
                      </a:rPr>
                      <m:t>𝑐</m:t>
                    </m:r>
                    <m:r>
                      <a:rPr lang="en-US" i="1" baseline="-25000" dirty="0" err="1">
                        <a:latin typeface="Cambria Math"/>
                        <a:sym typeface="Symbol" pitchFamily="18" charset="2"/>
                      </a:rPr>
                      <m:t>𝑚𝑖𝑛</m:t>
                    </m:r>
                    <m:r>
                      <a:rPr lang="en-US" i="1" dirty="0">
                        <a:latin typeface="Cambria Math"/>
                        <a:sym typeface="Symbol" pitchFamily="18" charset="2"/>
                      </a:rPr>
                      <m:t>=</m:t>
                    </m:r>
                    <m:r>
                      <m:rPr>
                        <m:sty m:val="p"/>
                      </m:rPr>
                      <a:rPr lang="en-US" i="1" dirty="0">
                        <a:latin typeface="Cambria Math"/>
                        <a:sym typeface="Symbol" pitchFamily="18" charset="2"/>
                      </a:rPr>
                      <m:t>min</m:t>
                    </m:r>
                    <m:r>
                      <a:rPr lang="en-US" i="1" dirty="0">
                        <a:latin typeface="Cambria Math"/>
                        <a:sym typeface="Symbol" pitchFamily="18" charset="2"/>
                      </a:rPr>
                      <m:t>⁡{</m:t>
                    </m:r>
                    <m:r>
                      <a:rPr lang="en-US" i="1" dirty="0">
                        <a:latin typeface="Cambria Math"/>
                        <a:sym typeface="Symbol" pitchFamily="18" charset="2"/>
                      </a:rPr>
                      <m:t>𝑐</m:t>
                    </m:r>
                    <m:r>
                      <a:rPr lang="en-US" i="1" dirty="0">
                        <a:latin typeface="Cambria Math"/>
                        <a:sym typeface="Symbol" pitchFamily="18" charset="2"/>
                      </a:rPr>
                      <m:t>[</m:t>
                    </m:r>
                    <m:r>
                      <a:rPr lang="en-US" i="1" dirty="0">
                        <a:latin typeface="Cambria Math"/>
                        <a:sym typeface="Symbol" pitchFamily="18" charset="2"/>
                      </a:rPr>
                      <m:t>𝑖</m:t>
                    </m:r>
                    <m:r>
                      <a:rPr lang="en-US" i="1" dirty="0">
                        <a:latin typeface="Cambria Math"/>
                        <a:sym typeface="Symbol" pitchFamily="18" charset="2"/>
                      </a:rPr>
                      <m:t>, </m:t>
                    </m:r>
                    <m:r>
                      <a:rPr lang="en-US" i="1" dirty="0">
                        <a:latin typeface="Cambria Math"/>
                        <a:sym typeface="Symbol" pitchFamily="18" charset="2"/>
                      </a:rPr>
                      <m:t>𝑗</m:t>
                    </m:r>
                    <m:r>
                      <a:rPr lang="en-US" i="1" dirty="0">
                        <a:latin typeface="Cambria Math"/>
                        <a:sym typeface="Symbol" pitchFamily="18" charset="2"/>
                      </a:rPr>
                      <m:t>], </m:t>
                    </m:r>
                    <m:r>
                      <a:rPr lang="en-US" i="1" dirty="0">
                        <a:latin typeface="Cambria Math"/>
                        <a:sym typeface="Symbol" pitchFamily="18" charset="2"/>
                      </a:rPr>
                      <m:t>𝑖</m:t>
                    </m:r>
                    <m:r>
                      <a:rPr lang="en-US" i="1" dirty="0">
                        <a:latin typeface="Cambria Math"/>
                        <a:sym typeface="Symbol" pitchFamily="18" charset="2"/>
                      </a:rPr>
                      <m:t> , </m:t>
                    </m:r>
                    <m:r>
                      <a:rPr lang="en-US" i="1" dirty="0">
                        <a:latin typeface="Cambria Math"/>
                        <a:sym typeface="Symbol" pitchFamily="18" charset="2"/>
                      </a:rPr>
                      <m:t>𝑗</m:t>
                    </m:r>
                    <m:r>
                      <a:rPr lang="en-US" i="1" dirty="0">
                        <a:latin typeface="Cambria Math"/>
                        <a:sym typeface="Symbol" pitchFamily="18" charset="2"/>
                      </a:rPr>
                      <m:t>= 1, 2,..., </m:t>
                    </m:r>
                    <m:r>
                      <a:rPr lang="en-US" i="1" dirty="0">
                        <a:latin typeface="Cambria Math"/>
                        <a:sym typeface="Symbol" pitchFamily="18" charset="2"/>
                      </a:rPr>
                      <m:t>𝑛</m:t>
                    </m:r>
                    <m:r>
                      <a:rPr lang="en-US" i="1" dirty="0">
                        <a:latin typeface="Cambria Math"/>
                        <a:sym typeface="Symbol" pitchFamily="18" charset="2"/>
                      </a:rPr>
                      <m:t>, </m:t>
                    </m:r>
                    <m:r>
                      <a:rPr lang="en-US" i="1" dirty="0" err="1">
                        <a:latin typeface="Cambria Math"/>
                        <a:sym typeface="Symbol" pitchFamily="18" charset="2"/>
                      </a:rPr>
                      <m:t>𝑖</m:t>
                    </m:r>
                    <m:r>
                      <a:rPr lang="en-US" i="1" dirty="0" err="1">
                        <a:latin typeface="Cambria Math"/>
                        <a:sym typeface="Symbol" pitchFamily="18" charset="2"/>
                      </a:rPr>
                      <m:t></m:t>
                    </m:r>
                    <m:r>
                      <a:rPr lang="en-US" i="1" dirty="0" err="1">
                        <a:latin typeface="Cambria Math"/>
                        <a:sym typeface="Symbol" pitchFamily="18" charset="2"/>
                      </a:rPr>
                      <m:t>𝑗</m:t>
                    </m:r>
                    <m:r>
                      <a:rPr lang="en-US" i="1" dirty="0">
                        <a:latin typeface="Cambria Math"/>
                        <a:sym typeface="Symbol" pitchFamily="18" charset="2"/>
                      </a:rPr>
                      <m:t> } </m:t>
                    </m:r>
                  </m:oMath>
                </a14:m>
                <a:r>
                  <a:rPr lang="en-US" dirty="0">
                    <a:sym typeface="Symbol" pitchFamily="18" charset="2"/>
                  </a:rPr>
                  <a:t>be the minimum value of the cost matrix. The method of evaluating the lower bound of each k-level partial problem is carried out as follows. Assume we are taking a partial journey through </a:t>
                </a:r>
                <a14:m>
                  <m:oMath xmlns:m="http://schemas.openxmlformats.org/officeDocument/2006/math">
                    <m:r>
                      <a:rPr lang="en-US" i="1" dirty="0" smtClean="0">
                        <a:latin typeface="Cambria Math"/>
                        <a:sym typeface="Symbol" pitchFamily="18" charset="2"/>
                      </a:rPr>
                      <m:t>𝑘</m:t>
                    </m:r>
                  </m:oMath>
                </a14:m>
                <a:r>
                  <a:rPr lang="en-US" dirty="0">
                    <a:sym typeface="Symbol" pitchFamily="18" charset="2"/>
                  </a:rPr>
                  <a:t> city:</a:t>
                </a:r>
              </a:p>
              <a:p>
                <a:pPr marL="0" indent="0">
                  <a:spcBef>
                    <a:spcPct val="50000"/>
                  </a:spcBef>
                  <a:buNone/>
                </a:pPr>
                <a:r>
                  <a:rPr lang="en-US" dirty="0">
                    <a:sym typeface="Symbol" pitchFamily="18" charset="2"/>
                  </a:rPr>
                  <a:t>		</a:t>
                </a:r>
                <a14:m>
                  <m:oMath xmlns:m="http://schemas.openxmlformats.org/officeDocument/2006/math">
                    <m:r>
                      <a:rPr lang="en-US" i="1" dirty="0" smtClean="0">
                        <a:latin typeface="Cambria Math"/>
                        <a:sym typeface="Symbol" pitchFamily="18" charset="2"/>
                      </a:rPr>
                      <m:t>𝑇</m:t>
                    </m:r>
                    <m:r>
                      <a:rPr lang="en-US" i="1" baseline="-25000" dirty="0">
                        <a:latin typeface="Cambria Math"/>
                        <a:sym typeface="Symbol" pitchFamily="18" charset="2"/>
                      </a:rPr>
                      <m:t>1</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𝑇</m:t>
                        </m:r>
                      </m:e>
                      <m:sub>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𝑢</m:t>
                            </m:r>
                          </m:e>
                          <m:sub>
                            <m:r>
                              <a:rPr lang="en-US" b="0" i="1" dirty="0" smtClean="0">
                                <a:latin typeface="Cambria Math"/>
                                <a:sym typeface="Symbol" pitchFamily="18" charset="2"/>
                              </a:rPr>
                              <m:t>2</m:t>
                            </m:r>
                          </m:sub>
                        </m:sSub>
                      </m:sub>
                    </m:sSub>
                    <m:r>
                      <a:rPr lang="en-US" i="1" dirty="0">
                        <a:latin typeface="Cambria Math"/>
                        <a:sym typeface="Symbol" pitchFamily="18" charset="2"/>
                      </a:rPr>
                      <m:t>.</m:t>
                    </m:r>
                    <m:r>
                      <a:rPr lang="en-US" b="0" i="1" dirty="0" smtClean="0">
                        <a:latin typeface="Cambria Math"/>
                        <a:sym typeface="Symbol" pitchFamily="18" charset="2"/>
                      </a:rPr>
                      <m:t>.</m:t>
                    </m:r>
                    <m:r>
                      <a:rPr lang="en-US" i="1" dirty="0">
                        <a:latin typeface="Cambria Math"/>
                        <a:sym typeface="Symbol" pitchFamily="18" charset="2"/>
                      </a:rPr>
                      <m:t>. </m:t>
                    </m:r>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𝑇</m:t>
                        </m:r>
                      </m:e>
                      <m:sub>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𝑢</m:t>
                            </m:r>
                          </m:e>
                          <m:sub>
                            <m:r>
                              <a:rPr lang="en-US" b="0" i="1" dirty="0" smtClean="0">
                                <a:latin typeface="Cambria Math"/>
                                <a:sym typeface="Symbol" pitchFamily="18" charset="2"/>
                              </a:rPr>
                              <m:t>𝑘</m:t>
                            </m:r>
                          </m:sub>
                        </m:sSub>
                      </m:sub>
                    </m:sSub>
                    <m:r>
                      <a:rPr lang="en-US" i="1" dirty="0">
                        <a:latin typeface="Cambria Math"/>
                        <a:sym typeface="Symbol" pitchFamily="18" charset="2"/>
                      </a:rPr>
                      <m:t>(</m:t>
                    </m:r>
                    <m:r>
                      <a:rPr lang="en-US" i="1" dirty="0">
                        <a:latin typeface="Cambria Math"/>
                        <a:sym typeface="Symbol" pitchFamily="18" charset="2"/>
                      </a:rPr>
                      <m:t>𝑇</m:t>
                    </m:r>
                    <m:r>
                      <a:rPr lang="en-US" i="1" baseline="-25000" dirty="0">
                        <a:latin typeface="Cambria Math"/>
                        <a:sym typeface="Symbol" pitchFamily="18" charset="2"/>
                      </a:rPr>
                      <m:t>1</m:t>
                    </m:r>
                    <m:r>
                      <a:rPr lang="en-US" i="1" dirty="0">
                        <a:latin typeface="Cambria Math"/>
                        <a:sym typeface="Symbol" pitchFamily="18" charset="2"/>
                      </a:rPr>
                      <m:t>=1).</m:t>
                    </m:r>
                  </m:oMath>
                </a14:m>
                <a:endParaRPr lang="en-US" dirty="0">
                  <a:sym typeface="Symbol" pitchFamily="18" charset="2"/>
                </a:endParaRPr>
              </a:p>
              <a:p>
                <a:pPr marL="0" indent="0">
                  <a:spcBef>
                    <a:spcPct val="50000"/>
                  </a:spcBef>
                  <a:buNone/>
                </a:pPr>
                <a:r>
                  <a:rPr lang="en-US" dirty="0">
                    <a:sym typeface="Symbol" pitchFamily="18" charset="2"/>
                  </a:rPr>
                  <a:t>Then, the cost of k-level partial solution is:</a:t>
                </a:r>
              </a:p>
              <a:p>
                <a:pPr marL="0" indent="0">
                  <a:spcBef>
                    <a:spcPct val="50000"/>
                  </a:spcBef>
                  <a:buNone/>
                </a:pPr>
                <a:r>
                  <a:rPr lang="en-US" dirty="0">
                    <a:sym typeface="Symbol" pitchFamily="18" charset="2"/>
                  </a:rPr>
                  <a:t>		</a:t>
                </a:r>
                <a14:m>
                  <m:oMath xmlns:m="http://schemas.openxmlformats.org/officeDocument/2006/math">
                    <m:r>
                      <a:rPr lang="en-US" i="1" dirty="0" smtClean="0">
                        <a:latin typeface="Cambria Math"/>
                        <a:sym typeface="Symbol" pitchFamily="18" charset="2"/>
                      </a:rPr>
                      <m:t>=</m:t>
                    </m:r>
                    <m:r>
                      <a:rPr lang="en-US" i="1" dirty="0" smtClean="0">
                        <a:latin typeface="Cambria Math"/>
                        <a:sym typeface="Symbol" pitchFamily="18" charset="2"/>
                      </a:rPr>
                      <m:t>𝑐</m:t>
                    </m:r>
                    <m:r>
                      <a:rPr lang="en-US" i="1" dirty="0" smtClean="0">
                        <a:latin typeface="Cambria Math"/>
                        <a:sym typeface="Symbol" pitchFamily="18" charset="2"/>
                      </a:rPr>
                      <m:t>[1, </m:t>
                    </m:r>
                    <m:r>
                      <a:rPr lang="en-US" i="1" dirty="0" smtClean="0">
                        <a:latin typeface="Cambria Math"/>
                        <a:sym typeface="Symbol" pitchFamily="18" charset="2"/>
                      </a:rPr>
                      <m:t>𝑢</m:t>
                    </m:r>
                    <m:r>
                      <a:rPr lang="en-US" i="1" baseline="-25000" dirty="0">
                        <a:latin typeface="Cambria Math"/>
                        <a:sym typeface="Symbol" pitchFamily="18" charset="2"/>
                      </a:rPr>
                      <m:t>2</m:t>
                    </m:r>
                    <m:r>
                      <a:rPr lang="en-US" i="1" dirty="0">
                        <a:latin typeface="Cambria Math"/>
                        <a:sym typeface="Symbol" pitchFamily="18" charset="2"/>
                      </a:rPr>
                      <m:t>]+</m:t>
                    </m:r>
                    <m:r>
                      <a:rPr lang="en-US" i="1" dirty="0">
                        <a:latin typeface="Cambria Math"/>
                        <a:sym typeface="Symbol" pitchFamily="18" charset="2"/>
                      </a:rPr>
                      <m:t>𝑐</m:t>
                    </m:r>
                    <m:r>
                      <a:rPr lang="en-US" i="1" dirty="0">
                        <a:latin typeface="Cambria Math"/>
                        <a:sym typeface="Symbol" pitchFamily="18" charset="2"/>
                      </a:rPr>
                      <m:t>[</m:t>
                    </m:r>
                    <m:r>
                      <a:rPr lang="en-US" i="1" dirty="0">
                        <a:latin typeface="Cambria Math"/>
                        <a:sym typeface="Symbol" pitchFamily="18" charset="2"/>
                      </a:rPr>
                      <m:t>𝑢</m:t>
                    </m:r>
                    <m:r>
                      <a:rPr lang="en-US" i="1" baseline="-25000" dirty="0">
                        <a:latin typeface="Cambria Math"/>
                        <a:sym typeface="Symbol" pitchFamily="18" charset="2"/>
                      </a:rPr>
                      <m:t>2</m:t>
                    </m:r>
                    <m:r>
                      <a:rPr lang="en-US" i="1" dirty="0">
                        <a:latin typeface="Cambria Math"/>
                        <a:sym typeface="Symbol" pitchFamily="18" charset="2"/>
                      </a:rPr>
                      <m:t>,</m:t>
                    </m:r>
                    <m:r>
                      <a:rPr lang="en-US" i="1" dirty="0">
                        <a:latin typeface="Cambria Math"/>
                        <a:sym typeface="Symbol" pitchFamily="18" charset="2"/>
                      </a:rPr>
                      <m:t>𝑢</m:t>
                    </m:r>
                    <m:r>
                      <a:rPr lang="en-US" i="1" baseline="-25000" dirty="0">
                        <a:latin typeface="Cambria Math"/>
                        <a:sym typeface="Symbol" pitchFamily="18" charset="2"/>
                      </a:rPr>
                      <m:t>3</m:t>
                    </m:r>
                    <m:r>
                      <a:rPr lang="en-US" i="1" dirty="0">
                        <a:latin typeface="Cambria Math"/>
                        <a:sym typeface="Symbol" pitchFamily="18" charset="2"/>
                      </a:rPr>
                      <m:t>]+…+</m:t>
                    </m:r>
                    <m:r>
                      <a:rPr lang="en-US" i="1" dirty="0">
                        <a:latin typeface="Cambria Math"/>
                        <a:sym typeface="Symbol" pitchFamily="18" charset="2"/>
                      </a:rPr>
                      <m:t>𝑐</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𝑢</m:t>
                        </m:r>
                      </m:e>
                      <m:sub>
                        <m:r>
                          <a:rPr lang="en-US" b="0" i="1" dirty="0" smtClean="0">
                            <a:latin typeface="Cambria Math"/>
                            <a:sym typeface="Symbol" pitchFamily="18" charset="2"/>
                          </a:rPr>
                          <m:t>𝑘</m:t>
                        </m:r>
                        <m:r>
                          <a:rPr lang="en-US" b="0" i="1" dirty="0" smtClean="0">
                            <a:latin typeface="Cambria Math"/>
                            <a:sym typeface="Symbol" pitchFamily="18" charset="2"/>
                          </a:rPr>
                          <m:t>−1</m:t>
                        </m:r>
                      </m:sub>
                    </m:sSub>
                    <m:r>
                      <a:rPr lang="en-US" i="1" dirty="0">
                        <a:latin typeface="Cambria Math"/>
                        <a:sym typeface="Symbol" pitchFamily="18" charset="2"/>
                      </a:rPr>
                      <m:t>, </m:t>
                    </m:r>
                    <m:r>
                      <a:rPr lang="en-US" i="1" dirty="0" err="1">
                        <a:latin typeface="Cambria Math"/>
                        <a:sym typeface="Symbol" pitchFamily="18" charset="2"/>
                      </a:rPr>
                      <m:t>𝑢</m:t>
                    </m:r>
                    <m:r>
                      <a:rPr lang="en-US" i="1" baseline="-25000" dirty="0" err="1">
                        <a:latin typeface="Cambria Math"/>
                        <a:sym typeface="Symbol" pitchFamily="18" charset="2"/>
                      </a:rPr>
                      <m:t>𝑘</m:t>
                    </m:r>
                    <m:r>
                      <a:rPr lang="en-US" i="1" dirty="0">
                        <a:latin typeface="Cambria Math"/>
                        <a:sym typeface="Symbol" pitchFamily="18" charset="2"/>
                      </a:rPr>
                      <m:t>].</m:t>
                    </m:r>
                  </m:oMath>
                </a14:m>
                <a:endParaRPr lang="en-US" dirty="0">
                  <a:sym typeface="Symbol" pitchFamily="18" charset="2"/>
                </a:endParaRPr>
              </a:p>
              <a:p>
                <a:pPr marL="0" indent="0" algn="just">
                  <a:spcBef>
                    <a:spcPct val="50000"/>
                  </a:spcBef>
                  <a:buNone/>
                </a:pPr>
                <a:r>
                  <a:rPr lang="en-US" dirty="0">
                    <a:sym typeface="Symbol" pitchFamily="18" charset="2"/>
                  </a:rPr>
                  <a:t>To develop this partial journey into a full journey, we need to go through </a:t>
                </a:r>
                <a14:m>
                  <m:oMath xmlns:m="http://schemas.openxmlformats.org/officeDocument/2006/math">
                    <m:r>
                      <a:rPr lang="en-US" i="1" dirty="0" smtClean="0">
                        <a:latin typeface="Cambria Math"/>
                        <a:sym typeface="Symbol" pitchFamily="18" charset="2"/>
                      </a:rPr>
                      <m:t>𝑛</m:t>
                    </m:r>
                    <m:r>
                      <a:rPr lang="en-US" i="1" dirty="0" smtClean="0">
                        <a:latin typeface="Cambria Math"/>
                        <a:sym typeface="Symbol" pitchFamily="18" charset="2"/>
                      </a:rPr>
                      <m:t>−</m:t>
                    </m:r>
                    <m:r>
                      <a:rPr lang="en-US" i="1" dirty="0" smtClean="0">
                        <a:latin typeface="Cambria Math"/>
                        <a:sym typeface="Symbol" pitchFamily="18" charset="2"/>
                      </a:rPr>
                      <m:t>𝑘</m:t>
                    </m:r>
                  </m:oMath>
                </a14:m>
                <a:r>
                  <a:rPr lang="en-US" dirty="0">
                    <a:sym typeface="Symbol" pitchFamily="18" charset="2"/>
                  </a:rPr>
                  <a:t> cities and then return to city 1. So, we need to go through </a:t>
                </a:r>
                <a14:m>
                  <m:oMath xmlns:m="http://schemas.openxmlformats.org/officeDocument/2006/math">
                    <m:r>
                      <a:rPr lang="en-US" i="1" dirty="0" smtClean="0">
                        <a:latin typeface="Cambria Math"/>
                        <a:sym typeface="Symbol" pitchFamily="18" charset="2"/>
                      </a:rPr>
                      <m:t>𝑛</m:t>
                    </m:r>
                    <m:r>
                      <a:rPr lang="en-US" i="1" dirty="0" smtClean="0">
                        <a:latin typeface="Cambria Math"/>
                        <a:sym typeface="Symbol" pitchFamily="18" charset="2"/>
                      </a:rPr>
                      <m:t>−</m:t>
                    </m:r>
                    <m:r>
                      <a:rPr lang="en-US" i="1" dirty="0" smtClean="0">
                        <a:latin typeface="Cambria Math"/>
                        <a:sym typeface="Symbol" pitchFamily="18" charset="2"/>
                      </a:rPr>
                      <m:t>𝑘</m:t>
                    </m:r>
                    <m:r>
                      <a:rPr lang="en-US" i="1" dirty="0" smtClean="0">
                        <a:latin typeface="Cambria Math"/>
                        <a:sym typeface="Symbol" pitchFamily="18" charset="2"/>
                      </a:rPr>
                      <m:t>+1</m:t>
                    </m:r>
                  </m:oMath>
                </a14:m>
                <a:r>
                  <a:rPr lang="en-US" dirty="0">
                    <a:sym typeface="Symbol" pitchFamily="18" charset="2"/>
                  </a:rPr>
                  <a:t> more. Because each road segment has a cost not less than </a:t>
                </a:r>
                <a14:m>
                  <m:oMath xmlns:m="http://schemas.openxmlformats.org/officeDocument/2006/math">
                    <m:r>
                      <a:rPr lang="en-US" i="1" dirty="0" smtClean="0">
                        <a:latin typeface="Cambria Math"/>
                        <a:sym typeface="Symbol" pitchFamily="18" charset="2"/>
                      </a:rPr>
                      <m:t>𝑐</m:t>
                    </m:r>
                    <m:r>
                      <a:rPr lang="en-US" i="1" baseline="-25000" dirty="0" err="1">
                        <a:latin typeface="Cambria Math"/>
                        <a:sym typeface="Symbol" pitchFamily="18" charset="2"/>
                      </a:rPr>
                      <m:t>𝑚𝑖𝑛</m:t>
                    </m:r>
                  </m:oMath>
                </a14:m>
                <a:r>
                  <a:rPr lang="en-US" dirty="0">
                    <a:sym typeface="Symbol" pitchFamily="18" charset="2"/>
                  </a:rPr>
                  <a:t>, the lower bound of the partial solution can be determined:</a:t>
                </a:r>
              </a:p>
              <a:p>
                <a:pPr marL="0" indent="0">
                  <a:spcBef>
                    <a:spcPct val="50000"/>
                  </a:spcBef>
                  <a:buNone/>
                </a:pPr>
                <a:r>
                  <a:rPr lang="en-US" dirty="0">
                    <a:sym typeface="Symbol" pitchFamily="18" charset="2"/>
                  </a:rPr>
                  <a:t>		</a:t>
                </a:r>
                <a14:m>
                  <m:oMath xmlns:m="http://schemas.openxmlformats.org/officeDocument/2006/math">
                    <m:r>
                      <a:rPr lang="en-US" i="1" dirty="0" smtClean="0">
                        <a:latin typeface="Cambria Math"/>
                        <a:sym typeface="Symbol" pitchFamily="18" charset="2"/>
                      </a:rPr>
                      <m:t>𝑔</m:t>
                    </m:r>
                    <m:r>
                      <a:rPr lang="en-US" i="1" dirty="0" smtClean="0">
                        <a:latin typeface="Cambria Math"/>
                        <a:sym typeface="Symbol" pitchFamily="18" charset="2"/>
                      </a:rPr>
                      <m:t>(</m:t>
                    </m:r>
                    <m:r>
                      <a:rPr lang="en-US" i="1" dirty="0" smtClean="0">
                        <a:latin typeface="Cambria Math"/>
                        <a:sym typeface="Symbol" pitchFamily="18" charset="2"/>
                      </a:rPr>
                      <m:t>𝑢</m:t>
                    </m:r>
                    <m:r>
                      <a:rPr lang="en-US" i="1" baseline="-25000" dirty="0">
                        <a:latin typeface="Cambria Math"/>
                        <a:sym typeface="Symbol" pitchFamily="18" charset="2"/>
                      </a:rPr>
                      <m:t>1</m:t>
                    </m:r>
                    <m:r>
                      <a:rPr lang="en-US" i="1" dirty="0">
                        <a:latin typeface="Cambria Math"/>
                        <a:sym typeface="Symbol" pitchFamily="18" charset="2"/>
                      </a:rPr>
                      <m:t>,</m:t>
                    </m:r>
                    <m:r>
                      <a:rPr lang="en-US" i="1" dirty="0">
                        <a:latin typeface="Cambria Math"/>
                        <a:sym typeface="Symbol" pitchFamily="18" charset="2"/>
                      </a:rPr>
                      <m:t>𝑢</m:t>
                    </m:r>
                    <m:r>
                      <a:rPr lang="en-US" i="1" baseline="-25000" dirty="0">
                        <a:latin typeface="Cambria Math"/>
                        <a:sym typeface="Symbol" pitchFamily="18" charset="2"/>
                      </a:rPr>
                      <m:t>2</m:t>
                    </m:r>
                    <m:r>
                      <a:rPr lang="en-US" i="1" dirty="0">
                        <a:latin typeface="Cambria Math"/>
                        <a:sym typeface="Symbol" pitchFamily="18" charset="2"/>
                      </a:rPr>
                      <m:t>,</m:t>
                    </m:r>
                    <m:r>
                      <a:rPr lang="en-US" i="1" dirty="0" smtClean="0">
                        <a:latin typeface="Cambria Math"/>
                        <a:sym typeface="Symbol" pitchFamily="18" charset="2"/>
                      </a:rPr>
                      <m:t>…,</m:t>
                    </m:r>
                    <m:r>
                      <a:rPr lang="en-US" i="1" dirty="0">
                        <a:latin typeface="Cambria Math"/>
                        <a:sym typeface="Symbol" pitchFamily="18" charset="2"/>
                      </a:rPr>
                      <m:t>𝑢</m:t>
                    </m:r>
                    <m:r>
                      <a:rPr lang="en-US" i="1" baseline="-25000" dirty="0">
                        <a:latin typeface="Cambria Math"/>
                        <a:sym typeface="Symbol" pitchFamily="18" charset="2"/>
                      </a:rPr>
                      <m:t>𝑘</m:t>
                    </m:r>
                    <m:r>
                      <a:rPr lang="en-US" i="1" dirty="0">
                        <a:latin typeface="Cambria Math"/>
                        <a:sym typeface="Symbol" pitchFamily="18" charset="2"/>
                      </a:rPr>
                      <m:t>)=+(</m:t>
                    </m:r>
                    <m:r>
                      <a:rPr lang="en-US" i="1" dirty="0">
                        <a:latin typeface="Cambria Math"/>
                        <a:sym typeface="Symbol" pitchFamily="18" charset="2"/>
                      </a:rPr>
                      <m:t>𝑛</m:t>
                    </m:r>
                    <m:r>
                      <a:rPr lang="en-US" i="1" dirty="0">
                        <a:latin typeface="Cambria Math"/>
                        <a:sym typeface="Symbol" pitchFamily="18" charset="2"/>
                      </a:rPr>
                      <m:t>−</m:t>
                    </m:r>
                    <m:r>
                      <a:rPr lang="en-US" i="1" dirty="0">
                        <a:latin typeface="Cambria Math"/>
                        <a:sym typeface="Symbol" pitchFamily="18" charset="2"/>
                      </a:rPr>
                      <m:t>𝑘</m:t>
                    </m:r>
                    <m:r>
                      <a:rPr lang="en-US" i="1" dirty="0">
                        <a:latin typeface="Cambria Math"/>
                        <a:sym typeface="Symbol" pitchFamily="18" charset="2"/>
                      </a:rPr>
                      <m:t>+1).</m:t>
                    </m:r>
                    <m:r>
                      <a:rPr lang="en-US" i="1" dirty="0" err="1">
                        <a:latin typeface="Cambria Math"/>
                        <a:sym typeface="Symbol" pitchFamily="18" charset="2"/>
                      </a:rPr>
                      <m:t>𝑐</m:t>
                    </m:r>
                    <m:r>
                      <a:rPr lang="en-US" i="1" baseline="-25000" dirty="0" err="1">
                        <a:latin typeface="Cambria Math"/>
                        <a:sym typeface="Symbol" pitchFamily="18" charset="2"/>
                      </a:rPr>
                      <m:t>𝑚𝑖𝑛</m:t>
                    </m:r>
                  </m:oMath>
                </a14:m>
                <a:r>
                  <a:rPr lang="en-US" dirty="0">
                    <a:sym typeface="Symbol" pitchFamily="18" charset="2"/>
                  </a:rPr>
                  <a:t>.</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963" t="-1605" r="-963" b="-1605"/>
                </a:stretch>
              </a:blipFill>
            </p:spPr>
            <p:txBody>
              <a:bodyPr/>
              <a:lstStyle/>
              <a:p>
                <a:r>
                  <a:rPr lang="en-US">
                    <a:noFill/>
                  </a:rPr>
                  <a:t> </a:t>
                </a:r>
              </a:p>
            </p:txBody>
          </p:sp>
        </mc:Fallback>
      </mc:AlternateContent>
    </p:spTree>
    <p:extLst>
      <p:ext uri="{BB962C8B-B14F-4D97-AF65-F5344CB8AC3E}">
        <p14:creationId xmlns:p14="http://schemas.microsoft.com/office/powerpoint/2010/main" val="16763996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1413"/>
            <a:ext cx="8229600" cy="990600"/>
          </a:xfrm>
        </p:spPr>
        <p:txBody>
          <a:bodyPr>
            <a:normAutofit/>
          </a:bodyPr>
          <a:lstStyle/>
          <a:p>
            <a:r>
              <a:rPr lang="en-US" sz="2800" dirty="0"/>
              <a:t>Solve the tourist problem by branch-and-bound algorithm (3/4)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mc:AlternateContent xmlns:mc="http://schemas.openxmlformats.org/markup-compatibility/2006">
        <mc:Choice xmlns:a14="http://schemas.microsoft.com/office/drawing/2010/main" Requires="a14">
          <p:sp>
            <p:nvSpPr>
              <p:cNvPr id="6" name="TextBox 5"/>
              <p:cNvSpPr txBox="1"/>
              <p:nvPr/>
            </p:nvSpPr>
            <p:spPr>
              <a:xfrm>
                <a:off x="1066800" y="1260187"/>
                <a:ext cx="7906075" cy="4939814"/>
              </a:xfrm>
              <a:prstGeom prst="rect">
                <a:avLst/>
              </a:prstGeom>
              <a:noFill/>
            </p:spPr>
            <p:txBody>
              <a:bodyPr wrap="none" rtlCol="0">
                <a:spAutoFit/>
              </a:bodyPr>
              <a:lstStyle/>
              <a:p>
                <a:pPr>
                  <a:spcBef>
                    <a:spcPct val="50000"/>
                  </a:spcBef>
                </a:pPr>
                <a:r>
                  <a:rPr lang="en-US" dirty="0">
                    <a:latin typeface="+mj-lt"/>
                    <a:sym typeface="Symbol" pitchFamily="18" charset="2"/>
                  </a:rPr>
                  <a:t>Branch-and-bound algorithm (k) {</a:t>
                </a:r>
              </a:p>
              <a:p>
                <a:pPr>
                  <a:spcBef>
                    <a:spcPct val="50000"/>
                  </a:spcBef>
                </a:pPr>
                <a:r>
                  <a:rPr lang="en-US" dirty="0">
                    <a:latin typeface="+mj-lt"/>
                    <a:sym typeface="Symbol" pitchFamily="18" charset="2"/>
                  </a:rPr>
                  <a:t>	</a:t>
                </a:r>
                <a:r>
                  <a:rPr lang="en-US" b="1" dirty="0">
                    <a:latin typeface="+mj-lt"/>
                    <a:sym typeface="Symbol" pitchFamily="18" charset="2"/>
                  </a:rPr>
                  <a:t>for</a:t>
                </a:r>
                <a:r>
                  <a:rPr lang="en-US" dirty="0">
                    <a:latin typeface="+mj-lt"/>
                    <a:sym typeface="Symbol" pitchFamily="18" charset="2"/>
                  </a:rPr>
                  <a:t> (j = 2; j&lt;=n; j++){</a:t>
                </a:r>
              </a:p>
              <a:p>
                <a:pPr>
                  <a:spcBef>
                    <a:spcPct val="50000"/>
                  </a:spcBef>
                </a:pPr>
                <a:r>
                  <a:rPr lang="en-US" dirty="0">
                    <a:latin typeface="+mj-lt"/>
                    <a:sym typeface="Symbol" pitchFamily="18" charset="2"/>
                  </a:rPr>
                  <a:t>		</a:t>
                </a:r>
                <a:r>
                  <a:rPr lang="en-US" b="1" dirty="0">
                    <a:latin typeface="+mj-lt"/>
                    <a:sym typeface="Symbol" pitchFamily="18" charset="2"/>
                  </a:rPr>
                  <a:t>if</a:t>
                </a:r>
                <a:r>
                  <a:rPr lang="en-US" dirty="0">
                    <a:latin typeface="+mj-lt"/>
                    <a:sym typeface="Symbol" pitchFamily="18" charset="2"/>
                  </a:rPr>
                  <a:t> ( </a:t>
                </a:r>
                <a14:m>
                  <m:oMath xmlns:m="http://schemas.openxmlformats.org/officeDocument/2006/math">
                    <m:r>
                      <a:rPr lang="en-US" i="1" dirty="0" smtClean="0">
                        <a:latin typeface="Cambria Math"/>
                        <a:sym typeface="Symbol" pitchFamily="18" charset="2"/>
                      </a:rPr>
                      <m:t>𝑐h𝑢𝑎𝑥𝑒𝑡</m:t>
                    </m:r>
                    <m:r>
                      <a:rPr lang="en-US" i="1" dirty="0">
                        <a:latin typeface="Cambria Math"/>
                        <a:sym typeface="Symbol" pitchFamily="18" charset="2"/>
                      </a:rPr>
                      <m:t>[</m:t>
                    </m:r>
                    <m:r>
                      <a:rPr lang="en-US" i="1" dirty="0">
                        <a:latin typeface="Cambria Math"/>
                        <a:sym typeface="Symbol" pitchFamily="18" charset="2"/>
                      </a:rPr>
                      <m:t>𝑗</m:t>
                    </m:r>
                    <m:r>
                      <a:rPr lang="en-US" i="1" dirty="0">
                        <a:latin typeface="Cambria Math"/>
                        <a:sym typeface="Symbol" pitchFamily="18" charset="2"/>
                      </a:rPr>
                      <m:t>]</m:t>
                    </m:r>
                  </m:oMath>
                </a14:m>
                <a:r>
                  <a:rPr lang="en-US" dirty="0">
                    <a:latin typeface="+mj-lt"/>
                    <a:sym typeface="Symbol" pitchFamily="18" charset="2"/>
                  </a:rPr>
                  <a:t> ) { </a:t>
                </a:r>
              </a:p>
              <a:p>
                <a:pPr>
                  <a:spcBef>
                    <a:spcPct val="50000"/>
                  </a:spcBef>
                </a:pPr>
                <a:r>
                  <a:rPr lang="en-US" dirty="0">
                    <a:latin typeface="+mj-lt"/>
                    <a:sym typeface="Symbol" pitchFamily="18" charset="2"/>
                  </a:rPr>
                  <a:t>			</a:t>
                </a:r>
                <a14:m>
                  <m:oMath xmlns:m="http://schemas.openxmlformats.org/officeDocument/2006/math">
                    <m:r>
                      <a:rPr lang="en-US" i="1" dirty="0" smtClean="0">
                        <a:latin typeface="Cambria Math"/>
                        <a:sym typeface="Symbol" pitchFamily="18" charset="2"/>
                      </a:rPr>
                      <m:t>𝑥</m:t>
                    </m:r>
                    <m:r>
                      <a:rPr lang="en-US" i="1" dirty="0" smtClean="0">
                        <a:latin typeface="Cambria Math"/>
                        <a:sym typeface="Symbol" pitchFamily="18" charset="2"/>
                      </a:rPr>
                      <m:t>[</m:t>
                    </m:r>
                    <m:r>
                      <a:rPr lang="en-US" i="1" dirty="0" smtClean="0">
                        <a:latin typeface="Cambria Math"/>
                        <a:sym typeface="Symbol" pitchFamily="18" charset="2"/>
                      </a:rPr>
                      <m:t>𝑘</m:t>
                    </m:r>
                    <m:r>
                      <a:rPr lang="en-US" i="1" dirty="0" smtClean="0">
                        <a:latin typeface="Cambria Math"/>
                        <a:sym typeface="Symbol" pitchFamily="18" charset="2"/>
                      </a:rPr>
                      <m:t>]=</m:t>
                    </m:r>
                    <m:r>
                      <a:rPr lang="en-US" i="1" dirty="0" smtClean="0">
                        <a:latin typeface="Cambria Math"/>
                        <a:sym typeface="Symbol" pitchFamily="18" charset="2"/>
                      </a:rPr>
                      <m:t>𝑗</m:t>
                    </m:r>
                  </m:oMath>
                </a14:m>
                <a:r>
                  <a:rPr lang="en-US" dirty="0">
                    <a:latin typeface="+mj-lt"/>
                    <a:sym typeface="Symbol" pitchFamily="18" charset="2"/>
                  </a:rPr>
                  <a:t>; </a:t>
                </a:r>
                <a14:m>
                  <m:oMath xmlns:m="http://schemas.openxmlformats.org/officeDocument/2006/math">
                    <m:r>
                      <a:rPr lang="en-US" i="1" dirty="0" smtClean="0">
                        <a:latin typeface="Cambria Math"/>
                        <a:sym typeface="Symbol" pitchFamily="18" charset="2"/>
                      </a:rPr>
                      <m:t>𝑐h𝑢𝑎𝑥𝑒𝑡</m:t>
                    </m:r>
                    <m:r>
                      <a:rPr lang="en-US" i="1" dirty="0">
                        <a:latin typeface="Cambria Math"/>
                        <a:sym typeface="Symbol" pitchFamily="18" charset="2"/>
                      </a:rPr>
                      <m:t>[</m:t>
                    </m:r>
                    <m:r>
                      <a:rPr lang="en-US" i="1" dirty="0">
                        <a:latin typeface="Cambria Math"/>
                        <a:sym typeface="Symbol" pitchFamily="18" charset="2"/>
                      </a:rPr>
                      <m:t>𝑗</m:t>
                    </m:r>
                    <m:r>
                      <a:rPr lang="en-US" i="1" dirty="0">
                        <a:latin typeface="Cambria Math"/>
                        <a:sym typeface="Symbol" pitchFamily="18" charset="2"/>
                      </a:rPr>
                      <m:t>] = </m:t>
                    </m:r>
                    <m:r>
                      <a:rPr lang="en-US" i="1" dirty="0">
                        <a:latin typeface="Cambria Math"/>
                        <a:sym typeface="Symbol" pitchFamily="18" charset="2"/>
                      </a:rPr>
                      <m:t>𝐹𝑎𝑙𝑠𝑒</m:t>
                    </m:r>
                  </m:oMath>
                </a14:m>
                <a:r>
                  <a:rPr lang="en-US" dirty="0">
                    <a:latin typeface="+mj-lt"/>
                    <a:sym typeface="Symbol" pitchFamily="18" charset="2"/>
                  </a:rPr>
                  <a:t>;</a:t>
                </a:r>
              </a:p>
              <a:p>
                <a:pPr>
                  <a:spcBef>
                    <a:spcPct val="50000"/>
                  </a:spcBef>
                </a:pPr>
                <a:r>
                  <a:rPr lang="en-US" dirty="0">
                    <a:latin typeface="+mj-lt"/>
                    <a:sym typeface="Symbol" pitchFamily="18" charset="2"/>
                  </a:rPr>
                  <a:t>			</a:t>
                </a:r>
                <a14:m>
                  <m:oMath xmlns:m="http://schemas.openxmlformats.org/officeDocument/2006/math">
                    <m:r>
                      <a:rPr lang="en-US" i="1" dirty="0" smtClean="0">
                        <a:latin typeface="Cambria Math"/>
                        <a:sym typeface="Symbol" pitchFamily="18" charset="2"/>
                      </a:rPr>
                      <m:t>=+</m:t>
                    </m:r>
                    <m:r>
                      <a:rPr lang="en-US" i="1" dirty="0" smtClean="0">
                        <a:latin typeface="Cambria Math"/>
                        <a:sym typeface="Symbol" pitchFamily="18" charset="2"/>
                      </a:rPr>
                      <m:t>𝑐</m:t>
                    </m:r>
                    <m:r>
                      <a:rPr lang="en-US" i="1" dirty="0" smtClean="0">
                        <a:latin typeface="Cambria Math"/>
                        <a:sym typeface="Symbol" pitchFamily="18" charset="2"/>
                      </a:rPr>
                      <m:t>[ </m:t>
                    </m:r>
                    <m:r>
                      <a:rPr lang="en-US" i="1" dirty="0" smtClean="0">
                        <a:latin typeface="Cambria Math"/>
                        <a:sym typeface="Symbol" pitchFamily="18" charset="2"/>
                      </a:rPr>
                      <m:t>𝑥</m:t>
                    </m:r>
                    <m:r>
                      <a:rPr lang="en-US" i="1" dirty="0" smtClean="0">
                        <a:latin typeface="Cambria Math"/>
                        <a:sym typeface="Symbol" pitchFamily="18" charset="2"/>
                      </a:rPr>
                      <m:t>[</m:t>
                    </m:r>
                    <m:r>
                      <a:rPr lang="en-US" i="1" dirty="0" smtClean="0">
                        <a:latin typeface="Cambria Math"/>
                        <a:sym typeface="Symbol" pitchFamily="18" charset="2"/>
                      </a:rPr>
                      <m:t>𝑘</m:t>
                    </m:r>
                    <m:r>
                      <a:rPr lang="en-US" i="1" dirty="0" smtClean="0">
                        <a:latin typeface="Cambria Math"/>
                        <a:sym typeface="Symbol" pitchFamily="18" charset="2"/>
                      </a:rPr>
                      <m:t>−1], </m:t>
                    </m:r>
                    <m:r>
                      <a:rPr lang="en-US" i="1" dirty="0" smtClean="0">
                        <a:latin typeface="Cambria Math"/>
                        <a:sym typeface="Symbol" pitchFamily="18" charset="2"/>
                      </a:rPr>
                      <m:t>𝑥</m:t>
                    </m:r>
                    <m:r>
                      <a:rPr lang="en-US" i="1" dirty="0" smtClean="0">
                        <a:latin typeface="Cambria Math"/>
                        <a:sym typeface="Symbol" pitchFamily="18" charset="2"/>
                      </a:rPr>
                      <m:t>[</m:t>
                    </m:r>
                    <m:r>
                      <a:rPr lang="en-US" i="1" dirty="0" smtClean="0">
                        <a:latin typeface="Cambria Math"/>
                        <a:sym typeface="Symbol" pitchFamily="18" charset="2"/>
                      </a:rPr>
                      <m:t>𝑘</m:t>
                    </m:r>
                    <m:r>
                      <a:rPr lang="en-US" i="1" dirty="0" smtClean="0">
                        <a:latin typeface="Cambria Math"/>
                        <a:sym typeface="Symbol" pitchFamily="18" charset="2"/>
                      </a:rPr>
                      <m:t>]]</m:t>
                    </m:r>
                  </m:oMath>
                </a14:m>
                <a:r>
                  <a:rPr lang="en-US" dirty="0">
                    <a:latin typeface="+mj-lt"/>
                    <a:sym typeface="Symbol" pitchFamily="18" charset="2"/>
                  </a:rPr>
                  <a:t>;</a:t>
                </a:r>
              </a:p>
              <a:p>
                <a:pPr>
                  <a:spcBef>
                    <a:spcPct val="50000"/>
                  </a:spcBef>
                </a:pPr>
                <a:r>
                  <a:rPr lang="en-US" dirty="0">
                    <a:latin typeface="+mj-lt"/>
                    <a:sym typeface="Symbol" pitchFamily="18" charset="2"/>
                  </a:rPr>
                  <a:t>			</a:t>
                </a:r>
                <a:r>
                  <a:rPr lang="en-US" b="1" dirty="0">
                    <a:latin typeface="+mj-lt"/>
                    <a:sym typeface="Symbol" pitchFamily="18" charset="2"/>
                  </a:rPr>
                  <a:t>if</a:t>
                </a:r>
                <a:r>
                  <a:rPr lang="en-US" dirty="0">
                    <a:latin typeface="+mj-lt"/>
                    <a:sym typeface="Symbol" pitchFamily="18" charset="2"/>
                  </a:rPr>
                  <a:t> ( k==n) Record ();</a:t>
                </a:r>
              </a:p>
              <a:p>
                <a:pPr>
                  <a:spcBef>
                    <a:spcPct val="50000"/>
                  </a:spcBef>
                </a:pPr>
                <a:r>
                  <a:rPr lang="en-US" dirty="0">
                    <a:latin typeface="+mj-lt"/>
                    <a:sym typeface="Symbol" pitchFamily="18" charset="2"/>
                  </a:rPr>
                  <a:t>			</a:t>
                </a:r>
                <a:r>
                  <a:rPr lang="en-US" b="1" dirty="0">
                    <a:latin typeface="+mj-lt"/>
                    <a:sym typeface="Symbol" pitchFamily="18" charset="2"/>
                  </a:rPr>
                  <a:t>else if </a:t>
                </a:r>
                <a:r>
                  <a:rPr lang="en-US" dirty="0">
                    <a:latin typeface="+mj-lt"/>
                    <a:sym typeface="Symbol" pitchFamily="18" charset="2"/>
                  </a:rPr>
                  <a:t>( </a:t>
                </a:r>
                <a14:m>
                  <m:oMath xmlns:m="http://schemas.openxmlformats.org/officeDocument/2006/math">
                    <m:r>
                      <a:rPr lang="en-US" i="1" dirty="0" smtClean="0">
                        <a:latin typeface="Cambria Math"/>
                        <a:sym typeface="Symbol" pitchFamily="18" charset="2"/>
                      </a:rPr>
                      <m:t>+(</m:t>
                    </m:r>
                    <m:r>
                      <a:rPr lang="en-US" i="1" dirty="0" smtClean="0">
                        <a:latin typeface="Cambria Math"/>
                        <a:sym typeface="Symbol" pitchFamily="18" charset="2"/>
                      </a:rPr>
                      <m:t>𝑛</m:t>
                    </m:r>
                    <m:r>
                      <a:rPr lang="en-US" i="1" dirty="0" smtClean="0">
                        <a:latin typeface="Cambria Math"/>
                        <a:sym typeface="Symbol" pitchFamily="18" charset="2"/>
                      </a:rPr>
                      <m:t>−</m:t>
                    </m:r>
                    <m:r>
                      <a:rPr lang="en-US" i="1" dirty="0" smtClean="0">
                        <a:latin typeface="Cambria Math"/>
                        <a:sym typeface="Symbol" pitchFamily="18" charset="2"/>
                      </a:rPr>
                      <m:t>𝑘</m:t>
                    </m:r>
                    <m:r>
                      <a:rPr lang="en-US" i="1" dirty="0" smtClean="0">
                        <a:latin typeface="Cambria Math"/>
                        <a:sym typeface="Symbol" pitchFamily="18" charset="2"/>
                      </a:rPr>
                      <m:t>+1)∗</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𝑐</m:t>
                        </m:r>
                      </m:e>
                      <m:sub>
                        <m:r>
                          <a:rPr lang="en-US" b="0" i="1" dirty="0" smtClean="0">
                            <a:latin typeface="Cambria Math"/>
                            <a:sym typeface="Symbol" pitchFamily="18" charset="2"/>
                          </a:rPr>
                          <m:t>𝑚𝑖𝑛</m:t>
                        </m:r>
                      </m:sub>
                    </m:sSub>
                    <m:r>
                      <a:rPr lang="en-US" i="1" dirty="0">
                        <a:latin typeface="Cambria Math"/>
                        <a:sym typeface="Symbol" pitchFamily="18" charset="2"/>
                      </a:rPr>
                      <m:t>&lt;</m:t>
                    </m:r>
                    <m:r>
                      <a:rPr lang="en-US" i="1" dirty="0">
                        <a:latin typeface="Cambria Math"/>
                        <a:sym typeface="Symbol" pitchFamily="18" charset="2"/>
                      </a:rPr>
                      <m:t>𝐹𝑂𝑃𝑇</m:t>
                    </m:r>
                  </m:oMath>
                </a14:m>
                <a:r>
                  <a:rPr lang="en-US" dirty="0">
                    <a:latin typeface="+mj-lt"/>
                    <a:sym typeface="Symbol" pitchFamily="18" charset="2"/>
                  </a:rPr>
                  <a:t>)</a:t>
                </a:r>
              </a:p>
              <a:p>
                <a:pPr>
                  <a:spcBef>
                    <a:spcPct val="50000"/>
                  </a:spcBef>
                </a:pPr>
                <a:r>
                  <a:rPr lang="en-US" dirty="0">
                    <a:latin typeface="+mj-lt"/>
                    <a:sym typeface="Symbol" pitchFamily="18" charset="2"/>
                  </a:rPr>
                  <a:t>				 </a:t>
                </a:r>
                <a:r>
                  <a:rPr lang="en-US" dirty="0" err="1">
                    <a:latin typeface="+mj-lt"/>
                    <a:sym typeface="Symbol" pitchFamily="18" charset="2"/>
                  </a:rPr>
                  <a:t>Branch_And_Bound</a:t>
                </a:r>
                <a:r>
                  <a:rPr lang="en-US" dirty="0">
                    <a:latin typeface="+mj-lt"/>
                    <a:sym typeface="Symbol" pitchFamily="18" charset="2"/>
                  </a:rPr>
                  <a:t> (k+1);</a:t>
                </a:r>
              </a:p>
              <a:p>
                <a:pPr>
                  <a:spcBef>
                    <a:spcPct val="50000"/>
                  </a:spcBef>
                </a:pPr>
                <a:r>
                  <a:rPr lang="en-US" dirty="0">
                    <a:latin typeface="+mj-lt"/>
                    <a:sym typeface="Symbol" pitchFamily="18" charset="2"/>
                  </a:rPr>
                  <a:t>			 </a:t>
                </a:r>
                <a14:m>
                  <m:oMath xmlns:m="http://schemas.openxmlformats.org/officeDocument/2006/math">
                    <m:r>
                      <a:rPr lang="en-US" i="1" dirty="0" smtClean="0">
                        <a:latin typeface="Cambria Math"/>
                        <a:sym typeface="Symbol" pitchFamily="18" charset="2"/>
                      </a:rPr>
                      <m:t>𝑐h𝑢𝑎𝑥𝑒𝑡</m:t>
                    </m:r>
                    <m:r>
                      <a:rPr lang="en-US" i="1" dirty="0">
                        <a:latin typeface="Cambria Math"/>
                        <a:sym typeface="Symbol" pitchFamily="18" charset="2"/>
                      </a:rPr>
                      <m:t>[</m:t>
                    </m:r>
                    <m:r>
                      <a:rPr lang="en-US" i="1" dirty="0">
                        <a:latin typeface="Cambria Math"/>
                        <a:sym typeface="Symbol" pitchFamily="18" charset="2"/>
                      </a:rPr>
                      <m:t>𝑗</m:t>
                    </m:r>
                    <m:r>
                      <a:rPr lang="en-US" i="1" dirty="0">
                        <a:latin typeface="Cambria Math"/>
                        <a:sym typeface="Symbol" pitchFamily="18" charset="2"/>
                      </a:rPr>
                      <m:t>] = </m:t>
                    </m:r>
                    <m:r>
                      <a:rPr lang="en-US" i="1" dirty="0">
                        <a:latin typeface="Cambria Math"/>
                        <a:sym typeface="Symbol" pitchFamily="18" charset="2"/>
                      </a:rPr>
                      <m:t>𝑇𝑟𝑢𝑒</m:t>
                    </m:r>
                    <m:r>
                      <a:rPr lang="en-US" i="1" dirty="0">
                        <a:latin typeface="Cambria Math"/>
                        <a:sym typeface="Symbol" pitchFamily="18" charset="2"/>
                      </a:rPr>
                      <m:t>;  =  − </m:t>
                    </m:r>
                    <m:r>
                      <a:rPr lang="en-US" i="1" dirty="0">
                        <a:latin typeface="Cambria Math"/>
                        <a:sym typeface="Symbol" pitchFamily="18" charset="2"/>
                      </a:rPr>
                      <m:t>𝑐</m:t>
                    </m:r>
                    <m:r>
                      <a:rPr lang="en-US" i="1" dirty="0">
                        <a:latin typeface="Cambria Math"/>
                        <a:sym typeface="Symbol" pitchFamily="18" charset="2"/>
                      </a:rPr>
                      <m:t>[ </m:t>
                    </m:r>
                    <m:r>
                      <a:rPr lang="en-US" i="1" dirty="0">
                        <a:latin typeface="Cambria Math"/>
                        <a:sym typeface="Symbol" pitchFamily="18" charset="2"/>
                      </a:rPr>
                      <m:t>𝑥</m:t>
                    </m:r>
                    <m:r>
                      <a:rPr lang="en-US" i="1" dirty="0">
                        <a:latin typeface="Cambria Math"/>
                        <a:sym typeface="Symbol" pitchFamily="18" charset="2"/>
                      </a:rPr>
                      <m:t>[</m:t>
                    </m:r>
                    <m:r>
                      <a:rPr lang="en-US" i="1" dirty="0">
                        <a:latin typeface="Cambria Math"/>
                        <a:sym typeface="Symbol" pitchFamily="18" charset="2"/>
                      </a:rPr>
                      <m:t>𝑘</m:t>
                    </m:r>
                    <m:r>
                      <a:rPr lang="en-US" i="1" dirty="0">
                        <a:latin typeface="Cambria Math"/>
                        <a:sym typeface="Symbol" pitchFamily="18" charset="2"/>
                      </a:rPr>
                      <m:t>−1], </m:t>
                    </m:r>
                    <m:r>
                      <a:rPr lang="en-US" i="1" dirty="0">
                        <a:latin typeface="Cambria Math"/>
                        <a:sym typeface="Symbol" pitchFamily="18" charset="2"/>
                      </a:rPr>
                      <m:t>𝑥</m:t>
                    </m:r>
                    <m:r>
                      <a:rPr lang="en-US" i="1" dirty="0">
                        <a:latin typeface="Cambria Math"/>
                        <a:sym typeface="Symbol" pitchFamily="18" charset="2"/>
                      </a:rPr>
                      <m:t>[</m:t>
                    </m:r>
                    <m:r>
                      <a:rPr lang="en-US" i="1" dirty="0">
                        <a:latin typeface="Cambria Math"/>
                        <a:sym typeface="Symbol" pitchFamily="18" charset="2"/>
                      </a:rPr>
                      <m:t>𝑘</m:t>
                    </m:r>
                    <m:r>
                      <a:rPr lang="en-US" i="1" dirty="0">
                        <a:latin typeface="Cambria Math"/>
                        <a:sym typeface="Symbol" pitchFamily="18" charset="2"/>
                      </a:rPr>
                      <m:t>]]</m:t>
                    </m:r>
                  </m:oMath>
                </a14:m>
                <a:r>
                  <a:rPr lang="en-US" dirty="0">
                    <a:latin typeface="+mj-lt"/>
                    <a:sym typeface="Symbol" pitchFamily="18" charset="2"/>
                  </a:rPr>
                  <a:t>;</a:t>
                </a:r>
              </a:p>
              <a:p>
                <a:pPr>
                  <a:spcBef>
                    <a:spcPct val="50000"/>
                  </a:spcBef>
                </a:pPr>
                <a:r>
                  <a:rPr lang="en-US" dirty="0">
                    <a:latin typeface="+mj-lt"/>
                    <a:sym typeface="Symbol" pitchFamily="18" charset="2"/>
                  </a:rPr>
                  <a:t>		}</a:t>
                </a:r>
              </a:p>
              <a:p>
                <a:pPr>
                  <a:spcBef>
                    <a:spcPct val="50000"/>
                  </a:spcBef>
                </a:pPr>
                <a:r>
                  <a:rPr lang="en-US" dirty="0">
                    <a:latin typeface="+mj-lt"/>
                    <a:sym typeface="Symbol" pitchFamily="18" charset="2"/>
                  </a:rPr>
                  <a:t>	}</a:t>
                </a:r>
              </a:p>
              <a:p>
                <a:pPr>
                  <a:spcBef>
                    <a:spcPct val="50000"/>
                  </a:spcBef>
                </a:pPr>
                <a:r>
                  <a:rPr lang="en-US" dirty="0">
                    <a:latin typeface="+mj-lt"/>
                    <a:sym typeface="Symbol" pitchFamily="18" charset="2"/>
                  </a:rPr>
                  <a:t>}</a:t>
                </a:r>
                <a:endParaRPr lang="en-US" dirty="0">
                  <a:latin typeface="+mj-lt"/>
                </a:endParaRPr>
              </a:p>
            </p:txBody>
          </p:sp>
        </mc:Choice>
        <mc:Fallback>
          <p:sp>
            <p:nvSpPr>
              <p:cNvPr id="6" name="TextBox 5"/>
              <p:cNvSpPr txBox="1">
                <a:spLocks noRot="1" noChangeAspect="1" noMove="1" noResize="1" noEditPoints="1" noAdjustHandles="1" noChangeArrowheads="1" noChangeShapeType="1" noTextEdit="1"/>
              </p:cNvSpPr>
              <p:nvPr/>
            </p:nvSpPr>
            <p:spPr>
              <a:xfrm>
                <a:off x="1066800" y="1260187"/>
                <a:ext cx="7906075" cy="4939814"/>
              </a:xfrm>
              <a:prstGeom prst="rect">
                <a:avLst/>
              </a:prstGeom>
              <a:blipFill>
                <a:blip r:embed="rId2"/>
                <a:stretch>
                  <a:fillRect l="-617" t="-617" b="-1111"/>
                </a:stretch>
              </a:blipFill>
            </p:spPr>
            <p:txBody>
              <a:bodyPr/>
              <a:lstStyle/>
              <a:p>
                <a:r>
                  <a:rPr lang="en-US">
                    <a:noFill/>
                  </a:rPr>
                  <a:t> </a:t>
                </a:r>
              </a:p>
            </p:txBody>
          </p:sp>
        </mc:Fallback>
      </mc:AlternateContent>
    </p:spTree>
    <p:extLst>
      <p:ext uri="{BB962C8B-B14F-4D97-AF65-F5344CB8AC3E}">
        <p14:creationId xmlns:p14="http://schemas.microsoft.com/office/powerpoint/2010/main" val="377360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a:t>Solve the tourist problem by branch-and-bound algorithm</a:t>
            </a:r>
            <a:r>
              <a:rPr lang="en-US" dirty="0"/>
              <a:t> (4/4)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grpSp>
        <p:nvGrpSpPr>
          <p:cNvPr id="37" name="Group 36"/>
          <p:cNvGrpSpPr/>
          <p:nvPr/>
        </p:nvGrpSpPr>
        <p:grpSpPr>
          <a:xfrm>
            <a:off x="152400" y="1253069"/>
            <a:ext cx="8991600" cy="4843817"/>
            <a:chOff x="76200" y="1371600"/>
            <a:chExt cx="8991600" cy="5128748"/>
          </a:xfrm>
        </p:grpSpPr>
        <p:sp>
          <p:nvSpPr>
            <p:cNvPr id="6" name="Rectangle 7"/>
            <p:cNvSpPr>
              <a:spLocks noChangeArrowheads="1"/>
            </p:cNvSpPr>
            <p:nvPr/>
          </p:nvSpPr>
          <p:spPr bwMode="auto">
            <a:xfrm>
              <a:off x="5334000" y="1371600"/>
              <a:ext cx="1066800"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t>FOPT= +</a:t>
              </a:r>
              <a:r>
                <a:rPr lang="en-US" dirty="0">
                  <a:sym typeface="Symbol" pitchFamily="18" charset="2"/>
                </a:rPr>
                <a:t></a:t>
              </a:r>
            </a:p>
          </p:txBody>
        </p:sp>
        <p:sp>
          <p:nvSpPr>
            <p:cNvPr id="7" name="Rectangle 68"/>
            <p:cNvSpPr>
              <a:spLocks noChangeArrowheads="1"/>
            </p:cNvSpPr>
            <p:nvPr/>
          </p:nvSpPr>
          <p:spPr bwMode="auto">
            <a:xfrm>
              <a:off x="1447800" y="2743200"/>
              <a:ext cx="15240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 =3, g=15</a:t>
              </a:r>
            </a:p>
          </p:txBody>
        </p:sp>
        <p:sp>
          <p:nvSpPr>
            <p:cNvPr id="8" name="Line 72"/>
            <p:cNvSpPr>
              <a:spLocks noChangeShapeType="1"/>
            </p:cNvSpPr>
            <p:nvPr/>
          </p:nvSpPr>
          <p:spPr bwMode="auto">
            <a:xfrm flipH="1">
              <a:off x="2438400" y="1828800"/>
              <a:ext cx="28956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 name="Line 73"/>
            <p:cNvSpPr>
              <a:spLocks noChangeShapeType="1"/>
            </p:cNvSpPr>
            <p:nvPr/>
          </p:nvSpPr>
          <p:spPr bwMode="auto">
            <a:xfrm flipH="1">
              <a:off x="4495800" y="1828800"/>
              <a:ext cx="11430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Line 74"/>
            <p:cNvSpPr>
              <a:spLocks noChangeShapeType="1"/>
            </p:cNvSpPr>
            <p:nvPr/>
          </p:nvSpPr>
          <p:spPr bwMode="auto">
            <a:xfrm>
              <a:off x="6019800" y="1828800"/>
              <a:ext cx="2286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Line 75"/>
            <p:cNvSpPr>
              <a:spLocks noChangeShapeType="1"/>
            </p:cNvSpPr>
            <p:nvPr/>
          </p:nvSpPr>
          <p:spPr bwMode="auto">
            <a:xfrm>
              <a:off x="6400800" y="1752600"/>
              <a:ext cx="20574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Rectangle 77"/>
            <p:cNvSpPr>
              <a:spLocks noChangeArrowheads="1"/>
            </p:cNvSpPr>
            <p:nvPr/>
          </p:nvSpPr>
          <p:spPr bwMode="auto">
            <a:xfrm>
              <a:off x="3352800" y="2743200"/>
              <a:ext cx="1600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(1,3), =14, g=26</a:t>
              </a:r>
            </a:p>
          </p:txBody>
        </p:sp>
        <p:sp>
          <p:nvSpPr>
            <p:cNvPr id="13" name="Rectangle 78"/>
            <p:cNvSpPr>
              <a:spLocks noChangeArrowheads="1"/>
            </p:cNvSpPr>
            <p:nvPr/>
          </p:nvSpPr>
          <p:spPr bwMode="auto">
            <a:xfrm>
              <a:off x="5334000" y="2743200"/>
              <a:ext cx="1600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(1,4), =18, g=30</a:t>
              </a:r>
            </a:p>
          </p:txBody>
        </p:sp>
        <p:sp>
          <p:nvSpPr>
            <p:cNvPr id="14" name="Rectangle 79"/>
            <p:cNvSpPr>
              <a:spLocks noChangeArrowheads="1"/>
            </p:cNvSpPr>
            <p:nvPr/>
          </p:nvSpPr>
          <p:spPr bwMode="auto">
            <a:xfrm>
              <a:off x="7239000" y="2743200"/>
              <a:ext cx="16764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(1,5), =15, g=27</a:t>
              </a:r>
            </a:p>
          </p:txBody>
        </p:sp>
        <p:sp>
          <p:nvSpPr>
            <p:cNvPr id="15" name="Rectangle 80"/>
            <p:cNvSpPr>
              <a:spLocks noChangeArrowheads="1"/>
            </p:cNvSpPr>
            <p:nvPr/>
          </p:nvSpPr>
          <p:spPr bwMode="auto">
            <a:xfrm>
              <a:off x="76200" y="3962400"/>
              <a:ext cx="17526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(1,2,3), =7, g=16</a:t>
              </a:r>
            </a:p>
          </p:txBody>
        </p:sp>
        <p:sp>
          <p:nvSpPr>
            <p:cNvPr id="16" name="Rectangle 81"/>
            <p:cNvSpPr>
              <a:spLocks noChangeArrowheads="1"/>
            </p:cNvSpPr>
            <p:nvPr/>
          </p:nvSpPr>
          <p:spPr bwMode="auto">
            <a:xfrm>
              <a:off x="2133600" y="3962400"/>
              <a:ext cx="18288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(1,2,4), =25, g=34</a:t>
              </a:r>
            </a:p>
          </p:txBody>
        </p:sp>
        <p:sp>
          <p:nvSpPr>
            <p:cNvPr id="17" name="Rectangle 82"/>
            <p:cNvSpPr>
              <a:spLocks noChangeArrowheads="1"/>
            </p:cNvSpPr>
            <p:nvPr/>
          </p:nvSpPr>
          <p:spPr bwMode="auto">
            <a:xfrm>
              <a:off x="4191000" y="3962400"/>
              <a:ext cx="18288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sym typeface="Symbol" pitchFamily="18" charset="2"/>
                </a:rPr>
                <a:t>(1,2,5), =23, g=32</a:t>
              </a:r>
            </a:p>
          </p:txBody>
        </p:sp>
        <p:sp>
          <p:nvSpPr>
            <p:cNvPr id="18" name="Line 83"/>
            <p:cNvSpPr>
              <a:spLocks noChangeShapeType="1"/>
            </p:cNvSpPr>
            <p:nvPr/>
          </p:nvSpPr>
          <p:spPr bwMode="auto">
            <a:xfrm flipH="1">
              <a:off x="914400" y="3276600"/>
              <a:ext cx="990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84"/>
            <p:cNvSpPr>
              <a:spLocks noChangeShapeType="1"/>
            </p:cNvSpPr>
            <p:nvPr/>
          </p:nvSpPr>
          <p:spPr bwMode="auto">
            <a:xfrm>
              <a:off x="2514600" y="3276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85"/>
            <p:cNvSpPr>
              <a:spLocks noChangeShapeType="1"/>
            </p:cNvSpPr>
            <p:nvPr/>
          </p:nvSpPr>
          <p:spPr bwMode="auto">
            <a:xfrm>
              <a:off x="2819400" y="3276600"/>
              <a:ext cx="2209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Rectangle 86"/>
            <p:cNvSpPr>
              <a:spLocks noChangeArrowheads="1"/>
            </p:cNvSpPr>
            <p:nvPr/>
          </p:nvSpPr>
          <p:spPr bwMode="auto">
            <a:xfrm>
              <a:off x="76200" y="4876800"/>
              <a:ext cx="2057400"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(1,2,3,4), =23, g=29</a:t>
              </a:r>
            </a:p>
          </p:txBody>
        </p:sp>
        <p:sp>
          <p:nvSpPr>
            <p:cNvPr id="22" name="Rectangle 87"/>
            <p:cNvSpPr>
              <a:spLocks noChangeArrowheads="1"/>
            </p:cNvSpPr>
            <p:nvPr/>
          </p:nvSpPr>
          <p:spPr bwMode="auto">
            <a:xfrm>
              <a:off x="2819400" y="5105400"/>
              <a:ext cx="19812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(1,2,3,5), =11, g=17</a:t>
              </a:r>
            </a:p>
          </p:txBody>
        </p:sp>
        <p:sp>
          <p:nvSpPr>
            <p:cNvPr id="23" name="Line 88"/>
            <p:cNvSpPr>
              <a:spLocks noChangeShapeType="1"/>
            </p:cNvSpPr>
            <p:nvPr/>
          </p:nvSpPr>
          <p:spPr bwMode="auto">
            <a:xfrm>
              <a:off x="838200" y="44958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89"/>
            <p:cNvSpPr>
              <a:spLocks noChangeShapeType="1"/>
            </p:cNvSpPr>
            <p:nvPr/>
          </p:nvSpPr>
          <p:spPr bwMode="auto">
            <a:xfrm>
              <a:off x="1828800" y="4495800"/>
              <a:ext cx="990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Rectangle 90"/>
            <p:cNvSpPr>
              <a:spLocks noChangeArrowheads="1"/>
            </p:cNvSpPr>
            <p:nvPr/>
          </p:nvSpPr>
          <p:spPr bwMode="auto">
            <a:xfrm>
              <a:off x="76200" y="5562600"/>
              <a:ext cx="2133600" cy="533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(1,2,3,4,5), =35, g=38</a:t>
              </a:r>
            </a:p>
          </p:txBody>
        </p:sp>
        <p:sp>
          <p:nvSpPr>
            <p:cNvPr id="26" name="Rectangle 91"/>
            <p:cNvSpPr>
              <a:spLocks noChangeArrowheads="1"/>
            </p:cNvSpPr>
            <p:nvPr/>
          </p:nvSpPr>
          <p:spPr bwMode="auto">
            <a:xfrm>
              <a:off x="3581400" y="5997389"/>
              <a:ext cx="2209800"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dirty="0">
                  <a:sym typeface="Symbol" pitchFamily="18" charset="2"/>
                </a:rPr>
                <a:t>(1,2,3,5,4), =16, g=19</a:t>
              </a:r>
            </a:p>
          </p:txBody>
        </p:sp>
        <p:sp>
          <p:nvSpPr>
            <p:cNvPr id="27" name="Line 92"/>
            <p:cNvSpPr>
              <a:spLocks noChangeShapeType="1"/>
            </p:cNvSpPr>
            <p:nvPr/>
          </p:nvSpPr>
          <p:spPr bwMode="auto">
            <a:xfrm>
              <a:off x="838200" y="53340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93"/>
            <p:cNvSpPr>
              <a:spLocks noChangeShapeType="1"/>
            </p:cNvSpPr>
            <p:nvPr/>
          </p:nvSpPr>
          <p:spPr bwMode="auto">
            <a:xfrm>
              <a:off x="3771900" y="5638798"/>
              <a:ext cx="723900" cy="3585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Text Box 95"/>
            <p:cNvSpPr txBox="1">
              <a:spLocks noChangeArrowheads="1"/>
            </p:cNvSpPr>
            <p:nvPr/>
          </p:nvSpPr>
          <p:spPr bwMode="auto">
            <a:xfrm>
              <a:off x="6858000" y="4800600"/>
              <a:ext cx="2209800" cy="9776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t>Discarded because it has a larger lower bound 22</a:t>
              </a:r>
            </a:p>
          </p:txBody>
        </p:sp>
        <p:sp>
          <p:nvSpPr>
            <p:cNvPr id="30" name="Line 96"/>
            <p:cNvSpPr>
              <a:spLocks noChangeShapeType="1"/>
            </p:cNvSpPr>
            <p:nvPr/>
          </p:nvSpPr>
          <p:spPr bwMode="auto">
            <a:xfrm>
              <a:off x="3505200" y="4495800"/>
              <a:ext cx="3352800" cy="630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97"/>
            <p:cNvSpPr>
              <a:spLocks noChangeShapeType="1"/>
            </p:cNvSpPr>
            <p:nvPr/>
          </p:nvSpPr>
          <p:spPr bwMode="auto">
            <a:xfrm>
              <a:off x="6019800" y="4419600"/>
              <a:ext cx="16764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98"/>
            <p:cNvSpPr>
              <a:spLocks noChangeShapeType="1"/>
            </p:cNvSpPr>
            <p:nvPr/>
          </p:nvSpPr>
          <p:spPr bwMode="auto">
            <a:xfrm>
              <a:off x="4953000" y="3276600"/>
              <a:ext cx="289560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99"/>
            <p:cNvSpPr>
              <a:spLocks noChangeShapeType="1"/>
            </p:cNvSpPr>
            <p:nvPr/>
          </p:nvSpPr>
          <p:spPr bwMode="auto">
            <a:xfrm>
              <a:off x="6324600" y="3276600"/>
              <a:ext cx="167640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100"/>
            <p:cNvSpPr>
              <a:spLocks noChangeShapeType="1"/>
            </p:cNvSpPr>
            <p:nvPr/>
          </p:nvSpPr>
          <p:spPr bwMode="auto">
            <a:xfrm flipH="1">
              <a:off x="8153400" y="3276600"/>
              <a:ext cx="15240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Text Box 101"/>
            <p:cNvSpPr txBox="1">
              <a:spLocks noChangeArrowheads="1"/>
            </p:cNvSpPr>
            <p:nvPr/>
          </p:nvSpPr>
          <p:spPr bwMode="auto">
            <a:xfrm>
              <a:off x="6477000" y="5750822"/>
              <a:ext cx="2286000" cy="7495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600" dirty="0">
                  <a:latin typeface="Tahoma" panose="020B0604030504040204" pitchFamily="34" charset="0"/>
                  <a:ea typeface="Tahoma" panose="020B0604030504040204" pitchFamily="34" charset="0"/>
                  <a:cs typeface="Tahoma" panose="020B0604030504040204" pitchFamily="34" charset="0"/>
                  <a:sym typeface="Symbol" pitchFamily="18" charset="2"/>
                </a:rPr>
                <a:t>Journey </a:t>
              </a:r>
              <a:r>
                <a:rPr lang="en-US" sz="1600" dirty="0">
                  <a:latin typeface="Tahoma" pitchFamily="34" charset="0"/>
                  <a:ea typeface="Tahoma" pitchFamily="34" charset="0"/>
                  <a:cs typeface="Tahoma" pitchFamily="34" charset="0"/>
                </a:rPr>
                <a:t>:1,2,3,5,4,1</a:t>
              </a:r>
            </a:p>
            <a:p>
              <a:pPr eaLnBrk="1" hangingPunct="1">
                <a:spcBef>
                  <a:spcPct val="50000"/>
                </a:spcBef>
              </a:pPr>
              <a:r>
                <a:rPr lang="en-US" sz="1600" dirty="0">
                  <a:latin typeface="Tahoma" pitchFamily="34" charset="0"/>
                  <a:ea typeface="Tahoma" pitchFamily="34" charset="0"/>
                  <a:cs typeface="Tahoma" pitchFamily="34" charset="0"/>
                </a:rPr>
                <a:t>Cost: 22</a:t>
              </a:r>
            </a:p>
          </p:txBody>
        </p:sp>
        <p:sp>
          <p:nvSpPr>
            <p:cNvPr id="36" name="Line 102"/>
            <p:cNvSpPr>
              <a:spLocks noChangeShapeType="1"/>
            </p:cNvSpPr>
            <p:nvPr/>
          </p:nvSpPr>
          <p:spPr bwMode="auto">
            <a:xfrm>
              <a:off x="5791200" y="6242798"/>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9" name="Text Box 101"/>
          <p:cNvSpPr txBox="1">
            <a:spLocks noChangeArrowheads="1"/>
          </p:cNvSpPr>
          <p:nvPr/>
        </p:nvSpPr>
        <p:spPr bwMode="auto">
          <a:xfrm>
            <a:off x="1219200" y="5943600"/>
            <a:ext cx="2286000" cy="7078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1600" dirty="0" err="1">
                <a:latin typeface="Tahoma" pitchFamily="34" charset="0"/>
                <a:ea typeface="Tahoma" pitchFamily="34" charset="0"/>
                <a:cs typeface="Tahoma" pitchFamily="34" charset="0"/>
              </a:rPr>
              <a:t>Hành</a:t>
            </a:r>
            <a:r>
              <a:rPr lang="en-US" sz="1600" dirty="0">
                <a:latin typeface="Tahoma" pitchFamily="34" charset="0"/>
                <a:ea typeface="Tahoma" pitchFamily="34" charset="0"/>
                <a:cs typeface="Tahoma" pitchFamily="34" charset="0"/>
              </a:rPr>
              <a:t> trình:1,2,3,4,5,1</a:t>
            </a:r>
          </a:p>
          <a:p>
            <a:pPr eaLnBrk="1" hangingPunct="1">
              <a:spcBef>
                <a:spcPct val="50000"/>
              </a:spcBef>
            </a:pPr>
            <a:r>
              <a:rPr lang="en-US" sz="1600" dirty="0">
                <a:latin typeface="Tahoma" pitchFamily="34" charset="0"/>
                <a:ea typeface="Tahoma" pitchFamily="34" charset="0"/>
                <a:cs typeface="Tahoma" pitchFamily="34" charset="0"/>
              </a:rPr>
              <a:t>Chi </a:t>
            </a:r>
            <a:r>
              <a:rPr lang="en-US" sz="1600" dirty="0" err="1">
                <a:latin typeface="Tahoma" pitchFamily="34" charset="0"/>
                <a:ea typeface="Tahoma" pitchFamily="34" charset="0"/>
                <a:cs typeface="Tahoma" pitchFamily="34" charset="0"/>
              </a:rPr>
              <a:t>phí</a:t>
            </a:r>
            <a:r>
              <a:rPr lang="en-US" sz="1600" dirty="0">
                <a:latin typeface="Tahoma" pitchFamily="34" charset="0"/>
                <a:ea typeface="Tahoma" pitchFamily="34" charset="0"/>
                <a:cs typeface="Tahoma" pitchFamily="34" charset="0"/>
              </a:rPr>
              <a:t>: 44</a:t>
            </a:r>
          </a:p>
        </p:txBody>
      </p:sp>
      <p:sp>
        <p:nvSpPr>
          <p:cNvPr id="40" name="Line 93"/>
          <p:cNvSpPr>
            <a:spLocks noChangeShapeType="1"/>
          </p:cNvSpPr>
          <p:nvPr/>
        </p:nvSpPr>
        <p:spPr bwMode="auto">
          <a:xfrm>
            <a:off x="857250" y="5833531"/>
            <a:ext cx="361950" cy="4640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3654772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4148</TotalTime>
  <Words>3697</Words>
  <Application>Microsoft Office PowerPoint</Application>
  <PresentationFormat>On-screen Show (4:3)</PresentationFormat>
  <Paragraphs>380</Paragraphs>
  <Slides>39</Slides>
  <Notes>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2" baseType="lpstr">
      <vt:lpstr>Arial</vt:lpstr>
      <vt:lpstr>Bookman Old Style</vt:lpstr>
      <vt:lpstr>Calibri</vt:lpstr>
      <vt:lpstr>Cambria Math</vt:lpstr>
      <vt:lpstr>Courier New</vt:lpstr>
      <vt:lpstr>Georgia</vt:lpstr>
      <vt:lpstr>Gill Sans MT</vt:lpstr>
      <vt:lpstr>Tahoma</vt:lpstr>
      <vt:lpstr>Trebuchet MS</vt:lpstr>
      <vt:lpstr>Wingdings</vt:lpstr>
      <vt:lpstr>Wingdings 3</vt:lpstr>
      <vt:lpstr>Origin</vt:lpstr>
      <vt:lpstr>Equation</vt:lpstr>
      <vt:lpstr>Optimization problem</vt:lpstr>
      <vt:lpstr>Contents</vt:lpstr>
      <vt:lpstr>Introduce optimization problem</vt:lpstr>
      <vt:lpstr>Optimization problem</vt:lpstr>
      <vt:lpstr>Example 1 (1/4)</vt:lpstr>
      <vt:lpstr>Example 1 (2/4)</vt:lpstr>
      <vt:lpstr>Example 1 (3/4)</vt:lpstr>
      <vt:lpstr>Example 1 (4/4)</vt:lpstr>
      <vt:lpstr>Example 2 (1/4)</vt:lpstr>
      <vt:lpstr>Example 2 (2/4)</vt:lpstr>
      <vt:lpstr>Example 2 (3/4)</vt:lpstr>
      <vt:lpstr>Example 2 (4/4)</vt:lpstr>
      <vt:lpstr>Example 3 (1/3)</vt:lpstr>
      <vt:lpstr>Example 3 (2/3)</vt:lpstr>
      <vt:lpstr>Example 3 (3/3)</vt:lpstr>
      <vt:lpstr>Example 4 (1/3)</vt:lpstr>
      <vt:lpstr>Example 4 (2/3)</vt:lpstr>
      <vt:lpstr>Example 4 (3/3)</vt:lpstr>
      <vt:lpstr>Contents</vt:lpstr>
      <vt:lpstr>Brute force algorithm</vt:lpstr>
      <vt:lpstr>Features of Brute force algorithm</vt:lpstr>
      <vt:lpstr>Exercise</vt:lpstr>
      <vt:lpstr>Contents</vt:lpstr>
      <vt:lpstr>Branch-and-bound algorithm</vt:lpstr>
      <vt:lpstr>Limiting solution</vt:lpstr>
      <vt:lpstr>Branch-and-bound algorithm (pseudo code)</vt:lpstr>
      <vt:lpstr>Construct the function g</vt:lpstr>
      <vt:lpstr>Solving the Bag problem by branch-and-bound algorithm (1/4)</vt:lpstr>
      <vt:lpstr>Solving the Bag problem by branch-and-bound algorithm (2/4)</vt:lpstr>
      <vt:lpstr>Solving the Bag problem by branch-and-bound algorithm (3/4)</vt:lpstr>
      <vt:lpstr>Solving the Bag problem by branch-and-bound algorithm (4/4)</vt:lpstr>
      <vt:lpstr>Example 5 (1/2)</vt:lpstr>
      <vt:lpstr>Example 5 (2/2)</vt:lpstr>
      <vt:lpstr>Exercise 1</vt:lpstr>
      <vt:lpstr>Exercise 2</vt:lpstr>
      <vt:lpstr>Solve the tourist problem by branch-and-bound algorithm (1/4)</vt:lpstr>
      <vt:lpstr>Solve the tourist problem by branch-and-bound algorithm (2/4)</vt:lpstr>
      <vt:lpstr>Solve the tourist problem by branch-and-bound algorithm (3/4)</vt:lpstr>
      <vt:lpstr>Solve the tourist problem by branch-and-bound algorithm (4/4)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bachnx</dc:creator>
  <cp:lastModifiedBy>Thuy Quynh</cp:lastModifiedBy>
  <cp:revision>372</cp:revision>
  <dcterms:created xsi:type="dcterms:W3CDTF">2006-08-16T00:00:00Z</dcterms:created>
  <dcterms:modified xsi:type="dcterms:W3CDTF">2022-11-07T11:05:22Z</dcterms:modified>
</cp:coreProperties>
</file>