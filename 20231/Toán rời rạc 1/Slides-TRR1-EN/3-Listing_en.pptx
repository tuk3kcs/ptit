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76" r:id="rId1"/>
  </p:sldMasterIdLst>
  <p:notesMasterIdLst>
    <p:notesMasterId r:id="rId38"/>
  </p:notesMasterIdLst>
  <p:handoutMasterIdLst>
    <p:handoutMasterId r:id="rId39"/>
  </p:handoutMasterIdLst>
  <p:sldIdLst>
    <p:sldId id="256" r:id="rId2"/>
    <p:sldId id="257" r:id="rId3"/>
    <p:sldId id="258" r:id="rId4"/>
    <p:sldId id="259" r:id="rId5"/>
    <p:sldId id="260" r:id="rId6"/>
    <p:sldId id="261" r:id="rId7"/>
    <p:sldId id="296" r:id="rId8"/>
    <p:sldId id="263" r:id="rId9"/>
    <p:sldId id="264" r:id="rId10"/>
    <p:sldId id="265" r:id="rId11"/>
    <p:sldId id="266" r:id="rId12"/>
    <p:sldId id="273" r:id="rId13"/>
    <p:sldId id="274" r:id="rId14"/>
    <p:sldId id="278" r:id="rId15"/>
    <p:sldId id="267" r:id="rId16"/>
    <p:sldId id="268" r:id="rId17"/>
    <p:sldId id="269" r:id="rId18"/>
    <p:sldId id="275" r:id="rId19"/>
    <p:sldId id="270" r:id="rId20"/>
    <p:sldId id="271" r:id="rId21"/>
    <p:sldId id="272" r:id="rId22"/>
    <p:sldId id="297" r:id="rId23"/>
    <p:sldId id="279"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p:cViewPr varScale="1">
        <p:scale>
          <a:sx n="72" d="100"/>
          <a:sy n="72" d="100"/>
        </p:scale>
        <p:origin x="132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D26F4E3-F401-4DC3-88B8-6423B362AAD2}" type="datetimeFigureOut">
              <a:rPr lang="en-US" smtClean="0"/>
              <a:t>11/7/2022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Ngô Xuân Bách</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D43EF8E-F52D-4609-913F-23254647DF12}" type="slidenum">
              <a:rPr lang="en-US" smtClean="0"/>
              <a:t>‹#›</a:t>
            </a:fld>
            <a:endParaRPr lang="en-US"/>
          </a:p>
        </p:txBody>
      </p:sp>
    </p:spTree>
    <p:extLst>
      <p:ext uri="{BB962C8B-B14F-4D97-AF65-F5344CB8AC3E}">
        <p14:creationId xmlns:p14="http://schemas.microsoft.com/office/powerpoint/2010/main" val="97970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72C9E9-F47F-43FB-BD67-61E05AD56ABC}" type="datetimeFigureOut">
              <a:rPr lang="en-US" smtClean="0"/>
              <a:t>11/7/2022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a:t>Ngô Xuân Bách</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213A30B-9554-4543-B09D-457694D42B7A}" type="slidenum">
              <a:rPr lang="en-US" smtClean="0"/>
              <a:t>‹#›</a:t>
            </a:fld>
            <a:endParaRPr lang="en-US"/>
          </a:p>
        </p:txBody>
      </p:sp>
    </p:spTree>
    <p:extLst>
      <p:ext uri="{BB962C8B-B14F-4D97-AF65-F5344CB8AC3E}">
        <p14:creationId xmlns:p14="http://schemas.microsoft.com/office/powerpoint/2010/main" val="1867261932"/>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1525100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896535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pic>
        <p:nvPicPr>
          <p:cNvPr id="11"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6200" y="63499"/>
            <a:ext cx="1600200" cy="175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Footer Placeholder 4"/>
          <p:cNvSpPr>
            <a:spLocks noGrp="1"/>
          </p:cNvSpPr>
          <p:nvPr>
            <p:ph type="ftr" sz="quarter" idx="11"/>
          </p:nvPr>
        </p:nvSpPr>
        <p:spPr/>
        <p:txBody>
          <a:bodyPr/>
          <a:lstStyle/>
          <a:p>
            <a:r>
              <a:rPr lang="en-US"/>
              <a:t>http://www.ptit.edu.vn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6" name="Footer Placeholder 5"/>
          <p:cNvSpPr>
            <a:spLocks noGrp="1"/>
          </p:cNvSpPr>
          <p:nvPr>
            <p:ph type="ftr" sz="quarter" idx="11"/>
          </p:nvPr>
        </p:nvSpPr>
        <p:spPr/>
        <p:txBody>
          <a:bodyPr/>
          <a:lstStyle/>
          <a:p>
            <a:r>
              <a:rPr lang="en-US"/>
              <a:t>http://www.ptit.edu.vn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8" name="Footer Placeholder 7"/>
          <p:cNvSpPr>
            <a:spLocks noGrp="1"/>
          </p:cNvSpPr>
          <p:nvPr>
            <p:ph type="ftr" sz="quarter" idx="11"/>
          </p:nvPr>
        </p:nvSpPr>
        <p:spPr/>
        <p:txBody>
          <a:bodyPr/>
          <a:lstStyle/>
          <a:p>
            <a:r>
              <a:rPr lang="en-US"/>
              <a:t>http://www.ptit.edu.vn</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a:xfrm>
            <a:off x="6400800" y="6356350"/>
            <a:ext cx="2289048" cy="365760"/>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a:t>http://www.ptit.edu.vn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400800" y="6356350"/>
            <a:ext cx="2289048" cy="365760"/>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pic>
        <p:nvPicPr>
          <p:cNvPr id="7"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6200" y="63500"/>
            <a:ext cx="9144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6400800" y="6356350"/>
            <a:ext cx="2289048" cy="365760"/>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http://www.ptit.edu.vn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pic>
        <p:nvPicPr>
          <p:cNvPr id="11"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6200" y="63500"/>
            <a:ext cx="9144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6400800" y="6356350"/>
            <a:ext cx="2289048" cy="365760"/>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http://www.ptit.edu.vn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Footer Placeholder 4"/>
          <p:cNvSpPr>
            <a:spLocks noGrp="1"/>
          </p:cNvSpPr>
          <p:nvPr>
            <p:ph type="ftr" sz="quarter" idx="11"/>
          </p:nvPr>
        </p:nvSpPr>
        <p:spPr/>
        <p:txBody>
          <a:bodyPr/>
          <a:lstStyle/>
          <a:p>
            <a:r>
              <a:rPr lang="en-US"/>
              <a:t>http://www.ptit.edu.vn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Footer Placeholder 4"/>
          <p:cNvSpPr>
            <a:spLocks noGrp="1"/>
          </p:cNvSpPr>
          <p:nvPr>
            <p:ph type="ftr" sz="quarter" idx="11"/>
          </p:nvPr>
        </p:nvSpPr>
        <p:spPr/>
        <p:txBody>
          <a:bodyPr/>
          <a:lstStyle/>
          <a:p>
            <a:r>
              <a:rPr lang="en-US"/>
              <a:t>http://www.ptit.edu.vn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dirty="0"/>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3" name="Footer Placeholder 2"/>
          <p:cNvSpPr>
            <a:spLocks noGrp="1"/>
          </p:cNvSpPr>
          <p:nvPr>
            <p:ph type="ftr" sz="quarter" idx="3"/>
          </p:nvPr>
        </p:nvSpPr>
        <p:spPr>
          <a:xfrm>
            <a:off x="5181600" y="6356350"/>
            <a:ext cx="3505200" cy="365760"/>
          </a:xfrm>
          <a:prstGeom prst="rect">
            <a:avLst/>
          </a:prstGeom>
        </p:spPr>
        <p:txBody>
          <a:bodyPr vert="horz"/>
          <a:lstStyle>
            <a:lvl1pPr algn="r" eaLnBrk="1" latinLnBrk="0" hangingPunct="1">
              <a:defRPr kumimoji="0" sz="1400">
                <a:solidFill>
                  <a:schemeClr val="tx2"/>
                </a:solidFill>
              </a:defRPr>
            </a:lvl1pPr>
          </a:lstStyle>
          <a:p>
            <a:r>
              <a:rPr lang="en-US"/>
              <a:t>http://www.ptit.edu.vn</a:t>
            </a:r>
            <a:endParaRPr lang="en-US" dirty="0"/>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B6F15528-21DE-4FAA-801E-634DDDAF4B2B}"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pic>
        <p:nvPicPr>
          <p:cNvPr id="11" name="Picture 15"/>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6200" y="63500"/>
            <a:ext cx="9144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77" r:id="rId1"/>
    <p:sldLayoutId id="2147484178" r:id="rId2"/>
    <p:sldLayoutId id="2147484179" r:id="rId3"/>
    <p:sldLayoutId id="2147484180" r:id="rId4"/>
    <p:sldLayoutId id="2147484181" r:id="rId5"/>
    <p:sldLayoutId id="2147484182" r:id="rId6"/>
    <p:sldLayoutId id="2147484183" r:id="rId7"/>
    <p:sldLayoutId id="2147484184" r:id="rId8"/>
    <p:sldLayoutId id="2147484185" r:id="rId9"/>
    <p:sldLayoutId id="2147484186" r:id="rId10"/>
    <p:sldLayoutId id="2147484187" r:id="rId11"/>
  </p:sldLayoutIdLst>
  <p:hf hdr="0" dt="0"/>
  <p:txStyles>
    <p:titleStyle>
      <a:lvl1pPr algn="ctr"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400" kern="1200">
          <a:solidFill>
            <a:schemeClr val="tx1"/>
          </a:solidFill>
          <a:latin typeface="Tahoma" pitchFamily="34" charset="0"/>
          <a:ea typeface="Tahoma" pitchFamily="34" charset="0"/>
          <a:cs typeface="Tahoma" pitchFamily="34" charset="0"/>
        </a:defRPr>
      </a:lvl1pPr>
      <a:lvl2pPr marL="548640" indent="-274320" algn="l" rtl="0" eaLnBrk="1" latinLnBrk="0" hangingPunct="1">
        <a:spcBef>
          <a:spcPts val="500"/>
        </a:spcBef>
        <a:buClr>
          <a:schemeClr val="accent2"/>
        </a:buClr>
        <a:buSzPct val="76000"/>
        <a:buFont typeface="Courier New" pitchFamily="49" charset="0"/>
        <a:buChar char="o"/>
        <a:defRPr kumimoji="0" sz="2000" kern="1200">
          <a:solidFill>
            <a:schemeClr val="tx2"/>
          </a:solidFill>
          <a:latin typeface="Tahoma" pitchFamily="34" charset="0"/>
          <a:ea typeface="Tahoma" pitchFamily="34" charset="0"/>
          <a:cs typeface="Tahoma" pitchFamily="34" charset="0"/>
        </a:defRPr>
      </a:lvl2pPr>
      <a:lvl3pPr marL="822960" indent="-228600" algn="l" rtl="0" eaLnBrk="1" latinLnBrk="0" hangingPunct="1">
        <a:spcBef>
          <a:spcPts val="500"/>
        </a:spcBef>
        <a:buClr>
          <a:schemeClr val="bg1">
            <a:shade val="50000"/>
          </a:schemeClr>
        </a:buClr>
        <a:buSzPct val="76000"/>
        <a:buFont typeface="Wingdings" pitchFamily="2" charset="2"/>
        <a:buChar char="§"/>
        <a:defRPr kumimoji="0" sz="1800" kern="1200">
          <a:solidFill>
            <a:schemeClr val="tx1"/>
          </a:solidFill>
          <a:latin typeface="Tahoma" pitchFamily="34" charset="0"/>
          <a:ea typeface="Tahoma" pitchFamily="34" charset="0"/>
          <a:cs typeface="Tahoma" pitchFamily="34" charset="0"/>
        </a:defRPr>
      </a:lvl3pPr>
      <a:lvl4pPr marL="1097280" indent="-228600" algn="l" rtl="0" eaLnBrk="1" latinLnBrk="0" hangingPunct="1">
        <a:spcBef>
          <a:spcPts val="400"/>
        </a:spcBef>
        <a:buClr>
          <a:schemeClr val="accent2">
            <a:shade val="75000"/>
          </a:schemeClr>
        </a:buClr>
        <a:buSzPct val="70000"/>
        <a:buFont typeface="Wingdings"/>
        <a:buChar char=""/>
        <a:defRPr kumimoji="0" sz="1600" kern="1200">
          <a:solidFill>
            <a:schemeClr val="tx1"/>
          </a:solidFill>
          <a:latin typeface="Tahoma" pitchFamily="34" charset="0"/>
          <a:ea typeface="Tahoma" pitchFamily="34" charset="0"/>
          <a:cs typeface="Tahoma" pitchFamily="34" charset="0"/>
        </a:defRPr>
      </a:lvl4pPr>
      <a:lvl5pPr marL="1371600" indent="-228600" algn="l" rtl="0" eaLnBrk="1" latinLnBrk="0" hangingPunct="1">
        <a:spcBef>
          <a:spcPts val="300"/>
        </a:spcBef>
        <a:buClr>
          <a:schemeClr val="accent2"/>
        </a:buClr>
        <a:buSzPct val="70000"/>
        <a:buFont typeface="Wingdings"/>
        <a:buChar char=""/>
        <a:defRPr kumimoji="0" sz="1400" kern="1200">
          <a:solidFill>
            <a:schemeClr val="tx1"/>
          </a:solidFill>
          <a:latin typeface="Tahoma" pitchFamily="34" charset="0"/>
          <a:ea typeface="Tahoma" pitchFamily="34" charset="0"/>
          <a:cs typeface="Tahoma" pitchFamily="34" charset="0"/>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210.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image" Target="../media/image200.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3.png"/><Relationship Id="rId4" Type="http://schemas.openxmlformats.org/officeDocument/2006/relationships/image" Target="../media/image19.wmf"/></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38.png"/><Relationship Id="rId4" Type="http://schemas.openxmlformats.org/officeDocument/2006/relationships/image" Target="../media/image20.wmf"/></Relationships>
</file>

<file path=ppt/slides/_rels/slide3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9200" y="3962400"/>
            <a:ext cx="6858000" cy="762000"/>
          </a:xfrm>
        </p:spPr>
        <p:txBody>
          <a:bodyPr>
            <a:normAutofit/>
          </a:bodyPr>
          <a:lstStyle/>
          <a:p>
            <a:pPr algn="ctr"/>
            <a:r>
              <a:rPr lang="en-US" dirty="0"/>
              <a:t>Listing problem</a:t>
            </a:r>
          </a:p>
        </p:txBody>
      </p:sp>
      <p:sp>
        <p:nvSpPr>
          <p:cNvPr id="3" name="Subtitle 2"/>
          <p:cNvSpPr>
            <a:spLocks noGrp="1"/>
          </p:cNvSpPr>
          <p:nvPr>
            <p:ph type="subTitle" idx="1"/>
          </p:nvPr>
        </p:nvSpPr>
        <p:spPr/>
        <p:txBody>
          <a:bodyPr>
            <a:normAutofit fontScale="85000" lnSpcReduction="20000"/>
          </a:bodyPr>
          <a:lstStyle/>
          <a:p>
            <a:pPr algn="ctr"/>
            <a:r>
              <a:rPr lang="en-US" sz="1800" dirty="0"/>
              <a:t>Ngo Xuan Bach</a:t>
            </a:r>
          </a:p>
          <a:p>
            <a:pPr algn="ctr"/>
            <a:r>
              <a:rPr lang="en-US" sz="1800" dirty="0"/>
              <a:t>Dao </a:t>
            </a:r>
            <a:r>
              <a:rPr lang="en-US" sz="1800" dirty="0" err="1"/>
              <a:t>Thi</a:t>
            </a:r>
            <a:r>
              <a:rPr lang="en-US" sz="1800"/>
              <a:t> Thuy Quynh</a:t>
            </a:r>
          </a:p>
          <a:p>
            <a:pPr algn="ctr"/>
            <a:endParaRPr lang="en-US" sz="1800" dirty="0"/>
          </a:p>
        </p:txBody>
      </p:sp>
      <p:sp>
        <p:nvSpPr>
          <p:cNvPr id="5" name="TextBox 4"/>
          <p:cNvSpPr txBox="1"/>
          <p:nvPr/>
        </p:nvSpPr>
        <p:spPr>
          <a:xfrm>
            <a:off x="1600200" y="304800"/>
            <a:ext cx="6324600" cy="646331"/>
          </a:xfrm>
          <a:prstGeom prst="rect">
            <a:avLst/>
          </a:prstGeom>
          <a:noFill/>
        </p:spPr>
        <p:txBody>
          <a:bodyPr wrap="square" rtlCol="0">
            <a:spAutoFit/>
          </a:bodyPr>
          <a:lstStyle/>
          <a:p>
            <a:pPr algn="ctr"/>
            <a:r>
              <a:rPr lang="en-US" dirty="0">
                <a:latin typeface="Tahoma" pitchFamily="34" charset="0"/>
                <a:ea typeface="Tahoma" pitchFamily="34" charset="0"/>
                <a:cs typeface="Tahoma" pitchFamily="34" charset="0"/>
              </a:rPr>
              <a:t>Posts and Telecommunication Institute of Technology</a:t>
            </a:r>
          </a:p>
          <a:p>
            <a:pPr algn="ctr"/>
            <a:r>
              <a:rPr lang="en-US" dirty="0">
                <a:latin typeface="Tahoma" pitchFamily="34" charset="0"/>
                <a:ea typeface="Tahoma" pitchFamily="34" charset="0"/>
                <a:cs typeface="Tahoma" pitchFamily="34" charset="0"/>
              </a:rPr>
              <a:t>Faculty of Information Technology 1</a:t>
            </a:r>
          </a:p>
        </p:txBody>
      </p:sp>
      <p:sp>
        <p:nvSpPr>
          <p:cNvPr id="8" name="Title 1"/>
          <p:cNvSpPr txBox="1">
            <a:spLocks/>
          </p:cNvSpPr>
          <p:nvPr/>
        </p:nvSpPr>
        <p:spPr>
          <a:xfrm>
            <a:off x="1371600" y="1981200"/>
            <a:ext cx="6858000" cy="609600"/>
          </a:xfrm>
          <a:prstGeom prst="rect">
            <a:avLst/>
          </a:prstGeom>
        </p:spPr>
        <p:txBody>
          <a:bodyPr vert="horz" anchor="t" anchorCtr="0">
            <a:normAutofit/>
          </a:bodyPr>
          <a:lstStyle>
            <a:lvl1pPr algn="r" rtl="0" eaLnBrk="1" latinLnBrk="0" hangingPunct="1">
              <a:spcBef>
                <a:spcPct val="0"/>
              </a:spcBef>
              <a:buNone/>
              <a:defRPr kumimoji="0" sz="3200" kern="1200">
                <a:solidFill>
                  <a:schemeClr val="tx1"/>
                </a:solidFill>
                <a:latin typeface="+mj-lt"/>
                <a:ea typeface="+mj-ea"/>
                <a:cs typeface="+mj-cs"/>
              </a:defRPr>
            </a:lvl1pPr>
          </a:lstStyle>
          <a:p>
            <a:pPr algn="ctr"/>
            <a:r>
              <a:rPr lang="en-US" sz="2400" dirty="0"/>
              <a:t>Mathematic discrete1</a:t>
            </a:r>
            <a:endParaRPr lang="en-US" sz="1400" dirty="0"/>
          </a:p>
        </p:txBody>
      </p:sp>
    </p:spTree>
    <p:extLst>
      <p:ext uri="{BB962C8B-B14F-4D97-AF65-F5344CB8AC3E}">
        <p14:creationId xmlns:p14="http://schemas.microsoft.com/office/powerpoint/2010/main" val="1664420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Contents</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
        <p:nvSpPr>
          <p:cNvPr id="5" name="Content Placeholder 4"/>
          <p:cNvSpPr>
            <a:spLocks noGrp="1"/>
          </p:cNvSpPr>
          <p:nvPr>
            <p:ph sz="quarter" idx="1"/>
          </p:nvPr>
        </p:nvSpPr>
        <p:spPr/>
        <p:txBody>
          <a:bodyPr/>
          <a:lstStyle/>
          <a:p>
            <a:pPr>
              <a:spcBef>
                <a:spcPct val="50000"/>
              </a:spcBef>
            </a:pPr>
            <a:r>
              <a:rPr lang="en-US" dirty="0"/>
              <a:t>Introduction</a:t>
            </a:r>
          </a:p>
          <a:p>
            <a:pPr>
              <a:spcBef>
                <a:spcPct val="50000"/>
              </a:spcBef>
            </a:pPr>
            <a:r>
              <a:rPr lang="en-US" dirty="0"/>
              <a:t>Generation method</a:t>
            </a:r>
          </a:p>
          <a:p>
            <a:pPr>
              <a:spcBef>
                <a:spcPct val="50000"/>
              </a:spcBef>
            </a:pPr>
            <a:r>
              <a:rPr lang="en-US" dirty="0"/>
              <a:t>Backtracking method</a:t>
            </a:r>
          </a:p>
          <a:p>
            <a:pPr>
              <a:spcBef>
                <a:spcPct val="50000"/>
              </a:spcBef>
            </a:pPr>
            <a:r>
              <a:rPr lang="en-US" dirty="0"/>
              <a:t>Exercise</a:t>
            </a:r>
          </a:p>
          <a:p>
            <a:endParaRPr lang="en-US" dirty="0"/>
          </a:p>
        </p:txBody>
      </p:sp>
    </p:spTree>
    <p:extLst>
      <p:ext uri="{BB962C8B-B14F-4D97-AF65-F5344CB8AC3E}">
        <p14:creationId xmlns:p14="http://schemas.microsoft.com/office/powerpoint/2010/main" val="1695632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Introduce listing problem</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
        <p:nvSpPr>
          <p:cNvPr id="5" name="Content Placeholder 4"/>
          <p:cNvSpPr>
            <a:spLocks noGrp="1"/>
          </p:cNvSpPr>
          <p:nvPr>
            <p:ph sz="quarter" idx="1"/>
          </p:nvPr>
        </p:nvSpPr>
        <p:spPr/>
        <p:txBody>
          <a:bodyPr>
            <a:normAutofit fontScale="92500" lnSpcReduction="20000"/>
          </a:bodyPr>
          <a:lstStyle/>
          <a:p>
            <a:pPr>
              <a:spcBef>
                <a:spcPct val="50000"/>
              </a:spcBef>
            </a:pPr>
            <a:r>
              <a:rPr lang="en-US" sz="2000" b="1" dirty="0"/>
              <a:t>Counting problem</a:t>
            </a:r>
            <a:r>
              <a:rPr lang="en-US" sz="2000" dirty="0"/>
              <a:t>: Construct formula that calculate roots of problem</a:t>
            </a:r>
          </a:p>
          <a:p>
            <a:pPr>
              <a:spcBef>
                <a:spcPct val="50000"/>
              </a:spcBef>
            </a:pPr>
            <a:r>
              <a:rPr lang="en-US" sz="2000" b="1" dirty="0"/>
              <a:t>Listing problem</a:t>
            </a:r>
            <a:r>
              <a:rPr lang="en-US" sz="2000" dirty="0"/>
              <a:t>: What is root of problem?</a:t>
            </a:r>
          </a:p>
          <a:p>
            <a:pPr>
              <a:spcBef>
                <a:spcPct val="50000"/>
              </a:spcBef>
            </a:pPr>
            <a:r>
              <a:rPr lang="en-US" sz="2000" b="1" dirty="0"/>
              <a:t>Common method to solve the listing problem</a:t>
            </a:r>
            <a:r>
              <a:rPr lang="en-US" sz="2000" dirty="0"/>
              <a:t>: Using brute-force algorithm to consider all of possibilities of the combinatorial configurations to give each root of problem</a:t>
            </a:r>
          </a:p>
          <a:p>
            <a:pPr>
              <a:spcBef>
                <a:spcPct val="50000"/>
              </a:spcBef>
            </a:pPr>
            <a:r>
              <a:rPr lang="en-US" sz="2000" b="1" dirty="0"/>
              <a:t>Listing method needs to satisfy 2 conditions</a:t>
            </a:r>
            <a:r>
              <a:rPr lang="en-US" sz="2000" dirty="0"/>
              <a:t>:</a:t>
            </a:r>
          </a:p>
          <a:p>
            <a:pPr lvl="1">
              <a:spcBef>
                <a:spcPct val="50000"/>
              </a:spcBef>
            </a:pPr>
            <a:r>
              <a:rPr lang="en-US" dirty="0"/>
              <a:t> Do not repeat any configuration</a:t>
            </a:r>
          </a:p>
          <a:p>
            <a:pPr lvl="1">
              <a:spcBef>
                <a:spcPct val="50000"/>
              </a:spcBef>
            </a:pPr>
            <a:r>
              <a:rPr lang="en-US" dirty="0"/>
              <a:t> Do not miss any configuration</a:t>
            </a:r>
          </a:p>
          <a:p>
            <a:pPr>
              <a:spcBef>
                <a:spcPct val="50000"/>
              </a:spcBef>
            </a:pPr>
            <a:r>
              <a:rPr lang="en-US" sz="2000" b="1" dirty="0"/>
              <a:t>Steps to solve the problem by computer:</a:t>
            </a:r>
          </a:p>
          <a:p>
            <a:pPr lvl="1">
              <a:spcBef>
                <a:spcPct val="50000"/>
              </a:spcBef>
            </a:pPr>
            <a:r>
              <a:rPr lang="en-US" dirty="0"/>
              <a:t> Understand requirements of problem</a:t>
            </a:r>
          </a:p>
          <a:p>
            <a:pPr lvl="1">
              <a:spcBef>
                <a:spcPct val="50000"/>
              </a:spcBef>
            </a:pPr>
            <a:r>
              <a:rPr lang="en-US" dirty="0"/>
              <a:t> Choose data structure representing the plan to be considered</a:t>
            </a:r>
          </a:p>
          <a:p>
            <a:pPr lvl="1">
              <a:spcBef>
                <a:spcPct val="50000"/>
              </a:spcBef>
            </a:pPr>
            <a:r>
              <a:rPr lang="en-US" dirty="0"/>
              <a:t> Choose suitable algorithm for data structure</a:t>
            </a:r>
          </a:p>
          <a:p>
            <a:pPr lvl="1">
              <a:spcBef>
                <a:spcPct val="50000"/>
              </a:spcBef>
            </a:pPr>
            <a:r>
              <a:rPr lang="en-US" dirty="0"/>
              <a:t> Implement algorithm and test program</a:t>
            </a:r>
          </a:p>
          <a:p>
            <a:pPr lvl="1">
              <a:spcBef>
                <a:spcPct val="50000"/>
              </a:spcBef>
            </a:pPr>
            <a:r>
              <a:rPr lang="en-US" dirty="0"/>
              <a:t> Optimizing program</a:t>
            </a:r>
          </a:p>
          <a:p>
            <a:endParaRPr lang="en-US" dirty="0"/>
          </a:p>
        </p:txBody>
      </p:sp>
    </p:spTree>
    <p:extLst>
      <p:ext uri="{BB962C8B-B14F-4D97-AF65-F5344CB8AC3E}">
        <p14:creationId xmlns:p14="http://schemas.microsoft.com/office/powerpoint/2010/main" val="1617042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457200" y="1219200"/>
                <a:ext cx="8458200" cy="4937760"/>
              </a:xfrm>
            </p:spPr>
            <p:txBody>
              <a:bodyPr/>
              <a:lstStyle/>
              <a:p>
                <a:pPr marL="0" indent="0">
                  <a:buNone/>
                </a:pPr>
                <a:r>
                  <a:rPr lang="en-US" sz="2000" b="1" dirty="0"/>
                  <a:t>Problem</a:t>
                </a:r>
                <a:r>
                  <a:rPr lang="en-US" sz="2000" dirty="0"/>
                  <a:t>: Given a square consisting of 25 square units. Fill in the numbers 0 to 9 in each square unit so that the following conditions are satisfied:</a:t>
                </a:r>
              </a:p>
              <a:p>
                <a:pPr>
                  <a:buFontTx/>
                  <a:buAutoNum type="alphaLcParenR"/>
                </a:pPr>
                <a:r>
                  <a:rPr lang="en-US" sz="1800" dirty="0"/>
                  <a:t>Reading from left to right in row, we get 5 prime numbers with 5 digits;</a:t>
                </a:r>
              </a:p>
              <a:p>
                <a:pPr>
                  <a:buFontTx/>
                  <a:buAutoNum type="alphaLcParenR"/>
                </a:pPr>
                <a:r>
                  <a:rPr lang="en-US" sz="1800" dirty="0"/>
                  <a:t>Reading from top to bottom in column, we get 5 prime numbers with 5 digits;</a:t>
                </a:r>
              </a:p>
              <a:p>
                <a:pPr>
                  <a:buFontTx/>
                  <a:buAutoNum type="alphaLcParenR"/>
                </a:pPr>
                <a:r>
                  <a:rPr lang="en-US" sz="1800" dirty="0"/>
                  <a:t>Reading along  2 main diagonals, we get 2 prime numbers with 5 digits;</a:t>
                </a:r>
              </a:p>
              <a:p>
                <a:pPr>
                  <a:buFontTx/>
                  <a:buAutoNum type="alphaLcParenR"/>
                </a:pPr>
                <a:r>
                  <a:rPr lang="en-US" sz="1800" dirty="0"/>
                  <a:t>Sum of digits in each prime number is given S</a:t>
                </a:r>
              </a:p>
              <a:p>
                <a:pPr marL="0" indent="0">
                  <a:buNone/>
                </a:pPr>
                <a:r>
                  <a:rPr lang="en-US" sz="2000" dirty="0"/>
                  <a:t>Example square below with </a:t>
                </a:r>
                <a14:m>
                  <m:oMath xmlns:m="http://schemas.openxmlformats.org/officeDocument/2006/math">
                    <m:r>
                      <a:rPr lang="en-US" sz="2000" i="1" dirty="0" smtClean="0">
                        <a:latin typeface="Cambria Math"/>
                      </a:rPr>
                      <m:t>𝑆</m:t>
                    </m:r>
                    <m:r>
                      <a:rPr lang="en-US" sz="2000" i="1" dirty="0" smtClean="0">
                        <a:latin typeface="Cambria Math"/>
                      </a:rPr>
                      <m:t> = 11</m:t>
                    </m:r>
                  </m:oMath>
                </a14:m>
                <a:r>
                  <a:rPr lang="en-US" sz="2000" dirty="0"/>
                  <a:t>.</a:t>
                </a: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457200" y="1219200"/>
                <a:ext cx="8458200" cy="4937760"/>
              </a:xfrm>
              <a:blipFill>
                <a:blip r:embed="rId2"/>
                <a:stretch>
                  <a:fillRect l="-720" t="-617"/>
                </a:stretch>
              </a:blipFill>
            </p:spPr>
            <p:txBody>
              <a:bodyPr/>
              <a:lstStyle/>
              <a:p>
                <a:r>
                  <a:rPr lang="en-US">
                    <a:noFill/>
                  </a:rPr>
                  <a:t> </a:t>
                </a:r>
              </a:p>
            </p:txBody>
          </p:sp>
        </mc:Fallback>
      </mc:AlternateContent>
      <p:graphicFrame>
        <p:nvGraphicFramePr>
          <p:cNvPr id="6" name="Group 49"/>
          <p:cNvGraphicFramePr>
            <a:graphicFrameLocks noGrp="1"/>
          </p:cNvGraphicFramePr>
          <p:nvPr>
            <p:extLst>
              <p:ext uri="{D42A27DB-BD31-4B8C-83A1-F6EECF244321}">
                <p14:modId xmlns:p14="http://schemas.microsoft.com/office/powerpoint/2010/main" val="1637256159"/>
              </p:ext>
            </p:extLst>
          </p:nvPr>
        </p:nvGraphicFramePr>
        <p:xfrm>
          <a:off x="3048000" y="4189312"/>
          <a:ext cx="2667000" cy="1982888"/>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tblGrid>
              <a:tr h="396812">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3</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5</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177">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5</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0</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0</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3</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3</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12">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0</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3</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4</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3</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177">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3</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4</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2</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812">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1</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3</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3</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3</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987203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fontScale="85000" lnSpcReduction="10000"/>
              </a:bodyPr>
              <a:lstStyle/>
              <a:p>
                <a:pPr marL="0" indent="0">
                  <a:spcBef>
                    <a:spcPct val="50000"/>
                  </a:spcBef>
                  <a:buNone/>
                </a:pPr>
                <a:r>
                  <a:rPr lang="es-MX" b="1" dirty="0">
                    <a:sym typeface="Symbol" pitchFamily="18" charset="2"/>
                  </a:rPr>
                  <a:t>Step 1</a:t>
                </a:r>
                <a:r>
                  <a:rPr lang="es-MX" dirty="0">
                    <a:sym typeface="Symbol" pitchFamily="18" charset="2"/>
                  </a:rPr>
                  <a:t>: </a:t>
                </a:r>
                <a:r>
                  <a:rPr lang="es-MX" dirty="0" err="1">
                    <a:sym typeface="Symbol" pitchFamily="18" charset="2"/>
                  </a:rPr>
                  <a:t>Find</a:t>
                </a:r>
                <a:r>
                  <a:rPr lang="es-MX" dirty="0">
                    <a:sym typeface="Symbol" pitchFamily="18" charset="2"/>
                  </a:rPr>
                  <a:t> </a:t>
                </a:r>
                <a:r>
                  <a:rPr lang="es-MX" dirty="0" err="1">
                    <a:sym typeface="Symbol" pitchFamily="18" charset="2"/>
                  </a:rPr>
                  <a:t>the</a:t>
                </a:r>
                <a:r>
                  <a:rPr lang="es-MX" dirty="0">
                    <a:sym typeface="Symbol" pitchFamily="18" charset="2"/>
                  </a:rPr>
                  <a:t> set </a:t>
                </a:r>
                <a:r>
                  <a:rPr lang="es-MX" dirty="0" err="1">
                    <a:sym typeface="Symbol" pitchFamily="18" charset="2"/>
                  </a:rPr>
                  <a:t>of</a:t>
                </a:r>
                <a:r>
                  <a:rPr lang="es-MX" dirty="0">
                    <a:sym typeface="Symbol" pitchFamily="18" charset="2"/>
                  </a:rPr>
                  <a:t> prime </a:t>
                </a:r>
                <a:r>
                  <a:rPr lang="es-MX" dirty="0" err="1">
                    <a:sym typeface="Symbol" pitchFamily="18" charset="2"/>
                  </a:rPr>
                  <a:t>numbers</a:t>
                </a:r>
                <a:r>
                  <a:rPr lang="es-MX" dirty="0">
                    <a:sym typeface="Symbol" pitchFamily="18" charset="2"/>
                  </a:rPr>
                  <a:t> as </a:t>
                </a:r>
                <a:r>
                  <a:rPr lang="es-MX" dirty="0" err="1">
                    <a:sym typeface="Symbol" pitchFamily="18" charset="2"/>
                  </a:rPr>
                  <a:t>follows</a:t>
                </a:r>
                <a:r>
                  <a:rPr lang="es-MX" dirty="0">
                    <a:sym typeface="Symbol" pitchFamily="18" charset="2"/>
                  </a:rPr>
                  <a:t>:</a:t>
                </a:r>
              </a:p>
              <a:p>
                <a:pPr marL="0" indent="0">
                  <a:spcBef>
                    <a:spcPct val="10000"/>
                  </a:spcBef>
                  <a:buNone/>
                </a:pPr>
                <a14:m>
                  <m:oMathPara xmlns:m="http://schemas.openxmlformats.org/officeDocument/2006/math">
                    <m:oMathParaPr>
                      <m:jc m:val="centerGroup"/>
                    </m:oMathParaPr>
                    <m:oMath xmlns:m="http://schemas.openxmlformats.org/officeDocument/2006/math">
                      <m:r>
                        <a:rPr lang="es-MX" sz="2200" i="1" dirty="0" smtClean="0">
                          <a:solidFill>
                            <a:srgbClr val="FF0000"/>
                          </a:solidFill>
                          <a:latin typeface="Cambria Math"/>
                          <a:sym typeface="Symbol" pitchFamily="18" charset="2"/>
                        </a:rPr>
                        <m:t>𝑋</m:t>
                      </m:r>
                      <m:r>
                        <a:rPr lang="es-MX" sz="2200" i="1" dirty="0" smtClean="0">
                          <a:solidFill>
                            <a:srgbClr val="FF0000"/>
                          </a:solidFill>
                          <a:latin typeface="Cambria Math"/>
                          <a:sym typeface="Symbol" pitchFamily="18" charset="2"/>
                        </a:rPr>
                        <m:t>=</m:t>
                      </m:r>
                      <m:d>
                        <m:dPr>
                          <m:begChr m:val="{"/>
                          <m:endChr m:val="|"/>
                          <m:ctrlPr>
                            <a:rPr lang="es-MX" sz="2200" i="1" dirty="0" smtClean="0">
                              <a:solidFill>
                                <a:srgbClr val="FF0000"/>
                              </a:solidFill>
                              <a:latin typeface="Cambria Math" panose="02040503050406030204" pitchFamily="18" charset="0"/>
                              <a:sym typeface="Symbol" pitchFamily="18" charset="2"/>
                            </a:rPr>
                          </m:ctrlPr>
                        </m:dPr>
                        <m:e>
                          <m:r>
                            <a:rPr lang="es-MX" sz="2200" i="1" dirty="0" smtClean="0">
                              <a:solidFill>
                                <a:srgbClr val="FF0000"/>
                              </a:solidFill>
                              <a:latin typeface="Cambria Math"/>
                              <a:sym typeface="Symbol" pitchFamily="18" charset="2"/>
                            </a:rPr>
                            <m:t> </m:t>
                          </m:r>
                          <m:r>
                            <a:rPr lang="es-MX" sz="2200" i="1" dirty="0" smtClean="0">
                              <a:solidFill>
                                <a:srgbClr val="FF0000"/>
                              </a:solidFill>
                              <a:latin typeface="Cambria Math"/>
                              <a:sym typeface="Symbol" pitchFamily="18" charset="2"/>
                            </a:rPr>
                            <m:t>𝑥</m:t>
                          </m:r>
                          <m:r>
                            <a:rPr lang="es-MX" sz="2200" i="1" dirty="0" smtClean="0">
                              <a:solidFill>
                                <a:srgbClr val="FF0000"/>
                              </a:solidFill>
                              <a:latin typeface="Cambria Math"/>
                              <a:sym typeface="Symbol" pitchFamily="18" charset="2"/>
                            </a:rPr>
                            <m:t></m:t>
                          </m:r>
                          <m:d>
                            <m:dPr>
                              <m:begChr m:val="["/>
                              <m:endChr m:val="]"/>
                              <m:ctrlPr>
                                <a:rPr lang="es-MX" sz="2200" i="1" dirty="0" smtClean="0">
                                  <a:solidFill>
                                    <a:srgbClr val="FF0000"/>
                                  </a:solidFill>
                                  <a:latin typeface="Cambria Math" panose="02040503050406030204" pitchFamily="18" charset="0"/>
                                  <a:sym typeface="Symbol" pitchFamily="18" charset="2"/>
                                </a:rPr>
                              </m:ctrlPr>
                            </m:dPr>
                            <m:e>
                              <m:r>
                                <a:rPr lang="es-MX" sz="2200" i="1" dirty="0" smtClean="0">
                                  <a:solidFill>
                                    <a:srgbClr val="FF0000"/>
                                  </a:solidFill>
                                  <a:latin typeface="Cambria Math"/>
                                  <a:sym typeface="Symbol" pitchFamily="18" charset="2"/>
                                </a:rPr>
                                <m:t>10001,…,99999</m:t>
                              </m:r>
                            </m:e>
                          </m:d>
                        </m:e>
                      </m:d>
                      <m:r>
                        <a:rPr lang="es-MX" sz="2200" i="1" dirty="0" smtClean="0">
                          <a:solidFill>
                            <a:srgbClr val="FF0000"/>
                          </a:solidFill>
                          <a:latin typeface="Cambria Math"/>
                          <a:sym typeface="Symbol" pitchFamily="18" charset="2"/>
                        </a:rPr>
                        <m:t>𝑥</m:t>
                      </m:r>
                      <m:r>
                        <a:rPr lang="es-MX" sz="2200" i="1" dirty="0" smtClean="0">
                          <a:solidFill>
                            <a:srgbClr val="FF0000"/>
                          </a:solidFill>
                          <a:latin typeface="Cambria Math"/>
                          <a:sym typeface="Symbol" pitchFamily="18" charset="2"/>
                        </a:rPr>
                        <m:t> </m:t>
                      </m:r>
                      <m:r>
                        <a:rPr lang="en-US" sz="2200" b="0" i="1" dirty="0" smtClean="0">
                          <a:solidFill>
                            <a:srgbClr val="FF0000"/>
                          </a:solidFill>
                          <a:latin typeface="Cambria Math" panose="02040503050406030204" pitchFamily="18" charset="0"/>
                          <a:sym typeface="Symbol" pitchFamily="18" charset="2"/>
                        </a:rPr>
                        <m:t>𝑖𝑠</m:t>
                      </m:r>
                      <m:r>
                        <a:rPr lang="en-US" sz="2200" b="0" i="1" dirty="0" smtClean="0">
                          <a:solidFill>
                            <a:srgbClr val="FF0000"/>
                          </a:solidFill>
                          <a:latin typeface="Cambria Math" panose="02040503050406030204" pitchFamily="18" charset="0"/>
                          <a:sym typeface="Symbol" pitchFamily="18" charset="2"/>
                        </a:rPr>
                        <m:t> </m:t>
                      </m:r>
                      <m:r>
                        <a:rPr lang="en-US" sz="2200" b="0" i="1" dirty="0" smtClean="0">
                          <a:solidFill>
                            <a:srgbClr val="FF0000"/>
                          </a:solidFill>
                          <a:latin typeface="Cambria Math" panose="02040503050406030204" pitchFamily="18" charset="0"/>
                          <a:sym typeface="Symbol" pitchFamily="18" charset="2"/>
                        </a:rPr>
                        <m:t>𝑎</m:t>
                      </m:r>
                      <m:r>
                        <a:rPr lang="en-US" sz="2200" b="0" i="1" dirty="0" smtClean="0">
                          <a:solidFill>
                            <a:srgbClr val="FF0000"/>
                          </a:solidFill>
                          <a:latin typeface="Cambria Math" panose="02040503050406030204" pitchFamily="18" charset="0"/>
                          <a:sym typeface="Symbol" pitchFamily="18" charset="2"/>
                        </a:rPr>
                        <m:t> </m:t>
                      </m:r>
                      <m:r>
                        <a:rPr lang="en-US" sz="2200" b="0" i="1" dirty="0" smtClean="0">
                          <a:solidFill>
                            <a:srgbClr val="FF0000"/>
                          </a:solidFill>
                          <a:latin typeface="Cambria Math" panose="02040503050406030204" pitchFamily="18" charset="0"/>
                          <a:sym typeface="Symbol" pitchFamily="18" charset="2"/>
                        </a:rPr>
                        <m:t>𝑝𝑟𝑖𝑚𝑒</m:t>
                      </m:r>
                      <m:r>
                        <a:rPr lang="en-US" sz="2200" b="0" i="1" dirty="0" smtClean="0">
                          <a:solidFill>
                            <a:srgbClr val="FF0000"/>
                          </a:solidFill>
                          <a:latin typeface="Cambria Math" panose="02040503050406030204" pitchFamily="18" charset="0"/>
                          <a:sym typeface="Symbol" pitchFamily="18" charset="2"/>
                        </a:rPr>
                        <m:t> </m:t>
                      </m:r>
                      <m:r>
                        <a:rPr lang="en-US" sz="2200" b="0" i="1" dirty="0" smtClean="0">
                          <a:solidFill>
                            <a:srgbClr val="FF0000"/>
                          </a:solidFill>
                          <a:latin typeface="Cambria Math" panose="02040503050406030204" pitchFamily="18" charset="0"/>
                          <a:sym typeface="Symbol" pitchFamily="18" charset="2"/>
                        </a:rPr>
                        <m:t>𝑛𝑢𝑚𝑏𝑒𝑟</m:t>
                      </m:r>
                      <m:r>
                        <a:rPr lang="en-US" sz="2200" b="0" i="1" dirty="0" smtClean="0">
                          <a:solidFill>
                            <a:srgbClr val="FF0000"/>
                          </a:solidFill>
                          <a:latin typeface="Cambria Math" panose="02040503050406030204" pitchFamily="18" charset="0"/>
                          <a:sym typeface="Symbol" pitchFamily="18" charset="2"/>
                        </a:rPr>
                        <m:t> </m:t>
                      </m:r>
                      <m:r>
                        <a:rPr lang="en-US" sz="2200" b="0" i="1" dirty="0" smtClean="0">
                          <a:solidFill>
                            <a:srgbClr val="FF0000"/>
                          </a:solidFill>
                          <a:latin typeface="Cambria Math" panose="02040503050406030204" pitchFamily="18" charset="0"/>
                          <a:sym typeface="Symbol" pitchFamily="18" charset="2"/>
                        </a:rPr>
                        <m:t>𝑎𝑛𝑑</m:t>
                      </m:r>
                      <m:r>
                        <a:rPr lang="en-US" sz="2200" b="0" i="1" dirty="0" smtClean="0">
                          <a:solidFill>
                            <a:srgbClr val="FF0000"/>
                          </a:solidFill>
                          <a:latin typeface="Cambria Math" panose="02040503050406030204" pitchFamily="18" charset="0"/>
                          <a:sym typeface="Symbol" pitchFamily="18" charset="2"/>
                        </a:rPr>
                        <m:t> </m:t>
                      </m:r>
                      <m:r>
                        <a:rPr lang="en-US" sz="2200" b="0" i="1" dirty="0" smtClean="0">
                          <a:solidFill>
                            <a:srgbClr val="FF0000"/>
                          </a:solidFill>
                          <a:latin typeface="Cambria Math" panose="02040503050406030204" pitchFamily="18" charset="0"/>
                          <a:sym typeface="Symbol" pitchFamily="18" charset="2"/>
                        </a:rPr>
                        <m:t>𝑠𝑢𝑚</m:t>
                      </m:r>
                      <m:r>
                        <a:rPr lang="en-US" sz="2200" b="0" i="1" dirty="0" smtClean="0">
                          <a:solidFill>
                            <a:srgbClr val="FF0000"/>
                          </a:solidFill>
                          <a:latin typeface="Cambria Math" panose="02040503050406030204" pitchFamily="18" charset="0"/>
                          <a:sym typeface="Symbol" pitchFamily="18" charset="2"/>
                        </a:rPr>
                        <m:t> </m:t>
                      </m:r>
                      <m:r>
                        <a:rPr lang="en-US" sz="2200" b="0" i="1" dirty="0" smtClean="0">
                          <a:solidFill>
                            <a:srgbClr val="FF0000"/>
                          </a:solidFill>
                          <a:latin typeface="Cambria Math" panose="02040503050406030204" pitchFamily="18" charset="0"/>
                          <a:sym typeface="Symbol" pitchFamily="18" charset="2"/>
                        </a:rPr>
                        <m:t>𝑜𝑓</m:t>
                      </m:r>
                      <m:r>
                        <a:rPr lang="en-US" sz="2200" b="0" i="1" dirty="0" smtClean="0">
                          <a:solidFill>
                            <a:srgbClr val="FF0000"/>
                          </a:solidFill>
                          <a:latin typeface="Cambria Math" panose="02040503050406030204" pitchFamily="18" charset="0"/>
                          <a:sym typeface="Symbol" pitchFamily="18" charset="2"/>
                        </a:rPr>
                        <m:t> </m:t>
                      </m:r>
                      <m:r>
                        <a:rPr lang="en-US" sz="2200" b="0" i="1" dirty="0" smtClean="0">
                          <a:solidFill>
                            <a:srgbClr val="FF0000"/>
                          </a:solidFill>
                          <a:latin typeface="Cambria Math" panose="02040503050406030204" pitchFamily="18" charset="0"/>
                          <a:sym typeface="Symbol" pitchFamily="18" charset="2"/>
                        </a:rPr>
                        <m:t>𝑎𝑙𝑙</m:t>
                      </m:r>
                      <m:r>
                        <a:rPr lang="en-US" sz="2200" b="0" i="1" dirty="0" smtClean="0">
                          <a:solidFill>
                            <a:srgbClr val="FF0000"/>
                          </a:solidFill>
                          <a:latin typeface="Cambria Math" panose="02040503050406030204" pitchFamily="18" charset="0"/>
                          <a:sym typeface="Symbol" pitchFamily="18" charset="2"/>
                        </a:rPr>
                        <m:t> </m:t>
                      </m:r>
                      <m:r>
                        <a:rPr lang="en-US" sz="2200" b="0" i="1" dirty="0" smtClean="0">
                          <a:solidFill>
                            <a:srgbClr val="FF0000"/>
                          </a:solidFill>
                          <a:latin typeface="Cambria Math" panose="02040503050406030204" pitchFamily="18" charset="0"/>
                          <a:sym typeface="Symbol" pitchFamily="18" charset="2"/>
                        </a:rPr>
                        <m:t>𝑑𝑖𝑔𝑖𝑡𝑠</m:t>
                      </m:r>
                      <m:r>
                        <a:rPr lang="en-US" sz="2200" b="0" i="1" dirty="0" smtClean="0">
                          <a:solidFill>
                            <a:srgbClr val="FF0000"/>
                          </a:solidFill>
                          <a:latin typeface="Cambria Math" panose="02040503050406030204" pitchFamily="18" charset="0"/>
                          <a:sym typeface="Symbol" pitchFamily="18" charset="2"/>
                        </a:rPr>
                        <m:t> </m:t>
                      </m:r>
                      <m:r>
                        <a:rPr lang="en-US" sz="2200" b="0" i="1" dirty="0" smtClean="0">
                          <a:solidFill>
                            <a:srgbClr val="FF0000"/>
                          </a:solidFill>
                          <a:latin typeface="Cambria Math" panose="02040503050406030204" pitchFamily="18" charset="0"/>
                          <a:sym typeface="Symbol" pitchFamily="18" charset="2"/>
                        </a:rPr>
                        <m:t>𝑖𝑠</m:t>
                      </m:r>
                      <m:r>
                        <a:rPr lang="en-US" sz="2200" b="0" i="1" dirty="0" smtClean="0">
                          <a:solidFill>
                            <a:srgbClr val="FF0000"/>
                          </a:solidFill>
                          <a:latin typeface="Cambria Math" panose="02040503050406030204" pitchFamily="18" charset="0"/>
                          <a:sym typeface="Symbol" pitchFamily="18" charset="2"/>
                        </a:rPr>
                        <m:t> </m:t>
                      </m:r>
                      <m:r>
                        <a:rPr lang="en-US" sz="2200" b="0" i="1" dirty="0" smtClean="0">
                          <a:solidFill>
                            <a:srgbClr val="FF0000"/>
                          </a:solidFill>
                          <a:latin typeface="Cambria Math" panose="02040503050406030204" pitchFamily="18" charset="0"/>
                          <a:sym typeface="Symbol" pitchFamily="18" charset="2"/>
                        </a:rPr>
                        <m:t>𝑆</m:t>
                      </m:r>
                      <m:r>
                        <a:rPr lang="en-US" sz="2200" b="0" i="1" dirty="0" smtClean="0">
                          <a:solidFill>
                            <a:srgbClr val="FF0000"/>
                          </a:solidFill>
                          <a:latin typeface="Cambria Math"/>
                          <a:sym typeface="Symbol" pitchFamily="18" charset="2"/>
                        </a:rPr>
                        <m:t>}</m:t>
                      </m:r>
                    </m:oMath>
                  </m:oMathPara>
                </a14:m>
                <a:endParaRPr lang="es-MX" dirty="0">
                  <a:sym typeface="Symbol" pitchFamily="18" charset="2"/>
                </a:endParaRPr>
              </a:p>
              <a:p>
                <a:pPr marL="0" indent="0">
                  <a:spcBef>
                    <a:spcPct val="10000"/>
                  </a:spcBef>
                  <a:buNone/>
                </a:pPr>
                <a:r>
                  <a:rPr lang="es-MX" b="1" dirty="0">
                    <a:sym typeface="Symbol" pitchFamily="18" charset="2"/>
                  </a:rPr>
                  <a:t>Step 2</a:t>
                </a:r>
                <a:r>
                  <a:rPr lang="es-MX" dirty="0">
                    <a:sym typeface="Symbol" pitchFamily="18" charset="2"/>
                  </a:rPr>
                  <a:t>: </a:t>
                </a:r>
                <a:r>
                  <a:rPr lang="es-MX" dirty="0" err="1">
                    <a:sym typeface="Symbol" pitchFamily="18" charset="2"/>
                  </a:rPr>
                  <a:t>Implement</a:t>
                </a:r>
                <a:r>
                  <a:rPr lang="es-MX" dirty="0">
                    <a:sym typeface="Symbol" pitchFamily="18" charset="2"/>
                  </a:rPr>
                  <a:t> brute-</a:t>
                </a:r>
                <a:r>
                  <a:rPr lang="es-MX" dirty="0" err="1">
                    <a:sym typeface="Symbol" pitchFamily="18" charset="2"/>
                  </a:rPr>
                  <a:t>force</a:t>
                </a:r>
                <a:r>
                  <a:rPr lang="es-MX" dirty="0">
                    <a:sym typeface="Symbol" pitchFamily="18" charset="2"/>
                  </a:rPr>
                  <a:t> </a:t>
                </a:r>
                <a:r>
                  <a:rPr lang="es-MX" dirty="0" err="1">
                    <a:sym typeface="Symbol" pitchFamily="18" charset="2"/>
                  </a:rPr>
                  <a:t>strategy</a:t>
                </a:r>
                <a:r>
                  <a:rPr lang="es-MX" dirty="0">
                    <a:sym typeface="Symbol" pitchFamily="18" charset="2"/>
                  </a:rPr>
                  <a:t> as </a:t>
                </a:r>
                <a:r>
                  <a:rPr lang="es-MX" dirty="0" err="1">
                    <a:sym typeface="Symbol" pitchFamily="18" charset="2"/>
                  </a:rPr>
                  <a:t>follows</a:t>
                </a:r>
                <a:r>
                  <a:rPr lang="es-MX" dirty="0">
                    <a:sym typeface="Symbol" pitchFamily="18" charset="2"/>
                  </a:rPr>
                  <a:t>:</a:t>
                </a:r>
              </a:p>
              <a:p>
                <a:pPr lvl="1">
                  <a:spcBef>
                    <a:spcPct val="10000"/>
                  </a:spcBef>
                </a:pPr>
                <a:r>
                  <a:rPr lang="es-MX" dirty="0" err="1">
                    <a:sym typeface="Symbol" pitchFamily="18" charset="2"/>
                  </a:rPr>
                  <a:t>Put</a:t>
                </a:r>
                <a:r>
                  <a:rPr lang="es-MX" dirty="0">
                    <a:sym typeface="Symbol" pitchFamily="18" charset="2"/>
                  </a:rPr>
                  <a:t> </a:t>
                </a:r>
                <a14:m>
                  <m:oMath xmlns:m="http://schemas.openxmlformats.org/officeDocument/2006/math">
                    <m:r>
                      <a:rPr lang="es-MX" i="1" dirty="0" smtClean="0">
                        <a:latin typeface="Cambria Math"/>
                        <a:sym typeface="Symbol" pitchFamily="18" charset="2"/>
                      </a:rPr>
                      <m:t>𝑥</m:t>
                    </m:r>
                    <m:r>
                      <a:rPr lang="es-MX" i="1" dirty="0" smtClean="0">
                        <a:latin typeface="Cambria Math"/>
                        <a:ea typeface="Cambria Math"/>
                        <a:sym typeface="Symbol" pitchFamily="18" charset="2"/>
                      </a:rPr>
                      <m:t>∈</m:t>
                    </m:r>
                    <m:r>
                      <a:rPr lang="es-MX" i="1" dirty="0" smtClean="0">
                        <a:latin typeface="Cambria Math"/>
                        <a:sym typeface="Symbol" pitchFamily="18" charset="2"/>
                      </a:rPr>
                      <m:t>𝑋</m:t>
                    </m:r>
                    <m:r>
                      <a:rPr lang="es-MX" i="1" dirty="0">
                        <a:latin typeface="Cambria Math"/>
                        <a:sym typeface="Symbol" pitchFamily="18" charset="2"/>
                      </a:rPr>
                      <m:t> </m:t>
                    </m:r>
                  </m:oMath>
                </a14:m>
                <a:r>
                  <a:rPr lang="es-MX" dirty="0">
                    <a:sym typeface="Symbol" pitchFamily="18" charset="2"/>
                  </a:rPr>
                  <a:t>in </a:t>
                </a:r>
                <a:r>
                  <a:rPr lang="es-MX" dirty="0" err="1">
                    <a:sym typeface="Symbol" pitchFamily="18" charset="2"/>
                  </a:rPr>
                  <a:t>row</a:t>
                </a:r>
                <a:r>
                  <a:rPr lang="es-MX" dirty="0">
                    <a:sym typeface="Symbol" pitchFamily="18" charset="2"/>
                  </a:rPr>
                  <a:t> 1 (H1): </a:t>
                </a:r>
                <a:r>
                  <a:rPr lang="es-MX" dirty="0" err="1">
                    <a:sym typeface="Symbol" pitchFamily="18" charset="2"/>
                  </a:rPr>
                  <a:t>we</a:t>
                </a:r>
                <a:r>
                  <a:rPr lang="es-MX" dirty="0">
                    <a:sym typeface="Symbol" pitchFamily="18" charset="2"/>
                  </a:rPr>
                  <a:t> can </a:t>
                </a:r>
                <a:r>
                  <a:rPr lang="es-MX" dirty="0" err="1">
                    <a:sym typeface="Symbol" pitchFamily="18" charset="2"/>
                  </a:rPr>
                  <a:t>fill</a:t>
                </a:r>
                <a:r>
                  <a:rPr lang="es-MX" dirty="0">
                    <a:sym typeface="Symbol" pitchFamily="18" charset="2"/>
                  </a:rPr>
                  <a:t> in </a:t>
                </a:r>
                <a:r>
                  <a:rPr lang="es-MX" dirty="0" err="1">
                    <a:sym typeface="Symbol" pitchFamily="18" charset="2"/>
                  </a:rPr>
                  <a:t>sqaures</a:t>
                </a:r>
                <a:r>
                  <a:rPr lang="es-MX" dirty="0">
                    <a:sym typeface="Symbol" pitchFamily="18" charset="2"/>
                  </a:rPr>
                  <a:t> 1, 2, 3, 4, 5.</a:t>
                </a:r>
              </a:p>
              <a:p>
                <a:pPr lvl="1">
                  <a:spcBef>
                    <a:spcPct val="10000"/>
                  </a:spcBef>
                </a:pPr>
                <a:r>
                  <a:rPr lang="es-MX" dirty="0" err="1">
                    <a:sym typeface="Symbol" pitchFamily="18" charset="2"/>
                  </a:rPr>
                  <a:t>Put</a:t>
                </a:r>
                <a:r>
                  <a:rPr lang="es-MX" dirty="0">
                    <a:sym typeface="Symbol" pitchFamily="18" charset="2"/>
                  </a:rPr>
                  <a:t> </a:t>
                </a:r>
                <a14:m>
                  <m:oMath xmlns:m="http://schemas.openxmlformats.org/officeDocument/2006/math">
                    <m:r>
                      <a:rPr lang="es-MX" i="1" dirty="0">
                        <a:latin typeface="Cambria Math"/>
                        <a:sym typeface="Symbol" pitchFamily="18" charset="2"/>
                      </a:rPr>
                      <m:t>𝑥</m:t>
                    </m:r>
                    <m:r>
                      <a:rPr lang="es-MX" i="1" dirty="0">
                        <a:latin typeface="Cambria Math"/>
                        <a:ea typeface="Cambria Math"/>
                        <a:sym typeface="Symbol" pitchFamily="18" charset="2"/>
                      </a:rPr>
                      <m:t>∈</m:t>
                    </m:r>
                    <m:r>
                      <a:rPr lang="es-MX" i="1" dirty="0">
                        <a:latin typeface="Cambria Math"/>
                        <a:sym typeface="Symbol" pitchFamily="18" charset="2"/>
                      </a:rPr>
                      <m:t>𝑋</m:t>
                    </m:r>
                  </m:oMath>
                </a14:m>
                <a:r>
                  <a:rPr lang="es-MX" dirty="0">
                    <a:sym typeface="Symbol" pitchFamily="18" charset="2"/>
                  </a:rPr>
                  <a:t> </a:t>
                </a:r>
                <a:r>
                  <a:rPr lang="es-MX" dirty="0" err="1">
                    <a:sym typeface="Symbol" pitchFamily="18" charset="2"/>
                  </a:rPr>
                  <a:t>whose</a:t>
                </a:r>
                <a:r>
                  <a:rPr lang="es-MX" dirty="0">
                    <a:sym typeface="Symbol" pitchFamily="18" charset="2"/>
                  </a:rPr>
                  <a:t> </a:t>
                </a:r>
                <a:r>
                  <a:rPr lang="es-MX" dirty="0" err="1">
                    <a:sym typeface="Symbol" pitchFamily="18" charset="2"/>
                  </a:rPr>
                  <a:t>first</a:t>
                </a:r>
                <a:r>
                  <a:rPr lang="es-MX" dirty="0">
                    <a:sym typeface="Symbol" pitchFamily="18" charset="2"/>
                  </a:rPr>
                  <a:t> </a:t>
                </a:r>
                <a:r>
                  <a:rPr lang="es-MX" dirty="0" err="1">
                    <a:sym typeface="Symbol" pitchFamily="18" charset="2"/>
                  </a:rPr>
                  <a:t>number</a:t>
                </a:r>
                <a:r>
                  <a:rPr lang="es-MX" dirty="0">
                    <a:sym typeface="Symbol" pitchFamily="18" charset="2"/>
                  </a:rPr>
                  <a:t> coincides </a:t>
                </a:r>
                <a:r>
                  <a:rPr lang="es-MX" dirty="0" err="1">
                    <a:sym typeface="Symbol" pitchFamily="18" charset="2"/>
                  </a:rPr>
                  <a:t>with</a:t>
                </a:r>
                <a:r>
                  <a:rPr lang="es-MX" dirty="0">
                    <a:sym typeface="Symbol" pitchFamily="18" charset="2"/>
                  </a:rPr>
                  <a:t> </a:t>
                </a:r>
                <a:r>
                  <a:rPr lang="es-MX" dirty="0" err="1">
                    <a:sym typeface="Symbol" pitchFamily="18" charset="2"/>
                  </a:rPr>
                  <a:t>cell</a:t>
                </a:r>
                <a:r>
                  <a:rPr lang="es-MX" dirty="0">
                    <a:sym typeface="Symbol" pitchFamily="18" charset="2"/>
                  </a:rPr>
                  <a:t> 1 and </a:t>
                </a:r>
                <a:r>
                  <a:rPr lang="es-MX" dirty="0" err="1">
                    <a:sym typeface="Symbol" pitchFamily="18" charset="2"/>
                  </a:rPr>
                  <a:t>put</a:t>
                </a:r>
                <a:r>
                  <a:rPr lang="es-MX" dirty="0">
                    <a:sym typeface="Symbol" pitchFamily="18" charset="2"/>
                  </a:rPr>
                  <a:t> </a:t>
                </a:r>
                <a:r>
                  <a:rPr lang="es-MX" dirty="0" err="1">
                    <a:sym typeface="Symbol" pitchFamily="18" charset="2"/>
                  </a:rPr>
                  <a:t>it</a:t>
                </a:r>
                <a:r>
                  <a:rPr lang="es-MX" dirty="0">
                    <a:sym typeface="Symbol" pitchFamily="18" charset="2"/>
                  </a:rPr>
                  <a:t> in columna 1 (C1): </a:t>
                </a:r>
                <a:r>
                  <a:rPr lang="es-MX" dirty="0" err="1">
                    <a:sym typeface="Symbol" pitchFamily="18" charset="2"/>
                  </a:rPr>
                  <a:t>we</a:t>
                </a:r>
                <a:r>
                  <a:rPr lang="es-MX" dirty="0">
                    <a:sym typeface="Symbol" pitchFamily="18" charset="2"/>
                  </a:rPr>
                  <a:t> can </a:t>
                </a:r>
                <a:r>
                  <a:rPr lang="es-MX" dirty="0" err="1">
                    <a:sym typeface="Symbol" pitchFamily="18" charset="2"/>
                  </a:rPr>
                  <a:t>fill</a:t>
                </a:r>
                <a:r>
                  <a:rPr lang="es-MX" dirty="0">
                    <a:sym typeface="Symbol" pitchFamily="18" charset="2"/>
                  </a:rPr>
                  <a:t> in </a:t>
                </a:r>
                <a:r>
                  <a:rPr lang="es-MX" dirty="0" err="1">
                    <a:sym typeface="Symbol" pitchFamily="18" charset="2"/>
                  </a:rPr>
                  <a:t>squares</a:t>
                </a:r>
                <a:r>
                  <a:rPr lang="es-MX" dirty="0">
                    <a:sym typeface="Symbol" pitchFamily="18" charset="2"/>
                  </a:rPr>
                  <a:t> 6, 7, 8, 9.</a:t>
                </a:r>
              </a:p>
              <a:p>
                <a:pPr lvl="1">
                  <a:spcBef>
                    <a:spcPct val="10000"/>
                  </a:spcBef>
                </a:pPr>
                <a:r>
                  <a:rPr lang="es-MX" dirty="0" err="1">
                    <a:sym typeface="Symbol" pitchFamily="18" charset="2"/>
                  </a:rPr>
                  <a:t>Put</a:t>
                </a:r>
                <a:r>
                  <a:rPr lang="es-MX" dirty="0">
                    <a:sym typeface="Symbol" pitchFamily="18" charset="2"/>
                  </a:rPr>
                  <a:t> </a:t>
                </a:r>
                <a14:m>
                  <m:oMath xmlns:m="http://schemas.openxmlformats.org/officeDocument/2006/math">
                    <m:r>
                      <a:rPr lang="es-MX" i="1" dirty="0">
                        <a:latin typeface="Cambria Math"/>
                        <a:sym typeface="Symbol" pitchFamily="18" charset="2"/>
                      </a:rPr>
                      <m:t>𝑥</m:t>
                    </m:r>
                    <m:r>
                      <a:rPr lang="es-MX" i="1" dirty="0">
                        <a:latin typeface="Cambria Math"/>
                        <a:ea typeface="Cambria Math"/>
                        <a:sym typeface="Symbol" pitchFamily="18" charset="2"/>
                      </a:rPr>
                      <m:t>∈</m:t>
                    </m:r>
                    <m:r>
                      <a:rPr lang="es-MX" i="1" dirty="0">
                        <a:latin typeface="Cambria Math"/>
                        <a:sym typeface="Symbol" pitchFamily="18" charset="2"/>
                      </a:rPr>
                      <m:t>𝑋</m:t>
                    </m:r>
                  </m:oMath>
                </a14:m>
                <a:r>
                  <a:rPr lang="es-MX" dirty="0">
                    <a:sym typeface="Symbol" pitchFamily="18" charset="2"/>
                  </a:rPr>
                  <a:t> </a:t>
                </a:r>
                <a:r>
                  <a:rPr lang="es-MX" dirty="0" err="1">
                    <a:sym typeface="Symbol" pitchFamily="18" charset="2"/>
                  </a:rPr>
                  <a:t>whose</a:t>
                </a:r>
                <a:r>
                  <a:rPr lang="es-MX" dirty="0">
                    <a:sym typeface="Symbol" pitchFamily="18" charset="2"/>
                  </a:rPr>
                  <a:t> </a:t>
                </a:r>
                <a:r>
                  <a:rPr lang="es-MX" dirty="0" err="1">
                    <a:sym typeface="Symbol" pitchFamily="18" charset="2"/>
                  </a:rPr>
                  <a:t>first</a:t>
                </a:r>
                <a:r>
                  <a:rPr lang="es-MX" dirty="0">
                    <a:sym typeface="Symbol" pitchFamily="18" charset="2"/>
                  </a:rPr>
                  <a:t> </a:t>
                </a:r>
                <a:r>
                  <a:rPr lang="es-MX" dirty="0" err="1">
                    <a:sym typeface="Symbol" pitchFamily="18" charset="2"/>
                  </a:rPr>
                  <a:t>number</a:t>
                </a:r>
                <a:r>
                  <a:rPr lang="es-MX" dirty="0">
                    <a:sym typeface="Symbol" pitchFamily="18" charset="2"/>
                  </a:rPr>
                  <a:t> coincides </a:t>
                </a:r>
                <a:r>
                  <a:rPr lang="es-MX" dirty="0" err="1">
                    <a:sym typeface="Symbol" pitchFamily="18" charset="2"/>
                  </a:rPr>
                  <a:t>with</a:t>
                </a:r>
                <a:r>
                  <a:rPr lang="es-MX" dirty="0">
                    <a:sym typeface="Symbol" pitchFamily="18" charset="2"/>
                  </a:rPr>
                  <a:t> </a:t>
                </a:r>
                <a:r>
                  <a:rPr lang="es-MX" dirty="0" err="1">
                    <a:sym typeface="Symbol" pitchFamily="18" charset="2"/>
                  </a:rPr>
                  <a:t>cell</a:t>
                </a:r>
                <a:r>
                  <a:rPr lang="es-MX" dirty="0">
                    <a:sym typeface="Symbol" pitchFamily="18" charset="2"/>
                  </a:rPr>
                  <a:t> 9, </a:t>
                </a:r>
                <a:r>
                  <a:rPr lang="es-MX" dirty="0" err="1">
                    <a:sym typeface="Symbol" pitchFamily="18" charset="2"/>
                  </a:rPr>
                  <a:t>last</a:t>
                </a:r>
                <a:r>
                  <a:rPr lang="es-MX" dirty="0">
                    <a:sym typeface="Symbol" pitchFamily="18" charset="2"/>
                  </a:rPr>
                  <a:t> </a:t>
                </a:r>
                <a:r>
                  <a:rPr lang="es-MX" dirty="0" err="1">
                    <a:sym typeface="Symbol" pitchFamily="18" charset="2"/>
                  </a:rPr>
                  <a:t>number</a:t>
                </a:r>
                <a:r>
                  <a:rPr lang="es-MX" dirty="0">
                    <a:sym typeface="Symbol" pitchFamily="18" charset="2"/>
                  </a:rPr>
                  <a:t> coincides </a:t>
                </a:r>
                <a:r>
                  <a:rPr lang="es-MX" dirty="0" err="1">
                    <a:sym typeface="Symbol" pitchFamily="18" charset="2"/>
                  </a:rPr>
                  <a:t>with</a:t>
                </a:r>
                <a:r>
                  <a:rPr lang="es-MX" dirty="0">
                    <a:sym typeface="Symbol" pitchFamily="18" charset="2"/>
                  </a:rPr>
                  <a:t> </a:t>
                </a:r>
                <a:r>
                  <a:rPr lang="es-MX" dirty="0" err="1">
                    <a:sym typeface="Symbol" pitchFamily="18" charset="2"/>
                  </a:rPr>
                  <a:t>cell</a:t>
                </a:r>
                <a:r>
                  <a:rPr lang="es-MX" dirty="0">
                    <a:sym typeface="Symbol" pitchFamily="18" charset="2"/>
                  </a:rPr>
                  <a:t> 5 and </a:t>
                </a:r>
                <a:r>
                  <a:rPr lang="es-MX" dirty="0" err="1">
                    <a:sym typeface="Symbol" pitchFamily="18" charset="2"/>
                  </a:rPr>
                  <a:t>put</a:t>
                </a:r>
                <a:r>
                  <a:rPr lang="es-MX" dirty="0">
                    <a:sym typeface="Symbol" pitchFamily="18" charset="2"/>
                  </a:rPr>
                  <a:t> </a:t>
                </a:r>
                <a:r>
                  <a:rPr lang="es-MX" dirty="0" err="1">
                    <a:sym typeface="Symbol" pitchFamily="18" charset="2"/>
                  </a:rPr>
                  <a:t>it</a:t>
                </a:r>
                <a:r>
                  <a:rPr lang="es-MX" dirty="0">
                    <a:sym typeface="Symbol" pitchFamily="18" charset="2"/>
                  </a:rPr>
                  <a:t> in </a:t>
                </a:r>
                <a:r>
                  <a:rPr lang="es-MX" dirty="0" err="1">
                    <a:sym typeface="Symbol" pitchFamily="18" charset="2"/>
                  </a:rPr>
                  <a:t>the</a:t>
                </a:r>
                <a:r>
                  <a:rPr lang="es-MX" dirty="0">
                    <a:sym typeface="Symbol" pitchFamily="18" charset="2"/>
                  </a:rPr>
                  <a:t> </a:t>
                </a:r>
                <a:r>
                  <a:rPr lang="es-MX" dirty="0" err="1">
                    <a:sym typeface="Symbol" pitchFamily="18" charset="2"/>
                  </a:rPr>
                  <a:t>main</a:t>
                </a:r>
                <a:r>
                  <a:rPr lang="es-MX" dirty="0">
                    <a:sym typeface="Symbol" pitchFamily="18" charset="2"/>
                  </a:rPr>
                  <a:t> diagonal 2 (D2): </a:t>
                </a:r>
                <a:r>
                  <a:rPr lang="es-MX" dirty="0" err="1">
                    <a:sym typeface="Symbol" pitchFamily="18" charset="2"/>
                  </a:rPr>
                  <a:t>we</a:t>
                </a:r>
                <a:r>
                  <a:rPr lang="es-MX" dirty="0">
                    <a:sym typeface="Symbol" pitchFamily="18" charset="2"/>
                  </a:rPr>
                  <a:t> can </a:t>
                </a:r>
                <a:r>
                  <a:rPr lang="es-MX" dirty="0" err="1">
                    <a:sym typeface="Symbol" pitchFamily="18" charset="2"/>
                  </a:rPr>
                  <a:t>fill</a:t>
                </a:r>
                <a:r>
                  <a:rPr lang="es-MX" dirty="0">
                    <a:sym typeface="Symbol" pitchFamily="18" charset="2"/>
                  </a:rPr>
                  <a:t> in </a:t>
                </a:r>
                <a:r>
                  <a:rPr lang="es-MX" dirty="0" err="1">
                    <a:sym typeface="Symbol" pitchFamily="18" charset="2"/>
                  </a:rPr>
                  <a:t>squares</a:t>
                </a:r>
                <a:r>
                  <a:rPr lang="es-MX" dirty="0">
                    <a:sym typeface="Symbol" pitchFamily="18" charset="2"/>
                  </a:rPr>
                  <a:t> 10, 11, 12.</a:t>
                </a:r>
              </a:p>
              <a:p>
                <a:pPr lvl="1">
                  <a:spcBef>
                    <a:spcPct val="10000"/>
                  </a:spcBef>
                </a:pPr>
                <a:r>
                  <a:rPr lang="es-MX" dirty="0" err="1">
                    <a:sym typeface="Symbol" pitchFamily="18" charset="2"/>
                  </a:rPr>
                  <a:t>Put</a:t>
                </a:r>
                <a:r>
                  <a:rPr lang="es-MX" dirty="0">
                    <a:sym typeface="Symbol" pitchFamily="18" charset="2"/>
                  </a:rPr>
                  <a:t> </a:t>
                </a:r>
                <a14:m>
                  <m:oMath xmlns:m="http://schemas.openxmlformats.org/officeDocument/2006/math">
                    <m:r>
                      <a:rPr lang="es-MX" i="1" dirty="0">
                        <a:latin typeface="Cambria Math"/>
                        <a:sym typeface="Symbol" pitchFamily="18" charset="2"/>
                      </a:rPr>
                      <m:t>𝑥</m:t>
                    </m:r>
                    <m:r>
                      <a:rPr lang="es-MX" i="1" dirty="0">
                        <a:latin typeface="Cambria Math"/>
                        <a:ea typeface="Cambria Math"/>
                        <a:sym typeface="Symbol" pitchFamily="18" charset="2"/>
                      </a:rPr>
                      <m:t>∈</m:t>
                    </m:r>
                    <m:r>
                      <a:rPr lang="es-MX" i="1" dirty="0">
                        <a:latin typeface="Cambria Math"/>
                        <a:sym typeface="Symbol" pitchFamily="18" charset="2"/>
                      </a:rPr>
                      <m:t>𝑋</m:t>
                    </m:r>
                  </m:oMath>
                </a14:m>
                <a:r>
                  <a:rPr lang="es-MX" dirty="0">
                    <a:sym typeface="Symbol" pitchFamily="18" charset="2"/>
                  </a:rPr>
                  <a:t> </a:t>
                </a:r>
                <a:r>
                  <a:rPr lang="es-MX" dirty="0" err="1">
                    <a:sym typeface="Symbol" pitchFamily="18" charset="2"/>
                  </a:rPr>
                  <a:t>whose</a:t>
                </a:r>
                <a:r>
                  <a:rPr lang="es-MX" dirty="0">
                    <a:sym typeface="Symbol" pitchFamily="18" charset="2"/>
                  </a:rPr>
                  <a:t> </a:t>
                </a:r>
                <a:r>
                  <a:rPr lang="es-MX" dirty="0" err="1">
                    <a:sym typeface="Symbol" pitchFamily="18" charset="2"/>
                  </a:rPr>
                  <a:t>first</a:t>
                </a:r>
                <a:r>
                  <a:rPr lang="es-MX" dirty="0">
                    <a:sym typeface="Symbol" pitchFamily="18" charset="2"/>
                  </a:rPr>
                  <a:t> </a:t>
                </a:r>
                <a:r>
                  <a:rPr lang="es-MX" dirty="0" err="1">
                    <a:sym typeface="Symbol" pitchFamily="18" charset="2"/>
                  </a:rPr>
                  <a:t>number</a:t>
                </a:r>
                <a:r>
                  <a:rPr lang="es-MX" dirty="0">
                    <a:sym typeface="Symbol" pitchFamily="18" charset="2"/>
                  </a:rPr>
                  <a:t> coincides </a:t>
                </a:r>
                <a:r>
                  <a:rPr lang="es-MX" dirty="0" err="1">
                    <a:sym typeface="Symbol" pitchFamily="18" charset="2"/>
                  </a:rPr>
                  <a:t>with</a:t>
                </a:r>
                <a:r>
                  <a:rPr lang="es-MX" dirty="0">
                    <a:sym typeface="Symbol" pitchFamily="18" charset="2"/>
                  </a:rPr>
                  <a:t> </a:t>
                </a:r>
                <a:r>
                  <a:rPr lang="es-MX" dirty="0" err="1">
                    <a:sym typeface="Symbol" pitchFamily="18" charset="2"/>
                  </a:rPr>
                  <a:t>cell</a:t>
                </a:r>
                <a:r>
                  <a:rPr lang="es-MX" dirty="0">
                    <a:sym typeface="Symbol" pitchFamily="18" charset="2"/>
                  </a:rPr>
                  <a:t> 6 and </a:t>
                </a:r>
                <a:r>
                  <a:rPr lang="es-MX" dirty="0" err="1">
                    <a:sym typeface="Symbol" pitchFamily="18" charset="2"/>
                  </a:rPr>
                  <a:t>fourth</a:t>
                </a:r>
                <a:r>
                  <a:rPr lang="es-MX" dirty="0">
                    <a:sym typeface="Symbol" pitchFamily="18" charset="2"/>
                  </a:rPr>
                  <a:t> </a:t>
                </a:r>
                <a:r>
                  <a:rPr lang="es-MX" dirty="0" err="1">
                    <a:sym typeface="Symbol" pitchFamily="18" charset="2"/>
                  </a:rPr>
                  <a:t>number</a:t>
                </a:r>
                <a:r>
                  <a:rPr lang="es-MX" dirty="0">
                    <a:sym typeface="Symbol" pitchFamily="18" charset="2"/>
                  </a:rPr>
                  <a:t> coincides </a:t>
                </a:r>
                <a:r>
                  <a:rPr lang="es-MX" dirty="0" err="1">
                    <a:sym typeface="Symbol" pitchFamily="18" charset="2"/>
                  </a:rPr>
                  <a:t>with</a:t>
                </a:r>
                <a:r>
                  <a:rPr lang="es-MX" dirty="0">
                    <a:sym typeface="Symbol" pitchFamily="18" charset="2"/>
                  </a:rPr>
                  <a:t> </a:t>
                </a:r>
                <a:r>
                  <a:rPr lang="es-MX" dirty="0" err="1">
                    <a:sym typeface="Symbol" pitchFamily="18" charset="2"/>
                  </a:rPr>
                  <a:t>cell</a:t>
                </a:r>
                <a:r>
                  <a:rPr lang="es-MX" dirty="0">
                    <a:sym typeface="Symbol" pitchFamily="18" charset="2"/>
                  </a:rPr>
                  <a:t> 12 and </a:t>
                </a:r>
                <a:r>
                  <a:rPr lang="es-MX" dirty="0" err="1">
                    <a:sym typeface="Symbol" pitchFamily="18" charset="2"/>
                  </a:rPr>
                  <a:t>put</a:t>
                </a:r>
                <a:r>
                  <a:rPr lang="es-MX" dirty="0">
                    <a:sym typeface="Symbol" pitchFamily="18" charset="2"/>
                  </a:rPr>
                  <a:t> </a:t>
                </a:r>
                <a:r>
                  <a:rPr lang="es-MX" dirty="0" err="1">
                    <a:sym typeface="Symbol" pitchFamily="18" charset="2"/>
                  </a:rPr>
                  <a:t>it</a:t>
                </a:r>
                <a:r>
                  <a:rPr lang="es-MX" dirty="0">
                    <a:sym typeface="Symbol" pitchFamily="18" charset="2"/>
                  </a:rPr>
                  <a:t> in </a:t>
                </a:r>
                <a:r>
                  <a:rPr lang="es-MX" dirty="0" err="1">
                    <a:sym typeface="Symbol" pitchFamily="18" charset="2"/>
                  </a:rPr>
                  <a:t>row</a:t>
                </a:r>
                <a:r>
                  <a:rPr lang="es-MX" dirty="0">
                    <a:sym typeface="Symbol" pitchFamily="18" charset="2"/>
                  </a:rPr>
                  <a:t> 2 (H2): </a:t>
                </a:r>
                <a:r>
                  <a:rPr lang="es-MX" dirty="0" err="1">
                    <a:sym typeface="Symbol" pitchFamily="18" charset="2"/>
                  </a:rPr>
                  <a:t>we</a:t>
                </a:r>
                <a:r>
                  <a:rPr lang="es-MX" dirty="0">
                    <a:sym typeface="Symbol" pitchFamily="18" charset="2"/>
                  </a:rPr>
                  <a:t> can </a:t>
                </a:r>
                <a:r>
                  <a:rPr lang="es-MX" dirty="0" err="1">
                    <a:sym typeface="Symbol" pitchFamily="18" charset="2"/>
                  </a:rPr>
                  <a:t>fill</a:t>
                </a:r>
                <a:r>
                  <a:rPr lang="es-MX" dirty="0">
                    <a:sym typeface="Symbol" pitchFamily="18" charset="2"/>
                  </a:rPr>
                  <a:t> in </a:t>
                </a:r>
                <a:r>
                  <a:rPr lang="es-MX" dirty="0" err="1">
                    <a:sym typeface="Symbol" pitchFamily="18" charset="2"/>
                  </a:rPr>
                  <a:t>squares</a:t>
                </a:r>
                <a:r>
                  <a:rPr lang="es-MX" dirty="0">
                    <a:sym typeface="Symbol" pitchFamily="18" charset="2"/>
                  </a:rPr>
                  <a:t> 13, 14, 15.</a:t>
                </a:r>
              </a:p>
              <a:p>
                <a:pPr lvl="1">
                  <a:spcBef>
                    <a:spcPct val="10000"/>
                  </a:spcBef>
                </a:pPr>
                <a:r>
                  <a:rPr lang="es-MX" dirty="0" err="1">
                    <a:sym typeface="Symbol" pitchFamily="18" charset="2"/>
                  </a:rPr>
                  <a:t>Put</a:t>
                </a:r>
                <a:r>
                  <a:rPr lang="es-MX" dirty="0">
                    <a:sym typeface="Symbol" pitchFamily="18" charset="2"/>
                  </a:rPr>
                  <a:t> </a:t>
                </a:r>
                <a14:m>
                  <m:oMath xmlns:m="http://schemas.openxmlformats.org/officeDocument/2006/math">
                    <m:r>
                      <a:rPr lang="es-MX" i="1" dirty="0">
                        <a:latin typeface="Cambria Math"/>
                        <a:sym typeface="Symbol" pitchFamily="18" charset="2"/>
                      </a:rPr>
                      <m:t>𝑥</m:t>
                    </m:r>
                    <m:r>
                      <a:rPr lang="es-MX" i="1" dirty="0">
                        <a:latin typeface="Cambria Math"/>
                        <a:ea typeface="Cambria Math"/>
                        <a:sym typeface="Symbol" pitchFamily="18" charset="2"/>
                      </a:rPr>
                      <m:t>∈</m:t>
                    </m:r>
                    <m:r>
                      <a:rPr lang="es-MX" i="1" dirty="0">
                        <a:latin typeface="Cambria Math"/>
                        <a:sym typeface="Symbol" pitchFamily="18" charset="2"/>
                      </a:rPr>
                      <m:t>𝑋</m:t>
                    </m:r>
                    <m:r>
                      <a:rPr lang="es-MX" i="1" dirty="0">
                        <a:latin typeface="Cambria Math"/>
                        <a:sym typeface="Symbol" pitchFamily="18" charset="2"/>
                      </a:rPr>
                      <m:t> </m:t>
                    </m:r>
                  </m:oMath>
                </a14:m>
                <a:r>
                  <a:rPr lang="es-MX" dirty="0" err="1">
                    <a:sym typeface="Symbol" pitchFamily="18" charset="2"/>
                  </a:rPr>
                  <a:t>whose</a:t>
                </a:r>
                <a:r>
                  <a:rPr lang="es-MX" dirty="0">
                    <a:sym typeface="Symbol" pitchFamily="18" charset="2"/>
                  </a:rPr>
                  <a:t> </a:t>
                </a:r>
                <a:r>
                  <a:rPr lang="es-MX" dirty="0" err="1">
                    <a:sym typeface="Symbol" pitchFamily="18" charset="2"/>
                  </a:rPr>
                  <a:t>first</a:t>
                </a:r>
                <a:r>
                  <a:rPr lang="es-MX" dirty="0">
                    <a:sym typeface="Symbol" pitchFamily="18" charset="2"/>
                  </a:rPr>
                  <a:t>, </a:t>
                </a:r>
                <a:r>
                  <a:rPr lang="es-MX" dirty="0" err="1">
                    <a:sym typeface="Symbol" pitchFamily="18" charset="2"/>
                  </a:rPr>
                  <a:t>second</a:t>
                </a:r>
                <a:r>
                  <a:rPr lang="es-MX" dirty="0">
                    <a:sym typeface="Symbol" pitchFamily="18" charset="2"/>
                  </a:rPr>
                  <a:t>, </a:t>
                </a:r>
                <a:r>
                  <a:rPr lang="es-MX" dirty="0" err="1">
                    <a:sym typeface="Symbol" pitchFamily="18" charset="2"/>
                  </a:rPr>
                  <a:t>fourth</a:t>
                </a:r>
                <a:r>
                  <a:rPr lang="es-MX" dirty="0">
                    <a:sym typeface="Symbol" pitchFamily="18" charset="2"/>
                  </a:rPr>
                  <a:t> </a:t>
                </a:r>
                <a:r>
                  <a:rPr lang="es-MX" dirty="0" err="1">
                    <a:sym typeface="Symbol" pitchFamily="18" charset="2"/>
                  </a:rPr>
                  <a:t>numbers</a:t>
                </a:r>
                <a:r>
                  <a:rPr lang="es-MX" dirty="0">
                    <a:sym typeface="Symbol" pitchFamily="18" charset="2"/>
                  </a:rPr>
                  <a:t> coincide </a:t>
                </a:r>
                <a:r>
                  <a:rPr lang="es-MX" dirty="0" err="1">
                    <a:sym typeface="Symbol" pitchFamily="18" charset="2"/>
                  </a:rPr>
                  <a:t>with</a:t>
                </a:r>
                <a:r>
                  <a:rPr lang="es-MX" dirty="0">
                    <a:sym typeface="Symbol" pitchFamily="18" charset="2"/>
                  </a:rPr>
                  <a:t> </a:t>
                </a:r>
                <a:r>
                  <a:rPr lang="es-MX" dirty="0" err="1">
                    <a:sym typeface="Symbol" pitchFamily="18" charset="2"/>
                  </a:rPr>
                  <a:t>cell</a:t>
                </a:r>
                <a:r>
                  <a:rPr lang="es-MX" dirty="0">
                    <a:sym typeface="Symbol" pitchFamily="18" charset="2"/>
                  </a:rPr>
                  <a:t> 2, 13, 10 and </a:t>
                </a:r>
                <a:r>
                  <a:rPr lang="es-MX" dirty="0" err="1">
                    <a:sym typeface="Symbol" pitchFamily="18" charset="2"/>
                  </a:rPr>
                  <a:t>put</a:t>
                </a:r>
                <a:r>
                  <a:rPr lang="es-MX" dirty="0">
                    <a:sym typeface="Symbol" pitchFamily="18" charset="2"/>
                  </a:rPr>
                  <a:t> </a:t>
                </a:r>
                <a:r>
                  <a:rPr lang="es-MX" dirty="0" err="1">
                    <a:sym typeface="Symbol" pitchFamily="18" charset="2"/>
                  </a:rPr>
                  <a:t>them</a:t>
                </a:r>
                <a:r>
                  <a:rPr lang="es-MX" dirty="0">
                    <a:sym typeface="Symbol" pitchFamily="18" charset="2"/>
                  </a:rPr>
                  <a:t> in </a:t>
                </a:r>
                <a:r>
                  <a:rPr lang="es-MX" dirty="0" err="1">
                    <a:sym typeface="Symbol" pitchFamily="18" charset="2"/>
                  </a:rPr>
                  <a:t>columnn</a:t>
                </a:r>
                <a:r>
                  <a:rPr lang="es-MX" dirty="0">
                    <a:sym typeface="Symbol" pitchFamily="18" charset="2"/>
                  </a:rPr>
                  <a:t> 2 (C2): </a:t>
                </a:r>
                <a:r>
                  <a:rPr lang="es-MX" dirty="0" err="1">
                    <a:sym typeface="Symbol" pitchFamily="18" charset="2"/>
                  </a:rPr>
                  <a:t>we</a:t>
                </a:r>
                <a:r>
                  <a:rPr lang="es-MX" dirty="0">
                    <a:sym typeface="Symbol" pitchFamily="18" charset="2"/>
                  </a:rPr>
                  <a:t> can </a:t>
                </a:r>
                <a:r>
                  <a:rPr lang="es-MX" dirty="0" err="1">
                    <a:sym typeface="Symbol" pitchFamily="18" charset="2"/>
                  </a:rPr>
                  <a:t>fill</a:t>
                </a:r>
                <a:r>
                  <a:rPr lang="es-MX" dirty="0">
                    <a:sym typeface="Symbol" pitchFamily="18" charset="2"/>
                  </a:rPr>
                  <a:t> in </a:t>
                </a:r>
                <a:r>
                  <a:rPr lang="es-MX" dirty="0" err="1">
                    <a:sym typeface="Symbol" pitchFamily="18" charset="2"/>
                  </a:rPr>
                  <a:t>squares</a:t>
                </a:r>
                <a:r>
                  <a:rPr lang="es-MX" dirty="0">
                    <a:sym typeface="Symbol" pitchFamily="18" charset="2"/>
                  </a:rPr>
                  <a:t> 16, 17.</a:t>
                </a:r>
              </a:p>
              <a:p>
                <a:pPr lvl="1">
                  <a:spcBef>
                    <a:spcPct val="10000"/>
                  </a:spcBef>
                </a:pPr>
                <a:r>
                  <a:rPr lang="es-MX" dirty="0">
                    <a:sym typeface="Symbol" pitchFamily="18" charset="2"/>
                  </a:rPr>
                  <a:t>Do </a:t>
                </a:r>
                <a:r>
                  <a:rPr lang="es-MX" dirty="0" err="1">
                    <a:sym typeface="Symbol" pitchFamily="18" charset="2"/>
                  </a:rPr>
                  <a:t>the</a:t>
                </a:r>
                <a:r>
                  <a:rPr lang="es-MX" dirty="0">
                    <a:sym typeface="Symbol" pitchFamily="18" charset="2"/>
                  </a:rPr>
                  <a:t> </a:t>
                </a:r>
                <a:r>
                  <a:rPr lang="es-MX" dirty="0" err="1">
                    <a:sym typeface="Symbol" pitchFamily="18" charset="2"/>
                  </a:rPr>
                  <a:t>same</a:t>
                </a:r>
                <a:r>
                  <a:rPr lang="es-MX" dirty="0">
                    <a:sym typeface="Symbol" pitchFamily="18" charset="2"/>
                  </a:rPr>
                  <a:t> </a:t>
                </a:r>
                <a:r>
                  <a:rPr lang="es-MX" dirty="0" err="1">
                    <a:sym typeface="Symbol" pitchFamily="18" charset="2"/>
                  </a:rPr>
                  <a:t>until</a:t>
                </a:r>
                <a:r>
                  <a:rPr lang="es-MX" dirty="0">
                    <a:sym typeface="Symbol" pitchFamily="18" charset="2"/>
                  </a:rPr>
                  <a:t> </a:t>
                </a:r>
                <a:r>
                  <a:rPr lang="es-MX" dirty="0" err="1">
                    <a:sym typeface="Symbol" pitchFamily="18" charset="2"/>
                  </a:rPr>
                  <a:t>we</a:t>
                </a:r>
                <a:r>
                  <a:rPr lang="es-MX" dirty="0">
                    <a:sym typeface="Symbol" pitchFamily="18" charset="2"/>
                  </a:rPr>
                  <a:t> </a:t>
                </a:r>
                <a:r>
                  <a:rPr lang="es-MX" dirty="0" err="1">
                    <a:sym typeface="Symbol" pitchFamily="18" charset="2"/>
                  </a:rPr>
                  <a:t>fill</a:t>
                </a:r>
                <a:r>
                  <a:rPr lang="es-MX" dirty="0">
                    <a:sym typeface="Symbol" pitchFamily="18" charset="2"/>
                  </a:rPr>
                  <a:t> in </a:t>
                </a:r>
                <a:r>
                  <a:rPr lang="es-MX" dirty="0" err="1">
                    <a:sym typeface="Symbol" pitchFamily="18" charset="2"/>
                  </a:rPr>
                  <a:t>row</a:t>
                </a:r>
                <a:r>
                  <a:rPr lang="es-MX" dirty="0">
                    <a:sym typeface="Symbol" pitchFamily="18" charset="2"/>
                  </a:rPr>
                  <a:t> 5 </a:t>
                </a:r>
                <a:r>
                  <a:rPr lang="es-MX" dirty="0" err="1">
                    <a:sym typeface="Symbol" pitchFamily="18" charset="2"/>
                  </a:rPr>
                  <a:t>cell</a:t>
                </a:r>
                <a:r>
                  <a:rPr lang="es-MX" dirty="0">
                    <a:sym typeface="Symbol" pitchFamily="18" charset="2"/>
                  </a:rPr>
                  <a:t> 25.</a:t>
                </a:r>
              </a:p>
              <a:p>
                <a:pPr lvl="1">
                  <a:spcBef>
                    <a:spcPct val="10000"/>
                  </a:spcBef>
                </a:pPr>
                <a:r>
                  <a:rPr lang="es-MX" dirty="0" err="1">
                    <a:sym typeface="Symbol" pitchFamily="18" charset="2"/>
                  </a:rPr>
                  <a:t>Finally</a:t>
                </a:r>
                <a:r>
                  <a:rPr lang="es-MX" dirty="0">
                    <a:sym typeface="Symbol" pitchFamily="18" charset="2"/>
                  </a:rPr>
                  <a:t> </a:t>
                </a:r>
                <a:r>
                  <a:rPr lang="es-MX" dirty="0" err="1">
                    <a:sym typeface="Symbol" pitchFamily="18" charset="2"/>
                  </a:rPr>
                  <a:t>we</a:t>
                </a:r>
                <a:r>
                  <a:rPr lang="es-MX" dirty="0">
                    <a:sym typeface="Symbol" pitchFamily="18" charset="2"/>
                  </a:rPr>
                  <a:t> </a:t>
                </a:r>
                <a:r>
                  <a:rPr lang="es-MX" dirty="0" err="1">
                    <a:sym typeface="Symbol" pitchFamily="18" charset="2"/>
                  </a:rPr>
                  <a:t>just</a:t>
                </a:r>
                <a:r>
                  <a:rPr lang="es-MX" dirty="0">
                    <a:sym typeface="Symbol" pitchFamily="18" charset="2"/>
                  </a:rPr>
                  <a:t> </a:t>
                </a:r>
                <a:r>
                  <a:rPr lang="es-MX" dirty="0" err="1">
                    <a:sym typeface="Symbol" pitchFamily="18" charset="2"/>
                  </a:rPr>
                  <a:t>need</a:t>
                </a:r>
                <a:r>
                  <a:rPr lang="es-MX" dirty="0">
                    <a:sym typeface="Symbol" pitchFamily="18" charset="2"/>
                  </a:rPr>
                  <a:t> </a:t>
                </a:r>
                <a:r>
                  <a:rPr lang="es-MX" dirty="0" err="1">
                    <a:sym typeface="Symbol" pitchFamily="18" charset="2"/>
                  </a:rPr>
                  <a:t>to</a:t>
                </a:r>
                <a:r>
                  <a:rPr lang="es-MX" dirty="0">
                    <a:sym typeface="Symbol" pitchFamily="18" charset="2"/>
                  </a:rPr>
                  <a:t> </a:t>
                </a:r>
                <a:r>
                  <a:rPr lang="es-MX" dirty="0" err="1">
                    <a:sym typeface="Symbol" pitchFamily="18" charset="2"/>
                  </a:rPr>
                  <a:t>check</a:t>
                </a:r>
                <a:r>
                  <a:rPr lang="es-MX" dirty="0">
                    <a:sym typeface="Symbol" pitchFamily="18" charset="2"/>
                  </a:rPr>
                  <a:t> </a:t>
                </a:r>
                <a14:m>
                  <m:oMath xmlns:m="http://schemas.openxmlformats.org/officeDocument/2006/math">
                    <m:r>
                      <a:rPr lang="en-US" b="0" i="1" dirty="0" smtClean="0">
                        <a:latin typeface="Cambria Math"/>
                        <a:sym typeface="Symbol" pitchFamily="18" charset="2"/>
                      </a:rPr>
                      <m:t>𝐷</m:t>
                    </m:r>
                    <m:r>
                      <a:rPr lang="en-US" b="0" i="1" dirty="0" smtClean="0">
                        <a:latin typeface="Cambria Math"/>
                        <a:sym typeface="Symbol" pitchFamily="18" charset="2"/>
                      </a:rPr>
                      <m:t>1∈</m:t>
                    </m:r>
                    <m:r>
                      <a:rPr lang="es-MX" i="1" dirty="0">
                        <a:latin typeface="Cambria Math"/>
                        <a:sym typeface="Symbol" pitchFamily="18" charset="2"/>
                      </a:rPr>
                      <m:t>𝑋</m:t>
                    </m:r>
                  </m:oMath>
                </a14:m>
                <a:r>
                  <a:rPr lang="es-MX" dirty="0">
                    <a:sym typeface="Symbol" pitchFamily="18" charset="2"/>
                  </a:rPr>
                  <a:t> and </a:t>
                </a:r>
                <a14:m>
                  <m:oMath xmlns:m="http://schemas.openxmlformats.org/officeDocument/2006/math">
                    <m:r>
                      <m:rPr>
                        <m:sty m:val="p"/>
                      </m:rPr>
                      <a:rPr lang="en-US" b="0" i="0" dirty="0" smtClean="0">
                        <a:latin typeface="Cambria Math"/>
                        <a:ea typeface="Cambria Math"/>
                        <a:sym typeface="Symbol" pitchFamily="18" charset="2"/>
                      </a:rPr>
                      <m:t>C</m:t>
                    </m:r>
                    <m:r>
                      <a:rPr lang="en-US" b="0" i="0" dirty="0" smtClean="0">
                        <a:latin typeface="Cambria Math"/>
                        <a:ea typeface="Cambria Math"/>
                        <a:sym typeface="Symbol" pitchFamily="18" charset="2"/>
                      </a:rPr>
                      <m:t>5</m:t>
                    </m:r>
                    <m:r>
                      <a:rPr lang="es-MX" i="1" dirty="0">
                        <a:latin typeface="Cambria Math"/>
                        <a:ea typeface="Cambria Math"/>
                        <a:sym typeface="Symbol" pitchFamily="18" charset="2"/>
                      </a:rPr>
                      <m:t>∈</m:t>
                    </m:r>
                    <m:r>
                      <a:rPr lang="es-MX" i="1" dirty="0">
                        <a:latin typeface="Cambria Math"/>
                        <a:sym typeface="Symbol" pitchFamily="18" charset="2"/>
                      </a:rPr>
                      <m:t>𝑋</m:t>
                    </m:r>
                  </m:oMath>
                </a14:m>
                <a:r>
                  <a:rPr lang="es-MX" dirty="0">
                    <a:sym typeface="Symbol" pitchFamily="18" charset="2"/>
                  </a:rPr>
                  <a:t>?</a:t>
                </a: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741" t="-1235" r="-444"/>
                </a:stretch>
              </a:blipFill>
            </p:spPr>
            <p:txBody>
              <a:bodyPr/>
              <a:lstStyle/>
              <a:p>
                <a:r>
                  <a:rPr lang="en-US">
                    <a:noFill/>
                  </a:rPr>
                  <a:t> </a:t>
                </a:r>
              </a:p>
            </p:txBody>
          </p:sp>
        </mc:Fallback>
      </mc:AlternateContent>
    </p:spTree>
    <p:extLst>
      <p:ext uri="{BB962C8B-B14F-4D97-AF65-F5344CB8AC3E}">
        <p14:creationId xmlns:p14="http://schemas.microsoft.com/office/powerpoint/2010/main" val="4254194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graphicFrame>
        <p:nvGraphicFramePr>
          <p:cNvPr id="6" name="Group 16"/>
          <p:cNvGraphicFramePr>
            <a:graphicFrameLocks noGrp="1"/>
          </p:cNvGraphicFramePr>
          <p:nvPr>
            <p:extLst>
              <p:ext uri="{D42A27DB-BD31-4B8C-83A1-F6EECF244321}">
                <p14:modId xmlns:p14="http://schemas.microsoft.com/office/powerpoint/2010/main" val="1275759327"/>
              </p:ext>
            </p:extLst>
          </p:nvPr>
        </p:nvGraphicFramePr>
        <p:xfrm>
          <a:off x="5410200" y="2362200"/>
          <a:ext cx="2667000" cy="1982888"/>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tblGrid>
              <a:tr h="396812">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2</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3</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4</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5</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177">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6</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13</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14</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12</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15</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12">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7</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16</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11</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18</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19</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177">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8</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10</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20</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22</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23</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812">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9</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17</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21</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24</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25</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7" name="Group 54"/>
          <p:cNvGraphicFramePr>
            <a:graphicFrameLocks noGrp="1"/>
          </p:cNvGraphicFramePr>
          <p:nvPr>
            <p:extLst>
              <p:ext uri="{D42A27DB-BD31-4B8C-83A1-F6EECF244321}">
                <p14:modId xmlns:p14="http://schemas.microsoft.com/office/powerpoint/2010/main" val="1906006408"/>
              </p:ext>
            </p:extLst>
          </p:nvPr>
        </p:nvGraphicFramePr>
        <p:xfrm>
          <a:off x="1219200" y="2362200"/>
          <a:ext cx="2667000" cy="1982888"/>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tblGrid>
              <a:tr h="396812">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3</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5</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177">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5</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0</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0</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3</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3</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12">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0</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3</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4</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3</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177">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3</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4</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2</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812">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3</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3</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3</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 name="Line 92"/>
          <p:cNvSpPr>
            <a:spLocks noChangeShapeType="1"/>
          </p:cNvSpPr>
          <p:nvPr/>
        </p:nvSpPr>
        <p:spPr bwMode="auto">
          <a:xfrm>
            <a:off x="3886200" y="2971800"/>
            <a:ext cx="15240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 name="Line 93"/>
          <p:cNvSpPr>
            <a:spLocks noChangeShapeType="1"/>
          </p:cNvSpPr>
          <p:nvPr/>
        </p:nvSpPr>
        <p:spPr bwMode="auto">
          <a:xfrm>
            <a:off x="3886200" y="3733800"/>
            <a:ext cx="15240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 name="TextBox 9"/>
          <p:cNvSpPr txBox="1"/>
          <p:nvPr/>
        </p:nvSpPr>
        <p:spPr>
          <a:xfrm>
            <a:off x="5306447" y="1809691"/>
            <a:ext cx="2874505" cy="400110"/>
          </a:xfrm>
          <a:prstGeom prst="rect">
            <a:avLst/>
          </a:prstGeom>
          <a:noFill/>
        </p:spPr>
        <p:txBody>
          <a:bodyPr wrap="none" rtlCol="0">
            <a:spAutoFit/>
          </a:bodyPr>
          <a:lstStyle/>
          <a:p>
            <a:r>
              <a:rPr lang="en-US" sz="2000" b="0" i="0" dirty="0">
                <a:solidFill>
                  <a:srgbClr val="000000"/>
                </a:solidFill>
                <a:effectLst/>
                <a:latin typeface="Roboto" panose="02000000000000000000" pitchFamily="2" charset="0"/>
              </a:rPr>
              <a:t>Order of filling numbers</a:t>
            </a:r>
            <a:endParaRPr lang="en-US" sz="2000" dirty="0">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val="3650292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Contents</a:t>
            </a:r>
          </a:p>
        </p:txBody>
      </p:sp>
      <p:sp>
        <p:nvSpPr>
          <p:cNvPr id="3" name="Footer Placeholder 2"/>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464653"/>
                </a:solidFill>
                <a:effectLst/>
                <a:uLnTx/>
                <a:uFillTx/>
                <a:latin typeface="Gill Sans MT"/>
                <a:ea typeface="+mn-ea"/>
                <a:cs typeface="+mn-cs"/>
              </a:rPr>
              <a:t>http://www.ptit.edu.vn</a:t>
            </a:r>
          </a:p>
        </p:txBody>
      </p:sp>
      <p:sp>
        <p:nvSpPr>
          <p:cNvPr id="4" name="Slide Number Placeholder 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srgbClr val="464653"/>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400" b="0" i="0" u="none" strike="noStrike" kern="1200" cap="none" spc="0" normalizeH="0" baseline="0" noProof="0">
              <a:ln>
                <a:noFill/>
              </a:ln>
              <a:solidFill>
                <a:srgbClr val="464653"/>
              </a:solidFill>
              <a:effectLst/>
              <a:uLnTx/>
              <a:uFillTx/>
              <a:latin typeface="Gill Sans MT"/>
              <a:ea typeface="+mn-ea"/>
              <a:cs typeface="+mn-cs"/>
            </a:endParaRPr>
          </a:p>
        </p:txBody>
      </p:sp>
      <p:sp>
        <p:nvSpPr>
          <p:cNvPr id="5" name="Content Placeholder 4"/>
          <p:cNvSpPr>
            <a:spLocks noGrp="1"/>
          </p:cNvSpPr>
          <p:nvPr>
            <p:ph sz="quarter" idx="1"/>
          </p:nvPr>
        </p:nvSpPr>
        <p:spPr/>
        <p:txBody>
          <a:bodyPr/>
          <a:lstStyle/>
          <a:p>
            <a:pPr>
              <a:spcBef>
                <a:spcPct val="50000"/>
              </a:spcBef>
            </a:pPr>
            <a:r>
              <a:rPr lang="en-US" dirty="0">
                <a:solidFill>
                  <a:schemeClr val="bg1">
                    <a:lumMod val="75000"/>
                  </a:schemeClr>
                </a:solidFill>
              </a:rPr>
              <a:t>Introduction</a:t>
            </a:r>
          </a:p>
          <a:p>
            <a:pPr>
              <a:spcBef>
                <a:spcPct val="50000"/>
              </a:spcBef>
            </a:pPr>
            <a:r>
              <a:rPr lang="en-US" dirty="0"/>
              <a:t>Generation method</a:t>
            </a:r>
          </a:p>
          <a:p>
            <a:pPr>
              <a:spcBef>
                <a:spcPct val="50000"/>
              </a:spcBef>
            </a:pPr>
            <a:r>
              <a:rPr lang="en-US" dirty="0"/>
              <a:t>Backtracking method</a:t>
            </a:r>
          </a:p>
          <a:p>
            <a:pPr>
              <a:spcBef>
                <a:spcPct val="50000"/>
              </a:spcBef>
            </a:pPr>
            <a:r>
              <a:rPr lang="en-US" dirty="0"/>
              <a:t>Exercise</a:t>
            </a:r>
          </a:p>
          <a:p>
            <a:endParaRPr lang="en-US" dirty="0"/>
          </a:p>
        </p:txBody>
      </p:sp>
    </p:spTree>
    <p:extLst>
      <p:ext uri="{BB962C8B-B14F-4D97-AF65-F5344CB8AC3E}">
        <p14:creationId xmlns:p14="http://schemas.microsoft.com/office/powerpoint/2010/main" val="3553343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Generation algorithm (1/2)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
        <p:nvSpPr>
          <p:cNvPr id="5" name="Content Placeholder 4"/>
          <p:cNvSpPr>
            <a:spLocks noGrp="1"/>
          </p:cNvSpPr>
          <p:nvPr>
            <p:ph sz="quarter" idx="1"/>
          </p:nvPr>
        </p:nvSpPr>
        <p:spPr/>
        <p:txBody>
          <a:bodyPr/>
          <a:lstStyle/>
          <a:p>
            <a:pPr>
              <a:spcBef>
                <a:spcPct val="40000"/>
              </a:spcBef>
            </a:pPr>
            <a:r>
              <a:rPr lang="en-US" dirty="0"/>
              <a:t>The generation algorithm is used to solve the problems that satisfy 2 conditions:</a:t>
            </a:r>
          </a:p>
          <a:p>
            <a:pPr lvl="1">
              <a:spcBef>
                <a:spcPct val="40000"/>
              </a:spcBef>
            </a:pPr>
            <a:r>
              <a:rPr lang="en-US" dirty="0"/>
              <a:t>Determine </a:t>
            </a:r>
            <a:r>
              <a:rPr lang="en-US" dirty="0">
                <a:solidFill>
                  <a:srgbClr val="FF0000"/>
                </a:solidFill>
              </a:rPr>
              <a:t>an order </a:t>
            </a:r>
            <a:r>
              <a:rPr lang="en-US" dirty="0"/>
              <a:t>on the set of configurations to be listed for problem. Know </a:t>
            </a:r>
            <a:r>
              <a:rPr lang="en-US" dirty="0">
                <a:solidFill>
                  <a:srgbClr val="FF0000"/>
                </a:solidFill>
              </a:rPr>
              <a:t>the first configuration</a:t>
            </a:r>
            <a:r>
              <a:rPr lang="en-US" dirty="0"/>
              <a:t>, know </a:t>
            </a:r>
            <a:r>
              <a:rPr lang="en-US" dirty="0">
                <a:solidFill>
                  <a:srgbClr val="FF0000"/>
                </a:solidFill>
              </a:rPr>
              <a:t>the last configuration.</a:t>
            </a:r>
            <a:endParaRPr lang="en-US" dirty="0"/>
          </a:p>
          <a:p>
            <a:pPr lvl="1">
              <a:spcBef>
                <a:spcPct val="40000"/>
              </a:spcBef>
            </a:pPr>
            <a:r>
              <a:rPr lang="en-US" dirty="0"/>
              <a:t>From a configuration, we can build an algorithm that generates </a:t>
            </a:r>
            <a:r>
              <a:rPr lang="en-US" dirty="0">
                <a:solidFill>
                  <a:srgbClr val="FF0000"/>
                </a:solidFill>
              </a:rPr>
              <a:t>right following configuration</a:t>
            </a:r>
          </a:p>
          <a:p>
            <a:endParaRPr lang="en-US" dirty="0"/>
          </a:p>
        </p:txBody>
      </p:sp>
    </p:spTree>
    <p:extLst>
      <p:ext uri="{BB962C8B-B14F-4D97-AF65-F5344CB8AC3E}">
        <p14:creationId xmlns:p14="http://schemas.microsoft.com/office/powerpoint/2010/main" val="2902250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Generation algorithm(2/2)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sp>
        <p:nvSpPr>
          <p:cNvPr id="6" name="Rectangle 5"/>
          <p:cNvSpPr/>
          <p:nvPr/>
        </p:nvSpPr>
        <p:spPr>
          <a:xfrm>
            <a:off x="762000" y="1371600"/>
            <a:ext cx="7696200" cy="3471720"/>
          </a:xfrm>
          <a:prstGeom prst="rect">
            <a:avLst/>
          </a:prstGeom>
        </p:spPr>
        <p:txBody>
          <a:bodyPr wrap="square">
            <a:spAutoFit/>
          </a:bodyPr>
          <a:lstStyle/>
          <a:p>
            <a:pPr lvl="2">
              <a:spcBef>
                <a:spcPct val="40000"/>
              </a:spcBef>
            </a:pPr>
            <a:r>
              <a:rPr lang="en-US" dirty="0">
                <a:latin typeface="+mj-lt"/>
              </a:rPr>
              <a:t>Step 1 (Init):</a:t>
            </a:r>
          </a:p>
          <a:p>
            <a:pPr lvl="2">
              <a:spcBef>
                <a:spcPct val="40000"/>
              </a:spcBef>
            </a:pPr>
            <a:r>
              <a:rPr lang="en-US" dirty="0">
                <a:latin typeface="+mj-lt"/>
              </a:rPr>
              <a:t>	&lt;Set up the first configuration&gt;;</a:t>
            </a:r>
          </a:p>
          <a:p>
            <a:pPr lvl="2">
              <a:spcBef>
                <a:spcPct val="40000"/>
              </a:spcBef>
            </a:pPr>
            <a:r>
              <a:rPr lang="en-US" dirty="0">
                <a:latin typeface="+mj-lt"/>
              </a:rPr>
              <a:t>Step 2 (Loop):</a:t>
            </a:r>
          </a:p>
          <a:p>
            <a:pPr lvl="2">
              <a:spcBef>
                <a:spcPct val="40000"/>
              </a:spcBef>
            </a:pPr>
            <a:r>
              <a:rPr lang="en-US" dirty="0">
                <a:latin typeface="+mj-lt"/>
              </a:rPr>
              <a:t>	</a:t>
            </a:r>
            <a:r>
              <a:rPr lang="en-US" b="1" dirty="0">
                <a:latin typeface="+mj-lt"/>
              </a:rPr>
              <a:t>while</a:t>
            </a:r>
            <a:r>
              <a:rPr lang="en-US" dirty="0">
                <a:latin typeface="+mj-lt"/>
              </a:rPr>
              <a:t> (&lt;repeat when not final configuration&gt;) 	{</a:t>
            </a:r>
          </a:p>
          <a:p>
            <a:pPr lvl="2">
              <a:spcBef>
                <a:spcPct val="40000"/>
              </a:spcBef>
            </a:pPr>
            <a:r>
              <a:rPr lang="en-US" dirty="0">
                <a:latin typeface="+mj-lt"/>
              </a:rPr>
              <a:t>		&lt;Show current configuration&gt;;</a:t>
            </a:r>
          </a:p>
          <a:p>
            <a:pPr lvl="2">
              <a:spcBef>
                <a:spcPct val="40000"/>
              </a:spcBef>
            </a:pPr>
            <a:r>
              <a:rPr lang="en-US" dirty="0">
                <a:latin typeface="+mj-lt"/>
              </a:rPr>
              <a:t>		&lt;Generate next configuration&gt;;</a:t>
            </a:r>
          </a:p>
          <a:p>
            <a:pPr lvl="2">
              <a:spcBef>
                <a:spcPct val="40000"/>
              </a:spcBef>
            </a:pPr>
            <a:r>
              <a:rPr lang="en-US" dirty="0">
                <a:latin typeface="+mj-lt"/>
              </a:rPr>
              <a:t>	}</a:t>
            </a:r>
          </a:p>
          <a:p>
            <a:pPr lvl="2">
              <a:spcBef>
                <a:spcPct val="40000"/>
              </a:spcBef>
            </a:pPr>
            <a:r>
              <a:rPr lang="en-US" dirty="0">
                <a:latin typeface="+mj-lt"/>
              </a:rPr>
              <a:t>	&lt;Show final configuration&gt;;</a:t>
            </a:r>
          </a:p>
          <a:p>
            <a:pPr lvl="2">
              <a:spcBef>
                <a:spcPct val="40000"/>
              </a:spcBef>
            </a:pPr>
            <a:endParaRPr lang="en-US" dirty="0">
              <a:latin typeface="+mj-lt"/>
            </a:endParaRPr>
          </a:p>
        </p:txBody>
      </p:sp>
    </p:spTree>
    <p:extLst>
      <p:ext uri="{BB962C8B-B14F-4D97-AF65-F5344CB8AC3E}">
        <p14:creationId xmlns:p14="http://schemas.microsoft.com/office/powerpoint/2010/main" val="2116314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pPr>
                  <a:spcBef>
                    <a:spcPct val="40000"/>
                  </a:spcBef>
                </a:pPr>
                <a:r>
                  <a:rPr lang="en-US" b="1" dirty="0"/>
                  <a:t>Problem</a:t>
                </a:r>
                <a:r>
                  <a:rPr lang="en-US" dirty="0"/>
                  <a:t>: List binary strings of length n.</a:t>
                </a:r>
              </a:p>
              <a:p>
                <a:pPr marL="0" indent="0">
                  <a:spcBef>
                    <a:spcPct val="40000"/>
                  </a:spcBef>
                  <a:buNone/>
                </a:pPr>
                <a:r>
                  <a:rPr lang="en-US" dirty="0"/>
                  <a:t>String </a:t>
                </a:r>
                <a14:m>
                  <m:oMath xmlns:m="http://schemas.openxmlformats.org/officeDocument/2006/math">
                    <m:r>
                      <a:rPr lang="en-US" i="1" dirty="0" smtClean="0">
                        <a:latin typeface="Cambria Math"/>
                      </a:rPr>
                      <m:t>𝑋</m:t>
                    </m:r>
                    <m:r>
                      <a:rPr lang="en-US" i="1" dirty="0" smtClean="0">
                        <a:latin typeface="Cambria Math"/>
                      </a:rPr>
                      <m:t>=(</m:t>
                    </m:r>
                    <m:r>
                      <a:rPr lang="en-US" i="1" dirty="0" smtClean="0">
                        <a:latin typeface="Cambria Math"/>
                      </a:rPr>
                      <m:t>𝑥</m:t>
                    </m:r>
                    <m:r>
                      <a:rPr lang="en-US" i="1" baseline="-25000" dirty="0">
                        <a:latin typeface="Cambria Math"/>
                      </a:rPr>
                      <m:t>1</m:t>
                    </m:r>
                    <m:r>
                      <a:rPr lang="en-US" i="1" dirty="0">
                        <a:latin typeface="Cambria Math"/>
                      </a:rPr>
                      <m:t>𝑥</m:t>
                    </m:r>
                    <m:r>
                      <a:rPr lang="en-US" i="1" baseline="-25000" dirty="0">
                        <a:latin typeface="Cambria Math"/>
                      </a:rPr>
                      <m:t>2</m:t>
                    </m:r>
                    <m:r>
                      <a:rPr lang="en-US" i="1" dirty="0">
                        <a:latin typeface="Cambria Math"/>
                      </a:rPr>
                      <m:t>.</m:t>
                    </m:r>
                    <m:r>
                      <a:rPr lang="en-US" b="0" i="1" dirty="0" smtClean="0">
                        <a:latin typeface="Cambria Math"/>
                      </a:rPr>
                      <m:t>.</m:t>
                    </m:r>
                    <m:r>
                      <a:rPr lang="en-US" i="1" dirty="0">
                        <a:latin typeface="Cambria Math"/>
                      </a:rPr>
                      <m:t>. </m:t>
                    </m:r>
                    <m:r>
                      <a:rPr lang="en-US" i="1" dirty="0" err="1">
                        <a:latin typeface="Cambria Math"/>
                      </a:rPr>
                      <m:t>𝑥</m:t>
                    </m:r>
                    <m:r>
                      <a:rPr lang="en-US" i="1" baseline="-25000" dirty="0" err="1">
                        <a:latin typeface="Cambria Math"/>
                      </a:rPr>
                      <m:t>𝑛</m:t>
                    </m:r>
                    <m:r>
                      <a:rPr lang="en-US" i="1" dirty="0" smtClean="0">
                        <a:latin typeface="Cambria Math"/>
                      </a:rPr>
                      <m:t>)</m:t>
                    </m:r>
                  </m:oMath>
                </a14:m>
                <a:r>
                  <a:rPr lang="en-US" dirty="0"/>
                  <a:t>: </a:t>
                </a:r>
                <a14:m>
                  <m:oMath xmlns:m="http://schemas.openxmlformats.org/officeDocument/2006/math">
                    <m:r>
                      <a:rPr lang="en-US" i="1" dirty="0" smtClean="0">
                        <a:latin typeface="Cambria Math"/>
                      </a:rPr>
                      <m:t>𝑥</m:t>
                    </m:r>
                    <m:r>
                      <a:rPr lang="en-US" i="1" baseline="-25000" dirty="0">
                        <a:latin typeface="Cambria Math"/>
                      </a:rPr>
                      <m:t>𝑖</m:t>
                    </m:r>
                    <m:r>
                      <a:rPr lang="en-US" i="1" dirty="0">
                        <a:latin typeface="Cambria Math"/>
                      </a:rPr>
                      <m:t>=0, 1;</m:t>
                    </m:r>
                    <m:r>
                      <a:rPr lang="en-US" i="1" dirty="0">
                        <a:latin typeface="Cambria Math"/>
                      </a:rPr>
                      <m:t>𝑖</m:t>
                    </m:r>
                    <m:r>
                      <a:rPr lang="en-US" i="1" dirty="0">
                        <a:latin typeface="Cambria Math"/>
                      </a:rPr>
                      <m:t>=1, 2,..., </m:t>
                    </m:r>
                    <m:r>
                      <a:rPr lang="en-US" i="1" dirty="0">
                        <a:latin typeface="Cambria Math"/>
                      </a:rPr>
                      <m:t>𝑛</m:t>
                    </m:r>
                  </m:oMath>
                </a14:m>
                <a:r>
                  <a:rPr lang="en-US" dirty="0"/>
                  <a:t> is called a binary string with length </a:t>
                </a:r>
                <a14:m>
                  <m:oMath xmlns:m="http://schemas.openxmlformats.org/officeDocument/2006/math">
                    <m:r>
                      <a:rPr lang="en-US" i="1" dirty="0" smtClean="0">
                        <a:latin typeface="Cambria Math"/>
                      </a:rPr>
                      <m:t>𝑛</m:t>
                    </m:r>
                  </m:oMath>
                </a14:m>
                <a:r>
                  <a:rPr lang="en-US" dirty="0"/>
                  <a:t>. For example, with </a:t>
                </a:r>
                <a14:m>
                  <m:oMath xmlns:m="http://schemas.openxmlformats.org/officeDocument/2006/math">
                    <m:r>
                      <a:rPr lang="en-US" i="1" dirty="0" smtClean="0">
                        <a:latin typeface="Cambria Math"/>
                      </a:rPr>
                      <m:t>𝑛</m:t>
                    </m:r>
                    <m:r>
                      <a:rPr lang="en-US" i="1" dirty="0" smtClean="0">
                        <a:latin typeface="Cambria Math"/>
                      </a:rPr>
                      <m:t>=4</m:t>
                    </m:r>
                  </m:oMath>
                </a14:m>
                <a:r>
                  <a:rPr lang="en-US" dirty="0"/>
                  <a:t>, we have 16 binary strings below:</a:t>
                </a: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1111" t="-988"/>
                </a:stretch>
              </a:blipFill>
            </p:spPr>
            <p:txBody>
              <a:bodyPr/>
              <a:lstStyle/>
              <a:p>
                <a:r>
                  <a:rPr lang="en-US">
                    <a:noFill/>
                  </a:rPr>
                  <a:t> </a:t>
                </a:r>
              </a:p>
            </p:txBody>
          </p:sp>
        </mc:Fallback>
      </mc:AlternateContent>
      <p:graphicFrame>
        <p:nvGraphicFramePr>
          <p:cNvPr id="6" name="Group 155"/>
          <p:cNvGraphicFramePr>
            <a:graphicFrameLocks noGrp="1"/>
          </p:cNvGraphicFramePr>
          <p:nvPr>
            <p:extLst>
              <p:ext uri="{D42A27DB-BD31-4B8C-83A1-F6EECF244321}">
                <p14:modId xmlns:p14="http://schemas.microsoft.com/office/powerpoint/2010/main" val="3840256616"/>
              </p:ext>
            </p:extLst>
          </p:nvPr>
        </p:nvGraphicFramePr>
        <p:xfrm>
          <a:off x="609600" y="2895600"/>
          <a:ext cx="7696200" cy="3566286"/>
        </p:xfrm>
        <a:graphic>
          <a:graphicData uri="http://schemas.openxmlformats.org/drawingml/2006/table">
            <a:tbl>
              <a:tblPr/>
              <a:tblGrid>
                <a:gridCol w="990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16764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tblGrid>
              <a:tr h="381000">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1" u="none" strike="noStrike" cap="none" normalizeH="0" baseline="0" dirty="0">
                          <a:ln>
                            <a:noFill/>
                          </a:ln>
                          <a:solidFill>
                            <a:srgbClr val="404040"/>
                          </a:solidFill>
                          <a:effectLst/>
                          <a:latin typeface="Trebuchet MS" pitchFamily="34" charset="0"/>
                        </a:rPr>
                        <a:t>STT</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1" u="none" strike="noStrike" cap="none" normalizeH="0" baseline="0" dirty="0">
                          <a:ln>
                            <a:noFill/>
                          </a:ln>
                          <a:solidFill>
                            <a:srgbClr val="404040"/>
                          </a:solidFill>
                          <a:effectLst/>
                          <a:latin typeface="Trebuchet MS" pitchFamily="34" charset="0"/>
                        </a:rPr>
                        <a:t>X =(x</a:t>
                      </a:r>
                      <a:r>
                        <a:rPr kumimoji="0" lang="en-US" sz="2000" b="0" i="1" u="none" strike="noStrike" cap="none" normalizeH="0" baseline="-25000" dirty="0">
                          <a:ln>
                            <a:noFill/>
                          </a:ln>
                          <a:solidFill>
                            <a:srgbClr val="404040"/>
                          </a:solidFill>
                          <a:effectLst/>
                          <a:latin typeface="Trebuchet MS" pitchFamily="34" charset="0"/>
                        </a:rPr>
                        <a:t>1</a:t>
                      </a:r>
                      <a:r>
                        <a:rPr kumimoji="0" lang="en-US" sz="2000" b="0" i="1" u="none" strike="noStrike" cap="none" normalizeH="0" baseline="0" dirty="0">
                          <a:ln>
                            <a:noFill/>
                          </a:ln>
                          <a:solidFill>
                            <a:srgbClr val="404040"/>
                          </a:solidFill>
                          <a:effectLst/>
                          <a:latin typeface="Trebuchet MS" pitchFamily="34" charset="0"/>
                        </a:rPr>
                        <a:t>...</a:t>
                      </a:r>
                      <a:r>
                        <a:rPr kumimoji="0" lang="en-US" sz="2000" b="0" i="1" u="none" strike="noStrike" cap="none" normalizeH="0" baseline="0" dirty="0" err="1">
                          <a:ln>
                            <a:noFill/>
                          </a:ln>
                          <a:solidFill>
                            <a:srgbClr val="404040"/>
                          </a:solidFill>
                          <a:effectLst/>
                          <a:latin typeface="Trebuchet MS" pitchFamily="34" charset="0"/>
                        </a:rPr>
                        <a:t>x</a:t>
                      </a:r>
                      <a:r>
                        <a:rPr kumimoji="0" lang="en-US" sz="2000" b="0" i="1" u="none" strike="noStrike" cap="none" normalizeH="0" baseline="-25000" dirty="0" err="1">
                          <a:ln>
                            <a:noFill/>
                          </a:ln>
                          <a:solidFill>
                            <a:srgbClr val="404040"/>
                          </a:solidFill>
                          <a:effectLst/>
                          <a:latin typeface="Trebuchet MS" pitchFamily="34" charset="0"/>
                        </a:rPr>
                        <a:t>n</a:t>
                      </a:r>
                      <a:r>
                        <a:rPr kumimoji="0" lang="en-US" sz="2000" b="0" i="1" u="none" strike="noStrike" cap="none" normalizeH="0" baseline="0" dirty="0">
                          <a:ln>
                            <a:noFill/>
                          </a:ln>
                          <a:solidFill>
                            <a:srgbClr val="404040"/>
                          </a:solidFill>
                          <a:effectLst/>
                          <a:latin typeface="Trebuchet MS" pitchFamily="34" charset="0"/>
                        </a:rPr>
                        <a:t>)</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1" u="none" strike="noStrike" cap="none" normalizeH="0" baseline="0" dirty="0">
                          <a:ln>
                            <a:noFill/>
                          </a:ln>
                          <a:solidFill>
                            <a:srgbClr val="404040"/>
                          </a:solidFill>
                          <a:effectLst/>
                          <a:latin typeface="Trebuchet MS" pitchFamily="34" charset="0"/>
                        </a:rPr>
                        <a:t>F(X)</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1" u="none" strike="noStrike" cap="none" normalizeH="0" baseline="0" dirty="0">
                          <a:ln>
                            <a:noFill/>
                          </a:ln>
                          <a:solidFill>
                            <a:srgbClr val="404040"/>
                          </a:solidFill>
                          <a:effectLst/>
                          <a:latin typeface="Trebuchet MS" pitchFamily="34" charset="0"/>
                        </a:rPr>
                        <a:t>STT</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1" u="none" strike="noStrike" cap="none" normalizeH="0" baseline="0" dirty="0">
                          <a:ln>
                            <a:noFill/>
                          </a:ln>
                          <a:solidFill>
                            <a:srgbClr val="404040"/>
                          </a:solidFill>
                          <a:effectLst/>
                          <a:latin typeface="Trebuchet MS" pitchFamily="34" charset="0"/>
                        </a:rPr>
                        <a:t>X =(x</a:t>
                      </a:r>
                      <a:r>
                        <a:rPr kumimoji="0" lang="en-US" sz="2000" b="0" i="1" u="none" strike="noStrike" cap="none" normalizeH="0" baseline="-25000" dirty="0">
                          <a:ln>
                            <a:noFill/>
                          </a:ln>
                          <a:solidFill>
                            <a:srgbClr val="404040"/>
                          </a:solidFill>
                          <a:effectLst/>
                          <a:latin typeface="Trebuchet MS" pitchFamily="34" charset="0"/>
                        </a:rPr>
                        <a:t>1</a:t>
                      </a:r>
                      <a:r>
                        <a:rPr kumimoji="0" lang="en-US" sz="2000" b="0" i="1" u="none" strike="noStrike" cap="none" normalizeH="0" baseline="0" dirty="0">
                          <a:ln>
                            <a:noFill/>
                          </a:ln>
                          <a:solidFill>
                            <a:srgbClr val="404040"/>
                          </a:solidFill>
                          <a:effectLst/>
                          <a:latin typeface="Trebuchet MS" pitchFamily="34" charset="0"/>
                        </a:rPr>
                        <a:t>...</a:t>
                      </a:r>
                      <a:r>
                        <a:rPr kumimoji="0" lang="en-US" sz="2000" b="0" i="1" u="none" strike="noStrike" cap="none" normalizeH="0" baseline="0" dirty="0" err="1">
                          <a:ln>
                            <a:noFill/>
                          </a:ln>
                          <a:solidFill>
                            <a:srgbClr val="404040"/>
                          </a:solidFill>
                          <a:effectLst/>
                          <a:latin typeface="Trebuchet MS" pitchFamily="34" charset="0"/>
                        </a:rPr>
                        <a:t>x</a:t>
                      </a:r>
                      <a:r>
                        <a:rPr kumimoji="0" lang="en-US" sz="2000" b="0" i="1" u="none" strike="noStrike" cap="none" normalizeH="0" baseline="-25000" dirty="0" err="1">
                          <a:ln>
                            <a:noFill/>
                          </a:ln>
                          <a:solidFill>
                            <a:srgbClr val="404040"/>
                          </a:solidFill>
                          <a:effectLst/>
                          <a:latin typeface="Trebuchet MS" pitchFamily="34" charset="0"/>
                        </a:rPr>
                        <a:t>n</a:t>
                      </a:r>
                      <a:r>
                        <a:rPr kumimoji="0" lang="en-US" sz="2000" b="0" i="1" u="none" strike="noStrike" cap="none" normalizeH="0" baseline="0" dirty="0">
                          <a:ln>
                            <a:noFill/>
                          </a:ln>
                          <a:solidFill>
                            <a:srgbClr val="404040"/>
                          </a:solidFill>
                          <a:effectLst/>
                          <a:latin typeface="Trebuchet MS" pitchFamily="34" charset="0"/>
                        </a:rPr>
                        <a:t>)</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1" u="none" strike="noStrike" cap="none" normalizeH="0" baseline="0">
                          <a:ln>
                            <a:noFill/>
                          </a:ln>
                          <a:solidFill>
                            <a:srgbClr val="404040"/>
                          </a:solidFill>
                          <a:effectLst/>
                          <a:latin typeface="Trebuchet MS" pitchFamily="34" charset="0"/>
                        </a:rPr>
                        <a:t>F(X)</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9546">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0000</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0</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9</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1000</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8</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292">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2</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0001</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10</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1001</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9</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2838">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3</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0010</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2</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11</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1010</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10</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43784">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4</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0011</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3</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12</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1011</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11</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730">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5</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0100</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4</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13</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1100</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12</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7010">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6</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0101</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5</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14</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1101</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13</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98022">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7</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0110</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6</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15</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1110</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14</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6502">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8</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0111</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7</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16</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1111</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15</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177945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457200" y="1219200"/>
                <a:ext cx="8229600" cy="5181600"/>
              </a:xfrm>
            </p:spPr>
            <p:txBody>
              <a:bodyPr>
                <a:normAutofit lnSpcReduction="10000"/>
              </a:bodyPr>
              <a:lstStyle/>
              <a:p>
                <a:r>
                  <a:rPr lang="en-US" dirty="0"/>
                  <a:t>The order on the configuration set is sorted by the value of the number that the configuration (binary string) represents</a:t>
                </a:r>
              </a:p>
              <a:p>
                <a:r>
                  <a:rPr lang="en-US" dirty="0"/>
                  <a:t>The first configuration is a string of </a:t>
                </a:r>
                <a14:m>
                  <m:oMath xmlns:m="http://schemas.openxmlformats.org/officeDocument/2006/math">
                    <m:r>
                      <a:rPr lang="en-US" i="1" dirty="0" smtClean="0">
                        <a:latin typeface="Cambria Math"/>
                      </a:rPr>
                      <m:t>𝑛</m:t>
                    </m:r>
                  </m:oMath>
                </a14:m>
                <a:r>
                  <a:rPr lang="en-US" dirty="0"/>
                  <a:t> digits 0</a:t>
                </a:r>
              </a:p>
              <a:p>
                <a:r>
                  <a:rPr lang="en-US" dirty="0"/>
                  <a:t>The last configuration is a string of </a:t>
                </a:r>
                <a14:m>
                  <m:oMath xmlns:m="http://schemas.openxmlformats.org/officeDocument/2006/math">
                    <m:r>
                      <a:rPr lang="en-US" i="1" dirty="0">
                        <a:latin typeface="Cambria Math"/>
                      </a:rPr>
                      <m:t>𝑛</m:t>
                    </m:r>
                  </m:oMath>
                </a14:m>
                <a:r>
                  <a:rPr lang="en-US" dirty="0"/>
                  <a:t> digits 1</a:t>
                </a:r>
              </a:p>
              <a:p>
                <a:r>
                  <a:rPr lang="en-US" dirty="0"/>
                  <a:t>Next configuration generation algorithm:</a:t>
                </a:r>
              </a:p>
              <a:p>
                <a:pPr lvl="1"/>
                <a:r>
                  <a:rPr lang="en-US" dirty="0"/>
                  <a:t>Assume the current configuration </a:t>
                </a:r>
                <a14:m>
                  <m:oMath xmlns:m="http://schemas.openxmlformats.org/officeDocument/2006/math">
                    <m:r>
                      <a:rPr lang="en-US" b="0" i="1" smtClean="0">
                        <a:latin typeface="Cambria Math"/>
                      </a:rPr>
                      <m:t>𝑥</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2</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𝑛</m:t>
                        </m:r>
                      </m:sub>
                    </m:sSub>
                  </m:oMath>
                </a14:m>
                <a:endParaRPr lang="en-US" dirty="0"/>
              </a:p>
              <a:p>
                <a:pPr lvl="1"/>
                <a:r>
                  <a:rPr lang="en-US" dirty="0"/>
                  <a:t>If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b="0" i="1" smtClean="0">
                            <a:latin typeface="Cambria Math"/>
                          </a:rPr>
                          <m:t>𝑖</m:t>
                        </m:r>
                      </m:sub>
                    </m:sSub>
                    <m:r>
                      <a:rPr lang="en-US" b="0" i="1" smtClean="0">
                        <a:latin typeface="Cambria Math"/>
                      </a:rPr>
                      <m:t>=1</m:t>
                    </m:r>
                  </m:oMath>
                </a14:m>
                <a:r>
                  <a:rPr lang="en-US" dirty="0"/>
                  <a:t> for all </a:t>
                </a:r>
                <a14:m>
                  <m:oMath xmlns:m="http://schemas.openxmlformats.org/officeDocument/2006/math">
                    <m:r>
                      <a:rPr lang="en-US" i="1" dirty="0" smtClean="0">
                        <a:latin typeface="Cambria Math"/>
                      </a:rPr>
                      <m:t>𝑖</m:t>
                    </m:r>
                  </m:oMath>
                </a14:m>
                <a:r>
                  <a:rPr lang="en-US" dirty="0"/>
                  <a:t>, then </a:t>
                </a:r>
                <a14:m>
                  <m:oMath xmlns:m="http://schemas.openxmlformats.org/officeDocument/2006/math">
                    <m:r>
                      <a:rPr lang="en-US" i="1">
                        <a:latin typeface="Cambria Math"/>
                      </a:rPr>
                      <m:t>𝑥</m:t>
                    </m:r>
                  </m:oMath>
                </a14:m>
                <a:r>
                  <a:rPr lang="en-US" dirty="0"/>
                  <a:t> is the last configuration, listing algorithm ends</a:t>
                </a:r>
              </a:p>
              <a:p>
                <a:pPr lvl="1"/>
                <a:r>
                  <a:rPr lang="en-US" dirty="0"/>
                  <a:t>Let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b="0" i="1" smtClean="0">
                            <a:latin typeface="Cambria Math"/>
                          </a:rPr>
                          <m:t>𝑘</m:t>
                        </m:r>
                      </m:sub>
                    </m:sSub>
                  </m:oMath>
                </a14:m>
                <a:r>
                  <a:rPr lang="en-US" dirty="0"/>
                  <a:t> is the first digit 0 from the right of </a:t>
                </a:r>
                <a14:m>
                  <m:oMath xmlns:m="http://schemas.openxmlformats.org/officeDocument/2006/math">
                    <m:r>
                      <a:rPr lang="en-US" i="1">
                        <a:latin typeface="Cambria Math"/>
                      </a:rPr>
                      <m:t>𝑥</m:t>
                    </m:r>
                  </m:oMath>
                </a14:m>
                <a:r>
                  <a:rPr lang="en-US" dirty="0"/>
                  <a:t>, so </a:t>
                </a:r>
                <a14:m>
                  <m:oMath xmlns:m="http://schemas.openxmlformats.org/officeDocument/2006/math">
                    <m:r>
                      <a:rPr lang="en-US" i="1" smtClean="0">
                        <a:solidFill>
                          <a:srgbClr val="FF0000"/>
                        </a:solidFill>
                        <a:latin typeface="Cambria Math"/>
                      </a:rPr>
                      <m:t>𝑥</m:t>
                    </m:r>
                    <m:r>
                      <a:rPr lang="en-US" i="1" smtClean="0">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𝑥</m:t>
                        </m:r>
                      </m:e>
                      <m:sub>
                        <m:r>
                          <a:rPr lang="en-US" i="1">
                            <a:solidFill>
                              <a:srgbClr val="FF0000"/>
                            </a:solidFill>
                            <a:latin typeface="Cambria Math"/>
                          </a:rPr>
                          <m:t>1</m:t>
                        </m:r>
                      </m:sub>
                    </m:sSub>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𝑥</m:t>
                        </m:r>
                      </m:e>
                      <m:sub>
                        <m:r>
                          <a:rPr lang="en-US" i="1">
                            <a:solidFill>
                              <a:srgbClr val="FF0000"/>
                            </a:solidFill>
                            <a:latin typeface="Cambria Math"/>
                          </a:rPr>
                          <m:t>2</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𝑥</m:t>
                        </m:r>
                      </m:e>
                      <m:sub>
                        <m:r>
                          <a:rPr lang="en-US" b="0" i="1" smtClean="0">
                            <a:solidFill>
                              <a:srgbClr val="FF0000"/>
                            </a:solidFill>
                            <a:latin typeface="Cambria Math"/>
                          </a:rPr>
                          <m:t>𝑘</m:t>
                        </m:r>
                        <m:r>
                          <a:rPr lang="en-US" b="0" i="1" smtClean="0">
                            <a:solidFill>
                              <a:srgbClr val="FF0000"/>
                            </a:solidFill>
                            <a:latin typeface="Cambria Math"/>
                          </a:rPr>
                          <m:t>−1</m:t>
                        </m:r>
                      </m:sub>
                    </m:sSub>
                    <m:r>
                      <a:rPr lang="en-US" b="0" i="1" smtClean="0">
                        <a:solidFill>
                          <a:srgbClr val="FF0000"/>
                        </a:solidFill>
                        <a:latin typeface="Cambria Math"/>
                      </a:rPr>
                      <m:t>011…1</m:t>
                    </m:r>
                  </m:oMath>
                </a14:m>
                <a:r>
                  <a:rPr lang="en-US" dirty="0">
                    <a:solidFill>
                      <a:srgbClr val="FF0000"/>
                    </a:solidFill>
                  </a:rPr>
                  <a:t> </a:t>
                </a:r>
                <a:endParaRPr lang="en-US" dirty="0"/>
              </a:p>
              <a:p>
                <a:pPr lvl="1"/>
                <a:r>
                  <a:rPr lang="en-US" dirty="0"/>
                  <a:t>Next configuration </a:t>
                </a:r>
                <a14:m>
                  <m:oMath xmlns:m="http://schemas.openxmlformats.org/officeDocument/2006/math">
                    <m:r>
                      <a:rPr lang="en-US" b="0" i="1" smtClean="0">
                        <a:latin typeface="Cambria Math"/>
                      </a:rPr>
                      <m:t>𝑦</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𝑦</m:t>
                        </m:r>
                      </m:e>
                      <m:sub>
                        <m:r>
                          <a:rPr lang="en-US" b="0" i="1" smtClean="0">
                            <a:latin typeface="Cambria Math"/>
                          </a:rPr>
                          <m:t>1</m:t>
                        </m:r>
                      </m:sub>
                    </m:sSub>
                    <m:sSub>
                      <m:sSubPr>
                        <m:ctrlPr>
                          <a:rPr lang="en-US" b="0" i="1" smtClean="0">
                            <a:latin typeface="Cambria Math" panose="02040503050406030204" pitchFamily="18" charset="0"/>
                          </a:rPr>
                        </m:ctrlPr>
                      </m:sSubPr>
                      <m:e>
                        <m:r>
                          <a:rPr lang="en-US" b="0" i="1" smtClean="0">
                            <a:latin typeface="Cambria Math"/>
                          </a:rPr>
                          <m:t>𝑦</m:t>
                        </m:r>
                      </m:e>
                      <m:sub>
                        <m:r>
                          <a:rPr lang="en-US" b="0" i="1" smtClean="0">
                            <a:latin typeface="Cambria Math"/>
                          </a:rPr>
                          <m:t>2</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𝑦</m:t>
                        </m:r>
                      </m:e>
                      <m:sub>
                        <m:r>
                          <a:rPr lang="en-US" b="0" i="1" smtClean="0">
                            <a:latin typeface="Cambria Math"/>
                          </a:rPr>
                          <m:t>𝑛</m:t>
                        </m:r>
                      </m:sub>
                    </m:sSub>
                  </m:oMath>
                </a14:m>
                <a:r>
                  <a:rPr lang="en-US" dirty="0"/>
                  <a:t> is generated as follows:</a:t>
                </a:r>
              </a:p>
              <a:p>
                <a:pPr lvl="1"/>
                <a14:m>
                  <m:oMath xmlns:m="http://schemas.openxmlformats.org/officeDocument/2006/math">
                    <m:sSub>
                      <m:sSubPr>
                        <m:ctrlPr>
                          <a:rPr lang="en-US" i="1" smtClean="0">
                            <a:solidFill>
                              <a:srgbClr val="FF0000"/>
                            </a:solidFill>
                            <a:latin typeface="Cambria Math" panose="02040503050406030204" pitchFamily="18" charset="0"/>
                          </a:rPr>
                        </m:ctrlPr>
                      </m:sSubPr>
                      <m:e>
                        <m:r>
                          <a:rPr lang="en-US" b="0" i="1" smtClean="0">
                            <a:solidFill>
                              <a:srgbClr val="FF0000"/>
                            </a:solidFill>
                            <a:latin typeface="Cambria Math"/>
                          </a:rPr>
                          <m:t>𝑦</m:t>
                        </m:r>
                      </m:e>
                      <m:sub>
                        <m:r>
                          <a:rPr lang="en-US" b="0" i="1" smtClean="0">
                            <a:solidFill>
                              <a:srgbClr val="FF0000"/>
                            </a:solidFill>
                            <a:latin typeface="Cambria Math"/>
                          </a:rPr>
                          <m:t>𝑖</m:t>
                        </m:r>
                      </m:sub>
                    </m:sSub>
                    <m:r>
                      <a:rPr lang="en-US" b="0" i="1" smtClean="0">
                        <a:solidFill>
                          <a:srgbClr val="FF0000"/>
                        </a:solidFill>
                        <a:latin typeface="Cambria Math"/>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a:rPr>
                          <m:t>𝑥</m:t>
                        </m:r>
                      </m:e>
                      <m:sub>
                        <m:r>
                          <a:rPr lang="en-US" b="0" i="1" smtClean="0">
                            <a:solidFill>
                              <a:srgbClr val="FF0000"/>
                            </a:solidFill>
                            <a:latin typeface="Cambria Math"/>
                          </a:rPr>
                          <m:t>𝑖</m:t>
                        </m:r>
                      </m:sub>
                    </m:sSub>
                  </m:oMath>
                </a14:m>
                <a:r>
                  <a:rPr lang="en-US" dirty="0">
                    <a:solidFill>
                      <a:srgbClr val="FF0000"/>
                    </a:solidFill>
                  </a:rPr>
                  <a:t> with </a:t>
                </a:r>
                <a14:m>
                  <m:oMath xmlns:m="http://schemas.openxmlformats.org/officeDocument/2006/math">
                    <m:r>
                      <a:rPr lang="en-US" b="0" i="0" smtClean="0">
                        <a:solidFill>
                          <a:srgbClr val="FF0000"/>
                        </a:solidFill>
                        <a:latin typeface="Cambria Math"/>
                      </a:rPr>
                      <m:t>1</m:t>
                    </m:r>
                    <m:r>
                      <a:rPr lang="en-US" b="0" i="1" smtClean="0">
                        <a:solidFill>
                          <a:srgbClr val="FF0000"/>
                        </a:solidFill>
                        <a:latin typeface="Cambria Math"/>
                        <a:ea typeface="Cambria Math"/>
                      </a:rPr>
                      <m:t>≤</m:t>
                    </m:r>
                    <m:r>
                      <a:rPr lang="en-US" b="0" i="1" smtClean="0">
                        <a:solidFill>
                          <a:srgbClr val="FF0000"/>
                        </a:solidFill>
                        <a:latin typeface="Cambria Math"/>
                      </a:rPr>
                      <m:t>𝑖</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𝑘</m:t>
                    </m:r>
                    <m:r>
                      <a:rPr lang="en-US" b="0" i="1" smtClean="0">
                        <a:solidFill>
                          <a:srgbClr val="FF0000"/>
                        </a:solidFill>
                        <a:latin typeface="Cambria Math"/>
                        <a:ea typeface="Cambria Math"/>
                      </a:rPr>
                      <m:t>−1</m:t>
                    </m:r>
                  </m:oMath>
                </a14:m>
                <a:r>
                  <a:rPr lang="en-US" dirty="0">
                    <a:solidFill>
                      <a:srgbClr val="FF0000"/>
                    </a:solidFill>
                  </a:rPr>
                  <a:t>,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𝑦</m:t>
                        </m:r>
                      </m:e>
                      <m:sub>
                        <m:r>
                          <a:rPr lang="en-US" i="1">
                            <a:solidFill>
                              <a:srgbClr val="FF0000"/>
                            </a:solidFill>
                            <a:latin typeface="Cambria Math"/>
                          </a:rPr>
                          <m:t>𝑖</m:t>
                        </m:r>
                      </m:sub>
                    </m:sSub>
                    <m:r>
                      <a:rPr lang="en-US" i="1">
                        <a:solidFill>
                          <a:srgbClr val="FF0000"/>
                        </a:solidFill>
                        <a:latin typeface="Cambria Math"/>
                      </a:rPr>
                      <m:t>=</m:t>
                    </m:r>
                    <m:r>
                      <a:rPr lang="en-US" b="0" i="1" smtClean="0">
                        <a:solidFill>
                          <a:srgbClr val="FF0000"/>
                        </a:solidFill>
                        <a:latin typeface="Cambria Math"/>
                      </a:rPr>
                      <m:t>1−</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𝑥</m:t>
                        </m:r>
                      </m:e>
                      <m:sub>
                        <m:r>
                          <a:rPr lang="en-US" i="1">
                            <a:solidFill>
                              <a:srgbClr val="FF0000"/>
                            </a:solidFill>
                            <a:latin typeface="Cambria Math"/>
                          </a:rPr>
                          <m:t>𝑖</m:t>
                        </m:r>
                      </m:sub>
                    </m:sSub>
                  </m:oMath>
                </a14:m>
                <a:r>
                  <a:rPr lang="en-US" dirty="0">
                    <a:solidFill>
                      <a:srgbClr val="FF0000"/>
                    </a:solidFill>
                  </a:rPr>
                  <a:t> with </a:t>
                </a:r>
                <a14:m>
                  <m:oMath xmlns:m="http://schemas.openxmlformats.org/officeDocument/2006/math">
                    <m:r>
                      <m:rPr>
                        <m:sty m:val="p"/>
                      </m:rPr>
                      <a:rPr lang="en-US" b="0" i="0" smtClean="0">
                        <a:solidFill>
                          <a:srgbClr val="FF0000"/>
                        </a:solidFill>
                        <a:latin typeface="Cambria Math"/>
                      </a:rPr>
                      <m:t>k</m:t>
                    </m:r>
                    <m:r>
                      <a:rPr lang="en-US" i="1">
                        <a:solidFill>
                          <a:srgbClr val="FF0000"/>
                        </a:solidFill>
                        <a:latin typeface="Cambria Math"/>
                        <a:ea typeface="Cambria Math"/>
                      </a:rPr>
                      <m:t>≤</m:t>
                    </m:r>
                    <m:r>
                      <a:rPr lang="en-US" i="1">
                        <a:solidFill>
                          <a:srgbClr val="FF0000"/>
                        </a:solidFill>
                        <a:latin typeface="Cambria Math"/>
                      </a:rPr>
                      <m:t>𝑖</m:t>
                    </m:r>
                    <m:r>
                      <a:rPr lang="en-US" i="1">
                        <a:solidFill>
                          <a:srgbClr val="FF0000"/>
                        </a:solidFill>
                        <a:latin typeface="Cambria Math"/>
                        <a:ea typeface="Cambria Math"/>
                      </a:rPr>
                      <m:t>≤</m:t>
                    </m:r>
                    <m:r>
                      <a:rPr lang="en-US" b="0" i="1" smtClean="0">
                        <a:solidFill>
                          <a:srgbClr val="FF0000"/>
                        </a:solidFill>
                        <a:latin typeface="Cambria Math"/>
                        <a:ea typeface="Cambria Math"/>
                      </a:rPr>
                      <m:t>𝑛</m:t>
                    </m:r>
                  </m:oMath>
                </a14:m>
                <a:endParaRPr lang="en-US" dirty="0">
                  <a:solidFill>
                    <a:srgbClr val="FF0000"/>
                  </a:solidFill>
                </a:endParaRPr>
              </a:p>
              <a:p>
                <a:pPr lvl="1"/>
                <a14:m>
                  <m:oMath xmlns:m="http://schemas.openxmlformats.org/officeDocument/2006/math">
                    <m:r>
                      <a:rPr lang="en-US" b="0" i="1" smtClean="0">
                        <a:solidFill>
                          <a:srgbClr val="FF0000"/>
                        </a:solidFill>
                        <a:latin typeface="Cambria Math"/>
                      </a:rPr>
                      <m:t>𝑦</m:t>
                    </m:r>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𝑥</m:t>
                        </m:r>
                      </m:e>
                      <m:sub>
                        <m:r>
                          <a:rPr lang="en-US" i="1">
                            <a:solidFill>
                              <a:srgbClr val="FF0000"/>
                            </a:solidFill>
                            <a:latin typeface="Cambria Math"/>
                          </a:rPr>
                          <m:t>1</m:t>
                        </m:r>
                      </m:sub>
                    </m:sSub>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𝑥</m:t>
                        </m:r>
                      </m:e>
                      <m:sub>
                        <m:r>
                          <a:rPr lang="en-US" i="1">
                            <a:solidFill>
                              <a:srgbClr val="FF0000"/>
                            </a:solidFill>
                            <a:latin typeface="Cambria Math"/>
                          </a:rPr>
                          <m:t>2</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𝑥</m:t>
                        </m:r>
                      </m:e>
                      <m:sub>
                        <m:r>
                          <a:rPr lang="en-US" i="1">
                            <a:solidFill>
                              <a:srgbClr val="FF0000"/>
                            </a:solidFill>
                            <a:latin typeface="Cambria Math"/>
                          </a:rPr>
                          <m:t>𝑘</m:t>
                        </m:r>
                        <m:r>
                          <a:rPr lang="en-US" i="1">
                            <a:solidFill>
                              <a:srgbClr val="FF0000"/>
                            </a:solidFill>
                            <a:latin typeface="Cambria Math"/>
                          </a:rPr>
                          <m:t>−1</m:t>
                        </m:r>
                      </m:sub>
                    </m:sSub>
                    <m:r>
                      <a:rPr lang="en-US" b="0" i="1" smtClean="0">
                        <a:solidFill>
                          <a:srgbClr val="FF0000"/>
                        </a:solidFill>
                        <a:latin typeface="Cambria Math"/>
                      </a:rPr>
                      <m:t>100</m:t>
                    </m:r>
                    <m:r>
                      <a:rPr lang="en-US" i="1">
                        <a:solidFill>
                          <a:srgbClr val="FF0000"/>
                        </a:solidFill>
                        <a:latin typeface="Cambria Math"/>
                      </a:rPr>
                      <m:t>…</m:t>
                    </m:r>
                    <m:r>
                      <a:rPr lang="en-US" b="0" i="1" smtClean="0">
                        <a:solidFill>
                          <a:srgbClr val="FF0000"/>
                        </a:solidFill>
                        <a:latin typeface="Cambria Math"/>
                      </a:rPr>
                      <m:t>0</m:t>
                    </m:r>
                  </m:oMath>
                </a14:m>
                <a:endParaRPr lang="en-US" dirty="0">
                  <a:solidFill>
                    <a:srgbClr val="FF0000"/>
                  </a:solidFill>
                </a:endParaRP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457200" y="1219200"/>
                <a:ext cx="8229600" cy="5181600"/>
              </a:xfrm>
              <a:blipFill>
                <a:blip r:embed="rId2"/>
                <a:stretch>
                  <a:fillRect l="-519" t="-1647" r="-1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Flowchart: Alternate Process 5"/>
              <p:cNvSpPr/>
              <p:nvPr/>
            </p:nvSpPr>
            <p:spPr>
              <a:xfrm>
                <a:off x="7162800" y="5486400"/>
                <a:ext cx="1676400" cy="762000"/>
              </a:xfrm>
              <a:prstGeom prst="flowChartAlternateProcess">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sz="2400" b="1" i="1" smtClean="0">
                          <a:solidFill>
                            <a:srgbClr val="0070C0"/>
                          </a:solidFill>
                          <a:latin typeface="Cambria Math"/>
                        </a:rPr>
                        <m:t>𝒚</m:t>
                      </m:r>
                      <m:r>
                        <a:rPr lang="en-US" sz="2400" b="1" i="1" smtClean="0">
                          <a:solidFill>
                            <a:srgbClr val="0070C0"/>
                          </a:solidFill>
                          <a:latin typeface="Cambria Math"/>
                        </a:rPr>
                        <m:t>=</m:t>
                      </m:r>
                      <m:r>
                        <a:rPr lang="en-US" sz="2400" b="1" i="1" smtClean="0">
                          <a:solidFill>
                            <a:srgbClr val="0070C0"/>
                          </a:solidFill>
                          <a:latin typeface="Cambria Math"/>
                        </a:rPr>
                        <m:t>𝒙</m:t>
                      </m:r>
                      <m:r>
                        <a:rPr lang="en-US" sz="2400" b="1" i="1" smtClean="0">
                          <a:solidFill>
                            <a:srgbClr val="0070C0"/>
                          </a:solidFill>
                          <a:latin typeface="Cambria Math"/>
                        </a:rPr>
                        <m:t>+</m:t>
                      </m:r>
                      <m:r>
                        <a:rPr lang="en-US" sz="2400" b="1" i="1" smtClean="0">
                          <a:solidFill>
                            <a:srgbClr val="0070C0"/>
                          </a:solidFill>
                          <a:latin typeface="Cambria Math"/>
                        </a:rPr>
                        <m:t>𝟏</m:t>
                      </m:r>
                    </m:oMath>
                  </m:oMathPara>
                </a14:m>
                <a:endParaRPr lang="en-US" sz="2400" b="1" dirty="0">
                  <a:solidFill>
                    <a:srgbClr val="0070C0"/>
                  </a:solidFill>
                </a:endParaRPr>
              </a:p>
            </p:txBody>
          </p:sp>
        </mc:Choice>
        <mc:Fallback xmlns="">
          <p:sp>
            <p:nvSpPr>
              <p:cNvPr id="6" name="Flowchart: Alternate Process 5"/>
              <p:cNvSpPr>
                <a:spLocks noRot="1" noChangeAspect="1" noMove="1" noResize="1" noEditPoints="1" noAdjustHandles="1" noChangeArrowheads="1" noChangeShapeType="1" noTextEdit="1"/>
              </p:cNvSpPr>
              <p:nvPr/>
            </p:nvSpPr>
            <p:spPr>
              <a:xfrm>
                <a:off x="7162800" y="5486400"/>
                <a:ext cx="1676400" cy="762000"/>
              </a:xfrm>
              <a:prstGeom prst="flowChartAlternateProcess">
                <a:avLst/>
              </a:prstGeom>
              <a:blipFill rotWithShape="1">
                <a:blip r:embed="rId3"/>
                <a:stretch>
                  <a:fillRect/>
                </a:stretch>
              </a:blipFill>
              <a:ln>
                <a:solidFill>
                  <a:srgbClr val="00B0F0"/>
                </a:solidFill>
              </a:ln>
            </p:spPr>
            <p:txBody>
              <a:bodyPr/>
              <a:lstStyle/>
              <a:p>
                <a:r>
                  <a:rPr lang="en-US">
                    <a:noFill/>
                  </a:rPr>
                  <a:t> </a:t>
                </a:r>
              </a:p>
            </p:txBody>
          </p:sp>
        </mc:Fallback>
      </mc:AlternateContent>
    </p:spTree>
    <p:extLst>
      <p:ext uri="{BB962C8B-B14F-4D97-AF65-F5344CB8AC3E}">
        <p14:creationId xmlns:p14="http://schemas.microsoft.com/office/powerpoint/2010/main" val="3077232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pPr algn="just"/>
                <a:r>
                  <a:rPr lang="en-US" b="1" dirty="0"/>
                  <a:t>Exercise 1</a:t>
                </a:r>
                <a:r>
                  <a:rPr lang="en-US" dirty="0"/>
                  <a:t>. Given a rectangle consisting </a:t>
                </a:r>
                <a14:m>
                  <m:oMath xmlns:m="http://schemas.openxmlformats.org/officeDocument/2006/math">
                    <m:r>
                      <a:rPr lang="en-US" i="1" dirty="0" smtClean="0">
                        <a:latin typeface="Cambria Math"/>
                      </a:rPr>
                      <m:t>𝑛</m:t>
                    </m:r>
                    <m:r>
                      <a:rPr lang="en-US" i="1" dirty="0">
                        <a:latin typeface="Cambria Math"/>
                        <a:sym typeface="Symbol" pitchFamily="18" charset="2"/>
                      </a:rPr>
                      <m:t></m:t>
                    </m:r>
                    <m:r>
                      <a:rPr lang="en-US" i="1" dirty="0">
                        <a:latin typeface="Cambria Math"/>
                      </a:rPr>
                      <m:t>𝑚</m:t>
                    </m:r>
                    <m:r>
                      <a:rPr lang="en-US" i="1" dirty="0">
                        <a:latin typeface="Cambria Math"/>
                      </a:rPr>
                      <m:t> </m:t>
                    </m:r>
                  </m:oMath>
                </a14:m>
                <a:r>
                  <a:rPr lang="en-US" dirty="0"/>
                  <a:t>square units. List all the routes from the bottom vertex of the last unit on the left to the vertex of the top unit on the right. Know that each move is only allowed to the right or up along the edges of the square units.</a:t>
                </a: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1111" r="-1111"/>
                </a:stretch>
              </a:blipFill>
            </p:spPr>
            <p:txBody>
              <a:bodyPr/>
              <a:lstStyle/>
              <a:p>
                <a:r>
                  <a:rPr lang="en-US">
                    <a:noFill/>
                  </a:rPr>
                  <a:t> </a:t>
                </a:r>
              </a:p>
            </p:txBody>
          </p:sp>
        </mc:Fallback>
      </mc:AlternateContent>
      <p:graphicFrame>
        <p:nvGraphicFramePr>
          <p:cNvPr id="6" name="Group 7"/>
          <p:cNvGraphicFramePr>
            <a:graphicFrameLocks noGrp="1"/>
          </p:cNvGraphicFramePr>
          <p:nvPr>
            <p:extLst>
              <p:ext uri="{D42A27DB-BD31-4B8C-83A1-F6EECF244321}">
                <p14:modId xmlns:p14="http://schemas.microsoft.com/office/powerpoint/2010/main" val="4144528709"/>
              </p:ext>
            </p:extLst>
          </p:nvPr>
        </p:nvGraphicFramePr>
        <p:xfrm>
          <a:off x="3429000" y="3886200"/>
          <a:ext cx="2286000" cy="1651001"/>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tblGrid>
              <a:tr h="550863">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dirty="0">
                        <a:ln>
                          <a:noFill/>
                        </a:ln>
                        <a:solidFill>
                          <a:srgbClr val="404040"/>
                        </a:solidFill>
                        <a:effectLst/>
                        <a:latin typeface="Trebuchet MS"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9275">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0863">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dirty="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7" name="Line 29"/>
          <p:cNvSpPr>
            <a:spLocks noChangeShapeType="1"/>
          </p:cNvSpPr>
          <p:nvPr/>
        </p:nvSpPr>
        <p:spPr bwMode="auto">
          <a:xfrm>
            <a:off x="3429000" y="5562600"/>
            <a:ext cx="533400" cy="0"/>
          </a:xfrm>
          <a:prstGeom prst="line">
            <a:avLst/>
          </a:prstGeom>
          <a:noFill/>
          <a:ln w="12700">
            <a:solidFill>
              <a:srgbClr val="E6713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 name="Line 30"/>
          <p:cNvSpPr>
            <a:spLocks noChangeShapeType="1"/>
          </p:cNvSpPr>
          <p:nvPr/>
        </p:nvSpPr>
        <p:spPr bwMode="auto">
          <a:xfrm flipV="1">
            <a:off x="3962400" y="5029200"/>
            <a:ext cx="0" cy="533400"/>
          </a:xfrm>
          <a:prstGeom prst="line">
            <a:avLst/>
          </a:prstGeom>
          <a:noFill/>
          <a:ln w="12700">
            <a:solidFill>
              <a:srgbClr val="E6713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 name="Line 31"/>
          <p:cNvSpPr>
            <a:spLocks noChangeShapeType="1"/>
          </p:cNvSpPr>
          <p:nvPr/>
        </p:nvSpPr>
        <p:spPr bwMode="auto">
          <a:xfrm>
            <a:off x="3962400" y="5029200"/>
            <a:ext cx="1219200" cy="0"/>
          </a:xfrm>
          <a:prstGeom prst="line">
            <a:avLst/>
          </a:prstGeom>
          <a:noFill/>
          <a:ln w="12700">
            <a:solidFill>
              <a:srgbClr val="E6713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 name="Line 32"/>
          <p:cNvSpPr>
            <a:spLocks noChangeShapeType="1"/>
          </p:cNvSpPr>
          <p:nvPr/>
        </p:nvSpPr>
        <p:spPr bwMode="auto">
          <a:xfrm flipV="1">
            <a:off x="5181600" y="3962400"/>
            <a:ext cx="0" cy="1066800"/>
          </a:xfrm>
          <a:prstGeom prst="line">
            <a:avLst/>
          </a:prstGeom>
          <a:noFill/>
          <a:ln w="12700">
            <a:solidFill>
              <a:srgbClr val="E6713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 name="Line 33"/>
          <p:cNvSpPr>
            <a:spLocks noChangeShapeType="1"/>
          </p:cNvSpPr>
          <p:nvPr/>
        </p:nvSpPr>
        <p:spPr bwMode="auto">
          <a:xfrm>
            <a:off x="5181600" y="3962400"/>
            <a:ext cx="533400" cy="0"/>
          </a:xfrm>
          <a:prstGeom prst="line">
            <a:avLst/>
          </a:prstGeom>
          <a:noFill/>
          <a:ln w="12700">
            <a:solidFill>
              <a:srgbClr val="E6713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971980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457200" y="1219200"/>
                <a:ext cx="8229600" cy="5105400"/>
              </a:xfrm>
            </p:spPr>
            <p:txBody>
              <a:bodyPr>
                <a:normAutofit/>
              </a:bodyPr>
              <a:lstStyle/>
              <a:p>
                <a:pPr algn="just"/>
                <a:r>
                  <a:rPr lang="en-US" b="1" dirty="0"/>
                  <a:t>Exercise 2. </a:t>
                </a:r>
                <a:r>
                  <a:rPr lang="en-US" dirty="0"/>
                  <a:t>List all binary strings of length </a:t>
                </a:r>
                <a14:m>
                  <m:oMath xmlns:m="http://schemas.openxmlformats.org/officeDocument/2006/math">
                    <m:r>
                      <a:rPr lang="en-US" b="0" i="1" dirty="0" smtClean="0">
                        <a:latin typeface="Cambria Math"/>
                      </a:rPr>
                      <m:t>𝑛</m:t>
                    </m:r>
                  </m:oMath>
                </a14:m>
                <a:r>
                  <a:rPr lang="en-US" dirty="0"/>
                  <a:t> so that each binary string has only one sequence of consecutive </a:t>
                </a:r>
                <a14:m>
                  <m:oMath xmlns:m="http://schemas.openxmlformats.org/officeDocument/2006/math">
                    <m:r>
                      <a:rPr lang="en-US" b="0" i="1" dirty="0" smtClean="0">
                        <a:latin typeface="Cambria Math"/>
                      </a:rPr>
                      <m:t>𝑘</m:t>
                    </m:r>
                  </m:oMath>
                </a14:m>
                <a:r>
                  <a:rPr lang="en-US" dirty="0"/>
                  <a:t> bits 1. </a:t>
                </a:r>
              </a:p>
              <a:p>
                <a:endParaRPr lang="en-US" b="1" dirty="0"/>
              </a:p>
              <a:p>
                <a:pPr lvl="0" algn="just">
                  <a:buClr>
                    <a:srgbClr val="727CA3"/>
                  </a:buClr>
                </a:pPr>
                <a:r>
                  <a:rPr lang="en-US" b="1" dirty="0"/>
                  <a:t>Exercise 3. </a:t>
                </a:r>
                <a:r>
                  <a:rPr lang="en-US" dirty="0">
                    <a:solidFill>
                      <a:prstClr val="black"/>
                    </a:solidFill>
                  </a:rPr>
                  <a:t>List all binary strings of length </a:t>
                </a:r>
                <a14:m>
                  <m:oMath xmlns:m="http://schemas.openxmlformats.org/officeDocument/2006/math">
                    <m:r>
                      <a:rPr lang="en-US" i="1" dirty="0">
                        <a:solidFill>
                          <a:prstClr val="black"/>
                        </a:solidFill>
                        <a:latin typeface="Cambria Math"/>
                      </a:rPr>
                      <m:t>𝑛</m:t>
                    </m:r>
                  </m:oMath>
                </a14:m>
                <a:r>
                  <a:rPr lang="en-US" dirty="0">
                    <a:solidFill>
                      <a:prstClr val="black"/>
                    </a:solidFill>
                  </a:rPr>
                  <a:t> so that each binary string has only one sequence of consecutive </a:t>
                </a:r>
                <a14:m>
                  <m:oMath xmlns:m="http://schemas.openxmlformats.org/officeDocument/2006/math">
                    <m:r>
                      <a:rPr lang="en-US" b="0" i="1" dirty="0" smtClean="0">
                        <a:solidFill>
                          <a:prstClr val="black"/>
                        </a:solidFill>
                        <a:latin typeface="Cambria Math" panose="02040503050406030204" pitchFamily="18" charset="0"/>
                      </a:rPr>
                      <m:t>𝑚</m:t>
                    </m:r>
                  </m:oMath>
                </a14:m>
                <a:r>
                  <a:rPr lang="en-US" dirty="0">
                    <a:solidFill>
                      <a:prstClr val="black"/>
                    </a:solidFill>
                  </a:rPr>
                  <a:t> bits 1 and only one sequence of consecutive </a:t>
                </a:r>
                <a14:m>
                  <m:oMath xmlns:m="http://schemas.openxmlformats.org/officeDocument/2006/math">
                    <m:r>
                      <a:rPr lang="en-US" b="0" i="1" smtClean="0">
                        <a:solidFill>
                          <a:prstClr val="black"/>
                        </a:solidFill>
                        <a:latin typeface="Cambria Math" panose="02040503050406030204" pitchFamily="18" charset="0"/>
                      </a:rPr>
                      <m:t>𝑘</m:t>
                    </m:r>
                  </m:oMath>
                </a14:m>
                <a:r>
                  <a:rPr lang="en-US" dirty="0">
                    <a:solidFill>
                      <a:prstClr val="black"/>
                    </a:solidFill>
                  </a:rPr>
                  <a:t> bits 0. </a:t>
                </a:r>
              </a:p>
              <a:p>
                <a:pPr marL="0" indent="0" algn="just">
                  <a:buNone/>
                </a:pPr>
                <a:r>
                  <a:rPr lang="en-US" dirty="0"/>
                  <a:t>  </a:t>
                </a: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457200" y="1219200"/>
                <a:ext cx="8229600" cy="5105400"/>
              </a:xfrm>
              <a:blipFill>
                <a:blip r:embed="rId2"/>
                <a:stretch>
                  <a:fillRect l="-519" t="-1074" r="-1111"/>
                </a:stretch>
              </a:blipFill>
            </p:spPr>
            <p:txBody>
              <a:bodyPr/>
              <a:lstStyle/>
              <a:p>
                <a:r>
                  <a:rPr lang="en-US">
                    <a:noFill/>
                  </a:rPr>
                  <a:t> </a:t>
                </a:r>
              </a:p>
            </p:txBody>
          </p:sp>
        </mc:Fallback>
      </mc:AlternateContent>
    </p:spTree>
    <p:extLst>
      <p:ext uri="{BB962C8B-B14F-4D97-AF65-F5344CB8AC3E}">
        <p14:creationId xmlns:p14="http://schemas.microsoft.com/office/powerpoint/2010/main" val="30371785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457200" y="1219200"/>
                <a:ext cx="8229600" cy="5105400"/>
              </a:xfrm>
            </p:spPr>
            <p:txBody>
              <a:bodyPr>
                <a:normAutofit/>
              </a:bodyPr>
              <a:lstStyle/>
              <a:p>
                <a:pPr algn="just"/>
                <a:r>
                  <a:rPr lang="en-US" b="1" dirty="0"/>
                  <a:t>Exercise 4. </a:t>
                </a:r>
                <a:r>
                  <a:rPr lang="en-US" dirty="0"/>
                  <a:t>The string </a:t>
                </a:r>
                <a14:m>
                  <m:oMath xmlns:m="http://schemas.openxmlformats.org/officeDocument/2006/math">
                    <m:r>
                      <a:rPr lang="en-US" i="1" dirty="0" smtClean="0">
                        <a:latin typeface="Cambria Math"/>
                      </a:rPr>
                      <m:t>𝑋</m:t>
                    </m:r>
                    <m:r>
                      <a:rPr lang="en-US" i="1" dirty="0" smtClean="0">
                        <a:latin typeface="Cambria Math"/>
                      </a:rPr>
                      <m:t>=(</m:t>
                    </m:r>
                    <m:r>
                      <a:rPr lang="en-US" i="1" dirty="0" smtClean="0">
                        <a:latin typeface="Cambria Math"/>
                      </a:rPr>
                      <m:t>𝑥</m:t>
                    </m:r>
                    <m:r>
                      <a:rPr lang="en-US" i="1" baseline="-25000" dirty="0">
                        <a:latin typeface="Cambria Math"/>
                      </a:rPr>
                      <m:t>1</m:t>
                    </m:r>
                    <m:r>
                      <a:rPr lang="en-US" i="1" dirty="0">
                        <a:latin typeface="Cambria Math"/>
                      </a:rPr>
                      <m:t>,</m:t>
                    </m:r>
                    <m:r>
                      <a:rPr lang="en-US" i="1" dirty="0">
                        <a:latin typeface="Cambria Math"/>
                      </a:rPr>
                      <m:t>𝑥</m:t>
                    </m:r>
                    <m:r>
                      <a:rPr lang="en-US" i="1" baseline="-25000" dirty="0">
                        <a:latin typeface="Cambria Math"/>
                      </a:rPr>
                      <m:t>2</m:t>
                    </m:r>
                    <m:r>
                      <a:rPr lang="en-US" i="1" dirty="0">
                        <a:latin typeface="Cambria Math"/>
                      </a:rPr>
                      <m:t>,.</m:t>
                    </m:r>
                    <m:r>
                      <a:rPr lang="en-US" b="0" i="1" dirty="0" smtClean="0">
                        <a:latin typeface="Cambria Math"/>
                      </a:rPr>
                      <m:t>.</m:t>
                    </m:r>
                    <m:r>
                      <a:rPr lang="en-US" i="1" dirty="0">
                        <a:latin typeface="Cambria Math"/>
                      </a:rPr>
                      <m:t>.,</m:t>
                    </m:r>
                    <m:r>
                      <a:rPr lang="en-US" i="1" dirty="0">
                        <a:latin typeface="Cambria Math"/>
                      </a:rPr>
                      <m:t>𝑥𝑛</m:t>
                    </m:r>
                    <m:r>
                      <a:rPr lang="en-US" i="1" dirty="0">
                        <a:latin typeface="Cambria Math"/>
                      </a:rPr>
                      <m:t>) </m:t>
                    </m:r>
                  </m:oMath>
                </a14:m>
                <a:r>
                  <a:rPr lang="en-US" dirty="0"/>
                  <a:t>is called to be the string AB if </a:t>
                </a:r>
                <a14:m>
                  <m:oMath xmlns:m="http://schemas.openxmlformats.org/officeDocument/2006/math">
                    <m:r>
                      <a:rPr lang="en-US" i="1" dirty="0" smtClean="0">
                        <a:latin typeface="Cambria Math"/>
                      </a:rPr>
                      <m:t>𝑥</m:t>
                    </m:r>
                    <m:r>
                      <a:rPr lang="en-US" i="1" baseline="-25000" dirty="0">
                        <a:latin typeface="Cambria Math"/>
                      </a:rPr>
                      <m:t>𝑖</m:t>
                    </m:r>
                    <m:r>
                      <a:rPr lang="en-US" i="1" dirty="0">
                        <a:latin typeface="Cambria Math"/>
                      </a:rPr>
                      <m:t>=‘</m:t>
                    </m:r>
                    <m:r>
                      <a:rPr lang="en-US" i="1" dirty="0">
                        <a:latin typeface="Cambria Math"/>
                      </a:rPr>
                      <m:t>𝐴</m:t>
                    </m:r>
                    <m:r>
                      <a:rPr lang="en-US" i="1" dirty="0">
                        <a:latin typeface="Cambria Math"/>
                      </a:rPr>
                      <m:t>’ </m:t>
                    </m:r>
                  </m:oMath>
                </a14:m>
                <a:r>
                  <a:rPr lang="en-US" dirty="0"/>
                  <a:t>or </a:t>
                </a:r>
                <a14:m>
                  <m:oMath xmlns:m="http://schemas.openxmlformats.org/officeDocument/2006/math">
                    <m:r>
                      <a:rPr lang="en-US" i="1" dirty="0" smtClean="0">
                        <a:latin typeface="Cambria Math"/>
                      </a:rPr>
                      <m:t>𝑥</m:t>
                    </m:r>
                    <m:r>
                      <a:rPr lang="en-US" i="1" baseline="-25000" dirty="0">
                        <a:latin typeface="Cambria Math"/>
                      </a:rPr>
                      <m:t>𝑖</m:t>
                    </m:r>
                    <m:r>
                      <a:rPr lang="en-US" i="1" dirty="0">
                        <a:latin typeface="Cambria Math"/>
                      </a:rPr>
                      <m:t>=‘</m:t>
                    </m:r>
                    <m:r>
                      <a:rPr lang="en-US" i="1" dirty="0">
                        <a:latin typeface="Cambria Math"/>
                      </a:rPr>
                      <m:t>𝐵</m:t>
                    </m:r>
                    <m:r>
                      <a:rPr lang="en-US" i="1" dirty="0">
                        <a:latin typeface="Cambria Math"/>
                      </a:rPr>
                      <m:t>’. </m:t>
                    </m:r>
                  </m:oMath>
                </a14:m>
                <a:r>
                  <a:rPr lang="en-US" dirty="0"/>
                  <a:t>String </a:t>
                </a:r>
                <a14:m>
                  <m:oMath xmlns:m="http://schemas.openxmlformats.org/officeDocument/2006/math">
                    <m:r>
                      <a:rPr lang="en-US" i="1" dirty="0" smtClean="0">
                        <a:latin typeface="Cambria Math"/>
                      </a:rPr>
                      <m:t>𝑋</m:t>
                    </m:r>
                  </m:oMath>
                </a14:m>
                <a:r>
                  <a:rPr lang="en-US" dirty="0"/>
                  <a:t> is called to be string k-level AB if </a:t>
                </a:r>
                <a14:m>
                  <m:oMath xmlns:m="http://schemas.openxmlformats.org/officeDocument/2006/math">
                    <m:r>
                      <a:rPr lang="en-US" i="1" dirty="0" smtClean="0">
                        <a:latin typeface="Cambria Math"/>
                      </a:rPr>
                      <m:t>𝑋</m:t>
                    </m:r>
                  </m:oMath>
                </a14:m>
                <a:r>
                  <a:rPr lang="en-US" dirty="0"/>
                  <a:t> exists only one sequence of consecutive </a:t>
                </a:r>
                <a14:m>
                  <m:oMath xmlns:m="http://schemas.openxmlformats.org/officeDocument/2006/math">
                    <m:r>
                      <a:rPr lang="en-US" i="1" dirty="0" smtClean="0">
                        <a:latin typeface="Cambria Math"/>
                      </a:rPr>
                      <m:t>𝑘</m:t>
                    </m:r>
                  </m:oMath>
                </a14:m>
                <a:r>
                  <a:rPr lang="en-US" dirty="0"/>
                  <a:t> characters A. List all sequences k-level AB.</a:t>
                </a:r>
              </a:p>
              <a:p>
                <a:endParaRPr lang="en-US" b="1" dirty="0"/>
              </a:p>
              <a:p>
                <a:pPr algn="just"/>
                <a:r>
                  <a:rPr lang="en-US" b="1" dirty="0"/>
                  <a:t>Exercise 5.</a:t>
                </a:r>
                <a:r>
                  <a:rPr lang="en-US" dirty="0"/>
                  <a:t> Given the sequence </a:t>
                </a:r>
                <a14:m>
                  <m:oMath xmlns:m="http://schemas.openxmlformats.org/officeDocument/2006/math">
                    <m:r>
                      <a:rPr lang="en-US" i="1" dirty="0" smtClean="0">
                        <a:latin typeface="Cambria Math"/>
                      </a:rPr>
                      <m:t>𝐴</m:t>
                    </m:r>
                    <m:r>
                      <a:rPr lang="en-US" i="1" dirty="0" smtClean="0">
                        <a:latin typeface="Cambria Math"/>
                      </a:rPr>
                      <m:t>=(</m:t>
                    </m:r>
                    <m:sSub>
                      <m:sSubPr>
                        <m:ctrlPr>
                          <a:rPr lang="en-US" i="1" dirty="0" smtClean="0">
                            <a:latin typeface="Cambria Math" panose="02040503050406030204" pitchFamily="18" charset="0"/>
                          </a:rPr>
                        </m:ctrlPr>
                      </m:sSubPr>
                      <m:e>
                        <m:r>
                          <a:rPr lang="en-US" b="0" i="1" dirty="0" smtClean="0">
                            <a:latin typeface="Cambria Math"/>
                          </a:rPr>
                          <m:t>𝑎</m:t>
                        </m:r>
                      </m:e>
                      <m:sub>
                        <m:r>
                          <a:rPr lang="en-US" b="0" i="1" dirty="0" smtClean="0">
                            <a:latin typeface="Cambria Math"/>
                          </a:rPr>
                          <m:t>1</m:t>
                        </m:r>
                      </m:sub>
                    </m:sSub>
                    <m:r>
                      <a:rPr lang="en-US" i="1" dirty="0" smtClean="0">
                        <a:latin typeface="Cambria Math"/>
                      </a:rPr>
                      <m:t>, </m:t>
                    </m:r>
                    <m:sSub>
                      <m:sSubPr>
                        <m:ctrlPr>
                          <a:rPr lang="en-US" i="1" dirty="0" smtClean="0">
                            <a:latin typeface="Cambria Math" panose="02040503050406030204" pitchFamily="18" charset="0"/>
                          </a:rPr>
                        </m:ctrlPr>
                      </m:sSubPr>
                      <m:e>
                        <m:r>
                          <a:rPr lang="en-US" b="0" i="1" dirty="0" smtClean="0">
                            <a:latin typeface="Cambria Math"/>
                          </a:rPr>
                          <m:t>𝑎</m:t>
                        </m:r>
                      </m:e>
                      <m:sub>
                        <m:r>
                          <a:rPr lang="en-US" b="0" i="1" dirty="0" smtClean="0">
                            <a:latin typeface="Cambria Math"/>
                          </a:rPr>
                          <m:t>2</m:t>
                        </m:r>
                      </m:sub>
                    </m:sSub>
                    <m:r>
                      <a:rPr lang="en-US" i="1" dirty="0" smtClean="0">
                        <a:latin typeface="Cambria Math"/>
                      </a:rPr>
                      <m:t>,</m:t>
                    </m:r>
                    <m:r>
                      <a:rPr lang="en-US" b="0" i="1" dirty="0" smtClean="0">
                        <a:latin typeface="Cambria Math"/>
                      </a:rPr>
                      <m:t>.</m:t>
                    </m:r>
                    <m:r>
                      <a:rPr lang="en-US" i="1" dirty="0" smtClean="0">
                        <a:latin typeface="Cambria Math"/>
                      </a:rPr>
                      <m:t>..,</m:t>
                    </m:r>
                    <m:sSub>
                      <m:sSubPr>
                        <m:ctrlPr>
                          <a:rPr lang="en-US" i="1" dirty="0" smtClean="0">
                            <a:latin typeface="Cambria Math" panose="02040503050406030204" pitchFamily="18" charset="0"/>
                          </a:rPr>
                        </m:ctrlPr>
                      </m:sSubPr>
                      <m:e>
                        <m:r>
                          <a:rPr lang="en-US" b="0" i="1" dirty="0" smtClean="0">
                            <a:latin typeface="Cambria Math"/>
                          </a:rPr>
                          <m:t>𝑎</m:t>
                        </m:r>
                      </m:e>
                      <m:sub>
                        <m:r>
                          <a:rPr lang="en-US" b="0" i="1" dirty="0" smtClean="0">
                            <a:latin typeface="Cambria Math"/>
                          </a:rPr>
                          <m:t>𝑛</m:t>
                        </m:r>
                      </m:sub>
                    </m:sSub>
                    <m:r>
                      <a:rPr lang="en-US" i="1" dirty="0" smtClean="0">
                        <a:latin typeface="Cambria Math"/>
                      </a:rPr>
                      <m:t>) </m:t>
                    </m:r>
                  </m:oMath>
                </a14:m>
                <a:r>
                  <a:rPr lang="en-US" dirty="0"/>
                  <a:t>including </a:t>
                </a:r>
                <a14:m>
                  <m:oMath xmlns:m="http://schemas.openxmlformats.org/officeDocument/2006/math">
                    <m:r>
                      <a:rPr lang="en-US" b="0" i="1" dirty="0" smtClean="0">
                        <a:latin typeface="Cambria Math"/>
                      </a:rPr>
                      <m:t>𝑛</m:t>
                    </m:r>
                  </m:oMath>
                </a14:m>
                <a:r>
                  <a:rPr lang="en-US" dirty="0"/>
                  <a:t> different natural numbers and a natural number </a:t>
                </a:r>
                <a14:m>
                  <m:oMath xmlns:m="http://schemas.openxmlformats.org/officeDocument/2006/math">
                    <m:r>
                      <a:rPr lang="en-US" b="0" i="1" dirty="0" smtClean="0">
                        <a:latin typeface="Cambria Math"/>
                      </a:rPr>
                      <m:t>𝑘</m:t>
                    </m:r>
                  </m:oMath>
                </a14:m>
                <a:r>
                  <a:rPr lang="en-US" dirty="0"/>
                  <a:t>. List all the subsequences of the sequence A so that sum of the elements of that subsequences is exactly k.</a:t>
                </a:r>
              </a:p>
              <a:p>
                <a:endParaRPr lang="en-US"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457200" y="1219200"/>
                <a:ext cx="8229600" cy="5105400"/>
              </a:xfrm>
              <a:blipFill>
                <a:blip r:embed="rId2"/>
                <a:stretch>
                  <a:fillRect l="-519" t="-1074" r="-1111"/>
                </a:stretch>
              </a:blipFill>
            </p:spPr>
            <p:txBody>
              <a:bodyPr/>
              <a:lstStyle/>
              <a:p>
                <a:r>
                  <a:rPr lang="en-US">
                    <a:noFill/>
                  </a:rPr>
                  <a:t> </a:t>
                </a:r>
              </a:p>
            </p:txBody>
          </p:sp>
        </mc:Fallback>
      </mc:AlternateContent>
    </p:spTree>
    <p:extLst>
      <p:ext uri="{BB962C8B-B14F-4D97-AF65-F5344CB8AC3E}">
        <p14:creationId xmlns:p14="http://schemas.microsoft.com/office/powerpoint/2010/main" val="1980848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dirty="0"/>
                  <a:t>List all combinations </a:t>
                </a:r>
                <a14:m>
                  <m:oMath xmlns:m="http://schemas.openxmlformats.org/officeDocument/2006/math">
                    <m:r>
                      <a:rPr lang="en-US" b="0" i="1" dirty="0" smtClean="0">
                        <a:latin typeface="Cambria Math"/>
                      </a:rPr>
                      <m:t>𝑘</m:t>
                    </m:r>
                  </m:oMath>
                </a14:m>
                <a:r>
                  <a:rPr lang="en-US" dirty="0"/>
                  <a:t> of </a:t>
                </a:r>
                <a14:m>
                  <m:oMath xmlns:m="http://schemas.openxmlformats.org/officeDocument/2006/math">
                    <m:r>
                      <a:rPr lang="en-US" i="1" dirty="0" smtClean="0">
                        <a:latin typeface="Cambria Math"/>
                      </a:rPr>
                      <m:t>1, 2,…, </m:t>
                    </m:r>
                    <m:r>
                      <a:rPr lang="en-US" b="0" i="1" dirty="0" smtClean="0">
                        <a:latin typeface="Cambria Math"/>
                      </a:rPr>
                      <m:t>𝑛</m:t>
                    </m:r>
                  </m:oMath>
                </a14:m>
                <a:r>
                  <a:rPr lang="en-US" dirty="0"/>
                  <a:t>.</a:t>
                </a:r>
              </a:p>
              <a:p>
                <a:pPr marL="0" indent="0">
                  <a:buNone/>
                </a:pPr>
                <a:r>
                  <a:rPr lang="en-US" dirty="0"/>
                  <a:t>Each combination </a:t>
                </a:r>
                <a14:m>
                  <m:oMath xmlns:m="http://schemas.openxmlformats.org/officeDocument/2006/math">
                    <m:r>
                      <a:rPr lang="en-US" b="0" i="1" dirty="0" smtClean="0">
                        <a:latin typeface="Cambria Math"/>
                      </a:rPr>
                      <m:t>𝑘</m:t>
                    </m:r>
                  </m:oMath>
                </a14:m>
                <a:r>
                  <a:rPr lang="en-US" dirty="0"/>
                  <a:t> of </a:t>
                </a:r>
                <a14:m>
                  <m:oMath xmlns:m="http://schemas.openxmlformats.org/officeDocument/2006/math">
                    <m:r>
                      <a:rPr lang="en-US" i="1" dirty="0">
                        <a:latin typeface="Cambria Math"/>
                      </a:rPr>
                      <m:t>1, 2,…, </m:t>
                    </m:r>
                    <m:r>
                      <a:rPr lang="en-US" i="1" dirty="0">
                        <a:latin typeface="Cambria Math"/>
                      </a:rPr>
                      <m:t>𝑛</m:t>
                    </m:r>
                  </m:oMath>
                </a14:m>
                <a:r>
                  <a:rPr lang="en-US" dirty="0"/>
                  <a:t> is a subset of </a:t>
                </a:r>
                <a14:m>
                  <m:oMath xmlns:m="http://schemas.openxmlformats.org/officeDocument/2006/math">
                    <m:r>
                      <a:rPr lang="en-US" b="0" i="1" dirty="0" smtClean="0">
                        <a:latin typeface="Cambria Math"/>
                      </a:rPr>
                      <m:t>𝑘</m:t>
                    </m:r>
                  </m:oMath>
                </a14:m>
                <a:r>
                  <a:rPr lang="en-US" dirty="0"/>
                  <a:t> different elements of </a:t>
                </a:r>
                <a14:m>
                  <m:oMath xmlns:m="http://schemas.openxmlformats.org/officeDocument/2006/math">
                    <m:r>
                      <a:rPr lang="en-US" i="1" dirty="0">
                        <a:latin typeface="Cambria Math"/>
                      </a:rPr>
                      <m:t>1, 2,…, </m:t>
                    </m:r>
                    <m:r>
                      <a:rPr lang="en-US" i="1" dirty="0">
                        <a:latin typeface="Cambria Math"/>
                      </a:rPr>
                      <m:t>𝑛</m:t>
                    </m:r>
                  </m:oMath>
                </a14:m>
                <a:r>
                  <a:rPr lang="en-US" dirty="0"/>
                  <a:t>. </a:t>
                </a:r>
              </a:p>
              <a:p>
                <a:pPr marL="0" indent="0">
                  <a:buNone/>
                </a:pPr>
                <a:r>
                  <a:rPr lang="en-US" dirty="0"/>
                  <a:t>Example with </a:t>
                </a:r>
                <a14:m>
                  <m:oMath xmlns:m="http://schemas.openxmlformats.org/officeDocument/2006/math">
                    <m:r>
                      <a:rPr lang="en-US" b="0" i="1" dirty="0" smtClean="0">
                        <a:latin typeface="Cambria Math"/>
                      </a:rPr>
                      <m:t>𝑛</m:t>
                    </m:r>
                    <m:r>
                      <a:rPr lang="en-US" i="1" dirty="0" smtClean="0">
                        <a:latin typeface="Cambria Math"/>
                      </a:rPr>
                      <m:t>=5</m:t>
                    </m:r>
                  </m:oMath>
                </a14:m>
                <a:r>
                  <a:rPr lang="en-US" dirty="0"/>
                  <a:t>, </a:t>
                </a:r>
                <a14:m>
                  <m:oMath xmlns:m="http://schemas.openxmlformats.org/officeDocument/2006/math">
                    <m:r>
                      <a:rPr lang="en-US" i="1" dirty="0" smtClean="0">
                        <a:latin typeface="Cambria Math"/>
                      </a:rPr>
                      <m:t>𝑘</m:t>
                    </m:r>
                    <m:r>
                      <a:rPr lang="en-US" i="1" dirty="0" smtClean="0">
                        <a:latin typeface="Cambria Math"/>
                      </a:rPr>
                      <m:t>= 3</m:t>
                    </m:r>
                  </m:oMath>
                </a14:m>
                <a:r>
                  <a:rPr lang="en-US" dirty="0"/>
                  <a:t> we have </a:t>
                </a:r>
                <a14:m>
                  <m:oMath xmlns:m="http://schemas.openxmlformats.org/officeDocument/2006/math">
                    <m:sSubSup>
                      <m:sSubSupPr>
                        <m:ctrlPr>
                          <a:rPr lang="en-US" i="1">
                            <a:latin typeface="Cambria Math" panose="02040503050406030204" pitchFamily="18" charset="0"/>
                          </a:rPr>
                        </m:ctrlPr>
                      </m:sSubSupPr>
                      <m:e>
                        <m:r>
                          <a:rPr lang="en-US" i="1">
                            <a:latin typeface="Cambria Math"/>
                          </a:rPr>
                          <m:t>𝐶</m:t>
                        </m:r>
                      </m:e>
                      <m:sub>
                        <m:r>
                          <a:rPr lang="en-US" i="1">
                            <a:latin typeface="Cambria Math"/>
                          </a:rPr>
                          <m:t>𝑛</m:t>
                        </m:r>
                      </m:sub>
                      <m:sup>
                        <m:r>
                          <a:rPr lang="en-US" i="1">
                            <a:latin typeface="Cambria Math"/>
                          </a:rPr>
                          <m:t>𝑘</m:t>
                        </m:r>
                      </m:sup>
                    </m:sSubSup>
                  </m:oMath>
                </a14:m>
                <a:r>
                  <a:rPr lang="en-US" dirty="0"/>
                  <a:t> subset below:</a:t>
                </a: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1111" t="-11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6" name="Group 120"/>
              <p:cNvGraphicFramePr>
                <a:graphicFrameLocks noGrp="1"/>
              </p:cNvGraphicFramePr>
              <p:nvPr>
                <p:extLst>
                  <p:ext uri="{D42A27DB-BD31-4B8C-83A1-F6EECF244321}">
                    <p14:modId xmlns:p14="http://schemas.microsoft.com/office/powerpoint/2010/main" val="657350600"/>
                  </p:ext>
                </p:extLst>
              </p:nvPr>
            </p:nvGraphicFramePr>
            <p:xfrm>
              <a:off x="762000" y="3108788"/>
              <a:ext cx="7239000" cy="2415712"/>
            </p:xfrm>
            <a:graphic>
              <a:graphicData uri="http://schemas.openxmlformats.org/drawingml/2006/table">
                <a:tbl>
                  <a:tblPr/>
                  <a:tblGrid>
                    <a:gridCol w="685800">
                      <a:extLst>
                        <a:ext uri="{9D8B030D-6E8A-4147-A177-3AD203B41FA5}">
                          <a16:colId xmlns:a16="http://schemas.microsoft.com/office/drawing/2014/main" val="20000"/>
                        </a:ext>
                      </a:extLst>
                    </a:gridCol>
                    <a:gridCol w="28956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2971800">
                      <a:extLst>
                        <a:ext uri="{9D8B030D-6E8A-4147-A177-3AD203B41FA5}">
                          <a16:colId xmlns:a16="http://schemas.microsoft.com/office/drawing/2014/main" val="20003"/>
                        </a:ext>
                      </a:extLst>
                    </a:gridCol>
                  </a:tblGrid>
                  <a:tr h="152400">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STT</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14:m>
                            <m:oMathPara xmlns:m="http://schemas.openxmlformats.org/officeDocument/2006/math">
                              <m:oMathParaPr>
                                <m:jc m:val="centerGroup"/>
                              </m:oMathParaPr>
                              <m:oMath xmlns:m="http://schemas.openxmlformats.org/officeDocument/2006/math">
                                <m:r>
                                  <a:rPr kumimoji="0" lang="en-US" sz="2000" b="0" i="1" u="none" strike="noStrike" cap="none" normalizeH="0" baseline="0" dirty="0" smtClean="0">
                                    <a:ln>
                                      <a:noFill/>
                                    </a:ln>
                                    <a:solidFill>
                                      <a:srgbClr val="404040"/>
                                    </a:solidFill>
                                    <a:effectLst/>
                                    <a:latin typeface="Cambria Math"/>
                                  </a:rPr>
                                  <m:t>𝑋</m:t>
                                </m:r>
                                <m:r>
                                  <a:rPr kumimoji="0" lang="en-US" sz="2000" b="0" i="1" u="none" strike="noStrike" cap="none" normalizeH="0" baseline="0" dirty="0" smtClean="0">
                                    <a:ln>
                                      <a:noFill/>
                                    </a:ln>
                                    <a:solidFill>
                                      <a:srgbClr val="404040"/>
                                    </a:solidFill>
                                    <a:effectLst/>
                                    <a:latin typeface="Cambria Math"/>
                                  </a:rPr>
                                  <m:t> ={</m:t>
                                </m:r>
                                <m:r>
                                  <a:rPr kumimoji="0" lang="en-US" sz="2000" b="0" i="1" u="none" strike="noStrike" cap="none" normalizeH="0" baseline="0" dirty="0" smtClean="0">
                                    <a:ln>
                                      <a:noFill/>
                                    </a:ln>
                                    <a:solidFill>
                                      <a:srgbClr val="404040"/>
                                    </a:solidFill>
                                    <a:effectLst/>
                                    <a:latin typeface="Cambria Math"/>
                                  </a:rPr>
                                  <m:t>𝑥</m:t>
                                </m:r>
                                <m:r>
                                  <a:rPr kumimoji="0" lang="en-US" sz="2000" b="0" i="1" u="none" strike="noStrike" cap="none" normalizeH="0" baseline="-25000" dirty="0" smtClean="0">
                                    <a:ln>
                                      <a:noFill/>
                                    </a:ln>
                                    <a:solidFill>
                                      <a:srgbClr val="404040"/>
                                    </a:solidFill>
                                    <a:effectLst/>
                                    <a:latin typeface="Cambria Math"/>
                                  </a:rPr>
                                  <m:t>1</m:t>
                                </m:r>
                                <m:r>
                                  <a:rPr kumimoji="0" lang="en-US" sz="2000" b="0" i="1" u="none" strike="noStrike" cap="none" normalizeH="0" baseline="0" dirty="0" smtClean="0">
                                    <a:ln>
                                      <a:noFill/>
                                    </a:ln>
                                    <a:solidFill>
                                      <a:srgbClr val="404040"/>
                                    </a:solidFill>
                                    <a:effectLst/>
                                    <a:latin typeface="Cambria Math"/>
                                  </a:rPr>
                                  <m:t>,…,</m:t>
                                </m:r>
                                <m:r>
                                  <a:rPr kumimoji="0" lang="en-US" sz="2000" b="0" i="1" u="none" strike="noStrike" cap="none" normalizeH="0" baseline="0" dirty="0" err="1" smtClean="0">
                                    <a:ln>
                                      <a:noFill/>
                                    </a:ln>
                                    <a:solidFill>
                                      <a:srgbClr val="404040"/>
                                    </a:solidFill>
                                    <a:effectLst/>
                                    <a:latin typeface="Cambria Math"/>
                                  </a:rPr>
                                  <m:t>𝑥</m:t>
                                </m:r>
                                <m:r>
                                  <a:rPr kumimoji="0" lang="en-US" sz="2000" b="0" i="1" u="none" strike="noStrike" cap="none" normalizeH="0" baseline="-25000" dirty="0" err="1" smtClean="0">
                                    <a:ln>
                                      <a:noFill/>
                                    </a:ln>
                                    <a:solidFill>
                                      <a:srgbClr val="404040"/>
                                    </a:solidFill>
                                    <a:effectLst/>
                                    <a:latin typeface="Cambria Math"/>
                                  </a:rPr>
                                  <m:t>𝑘</m:t>
                                </m:r>
                                <m:r>
                                  <a:rPr kumimoji="0" lang="en-US" sz="2000" b="0" i="1" u="none" strike="noStrike" cap="none" normalizeH="0" baseline="0" dirty="0" smtClean="0">
                                    <a:ln>
                                      <a:noFill/>
                                    </a:ln>
                                    <a:solidFill>
                                      <a:srgbClr val="404040"/>
                                    </a:solidFill>
                                    <a:effectLst/>
                                    <a:latin typeface="Cambria Math"/>
                                  </a:rPr>
                                  <m:t>}</m:t>
                                </m:r>
                              </m:oMath>
                            </m:oMathPara>
                          </a14:m>
                          <a:endParaRPr kumimoji="0" lang="en-US" sz="2000" b="0" i="0" u="none" strike="noStrike" cap="none" normalizeH="0" baseline="0" dirty="0">
                            <a:ln>
                              <a:noFill/>
                            </a:ln>
                            <a:solidFill>
                              <a:srgbClr val="404040"/>
                            </a:solidFill>
                            <a:effectLst/>
                            <a:latin typeface="Trebuchet MS" pitchFamily="34" charset="0"/>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STT</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14:m>
                            <m:oMathPara xmlns:m="http://schemas.openxmlformats.org/officeDocument/2006/math">
                              <m:oMathParaPr>
                                <m:jc m:val="centerGroup"/>
                              </m:oMathParaPr>
                              <m:oMath xmlns:m="http://schemas.openxmlformats.org/officeDocument/2006/math">
                                <m:r>
                                  <a:rPr kumimoji="0" lang="en-US" sz="2000" b="0" i="1" u="none" strike="noStrike" cap="none" normalizeH="0" baseline="0" dirty="0" smtClean="0">
                                    <a:ln>
                                      <a:noFill/>
                                    </a:ln>
                                    <a:solidFill>
                                      <a:srgbClr val="404040"/>
                                    </a:solidFill>
                                    <a:effectLst/>
                                    <a:latin typeface="Cambria Math"/>
                                  </a:rPr>
                                  <m:t>𝑋</m:t>
                                </m:r>
                                <m:r>
                                  <a:rPr kumimoji="0" lang="en-US" sz="2000" b="0" i="1" u="none" strike="noStrike" cap="none" normalizeH="0" baseline="0" dirty="0" smtClean="0">
                                    <a:ln>
                                      <a:noFill/>
                                    </a:ln>
                                    <a:solidFill>
                                      <a:srgbClr val="404040"/>
                                    </a:solidFill>
                                    <a:effectLst/>
                                    <a:latin typeface="Cambria Math"/>
                                  </a:rPr>
                                  <m:t> ={</m:t>
                                </m:r>
                                <m:r>
                                  <a:rPr kumimoji="0" lang="en-US" sz="2000" b="0" i="1" u="none" strike="noStrike" cap="none" normalizeH="0" baseline="0" dirty="0" smtClean="0">
                                    <a:ln>
                                      <a:noFill/>
                                    </a:ln>
                                    <a:solidFill>
                                      <a:srgbClr val="404040"/>
                                    </a:solidFill>
                                    <a:effectLst/>
                                    <a:latin typeface="Cambria Math"/>
                                  </a:rPr>
                                  <m:t>𝑥</m:t>
                                </m:r>
                                <m:r>
                                  <a:rPr kumimoji="0" lang="en-US" sz="2000" b="0" i="1" u="none" strike="noStrike" cap="none" normalizeH="0" baseline="-25000" dirty="0" smtClean="0">
                                    <a:ln>
                                      <a:noFill/>
                                    </a:ln>
                                    <a:solidFill>
                                      <a:srgbClr val="404040"/>
                                    </a:solidFill>
                                    <a:effectLst/>
                                    <a:latin typeface="Cambria Math"/>
                                  </a:rPr>
                                  <m:t>1</m:t>
                                </m:r>
                                <m:r>
                                  <a:rPr kumimoji="0" lang="en-US" sz="2000" b="0" i="1" u="none" strike="noStrike" cap="none" normalizeH="0" baseline="0" dirty="0" smtClean="0">
                                    <a:ln>
                                      <a:noFill/>
                                    </a:ln>
                                    <a:solidFill>
                                      <a:srgbClr val="404040"/>
                                    </a:solidFill>
                                    <a:effectLst/>
                                    <a:latin typeface="Cambria Math"/>
                                  </a:rPr>
                                  <m:t>,…,</m:t>
                                </m:r>
                                <m:r>
                                  <a:rPr kumimoji="0" lang="en-US" sz="2000" b="0" i="1" u="none" strike="noStrike" cap="none" normalizeH="0" baseline="0" dirty="0" err="1" smtClean="0">
                                    <a:ln>
                                      <a:noFill/>
                                    </a:ln>
                                    <a:solidFill>
                                      <a:srgbClr val="404040"/>
                                    </a:solidFill>
                                    <a:effectLst/>
                                    <a:latin typeface="Cambria Math"/>
                                  </a:rPr>
                                  <m:t>𝑥</m:t>
                                </m:r>
                                <m:r>
                                  <a:rPr kumimoji="0" lang="en-US" sz="2000" b="0" i="1" u="none" strike="noStrike" cap="none" normalizeH="0" baseline="-25000" dirty="0" err="1" smtClean="0">
                                    <a:ln>
                                      <a:noFill/>
                                    </a:ln>
                                    <a:solidFill>
                                      <a:srgbClr val="404040"/>
                                    </a:solidFill>
                                    <a:effectLst/>
                                    <a:latin typeface="Cambria Math"/>
                                  </a:rPr>
                                  <m:t>𝑘</m:t>
                                </m:r>
                                <m:r>
                                  <a:rPr kumimoji="0" lang="en-US" sz="2000" b="0" i="1" u="none" strike="noStrike" cap="none" normalizeH="0" baseline="0" dirty="0" smtClean="0">
                                    <a:ln>
                                      <a:noFill/>
                                    </a:ln>
                                    <a:solidFill>
                                      <a:srgbClr val="404040"/>
                                    </a:solidFill>
                                    <a:effectLst/>
                                    <a:latin typeface="Cambria Math"/>
                                  </a:rPr>
                                  <m:t>}</m:t>
                                </m:r>
                              </m:oMath>
                            </m:oMathPara>
                          </a14:m>
                          <a:endParaRPr kumimoji="0" lang="en-US" sz="2000" b="0" i="0" u="none" strike="noStrike" cap="none" normalizeH="0" baseline="0" dirty="0">
                            <a:ln>
                              <a:noFill/>
                            </a:ln>
                            <a:solidFill>
                              <a:srgbClr val="404040"/>
                            </a:solidFill>
                            <a:effectLst/>
                            <a:latin typeface="Trebuchet MS" pitchFamily="34" charset="0"/>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7146">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1</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1   2    3</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6</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1   4    5</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21892">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2</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1   2    4</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7</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2   3    4</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3</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1   2    5</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8</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2   3    5</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298">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4</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1   3    4</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9</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2   4    5</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298">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5</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1   3    5</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10</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3    4   5</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mc:Choice>
        <mc:Fallback>
          <p:graphicFrame>
            <p:nvGraphicFramePr>
              <p:cNvPr id="6" name="Group 120"/>
              <p:cNvGraphicFramePr>
                <a:graphicFrameLocks noGrp="1"/>
              </p:cNvGraphicFramePr>
              <p:nvPr>
                <p:extLst>
                  <p:ext uri="{D42A27DB-BD31-4B8C-83A1-F6EECF244321}">
                    <p14:modId xmlns:p14="http://schemas.microsoft.com/office/powerpoint/2010/main" val="657350600"/>
                  </p:ext>
                </p:extLst>
              </p:nvPr>
            </p:nvGraphicFramePr>
            <p:xfrm>
              <a:off x="762000" y="3108788"/>
              <a:ext cx="7239000" cy="2415712"/>
            </p:xfrm>
            <a:graphic>
              <a:graphicData uri="http://schemas.openxmlformats.org/drawingml/2006/table">
                <a:tbl>
                  <a:tblPr/>
                  <a:tblGrid>
                    <a:gridCol w="685800">
                      <a:extLst>
                        <a:ext uri="{9D8B030D-6E8A-4147-A177-3AD203B41FA5}">
                          <a16:colId xmlns:a16="http://schemas.microsoft.com/office/drawing/2014/main" val="20000"/>
                        </a:ext>
                      </a:extLst>
                    </a:gridCol>
                    <a:gridCol w="28956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2971800">
                      <a:extLst>
                        <a:ext uri="{9D8B030D-6E8A-4147-A177-3AD203B41FA5}">
                          <a16:colId xmlns:a16="http://schemas.microsoft.com/office/drawing/2014/main" val="20003"/>
                        </a:ext>
                      </a:extLst>
                    </a:gridCol>
                  </a:tblGrid>
                  <a:tr h="434354">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STT</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l="-24421" t="-8333" r="-127368" b="-475000"/>
                          </a:stretch>
                        </a:blip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STT</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l="-144057" t="-8333" r="-1025" b="-475000"/>
                          </a:stretch>
                        </a:blipFill>
                      </a:tcPr>
                    </a:tc>
                    <a:extLst>
                      <a:ext uri="{0D108BD9-81ED-4DB2-BD59-A6C34878D82A}">
                        <a16:rowId xmlns:a16="http://schemas.microsoft.com/office/drawing/2014/main" val="10000"/>
                      </a:ext>
                    </a:extLst>
                  </a:tr>
                  <a:tr h="396254">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1</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1   2    3</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6</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1   4    5</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254">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2</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1   2    4</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7</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2   3    4</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254">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3</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1   2    5</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8</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2   3    5</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298">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4</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1   3    4</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9</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2   4    5</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298">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5</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1   3    5</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10</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3    4   5</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mc:Fallback>
      </mc:AlternateContent>
    </p:spTree>
    <p:extLst>
      <p:ext uri="{BB962C8B-B14F-4D97-AF65-F5344CB8AC3E}">
        <p14:creationId xmlns:p14="http://schemas.microsoft.com/office/powerpoint/2010/main" val="3407028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mc:AlternateContent xmlns:mc="http://schemas.openxmlformats.org/markup-compatibility/2006">
        <mc:Choice xmlns:a14="http://schemas.microsoft.com/office/drawing/2010/main" Requires="a14">
          <p:sp>
            <p:nvSpPr>
              <p:cNvPr id="5" name="Content Placeholder 4"/>
              <p:cNvSpPr>
                <a:spLocks noGrp="1"/>
              </p:cNvSpPr>
              <p:nvPr>
                <p:ph sz="quarter" idx="1"/>
              </p:nvPr>
            </p:nvSpPr>
            <p:spPr>
              <a:xfrm>
                <a:off x="457200" y="1219200"/>
                <a:ext cx="8229600" cy="5105400"/>
              </a:xfrm>
            </p:spPr>
            <p:txBody>
              <a:bodyPr>
                <a:normAutofit fontScale="92500" lnSpcReduction="10000"/>
              </a:bodyPr>
              <a:lstStyle/>
              <a:p>
                <a:r>
                  <a:rPr lang="en-US" b="1" dirty="0"/>
                  <a:t>Natural order to browsing all convolutional combinations </a:t>
                </a:r>
                <a14:m>
                  <m:oMath xmlns:m="http://schemas.openxmlformats.org/officeDocument/2006/math">
                    <m:r>
                      <a:rPr lang="en-US" b="1" i="1" dirty="0" smtClean="0">
                        <a:latin typeface="Cambria Math"/>
                      </a:rPr>
                      <m:t>𝒌</m:t>
                    </m:r>
                  </m:oMath>
                </a14:m>
                <a:r>
                  <a:rPr lang="en-US" dirty="0"/>
                  <a:t>:</a:t>
                </a:r>
              </a:p>
              <a:p>
                <a:pPr marL="0" indent="0" algn="just">
                  <a:spcBef>
                    <a:spcPct val="40000"/>
                  </a:spcBef>
                  <a:buNone/>
                </a:pPr>
                <a:r>
                  <a:rPr lang="en-US" dirty="0"/>
                  <a:t>It is possible to define different orders on combinations. However, the simplest order can be defined as follows:</a:t>
                </a:r>
              </a:p>
              <a:p>
                <a:pPr marL="0" indent="0">
                  <a:spcBef>
                    <a:spcPct val="40000"/>
                  </a:spcBef>
                  <a:buNone/>
                </a:pPr>
                <a:r>
                  <a:rPr lang="en-US" dirty="0"/>
                  <a:t>We call the subset </a:t>
                </a:r>
                <a14:m>
                  <m:oMath xmlns:m="http://schemas.openxmlformats.org/officeDocument/2006/math">
                    <m:r>
                      <a:rPr lang="en-US" i="1" dirty="0" smtClean="0">
                        <a:latin typeface="Cambria Math"/>
                      </a:rPr>
                      <m:t>𝑋</m:t>
                    </m:r>
                    <m:r>
                      <a:rPr lang="en-US" i="1" dirty="0" smtClean="0">
                        <a:latin typeface="Cambria Math"/>
                      </a:rPr>
                      <m:t>=</m:t>
                    </m:r>
                    <m:d>
                      <m:dPr>
                        <m:ctrlPr>
                          <a:rPr lang="en-US" i="1" dirty="0" smtClean="0">
                            <a:latin typeface="Cambria Math" panose="02040503050406030204" pitchFamily="18" charset="0"/>
                          </a:rPr>
                        </m:ctrlPr>
                      </m:dPr>
                      <m:e>
                        <m:r>
                          <a:rPr lang="en-US" i="1" dirty="0" smtClean="0">
                            <a:latin typeface="Cambria Math"/>
                          </a:rPr>
                          <m:t>𝑥</m:t>
                        </m:r>
                        <m:r>
                          <a:rPr lang="en-US" i="1" baseline="-25000" dirty="0">
                            <a:latin typeface="Cambria Math"/>
                          </a:rPr>
                          <m:t>1</m:t>
                        </m:r>
                        <m:r>
                          <a:rPr lang="en-US" i="1" dirty="0">
                            <a:latin typeface="Cambria Math"/>
                          </a:rPr>
                          <m:t>,</m:t>
                        </m:r>
                        <m:r>
                          <a:rPr lang="en-US" i="1" dirty="0">
                            <a:latin typeface="Cambria Math"/>
                          </a:rPr>
                          <m:t>𝑥</m:t>
                        </m:r>
                        <m:r>
                          <a:rPr lang="en-US" b="0" i="1" baseline="-25000" dirty="0" smtClean="0">
                            <a:latin typeface="Cambria Math"/>
                          </a:rPr>
                          <m:t>2</m:t>
                        </m:r>
                        <m:r>
                          <a:rPr lang="en-US" i="1" dirty="0">
                            <a:latin typeface="Cambria Math"/>
                          </a:rPr>
                          <m:t>,.</m:t>
                        </m:r>
                        <m:r>
                          <a:rPr lang="en-US" b="0" i="1" dirty="0" smtClean="0">
                            <a:latin typeface="Cambria Math"/>
                          </a:rPr>
                          <m:t>.</m:t>
                        </m:r>
                        <m:r>
                          <a:rPr lang="en-US" i="1" dirty="0">
                            <a:latin typeface="Cambria Math"/>
                          </a:rPr>
                          <m:t>.,</m:t>
                        </m:r>
                        <m:r>
                          <a:rPr lang="en-US" i="1" dirty="0">
                            <a:latin typeface="Cambria Math"/>
                          </a:rPr>
                          <m:t>𝑥𝑘</m:t>
                        </m:r>
                      </m:e>
                    </m:d>
                  </m:oMath>
                </a14:m>
                <a:r>
                  <a:rPr lang="en-US" dirty="0"/>
                  <a:t> to be before the subset </a:t>
                </a:r>
                <a14:m>
                  <m:oMath xmlns:m="http://schemas.openxmlformats.org/officeDocument/2006/math">
                    <m:r>
                      <a:rPr lang="en-US" i="1" dirty="0" smtClean="0">
                        <a:latin typeface="Cambria Math"/>
                      </a:rPr>
                      <m:t>𝑌</m:t>
                    </m:r>
                    <m:r>
                      <a:rPr lang="en-US" i="1" dirty="0" smtClean="0">
                        <a:latin typeface="Cambria Math"/>
                      </a:rPr>
                      <m:t>=(</m:t>
                    </m:r>
                    <m:r>
                      <a:rPr lang="en-US" i="1" dirty="0" smtClean="0">
                        <a:latin typeface="Cambria Math"/>
                      </a:rPr>
                      <m:t>𝑦</m:t>
                    </m:r>
                    <m:r>
                      <a:rPr lang="en-US" i="1" baseline="-25000" dirty="0">
                        <a:latin typeface="Cambria Math"/>
                      </a:rPr>
                      <m:t>1</m:t>
                    </m:r>
                    <m:r>
                      <a:rPr lang="en-US" i="1" dirty="0">
                        <a:latin typeface="Cambria Math"/>
                      </a:rPr>
                      <m:t>,</m:t>
                    </m:r>
                    <m:r>
                      <a:rPr lang="en-US" i="1" dirty="0">
                        <a:latin typeface="Cambria Math"/>
                      </a:rPr>
                      <m:t>𝑦</m:t>
                    </m:r>
                    <m:r>
                      <a:rPr lang="en-US" i="1" baseline="-25000" dirty="0">
                        <a:latin typeface="Cambria Math"/>
                      </a:rPr>
                      <m:t>2</m:t>
                    </m:r>
                    <m:r>
                      <a:rPr lang="en-US" i="1" dirty="0">
                        <a:latin typeface="Cambria Math"/>
                      </a:rPr>
                      <m:t>,.</m:t>
                    </m:r>
                    <m:r>
                      <a:rPr lang="en-US" b="0" i="1" dirty="0" smtClean="0">
                        <a:latin typeface="Cambria Math"/>
                      </a:rPr>
                      <m:t>.</m:t>
                    </m:r>
                    <m:r>
                      <a:rPr lang="en-US" i="1" dirty="0">
                        <a:latin typeface="Cambria Math"/>
                      </a:rPr>
                      <m:t>.,</m:t>
                    </m:r>
                    <m:r>
                      <a:rPr lang="en-US" i="1" dirty="0">
                        <a:latin typeface="Cambria Math"/>
                      </a:rPr>
                      <m:t>𝑦𝑘</m:t>
                    </m:r>
                    <m:r>
                      <a:rPr lang="en-US" i="1" dirty="0">
                        <a:latin typeface="Cambria Math"/>
                      </a:rPr>
                      <m:t>)</m:t>
                    </m:r>
                  </m:oMath>
                </a14:m>
                <a:r>
                  <a:rPr lang="en-US" dirty="0"/>
                  <a:t> if we find the index </a:t>
                </a:r>
                <a14:m>
                  <m:oMath xmlns:m="http://schemas.openxmlformats.org/officeDocument/2006/math">
                    <m:r>
                      <a:rPr lang="en-US" i="1" dirty="0" smtClean="0">
                        <a:latin typeface="Cambria Math"/>
                      </a:rPr>
                      <m:t>𝑡</m:t>
                    </m:r>
                  </m:oMath>
                </a14:m>
                <a:r>
                  <a:rPr lang="en-US" dirty="0"/>
                  <a:t> so that: </a:t>
                </a:r>
              </a:p>
              <a:p>
                <a:pPr marL="0" indent="0" algn="ctr">
                  <a:spcBef>
                    <a:spcPct val="40000"/>
                  </a:spcBef>
                  <a:buNone/>
                </a:pPr>
                <a14:m>
                  <m:oMath xmlns:m="http://schemas.openxmlformats.org/officeDocument/2006/math">
                    <m:r>
                      <a:rPr lang="en-US" i="1" dirty="0" smtClean="0">
                        <a:solidFill>
                          <a:srgbClr val="FF0000"/>
                        </a:solidFill>
                        <a:latin typeface="Cambria Math"/>
                      </a:rPr>
                      <m:t>𝑥</m:t>
                    </m:r>
                    <m:r>
                      <a:rPr lang="en-US" i="1" baseline="-25000" dirty="0">
                        <a:solidFill>
                          <a:srgbClr val="FF0000"/>
                        </a:solidFill>
                        <a:latin typeface="Cambria Math"/>
                      </a:rPr>
                      <m:t>1</m:t>
                    </m:r>
                    <m:r>
                      <a:rPr lang="en-US" i="1" dirty="0" smtClean="0">
                        <a:solidFill>
                          <a:srgbClr val="FF0000"/>
                        </a:solidFill>
                        <a:latin typeface="Cambria Math"/>
                      </a:rPr>
                      <m:t>=</m:t>
                    </m:r>
                    <m:r>
                      <a:rPr lang="en-US" i="1" dirty="0">
                        <a:solidFill>
                          <a:srgbClr val="FF0000"/>
                        </a:solidFill>
                        <a:latin typeface="Cambria Math"/>
                      </a:rPr>
                      <m:t>𝑦</m:t>
                    </m:r>
                    <m:r>
                      <a:rPr lang="en-US" i="1" baseline="-25000" dirty="0">
                        <a:solidFill>
                          <a:srgbClr val="FF0000"/>
                        </a:solidFill>
                        <a:latin typeface="Cambria Math"/>
                      </a:rPr>
                      <m:t>1</m:t>
                    </m:r>
                  </m:oMath>
                </a14:m>
                <a:r>
                  <a:rPr lang="en-US" dirty="0">
                    <a:solidFill>
                      <a:srgbClr val="FF0000"/>
                    </a:solidFill>
                  </a:rPr>
                  <a:t>, </a:t>
                </a:r>
                <a14:m>
                  <m:oMath xmlns:m="http://schemas.openxmlformats.org/officeDocument/2006/math">
                    <m:r>
                      <a:rPr lang="en-US" i="1" dirty="0" smtClean="0">
                        <a:solidFill>
                          <a:srgbClr val="FF0000"/>
                        </a:solidFill>
                        <a:latin typeface="Cambria Math"/>
                      </a:rPr>
                      <m:t>𝑥</m:t>
                    </m:r>
                    <m:r>
                      <a:rPr lang="en-US" i="1" baseline="-25000" dirty="0">
                        <a:solidFill>
                          <a:srgbClr val="FF0000"/>
                        </a:solidFill>
                        <a:latin typeface="Cambria Math"/>
                      </a:rPr>
                      <m:t>2</m:t>
                    </m:r>
                    <m:r>
                      <a:rPr lang="en-US" i="1" dirty="0">
                        <a:solidFill>
                          <a:srgbClr val="FF0000"/>
                        </a:solidFill>
                        <a:latin typeface="Cambria Math"/>
                      </a:rPr>
                      <m:t>=</m:t>
                    </m:r>
                    <m:r>
                      <a:rPr lang="en-US" i="1" dirty="0">
                        <a:solidFill>
                          <a:srgbClr val="FF0000"/>
                        </a:solidFill>
                        <a:latin typeface="Cambria Math"/>
                      </a:rPr>
                      <m:t>𝑦</m:t>
                    </m:r>
                    <m:r>
                      <a:rPr lang="en-US" i="1" baseline="-25000" dirty="0">
                        <a:solidFill>
                          <a:srgbClr val="FF0000"/>
                        </a:solidFill>
                        <a:latin typeface="Cambria Math"/>
                      </a:rPr>
                      <m:t>2</m:t>
                    </m:r>
                    <m:r>
                      <a:rPr lang="en-US" i="1" dirty="0">
                        <a:solidFill>
                          <a:srgbClr val="FF0000"/>
                        </a:solidFill>
                        <a:latin typeface="Cambria Math"/>
                      </a:rPr>
                      <m:t>,.</m:t>
                    </m:r>
                    <m:r>
                      <a:rPr lang="en-US" b="0" i="1" dirty="0" smtClean="0">
                        <a:solidFill>
                          <a:srgbClr val="FF0000"/>
                        </a:solidFill>
                        <a:latin typeface="Cambria Math"/>
                      </a:rPr>
                      <m:t>.</m:t>
                    </m:r>
                    <m:r>
                      <a:rPr lang="en-US" i="1" dirty="0">
                        <a:solidFill>
                          <a:srgbClr val="FF0000"/>
                        </a:solidFill>
                        <a:latin typeface="Cambria Math"/>
                      </a:rPr>
                      <m:t>., </m:t>
                    </m:r>
                    <m:sSub>
                      <m:sSubPr>
                        <m:ctrlPr>
                          <a:rPr lang="en-US" i="1" dirty="0" smtClean="0">
                            <a:solidFill>
                              <a:srgbClr val="FF0000"/>
                            </a:solidFill>
                            <a:latin typeface="Cambria Math" panose="02040503050406030204" pitchFamily="18" charset="0"/>
                          </a:rPr>
                        </m:ctrlPr>
                      </m:sSubPr>
                      <m:e>
                        <m:r>
                          <a:rPr lang="en-US" b="0" i="1" dirty="0" smtClean="0">
                            <a:solidFill>
                              <a:srgbClr val="FF0000"/>
                            </a:solidFill>
                            <a:latin typeface="Cambria Math"/>
                          </a:rPr>
                          <m:t>𝑥</m:t>
                        </m:r>
                      </m:e>
                      <m:sub>
                        <m:r>
                          <a:rPr lang="en-US" b="0" i="1" dirty="0" smtClean="0">
                            <a:solidFill>
                              <a:srgbClr val="FF0000"/>
                            </a:solidFill>
                            <a:latin typeface="Cambria Math"/>
                          </a:rPr>
                          <m:t>𝑡</m:t>
                        </m:r>
                        <m:r>
                          <a:rPr lang="en-US" b="0" i="1" dirty="0" smtClean="0">
                            <a:solidFill>
                              <a:srgbClr val="FF0000"/>
                            </a:solidFill>
                            <a:latin typeface="Cambria Math"/>
                          </a:rPr>
                          <m:t>−1</m:t>
                        </m:r>
                      </m:sub>
                    </m:sSub>
                    <m:r>
                      <a:rPr lang="en-US" i="1" dirty="0">
                        <a:solidFill>
                          <a:srgbClr val="FF0000"/>
                        </a:solidFill>
                        <a:latin typeface="Cambria Math"/>
                      </a:rPr>
                      <m:t>=</m:t>
                    </m:r>
                    <m:sSub>
                      <m:sSubPr>
                        <m:ctrlPr>
                          <a:rPr lang="en-US" i="1" dirty="0" smtClean="0">
                            <a:solidFill>
                              <a:srgbClr val="FF0000"/>
                            </a:solidFill>
                            <a:latin typeface="Cambria Math" panose="02040503050406030204" pitchFamily="18" charset="0"/>
                          </a:rPr>
                        </m:ctrlPr>
                      </m:sSubPr>
                      <m:e>
                        <m:r>
                          <a:rPr lang="en-US" b="0" i="1" dirty="0" smtClean="0">
                            <a:solidFill>
                              <a:srgbClr val="FF0000"/>
                            </a:solidFill>
                            <a:latin typeface="Cambria Math"/>
                          </a:rPr>
                          <m:t>𝑦</m:t>
                        </m:r>
                      </m:e>
                      <m:sub>
                        <m:r>
                          <a:rPr lang="en-US" b="0" i="1" dirty="0" smtClean="0">
                            <a:solidFill>
                              <a:srgbClr val="FF0000"/>
                            </a:solidFill>
                            <a:latin typeface="Cambria Math"/>
                          </a:rPr>
                          <m:t>𝑡</m:t>
                        </m:r>
                        <m:r>
                          <a:rPr lang="en-US" b="0" i="1" dirty="0" smtClean="0">
                            <a:solidFill>
                              <a:srgbClr val="FF0000"/>
                            </a:solidFill>
                            <a:latin typeface="Cambria Math"/>
                          </a:rPr>
                          <m:t>−1</m:t>
                        </m:r>
                      </m:sub>
                    </m:sSub>
                    <m:r>
                      <a:rPr lang="en-US" i="1" dirty="0">
                        <a:solidFill>
                          <a:srgbClr val="FF0000"/>
                        </a:solidFill>
                        <a:latin typeface="Cambria Math"/>
                      </a:rPr>
                      <m:t>, </m:t>
                    </m:r>
                    <m:r>
                      <a:rPr lang="en-US" i="1" dirty="0" err="1">
                        <a:solidFill>
                          <a:srgbClr val="FF0000"/>
                        </a:solidFill>
                        <a:latin typeface="Cambria Math"/>
                      </a:rPr>
                      <m:t>𝑥</m:t>
                    </m:r>
                    <m:r>
                      <a:rPr lang="en-US" i="1" baseline="-25000" dirty="0" err="1">
                        <a:solidFill>
                          <a:srgbClr val="FF0000"/>
                        </a:solidFill>
                        <a:latin typeface="Cambria Math"/>
                      </a:rPr>
                      <m:t>𝑡</m:t>
                    </m:r>
                    <m:r>
                      <a:rPr lang="en-US" i="1" dirty="0">
                        <a:solidFill>
                          <a:srgbClr val="FF0000"/>
                        </a:solidFill>
                        <a:latin typeface="Cambria Math"/>
                      </a:rPr>
                      <m:t>&lt;</m:t>
                    </m:r>
                    <m:r>
                      <a:rPr lang="en-US" i="1" dirty="0" err="1">
                        <a:solidFill>
                          <a:srgbClr val="FF0000"/>
                        </a:solidFill>
                        <a:latin typeface="Cambria Math"/>
                      </a:rPr>
                      <m:t>𝑦</m:t>
                    </m:r>
                    <m:r>
                      <a:rPr lang="en-US" i="1" baseline="-25000" dirty="0" err="1">
                        <a:solidFill>
                          <a:srgbClr val="FF0000"/>
                        </a:solidFill>
                        <a:latin typeface="Cambria Math"/>
                      </a:rPr>
                      <m:t>𝑡</m:t>
                    </m:r>
                  </m:oMath>
                </a14:m>
                <a:r>
                  <a:rPr lang="en-US" dirty="0"/>
                  <a:t>. </a:t>
                </a:r>
              </a:p>
              <a:p>
                <a:pPr marL="0" indent="0">
                  <a:spcBef>
                    <a:spcPct val="40000"/>
                  </a:spcBef>
                  <a:buNone/>
                </a:pPr>
                <a:r>
                  <a:rPr lang="en-US" dirty="0"/>
                  <a:t>For example: subset </a:t>
                </a:r>
                <a14:m>
                  <m:oMath xmlns:m="http://schemas.openxmlformats.org/officeDocument/2006/math">
                    <m:r>
                      <a:rPr lang="en-US" i="1" dirty="0" smtClean="0">
                        <a:latin typeface="Cambria Math"/>
                      </a:rPr>
                      <m:t>𝑋</m:t>
                    </m:r>
                    <m:r>
                      <a:rPr lang="en-US" i="1" dirty="0" smtClean="0">
                        <a:latin typeface="Cambria Math"/>
                      </a:rPr>
                      <m:t>=(1, 2, 3) </m:t>
                    </m:r>
                  </m:oMath>
                </a14:m>
                <a:r>
                  <a:rPr lang="en-US" dirty="0"/>
                  <a:t>before subset </a:t>
                </a:r>
                <a14:m>
                  <m:oMath xmlns:m="http://schemas.openxmlformats.org/officeDocument/2006/math">
                    <m:r>
                      <a:rPr lang="en-US" i="1" dirty="0" smtClean="0">
                        <a:latin typeface="Cambria Math"/>
                      </a:rPr>
                      <m:t>𝑌</m:t>
                    </m:r>
                    <m:r>
                      <a:rPr lang="en-US" i="1" dirty="0" smtClean="0">
                        <a:latin typeface="Cambria Math"/>
                      </a:rPr>
                      <m:t>=(1, 2, 4)</m:t>
                    </m:r>
                  </m:oMath>
                </a14:m>
                <a:r>
                  <a:rPr lang="en-US" dirty="0"/>
                  <a:t> because with </a:t>
                </a:r>
                <a14:m>
                  <m:oMath xmlns:m="http://schemas.openxmlformats.org/officeDocument/2006/math">
                    <m:r>
                      <a:rPr lang="en-US" i="1" dirty="0" smtClean="0">
                        <a:latin typeface="Cambria Math"/>
                      </a:rPr>
                      <m:t>𝑡</m:t>
                    </m:r>
                    <m:r>
                      <a:rPr lang="en-US" i="1" dirty="0" smtClean="0">
                        <a:latin typeface="Cambria Math"/>
                      </a:rPr>
                      <m:t>=3</m:t>
                    </m:r>
                  </m:oMath>
                </a14:m>
                <a:r>
                  <a:rPr lang="en-US" dirty="0"/>
                  <a:t> so </a:t>
                </a:r>
                <a14:m>
                  <m:oMath xmlns:m="http://schemas.openxmlformats.org/officeDocument/2006/math">
                    <m:r>
                      <a:rPr lang="en-US" i="1" dirty="0" smtClean="0">
                        <a:latin typeface="Cambria Math"/>
                      </a:rPr>
                      <m:t>𝑥</m:t>
                    </m:r>
                    <m:r>
                      <a:rPr lang="en-US" i="1" baseline="-25000" dirty="0">
                        <a:latin typeface="Cambria Math"/>
                      </a:rPr>
                      <m:t>1</m:t>
                    </m:r>
                    <m:r>
                      <a:rPr lang="en-US" i="1" dirty="0">
                        <a:latin typeface="Cambria Math"/>
                      </a:rPr>
                      <m:t>=</m:t>
                    </m:r>
                    <m:r>
                      <a:rPr lang="en-US" i="1" dirty="0">
                        <a:latin typeface="Cambria Math"/>
                      </a:rPr>
                      <m:t>𝑦</m:t>
                    </m:r>
                    <m:r>
                      <a:rPr lang="en-US" i="1" baseline="-25000" dirty="0">
                        <a:latin typeface="Cambria Math"/>
                      </a:rPr>
                      <m:t>1</m:t>
                    </m:r>
                    <m:r>
                      <a:rPr lang="en-US" i="1" dirty="0">
                        <a:latin typeface="Cambria Math"/>
                      </a:rPr>
                      <m:t>, </m:t>
                    </m:r>
                    <m:r>
                      <a:rPr lang="en-US" i="1" dirty="0">
                        <a:latin typeface="Cambria Math"/>
                      </a:rPr>
                      <m:t>𝑥</m:t>
                    </m:r>
                    <m:r>
                      <a:rPr lang="en-US" i="1" baseline="-25000" dirty="0">
                        <a:latin typeface="Cambria Math"/>
                      </a:rPr>
                      <m:t>2</m:t>
                    </m:r>
                    <m:r>
                      <a:rPr lang="en-US" i="1" dirty="0">
                        <a:latin typeface="Cambria Math"/>
                      </a:rPr>
                      <m:t>=</m:t>
                    </m:r>
                    <m:r>
                      <a:rPr lang="en-US" i="1" dirty="0">
                        <a:latin typeface="Cambria Math"/>
                      </a:rPr>
                      <m:t>𝑦</m:t>
                    </m:r>
                    <m:r>
                      <a:rPr lang="en-US" i="1" baseline="-25000" dirty="0">
                        <a:latin typeface="Cambria Math"/>
                      </a:rPr>
                      <m:t>2</m:t>
                    </m:r>
                    <m:r>
                      <a:rPr lang="en-US" i="1" dirty="0">
                        <a:latin typeface="Cambria Math"/>
                      </a:rPr>
                      <m:t>, </m:t>
                    </m:r>
                    <m:r>
                      <a:rPr lang="en-US" i="1" dirty="0">
                        <a:latin typeface="Cambria Math"/>
                      </a:rPr>
                      <m:t>𝑥</m:t>
                    </m:r>
                    <m:r>
                      <a:rPr lang="en-US" i="1" baseline="-25000" dirty="0">
                        <a:latin typeface="Cambria Math"/>
                      </a:rPr>
                      <m:t>3</m:t>
                    </m:r>
                    <m:r>
                      <a:rPr lang="en-US" i="1" dirty="0">
                        <a:latin typeface="Cambria Math"/>
                      </a:rPr>
                      <m:t>&lt;</m:t>
                    </m:r>
                    <m:r>
                      <a:rPr lang="en-US" i="1" dirty="0">
                        <a:latin typeface="Cambria Math"/>
                      </a:rPr>
                      <m:t>𝑦</m:t>
                    </m:r>
                    <m:r>
                      <a:rPr lang="en-US" i="1" baseline="-25000" dirty="0">
                        <a:latin typeface="Cambria Math"/>
                      </a:rPr>
                      <m:t>3</m:t>
                    </m:r>
                  </m:oMath>
                </a14:m>
                <a:r>
                  <a:rPr lang="en-US" dirty="0"/>
                  <a:t>. </a:t>
                </a:r>
              </a:p>
              <a:p>
                <a:pPr marL="0" indent="0">
                  <a:buNone/>
                </a:pPr>
                <a:endParaRPr lang="en-US" dirty="0"/>
              </a:p>
              <a:p>
                <a:pPr marL="0" indent="0" algn="just">
                  <a:buNone/>
                </a:pPr>
                <a:r>
                  <a:rPr lang="en-US" dirty="0"/>
                  <a:t>First subset (final configuration) is </a:t>
                </a:r>
                <a14:m>
                  <m:oMath xmlns:m="http://schemas.openxmlformats.org/officeDocument/2006/math">
                    <m:r>
                      <a:rPr lang="en-US" i="1" dirty="0" smtClean="0">
                        <a:latin typeface="Cambria Math"/>
                      </a:rPr>
                      <m:t>𝑋</m:t>
                    </m:r>
                    <m:r>
                      <a:rPr lang="en-US" i="1" dirty="0" smtClean="0">
                        <a:latin typeface="Cambria Math"/>
                      </a:rPr>
                      <m:t>=(1, 2,...,</m:t>
                    </m:r>
                    <m:r>
                      <a:rPr lang="en-US" b="0" i="1" dirty="0" smtClean="0">
                        <a:latin typeface="Cambria Math"/>
                      </a:rPr>
                      <m:t>𝑘</m:t>
                    </m:r>
                    <m:r>
                      <a:rPr lang="en-US" i="1" dirty="0" smtClean="0">
                        <a:latin typeface="Cambria Math"/>
                      </a:rPr>
                      <m:t>)</m:t>
                    </m:r>
                  </m:oMath>
                </a14:m>
                <a:r>
                  <a:rPr lang="en-US" dirty="0"/>
                  <a:t>, last subset (configuration) is </a:t>
                </a:r>
                <a14:m>
                  <m:oMath xmlns:m="http://schemas.openxmlformats.org/officeDocument/2006/math">
                    <m:r>
                      <a:rPr lang="en-US" i="1" dirty="0" smtClean="0">
                        <a:latin typeface="Cambria Math"/>
                      </a:rPr>
                      <m:t>(</m:t>
                    </m:r>
                    <m:r>
                      <a:rPr lang="en-US" b="0" i="1" dirty="0" smtClean="0">
                        <a:latin typeface="Cambria Math"/>
                      </a:rPr>
                      <m:t>𝑛</m:t>
                    </m:r>
                    <m:r>
                      <a:rPr lang="en-US" i="1" dirty="0" smtClean="0">
                        <a:latin typeface="Cambria Math"/>
                      </a:rPr>
                      <m:t>−</m:t>
                    </m:r>
                    <m:r>
                      <a:rPr lang="en-US" b="0" i="1" dirty="0" smtClean="0">
                        <a:latin typeface="Cambria Math"/>
                      </a:rPr>
                      <m:t>𝑘</m:t>
                    </m:r>
                    <m:r>
                      <a:rPr lang="en-US" i="1" dirty="0" smtClean="0">
                        <a:latin typeface="Cambria Math"/>
                      </a:rPr>
                      <m:t>+1,</m:t>
                    </m:r>
                    <m:r>
                      <a:rPr lang="en-US" b="0" i="1" dirty="0" smtClean="0">
                        <a:latin typeface="Cambria Math"/>
                      </a:rPr>
                      <m:t>.</m:t>
                    </m:r>
                    <m:r>
                      <a:rPr lang="en-US" i="1" dirty="0" smtClean="0">
                        <a:latin typeface="Cambria Math"/>
                      </a:rPr>
                      <m:t>..,</m:t>
                    </m:r>
                    <m:r>
                      <a:rPr lang="en-US" b="0" i="1" dirty="0" smtClean="0">
                        <a:latin typeface="Cambria Math"/>
                      </a:rPr>
                      <m:t>𝑛</m:t>
                    </m:r>
                    <m:r>
                      <a:rPr lang="en-US" i="1" dirty="0" smtClean="0">
                        <a:latin typeface="Cambria Math"/>
                      </a:rPr>
                      <m:t>)</m:t>
                    </m:r>
                  </m:oMath>
                </a14:m>
                <a:r>
                  <a:rPr lang="en-US" dirty="0"/>
                  <a:t>. So, condition 1 of the generation method is satisfied.</a:t>
                </a:r>
              </a:p>
              <a:p>
                <a:endParaRPr lang="en-US" dirty="0"/>
              </a:p>
            </p:txBody>
          </p:sp>
        </mc:Choice>
        <mc:Fallback>
          <p:sp>
            <p:nvSpPr>
              <p:cNvPr id="5" name="Content Placeholder 4"/>
              <p:cNvSpPr>
                <a:spLocks noGrp="1" noRot="1" noChangeAspect="1" noMove="1" noResize="1" noEditPoints="1" noAdjustHandles="1" noChangeArrowheads="1" noChangeShapeType="1" noTextEdit="1"/>
              </p:cNvSpPr>
              <p:nvPr>
                <p:ph sz="quarter" idx="1"/>
              </p:nvPr>
            </p:nvSpPr>
            <p:spPr>
              <a:xfrm>
                <a:off x="457200" y="1219200"/>
                <a:ext cx="8229600" cy="5105400"/>
              </a:xfrm>
              <a:blipFill>
                <a:blip r:embed="rId2"/>
                <a:stretch>
                  <a:fillRect l="-963" t="-1432" r="-963"/>
                </a:stretch>
              </a:blipFill>
            </p:spPr>
            <p:txBody>
              <a:bodyPr/>
              <a:lstStyle/>
              <a:p>
                <a:r>
                  <a:rPr lang="en-US">
                    <a:noFill/>
                  </a:rPr>
                  <a:t> </a:t>
                </a:r>
              </a:p>
            </p:txBody>
          </p:sp>
        </mc:Fallback>
      </mc:AlternateContent>
    </p:spTree>
    <p:extLst>
      <p:ext uri="{BB962C8B-B14F-4D97-AF65-F5344CB8AC3E}">
        <p14:creationId xmlns:p14="http://schemas.microsoft.com/office/powerpoint/2010/main" val="27422954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dirty="0"/>
                  <a:t>Next (combination) configuration generation algorithm</a:t>
                </a:r>
              </a:p>
              <a:p>
                <a:r>
                  <a:rPr lang="en-US" dirty="0"/>
                  <a:t>Assume the current configuration </a:t>
                </a:r>
                <a:r>
                  <a:rPr lang="en-US" dirty="0" err="1"/>
                  <a:t>is</a:t>
                </a:r>
                <a:r>
                  <a:rPr lang="en-US" dirty="0"/>
                  <a:t> </a:t>
                </a:r>
                <a14:m>
                  <m:oMath xmlns:m="http://schemas.openxmlformats.org/officeDocument/2006/math">
                    <m:r>
                      <a:rPr lang="en-US" i="1" dirty="0">
                        <a:latin typeface="Cambria Math"/>
                      </a:rPr>
                      <m:t>𝑋</m:t>
                    </m:r>
                    <m:r>
                      <a:rPr lang="en-US" i="1" dirty="0">
                        <a:latin typeface="Cambria Math"/>
                      </a:rPr>
                      <m:t>=(</m:t>
                    </m:r>
                    <m:r>
                      <a:rPr lang="en-US" i="1" dirty="0">
                        <a:latin typeface="Cambria Math"/>
                      </a:rPr>
                      <m:t>𝑥</m:t>
                    </m:r>
                    <m:r>
                      <a:rPr lang="en-US" i="1" baseline="-25000" dirty="0">
                        <a:latin typeface="Cambria Math"/>
                      </a:rPr>
                      <m:t>1</m:t>
                    </m:r>
                    <m:r>
                      <a:rPr lang="en-US" i="1" dirty="0">
                        <a:latin typeface="Cambria Math"/>
                      </a:rPr>
                      <m:t>,</m:t>
                    </m:r>
                    <m:r>
                      <a:rPr lang="en-US" i="1" dirty="0">
                        <a:latin typeface="Cambria Math"/>
                      </a:rPr>
                      <m:t>𝑥</m:t>
                    </m:r>
                    <m:r>
                      <a:rPr lang="en-US" i="1" baseline="-25000" dirty="0">
                        <a:latin typeface="Cambria Math"/>
                      </a:rPr>
                      <m:t>2</m:t>
                    </m:r>
                    <m:r>
                      <a:rPr lang="en-US" i="1" dirty="0">
                        <a:latin typeface="Cambria Math"/>
                      </a:rPr>
                      <m:t>,...,</m:t>
                    </m:r>
                    <m:sSub>
                      <m:sSubPr>
                        <m:ctrlPr>
                          <a:rPr lang="en-US" i="1" dirty="0" smtClean="0">
                            <a:latin typeface="Cambria Math" panose="02040503050406030204" pitchFamily="18" charset="0"/>
                          </a:rPr>
                        </m:ctrlPr>
                      </m:sSubPr>
                      <m:e>
                        <m:r>
                          <a:rPr lang="en-US" b="0" i="1" dirty="0" smtClean="0">
                            <a:latin typeface="Cambria Math"/>
                          </a:rPr>
                          <m:t>𝑥</m:t>
                        </m:r>
                      </m:e>
                      <m:sub>
                        <m:r>
                          <a:rPr lang="en-US" b="0" i="1" dirty="0" smtClean="0">
                            <a:latin typeface="Cambria Math"/>
                          </a:rPr>
                          <m:t>𝑘</m:t>
                        </m:r>
                      </m:sub>
                    </m:sSub>
                    <m:r>
                      <a:rPr lang="en-US" i="1" dirty="0">
                        <a:latin typeface="Cambria Math"/>
                      </a:rPr>
                      <m:t>)</m:t>
                    </m:r>
                  </m:oMath>
                </a14:m>
                <a:endParaRPr lang="en-US" dirty="0"/>
              </a:p>
              <a:p>
                <a:r>
                  <a:rPr lang="en-US" dirty="0"/>
                  <a:t>If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b="0" i="1" smtClean="0">
                            <a:latin typeface="Cambria Math"/>
                          </a:rPr>
                          <m:t>𝑖</m:t>
                        </m:r>
                      </m:sub>
                    </m:sSub>
                    <m:r>
                      <a:rPr lang="en-US" b="0" i="1" smtClean="0">
                        <a:latin typeface="Cambria Math"/>
                      </a:rPr>
                      <m:t>=</m:t>
                    </m:r>
                    <m:r>
                      <a:rPr lang="en-US" b="0" i="1" smtClean="0">
                        <a:latin typeface="Cambria Math"/>
                      </a:rPr>
                      <m:t>𝑛</m:t>
                    </m:r>
                    <m:r>
                      <a:rPr lang="en-US" b="0" i="1" smtClean="0">
                        <a:latin typeface="Cambria Math"/>
                      </a:rPr>
                      <m:t>−</m:t>
                    </m:r>
                    <m:r>
                      <a:rPr lang="en-US" b="0" i="1" smtClean="0">
                        <a:latin typeface="Cambria Math"/>
                      </a:rPr>
                      <m:t>𝑘</m:t>
                    </m:r>
                    <m:r>
                      <a:rPr lang="en-US" b="0" i="1" smtClean="0">
                        <a:latin typeface="Cambria Math"/>
                      </a:rPr>
                      <m:t>+</m:t>
                    </m:r>
                    <m:r>
                      <a:rPr lang="en-US" b="0" i="1" smtClean="0">
                        <a:latin typeface="Cambria Math"/>
                      </a:rPr>
                      <m:t>𝑖</m:t>
                    </m:r>
                  </m:oMath>
                </a14:m>
                <a:r>
                  <a:rPr lang="en-US" dirty="0"/>
                  <a:t> for all </a:t>
                </a:r>
                <a14:m>
                  <m:oMath xmlns:m="http://schemas.openxmlformats.org/officeDocument/2006/math">
                    <m:r>
                      <a:rPr lang="en-US" i="1" dirty="0" smtClean="0">
                        <a:latin typeface="Cambria Math"/>
                      </a:rPr>
                      <m:t>𝑖</m:t>
                    </m:r>
                    <m:r>
                      <a:rPr lang="en-US" i="1" dirty="0" smtClean="0">
                        <a:latin typeface="Cambria Math"/>
                      </a:rPr>
                      <m:t>=1,2,…,</m:t>
                    </m:r>
                    <m:r>
                      <a:rPr lang="en-US" i="1" dirty="0" smtClean="0">
                        <a:latin typeface="Cambria Math"/>
                      </a:rPr>
                      <m:t>𝑘</m:t>
                    </m:r>
                  </m:oMath>
                </a14:m>
                <a:r>
                  <a:rPr lang="en-US" dirty="0"/>
                  <a:t> then </a:t>
                </a:r>
                <a14:m>
                  <m:oMath xmlns:m="http://schemas.openxmlformats.org/officeDocument/2006/math">
                    <m:r>
                      <a:rPr lang="en-US" i="1" dirty="0" smtClean="0">
                        <a:latin typeface="Cambria Math"/>
                      </a:rPr>
                      <m:t>𝑋</m:t>
                    </m:r>
                  </m:oMath>
                </a14:m>
                <a:r>
                  <a:rPr lang="en-US" dirty="0"/>
                  <a:t> is the last configuration. Algorithm ends.</a:t>
                </a:r>
              </a:p>
              <a:p>
                <a:r>
                  <a:rPr lang="en-US" dirty="0"/>
                  <a:t>Let </a:t>
                </a:r>
                <a14:m>
                  <m:oMath xmlns:m="http://schemas.openxmlformats.org/officeDocument/2006/math">
                    <m:r>
                      <a:rPr lang="en-US" i="1" dirty="0" smtClean="0">
                        <a:latin typeface="Cambria Math"/>
                      </a:rPr>
                      <m:t>𝑡</m:t>
                    </m:r>
                  </m:oMath>
                </a14:m>
                <a:r>
                  <a:rPr lang="en-US" dirty="0"/>
                  <a:t> is the biggest index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𝑡</m:t>
                        </m:r>
                      </m:sub>
                    </m:sSub>
                  </m:oMath>
                </a14:m>
                <a:r>
                  <a:rPr lang="en-US" dirty="0"/>
                  <a:t> is the first number from right) so that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𝑥</m:t>
                        </m:r>
                      </m:e>
                      <m:sub>
                        <m:r>
                          <a:rPr lang="en-US" b="0" i="1" smtClean="0">
                            <a:latin typeface="Cambria Math"/>
                          </a:rPr>
                          <m:t>𝑡</m:t>
                        </m:r>
                      </m:sub>
                    </m:sSub>
                    <m:r>
                      <a:rPr lang="en-US" b="0" i="1" smtClean="0">
                        <a:latin typeface="Cambria Math"/>
                      </a:rPr>
                      <m:t>&lt;</m:t>
                    </m:r>
                    <m:r>
                      <a:rPr lang="en-US" i="1">
                        <a:latin typeface="Cambria Math"/>
                      </a:rPr>
                      <m:t>𝑛</m:t>
                    </m:r>
                    <m:r>
                      <a:rPr lang="en-US" i="1">
                        <a:latin typeface="Cambria Math"/>
                      </a:rPr>
                      <m:t>−</m:t>
                    </m:r>
                    <m:r>
                      <a:rPr lang="en-US" i="1">
                        <a:latin typeface="Cambria Math"/>
                      </a:rPr>
                      <m:t>𝑘</m:t>
                    </m:r>
                    <m:r>
                      <a:rPr lang="en-US" i="1">
                        <a:latin typeface="Cambria Math"/>
                      </a:rPr>
                      <m:t>+</m:t>
                    </m:r>
                    <m:r>
                      <a:rPr lang="en-US" b="0" i="1" smtClean="0">
                        <a:latin typeface="Cambria Math"/>
                      </a:rPr>
                      <m:t>𝑡</m:t>
                    </m:r>
                  </m:oMath>
                </a14:m>
                <a:r>
                  <a:rPr lang="en-US" dirty="0"/>
                  <a:t> </a:t>
                </a:r>
              </a:p>
              <a:p>
                <a:r>
                  <a:rPr lang="en-US" dirty="0"/>
                  <a:t>Next configuration </a:t>
                </a:r>
                <a14:m>
                  <m:oMath xmlns:m="http://schemas.openxmlformats.org/officeDocument/2006/math">
                    <m:r>
                      <a:rPr lang="en-US" i="1" dirty="0">
                        <a:latin typeface="Cambria Math"/>
                      </a:rPr>
                      <m:t>𝑌</m:t>
                    </m:r>
                    <m:r>
                      <a:rPr lang="en-US" i="1" dirty="0">
                        <a:latin typeface="Cambria Math"/>
                      </a:rPr>
                      <m:t>=(</m:t>
                    </m:r>
                    <m:r>
                      <a:rPr lang="en-US" i="1" dirty="0">
                        <a:latin typeface="Cambria Math"/>
                      </a:rPr>
                      <m:t>𝑦</m:t>
                    </m:r>
                    <m:r>
                      <a:rPr lang="en-US" i="1" baseline="-25000" dirty="0">
                        <a:latin typeface="Cambria Math"/>
                      </a:rPr>
                      <m:t>1</m:t>
                    </m:r>
                    <m:r>
                      <a:rPr lang="en-US" i="1" dirty="0">
                        <a:latin typeface="Cambria Math"/>
                      </a:rPr>
                      <m:t>,</m:t>
                    </m:r>
                    <m:r>
                      <a:rPr lang="en-US" i="1" dirty="0">
                        <a:latin typeface="Cambria Math"/>
                      </a:rPr>
                      <m:t>𝑦</m:t>
                    </m:r>
                    <m:r>
                      <a:rPr lang="en-US" i="1" baseline="-25000" dirty="0">
                        <a:latin typeface="Cambria Math"/>
                      </a:rPr>
                      <m:t>2</m:t>
                    </m:r>
                    <m:r>
                      <a:rPr lang="en-US" i="1" dirty="0">
                        <a:latin typeface="Cambria Math"/>
                      </a:rPr>
                      <m:t>,...,</m:t>
                    </m:r>
                    <m:sSub>
                      <m:sSubPr>
                        <m:ctrlPr>
                          <a:rPr lang="en-US" i="1" dirty="0" smtClean="0">
                            <a:latin typeface="Cambria Math" panose="02040503050406030204" pitchFamily="18" charset="0"/>
                          </a:rPr>
                        </m:ctrlPr>
                      </m:sSubPr>
                      <m:e>
                        <m:r>
                          <a:rPr lang="en-US" b="0" i="1" dirty="0" smtClean="0">
                            <a:latin typeface="Cambria Math"/>
                          </a:rPr>
                          <m:t>𝑦</m:t>
                        </m:r>
                      </m:e>
                      <m:sub>
                        <m:r>
                          <a:rPr lang="en-US" b="0" i="1" dirty="0" smtClean="0">
                            <a:latin typeface="Cambria Math"/>
                          </a:rPr>
                          <m:t>𝑘</m:t>
                        </m:r>
                      </m:sub>
                    </m:sSub>
                    <m:r>
                      <a:rPr lang="en-US" i="1" dirty="0">
                        <a:latin typeface="Cambria Math"/>
                      </a:rPr>
                      <m:t>)</m:t>
                    </m:r>
                  </m:oMath>
                </a14:m>
                <a:r>
                  <a:rPr lang="en-US" dirty="0"/>
                  <a:t> is generated as follows:</a:t>
                </a:r>
                <a:endParaRPr lang="en-US" i="1" dirty="0">
                  <a:latin typeface="Cambria Math"/>
                </a:endParaRPr>
              </a:p>
              <a:p>
                <a:pPr lvl="1"/>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𝑦</m:t>
                        </m:r>
                      </m:e>
                      <m:sub>
                        <m:r>
                          <a:rPr lang="en-US" b="0" i="1" smtClean="0">
                            <a:latin typeface="Cambria Math"/>
                          </a:rPr>
                          <m:t>𝑖</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𝑖</m:t>
                        </m:r>
                      </m:sub>
                    </m:sSub>
                  </m:oMath>
                </a14:m>
                <a:r>
                  <a:rPr lang="en-US" dirty="0"/>
                  <a:t> with </a:t>
                </a:r>
                <a14:m>
                  <m:oMath xmlns:m="http://schemas.openxmlformats.org/officeDocument/2006/math">
                    <m:r>
                      <a:rPr lang="en-US" b="0" i="1" smtClean="0">
                        <a:latin typeface="Cambria Math"/>
                      </a:rPr>
                      <m:t>𝑖</m:t>
                    </m:r>
                    <m:r>
                      <a:rPr lang="en-US" b="0" i="1" smtClean="0">
                        <a:latin typeface="Cambria Math"/>
                      </a:rPr>
                      <m:t>&lt;</m:t>
                    </m:r>
                    <m:r>
                      <a:rPr lang="en-US" b="0" i="1" smtClean="0">
                        <a:latin typeface="Cambria Math"/>
                      </a:rPr>
                      <m:t>𝑡</m:t>
                    </m:r>
                  </m:oMath>
                </a14:m>
                <a:r>
                  <a:rPr lang="en-US" dirty="0"/>
                  <a:t>, </a:t>
                </a:r>
              </a:p>
              <a:p>
                <a:pPr lvl="1"/>
                <a14:m>
                  <m:oMath xmlns:m="http://schemas.openxmlformats.org/officeDocument/2006/math">
                    <m:sSub>
                      <m:sSubPr>
                        <m:ctrlPr>
                          <a:rPr lang="en-US" i="1">
                            <a:latin typeface="Cambria Math" panose="02040503050406030204" pitchFamily="18" charset="0"/>
                          </a:rPr>
                        </m:ctrlPr>
                      </m:sSubPr>
                      <m:e>
                        <m:sSub>
                          <m:sSubPr>
                            <m:ctrlPr>
                              <a:rPr lang="en-US" i="1" smtClean="0">
                                <a:latin typeface="Cambria Math" panose="02040503050406030204" pitchFamily="18" charset="0"/>
                              </a:rPr>
                            </m:ctrlPr>
                          </m:sSubPr>
                          <m:e>
                            <m:r>
                              <a:rPr lang="en-US" b="0" i="1" smtClean="0">
                                <a:latin typeface="Cambria Math"/>
                              </a:rPr>
                              <m:t>𝑦</m:t>
                            </m:r>
                          </m:e>
                          <m:sub>
                            <m:r>
                              <a:rPr lang="en-US" b="0" i="1" smtClean="0">
                                <a:latin typeface="Cambria Math"/>
                              </a:rPr>
                              <m:t>𝑡</m:t>
                            </m:r>
                          </m:sub>
                        </m:sSub>
                        <m:r>
                          <a:rPr lang="en-US" b="0" i="1" smtClean="0">
                            <a:latin typeface="Cambria Math"/>
                          </a:rPr>
                          <m:t>=</m:t>
                        </m:r>
                        <m:r>
                          <a:rPr lang="en-US" i="1">
                            <a:latin typeface="Cambria Math"/>
                          </a:rPr>
                          <m:t>𝑥</m:t>
                        </m:r>
                      </m:e>
                      <m:sub>
                        <m:r>
                          <a:rPr lang="en-US" i="1">
                            <a:latin typeface="Cambria Math"/>
                          </a:rPr>
                          <m:t>𝑡</m:t>
                        </m:r>
                      </m:sub>
                    </m:sSub>
                    <m:r>
                      <a:rPr lang="en-US" b="0" i="1" smtClean="0">
                        <a:latin typeface="Cambria Math"/>
                      </a:rPr>
                      <m:t>+1</m:t>
                    </m:r>
                  </m:oMath>
                </a14:m>
                <a:r>
                  <a:rPr lang="en-US" dirty="0"/>
                  <a:t>, </a:t>
                </a:r>
                <a:endParaRPr lang="en-US" i="1" dirty="0">
                  <a:latin typeface="Cambria Math"/>
                </a:endParaRPr>
              </a:p>
              <a:p>
                <a:pPr lvl="1"/>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𝑦</m:t>
                        </m:r>
                      </m:e>
                      <m:sub>
                        <m:r>
                          <a:rPr lang="en-US" b="0" i="1" smtClean="0">
                            <a:latin typeface="Cambria Math"/>
                          </a:rPr>
                          <m:t>𝑖</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𝑦</m:t>
                        </m:r>
                      </m:e>
                      <m:sub>
                        <m:r>
                          <a:rPr lang="en-US" b="0" i="1" smtClean="0">
                            <a:latin typeface="Cambria Math"/>
                          </a:rPr>
                          <m:t>𝑡</m:t>
                        </m:r>
                      </m:sub>
                    </m:sSub>
                    <m:r>
                      <a:rPr lang="en-US" b="0" i="1" smtClean="0">
                        <a:latin typeface="Cambria Math"/>
                      </a:rPr>
                      <m:t>+</m:t>
                    </m:r>
                    <m:r>
                      <a:rPr lang="en-US" i="1" dirty="0" smtClean="0">
                        <a:latin typeface="Cambria Math"/>
                      </a:rPr>
                      <m:t>(</m:t>
                    </m:r>
                    <m:r>
                      <a:rPr lang="en-US" i="1" dirty="0" smtClean="0">
                        <a:latin typeface="Cambria Math"/>
                      </a:rPr>
                      <m:t>𝑖</m:t>
                    </m:r>
                    <m:r>
                      <a:rPr lang="en-US" i="1" dirty="0" smtClean="0">
                        <a:latin typeface="Cambria Math"/>
                      </a:rPr>
                      <m:t>−</m:t>
                    </m:r>
                    <m:r>
                      <a:rPr lang="en-US" i="1" dirty="0" smtClean="0">
                        <a:latin typeface="Cambria Math"/>
                      </a:rPr>
                      <m:t>𝑡</m:t>
                    </m:r>
                    <m:r>
                      <a:rPr lang="en-US" i="1" dirty="0" smtClean="0">
                        <a:latin typeface="Cambria Math"/>
                      </a:rPr>
                      <m:t>) </m:t>
                    </m:r>
                  </m:oMath>
                </a14:m>
                <a:r>
                  <a:rPr lang="en-US" dirty="0"/>
                  <a:t>with </a:t>
                </a:r>
                <a14:m>
                  <m:oMath xmlns:m="http://schemas.openxmlformats.org/officeDocument/2006/math">
                    <m:r>
                      <a:rPr lang="en-US" i="1">
                        <a:latin typeface="Cambria Math"/>
                      </a:rPr>
                      <m:t>𝑖</m:t>
                    </m:r>
                    <m:r>
                      <a:rPr lang="en-US" b="0" i="1" smtClean="0">
                        <a:latin typeface="Cambria Math"/>
                      </a:rPr>
                      <m:t>&gt;</m:t>
                    </m:r>
                    <m:r>
                      <a:rPr lang="en-US" i="1">
                        <a:latin typeface="Cambria Math"/>
                      </a:rPr>
                      <m:t>𝑡</m:t>
                    </m:r>
                  </m:oMath>
                </a14:m>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a:stretch>
              </a:blipFill>
            </p:spPr>
            <p:txBody>
              <a:bodyPr/>
              <a:lstStyle/>
              <a:p>
                <a:r>
                  <a:rPr lang="en-US">
                    <a:noFill/>
                  </a:rPr>
                  <a:t> </a:t>
                </a:r>
              </a:p>
            </p:txBody>
          </p:sp>
        </mc:Fallback>
      </mc:AlternateContent>
    </p:spTree>
    <p:extLst>
      <p:ext uri="{BB962C8B-B14F-4D97-AF65-F5344CB8AC3E}">
        <p14:creationId xmlns:p14="http://schemas.microsoft.com/office/powerpoint/2010/main" val="755505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457200" y="1219200"/>
                <a:ext cx="8229600" cy="5105400"/>
              </a:xfrm>
            </p:spPr>
            <p:txBody>
              <a:bodyPr>
                <a:normAutofit fontScale="85000" lnSpcReduction="20000"/>
              </a:bodyPr>
              <a:lstStyle/>
              <a:p>
                <a:pPr algn="just"/>
                <a:r>
                  <a:rPr lang="en-US" b="1" dirty="0"/>
                  <a:t>Exercise 6.</a:t>
                </a:r>
                <a:r>
                  <a:rPr lang="en-US" dirty="0"/>
                  <a:t> Given number sequence </a:t>
                </a:r>
                <a14:m>
                  <m:oMath xmlns:m="http://schemas.openxmlformats.org/officeDocument/2006/math">
                    <m:r>
                      <a:rPr lang="en-US" i="1" dirty="0">
                        <a:latin typeface="Cambria Math"/>
                      </a:rPr>
                      <m:t>𝐴</m:t>
                    </m:r>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𝑎</m:t>
                        </m:r>
                      </m:e>
                      <m:sub>
                        <m:r>
                          <a:rPr lang="en-US" i="1" dirty="0">
                            <a:latin typeface="Cambria Math"/>
                          </a:rPr>
                          <m:t>1</m:t>
                        </m:r>
                      </m:sub>
                    </m:sSub>
                    <m:r>
                      <a:rPr lang="en-US" i="1" dirty="0">
                        <a:latin typeface="Cambria Math"/>
                      </a:rPr>
                      <m:t>, </m:t>
                    </m:r>
                    <m:sSub>
                      <m:sSubPr>
                        <m:ctrlPr>
                          <a:rPr lang="en-US" i="1" dirty="0">
                            <a:latin typeface="Cambria Math" panose="02040503050406030204" pitchFamily="18" charset="0"/>
                          </a:rPr>
                        </m:ctrlPr>
                      </m:sSubPr>
                      <m:e>
                        <m:r>
                          <a:rPr lang="en-US" i="1" dirty="0">
                            <a:latin typeface="Cambria Math"/>
                          </a:rPr>
                          <m:t>𝑎</m:t>
                        </m:r>
                      </m:e>
                      <m:sub>
                        <m:r>
                          <a:rPr lang="en-US" i="1" dirty="0">
                            <a:latin typeface="Cambria Math"/>
                          </a:rPr>
                          <m:t>2</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𝑎</m:t>
                        </m:r>
                      </m:e>
                      <m:sub>
                        <m:r>
                          <a:rPr lang="en-US" i="1" dirty="0">
                            <a:latin typeface="Cambria Math"/>
                          </a:rPr>
                          <m:t>𝑛</m:t>
                        </m:r>
                      </m:sub>
                    </m:sSub>
                    <m:r>
                      <a:rPr lang="en-US" i="1" dirty="0">
                        <a:latin typeface="Cambria Math"/>
                      </a:rPr>
                      <m:t>) </m:t>
                    </m:r>
                  </m:oMath>
                </a14:m>
                <a:r>
                  <a:rPr lang="en-US" dirty="0"/>
                  <a:t>and a natural number </a:t>
                </a:r>
                <a14:m>
                  <m:oMath xmlns:m="http://schemas.openxmlformats.org/officeDocument/2006/math">
                    <m:r>
                      <a:rPr lang="en-US" b="0" i="1" dirty="0" smtClean="0">
                        <a:latin typeface="Cambria Math"/>
                      </a:rPr>
                      <m:t>𝑃</m:t>
                    </m:r>
                    <m:r>
                      <a:rPr lang="en-US" b="0" i="1" dirty="0" smtClean="0">
                        <a:latin typeface="Cambria Math"/>
                      </a:rPr>
                      <m:t>. </m:t>
                    </m:r>
                  </m:oMath>
                </a14:m>
                <a:r>
                  <a:rPr lang="en-US" dirty="0"/>
                  <a:t>List all subsets of </a:t>
                </a:r>
                <a14:m>
                  <m:oMath xmlns:m="http://schemas.openxmlformats.org/officeDocument/2006/math">
                    <m:r>
                      <a:rPr lang="en-US" i="1" dirty="0" smtClean="0">
                        <a:latin typeface="Cambria Math"/>
                      </a:rPr>
                      <m:t>𝑘</m:t>
                    </m:r>
                  </m:oMath>
                </a14:m>
                <a:r>
                  <a:rPr lang="en-US" dirty="0"/>
                  <a:t> elements </a:t>
                </a:r>
                <a:r>
                  <a:rPr lang="en-US" dirty="0" err="1"/>
                  <a:t>of</a:t>
                </a:r>
                <a:r>
                  <a:rPr lang="en-US" dirty="0"/>
                  <a:t> </a:t>
                </a:r>
                <a14:m>
                  <m:oMath xmlns:m="http://schemas.openxmlformats.org/officeDocument/2006/math">
                    <m:r>
                      <a:rPr lang="en-US" i="1" dirty="0" smtClean="0">
                        <a:latin typeface="Cambria Math"/>
                      </a:rPr>
                      <m:t>𝐴</m:t>
                    </m:r>
                  </m:oMath>
                </a14:m>
                <a:r>
                  <a:rPr lang="en-US" dirty="0"/>
                  <a:t> so that sum of all elements in that subset is exactly </a:t>
                </a:r>
                <a14:m>
                  <m:oMath xmlns:m="http://schemas.openxmlformats.org/officeDocument/2006/math">
                    <m:r>
                      <a:rPr lang="en-US" i="1" dirty="0" smtClean="0">
                        <a:latin typeface="Cambria Math"/>
                      </a:rPr>
                      <m:t>𝑃</m:t>
                    </m:r>
                  </m:oMath>
                </a14:m>
                <a:r>
                  <a:rPr lang="en-US" dirty="0"/>
                  <a:t>.</a:t>
                </a:r>
              </a:p>
              <a:p>
                <a:pPr marL="0" indent="0">
                  <a:buNone/>
                </a:pPr>
                <a:r>
                  <a:rPr lang="en-US" dirty="0"/>
                  <a:t>For example: </a:t>
                </a:r>
                <a14:m>
                  <m:oMath xmlns:m="http://schemas.openxmlformats.org/officeDocument/2006/math">
                    <m:r>
                      <a:rPr lang="en-US" i="1" dirty="0" smtClean="0">
                        <a:latin typeface="Cambria Math"/>
                      </a:rPr>
                      <m:t>𝐴</m:t>
                    </m:r>
                    <m:r>
                      <a:rPr lang="en-US" i="1" dirty="0" smtClean="0">
                        <a:latin typeface="Cambria Math"/>
                      </a:rPr>
                      <m:t> = (5, 10, 15, 20, 25, 30, 35)</m:t>
                    </m:r>
                  </m:oMath>
                </a14:m>
                <a:r>
                  <a:rPr lang="en-US" dirty="0"/>
                  <a:t>, </a:t>
                </a:r>
                <a14:m>
                  <m:oMath xmlns:m="http://schemas.openxmlformats.org/officeDocument/2006/math">
                    <m:r>
                      <a:rPr lang="en-US" i="1" dirty="0" smtClean="0">
                        <a:latin typeface="Cambria Math"/>
                      </a:rPr>
                      <m:t>𝑛</m:t>
                    </m:r>
                    <m:r>
                      <a:rPr lang="en-US" i="1" dirty="0">
                        <a:latin typeface="Cambria Math"/>
                      </a:rPr>
                      <m:t>=7, </m:t>
                    </m:r>
                    <m:r>
                      <a:rPr lang="en-US" i="1" dirty="0" smtClean="0">
                        <a:latin typeface="Cambria Math"/>
                      </a:rPr>
                      <m:t>𝑘</m:t>
                    </m:r>
                    <m:r>
                      <a:rPr lang="en-US" i="1" dirty="0">
                        <a:latin typeface="Cambria Math"/>
                      </a:rPr>
                      <m:t>=3, </m:t>
                    </m:r>
                    <m:r>
                      <a:rPr lang="en-US" i="1" dirty="0">
                        <a:latin typeface="Cambria Math"/>
                      </a:rPr>
                      <m:t>𝑃</m:t>
                    </m:r>
                    <m:r>
                      <a:rPr lang="en-US" i="1" dirty="0">
                        <a:latin typeface="Cambria Math"/>
                      </a:rPr>
                      <m:t>=50  </m:t>
                    </m:r>
                  </m:oMath>
                </a14:m>
                <a:r>
                  <a:rPr lang="en-US" dirty="0"/>
                  <a:t>we have following subsets:</a:t>
                </a:r>
              </a:p>
              <a:p>
                <a:pPr marL="0" indent="0">
                  <a:buNone/>
                </a:pPr>
                <a:r>
                  <a:rPr lang="en-US" dirty="0"/>
                  <a:t>	(5, 10, 35),</a:t>
                </a:r>
              </a:p>
              <a:p>
                <a:pPr marL="0" indent="0">
                  <a:buNone/>
                </a:pPr>
                <a:r>
                  <a:rPr lang="en-US" dirty="0"/>
                  <a:t>	(5, 20, 25),</a:t>
                </a:r>
              </a:p>
              <a:p>
                <a:pPr marL="0" indent="0">
                  <a:buNone/>
                </a:pPr>
                <a:r>
                  <a:rPr lang="en-US" dirty="0"/>
                  <a:t>	(10, 15, 25),</a:t>
                </a:r>
              </a:p>
              <a:p>
                <a:pPr marL="0" indent="0">
                  <a:buNone/>
                </a:pPr>
                <a:r>
                  <a:rPr lang="en-US" dirty="0"/>
                  <a:t>            …</a:t>
                </a:r>
              </a:p>
              <a:p>
                <a:r>
                  <a:rPr lang="en-US" b="1" dirty="0"/>
                  <a:t>Exercise 7.</a:t>
                </a:r>
                <a:r>
                  <a:rPr lang="en-US" dirty="0"/>
                  <a:t> Given number sequence </a:t>
                </a:r>
                <a14:m>
                  <m:oMath xmlns:m="http://schemas.openxmlformats.org/officeDocument/2006/math">
                    <m:r>
                      <a:rPr lang="en-US" i="1" dirty="0">
                        <a:latin typeface="Cambria Math"/>
                      </a:rPr>
                      <m:t>𝐴</m:t>
                    </m:r>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𝑎</m:t>
                        </m:r>
                      </m:e>
                      <m:sub>
                        <m:r>
                          <a:rPr lang="en-US" i="1" dirty="0">
                            <a:latin typeface="Cambria Math"/>
                          </a:rPr>
                          <m:t>1</m:t>
                        </m:r>
                      </m:sub>
                    </m:sSub>
                    <m:r>
                      <a:rPr lang="en-US" i="1" dirty="0">
                        <a:latin typeface="Cambria Math"/>
                      </a:rPr>
                      <m:t>, </m:t>
                    </m:r>
                    <m:sSub>
                      <m:sSubPr>
                        <m:ctrlPr>
                          <a:rPr lang="en-US" i="1" dirty="0">
                            <a:latin typeface="Cambria Math" panose="02040503050406030204" pitchFamily="18" charset="0"/>
                          </a:rPr>
                        </m:ctrlPr>
                      </m:sSubPr>
                      <m:e>
                        <m:r>
                          <a:rPr lang="en-US" i="1" dirty="0">
                            <a:latin typeface="Cambria Math"/>
                          </a:rPr>
                          <m:t>𝑎</m:t>
                        </m:r>
                      </m:e>
                      <m:sub>
                        <m:r>
                          <a:rPr lang="en-US" i="1" dirty="0">
                            <a:latin typeface="Cambria Math"/>
                          </a:rPr>
                          <m:t>2</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𝑎</m:t>
                        </m:r>
                      </m:e>
                      <m:sub>
                        <m:r>
                          <a:rPr lang="en-US" i="1" dirty="0">
                            <a:latin typeface="Cambria Math"/>
                          </a:rPr>
                          <m:t>𝑛</m:t>
                        </m:r>
                      </m:sub>
                    </m:sSub>
                    <m:r>
                      <a:rPr lang="en-US" i="1" dirty="0">
                        <a:latin typeface="Cambria Math"/>
                      </a:rPr>
                      <m:t>)</m:t>
                    </m:r>
                  </m:oMath>
                </a14:m>
                <a:r>
                  <a:rPr lang="en-US" dirty="0"/>
                  <a:t>. List all subsets of </a:t>
                </a:r>
                <a14:m>
                  <m:oMath xmlns:m="http://schemas.openxmlformats.org/officeDocument/2006/math">
                    <m:r>
                      <a:rPr lang="en-US" b="0" i="1" dirty="0" smtClean="0">
                        <a:latin typeface="Cambria Math"/>
                      </a:rPr>
                      <m:t>𝑘</m:t>
                    </m:r>
                  </m:oMath>
                </a14:m>
                <a:r>
                  <a:rPr lang="en-US" dirty="0"/>
                  <a:t> naturally increasing elements of the sequence </a:t>
                </a:r>
                <a14:m>
                  <m:oMath xmlns:m="http://schemas.openxmlformats.org/officeDocument/2006/math">
                    <m:r>
                      <a:rPr lang="en-US" i="1" dirty="0" smtClean="0">
                        <a:latin typeface="Cambria Math"/>
                      </a:rPr>
                      <m:t>𝐴</m:t>
                    </m:r>
                  </m:oMath>
                </a14:m>
                <a:r>
                  <a:rPr lang="en-US" dirty="0"/>
                  <a:t>.</a:t>
                </a:r>
              </a:p>
              <a:p>
                <a:pPr marL="0" indent="0">
                  <a:buNone/>
                </a:pPr>
                <a:r>
                  <a:rPr lang="en-US" dirty="0"/>
                  <a:t>For example: </a:t>
                </a:r>
                <a14:m>
                  <m:oMath xmlns:m="http://schemas.openxmlformats.org/officeDocument/2006/math">
                    <m:r>
                      <a:rPr lang="en-US" i="1" dirty="0" smtClean="0">
                        <a:latin typeface="Cambria Math"/>
                      </a:rPr>
                      <m:t>𝐴</m:t>
                    </m:r>
                    <m:r>
                      <a:rPr lang="en-US" i="1" dirty="0" smtClean="0">
                        <a:latin typeface="Cambria Math"/>
                      </a:rPr>
                      <m:t> = (1, 3, 2, 4, 5), </m:t>
                    </m:r>
                    <m:r>
                      <a:rPr lang="en-US" b="0" i="1" dirty="0" smtClean="0">
                        <a:latin typeface="Cambria Math"/>
                      </a:rPr>
                      <m:t>𝑛</m:t>
                    </m:r>
                    <m:r>
                      <a:rPr lang="en-US" i="1" dirty="0" smtClean="0">
                        <a:latin typeface="Cambria Math"/>
                      </a:rPr>
                      <m:t>=5, </m:t>
                    </m:r>
                    <m:r>
                      <a:rPr lang="en-US" b="0" i="1" dirty="0" smtClean="0">
                        <a:latin typeface="Cambria Math"/>
                      </a:rPr>
                      <m:t>𝑘</m:t>
                    </m:r>
                    <m:r>
                      <a:rPr lang="en-US" i="1" dirty="0" smtClean="0">
                        <a:latin typeface="Cambria Math"/>
                      </a:rPr>
                      <m:t>=3  </m:t>
                    </m:r>
                  </m:oMath>
                </a14:m>
                <a:r>
                  <a:rPr lang="en-US" dirty="0"/>
                  <a:t>we have naturally increasing subset below :</a:t>
                </a:r>
              </a:p>
              <a:p>
                <a:pPr marL="0" indent="0">
                  <a:buNone/>
                </a:pPr>
                <a:r>
                  <a:rPr lang="en-US" dirty="0"/>
                  <a:t>		(1, 3, 4),</a:t>
                </a:r>
              </a:p>
              <a:p>
                <a:pPr marL="0" indent="0">
                  <a:buNone/>
                </a:pPr>
                <a:r>
                  <a:rPr lang="en-US" dirty="0"/>
                  <a:t>		(1, 3, 5),</a:t>
                </a:r>
              </a:p>
              <a:p>
                <a:pPr marL="0" indent="0">
                  <a:buNone/>
                </a:pPr>
                <a:r>
                  <a:rPr lang="en-US" dirty="0"/>
                  <a:t>		(1, 2, 4),</a:t>
                </a:r>
              </a:p>
              <a:p>
                <a:pPr marL="0" indent="0">
                  <a:buNone/>
                </a:pPr>
                <a:r>
                  <a:rPr lang="en-US" dirty="0"/>
                  <a:t>                       …</a:t>
                </a: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457200" y="1219200"/>
                <a:ext cx="8229600" cy="5105400"/>
              </a:xfrm>
              <a:blipFill>
                <a:blip r:embed="rId2"/>
                <a:stretch>
                  <a:fillRect l="-741" t="-1790" r="-741" b="-1551"/>
                </a:stretch>
              </a:blipFill>
            </p:spPr>
            <p:txBody>
              <a:bodyPr/>
              <a:lstStyle/>
              <a:p>
                <a:r>
                  <a:rPr lang="en-US">
                    <a:noFill/>
                  </a:rPr>
                  <a:t> </a:t>
                </a:r>
              </a:p>
            </p:txBody>
          </p:sp>
        </mc:Fallback>
      </mc:AlternateContent>
    </p:spTree>
    <p:extLst>
      <p:ext uri="{BB962C8B-B14F-4D97-AF65-F5344CB8AC3E}">
        <p14:creationId xmlns:p14="http://schemas.microsoft.com/office/powerpoint/2010/main" val="469730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4</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dirty="0"/>
                  <a:t>List permutations of </a:t>
                </a:r>
                <a14:m>
                  <m:oMath xmlns:m="http://schemas.openxmlformats.org/officeDocument/2006/math">
                    <m:r>
                      <a:rPr lang="en-US" i="1" dirty="0" smtClean="0">
                        <a:latin typeface="Cambria Math"/>
                      </a:rPr>
                      <m:t>1,2,…,</m:t>
                    </m:r>
                    <m:r>
                      <a:rPr lang="en-US" i="1" dirty="0" smtClean="0">
                        <a:latin typeface="Cambria Math"/>
                      </a:rPr>
                      <m:t>𝑛</m:t>
                    </m:r>
                  </m:oMath>
                </a14:m>
                <a:r>
                  <a:rPr lang="en-US" dirty="0"/>
                  <a:t>.</a:t>
                </a:r>
              </a:p>
              <a:p>
                <a:pPr marL="0" indent="0" algn="just">
                  <a:buNone/>
                </a:pPr>
                <a:r>
                  <a:rPr lang="en-US" dirty="0"/>
                  <a:t>Each permutation of </a:t>
                </a:r>
                <a14:m>
                  <m:oMath xmlns:m="http://schemas.openxmlformats.org/officeDocument/2006/math">
                    <m:r>
                      <a:rPr lang="en-US" i="1" dirty="0" smtClean="0">
                        <a:latin typeface="Cambria Math"/>
                      </a:rPr>
                      <m:t>1,2,…,</m:t>
                    </m:r>
                    <m:r>
                      <a:rPr lang="en-US" i="1" dirty="0" smtClean="0">
                        <a:latin typeface="Cambria Math"/>
                      </a:rPr>
                      <m:t>𝑛</m:t>
                    </m:r>
                  </m:oMath>
                </a14:m>
                <a:r>
                  <a:rPr lang="en-US" dirty="0"/>
                  <a:t> is a way to arrange by order of </a:t>
                </a:r>
                <a14:m>
                  <m:oMath xmlns:m="http://schemas.openxmlformats.org/officeDocument/2006/math">
                    <m:r>
                      <a:rPr lang="en-US" i="1" dirty="0" smtClean="0">
                        <a:latin typeface="Cambria Math"/>
                      </a:rPr>
                      <m:t>1,2,…,</m:t>
                    </m:r>
                    <m:r>
                      <a:rPr lang="en-US" i="1" dirty="0" smtClean="0">
                        <a:latin typeface="Cambria Math"/>
                      </a:rPr>
                      <m:t>𝑛</m:t>
                    </m:r>
                  </m:oMath>
                </a14:m>
                <a:r>
                  <a:rPr lang="en-US" dirty="0"/>
                  <a:t>. Number of permutations is </a:t>
                </a:r>
                <a14:m>
                  <m:oMath xmlns:m="http://schemas.openxmlformats.org/officeDocument/2006/math">
                    <m:r>
                      <a:rPr lang="en-US" i="1" dirty="0" smtClean="0">
                        <a:latin typeface="Cambria Math"/>
                      </a:rPr>
                      <m:t>𝑛</m:t>
                    </m:r>
                    <m:r>
                      <a:rPr lang="en-US" i="1" dirty="0" smtClean="0">
                        <a:latin typeface="Cambria Math"/>
                      </a:rPr>
                      <m:t>!</m:t>
                    </m:r>
                  </m:oMath>
                </a14:m>
                <a:r>
                  <a:rPr lang="en-US" dirty="0"/>
                  <a:t>. For example, with </a:t>
                </a:r>
                <a14:m>
                  <m:oMath xmlns:m="http://schemas.openxmlformats.org/officeDocument/2006/math">
                    <m:r>
                      <a:rPr lang="en-US" i="1" dirty="0" smtClean="0">
                        <a:latin typeface="Cambria Math"/>
                      </a:rPr>
                      <m:t>𝑛</m:t>
                    </m:r>
                    <m:r>
                      <a:rPr lang="en-US" i="1" dirty="0" smtClean="0">
                        <a:latin typeface="Cambria Math"/>
                      </a:rPr>
                      <m:t>=3</m:t>
                    </m:r>
                  </m:oMath>
                </a14:m>
                <a:r>
                  <a:rPr lang="en-US" dirty="0"/>
                  <a:t> we have 6 following permutations:</a:t>
                </a: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1111" t="-1111" r="-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Group 48"/>
              <p:cNvGraphicFramePr>
                <a:graphicFrameLocks noGrp="1"/>
              </p:cNvGraphicFramePr>
              <p:nvPr>
                <p:extLst>
                  <p:ext uri="{D42A27DB-BD31-4B8C-83A1-F6EECF244321}">
                    <p14:modId xmlns:p14="http://schemas.microsoft.com/office/powerpoint/2010/main" val="4158799061"/>
                  </p:ext>
                </p:extLst>
              </p:nvPr>
            </p:nvGraphicFramePr>
            <p:xfrm>
              <a:off x="1447800" y="3200400"/>
              <a:ext cx="6096000" cy="2776535"/>
            </p:xfrm>
            <a:graphic>
              <a:graphicData uri="http://schemas.openxmlformats.org/drawingml/2006/table">
                <a:tbl>
                  <a:tblPr/>
                  <a:tblGrid>
                    <a:gridCol w="990600">
                      <a:extLst>
                        <a:ext uri="{9D8B030D-6E8A-4147-A177-3AD203B41FA5}">
                          <a16:colId xmlns:a16="http://schemas.microsoft.com/office/drawing/2014/main" val="20000"/>
                        </a:ext>
                      </a:extLst>
                    </a:gridCol>
                    <a:gridCol w="5105400">
                      <a:extLst>
                        <a:ext uri="{9D8B030D-6E8A-4147-A177-3AD203B41FA5}">
                          <a16:colId xmlns:a16="http://schemas.microsoft.com/office/drawing/2014/main" val="20001"/>
                        </a:ext>
                      </a:extLst>
                    </a:gridCol>
                  </a:tblGrid>
                  <a:tr h="396920">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cs typeface="Arial" charset="0"/>
                            </a:rPr>
                            <a:t>STT</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lang="en-US" sz="2000" dirty="0">
                              <a:latin typeface="Tahoma" panose="020B0604030504040204" pitchFamily="34" charset="0"/>
                              <a:ea typeface="Tahoma" panose="020B0604030504040204" pitchFamily="34" charset="0"/>
                              <a:cs typeface="Tahoma" panose="020B0604030504040204" pitchFamily="34" charset="0"/>
                            </a:rPr>
                            <a:t>Permutation</a:t>
                          </a:r>
                          <a:r>
                            <a:rPr kumimoji="0" lang="en-US" sz="2000" b="0" i="0" u="none" strike="noStrike" cap="none" normalizeH="0" baseline="0" dirty="0">
                              <a:ln>
                                <a:noFill/>
                              </a:ln>
                              <a:solidFill>
                                <a:srgbClr val="404040"/>
                              </a:solidFill>
                              <a:effectLst/>
                              <a:latin typeface="Trebuchet MS" pitchFamily="34" charset="0"/>
                              <a:cs typeface="Arial" charset="0"/>
                            </a:rPr>
                            <a:t> </a:t>
                          </a:r>
                          <a14:m>
                            <m:oMath xmlns:m="http://schemas.openxmlformats.org/officeDocument/2006/math">
                              <m:r>
                                <a:rPr kumimoji="0" lang="en-US" sz="2000" b="0" i="1" u="none" strike="noStrike" cap="none" normalizeH="0" baseline="0" dirty="0" smtClean="0">
                                  <a:ln>
                                    <a:noFill/>
                                  </a:ln>
                                  <a:solidFill>
                                    <a:srgbClr val="404040"/>
                                  </a:solidFill>
                                  <a:effectLst/>
                                  <a:latin typeface="Cambria Math"/>
                                  <a:cs typeface="Arial" charset="0"/>
                                </a:rPr>
                                <m:t>𝑋</m:t>
                              </m:r>
                              <m:r>
                                <a:rPr kumimoji="0" lang="en-US" sz="2000" b="0" i="1" u="none" strike="noStrike" cap="none" normalizeH="0" baseline="0" dirty="0" smtClean="0">
                                  <a:ln>
                                    <a:noFill/>
                                  </a:ln>
                                  <a:solidFill>
                                    <a:srgbClr val="404040"/>
                                  </a:solidFill>
                                  <a:effectLst/>
                                  <a:latin typeface="Cambria Math"/>
                                  <a:cs typeface="Arial" charset="0"/>
                                </a:rPr>
                                <m:t>=(</m:t>
                              </m:r>
                              <m:r>
                                <a:rPr kumimoji="0" lang="en-US" sz="2000" b="0" i="1" u="none" strike="noStrike" cap="none" normalizeH="0" baseline="0" dirty="0" smtClean="0">
                                  <a:ln>
                                    <a:noFill/>
                                  </a:ln>
                                  <a:solidFill>
                                    <a:srgbClr val="404040"/>
                                  </a:solidFill>
                                  <a:effectLst/>
                                  <a:latin typeface="Cambria Math"/>
                                  <a:cs typeface="Arial" charset="0"/>
                                </a:rPr>
                                <m:t>𝑥</m:t>
                              </m:r>
                              <m:r>
                                <a:rPr kumimoji="0" lang="en-US" sz="2000" b="0" i="1" u="none" strike="noStrike" cap="none" normalizeH="0" baseline="-25000" dirty="0" smtClean="0">
                                  <a:ln>
                                    <a:noFill/>
                                  </a:ln>
                                  <a:solidFill>
                                    <a:srgbClr val="404040"/>
                                  </a:solidFill>
                                  <a:effectLst/>
                                  <a:latin typeface="Cambria Math"/>
                                  <a:cs typeface="Arial" charset="0"/>
                                </a:rPr>
                                <m:t>1</m:t>
                              </m:r>
                              <m:r>
                                <a:rPr kumimoji="0" lang="en-US" sz="2000" b="0" i="1" u="none" strike="noStrike" cap="none" normalizeH="0" baseline="0" dirty="0" smtClean="0">
                                  <a:ln>
                                    <a:noFill/>
                                  </a:ln>
                                  <a:solidFill>
                                    <a:srgbClr val="404040"/>
                                  </a:solidFill>
                                  <a:effectLst/>
                                  <a:latin typeface="Cambria Math"/>
                                  <a:cs typeface="Arial" charset="0"/>
                                </a:rPr>
                                <m:t>,…,</m:t>
                              </m:r>
                              <m:sSub>
                                <m:sSubPr>
                                  <m:ctrlPr>
                                    <a:rPr kumimoji="0" lang="en-US" sz="2000" b="0" i="1" u="none" strike="noStrike" cap="none" normalizeH="0" baseline="0" dirty="0" smtClean="0">
                                      <a:ln>
                                        <a:noFill/>
                                      </a:ln>
                                      <a:solidFill>
                                        <a:srgbClr val="404040"/>
                                      </a:solidFill>
                                      <a:effectLst/>
                                      <a:latin typeface="Cambria Math" panose="02040503050406030204" pitchFamily="18" charset="0"/>
                                      <a:cs typeface="Arial" charset="0"/>
                                    </a:rPr>
                                  </m:ctrlPr>
                                </m:sSubPr>
                                <m:e>
                                  <m:r>
                                    <a:rPr kumimoji="0" lang="en-US" sz="2000" b="0" i="1" u="none" strike="noStrike" cap="none" normalizeH="0" baseline="0" dirty="0" smtClean="0">
                                      <a:ln>
                                        <a:noFill/>
                                      </a:ln>
                                      <a:solidFill>
                                        <a:srgbClr val="404040"/>
                                      </a:solidFill>
                                      <a:effectLst/>
                                      <a:latin typeface="Cambria Math"/>
                                      <a:cs typeface="Arial" charset="0"/>
                                    </a:rPr>
                                    <m:t>𝑥</m:t>
                                  </m:r>
                                </m:e>
                                <m:sub>
                                  <m:r>
                                    <a:rPr kumimoji="0" lang="en-US" sz="2000" b="0" i="1" u="none" strike="noStrike" cap="none" normalizeH="0" baseline="0" dirty="0" smtClean="0">
                                      <a:ln>
                                        <a:noFill/>
                                      </a:ln>
                                      <a:solidFill>
                                        <a:srgbClr val="404040"/>
                                      </a:solidFill>
                                      <a:effectLst/>
                                      <a:latin typeface="Cambria Math"/>
                                      <a:cs typeface="Arial" charset="0"/>
                                    </a:rPr>
                                    <m:t>𝑛</m:t>
                                  </m:r>
                                </m:sub>
                              </m:sSub>
                              <m:r>
                                <a:rPr kumimoji="0" lang="en-US" sz="2000" b="0" i="1" u="none" strike="noStrike" cap="none" normalizeH="0" baseline="0" dirty="0" smtClean="0">
                                  <a:ln>
                                    <a:noFill/>
                                  </a:ln>
                                  <a:solidFill>
                                    <a:srgbClr val="404040"/>
                                  </a:solidFill>
                                  <a:effectLst/>
                                  <a:latin typeface="Cambria Math"/>
                                  <a:cs typeface="Arial" charset="0"/>
                                </a:rPr>
                                <m:t>)</m:t>
                              </m:r>
                            </m:oMath>
                          </a14:m>
                          <a:endParaRPr kumimoji="0" lang="en-US" sz="2000" b="0" i="0" u="none" strike="noStrike" cap="none" normalizeH="0" baseline="0" dirty="0">
                            <a:ln>
                              <a:noFill/>
                            </a:ln>
                            <a:solidFill>
                              <a:srgbClr val="404040"/>
                            </a:solidFill>
                            <a:effectLst/>
                            <a:latin typeface="Trebuchet MS" pitchFamily="34" charset="0"/>
                            <a:cs typeface="Arial" charset="0"/>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285">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cs typeface="Arial" charset="0"/>
                            </a:rPr>
                            <a:t>1</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cs typeface="Arial" charset="0"/>
                            </a:rPr>
                            <a:t>1   2    3</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920">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cs typeface="Arial" charset="0"/>
                            </a:rPr>
                            <a:t>2</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cs typeface="Arial" charset="0"/>
                            </a:rPr>
                            <a:t>1   3    2</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285">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cs typeface="Arial" charset="0"/>
                            </a:rPr>
                            <a:t>3</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cs typeface="Arial" charset="0"/>
                            </a:rPr>
                            <a:t>2   1    3</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920">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cs typeface="Arial" charset="0"/>
                            </a:rPr>
                            <a:t>4</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cs typeface="Arial" charset="0"/>
                            </a:rPr>
                            <a:t>2   3    1</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920">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cs typeface="Arial" charset="0"/>
                            </a:rPr>
                            <a:t>5</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cs typeface="Arial" charset="0"/>
                            </a:rPr>
                            <a:t>3   1    2</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6285">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cs typeface="Arial" charset="0"/>
                            </a:rPr>
                            <a:t>6</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cs typeface="Arial" charset="0"/>
                            </a:rPr>
                            <a:t>3   2    1</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mc:Choice>
        <mc:Fallback xmlns="">
          <p:graphicFrame>
            <p:nvGraphicFramePr>
              <p:cNvPr id="6" name="Group 48"/>
              <p:cNvGraphicFramePr>
                <a:graphicFrameLocks noGrp="1"/>
              </p:cNvGraphicFramePr>
              <p:nvPr>
                <p:extLst>
                  <p:ext uri="{D42A27DB-BD31-4B8C-83A1-F6EECF244321}">
                    <p14:modId xmlns:p14="http://schemas.microsoft.com/office/powerpoint/2010/main" val="4158799061"/>
                  </p:ext>
                </p:extLst>
              </p:nvPr>
            </p:nvGraphicFramePr>
            <p:xfrm>
              <a:off x="1447800" y="3200400"/>
              <a:ext cx="6096000" cy="2776535"/>
            </p:xfrm>
            <a:graphic>
              <a:graphicData uri="http://schemas.openxmlformats.org/drawingml/2006/table">
                <a:tbl>
                  <a:tblPr/>
                  <a:tblGrid>
                    <a:gridCol w="990600">
                      <a:extLst>
                        <a:ext uri="{9D8B030D-6E8A-4147-A177-3AD203B41FA5}">
                          <a16:colId xmlns:a16="http://schemas.microsoft.com/office/drawing/2014/main" val="20000"/>
                        </a:ext>
                      </a:extLst>
                    </a:gridCol>
                    <a:gridCol w="5105400">
                      <a:extLst>
                        <a:ext uri="{9D8B030D-6E8A-4147-A177-3AD203B41FA5}">
                          <a16:colId xmlns:a16="http://schemas.microsoft.com/office/drawing/2014/main" val="20001"/>
                        </a:ext>
                      </a:extLst>
                    </a:gridCol>
                  </a:tblGrid>
                  <a:tr h="396920">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cs typeface="Arial" charset="0"/>
                            </a:rPr>
                            <a:t>STT</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l="-19690" t="-9231" r="-597" b="-626154"/>
                          </a:stretch>
                        </a:blipFill>
                      </a:tcPr>
                    </a:tc>
                    <a:extLst>
                      <a:ext uri="{0D108BD9-81ED-4DB2-BD59-A6C34878D82A}">
                        <a16:rowId xmlns:a16="http://schemas.microsoft.com/office/drawing/2014/main" val="10000"/>
                      </a:ext>
                    </a:extLst>
                  </a:tr>
                  <a:tr h="396285">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cs typeface="Arial" charset="0"/>
                            </a:rPr>
                            <a:t>1</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cs typeface="Arial" charset="0"/>
                            </a:rPr>
                            <a:t>1   2    3</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920">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cs typeface="Arial" charset="0"/>
                            </a:rPr>
                            <a:t>2</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cs typeface="Arial" charset="0"/>
                            </a:rPr>
                            <a:t>1   3    2</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285">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cs typeface="Arial" charset="0"/>
                            </a:rPr>
                            <a:t>3</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cs typeface="Arial" charset="0"/>
                            </a:rPr>
                            <a:t>2   1    3</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920">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cs typeface="Arial" charset="0"/>
                            </a:rPr>
                            <a:t>4</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cs typeface="Arial" charset="0"/>
                            </a:rPr>
                            <a:t>2   3    1</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920">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cs typeface="Arial" charset="0"/>
                            </a:rPr>
                            <a:t>5</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cs typeface="Arial" charset="0"/>
                            </a:rPr>
                            <a:t>3   1    2</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6285">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cs typeface="Arial" charset="0"/>
                            </a:rPr>
                            <a:t>6</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cs typeface="Arial" charset="0"/>
                            </a:rPr>
                            <a:t>3   2    1</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mc:Fallback>
      </mc:AlternateContent>
    </p:spTree>
    <p:extLst>
      <p:ext uri="{BB962C8B-B14F-4D97-AF65-F5344CB8AC3E}">
        <p14:creationId xmlns:p14="http://schemas.microsoft.com/office/powerpoint/2010/main" val="29681892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4</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mc:AlternateContent xmlns:mc="http://schemas.openxmlformats.org/markup-compatibility/2006">
        <mc:Choice xmlns:a14="http://schemas.microsoft.com/office/drawing/2010/main" Requires="a14">
          <p:sp>
            <p:nvSpPr>
              <p:cNvPr id="5" name="Content Placeholder 4"/>
              <p:cNvSpPr>
                <a:spLocks noGrp="1"/>
              </p:cNvSpPr>
              <p:nvPr>
                <p:ph sz="quarter" idx="1"/>
              </p:nvPr>
            </p:nvSpPr>
            <p:spPr/>
            <p:txBody>
              <a:bodyPr>
                <a:normAutofit lnSpcReduction="10000"/>
              </a:bodyPr>
              <a:lstStyle/>
              <a:p>
                <a:pPr algn="just">
                  <a:spcBef>
                    <a:spcPct val="40000"/>
                  </a:spcBef>
                </a:pPr>
                <a:r>
                  <a:rPr lang="en-US" b="1" dirty="0"/>
                  <a:t>Naturally order of listing permutation</a:t>
                </a:r>
              </a:p>
              <a:p>
                <a:pPr marL="0" indent="0" algn="just">
                  <a:spcBef>
                    <a:spcPct val="40000"/>
                  </a:spcBef>
                  <a:buNone/>
                </a:pPr>
                <a:r>
                  <a:rPr lang="en-US" dirty="0"/>
                  <a:t>Various orderings can be defined on permutations. However, the simplest order can be defined as follows. The permutation </a:t>
                </a:r>
                <a14:m>
                  <m:oMath xmlns:m="http://schemas.openxmlformats.org/officeDocument/2006/math">
                    <m:r>
                      <a:rPr lang="en-US" i="1" dirty="0" smtClean="0">
                        <a:latin typeface="Cambria Math"/>
                      </a:rPr>
                      <m:t>𝑋</m:t>
                    </m:r>
                    <m:r>
                      <a:rPr lang="en-US" i="1" dirty="0" smtClean="0">
                        <a:latin typeface="Cambria Math"/>
                      </a:rPr>
                      <m:t>=</m:t>
                    </m:r>
                    <m:d>
                      <m:dPr>
                        <m:ctrlPr>
                          <a:rPr lang="en-US" i="1" dirty="0" smtClean="0">
                            <a:latin typeface="Cambria Math" panose="02040503050406030204" pitchFamily="18" charset="0"/>
                          </a:rPr>
                        </m:ctrlPr>
                      </m:dPr>
                      <m:e>
                        <m:r>
                          <a:rPr lang="en-US" i="1" dirty="0" smtClean="0">
                            <a:latin typeface="Cambria Math"/>
                          </a:rPr>
                          <m:t>𝑥</m:t>
                        </m:r>
                        <m:r>
                          <a:rPr lang="en-US" i="1" baseline="-25000" dirty="0">
                            <a:latin typeface="Cambria Math"/>
                          </a:rPr>
                          <m:t>1</m:t>
                        </m:r>
                        <m:r>
                          <a:rPr lang="en-US" i="1" dirty="0">
                            <a:latin typeface="Cambria Math"/>
                          </a:rPr>
                          <m:t>, </m:t>
                        </m:r>
                        <m:r>
                          <a:rPr lang="en-US" i="1" dirty="0">
                            <a:latin typeface="Cambria Math"/>
                          </a:rPr>
                          <m:t>𝑥</m:t>
                        </m:r>
                        <m:r>
                          <a:rPr lang="en-US" i="1" baseline="-25000" dirty="0">
                            <a:latin typeface="Cambria Math"/>
                          </a:rPr>
                          <m:t>2</m:t>
                        </m:r>
                        <m:r>
                          <a:rPr lang="en-US" i="1" dirty="0">
                            <a:latin typeface="Cambria Math"/>
                          </a:rPr>
                          <m:t>,</m:t>
                        </m:r>
                        <m:r>
                          <a:rPr lang="en-US" b="0" i="1" dirty="0" smtClean="0">
                            <a:latin typeface="Cambria Math"/>
                          </a:rPr>
                          <m:t>.</m:t>
                        </m:r>
                        <m:r>
                          <a:rPr lang="en-US" i="1" dirty="0">
                            <a:latin typeface="Cambria Math"/>
                          </a:rPr>
                          <m:t>.., </m:t>
                        </m:r>
                        <m:r>
                          <a:rPr lang="en-US" i="1" dirty="0" err="1">
                            <a:latin typeface="Cambria Math"/>
                          </a:rPr>
                          <m:t>𝑥</m:t>
                        </m:r>
                        <m:r>
                          <a:rPr lang="en-US" i="1" baseline="-25000" dirty="0" err="1">
                            <a:latin typeface="Cambria Math"/>
                          </a:rPr>
                          <m:t>𝑛</m:t>
                        </m:r>
                      </m:e>
                    </m:d>
                  </m:oMath>
                </a14:m>
                <a:r>
                  <a:rPr lang="en-US" dirty="0"/>
                  <a:t> is called to be after the </a:t>
                </a:r>
                <a:r>
                  <a:rPr lang="en-US" dirty="0" err="1"/>
                  <a:t>permutation</a:t>
                </a:r>
                <a:r>
                  <a:rPr lang="en-US" dirty="0"/>
                  <a:t> </a:t>
                </a:r>
                <a14:m>
                  <m:oMath xmlns:m="http://schemas.openxmlformats.org/officeDocument/2006/math">
                    <m:r>
                      <a:rPr lang="en-US" i="1" dirty="0" smtClean="0">
                        <a:latin typeface="Cambria Math"/>
                      </a:rPr>
                      <m:t>𝑌</m:t>
                    </m:r>
                    <m:r>
                      <a:rPr lang="en-US" i="1" dirty="0" smtClean="0">
                        <a:latin typeface="Cambria Math"/>
                      </a:rPr>
                      <m:t>=(</m:t>
                    </m:r>
                    <m:r>
                      <a:rPr lang="en-US" i="1" dirty="0">
                        <a:latin typeface="Cambria Math"/>
                      </a:rPr>
                      <m:t>𝑦</m:t>
                    </m:r>
                    <m:r>
                      <a:rPr lang="en-US" i="1" baseline="-25000" dirty="0">
                        <a:latin typeface="Cambria Math"/>
                      </a:rPr>
                      <m:t>1</m:t>
                    </m:r>
                    <m:r>
                      <a:rPr lang="en-US" i="1" dirty="0">
                        <a:latin typeface="Cambria Math"/>
                      </a:rPr>
                      <m:t>, </m:t>
                    </m:r>
                    <m:r>
                      <a:rPr lang="en-US" i="1" dirty="0">
                        <a:latin typeface="Cambria Math"/>
                      </a:rPr>
                      <m:t>𝑦</m:t>
                    </m:r>
                    <m:r>
                      <a:rPr lang="en-US" i="1" baseline="-25000" dirty="0">
                        <a:latin typeface="Cambria Math"/>
                      </a:rPr>
                      <m:t>2</m:t>
                    </m:r>
                    <m:r>
                      <a:rPr lang="en-US" i="1" dirty="0">
                        <a:latin typeface="Cambria Math"/>
                      </a:rPr>
                      <m:t>,</m:t>
                    </m:r>
                    <m:r>
                      <a:rPr lang="en-US" b="0" i="1" dirty="0" smtClean="0">
                        <a:latin typeface="Cambria Math"/>
                      </a:rPr>
                      <m:t>.</m:t>
                    </m:r>
                    <m:r>
                      <a:rPr lang="en-US" i="1" dirty="0">
                        <a:latin typeface="Cambria Math"/>
                      </a:rPr>
                      <m:t>..,</m:t>
                    </m:r>
                    <m:sSub>
                      <m:sSubPr>
                        <m:ctrlPr>
                          <a:rPr lang="en-US" i="1" dirty="0" smtClean="0">
                            <a:latin typeface="Cambria Math" panose="02040503050406030204" pitchFamily="18" charset="0"/>
                          </a:rPr>
                        </m:ctrlPr>
                      </m:sSubPr>
                      <m:e>
                        <m:r>
                          <a:rPr lang="en-US" b="0" i="1" dirty="0" smtClean="0">
                            <a:latin typeface="Cambria Math"/>
                          </a:rPr>
                          <m:t>𝑦</m:t>
                        </m:r>
                      </m:e>
                      <m:sub>
                        <m:r>
                          <a:rPr lang="en-US" b="0" i="1" dirty="0" smtClean="0">
                            <a:latin typeface="Cambria Math"/>
                          </a:rPr>
                          <m:t>𝑛</m:t>
                        </m:r>
                      </m:sub>
                    </m:sSub>
                    <m:r>
                      <a:rPr lang="en-US" i="1" dirty="0">
                        <a:latin typeface="Cambria Math"/>
                      </a:rPr>
                      <m:t>)</m:t>
                    </m:r>
                  </m:oMath>
                </a14:m>
                <a:r>
                  <a:rPr lang="en-US" dirty="0"/>
                  <a:t> if there exits index </a:t>
                </a:r>
                <a14:m>
                  <m:oMath xmlns:m="http://schemas.openxmlformats.org/officeDocument/2006/math">
                    <m:r>
                      <a:rPr lang="en-US" i="1" dirty="0" smtClean="0">
                        <a:latin typeface="Cambria Math"/>
                      </a:rPr>
                      <m:t>𝑘</m:t>
                    </m:r>
                  </m:oMath>
                </a14:m>
                <a:r>
                  <a:rPr lang="en-US" dirty="0"/>
                  <a:t> so that:</a:t>
                </a:r>
              </a:p>
              <a:p>
                <a:pPr marL="0" indent="0" algn="ctr">
                  <a:spcBef>
                    <a:spcPct val="40000"/>
                  </a:spcBef>
                  <a:buNone/>
                </a:pPr>
                <a14:m>
                  <m:oMath xmlns:m="http://schemas.openxmlformats.org/officeDocument/2006/math">
                    <m:r>
                      <a:rPr lang="en-US" i="1" dirty="0" smtClean="0">
                        <a:latin typeface="Cambria Math"/>
                      </a:rPr>
                      <m:t>𝑥</m:t>
                    </m:r>
                    <m:r>
                      <a:rPr lang="en-US" i="1" baseline="-25000" dirty="0" smtClean="0">
                        <a:latin typeface="Cambria Math"/>
                      </a:rPr>
                      <m:t>1</m:t>
                    </m:r>
                    <m:r>
                      <a:rPr lang="en-US" i="1" dirty="0" smtClean="0">
                        <a:latin typeface="Cambria Math"/>
                      </a:rPr>
                      <m:t>=</m:t>
                    </m:r>
                    <m:r>
                      <a:rPr lang="en-US" i="1" dirty="0" smtClean="0">
                        <a:latin typeface="Cambria Math"/>
                      </a:rPr>
                      <m:t>𝑦</m:t>
                    </m:r>
                    <m:r>
                      <a:rPr lang="en-US" i="1" baseline="-25000" dirty="0" smtClean="0">
                        <a:latin typeface="Cambria Math"/>
                      </a:rPr>
                      <m:t>1</m:t>
                    </m:r>
                    <m:r>
                      <a:rPr lang="en-US" i="1" dirty="0">
                        <a:latin typeface="Cambria Math"/>
                      </a:rPr>
                      <m:t>, </m:t>
                    </m:r>
                    <m:r>
                      <a:rPr lang="en-US" i="1" dirty="0">
                        <a:latin typeface="Cambria Math"/>
                      </a:rPr>
                      <m:t>𝑥</m:t>
                    </m:r>
                    <m:r>
                      <a:rPr lang="en-US" i="1" baseline="-25000" dirty="0">
                        <a:latin typeface="Cambria Math"/>
                      </a:rPr>
                      <m:t>2</m:t>
                    </m:r>
                    <m:r>
                      <a:rPr lang="en-US" i="1" dirty="0">
                        <a:latin typeface="Cambria Math"/>
                      </a:rPr>
                      <m:t>=</m:t>
                    </m:r>
                    <m:r>
                      <a:rPr lang="en-US" i="1" dirty="0">
                        <a:latin typeface="Cambria Math"/>
                      </a:rPr>
                      <m:t>𝑦</m:t>
                    </m:r>
                    <m:r>
                      <a:rPr lang="en-US" i="1" baseline="-25000" dirty="0">
                        <a:latin typeface="Cambria Math"/>
                      </a:rPr>
                      <m:t>2</m:t>
                    </m:r>
                    <m:r>
                      <a:rPr lang="en-US" i="1" dirty="0">
                        <a:latin typeface="Cambria Math"/>
                      </a:rPr>
                      <m:t>,…,</m:t>
                    </m:r>
                    <m:sSub>
                      <m:sSubPr>
                        <m:ctrlPr>
                          <a:rPr lang="en-US" i="1" dirty="0" smtClean="0">
                            <a:latin typeface="Cambria Math" panose="02040503050406030204" pitchFamily="18" charset="0"/>
                          </a:rPr>
                        </m:ctrlPr>
                      </m:sSubPr>
                      <m:e>
                        <m:r>
                          <a:rPr lang="en-US" b="0" i="1" dirty="0" smtClean="0">
                            <a:latin typeface="Cambria Math"/>
                          </a:rPr>
                          <m:t>𝑥</m:t>
                        </m:r>
                      </m:e>
                      <m:sub>
                        <m:r>
                          <a:rPr lang="en-US" b="0" i="1" dirty="0" smtClean="0">
                            <a:latin typeface="Cambria Math"/>
                          </a:rPr>
                          <m:t>𝑘</m:t>
                        </m:r>
                        <m:r>
                          <a:rPr lang="en-US" b="0" i="1" dirty="0" smtClean="0">
                            <a:latin typeface="Cambria Math"/>
                          </a:rPr>
                          <m:t>−1</m:t>
                        </m:r>
                      </m:sub>
                    </m:sSub>
                    <m:r>
                      <a:rPr lang="en-US" b="0" i="1" dirty="0" smtClean="0">
                        <a:latin typeface="Cambria Math"/>
                      </a:rPr>
                      <m:t>=</m:t>
                    </m:r>
                    <m:sSub>
                      <m:sSubPr>
                        <m:ctrlPr>
                          <a:rPr lang="en-US" b="0" i="1" dirty="0" smtClean="0">
                            <a:latin typeface="Cambria Math" panose="02040503050406030204" pitchFamily="18" charset="0"/>
                          </a:rPr>
                        </m:ctrlPr>
                      </m:sSubPr>
                      <m:e>
                        <m:r>
                          <a:rPr lang="en-US" b="0" i="1" dirty="0" smtClean="0">
                            <a:latin typeface="Cambria Math"/>
                          </a:rPr>
                          <m:t>𝑦</m:t>
                        </m:r>
                      </m:e>
                      <m:sub>
                        <m:r>
                          <a:rPr lang="en-US" b="0" i="1" dirty="0" smtClean="0">
                            <a:latin typeface="Cambria Math"/>
                          </a:rPr>
                          <m:t>𝑘</m:t>
                        </m:r>
                        <m:r>
                          <a:rPr lang="en-US" b="0" i="1" dirty="0" smtClean="0">
                            <a:latin typeface="Cambria Math"/>
                          </a:rPr>
                          <m:t>−1</m:t>
                        </m:r>
                      </m:sub>
                    </m:sSub>
                    <m:r>
                      <a:rPr lang="en-US" i="1" dirty="0">
                        <a:latin typeface="Cambria Math"/>
                      </a:rPr>
                      <m:t>, </m:t>
                    </m:r>
                    <m:r>
                      <a:rPr lang="en-US" i="1" dirty="0" err="1">
                        <a:latin typeface="Cambria Math"/>
                      </a:rPr>
                      <m:t>𝑥</m:t>
                    </m:r>
                    <m:r>
                      <a:rPr lang="en-US" i="1" baseline="-25000" dirty="0" err="1">
                        <a:latin typeface="Cambria Math"/>
                      </a:rPr>
                      <m:t>𝑘</m:t>
                    </m:r>
                    <m:r>
                      <a:rPr lang="en-US" i="1" dirty="0">
                        <a:latin typeface="Cambria Math"/>
                      </a:rPr>
                      <m:t>&lt;</m:t>
                    </m:r>
                    <m:r>
                      <a:rPr lang="en-US" i="1" dirty="0" err="1">
                        <a:latin typeface="Cambria Math"/>
                      </a:rPr>
                      <m:t>𝑦</m:t>
                    </m:r>
                    <m:r>
                      <a:rPr lang="en-US" i="1" baseline="-25000" dirty="0" err="1">
                        <a:latin typeface="Cambria Math"/>
                      </a:rPr>
                      <m:t>𝑘</m:t>
                    </m:r>
                  </m:oMath>
                </a14:m>
                <a:r>
                  <a:rPr lang="en-US" dirty="0"/>
                  <a:t>. </a:t>
                </a:r>
              </a:p>
              <a:p>
                <a:pPr marL="0" indent="0" algn="just">
                  <a:spcBef>
                    <a:spcPct val="40000"/>
                  </a:spcBef>
                  <a:buNone/>
                </a:pPr>
                <a:r>
                  <a:rPr lang="en-US" dirty="0"/>
                  <a:t>For example: </a:t>
                </a:r>
                <a:r>
                  <a:rPr lang="en-US" dirty="0" err="1"/>
                  <a:t>permutation</a:t>
                </a:r>
                <a14:m>
                  <m:oMath xmlns:m="http://schemas.openxmlformats.org/officeDocument/2006/math">
                    <m:r>
                      <a:rPr lang="en-US" b="0" i="0" dirty="0" smtClean="0">
                        <a:latin typeface="Cambria Math" panose="02040503050406030204" pitchFamily="18" charset="0"/>
                      </a:rPr>
                      <m:t> </m:t>
                    </m:r>
                    <m:r>
                      <a:rPr lang="en-US" i="1" dirty="0" smtClean="0">
                        <a:latin typeface="Cambria Math"/>
                      </a:rPr>
                      <m:t>𝑋</m:t>
                    </m:r>
                    <m:r>
                      <a:rPr lang="en-US" i="1" dirty="0" smtClean="0">
                        <a:latin typeface="Cambria Math"/>
                      </a:rPr>
                      <m:t>=(1, 2, 3) </m:t>
                    </m:r>
                  </m:oMath>
                </a14:m>
                <a:r>
                  <a:rPr lang="en-US" dirty="0"/>
                  <a:t>is call to be before permutation </a:t>
                </a:r>
                <a14:m>
                  <m:oMath xmlns:m="http://schemas.openxmlformats.org/officeDocument/2006/math">
                    <m:r>
                      <a:rPr lang="en-US" i="1" dirty="0" smtClean="0">
                        <a:latin typeface="Cambria Math"/>
                      </a:rPr>
                      <m:t>𝑌</m:t>
                    </m:r>
                    <m:r>
                      <a:rPr lang="en-US" i="1" dirty="0" smtClean="0">
                        <a:latin typeface="Cambria Math"/>
                      </a:rPr>
                      <m:t>=(1, 3, 2)</m:t>
                    </m:r>
                  </m:oMath>
                </a14:m>
                <a:r>
                  <a:rPr lang="en-US" dirty="0"/>
                  <a:t> because there exists </a:t>
                </a:r>
                <a14:m>
                  <m:oMath xmlns:m="http://schemas.openxmlformats.org/officeDocument/2006/math">
                    <m:r>
                      <a:rPr lang="en-US" i="1" dirty="0" smtClean="0">
                        <a:latin typeface="Cambria Math"/>
                      </a:rPr>
                      <m:t>𝑘</m:t>
                    </m:r>
                    <m:r>
                      <a:rPr lang="en-US" i="1" dirty="0" smtClean="0">
                        <a:latin typeface="Cambria Math"/>
                      </a:rPr>
                      <m:t>=2</m:t>
                    </m:r>
                  </m:oMath>
                </a14:m>
                <a:r>
                  <a:rPr lang="en-US" dirty="0"/>
                  <a:t> to </a:t>
                </a:r>
                <a14:m>
                  <m:oMath xmlns:m="http://schemas.openxmlformats.org/officeDocument/2006/math">
                    <m:r>
                      <a:rPr lang="en-US" i="1" dirty="0" smtClean="0">
                        <a:latin typeface="Cambria Math"/>
                      </a:rPr>
                      <m:t>𝑥</m:t>
                    </m:r>
                    <m:r>
                      <a:rPr lang="en-US" i="1" baseline="-25000" dirty="0">
                        <a:latin typeface="Cambria Math"/>
                      </a:rPr>
                      <m:t>1</m:t>
                    </m:r>
                    <m:r>
                      <a:rPr lang="en-US" i="1" dirty="0">
                        <a:latin typeface="Cambria Math"/>
                      </a:rPr>
                      <m:t>=</m:t>
                    </m:r>
                    <m:r>
                      <a:rPr lang="en-US" i="1" dirty="0">
                        <a:latin typeface="Cambria Math"/>
                      </a:rPr>
                      <m:t>𝑦</m:t>
                    </m:r>
                    <m:r>
                      <a:rPr lang="en-US" i="1" baseline="-25000" dirty="0">
                        <a:latin typeface="Cambria Math"/>
                      </a:rPr>
                      <m:t>1</m:t>
                    </m:r>
                  </m:oMath>
                </a14:m>
                <a:r>
                  <a:rPr lang="en-US" dirty="0"/>
                  <a:t>, and </a:t>
                </a:r>
                <a14:m>
                  <m:oMath xmlns:m="http://schemas.openxmlformats.org/officeDocument/2006/math">
                    <m:r>
                      <a:rPr lang="en-US" i="1" dirty="0" smtClean="0">
                        <a:latin typeface="Cambria Math"/>
                      </a:rPr>
                      <m:t>𝑥</m:t>
                    </m:r>
                    <m:r>
                      <a:rPr lang="en-US" i="1" baseline="-25000" dirty="0" smtClean="0">
                        <a:latin typeface="Cambria Math"/>
                      </a:rPr>
                      <m:t>2</m:t>
                    </m:r>
                    <m:r>
                      <a:rPr lang="en-US" i="1" dirty="0" smtClean="0">
                        <a:latin typeface="Cambria Math"/>
                      </a:rPr>
                      <m:t>&lt;</m:t>
                    </m:r>
                    <m:r>
                      <a:rPr lang="en-US" i="1" dirty="0" smtClean="0">
                        <a:latin typeface="Cambria Math"/>
                      </a:rPr>
                      <m:t>𝑦</m:t>
                    </m:r>
                    <m:r>
                      <a:rPr lang="en-US" i="1" baseline="-25000" dirty="0" smtClean="0">
                        <a:latin typeface="Cambria Math"/>
                      </a:rPr>
                      <m:t>2</m:t>
                    </m:r>
                  </m:oMath>
                </a14:m>
                <a:r>
                  <a:rPr lang="en-US" dirty="0"/>
                  <a:t>.</a:t>
                </a:r>
              </a:p>
              <a:p>
                <a:pPr marL="0" indent="0">
                  <a:buNone/>
                </a:pPr>
                <a:r>
                  <a:rPr lang="en-US" dirty="0"/>
                  <a:t>First configuration is </a:t>
                </a:r>
                <a14:m>
                  <m:oMath xmlns:m="http://schemas.openxmlformats.org/officeDocument/2006/math">
                    <m:r>
                      <a:rPr lang="en-US" i="1" dirty="0" smtClean="0">
                        <a:latin typeface="Cambria Math"/>
                      </a:rPr>
                      <m:t>(1,2,…,</m:t>
                    </m:r>
                    <m:r>
                      <a:rPr lang="en-US" i="1" dirty="0" smtClean="0">
                        <a:latin typeface="Cambria Math"/>
                      </a:rPr>
                      <m:t>𝑛</m:t>
                    </m:r>
                    <m:r>
                      <a:rPr lang="en-US" i="1" dirty="0" smtClean="0">
                        <a:latin typeface="Cambria Math"/>
                      </a:rPr>
                      <m:t>)</m:t>
                    </m:r>
                  </m:oMath>
                </a14:m>
                <a:endParaRPr lang="en-US" dirty="0"/>
              </a:p>
              <a:p>
                <a:pPr marL="0" indent="0">
                  <a:buNone/>
                </a:pPr>
                <a:r>
                  <a:rPr lang="en-US" dirty="0"/>
                  <a:t>Last configuration is </a:t>
                </a:r>
                <a14:m>
                  <m:oMath xmlns:m="http://schemas.openxmlformats.org/officeDocument/2006/math">
                    <m:r>
                      <a:rPr lang="en-US" i="1" dirty="0" smtClean="0">
                        <a:latin typeface="Cambria Math"/>
                      </a:rPr>
                      <m:t>(</m:t>
                    </m:r>
                    <m:r>
                      <a:rPr lang="en-US" i="1" dirty="0" smtClean="0">
                        <a:latin typeface="Cambria Math"/>
                      </a:rPr>
                      <m:t>𝑛</m:t>
                    </m:r>
                    <m:r>
                      <a:rPr lang="en-US" i="1" dirty="0" smtClean="0">
                        <a:latin typeface="Cambria Math"/>
                      </a:rPr>
                      <m:t>,</m:t>
                    </m:r>
                    <m:r>
                      <a:rPr lang="en-US" i="1" dirty="0" smtClean="0">
                        <a:latin typeface="Cambria Math"/>
                      </a:rPr>
                      <m:t>𝑛</m:t>
                    </m:r>
                    <m:r>
                      <a:rPr lang="en-US" i="1" dirty="0" smtClean="0">
                        <a:latin typeface="Cambria Math"/>
                      </a:rPr>
                      <m:t>−1,…,1)</m:t>
                    </m:r>
                  </m:oMath>
                </a14:m>
                <a:endParaRPr lang="en-US" dirty="0"/>
              </a:p>
            </p:txBody>
          </p:sp>
        </mc:Choice>
        <mc:Fallback>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1111" t="-1728" r="-1111"/>
                </a:stretch>
              </a:blipFill>
            </p:spPr>
            <p:txBody>
              <a:bodyPr/>
              <a:lstStyle/>
              <a:p>
                <a:r>
                  <a:rPr lang="en-US">
                    <a:noFill/>
                  </a:rPr>
                  <a:t> </a:t>
                </a:r>
              </a:p>
            </p:txBody>
          </p:sp>
        </mc:Fallback>
      </mc:AlternateContent>
    </p:spTree>
    <p:extLst>
      <p:ext uri="{BB962C8B-B14F-4D97-AF65-F5344CB8AC3E}">
        <p14:creationId xmlns:p14="http://schemas.microsoft.com/office/powerpoint/2010/main" val="29196231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4</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lnSpcReduction="10000"/>
              </a:bodyPr>
              <a:lstStyle/>
              <a:p>
                <a:r>
                  <a:rPr lang="en-US" dirty="0"/>
                  <a:t>Next configuration (permutation) generation algorithm.</a:t>
                </a:r>
              </a:p>
              <a:p>
                <a:r>
                  <a:rPr lang="en-US" dirty="0"/>
                  <a:t>Assume the current configuration </a:t>
                </a:r>
                <a:r>
                  <a:rPr lang="en-US" dirty="0" err="1"/>
                  <a:t>is</a:t>
                </a:r>
                <a:r>
                  <a:rPr lang="en-US" dirty="0"/>
                  <a:t> </a:t>
                </a:r>
                <a14:m>
                  <m:oMath xmlns:m="http://schemas.openxmlformats.org/officeDocument/2006/math">
                    <m:r>
                      <a:rPr lang="en-US" i="1" dirty="0">
                        <a:latin typeface="Cambria Math"/>
                      </a:rPr>
                      <m:t>𝑋</m:t>
                    </m:r>
                    <m:r>
                      <a:rPr lang="en-US" i="1" dirty="0">
                        <a:latin typeface="Cambria Math"/>
                      </a:rPr>
                      <m:t>=</m:t>
                    </m:r>
                    <m:d>
                      <m:dPr>
                        <m:ctrlPr>
                          <a:rPr lang="en-US" i="1" dirty="0">
                            <a:latin typeface="Cambria Math" panose="02040503050406030204" pitchFamily="18" charset="0"/>
                          </a:rPr>
                        </m:ctrlPr>
                      </m:dPr>
                      <m:e>
                        <m:r>
                          <a:rPr lang="en-US" i="1" dirty="0">
                            <a:latin typeface="Cambria Math"/>
                          </a:rPr>
                          <m:t>𝑥</m:t>
                        </m:r>
                        <m:r>
                          <a:rPr lang="en-US" i="1" baseline="-25000" dirty="0">
                            <a:latin typeface="Cambria Math"/>
                          </a:rPr>
                          <m:t>1</m:t>
                        </m:r>
                        <m:r>
                          <a:rPr lang="en-US" i="1" dirty="0">
                            <a:latin typeface="Cambria Math"/>
                          </a:rPr>
                          <m:t>, </m:t>
                        </m:r>
                        <m:r>
                          <a:rPr lang="en-US" i="1" dirty="0">
                            <a:latin typeface="Cambria Math"/>
                          </a:rPr>
                          <m:t>𝑥</m:t>
                        </m:r>
                        <m:r>
                          <a:rPr lang="en-US" i="1" baseline="-25000" dirty="0">
                            <a:latin typeface="Cambria Math"/>
                          </a:rPr>
                          <m:t>2</m:t>
                        </m:r>
                        <m:r>
                          <a:rPr lang="en-US" i="1" dirty="0">
                            <a:latin typeface="Cambria Math"/>
                          </a:rPr>
                          <m:t>,..., </m:t>
                        </m:r>
                        <m:r>
                          <a:rPr lang="en-US" i="1" dirty="0" err="1">
                            <a:latin typeface="Cambria Math"/>
                          </a:rPr>
                          <m:t>𝑥</m:t>
                        </m:r>
                        <m:r>
                          <a:rPr lang="en-US" i="1" baseline="-25000" dirty="0" err="1">
                            <a:latin typeface="Cambria Math"/>
                          </a:rPr>
                          <m:t>𝑛</m:t>
                        </m:r>
                      </m:e>
                    </m:d>
                  </m:oMath>
                </a14:m>
                <a:endParaRPr lang="en-US" dirty="0"/>
              </a:p>
              <a:p>
                <a:r>
                  <a:rPr lang="en-US" dirty="0"/>
                  <a:t>If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𝑥</m:t>
                        </m:r>
                      </m:e>
                      <m:sub>
                        <m:r>
                          <a:rPr lang="en-US" b="0" i="1" smtClean="0">
                            <a:latin typeface="Cambria Math"/>
                          </a:rPr>
                          <m:t>𝑖</m:t>
                        </m:r>
                        <m:r>
                          <a:rPr lang="en-US" b="0" i="1" smtClean="0">
                            <a:latin typeface="Cambria Math"/>
                          </a:rPr>
                          <m:t>−1</m:t>
                        </m:r>
                      </m:sub>
                    </m:sSub>
                    <m:r>
                      <a:rPr lang="en-US" b="0" i="1" smtClean="0">
                        <a:latin typeface="Cambria Math"/>
                      </a:rPr>
                      <m:t>&gt;</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𝑖</m:t>
                        </m:r>
                      </m:sub>
                    </m:sSub>
                  </m:oMath>
                </a14:m>
                <a:r>
                  <a:rPr lang="en-US" dirty="0"/>
                  <a:t> for all </a:t>
                </a:r>
                <a14:m>
                  <m:oMath xmlns:m="http://schemas.openxmlformats.org/officeDocument/2006/math">
                    <m:r>
                      <a:rPr lang="en-US" i="1" dirty="0" smtClean="0">
                        <a:latin typeface="Cambria Math"/>
                      </a:rPr>
                      <m:t>𝑖</m:t>
                    </m:r>
                  </m:oMath>
                </a14:m>
                <a:r>
                  <a:rPr lang="en-US" dirty="0"/>
                  <a:t>, then </a:t>
                </a:r>
                <a14:m>
                  <m:oMath xmlns:m="http://schemas.openxmlformats.org/officeDocument/2006/math">
                    <m:r>
                      <a:rPr lang="en-US" i="1" dirty="0" smtClean="0">
                        <a:latin typeface="Cambria Math"/>
                      </a:rPr>
                      <m:t>𝑋</m:t>
                    </m:r>
                  </m:oMath>
                </a14:m>
                <a:r>
                  <a:rPr lang="en-US" dirty="0"/>
                  <a:t> is the last configuration. Algorithm ends.</a:t>
                </a:r>
              </a:p>
              <a:p>
                <a:pPr algn="ctr"/>
                <a:r>
                  <a:rPr lang="en-US" dirty="0"/>
                  <a:t>Let </a:t>
                </a:r>
                <a14:m>
                  <m:oMath xmlns:m="http://schemas.openxmlformats.org/officeDocument/2006/math">
                    <m:r>
                      <a:rPr lang="en-US" i="1" dirty="0" smtClean="0">
                        <a:latin typeface="Cambria Math"/>
                      </a:rPr>
                      <m:t>𝑡</m:t>
                    </m:r>
                  </m:oMath>
                </a14:m>
                <a:r>
                  <a:rPr lang="en-US" dirty="0"/>
                  <a:t> be the biggest index (first index from right) so that: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b="0" i="1" smtClean="0">
                            <a:latin typeface="Cambria Math"/>
                          </a:rPr>
                          <m:t>𝑡</m:t>
                        </m:r>
                        <m:r>
                          <a:rPr lang="en-US" i="1">
                            <a:latin typeface="Cambria Math"/>
                          </a:rPr>
                          <m:t>−1</m:t>
                        </m:r>
                      </m:sub>
                    </m:sSub>
                    <m:r>
                      <a:rPr lang="en-US" b="0" i="1" smtClean="0">
                        <a:latin typeface="Cambria Math"/>
                      </a:rPr>
                      <m:t>&lt;</m:t>
                    </m:r>
                    <m:sSub>
                      <m:sSubPr>
                        <m:ctrlPr>
                          <a:rPr lang="en-US" i="1">
                            <a:latin typeface="Cambria Math" panose="02040503050406030204" pitchFamily="18" charset="0"/>
                          </a:rPr>
                        </m:ctrlPr>
                      </m:sSubPr>
                      <m:e>
                        <m:r>
                          <a:rPr lang="en-US" i="1">
                            <a:latin typeface="Cambria Math"/>
                          </a:rPr>
                          <m:t>𝑥</m:t>
                        </m:r>
                      </m:e>
                      <m:sub>
                        <m:r>
                          <a:rPr lang="en-US" b="0" i="1" smtClean="0">
                            <a:latin typeface="Cambria Math"/>
                          </a:rPr>
                          <m:t>𝑡</m:t>
                        </m:r>
                      </m:sub>
                    </m:sSub>
                  </m:oMath>
                </a14:m>
                <a:r>
                  <a:rPr lang="en-US" dirty="0"/>
                  <a:t>.</a:t>
                </a:r>
              </a:p>
              <a:p>
                <a:r>
                  <a:rPr lang="en-US" dirty="0"/>
                  <a:t>Next configuration </a:t>
                </a:r>
                <a14:m>
                  <m:oMath xmlns:m="http://schemas.openxmlformats.org/officeDocument/2006/math">
                    <m:r>
                      <a:rPr lang="en-US" i="1" dirty="0">
                        <a:latin typeface="Cambria Math"/>
                      </a:rPr>
                      <m:t>𝑌</m:t>
                    </m:r>
                    <m:r>
                      <a:rPr lang="en-US" i="1" dirty="0">
                        <a:latin typeface="Cambria Math"/>
                      </a:rPr>
                      <m:t>=(</m:t>
                    </m:r>
                    <m:r>
                      <a:rPr lang="en-US" i="1" dirty="0">
                        <a:latin typeface="Cambria Math"/>
                      </a:rPr>
                      <m:t>𝑦</m:t>
                    </m:r>
                    <m:r>
                      <a:rPr lang="en-US" i="1" baseline="-25000" dirty="0">
                        <a:latin typeface="Cambria Math"/>
                      </a:rPr>
                      <m:t>1</m:t>
                    </m:r>
                    <m:r>
                      <a:rPr lang="en-US" i="1" dirty="0">
                        <a:latin typeface="Cambria Math"/>
                      </a:rPr>
                      <m:t>, </m:t>
                    </m:r>
                    <m:r>
                      <a:rPr lang="en-US" i="1" dirty="0">
                        <a:latin typeface="Cambria Math"/>
                      </a:rPr>
                      <m:t>𝑦</m:t>
                    </m:r>
                    <m:r>
                      <a:rPr lang="en-US" i="1" baseline="-25000" dirty="0">
                        <a:latin typeface="Cambria Math"/>
                      </a:rPr>
                      <m:t>2</m:t>
                    </m:r>
                    <m:r>
                      <a:rPr lang="en-US" i="1" dirty="0">
                        <a:latin typeface="Cambria Math"/>
                      </a:rPr>
                      <m:t>,...,</m:t>
                    </m:r>
                    <m:sSub>
                      <m:sSubPr>
                        <m:ctrlPr>
                          <a:rPr lang="en-US" i="1" dirty="0" smtClean="0">
                            <a:latin typeface="Cambria Math" panose="02040503050406030204" pitchFamily="18" charset="0"/>
                          </a:rPr>
                        </m:ctrlPr>
                      </m:sSubPr>
                      <m:e>
                        <m:r>
                          <a:rPr lang="en-US" b="0" i="1" dirty="0" smtClean="0">
                            <a:latin typeface="Cambria Math"/>
                          </a:rPr>
                          <m:t>𝑦</m:t>
                        </m:r>
                      </m:e>
                      <m:sub>
                        <m:r>
                          <a:rPr lang="en-US" b="0" i="1" dirty="0" smtClean="0">
                            <a:latin typeface="Cambria Math"/>
                          </a:rPr>
                          <m:t>𝑛</m:t>
                        </m:r>
                      </m:sub>
                    </m:sSub>
                    <m:r>
                      <a:rPr lang="en-US" i="1" dirty="0">
                        <a:latin typeface="Cambria Math"/>
                      </a:rPr>
                      <m:t>)</m:t>
                    </m:r>
                  </m:oMath>
                </a14:m>
                <a:r>
                  <a:rPr lang="en-US" dirty="0"/>
                  <a:t> is generated as follows:</a:t>
                </a:r>
              </a:p>
              <a:p>
                <a:pPr lvl="1"/>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𝑦</m:t>
                        </m:r>
                      </m:e>
                      <m:sub>
                        <m:r>
                          <a:rPr lang="en-US" b="0" i="1" smtClean="0">
                            <a:latin typeface="Cambria Math"/>
                          </a:rPr>
                          <m:t>𝑖</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𝑖</m:t>
                        </m:r>
                      </m:sub>
                    </m:sSub>
                  </m:oMath>
                </a14:m>
                <a:r>
                  <a:rPr lang="en-US" dirty="0"/>
                  <a:t> with </a:t>
                </a:r>
                <a14:m>
                  <m:oMath xmlns:m="http://schemas.openxmlformats.org/officeDocument/2006/math">
                    <m:r>
                      <a:rPr lang="en-US" i="1" dirty="0" smtClean="0">
                        <a:latin typeface="Cambria Math"/>
                      </a:rPr>
                      <m:t>𝑖</m:t>
                    </m:r>
                    <m:r>
                      <a:rPr lang="en-US" i="1" dirty="0" smtClean="0">
                        <a:latin typeface="Cambria Math"/>
                        <a:ea typeface="Cambria Math"/>
                      </a:rPr>
                      <m:t>≤</m:t>
                    </m:r>
                    <m:r>
                      <a:rPr lang="en-US" b="0" i="1" dirty="0" smtClean="0">
                        <a:latin typeface="Cambria Math"/>
                        <a:ea typeface="Cambria Math"/>
                      </a:rPr>
                      <m:t>𝑡</m:t>
                    </m:r>
                    <m:r>
                      <a:rPr lang="en-US" b="0" i="1" dirty="0" smtClean="0">
                        <a:latin typeface="Cambria Math"/>
                        <a:ea typeface="Cambria Math"/>
                      </a:rPr>
                      <m:t>−2</m:t>
                    </m:r>
                  </m:oMath>
                </a14:m>
                <a:endParaRPr lang="en-US" dirty="0"/>
              </a:p>
              <a:p>
                <a:pPr lvl="1"/>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𝑦</m:t>
                        </m:r>
                      </m:e>
                      <m:sub>
                        <m:r>
                          <a:rPr lang="en-US" b="0" i="1" smtClean="0">
                            <a:latin typeface="Cambria Math"/>
                          </a:rPr>
                          <m:t>𝑡</m:t>
                        </m:r>
                        <m:r>
                          <a:rPr lang="en-US" b="0" i="1" smtClean="0">
                            <a:latin typeface="Cambria Math"/>
                          </a:rPr>
                          <m:t>−1</m:t>
                        </m:r>
                      </m:sub>
                    </m:sSub>
                  </m:oMath>
                </a14:m>
                <a:r>
                  <a:rPr lang="en-US" dirty="0"/>
                  <a:t> equals the smallest element in the set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𝑡</m:t>
                        </m:r>
                      </m:sub>
                    </m:sSub>
                  </m:oMath>
                </a14:m>
                <a:r>
                  <a:rPr lang="en-US" dirty="0"/>
                  <a:t>,…,</a:t>
                </a:r>
                <a14:m>
                  <m:oMath xmlns:m="http://schemas.openxmlformats.org/officeDocument/2006/math">
                    <m:r>
                      <a:rPr lang="en-US" i="1" dirty="0" err="1">
                        <a:latin typeface="Cambria Math"/>
                      </a:rPr>
                      <m:t>𝑥</m:t>
                    </m:r>
                    <m:r>
                      <a:rPr lang="en-US" i="1" baseline="-25000" dirty="0" err="1">
                        <a:latin typeface="Cambria Math"/>
                      </a:rPr>
                      <m:t>𝑛</m:t>
                    </m:r>
                  </m:oMath>
                </a14:m>
                <a:r>
                  <a:rPr lang="en-US" dirty="0"/>
                  <a:t> and bigger than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𝑡</m:t>
                        </m:r>
                        <m:r>
                          <a:rPr lang="en-US" i="1">
                            <a:latin typeface="Cambria Math"/>
                          </a:rPr>
                          <m:t>−1</m:t>
                        </m:r>
                      </m:sub>
                    </m:sSub>
                  </m:oMath>
                </a14:m>
                <a:r>
                  <a:rPr lang="en-US" dirty="0"/>
                  <a:t> (notation is a)</a:t>
                </a:r>
              </a:p>
              <a:p>
                <a:pPr lvl="1"/>
                <a14:m>
                  <m:oMath xmlns:m="http://schemas.openxmlformats.org/officeDocument/2006/math">
                    <m:sSub>
                      <m:sSubPr>
                        <m:ctrlPr>
                          <a:rPr lang="en-US" i="1">
                            <a:latin typeface="Cambria Math" panose="02040503050406030204" pitchFamily="18" charset="0"/>
                          </a:rPr>
                        </m:ctrlPr>
                      </m:sSubPr>
                      <m:e>
                        <m:r>
                          <a:rPr lang="en-US" b="0" i="1" smtClean="0">
                            <a:latin typeface="Cambria Math"/>
                          </a:rPr>
                          <m:t>𝑦</m:t>
                        </m:r>
                      </m:e>
                      <m:sub>
                        <m:r>
                          <a:rPr lang="en-US" i="1">
                            <a:latin typeface="Cambria Math"/>
                          </a:rPr>
                          <m:t>𝑡</m:t>
                        </m:r>
                      </m:sub>
                    </m:sSub>
                  </m:oMath>
                </a14:m>
                <a:r>
                  <a:rPr lang="en-US" dirty="0"/>
                  <a:t>,…,</a:t>
                </a:r>
                <a14:m>
                  <m:oMath xmlns:m="http://schemas.openxmlformats.org/officeDocument/2006/math">
                    <m:r>
                      <a:rPr lang="en-US" b="0" i="1" dirty="0" smtClean="0">
                        <a:latin typeface="Cambria Math"/>
                      </a:rPr>
                      <m:t>𝑦</m:t>
                    </m:r>
                    <m:r>
                      <a:rPr lang="en-US" i="1" baseline="-25000" dirty="0" err="1">
                        <a:latin typeface="Cambria Math"/>
                      </a:rPr>
                      <m:t>𝑛</m:t>
                    </m:r>
                  </m:oMath>
                </a14:m>
                <a:r>
                  <a:rPr lang="en-US" dirty="0"/>
                  <a:t> is </a:t>
                </a:r>
                <a:r>
                  <a:rPr lang="en-US" dirty="0" err="1"/>
                  <a:t>là</a:t>
                </a:r>
                <a:r>
                  <a:rPr lang="en-US" dirty="0"/>
                  <a:t> an ascending sorted sequence of numbers in the set</a:t>
                </a:r>
                <a14:m>
                  <m:oMath xmlns:m="http://schemas.openxmlformats.org/officeDocument/2006/math">
                    <m:sSub>
                      <m:sSubPr>
                        <m:ctrlPr>
                          <a:rPr lang="en-US" i="1">
                            <a:latin typeface="Cambria Math" panose="02040503050406030204" pitchFamily="18" charset="0"/>
                          </a:rPr>
                        </m:ctrlPr>
                      </m:sSubPr>
                      <m:e>
                        <m:r>
                          <a:rPr lang="en-US" b="0" i="1" smtClean="0">
                            <a:latin typeface="Cambria Math"/>
                          </a:rPr>
                          <m:t> {</m:t>
                        </m:r>
                        <m:r>
                          <a:rPr lang="en-US" i="1">
                            <a:latin typeface="Cambria Math"/>
                          </a:rPr>
                          <m:t>𝑥</m:t>
                        </m:r>
                      </m:e>
                      <m:sub>
                        <m:r>
                          <a:rPr lang="en-US" i="1">
                            <a:latin typeface="Cambria Math"/>
                          </a:rPr>
                          <m:t>𝑡</m:t>
                        </m:r>
                        <m:r>
                          <a:rPr lang="en-US" b="0" i="1" smtClean="0">
                            <a:latin typeface="Cambria Math"/>
                          </a:rPr>
                          <m:t>−1</m:t>
                        </m:r>
                      </m:sub>
                    </m:sSub>
                    <m:r>
                      <a:rPr lang="en-US" b="0" i="1" smtClean="0">
                        <a:latin typeface="Cambria Math"/>
                      </a:rPr>
                      <m:t>,</m:t>
                    </m:r>
                    <m:sSub>
                      <m:sSubPr>
                        <m:ctrlPr>
                          <a:rPr lang="en-US" i="1">
                            <a:latin typeface="Cambria Math" panose="02040503050406030204" pitchFamily="18" charset="0"/>
                          </a:rPr>
                        </m:ctrlPr>
                      </m:sSubPr>
                      <m:e>
                        <m:r>
                          <a:rPr lang="en-US" i="1">
                            <a:latin typeface="Cambria Math"/>
                          </a:rPr>
                          <m:t>𝑥</m:t>
                        </m:r>
                      </m:e>
                      <m:sub>
                        <m:r>
                          <a:rPr lang="en-US" i="1">
                            <a:latin typeface="Cambria Math"/>
                          </a:rPr>
                          <m:t>𝑡</m:t>
                        </m:r>
                      </m:sub>
                    </m:sSub>
                    <m:r>
                      <a:rPr lang="en-US" b="0" i="0" smtClean="0">
                        <a:latin typeface="Cambria Math"/>
                      </a:rPr>
                      <m:t>,…,</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𝑛</m:t>
                        </m:r>
                      </m:sub>
                    </m:sSub>
                    <m:r>
                      <a:rPr lang="en-US" b="0" i="1" smtClean="0">
                        <a:latin typeface="Cambria Math"/>
                      </a:rPr>
                      <m:t>}\</m:t>
                    </m:r>
                    <m:r>
                      <m:rPr>
                        <m:lit/>
                      </m:rPr>
                      <a:rPr lang="en-US" b="0" i="1" smtClean="0">
                        <a:latin typeface="Cambria Math"/>
                      </a:rPr>
                      <m:t>{</m:t>
                    </m:r>
                    <m:r>
                      <a:rPr lang="en-US" b="0" i="1" smtClean="0">
                        <a:latin typeface="Cambria Math"/>
                      </a:rPr>
                      <m:t>𝑎</m:t>
                    </m:r>
                    <m:r>
                      <a:rPr lang="en-US" b="0" i="1" smtClean="0">
                        <a:latin typeface="Cambria Math"/>
                      </a:rPr>
                      <m:t>}</m:t>
                    </m:r>
                  </m:oMath>
                </a14:m>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1728" r="-1704"/>
                </a:stretch>
              </a:blipFill>
            </p:spPr>
            <p:txBody>
              <a:bodyPr/>
              <a:lstStyle/>
              <a:p>
                <a:r>
                  <a:rPr lang="en-US">
                    <a:noFill/>
                  </a:rPr>
                  <a:t> </a:t>
                </a:r>
              </a:p>
            </p:txBody>
          </p:sp>
        </mc:Fallback>
      </mc:AlternateContent>
    </p:spTree>
    <p:extLst>
      <p:ext uri="{BB962C8B-B14F-4D97-AF65-F5344CB8AC3E}">
        <p14:creationId xmlns:p14="http://schemas.microsoft.com/office/powerpoint/2010/main" val="24067154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Contents</a:t>
            </a:r>
          </a:p>
        </p:txBody>
      </p:sp>
      <p:sp>
        <p:nvSpPr>
          <p:cNvPr id="3" name="Footer Placeholder 2"/>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464653"/>
                </a:solidFill>
                <a:effectLst/>
                <a:uLnTx/>
                <a:uFillTx/>
                <a:latin typeface="Gill Sans MT"/>
                <a:ea typeface="+mn-ea"/>
                <a:cs typeface="+mn-cs"/>
              </a:rPr>
              <a:t>http://www.ptit.edu.vn</a:t>
            </a:r>
          </a:p>
        </p:txBody>
      </p:sp>
      <p:sp>
        <p:nvSpPr>
          <p:cNvPr id="4" name="Slide Number Placeholder 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srgbClr val="464653"/>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400" b="0" i="0" u="none" strike="noStrike" kern="1200" cap="none" spc="0" normalizeH="0" baseline="0" noProof="0">
              <a:ln>
                <a:noFill/>
              </a:ln>
              <a:solidFill>
                <a:srgbClr val="464653"/>
              </a:solidFill>
              <a:effectLst/>
              <a:uLnTx/>
              <a:uFillTx/>
              <a:latin typeface="Gill Sans MT"/>
              <a:ea typeface="+mn-ea"/>
              <a:cs typeface="+mn-cs"/>
            </a:endParaRPr>
          </a:p>
        </p:txBody>
      </p:sp>
      <p:sp>
        <p:nvSpPr>
          <p:cNvPr id="5" name="Content Placeholder 4"/>
          <p:cNvSpPr>
            <a:spLocks noGrp="1"/>
          </p:cNvSpPr>
          <p:nvPr>
            <p:ph sz="quarter" idx="1"/>
          </p:nvPr>
        </p:nvSpPr>
        <p:spPr/>
        <p:txBody>
          <a:bodyPr/>
          <a:lstStyle/>
          <a:p>
            <a:pPr>
              <a:spcBef>
                <a:spcPct val="50000"/>
              </a:spcBef>
            </a:pPr>
            <a:r>
              <a:rPr lang="en-US" dirty="0">
                <a:solidFill>
                  <a:schemeClr val="bg1">
                    <a:lumMod val="75000"/>
                  </a:schemeClr>
                </a:solidFill>
              </a:rPr>
              <a:t>Introduction</a:t>
            </a:r>
          </a:p>
          <a:p>
            <a:pPr>
              <a:spcBef>
                <a:spcPct val="50000"/>
              </a:spcBef>
            </a:pPr>
            <a:r>
              <a:rPr lang="en-US" dirty="0">
                <a:solidFill>
                  <a:schemeClr val="bg1">
                    <a:lumMod val="75000"/>
                  </a:schemeClr>
                </a:solidFill>
              </a:rPr>
              <a:t>Generation method</a:t>
            </a:r>
          </a:p>
          <a:p>
            <a:pPr>
              <a:spcBef>
                <a:spcPct val="50000"/>
              </a:spcBef>
            </a:pPr>
            <a:r>
              <a:rPr lang="en-US" dirty="0"/>
              <a:t>Backtracking method</a:t>
            </a:r>
          </a:p>
          <a:p>
            <a:pPr>
              <a:spcBef>
                <a:spcPct val="50000"/>
              </a:spcBef>
            </a:pPr>
            <a:r>
              <a:rPr lang="en-US" dirty="0"/>
              <a:t>Exercise</a:t>
            </a:r>
          </a:p>
          <a:p>
            <a:endParaRPr lang="en-US" dirty="0"/>
          </a:p>
        </p:txBody>
      </p:sp>
    </p:spTree>
    <p:extLst>
      <p:ext uri="{BB962C8B-B14F-4D97-AF65-F5344CB8AC3E}">
        <p14:creationId xmlns:p14="http://schemas.microsoft.com/office/powerpoint/2010/main" val="2796578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Backtracking algorithm (1/2)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mc:AlternateContent xmlns:mc="http://schemas.openxmlformats.org/markup-compatibility/2006">
        <mc:Choice xmlns:a14="http://schemas.microsoft.com/office/drawing/2010/main" Requires="a14">
          <p:sp>
            <p:nvSpPr>
              <p:cNvPr id="5" name="Content Placeholder 4"/>
              <p:cNvSpPr>
                <a:spLocks noGrp="1"/>
              </p:cNvSpPr>
              <p:nvPr>
                <p:ph sz="quarter" idx="1"/>
              </p:nvPr>
            </p:nvSpPr>
            <p:spPr/>
            <p:txBody>
              <a:bodyPr/>
              <a:lstStyle/>
              <a:p>
                <a:pPr algn="just">
                  <a:spcBef>
                    <a:spcPct val="40000"/>
                  </a:spcBef>
                </a:pPr>
                <a:r>
                  <a:rPr lang="en-US" dirty="0"/>
                  <a:t>Assume we need to determine the set </a:t>
                </a:r>
                <a14:m>
                  <m:oMath xmlns:m="http://schemas.openxmlformats.org/officeDocument/2006/math">
                    <m:r>
                      <a:rPr lang="en-US" i="1" dirty="0" smtClean="0">
                        <a:latin typeface="Cambria Math"/>
                      </a:rPr>
                      <m:t>𝑋</m:t>
                    </m:r>
                    <m:r>
                      <a:rPr lang="en-US" i="1" dirty="0" smtClean="0">
                        <a:latin typeface="Cambria Math"/>
                      </a:rPr>
                      <m:t>=(</m:t>
                    </m:r>
                    <m:r>
                      <a:rPr lang="en-US" i="1" dirty="0">
                        <a:latin typeface="Cambria Math"/>
                      </a:rPr>
                      <m:t>𝑥</m:t>
                    </m:r>
                    <m:r>
                      <a:rPr lang="en-US" i="1" baseline="-25000" dirty="0">
                        <a:latin typeface="Cambria Math"/>
                      </a:rPr>
                      <m:t>1</m:t>
                    </m:r>
                    <m:r>
                      <a:rPr lang="en-US" i="1" dirty="0">
                        <a:latin typeface="Cambria Math"/>
                      </a:rPr>
                      <m:t>, </m:t>
                    </m:r>
                    <m:r>
                      <a:rPr lang="en-US" i="1" dirty="0">
                        <a:latin typeface="Cambria Math"/>
                      </a:rPr>
                      <m:t>𝑥</m:t>
                    </m:r>
                    <m:r>
                      <a:rPr lang="en-US" i="1" baseline="-25000" dirty="0">
                        <a:latin typeface="Cambria Math"/>
                      </a:rPr>
                      <m:t>2</m:t>
                    </m:r>
                    <m:r>
                      <a:rPr lang="en-US" i="1" dirty="0">
                        <a:latin typeface="Cambria Math"/>
                      </a:rPr>
                      <m:t>,</m:t>
                    </m:r>
                    <m:r>
                      <a:rPr lang="en-US" b="0" i="1" dirty="0" smtClean="0">
                        <a:latin typeface="Cambria Math"/>
                      </a:rPr>
                      <m:t>.</m:t>
                    </m:r>
                    <m:r>
                      <a:rPr lang="en-US" i="1" dirty="0">
                        <a:latin typeface="Cambria Math"/>
                      </a:rPr>
                      <m:t>..,</m:t>
                    </m:r>
                    <m:sSub>
                      <m:sSubPr>
                        <m:ctrlPr>
                          <a:rPr lang="en-US" i="1" dirty="0" smtClean="0">
                            <a:latin typeface="Cambria Math" panose="02040503050406030204" pitchFamily="18" charset="0"/>
                          </a:rPr>
                        </m:ctrlPr>
                      </m:sSubPr>
                      <m:e>
                        <m:r>
                          <a:rPr lang="en-US" b="0" i="1" dirty="0" smtClean="0">
                            <a:latin typeface="Cambria Math"/>
                          </a:rPr>
                          <m:t>𝑥</m:t>
                        </m:r>
                      </m:e>
                      <m:sub>
                        <m:r>
                          <a:rPr lang="en-US" b="0" i="1" dirty="0" smtClean="0">
                            <a:latin typeface="Cambria Math"/>
                          </a:rPr>
                          <m:t>𝑛</m:t>
                        </m:r>
                      </m:sub>
                    </m:sSub>
                    <m:r>
                      <a:rPr lang="en-US" i="1" dirty="0">
                        <a:latin typeface="Cambria Math"/>
                      </a:rPr>
                      <m:t>)</m:t>
                    </m:r>
                  </m:oMath>
                </a14:m>
                <a:r>
                  <a:rPr lang="en-US" dirty="0"/>
                  <a:t> satisfying some certain constraints. For each component </a:t>
                </a:r>
                <a14:m>
                  <m:oMath xmlns:m="http://schemas.openxmlformats.org/officeDocument/2006/math">
                    <m:r>
                      <a:rPr lang="en-US" i="1" dirty="0" smtClean="0">
                        <a:latin typeface="Cambria Math"/>
                      </a:rPr>
                      <m:t>𝑥</m:t>
                    </m:r>
                    <m:r>
                      <a:rPr lang="en-US" i="1" baseline="-25000" dirty="0">
                        <a:latin typeface="Cambria Math"/>
                      </a:rPr>
                      <m:t>𝑖</m:t>
                    </m:r>
                  </m:oMath>
                </a14:m>
                <a:r>
                  <a:rPr lang="en-US" dirty="0"/>
                  <a:t> we have </a:t>
                </a:r>
                <a14:m>
                  <m:oMath xmlns:m="http://schemas.openxmlformats.org/officeDocument/2006/math">
                    <m:r>
                      <a:rPr lang="en-US" i="1" dirty="0" smtClean="0">
                        <a:latin typeface="Cambria Math"/>
                      </a:rPr>
                      <m:t>𝑛</m:t>
                    </m:r>
                    <m:r>
                      <a:rPr lang="en-US" i="1" baseline="-25000" dirty="0" err="1">
                        <a:latin typeface="Cambria Math"/>
                      </a:rPr>
                      <m:t>𝑖</m:t>
                    </m:r>
                  </m:oMath>
                </a14:m>
                <a:r>
                  <a:rPr lang="en-US" dirty="0"/>
                  <a:t> abilities to choose. </a:t>
                </a:r>
              </a:p>
              <a:p>
                <a:pPr>
                  <a:spcBef>
                    <a:spcPct val="40000"/>
                  </a:spcBef>
                </a:pPr>
                <a:r>
                  <a:rPr lang="en-US" dirty="0"/>
                  <a:t>For each ability </a:t>
                </a:r>
                <a14:m>
                  <m:oMath xmlns:m="http://schemas.openxmlformats.org/officeDocument/2006/math">
                    <m:r>
                      <a:rPr lang="en-US" i="1" dirty="0" smtClean="0">
                        <a:latin typeface="Cambria Math"/>
                      </a:rPr>
                      <m:t>𝑗</m:t>
                    </m:r>
                  </m:oMath>
                </a14:m>
                <a:r>
                  <a:rPr lang="en-US" i="1" dirty="0">
                    <a:sym typeface="Symbol" pitchFamily="18" charset="2"/>
                  </a:rPr>
                  <a:t> </a:t>
                </a:r>
                <a:r>
                  <a:rPr lang="en-US" dirty="0">
                    <a:sym typeface="Symbol" pitchFamily="18" charset="2"/>
                  </a:rPr>
                  <a:t>in</a:t>
                </a:r>
                <a:r>
                  <a:rPr lang="en-US" i="1" dirty="0">
                    <a:sym typeface="Symbol" pitchFamily="18" charset="2"/>
                  </a:rPr>
                  <a:t> </a:t>
                </a:r>
                <a14:m>
                  <m:oMath xmlns:m="http://schemas.openxmlformats.org/officeDocument/2006/math">
                    <m:r>
                      <a:rPr lang="en-US" i="1" dirty="0" smtClean="0">
                        <a:latin typeface="Cambria Math"/>
                        <a:sym typeface="Symbol" pitchFamily="18" charset="2"/>
                      </a:rPr>
                      <m:t>𝑛</m:t>
                    </m:r>
                    <m:r>
                      <a:rPr lang="en-US" i="1" baseline="-25000" dirty="0" smtClean="0">
                        <a:latin typeface="Cambria Math"/>
                        <a:sym typeface="Symbol" pitchFamily="18" charset="2"/>
                      </a:rPr>
                      <m:t>𝑖</m:t>
                    </m:r>
                    <m:r>
                      <a:rPr lang="en-US" i="1" dirty="0" smtClean="0">
                        <a:latin typeface="Cambria Math"/>
                      </a:rPr>
                      <m:t> </m:t>
                    </m:r>
                  </m:oMath>
                </a14:m>
                <a:r>
                  <a:rPr lang="en-US" dirty="0"/>
                  <a:t>for component </a:t>
                </a:r>
                <a14:m>
                  <m:oMath xmlns:m="http://schemas.openxmlformats.org/officeDocument/2006/math">
                    <m:r>
                      <a:rPr lang="en-US" i="1" dirty="0" smtClean="0">
                        <a:latin typeface="Cambria Math"/>
                      </a:rPr>
                      <m:t>𝑥</m:t>
                    </m:r>
                    <m:r>
                      <a:rPr lang="en-US" i="1" baseline="-25000" dirty="0">
                        <a:latin typeface="Cambria Math"/>
                      </a:rPr>
                      <m:t>𝑖</m:t>
                    </m:r>
                  </m:oMath>
                </a14:m>
                <a:r>
                  <a:rPr lang="en-US" dirty="0"/>
                  <a:t> we need to do:</a:t>
                </a:r>
              </a:p>
              <a:p>
                <a:pPr lvl="1">
                  <a:spcBef>
                    <a:spcPct val="40000"/>
                  </a:spcBef>
                </a:pPr>
                <a:r>
                  <a:rPr lang="en-US" dirty="0"/>
                  <a:t>Check if ability </a:t>
                </a:r>
                <a14:m>
                  <m:oMath xmlns:m="http://schemas.openxmlformats.org/officeDocument/2006/math">
                    <m:r>
                      <a:rPr lang="en-US" i="1" dirty="0" smtClean="0">
                        <a:latin typeface="Cambria Math"/>
                      </a:rPr>
                      <m:t>𝑗</m:t>
                    </m:r>
                  </m:oMath>
                </a14:m>
                <a:r>
                  <a:rPr lang="en-US" dirty="0"/>
                  <a:t> is approved for </a:t>
                </a:r>
                <a:r>
                  <a:rPr lang="en-US" dirty="0" err="1"/>
                  <a:t>component</a:t>
                </a:r>
                <a:r>
                  <a:rPr lang="en-US" dirty="0"/>
                  <a:t> </a:t>
                </a:r>
                <a14:m>
                  <m:oMath xmlns:m="http://schemas.openxmlformats.org/officeDocument/2006/math">
                    <m:r>
                      <a:rPr lang="en-US" i="1" dirty="0" smtClean="0">
                        <a:latin typeface="Cambria Math"/>
                      </a:rPr>
                      <m:t>𝑥</m:t>
                    </m:r>
                    <m:r>
                      <a:rPr lang="en-US" i="1" baseline="-25000" dirty="0">
                        <a:latin typeface="Cambria Math"/>
                      </a:rPr>
                      <m:t>𝑖</m:t>
                    </m:r>
                  </m:oMath>
                </a14:m>
                <a:r>
                  <a:rPr lang="en-US" dirty="0"/>
                  <a:t> or not? </a:t>
                </a:r>
              </a:p>
              <a:p>
                <a:pPr lvl="2">
                  <a:spcBef>
                    <a:spcPct val="40000"/>
                  </a:spcBef>
                </a:pPr>
                <a:r>
                  <a:rPr lang="en-US" dirty="0"/>
                  <a:t>If ability </a:t>
                </a:r>
                <a14:m>
                  <m:oMath xmlns:m="http://schemas.openxmlformats.org/officeDocument/2006/math">
                    <m:r>
                      <a:rPr lang="en-US" i="1" dirty="0" smtClean="0">
                        <a:latin typeface="Cambria Math"/>
                      </a:rPr>
                      <m:t>𝑗</m:t>
                    </m:r>
                  </m:oMath>
                </a14:m>
                <a:r>
                  <a:rPr lang="en-US" dirty="0"/>
                  <a:t> is approved, then if </a:t>
                </a:r>
                <a14:m>
                  <m:oMath xmlns:m="http://schemas.openxmlformats.org/officeDocument/2006/math">
                    <m:r>
                      <a:rPr lang="en-US" i="1" dirty="0" smtClean="0">
                        <a:latin typeface="Cambria Math"/>
                      </a:rPr>
                      <m:t>𝑖</m:t>
                    </m:r>
                  </m:oMath>
                </a14:m>
                <a:r>
                  <a:rPr lang="en-US" dirty="0"/>
                  <a:t> is the last component </a:t>
                </a:r>
                <a14:m>
                  <m:oMath xmlns:m="http://schemas.openxmlformats.org/officeDocument/2006/math">
                    <m:r>
                      <a:rPr lang="en-US" i="1" dirty="0" smtClean="0">
                        <a:latin typeface="Cambria Math"/>
                      </a:rPr>
                      <m:t>(</m:t>
                    </m:r>
                    <m:r>
                      <a:rPr lang="en-US" i="1" dirty="0" smtClean="0">
                        <a:latin typeface="Cambria Math"/>
                      </a:rPr>
                      <m:t>𝑖</m:t>
                    </m:r>
                    <m:r>
                      <a:rPr lang="en-US" i="1" dirty="0" smtClean="0">
                        <a:latin typeface="Cambria Math"/>
                      </a:rPr>
                      <m:t>=</m:t>
                    </m:r>
                    <m:r>
                      <a:rPr lang="en-US" i="1" dirty="0" smtClean="0">
                        <a:latin typeface="Cambria Math"/>
                      </a:rPr>
                      <m:t>𝑛</m:t>
                    </m:r>
                    <m:r>
                      <a:rPr lang="en-US" i="1" dirty="0" smtClean="0">
                        <a:latin typeface="Cambria Math"/>
                      </a:rPr>
                      <m:t>) </m:t>
                    </m:r>
                  </m:oMath>
                </a14:m>
                <a:r>
                  <a:rPr lang="en-US" dirty="0"/>
                  <a:t>ta accept root of problem. If </a:t>
                </a:r>
                <a:r>
                  <a:rPr lang="en-US" dirty="0" err="1"/>
                  <a:t>i</a:t>
                </a:r>
                <a:r>
                  <a:rPr lang="en-US" dirty="0"/>
                  <a:t> is not final, we determine component </a:t>
                </a:r>
                <a14:m>
                  <m:oMath xmlns:m="http://schemas.openxmlformats.org/officeDocument/2006/math">
                    <m:r>
                      <a:rPr lang="en-US" i="1" dirty="0" smtClean="0">
                        <a:latin typeface="Cambria Math"/>
                      </a:rPr>
                      <m:t>𝑖</m:t>
                    </m:r>
                    <m:r>
                      <a:rPr lang="en-US" i="1" dirty="0" smtClean="0">
                        <a:latin typeface="Cambria Math"/>
                      </a:rPr>
                      <m:t>+1</m:t>
                    </m:r>
                  </m:oMath>
                </a14:m>
                <a:r>
                  <a:rPr lang="en-US" dirty="0"/>
                  <a:t>.</a:t>
                </a:r>
              </a:p>
              <a:p>
                <a:pPr lvl="2">
                  <a:spcBef>
                    <a:spcPct val="40000"/>
                  </a:spcBef>
                </a:pPr>
                <a:r>
                  <a:rPr lang="en-US" dirty="0"/>
                  <a:t>If there is no ability </a:t>
                </a:r>
                <a14:m>
                  <m:oMath xmlns:m="http://schemas.openxmlformats.org/officeDocument/2006/math">
                    <m:r>
                      <a:rPr lang="en-US" i="1" dirty="0" smtClean="0">
                        <a:latin typeface="Cambria Math"/>
                      </a:rPr>
                      <m:t>𝑗</m:t>
                    </m:r>
                  </m:oMath>
                </a14:m>
                <a:r>
                  <a:rPr lang="en-US" dirty="0"/>
                  <a:t> accepted for component </a:t>
                </a:r>
                <a14:m>
                  <m:oMath xmlns:m="http://schemas.openxmlformats.org/officeDocument/2006/math">
                    <m:r>
                      <a:rPr lang="en-US" i="1" dirty="0" smtClean="0">
                        <a:latin typeface="Cambria Math"/>
                      </a:rPr>
                      <m:t>𝑥</m:t>
                    </m:r>
                    <m:r>
                      <a:rPr lang="en-US" i="1" baseline="-25000" dirty="0">
                        <a:latin typeface="Cambria Math"/>
                      </a:rPr>
                      <m:t>𝑖</m:t>
                    </m:r>
                  </m:oMath>
                </a14:m>
                <a:r>
                  <a:rPr lang="en-US" dirty="0"/>
                  <a:t> so, we return previous step </a:t>
                </a:r>
                <a14:m>
                  <m:oMath xmlns:m="http://schemas.openxmlformats.org/officeDocument/2006/math">
                    <m:r>
                      <a:rPr lang="en-US" i="1" dirty="0" smtClean="0">
                        <a:latin typeface="Cambria Math"/>
                      </a:rPr>
                      <m:t>(</m:t>
                    </m:r>
                    <m:r>
                      <a:rPr lang="en-US" i="1" dirty="0" smtClean="0">
                        <a:latin typeface="Cambria Math"/>
                      </a:rPr>
                      <m:t>𝑖</m:t>
                    </m:r>
                    <m:r>
                      <a:rPr lang="en-US" i="1" dirty="0" smtClean="0">
                        <a:latin typeface="Cambria Math"/>
                      </a:rPr>
                      <m:t>−1) </m:t>
                    </m:r>
                  </m:oMath>
                </a14:m>
                <a:r>
                  <a:rPr lang="en-US" dirty="0"/>
                  <a:t>to try other abilities.</a:t>
                </a:r>
              </a:p>
              <a:p>
                <a:endParaRPr lang="en-US" dirty="0"/>
              </a:p>
            </p:txBody>
          </p:sp>
        </mc:Choice>
        <mc:Fallback>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1111" r="-1259"/>
                </a:stretch>
              </a:blipFill>
            </p:spPr>
            <p:txBody>
              <a:bodyPr/>
              <a:lstStyle/>
              <a:p>
                <a:r>
                  <a:rPr lang="en-US">
                    <a:noFill/>
                  </a:rPr>
                  <a:t> </a:t>
                </a:r>
              </a:p>
            </p:txBody>
          </p:sp>
        </mc:Fallback>
      </mc:AlternateContent>
    </p:spTree>
    <p:extLst>
      <p:ext uri="{BB962C8B-B14F-4D97-AF65-F5344CB8AC3E}">
        <p14:creationId xmlns:p14="http://schemas.microsoft.com/office/powerpoint/2010/main" val="29849896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Backtracking algorithm (2/2)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sp>
        <p:nvSpPr>
          <p:cNvPr id="5" name="Content Placeholder 4"/>
          <p:cNvSpPr>
            <a:spLocks noGrp="1"/>
          </p:cNvSpPr>
          <p:nvPr>
            <p:ph sz="quarter" idx="1"/>
          </p:nvPr>
        </p:nvSpPr>
        <p:spPr/>
        <p:txBody>
          <a:bodyPr/>
          <a:lstStyle/>
          <a:p>
            <a:endParaRPr lang="en-US" dirty="0"/>
          </a:p>
        </p:txBody>
      </p:sp>
      <p:sp>
        <p:nvSpPr>
          <p:cNvPr id="6" name="Rectangle 5"/>
          <p:cNvSpPr/>
          <p:nvPr/>
        </p:nvSpPr>
        <p:spPr>
          <a:xfrm>
            <a:off x="990600" y="1752600"/>
            <a:ext cx="6705600" cy="4278094"/>
          </a:xfrm>
          <a:prstGeom prst="rect">
            <a:avLst/>
          </a:prstGeom>
        </p:spPr>
        <p:txBody>
          <a:bodyPr wrap="square">
            <a:spAutoFit/>
          </a:bodyPr>
          <a:lstStyle/>
          <a:p>
            <a:pPr lvl="1">
              <a:spcBef>
                <a:spcPct val="40000"/>
              </a:spcBef>
            </a:pPr>
            <a:r>
              <a:rPr lang="en-US" sz="2000" dirty="0" err="1">
                <a:latin typeface="+mj-lt"/>
              </a:rPr>
              <a:t>Back_Track</a:t>
            </a:r>
            <a:r>
              <a:rPr lang="en-US" sz="2000" dirty="0">
                <a:latin typeface="+mj-lt"/>
              </a:rPr>
              <a:t> (</a:t>
            </a:r>
            <a:r>
              <a:rPr lang="en-US" sz="2000" dirty="0" err="1">
                <a:latin typeface="+mj-lt"/>
              </a:rPr>
              <a:t>int</a:t>
            </a:r>
            <a:r>
              <a:rPr lang="en-US" sz="2000" dirty="0">
                <a:latin typeface="+mj-lt"/>
              </a:rPr>
              <a:t> i ) {</a:t>
            </a:r>
          </a:p>
          <a:p>
            <a:pPr lvl="2">
              <a:spcBef>
                <a:spcPct val="40000"/>
              </a:spcBef>
            </a:pPr>
            <a:r>
              <a:rPr lang="en-US" sz="2000" b="1" dirty="0">
                <a:latin typeface="+mj-lt"/>
              </a:rPr>
              <a:t>for</a:t>
            </a:r>
            <a:r>
              <a:rPr lang="en-US" sz="2000" dirty="0">
                <a:latin typeface="+mj-lt"/>
              </a:rPr>
              <a:t> ( j =&lt;Ability 1&gt;; j &lt;=</a:t>
            </a:r>
            <a:r>
              <a:rPr lang="en-US" sz="2000" dirty="0" err="1">
                <a:latin typeface="+mj-lt"/>
              </a:rPr>
              <a:t>n</a:t>
            </a:r>
            <a:r>
              <a:rPr lang="en-US" sz="2000" baseline="-25000" dirty="0" err="1">
                <a:latin typeface="+mj-lt"/>
              </a:rPr>
              <a:t>i</a:t>
            </a:r>
            <a:r>
              <a:rPr lang="en-US" sz="2000" dirty="0">
                <a:latin typeface="+mj-lt"/>
              </a:rPr>
              <a:t>;  j++ ){</a:t>
            </a:r>
          </a:p>
          <a:p>
            <a:pPr lvl="2">
              <a:spcBef>
                <a:spcPct val="40000"/>
              </a:spcBef>
            </a:pPr>
            <a:r>
              <a:rPr lang="en-US" sz="2000" dirty="0">
                <a:latin typeface="+mj-lt"/>
              </a:rPr>
              <a:t>	</a:t>
            </a:r>
            <a:r>
              <a:rPr lang="en-US" sz="2000" b="1" dirty="0">
                <a:latin typeface="+mj-lt"/>
              </a:rPr>
              <a:t>if </a:t>
            </a:r>
            <a:r>
              <a:rPr lang="en-US" sz="2000" dirty="0">
                <a:latin typeface="+mj-lt"/>
              </a:rPr>
              <a:t>(&lt;Accept ability j&gt;) { </a:t>
            </a:r>
          </a:p>
          <a:p>
            <a:pPr lvl="2">
              <a:spcBef>
                <a:spcPct val="40000"/>
              </a:spcBef>
            </a:pPr>
            <a:r>
              <a:rPr lang="en-US" sz="2000" dirty="0">
                <a:latin typeface="+mj-lt"/>
              </a:rPr>
              <a:t>		X[i] = &lt;Ability j&gt;; </a:t>
            </a:r>
          </a:p>
          <a:p>
            <a:pPr lvl="2">
              <a:spcBef>
                <a:spcPct val="40000"/>
              </a:spcBef>
            </a:pPr>
            <a:r>
              <a:rPr lang="en-US" sz="2000" dirty="0">
                <a:latin typeface="+mj-lt"/>
              </a:rPr>
              <a:t>		</a:t>
            </a:r>
            <a:r>
              <a:rPr lang="en-US" sz="2000" b="1" dirty="0">
                <a:latin typeface="+mj-lt"/>
              </a:rPr>
              <a:t>if </a:t>
            </a:r>
            <a:r>
              <a:rPr lang="en-US" sz="2000" dirty="0">
                <a:latin typeface="+mj-lt"/>
              </a:rPr>
              <a:t>( i ==n) </a:t>
            </a:r>
          </a:p>
          <a:p>
            <a:pPr lvl="2">
              <a:spcBef>
                <a:spcPct val="40000"/>
              </a:spcBef>
            </a:pPr>
            <a:r>
              <a:rPr lang="en-US" sz="2000" dirty="0">
                <a:latin typeface="+mj-lt"/>
              </a:rPr>
              <a:t>			Result();</a:t>
            </a:r>
          </a:p>
          <a:p>
            <a:pPr lvl="2">
              <a:spcBef>
                <a:spcPct val="40000"/>
              </a:spcBef>
            </a:pPr>
            <a:r>
              <a:rPr lang="en-US" sz="2000" dirty="0">
                <a:latin typeface="+mj-lt"/>
              </a:rPr>
              <a:t>		</a:t>
            </a:r>
            <a:r>
              <a:rPr lang="en-US" sz="2000" b="1" dirty="0">
                <a:latin typeface="+mj-lt"/>
              </a:rPr>
              <a:t>else</a:t>
            </a:r>
            <a:r>
              <a:rPr lang="en-US" sz="2000" dirty="0">
                <a:latin typeface="+mj-lt"/>
              </a:rPr>
              <a:t> </a:t>
            </a:r>
          </a:p>
          <a:p>
            <a:pPr lvl="2">
              <a:spcBef>
                <a:spcPct val="40000"/>
              </a:spcBef>
            </a:pPr>
            <a:r>
              <a:rPr lang="en-US" sz="2000" dirty="0">
                <a:latin typeface="+mj-lt"/>
              </a:rPr>
              <a:t>			</a:t>
            </a:r>
            <a:r>
              <a:rPr lang="en-US" sz="2000" dirty="0" err="1">
                <a:latin typeface="+mj-lt"/>
              </a:rPr>
              <a:t>Back_Track</a:t>
            </a:r>
            <a:r>
              <a:rPr lang="en-US" sz="2000" dirty="0">
                <a:latin typeface="+mj-lt"/>
              </a:rPr>
              <a:t>(i+1);</a:t>
            </a:r>
          </a:p>
          <a:p>
            <a:pPr lvl="2">
              <a:spcBef>
                <a:spcPct val="40000"/>
              </a:spcBef>
            </a:pPr>
            <a:r>
              <a:rPr lang="en-US" sz="2000" dirty="0">
                <a:latin typeface="+mj-lt"/>
              </a:rPr>
              <a:t>	}</a:t>
            </a:r>
          </a:p>
          <a:p>
            <a:pPr lvl="2">
              <a:spcBef>
                <a:spcPct val="40000"/>
              </a:spcBef>
            </a:pPr>
            <a:r>
              <a:rPr lang="en-US" sz="2000" dirty="0">
                <a:latin typeface="+mj-lt"/>
              </a:rPr>
              <a:t>}</a:t>
            </a:r>
          </a:p>
        </p:txBody>
      </p:sp>
    </p:spTree>
    <p:extLst>
      <p:ext uri="{BB962C8B-B14F-4D97-AF65-F5344CB8AC3E}">
        <p14:creationId xmlns:p14="http://schemas.microsoft.com/office/powerpoint/2010/main" val="1977502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5</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pPr>
                  <a:spcBef>
                    <a:spcPct val="40000"/>
                  </a:spcBef>
                </a:pPr>
                <a:r>
                  <a:rPr lang="en-US" dirty="0"/>
                  <a:t>List all binary strings with length of </a:t>
                </a:r>
                <a14:m>
                  <m:oMath xmlns:m="http://schemas.openxmlformats.org/officeDocument/2006/math">
                    <m:r>
                      <a:rPr lang="en-US" i="1" dirty="0">
                        <a:latin typeface="Cambria Math"/>
                      </a:rPr>
                      <m:t>𝑛</m:t>
                    </m:r>
                  </m:oMath>
                </a14:m>
                <a:r>
                  <a:rPr lang="en-US" dirty="0"/>
                  <a:t>.</a:t>
                </a:r>
              </a:p>
              <a:p>
                <a:pPr marL="0" indent="0">
                  <a:spcBef>
                    <a:spcPct val="40000"/>
                  </a:spcBef>
                  <a:buNone/>
                </a:pPr>
                <a:r>
                  <a:rPr lang="en-US" dirty="0"/>
                  <a:t>String </a:t>
                </a:r>
                <a14:m>
                  <m:oMath xmlns:m="http://schemas.openxmlformats.org/officeDocument/2006/math">
                    <m:r>
                      <a:rPr lang="en-US" i="1" dirty="0">
                        <a:latin typeface="Cambria Math"/>
                      </a:rPr>
                      <m:t>𝑋</m:t>
                    </m:r>
                    <m:r>
                      <a:rPr lang="en-US" i="1" dirty="0">
                        <a:latin typeface="Cambria Math"/>
                      </a:rPr>
                      <m:t>=(</m:t>
                    </m:r>
                    <m:r>
                      <a:rPr lang="en-US" i="1" dirty="0">
                        <a:latin typeface="Cambria Math"/>
                      </a:rPr>
                      <m:t>𝑥</m:t>
                    </m:r>
                    <m:r>
                      <a:rPr lang="en-US" i="1" baseline="-25000" dirty="0">
                        <a:latin typeface="Cambria Math"/>
                      </a:rPr>
                      <m:t>1</m:t>
                    </m:r>
                    <m:r>
                      <a:rPr lang="en-US" i="1" dirty="0">
                        <a:latin typeface="Cambria Math"/>
                      </a:rPr>
                      <m:t>𝑥</m:t>
                    </m:r>
                    <m:r>
                      <a:rPr lang="en-US" i="1" baseline="-25000" dirty="0">
                        <a:latin typeface="Cambria Math"/>
                      </a:rPr>
                      <m:t>2</m:t>
                    </m:r>
                    <m:r>
                      <a:rPr lang="en-US" i="1" dirty="0">
                        <a:latin typeface="Cambria Math"/>
                      </a:rPr>
                      <m:t>... </m:t>
                    </m:r>
                    <m:r>
                      <a:rPr lang="en-US" i="1" dirty="0" err="1">
                        <a:latin typeface="Cambria Math"/>
                      </a:rPr>
                      <m:t>𝑥</m:t>
                    </m:r>
                    <m:r>
                      <a:rPr lang="en-US" i="1" baseline="-25000" dirty="0" err="1">
                        <a:latin typeface="Cambria Math"/>
                      </a:rPr>
                      <m:t>𝑛</m:t>
                    </m:r>
                    <m:r>
                      <a:rPr lang="en-US" i="1" dirty="0">
                        <a:latin typeface="Cambria Math"/>
                      </a:rPr>
                      <m:t>)</m:t>
                    </m:r>
                  </m:oMath>
                </a14:m>
                <a:r>
                  <a:rPr lang="en-US" dirty="0"/>
                  <a:t>: </a:t>
                </a:r>
                <a14:m>
                  <m:oMath xmlns:m="http://schemas.openxmlformats.org/officeDocument/2006/math">
                    <m:r>
                      <a:rPr lang="en-US" i="1" dirty="0">
                        <a:latin typeface="Cambria Math"/>
                      </a:rPr>
                      <m:t>𝑥</m:t>
                    </m:r>
                    <m:r>
                      <a:rPr lang="en-US" i="1" baseline="-25000" dirty="0">
                        <a:latin typeface="Cambria Math"/>
                      </a:rPr>
                      <m:t>𝑖</m:t>
                    </m:r>
                    <m:r>
                      <a:rPr lang="en-US" i="1" dirty="0">
                        <a:latin typeface="Cambria Math"/>
                      </a:rPr>
                      <m:t>=0, 1;</m:t>
                    </m:r>
                    <m:r>
                      <a:rPr lang="en-US" i="1" dirty="0">
                        <a:latin typeface="Cambria Math"/>
                      </a:rPr>
                      <m:t>𝑖</m:t>
                    </m:r>
                    <m:r>
                      <a:rPr lang="en-US" i="1" dirty="0">
                        <a:latin typeface="Cambria Math"/>
                      </a:rPr>
                      <m:t>=1, 2,..., </m:t>
                    </m:r>
                    <m:r>
                      <a:rPr lang="en-US" i="1" dirty="0">
                        <a:latin typeface="Cambria Math"/>
                      </a:rPr>
                      <m:t>𝑛</m:t>
                    </m:r>
                  </m:oMath>
                </a14:m>
                <a:r>
                  <a:rPr lang="en-US" dirty="0"/>
                  <a:t> is a binary string with length of </a:t>
                </a:r>
                <a14:m>
                  <m:oMath xmlns:m="http://schemas.openxmlformats.org/officeDocument/2006/math">
                    <m:r>
                      <a:rPr lang="en-US" i="1" dirty="0">
                        <a:latin typeface="Cambria Math"/>
                      </a:rPr>
                      <m:t>𝑛</m:t>
                    </m:r>
                  </m:oMath>
                </a14:m>
                <a:r>
                  <a:rPr lang="en-US" dirty="0"/>
                  <a:t>.</a:t>
                </a: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1111" t="-1111"/>
                </a:stretch>
              </a:blipFill>
            </p:spPr>
            <p:txBody>
              <a:bodyPr/>
              <a:lstStyle/>
              <a:p>
                <a:r>
                  <a:rPr lang="en-US">
                    <a:noFill/>
                  </a:rPr>
                  <a:t> </a:t>
                </a:r>
              </a:p>
            </p:txBody>
          </p:sp>
        </mc:Fallback>
      </mc:AlternateContent>
      <p:sp>
        <p:nvSpPr>
          <p:cNvPr id="6" name="Rectangle 5"/>
          <p:cNvSpPr/>
          <p:nvPr/>
        </p:nvSpPr>
        <p:spPr>
          <a:xfrm>
            <a:off x="1066800" y="2590800"/>
            <a:ext cx="4572000" cy="3471720"/>
          </a:xfrm>
          <a:prstGeom prst="rect">
            <a:avLst/>
          </a:prstGeom>
        </p:spPr>
        <p:txBody>
          <a:bodyPr>
            <a:spAutoFit/>
          </a:bodyPr>
          <a:lstStyle/>
          <a:p>
            <a:pPr>
              <a:spcBef>
                <a:spcPct val="40000"/>
              </a:spcBef>
            </a:pPr>
            <a:r>
              <a:rPr lang="en-US" dirty="0">
                <a:latin typeface="+mj-lt"/>
                <a:sym typeface="Symbol" pitchFamily="18" charset="2"/>
              </a:rPr>
              <a:t>void Try ( </a:t>
            </a:r>
            <a:r>
              <a:rPr lang="en-US" dirty="0" err="1">
                <a:latin typeface="+mj-lt"/>
                <a:sym typeface="Symbol" pitchFamily="18" charset="2"/>
              </a:rPr>
              <a:t>int</a:t>
            </a:r>
            <a:r>
              <a:rPr lang="en-US" dirty="0">
                <a:latin typeface="+mj-lt"/>
                <a:sym typeface="Symbol" pitchFamily="18" charset="2"/>
              </a:rPr>
              <a:t> i ) {</a:t>
            </a:r>
          </a:p>
          <a:p>
            <a:pPr>
              <a:spcBef>
                <a:spcPct val="40000"/>
              </a:spcBef>
            </a:pPr>
            <a:r>
              <a:rPr lang="en-US" dirty="0">
                <a:latin typeface="+mj-lt"/>
                <a:sym typeface="Symbol" pitchFamily="18" charset="2"/>
              </a:rPr>
              <a:t>	</a:t>
            </a:r>
            <a:r>
              <a:rPr lang="en-US" b="1" dirty="0">
                <a:latin typeface="+mj-lt"/>
                <a:sym typeface="Symbol" pitchFamily="18" charset="2"/>
              </a:rPr>
              <a:t>for</a:t>
            </a:r>
            <a:r>
              <a:rPr lang="en-US" dirty="0">
                <a:latin typeface="+mj-lt"/>
                <a:sym typeface="Symbol" pitchFamily="18" charset="2"/>
              </a:rPr>
              <a:t> (</a:t>
            </a:r>
            <a:r>
              <a:rPr lang="en-US" dirty="0" err="1">
                <a:latin typeface="+mj-lt"/>
                <a:sym typeface="Symbol" pitchFamily="18" charset="2"/>
              </a:rPr>
              <a:t>int</a:t>
            </a:r>
            <a:r>
              <a:rPr lang="en-US" dirty="0">
                <a:latin typeface="+mj-lt"/>
                <a:sym typeface="Symbol" pitchFamily="18" charset="2"/>
              </a:rPr>
              <a:t> j =0; j&lt;=1; j++){</a:t>
            </a:r>
          </a:p>
          <a:p>
            <a:pPr>
              <a:spcBef>
                <a:spcPct val="40000"/>
              </a:spcBef>
            </a:pPr>
            <a:r>
              <a:rPr lang="en-US" dirty="0">
                <a:latin typeface="+mj-lt"/>
                <a:sym typeface="Symbol" pitchFamily="18" charset="2"/>
              </a:rPr>
              <a:t>		X[i] = j;</a:t>
            </a:r>
          </a:p>
          <a:p>
            <a:pPr>
              <a:spcBef>
                <a:spcPct val="40000"/>
              </a:spcBef>
            </a:pPr>
            <a:r>
              <a:rPr lang="en-US" dirty="0">
                <a:latin typeface="+mj-lt"/>
                <a:sym typeface="Symbol" pitchFamily="18" charset="2"/>
              </a:rPr>
              <a:t>		</a:t>
            </a:r>
            <a:r>
              <a:rPr lang="en-US" b="1" dirty="0">
                <a:latin typeface="+mj-lt"/>
                <a:sym typeface="Symbol" pitchFamily="18" charset="2"/>
              </a:rPr>
              <a:t>if</a:t>
            </a:r>
            <a:r>
              <a:rPr lang="en-US" dirty="0">
                <a:latin typeface="+mj-lt"/>
                <a:sym typeface="Symbol" pitchFamily="18" charset="2"/>
              </a:rPr>
              <a:t> ( i ==n) </a:t>
            </a:r>
          </a:p>
          <a:p>
            <a:pPr>
              <a:spcBef>
                <a:spcPct val="40000"/>
              </a:spcBef>
            </a:pPr>
            <a:r>
              <a:rPr lang="en-US" dirty="0">
                <a:latin typeface="+mj-lt"/>
                <a:sym typeface="Symbol" pitchFamily="18" charset="2"/>
              </a:rPr>
              <a:t>			Result();</a:t>
            </a:r>
          </a:p>
          <a:p>
            <a:pPr>
              <a:spcBef>
                <a:spcPct val="40000"/>
              </a:spcBef>
            </a:pPr>
            <a:r>
              <a:rPr lang="en-US" dirty="0">
                <a:latin typeface="+mj-lt"/>
                <a:sym typeface="Symbol" pitchFamily="18" charset="2"/>
              </a:rPr>
              <a:t>		</a:t>
            </a:r>
            <a:r>
              <a:rPr lang="en-US" b="1" dirty="0">
                <a:latin typeface="+mj-lt"/>
                <a:sym typeface="Symbol" pitchFamily="18" charset="2"/>
              </a:rPr>
              <a:t>else</a:t>
            </a:r>
            <a:r>
              <a:rPr lang="en-US" dirty="0">
                <a:latin typeface="+mj-lt"/>
                <a:sym typeface="Symbol" pitchFamily="18" charset="2"/>
              </a:rPr>
              <a:t> </a:t>
            </a:r>
          </a:p>
          <a:p>
            <a:pPr>
              <a:spcBef>
                <a:spcPct val="40000"/>
              </a:spcBef>
            </a:pPr>
            <a:r>
              <a:rPr lang="en-US" dirty="0">
                <a:latin typeface="+mj-lt"/>
                <a:sym typeface="Symbol" pitchFamily="18" charset="2"/>
              </a:rPr>
              <a:t>			Try (i+1);</a:t>
            </a:r>
          </a:p>
          <a:p>
            <a:pPr>
              <a:spcBef>
                <a:spcPct val="40000"/>
              </a:spcBef>
            </a:pPr>
            <a:r>
              <a:rPr lang="en-US" dirty="0">
                <a:latin typeface="+mj-lt"/>
                <a:sym typeface="Symbol" pitchFamily="18" charset="2"/>
              </a:rPr>
              <a:t>	}</a:t>
            </a:r>
          </a:p>
          <a:p>
            <a:pPr>
              <a:spcBef>
                <a:spcPct val="40000"/>
              </a:spcBef>
            </a:pPr>
            <a:r>
              <a:rPr lang="en-US" dirty="0">
                <a:latin typeface="+mj-lt"/>
                <a:sym typeface="Symbol" pitchFamily="18" charset="2"/>
              </a:rPr>
              <a:t>}</a:t>
            </a:r>
          </a:p>
        </p:txBody>
      </p:sp>
      <mc:AlternateContent xmlns:mc="http://schemas.openxmlformats.org/markup-compatibility/2006" xmlns:a14="http://schemas.microsoft.com/office/drawing/2010/main">
        <mc:Choice Requires="a14">
          <p:sp>
            <p:nvSpPr>
              <p:cNvPr id="7" name="Rectangle 6"/>
              <p:cNvSpPr/>
              <p:nvPr/>
            </p:nvSpPr>
            <p:spPr>
              <a:xfrm>
                <a:off x="5643112" y="3657600"/>
                <a:ext cx="3043688" cy="923330"/>
              </a:xfrm>
              <a:prstGeom prst="rect">
                <a:avLst/>
              </a:prstGeom>
            </p:spPr>
            <p:txBody>
              <a:bodyPr wrap="square">
                <a:spAutoFit/>
              </a:bodyPr>
              <a:lstStyle/>
              <a:p>
                <a:r>
                  <a:rPr lang="en-US" dirty="0">
                    <a:latin typeface="Tahoma" pitchFamily="34" charset="0"/>
                    <a:ea typeface="Tahoma" pitchFamily="34" charset="0"/>
                    <a:cs typeface="Tahoma" pitchFamily="34" charset="0"/>
                    <a:sym typeface="Symbol" pitchFamily="18" charset="2"/>
                  </a:rPr>
                  <a:t>Then, to list all binary string with length </a:t>
                </a:r>
                <a14:m>
                  <m:oMath xmlns:m="http://schemas.openxmlformats.org/officeDocument/2006/math">
                    <m:r>
                      <a:rPr lang="en-US" i="1" dirty="0" smtClean="0">
                        <a:latin typeface="Cambria Math"/>
                        <a:ea typeface="Tahoma" pitchFamily="34" charset="0"/>
                        <a:cs typeface="Tahoma" pitchFamily="34" charset="0"/>
                        <a:sym typeface="Symbol" pitchFamily="18" charset="2"/>
                      </a:rPr>
                      <m:t>𝑛</m:t>
                    </m:r>
                  </m:oMath>
                </a14:m>
                <a:r>
                  <a:rPr lang="en-US" dirty="0">
                    <a:latin typeface="Tahoma" pitchFamily="34" charset="0"/>
                    <a:ea typeface="Tahoma" pitchFamily="34" charset="0"/>
                    <a:cs typeface="Tahoma" pitchFamily="34" charset="0"/>
                    <a:sym typeface="Symbol" pitchFamily="18" charset="2"/>
                  </a:rPr>
                  <a:t> we just need call procedure Try(1). </a:t>
                </a:r>
                <a:endParaRPr lang="en-US" dirty="0">
                  <a:latin typeface="Tahoma" pitchFamily="34" charset="0"/>
                  <a:ea typeface="Tahoma" pitchFamily="34" charset="0"/>
                  <a:cs typeface="Tahoma" pitchFamily="34"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5643112" y="3657600"/>
                <a:ext cx="3043688" cy="923330"/>
              </a:xfrm>
              <a:prstGeom prst="rect">
                <a:avLst/>
              </a:prstGeom>
              <a:blipFill>
                <a:blip r:embed="rId3"/>
                <a:stretch>
                  <a:fillRect l="-1804" t="-3311" r="-3206" b="-9934"/>
                </a:stretch>
              </a:blipFill>
            </p:spPr>
            <p:txBody>
              <a:bodyPr/>
              <a:lstStyle/>
              <a:p>
                <a:r>
                  <a:rPr lang="en-US">
                    <a:noFill/>
                  </a:rPr>
                  <a:t> </a:t>
                </a:r>
              </a:p>
            </p:txBody>
          </p:sp>
        </mc:Fallback>
      </mc:AlternateContent>
    </p:spTree>
    <p:extLst>
      <p:ext uri="{BB962C8B-B14F-4D97-AF65-F5344CB8AC3E}">
        <p14:creationId xmlns:p14="http://schemas.microsoft.com/office/powerpoint/2010/main" val="31213819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5</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p:sp>
        <p:nvSpPr>
          <p:cNvPr id="5" name="Content Placeholder 4"/>
          <p:cNvSpPr>
            <a:spLocks noGrp="1"/>
          </p:cNvSpPr>
          <p:nvPr>
            <p:ph sz="quarter" idx="1"/>
          </p:nvPr>
        </p:nvSpPr>
        <p:spPr/>
        <p:txBody>
          <a:bodyPr/>
          <a:lstStyle/>
          <a:p>
            <a:endParaRPr lang="en-US" dirty="0"/>
          </a:p>
        </p:txBody>
      </p:sp>
      <mc:AlternateContent xmlns:mc="http://schemas.openxmlformats.org/markup-compatibility/2006" xmlns:a14="http://schemas.microsoft.com/office/drawing/2010/main">
        <mc:Choice Requires="a14">
          <p:sp>
            <p:nvSpPr>
              <p:cNvPr id="50" name="Text Box 44"/>
              <p:cNvSpPr txBox="1">
                <a:spLocks noChangeArrowheads="1"/>
              </p:cNvSpPr>
              <p:nvPr/>
            </p:nvSpPr>
            <p:spPr bwMode="auto">
              <a:xfrm>
                <a:off x="1371600" y="4724400"/>
                <a:ext cx="838200" cy="36671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a:latin typeface="Cambria Math"/>
                            </a:rPr>
                            <m:t>𝑥</m:t>
                          </m:r>
                        </m:e>
                        <m:sub>
                          <m:r>
                            <a:rPr lang="en-US" i="1" dirty="0">
                              <a:latin typeface="Cambria Math"/>
                            </a:rPr>
                            <m:t>3</m:t>
                          </m:r>
                        </m:sub>
                      </m:sSub>
                      <m:r>
                        <a:rPr lang="en-US" i="1" dirty="0">
                          <a:latin typeface="Cambria Math"/>
                        </a:rPr>
                        <m:t>=</m:t>
                      </m:r>
                      <m:r>
                        <a:rPr lang="en-US" b="0" i="1" dirty="0" smtClean="0">
                          <a:latin typeface="Cambria Math"/>
                        </a:rPr>
                        <m:t>1</m:t>
                      </m:r>
                    </m:oMath>
                  </m:oMathPara>
                </a14:m>
                <a:endParaRPr lang="en-US" dirty="0"/>
              </a:p>
            </p:txBody>
          </p:sp>
        </mc:Choice>
        <mc:Fallback xmlns="">
          <p:sp>
            <p:nvSpPr>
              <p:cNvPr id="50" name="Text Box 44"/>
              <p:cNvSpPr txBox="1">
                <a:spLocks noRot="1" noChangeAspect="1" noMove="1" noResize="1" noEditPoints="1" noAdjustHandles="1" noChangeArrowheads="1" noChangeShapeType="1" noTextEdit="1"/>
              </p:cNvSpPr>
              <p:nvPr/>
            </p:nvSpPr>
            <p:spPr bwMode="auto">
              <a:xfrm>
                <a:off x="1371600" y="4724400"/>
                <a:ext cx="838200" cy="366713"/>
              </a:xfrm>
              <a:prstGeom prst="rect">
                <a:avLst/>
              </a:prstGeom>
              <a:blipFill rotWithShape="1">
                <a:blip r:embed="rId2"/>
                <a:stretch>
                  <a:fillRect b="-1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 Box 40"/>
              <p:cNvSpPr txBox="1">
                <a:spLocks noChangeArrowheads="1"/>
              </p:cNvSpPr>
              <p:nvPr/>
            </p:nvSpPr>
            <p:spPr bwMode="auto">
              <a:xfrm>
                <a:off x="3200400" y="3505200"/>
                <a:ext cx="838200" cy="36671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a:latin typeface="Cambria Math"/>
                            </a:rPr>
                            <m:t>𝑥</m:t>
                          </m:r>
                        </m:e>
                        <m:sub>
                          <m:r>
                            <a:rPr lang="en-US" b="0" i="1" dirty="0" smtClean="0">
                              <a:latin typeface="Cambria Math"/>
                            </a:rPr>
                            <m:t>2</m:t>
                          </m:r>
                        </m:sub>
                      </m:sSub>
                      <m:r>
                        <a:rPr lang="en-US" i="1" dirty="0">
                          <a:latin typeface="Cambria Math"/>
                        </a:rPr>
                        <m:t>=</m:t>
                      </m:r>
                      <m:r>
                        <a:rPr lang="en-US" b="0" i="1" dirty="0" smtClean="0">
                          <a:latin typeface="Cambria Math"/>
                        </a:rPr>
                        <m:t>1</m:t>
                      </m:r>
                    </m:oMath>
                  </m:oMathPara>
                </a14:m>
                <a:endParaRPr lang="en-US" dirty="0"/>
              </a:p>
            </p:txBody>
          </p:sp>
        </mc:Choice>
        <mc:Fallback xmlns="">
          <p:sp>
            <p:nvSpPr>
              <p:cNvPr id="53" name="Text Box 40"/>
              <p:cNvSpPr txBox="1">
                <a:spLocks noRot="1" noChangeAspect="1" noMove="1" noResize="1" noEditPoints="1" noAdjustHandles="1" noChangeArrowheads="1" noChangeShapeType="1" noTextEdit="1"/>
              </p:cNvSpPr>
              <p:nvPr/>
            </p:nvSpPr>
            <p:spPr bwMode="auto">
              <a:xfrm>
                <a:off x="3200400" y="3505200"/>
                <a:ext cx="838200" cy="366713"/>
              </a:xfrm>
              <a:prstGeom prst="rect">
                <a:avLst/>
              </a:prstGeom>
              <a:blipFill rotWithShape="1">
                <a:blip r:embed="rId3"/>
                <a:stretch>
                  <a:fillRect b="-1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 Box 39"/>
              <p:cNvSpPr txBox="1">
                <a:spLocks noChangeArrowheads="1"/>
              </p:cNvSpPr>
              <p:nvPr/>
            </p:nvSpPr>
            <p:spPr bwMode="auto">
              <a:xfrm>
                <a:off x="1295400" y="3519488"/>
                <a:ext cx="838200" cy="36671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a:latin typeface="Cambria Math"/>
                            </a:rPr>
                            <m:t>𝑥</m:t>
                          </m:r>
                        </m:e>
                        <m:sub>
                          <m:r>
                            <a:rPr lang="en-US" b="0" i="1" dirty="0" smtClean="0">
                              <a:latin typeface="Cambria Math"/>
                            </a:rPr>
                            <m:t>2</m:t>
                          </m:r>
                        </m:sub>
                      </m:sSub>
                      <m:r>
                        <a:rPr lang="en-US" i="1" dirty="0">
                          <a:latin typeface="Cambria Math"/>
                        </a:rPr>
                        <m:t>=0</m:t>
                      </m:r>
                    </m:oMath>
                  </m:oMathPara>
                </a14:m>
                <a:endParaRPr lang="en-US" dirty="0"/>
              </a:p>
            </p:txBody>
          </p:sp>
        </mc:Choice>
        <mc:Fallback xmlns="">
          <p:sp>
            <p:nvSpPr>
              <p:cNvPr id="54" name="Text Box 39"/>
              <p:cNvSpPr txBox="1">
                <a:spLocks noRot="1" noChangeAspect="1" noMove="1" noResize="1" noEditPoints="1" noAdjustHandles="1" noChangeArrowheads="1" noChangeShapeType="1" noTextEdit="1"/>
              </p:cNvSpPr>
              <p:nvPr/>
            </p:nvSpPr>
            <p:spPr bwMode="auto">
              <a:xfrm>
                <a:off x="1295400" y="3519488"/>
                <a:ext cx="838200" cy="366712"/>
              </a:xfrm>
              <a:prstGeom prst="rect">
                <a:avLst/>
              </a:prstGeom>
              <a:blipFill rotWithShape="1">
                <a:blip r:embed="rId4"/>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 Box 38"/>
              <p:cNvSpPr txBox="1">
                <a:spLocks noChangeArrowheads="1"/>
              </p:cNvSpPr>
              <p:nvPr/>
            </p:nvSpPr>
            <p:spPr bwMode="auto">
              <a:xfrm>
                <a:off x="4953000" y="2209800"/>
                <a:ext cx="838200" cy="36671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a:latin typeface="Cambria Math"/>
                            </a:rPr>
                            <m:t>𝑥</m:t>
                          </m:r>
                        </m:e>
                        <m:sub>
                          <m:r>
                            <a:rPr lang="en-US" i="1" dirty="0">
                              <a:latin typeface="Cambria Math"/>
                            </a:rPr>
                            <m:t>1</m:t>
                          </m:r>
                        </m:sub>
                      </m:sSub>
                      <m:r>
                        <a:rPr lang="en-US" i="1" dirty="0">
                          <a:latin typeface="Cambria Math"/>
                        </a:rPr>
                        <m:t>=</m:t>
                      </m:r>
                      <m:r>
                        <a:rPr lang="en-US" b="0" i="1" dirty="0" smtClean="0">
                          <a:latin typeface="Cambria Math"/>
                        </a:rPr>
                        <m:t>1</m:t>
                      </m:r>
                    </m:oMath>
                  </m:oMathPara>
                </a14:m>
                <a:endParaRPr lang="en-US" dirty="0"/>
              </a:p>
            </p:txBody>
          </p:sp>
        </mc:Choice>
        <mc:Fallback xmlns="">
          <p:sp>
            <p:nvSpPr>
              <p:cNvPr id="55" name="Text Box 38"/>
              <p:cNvSpPr txBox="1">
                <a:spLocks noRot="1" noChangeAspect="1" noMove="1" noResize="1" noEditPoints="1" noAdjustHandles="1" noChangeArrowheads="1" noChangeShapeType="1" noTextEdit="1"/>
              </p:cNvSpPr>
              <p:nvPr/>
            </p:nvSpPr>
            <p:spPr bwMode="auto">
              <a:xfrm>
                <a:off x="4953000" y="2209800"/>
                <a:ext cx="838200" cy="366713"/>
              </a:xfrm>
              <a:prstGeom prst="rect">
                <a:avLst/>
              </a:prstGeom>
              <a:blipFill rotWithShape="1">
                <a:blip r:embed="rId5"/>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 Box 37"/>
              <p:cNvSpPr txBox="1">
                <a:spLocks noChangeArrowheads="1"/>
              </p:cNvSpPr>
              <p:nvPr/>
            </p:nvSpPr>
            <p:spPr bwMode="auto">
              <a:xfrm>
                <a:off x="2743200" y="2224088"/>
                <a:ext cx="914400" cy="36933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a:rPr>
                            <m:t>𝑥</m:t>
                          </m:r>
                        </m:e>
                        <m:sub>
                          <m:r>
                            <a:rPr lang="en-US" b="0" i="1" dirty="0" smtClean="0">
                              <a:latin typeface="Cambria Math"/>
                            </a:rPr>
                            <m:t>1</m:t>
                          </m:r>
                        </m:sub>
                      </m:sSub>
                      <m:r>
                        <a:rPr lang="en-US" i="1" dirty="0" smtClean="0">
                          <a:latin typeface="Cambria Math"/>
                        </a:rPr>
                        <m:t>=0</m:t>
                      </m:r>
                    </m:oMath>
                  </m:oMathPara>
                </a14:m>
                <a:endParaRPr lang="en-US" dirty="0"/>
              </a:p>
            </p:txBody>
          </p:sp>
        </mc:Choice>
        <mc:Fallback xmlns="">
          <p:sp>
            <p:nvSpPr>
              <p:cNvPr id="56" name="Text Box 37"/>
              <p:cNvSpPr txBox="1">
                <a:spLocks noRot="1" noChangeAspect="1" noMove="1" noResize="1" noEditPoints="1" noAdjustHandles="1" noChangeArrowheads="1" noChangeShapeType="1" noTextEdit="1"/>
              </p:cNvSpPr>
              <p:nvPr/>
            </p:nvSpPr>
            <p:spPr bwMode="auto">
              <a:xfrm>
                <a:off x="2743200" y="2224088"/>
                <a:ext cx="914400" cy="369332"/>
              </a:xfrm>
              <a:prstGeom prst="rect">
                <a:avLst/>
              </a:prstGeom>
              <a:blipFill rotWithShape="1">
                <a:blip r:embed="rId6"/>
                <a:stretch>
                  <a:fillRect b="-1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57" name="Oval 7"/>
          <p:cNvSpPr>
            <a:spLocks noChangeArrowheads="1"/>
          </p:cNvSpPr>
          <p:nvPr/>
        </p:nvSpPr>
        <p:spPr bwMode="auto">
          <a:xfrm>
            <a:off x="3657600" y="1676400"/>
            <a:ext cx="762000" cy="609600"/>
          </a:xfrm>
          <a:prstGeom prst="ellipse">
            <a:avLst/>
          </a:prstGeom>
          <a:solidFill>
            <a:schemeClr val="bg2"/>
          </a:solidFill>
          <a:ln w="9525">
            <a:solidFill>
              <a:schemeClr val="tx1"/>
            </a:solidFill>
            <a:round/>
            <a:headEnd/>
            <a:tailEnd/>
          </a:ln>
        </p:spPr>
        <p:txBody>
          <a:bodyPr wrap="none" anchor="ctr"/>
          <a:lstStyle/>
          <a:p>
            <a:pPr algn="ctr"/>
            <a:r>
              <a:rPr lang="en-US" dirty="0"/>
              <a:t>Try(</a:t>
            </a:r>
            <a:r>
              <a:rPr lang="en-US" dirty="0">
                <a:latin typeface="+mj-lt"/>
              </a:rPr>
              <a:t>1</a:t>
            </a:r>
            <a:r>
              <a:rPr lang="en-US" dirty="0"/>
              <a:t>)</a:t>
            </a:r>
          </a:p>
        </p:txBody>
      </p:sp>
      <p:sp>
        <p:nvSpPr>
          <p:cNvPr id="58" name="Oval 8"/>
          <p:cNvSpPr>
            <a:spLocks noChangeArrowheads="1"/>
          </p:cNvSpPr>
          <p:nvPr/>
        </p:nvSpPr>
        <p:spPr bwMode="auto">
          <a:xfrm>
            <a:off x="2362200" y="2819400"/>
            <a:ext cx="762000" cy="609600"/>
          </a:xfrm>
          <a:prstGeom prst="ellipse">
            <a:avLst/>
          </a:prstGeom>
          <a:solidFill>
            <a:schemeClr val="bg2"/>
          </a:solidFill>
          <a:ln w="9525">
            <a:solidFill>
              <a:schemeClr val="tx1"/>
            </a:solidFill>
            <a:round/>
            <a:headEnd/>
            <a:tailEnd/>
          </a:ln>
        </p:spPr>
        <p:txBody>
          <a:bodyPr wrap="none" anchor="ctr"/>
          <a:lstStyle/>
          <a:p>
            <a:pPr algn="ctr"/>
            <a:r>
              <a:rPr lang="en-US"/>
              <a:t>Try(2)</a:t>
            </a:r>
          </a:p>
        </p:txBody>
      </p:sp>
      <p:sp>
        <p:nvSpPr>
          <p:cNvPr id="59" name="Oval 9"/>
          <p:cNvSpPr>
            <a:spLocks noChangeArrowheads="1"/>
          </p:cNvSpPr>
          <p:nvPr/>
        </p:nvSpPr>
        <p:spPr bwMode="auto">
          <a:xfrm>
            <a:off x="5562600" y="2743200"/>
            <a:ext cx="762000" cy="609600"/>
          </a:xfrm>
          <a:prstGeom prst="ellipse">
            <a:avLst/>
          </a:prstGeom>
          <a:solidFill>
            <a:schemeClr val="bg2"/>
          </a:solidFill>
          <a:ln w="9525">
            <a:solidFill>
              <a:schemeClr val="tx1"/>
            </a:solidFill>
            <a:round/>
            <a:headEnd/>
            <a:tailEnd/>
          </a:ln>
        </p:spPr>
        <p:txBody>
          <a:bodyPr wrap="none" anchor="ctr"/>
          <a:lstStyle/>
          <a:p>
            <a:pPr algn="ctr"/>
            <a:r>
              <a:rPr lang="en-US"/>
              <a:t>Try(2)</a:t>
            </a:r>
          </a:p>
        </p:txBody>
      </p:sp>
      <p:sp>
        <p:nvSpPr>
          <p:cNvPr id="60" name="Oval 10"/>
          <p:cNvSpPr>
            <a:spLocks noChangeArrowheads="1"/>
          </p:cNvSpPr>
          <p:nvPr/>
        </p:nvSpPr>
        <p:spPr bwMode="auto">
          <a:xfrm>
            <a:off x="1143000" y="4038600"/>
            <a:ext cx="762000" cy="609600"/>
          </a:xfrm>
          <a:prstGeom prst="ellipse">
            <a:avLst/>
          </a:prstGeom>
          <a:solidFill>
            <a:schemeClr val="bg2"/>
          </a:solidFill>
          <a:ln w="9525">
            <a:solidFill>
              <a:schemeClr val="tx1"/>
            </a:solidFill>
            <a:round/>
            <a:headEnd/>
            <a:tailEnd/>
          </a:ln>
        </p:spPr>
        <p:txBody>
          <a:bodyPr wrap="none" anchor="ctr"/>
          <a:lstStyle/>
          <a:p>
            <a:pPr algn="ctr"/>
            <a:r>
              <a:rPr lang="en-US"/>
              <a:t>Try(3)</a:t>
            </a:r>
          </a:p>
        </p:txBody>
      </p:sp>
      <p:sp>
        <p:nvSpPr>
          <p:cNvPr id="61" name="Oval 11"/>
          <p:cNvSpPr>
            <a:spLocks noChangeArrowheads="1"/>
          </p:cNvSpPr>
          <p:nvPr/>
        </p:nvSpPr>
        <p:spPr bwMode="auto">
          <a:xfrm>
            <a:off x="3048000" y="4038600"/>
            <a:ext cx="762000" cy="609600"/>
          </a:xfrm>
          <a:prstGeom prst="ellipse">
            <a:avLst/>
          </a:prstGeom>
          <a:solidFill>
            <a:schemeClr val="bg2"/>
          </a:solidFill>
          <a:ln w="9525">
            <a:solidFill>
              <a:schemeClr val="tx1"/>
            </a:solidFill>
            <a:round/>
            <a:headEnd/>
            <a:tailEnd/>
          </a:ln>
        </p:spPr>
        <p:txBody>
          <a:bodyPr wrap="none" anchor="ctr"/>
          <a:lstStyle/>
          <a:p>
            <a:pPr algn="ctr"/>
            <a:r>
              <a:rPr lang="en-US"/>
              <a:t>Try(3)</a:t>
            </a:r>
          </a:p>
        </p:txBody>
      </p:sp>
      <p:sp>
        <p:nvSpPr>
          <p:cNvPr id="62" name="Oval 12"/>
          <p:cNvSpPr>
            <a:spLocks noChangeArrowheads="1"/>
          </p:cNvSpPr>
          <p:nvPr/>
        </p:nvSpPr>
        <p:spPr bwMode="auto">
          <a:xfrm>
            <a:off x="5410200" y="4038600"/>
            <a:ext cx="762000" cy="609600"/>
          </a:xfrm>
          <a:prstGeom prst="ellipse">
            <a:avLst/>
          </a:prstGeom>
          <a:solidFill>
            <a:schemeClr val="bg2"/>
          </a:solidFill>
          <a:ln w="9525">
            <a:solidFill>
              <a:schemeClr val="tx1"/>
            </a:solidFill>
            <a:round/>
            <a:headEnd/>
            <a:tailEnd/>
          </a:ln>
        </p:spPr>
        <p:txBody>
          <a:bodyPr wrap="none" anchor="ctr"/>
          <a:lstStyle/>
          <a:p>
            <a:pPr algn="ctr"/>
            <a:r>
              <a:rPr lang="en-US"/>
              <a:t>Try(3)</a:t>
            </a:r>
          </a:p>
        </p:txBody>
      </p:sp>
      <p:sp>
        <p:nvSpPr>
          <p:cNvPr id="63" name="Oval 13"/>
          <p:cNvSpPr>
            <a:spLocks noChangeArrowheads="1"/>
          </p:cNvSpPr>
          <p:nvPr/>
        </p:nvSpPr>
        <p:spPr bwMode="auto">
          <a:xfrm>
            <a:off x="7315200" y="4038600"/>
            <a:ext cx="762000" cy="609600"/>
          </a:xfrm>
          <a:prstGeom prst="ellipse">
            <a:avLst/>
          </a:prstGeom>
          <a:solidFill>
            <a:schemeClr val="bg2"/>
          </a:solidFill>
          <a:ln w="9525">
            <a:solidFill>
              <a:schemeClr val="tx1"/>
            </a:solidFill>
            <a:round/>
            <a:headEnd/>
            <a:tailEnd/>
          </a:ln>
        </p:spPr>
        <p:txBody>
          <a:bodyPr wrap="none" anchor="ctr"/>
          <a:lstStyle/>
          <a:p>
            <a:pPr algn="ctr"/>
            <a:r>
              <a:rPr lang="en-US"/>
              <a:t>Try(3)</a:t>
            </a:r>
          </a:p>
        </p:txBody>
      </p:sp>
      <p:sp>
        <p:nvSpPr>
          <p:cNvPr id="64" name="Rectangle 14"/>
          <p:cNvSpPr>
            <a:spLocks noChangeArrowheads="1"/>
          </p:cNvSpPr>
          <p:nvPr/>
        </p:nvSpPr>
        <p:spPr bwMode="auto">
          <a:xfrm>
            <a:off x="152400" y="5334000"/>
            <a:ext cx="990600" cy="533400"/>
          </a:xfrm>
          <a:prstGeom prst="rect">
            <a:avLst/>
          </a:prstGeom>
          <a:solidFill>
            <a:schemeClr val="bg2"/>
          </a:solidFill>
          <a:ln w="9525">
            <a:solidFill>
              <a:schemeClr val="tx1"/>
            </a:solidFill>
            <a:miter lim="800000"/>
            <a:headEnd/>
            <a:tailEnd/>
          </a:ln>
        </p:spPr>
        <p:txBody>
          <a:bodyPr wrap="none" lIns="0" rIns="0" anchor="ctr"/>
          <a:lstStyle/>
          <a:p>
            <a:pPr algn="ctr"/>
            <a:r>
              <a:rPr lang="en-US" dirty="0">
                <a:latin typeface="+mj-lt"/>
              </a:rPr>
              <a:t>0 0 0</a:t>
            </a:r>
          </a:p>
        </p:txBody>
      </p:sp>
      <p:sp>
        <p:nvSpPr>
          <p:cNvPr id="65" name="Rectangle 15"/>
          <p:cNvSpPr>
            <a:spLocks noChangeArrowheads="1"/>
          </p:cNvSpPr>
          <p:nvPr/>
        </p:nvSpPr>
        <p:spPr bwMode="auto">
          <a:xfrm>
            <a:off x="1371600" y="5334000"/>
            <a:ext cx="914400" cy="533400"/>
          </a:xfrm>
          <a:prstGeom prst="rect">
            <a:avLst/>
          </a:prstGeom>
          <a:solidFill>
            <a:schemeClr val="bg2"/>
          </a:solidFill>
          <a:ln w="9525">
            <a:solidFill>
              <a:schemeClr val="tx1"/>
            </a:solidFill>
            <a:miter lim="800000"/>
            <a:headEnd/>
            <a:tailEnd/>
          </a:ln>
        </p:spPr>
        <p:txBody>
          <a:bodyPr wrap="none" lIns="0" rIns="0" anchor="ctr"/>
          <a:lstStyle/>
          <a:p>
            <a:pPr algn="ctr"/>
            <a:r>
              <a:rPr lang="en-US">
                <a:latin typeface="+mj-lt"/>
              </a:rPr>
              <a:t>0 0 1</a:t>
            </a:r>
          </a:p>
        </p:txBody>
      </p:sp>
      <p:sp>
        <p:nvSpPr>
          <p:cNvPr id="66" name="Rectangle 16"/>
          <p:cNvSpPr>
            <a:spLocks noChangeArrowheads="1"/>
          </p:cNvSpPr>
          <p:nvPr/>
        </p:nvSpPr>
        <p:spPr bwMode="auto">
          <a:xfrm>
            <a:off x="2514600" y="5334000"/>
            <a:ext cx="914400" cy="533400"/>
          </a:xfrm>
          <a:prstGeom prst="rect">
            <a:avLst/>
          </a:prstGeom>
          <a:solidFill>
            <a:schemeClr val="bg2"/>
          </a:solidFill>
          <a:ln w="9525">
            <a:solidFill>
              <a:schemeClr val="tx1"/>
            </a:solidFill>
            <a:miter lim="800000"/>
            <a:headEnd/>
            <a:tailEnd/>
          </a:ln>
        </p:spPr>
        <p:txBody>
          <a:bodyPr wrap="none" lIns="0" rIns="0" anchor="ctr"/>
          <a:lstStyle/>
          <a:p>
            <a:pPr algn="ctr"/>
            <a:r>
              <a:rPr lang="en-US">
                <a:latin typeface="+mj-lt"/>
              </a:rPr>
              <a:t>0 1 0</a:t>
            </a:r>
          </a:p>
        </p:txBody>
      </p:sp>
      <p:sp>
        <p:nvSpPr>
          <p:cNvPr id="67" name="Rectangle 17"/>
          <p:cNvSpPr>
            <a:spLocks noChangeArrowheads="1"/>
          </p:cNvSpPr>
          <p:nvPr/>
        </p:nvSpPr>
        <p:spPr bwMode="auto">
          <a:xfrm>
            <a:off x="3581400" y="5334000"/>
            <a:ext cx="990600" cy="533400"/>
          </a:xfrm>
          <a:prstGeom prst="rect">
            <a:avLst/>
          </a:prstGeom>
          <a:solidFill>
            <a:schemeClr val="bg2"/>
          </a:solidFill>
          <a:ln w="9525">
            <a:solidFill>
              <a:schemeClr val="tx1"/>
            </a:solidFill>
            <a:miter lim="800000"/>
            <a:headEnd/>
            <a:tailEnd/>
          </a:ln>
        </p:spPr>
        <p:txBody>
          <a:bodyPr wrap="none" lIns="0" rIns="0" anchor="ctr"/>
          <a:lstStyle/>
          <a:p>
            <a:pPr algn="ctr"/>
            <a:r>
              <a:rPr lang="en-US">
                <a:latin typeface="+mj-lt"/>
              </a:rPr>
              <a:t>0 1 1</a:t>
            </a:r>
          </a:p>
        </p:txBody>
      </p:sp>
      <p:sp>
        <p:nvSpPr>
          <p:cNvPr id="68" name="Rectangle 18"/>
          <p:cNvSpPr>
            <a:spLocks noChangeArrowheads="1"/>
          </p:cNvSpPr>
          <p:nvPr/>
        </p:nvSpPr>
        <p:spPr bwMode="auto">
          <a:xfrm>
            <a:off x="4876800" y="5334000"/>
            <a:ext cx="914400" cy="533400"/>
          </a:xfrm>
          <a:prstGeom prst="rect">
            <a:avLst/>
          </a:prstGeom>
          <a:solidFill>
            <a:schemeClr val="bg2"/>
          </a:solidFill>
          <a:ln w="9525">
            <a:solidFill>
              <a:schemeClr val="tx1"/>
            </a:solidFill>
            <a:miter lim="800000"/>
            <a:headEnd/>
            <a:tailEnd/>
          </a:ln>
        </p:spPr>
        <p:txBody>
          <a:bodyPr wrap="none" lIns="0" rIns="0" anchor="ctr"/>
          <a:lstStyle/>
          <a:p>
            <a:pPr algn="ctr"/>
            <a:r>
              <a:rPr lang="en-US">
                <a:latin typeface="+mj-lt"/>
              </a:rPr>
              <a:t>1 0 0</a:t>
            </a:r>
          </a:p>
        </p:txBody>
      </p:sp>
      <p:sp>
        <p:nvSpPr>
          <p:cNvPr id="69" name="Rectangle 19"/>
          <p:cNvSpPr>
            <a:spLocks noChangeArrowheads="1"/>
          </p:cNvSpPr>
          <p:nvPr/>
        </p:nvSpPr>
        <p:spPr bwMode="auto">
          <a:xfrm>
            <a:off x="5943600" y="5334000"/>
            <a:ext cx="838200" cy="533400"/>
          </a:xfrm>
          <a:prstGeom prst="rect">
            <a:avLst/>
          </a:prstGeom>
          <a:solidFill>
            <a:schemeClr val="bg2"/>
          </a:solidFill>
          <a:ln w="9525">
            <a:solidFill>
              <a:schemeClr val="tx1"/>
            </a:solidFill>
            <a:miter lim="800000"/>
            <a:headEnd/>
            <a:tailEnd/>
          </a:ln>
        </p:spPr>
        <p:txBody>
          <a:bodyPr wrap="none" lIns="0" rIns="0" anchor="ctr"/>
          <a:lstStyle/>
          <a:p>
            <a:pPr algn="ctr"/>
            <a:r>
              <a:rPr lang="en-US">
                <a:latin typeface="+mj-lt"/>
              </a:rPr>
              <a:t>1 0 1</a:t>
            </a:r>
          </a:p>
        </p:txBody>
      </p:sp>
      <p:sp>
        <p:nvSpPr>
          <p:cNvPr id="70" name="Rectangle 20"/>
          <p:cNvSpPr>
            <a:spLocks noChangeArrowheads="1"/>
          </p:cNvSpPr>
          <p:nvPr/>
        </p:nvSpPr>
        <p:spPr bwMode="auto">
          <a:xfrm>
            <a:off x="6934200" y="5334000"/>
            <a:ext cx="838200" cy="533400"/>
          </a:xfrm>
          <a:prstGeom prst="rect">
            <a:avLst/>
          </a:prstGeom>
          <a:solidFill>
            <a:schemeClr val="bg2"/>
          </a:solidFill>
          <a:ln w="9525">
            <a:solidFill>
              <a:schemeClr val="tx1"/>
            </a:solidFill>
            <a:miter lim="800000"/>
            <a:headEnd/>
            <a:tailEnd/>
          </a:ln>
        </p:spPr>
        <p:txBody>
          <a:bodyPr wrap="none" lIns="0" rIns="0" anchor="ctr"/>
          <a:lstStyle/>
          <a:p>
            <a:pPr algn="ctr"/>
            <a:r>
              <a:rPr lang="en-US">
                <a:latin typeface="+mj-lt"/>
              </a:rPr>
              <a:t>1 1 0</a:t>
            </a:r>
          </a:p>
        </p:txBody>
      </p:sp>
      <p:sp>
        <p:nvSpPr>
          <p:cNvPr id="71" name="Rectangle 21"/>
          <p:cNvSpPr>
            <a:spLocks noChangeArrowheads="1"/>
          </p:cNvSpPr>
          <p:nvPr/>
        </p:nvSpPr>
        <p:spPr bwMode="auto">
          <a:xfrm>
            <a:off x="8153400" y="5334000"/>
            <a:ext cx="838200" cy="533400"/>
          </a:xfrm>
          <a:prstGeom prst="rect">
            <a:avLst/>
          </a:prstGeom>
          <a:solidFill>
            <a:schemeClr val="bg2"/>
          </a:solidFill>
          <a:ln w="9525">
            <a:solidFill>
              <a:schemeClr val="tx1"/>
            </a:solidFill>
            <a:miter lim="800000"/>
            <a:headEnd/>
            <a:tailEnd/>
          </a:ln>
        </p:spPr>
        <p:txBody>
          <a:bodyPr wrap="none" lIns="0" rIns="0" anchor="ctr"/>
          <a:lstStyle/>
          <a:p>
            <a:pPr algn="ctr"/>
            <a:r>
              <a:rPr lang="en-US">
                <a:latin typeface="+mj-lt"/>
              </a:rPr>
              <a:t>1 1 1</a:t>
            </a:r>
          </a:p>
        </p:txBody>
      </p:sp>
      <p:sp>
        <p:nvSpPr>
          <p:cNvPr id="72" name="Line 22"/>
          <p:cNvSpPr>
            <a:spLocks noChangeShapeType="1"/>
          </p:cNvSpPr>
          <p:nvPr/>
        </p:nvSpPr>
        <p:spPr bwMode="auto">
          <a:xfrm flipH="1">
            <a:off x="2971800" y="2209800"/>
            <a:ext cx="8382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3" name="Line 23"/>
          <p:cNvSpPr>
            <a:spLocks noChangeShapeType="1"/>
          </p:cNvSpPr>
          <p:nvPr/>
        </p:nvSpPr>
        <p:spPr bwMode="auto">
          <a:xfrm flipH="1">
            <a:off x="1752600" y="3352800"/>
            <a:ext cx="7620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4" name="Line 24"/>
          <p:cNvSpPr>
            <a:spLocks noChangeShapeType="1"/>
          </p:cNvSpPr>
          <p:nvPr/>
        </p:nvSpPr>
        <p:spPr bwMode="auto">
          <a:xfrm>
            <a:off x="4343400" y="2133600"/>
            <a:ext cx="14478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5" name="Line 25"/>
          <p:cNvSpPr>
            <a:spLocks noChangeShapeType="1"/>
          </p:cNvSpPr>
          <p:nvPr/>
        </p:nvSpPr>
        <p:spPr bwMode="auto">
          <a:xfrm>
            <a:off x="6248400" y="3200400"/>
            <a:ext cx="1371600" cy="838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6" name="Line 26"/>
          <p:cNvSpPr>
            <a:spLocks noChangeShapeType="1"/>
          </p:cNvSpPr>
          <p:nvPr/>
        </p:nvSpPr>
        <p:spPr bwMode="auto">
          <a:xfrm>
            <a:off x="2895600" y="3429000"/>
            <a:ext cx="5334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7" name="Line 27"/>
          <p:cNvSpPr>
            <a:spLocks noChangeShapeType="1"/>
          </p:cNvSpPr>
          <p:nvPr/>
        </p:nvSpPr>
        <p:spPr bwMode="auto">
          <a:xfrm flipH="1">
            <a:off x="5791200" y="3352800"/>
            <a:ext cx="2286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8" name="Line 29"/>
          <p:cNvSpPr>
            <a:spLocks noChangeShapeType="1"/>
          </p:cNvSpPr>
          <p:nvPr/>
        </p:nvSpPr>
        <p:spPr bwMode="auto">
          <a:xfrm flipH="1">
            <a:off x="685800" y="4648200"/>
            <a:ext cx="6858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9" name="Line 30"/>
          <p:cNvSpPr>
            <a:spLocks noChangeShapeType="1"/>
          </p:cNvSpPr>
          <p:nvPr/>
        </p:nvSpPr>
        <p:spPr bwMode="auto">
          <a:xfrm>
            <a:off x="1371600" y="4648200"/>
            <a:ext cx="4572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0" name="Line 31"/>
          <p:cNvSpPr>
            <a:spLocks noChangeShapeType="1"/>
          </p:cNvSpPr>
          <p:nvPr/>
        </p:nvSpPr>
        <p:spPr bwMode="auto">
          <a:xfrm flipH="1">
            <a:off x="2971800" y="4648200"/>
            <a:ext cx="4572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1" name="Line 32"/>
          <p:cNvSpPr>
            <a:spLocks noChangeShapeType="1"/>
          </p:cNvSpPr>
          <p:nvPr/>
        </p:nvSpPr>
        <p:spPr bwMode="auto">
          <a:xfrm>
            <a:off x="3429000" y="4648200"/>
            <a:ext cx="6858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 name="Line 33"/>
          <p:cNvSpPr>
            <a:spLocks noChangeShapeType="1"/>
          </p:cNvSpPr>
          <p:nvPr/>
        </p:nvSpPr>
        <p:spPr bwMode="auto">
          <a:xfrm flipH="1">
            <a:off x="5257800" y="4648200"/>
            <a:ext cx="4572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3" name="Line 34"/>
          <p:cNvSpPr>
            <a:spLocks noChangeShapeType="1"/>
          </p:cNvSpPr>
          <p:nvPr/>
        </p:nvSpPr>
        <p:spPr bwMode="auto">
          <a:xfrm>
            <a:off x="5715000" y="4648200"/>
            <a:ext cx="6858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 name="Line 35"/>
          <p:cNvSpPr>
            <a:spLocks noChangeShapeType="1"/>
          </p:cNvSpPr>
          <p:nvPr/>
        </p:nvSpPr>
        <p:spPr bwMode="auto">
          <a:xfrm flipH="1">
            <a:off x="7391400" y="4648200"/>
            <a:ext cx="3048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 name="Line 36"/>
          <p:cNvSpPr>
            <a:spLocks noChangeShapeType="1"/>
          </p:cNvSpPr>
          <p:nvPr/>
        </p:nvSpPr>
        <p:spPr bwMode="auto">
          <a:xfrm>
            <a:off x="7696200" y="4648200"/>
            <a:ext cx="9144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mc:AlternateContent xmlns:mc="http://schemas.openxmlformats.org/markup-compatibility/2006" xmlns:a14="http://schemas.microsoft.com/office/drawing/2010/main">
        <mc:Choice Requires="a14">
          <p:sp>
            <p:nvSpPr>
              <p:cNvPr id="86" name="Text Box 43"/>
              <p:cNvSpPr txBox="1">
                <a:spLocks noChangeArrowheads="1"/>
              </p:cNvSpPr>
              <p:nvPr/>
            </p:nvSpPr>
            <p:spPr bwMode="auto">
              <a:xfrm>
                <a:off x="533400" y="4738688"/>
                <a:ext cx="838200" cy="36671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a:latin typeface="Cambria Math"/>
                            </a:rPr>
                            <m:t>𝑥</m:t>
                          </m:r>
                        </m:e>
                        <m:sub>
                          <m:r>
                            <a:rPr lang="en-US" b="0" i="1" dirty="0" smtClean="0">
                              <a:latin typeface="Cambria Math"/>
                            </a:rPr>
                            <m:t>3</m:t>
                          </m:r>
                        </m:sub>
                      </m:sSub>
                      <m:r>
                        <a:rPr lang="en-US" i="1" dirty="0">
                          <a:latin typeface="Cambria Math"/>
                        </a:rPr>
                        <m:t>=0</m:t>
                      </m:r>
                    </m:oMath>
                  </m:oMathPara>
                </a14:m>
                <a:endParaRPr lang="en-US" dirty="0"/>
              </a:p>
            </p:txBody>
          </p:sp>
        </mc:Choice>
        <mc:Fallback xmlns="">
          <p:sp>
            <p:nvSpPr>
              <p:cNvPr id="86" name="Text Box 43"/>
              <p:cNvSpPr txBox="1">
                <a:spLocks noRot="1" noChangeAspect="1" noMove="1" noResize="1" noEditPoints="1" noAdjustHandles="1" noChangeArrowheads="1" noChangeShapeType="1" noTextEdit="1"/>
              </p:cNvSpPr>
              <p:nvPr/>
            </p:nvSpPr>
            <p:spPr bwMode="auto">
              <a:xfrm>
                <a:off x="533400" y="4738688"/>
                <a:ext cx="838200" cy="366712"/>
              </a:xfrm>
              <a:prstGeom prst="rect">
                <a:avLst/>
              </a:prstGeom>
              <a:blipFill rotWithShape="1">
                <a:blip r:embed="rId7"/>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 Box 39"/>
              <p:cNvSpPr txBox="1">
                <a:spLocks noChangeArrowheads="1"/>
              </p:cNvSpPr>
              <p:nvPr/>
            </p:nvSpPr>
            <p:spPr bwMode="auto">
              <a:xfrm>
                <a:off x="5181600" y="3443288"/>
                <a:ext cx="838200" cy="36671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a:latin typeface="Cambria Math"/>
                            </a:rPr>
                            <m:t>𝑥</m:t>
                          </m:r>
                        </m:e>
                        <m:sub>
                          <m:r>
                            <a:rPr lang="en-US" b="0" i="1" dirty="0" smtClean="0">
                              <a:latin typeface="Cambria Math"/>
                            </a:rPr>
                            <m:t>2</m:t>
                          </m:r>
                        </m:sub>
                      </m:sSub>
                      <m:r>
                        <a:rPr lang="en-US" i="1" dirty="0">
                          <a:latin typeface="Cambria Math"/>
                        </a:rPr>
                        <m:t>=0</m:t>
                      </m:r>
                    </m:oMath>
                  </m:oMathPara>
                </a14:m>
                <a:endParaRPr lang="en-US" dirty="0"/>
              </a:p>
            </p:txBody>
          </p:sp>
        </mc:Choice>
        <mc:Fallback xmlns="">
          <p:sp>
            <p:nvSpPr>
              <p:cNvPr id="87" name="Text Box 39"/>
              <p:cNvSpPr txBox="1">
                <a:spLocks noRot="1" noChangeAspect="1" noMove="1" noResize="1" noEditPoints="1" noAdjustHandles="1" noChangeArrowheads="1" noChangeShapeType="1" noTextEdit="1"/>
              </p:cNvSpPr>
              <p:nvPr/>
            </p:nvSpPr>
            <p:spPr bwMode="auto">
              <a:xfrm>
                <a:off x="5181600" y="3443288"/>
                <a:ext cx="838200" cy="366712"/>
              </a:xfrm>
              <a:prstGeom prst="rect">
                <a:avLst/>
              </a:prstGeom>
              <a:blipFill rotWithShape="1">
                <a:blip r:embed="rId8"/>
                <a:stretch>
                  <a:fillRect b="-1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 Box 40"/>
              <p:cNvSpPr txBox="1">
                <a:spLocks noChangeArrowheads="1"/>
              </p:cNvSpPr>
              <p:nvPr/>
            </p:nvSpPr>
            <p:spPr bwMode="auto">
              <a:xfrm>
                <a:off x="6781800" y="3290887"/>
                <a:ext cx="838200" cy="36671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a:latin typeface="Cambria Math"/>
                            </a:rPr>
                            <m:t>𝑥</m:t>
                          </m:r>
                        </m:e>
                        <m:sub>
                          <m:r>
                            <a:rPr lang="en-US" b="0" i="1" dirty="0" smtClean="0">
                              <a:latin typeface="Cambria Math"/>
                            </a:rPr>
                            <m:t>2</m:t>
                          </m:r>
                        </m:sub>
                      </m:sSub>
                      <m:r>
                        <a:rPr lang="en-US" i="1" dirty="0">
                          <a:latin typeface="Cambria Math"/>
                        </a:rPr>
                        <m:t>=</m:t>
                      </m:r>
                      <m:r>
                        <a:rPr lang="en-US" b="0" i="1" dirty="0" smtClean="0">
                          <a:latin typeface="Cambria Math"/>
                        </a:rPr>
                        <m:t>1</m:t>
                      </m:r>
                    </m:oMath>
                  </m:oMathPara>
                </a14:m>
                <a:endParaRPr lang="en-US" dirty="0"/>
              </a:p>
            </p:txBody>
          </p:sp>
        </mc:Choice>
        <mc:Fallback xmlns="">
          <p:sp>
            <p:nvSpPr>
              <p:cNvPr id="88" name="Text Box 40"/>
              <p:cNvSpPr txBox="1">
                <a:spLocks noRot="1" noChangeAspect="1" noMove="1" noResize="1" noEditPoints="1" noAdjustHandles="1" noChangeArrowheads="1" noChangeShapeType="1" noTextEdit="1"/>
              </p:cNvSpPr>
              <p:nvPr/>
            </p:nvSpPr>
            <p:spPr bwMode="auto">
              <a:xfrm>
                <a:off x="6781800" y="3290887"/>
                <a:ext cx="838200" cy="366713"/>
              </a:xfrm>
              <a:prstGeom prst="rect">
                <a:avLst/>
              </a:prstGeom>
              <a:blipFill rotWithShape="1">
                <a:blip r:embed="rId9"/>
                <a:stretch>
                  <a:fillRect b="-1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 Box 43"/>
              <p:cNvSpPr txBox="1">
                <a:spLocks noChangeArrowheads="1"/>
              </p:cNvSpPr>
              <p:nvPr/>
            </p:nvSpPr>
            <p:spPr bwMode="auto">
              <a:xfrm>
                <a:off x="2438400" y="4724400"/>
                <a:ext cx="838200" cy="36671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a:latin typeface="Cambria Math"/>
                            </a:rPr>
                            <m:t>𝑥</m:t>
                          </m:r>
                        </m:e>
                        <m:sub>
                          <m:r>
                            <a:rPr lang="en-US" b="0" i="1" dirty="0" smtClean="0">
                              <a:latin typeface="Cambria Math"/>
                            </a:rPr>
                            <m:t>3</m:t>
                          </m:r>
                        </m:sub>
                      </m:sSub>
                      <m:r>
                        <a:rPr lang="en-US" i="1" dirty="0">
                          <a:latin typeface="Cambria Math"/>
                        </a:rPr>
                        <m:t>=0</m:t>
                      </m:r>
                    </m:oMath>
                  </m:oMathPara>
                </a14:m>
                <a:endParaRPr lang="en-US" dirty="0"/>
              </a:p>
            </p:txBody>
          </p:sp>
        </mc:Choice>
        <mc:Fallback xmlns="">
          <p:sp>
            <p:nvSpPr>
              <p:cNvPr id="90" name="Text Box 43"/>
              <p:cNvSpPr txBox="1">
                <a:spLocks noRot="1" noChangeAspect="1" noMove="1" noResize="1" noEditPoints="1" noAdjustHandles="1" noChangeArrowheads="1" noChangeShapeType="1" noTextEdit="1"/>
              </p:cNvSpPr>
              <p:nvPr/>
            </p:nvSpPr>
            <p:spPr bwMode="auto">
              <a:xfrm>
                <a:off x="2438400" y="4724400"/>
                <a:ext cx="838200" cy="366712"/>
              </a:xfrm>
              <a:prstGeom prst="rect">
                <a:avLst/>
              </a:prstGeom>
              <a:blipFill rotWithShape="1">
                <a:blip r:embed="rId10"/>
                <a:stretch>
                  <a:fillRect b="-1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Text Box 44"/>
              <p:cNvSpPr txBox="1">
                <a:spLocks noChangeArrowheads="1"/>
              </p:cNvSpPr>
              <p:nvPr/>
            </p:nvSpPr>
            <p:spPr bwMode="auto">
              <a:xfrm>
                <a:off x="3733800" y="4724400"/>
                <a:ext cx="838200" cy="36671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a:latin typeface="Cambria Math"/>
                            </a:rPr>
                            <m:t>𝑥</m:t>
                          </m:r>
                        </m:e>
                        <m:sub>
                          <m:r>
                            <a:rPr lang="en-US" i="1" dirty="0">
                              <a:latin typeface="Cambria Math"/>
                            </a:rPr>
                            <m:t>3</m:t>
                          </m:r>
                        </m:sub>
                      </m:sSub>
                      <m:r>
                        <a:rPr lang="en-US" i="1" dirty="0">
                          <a:latin typeface="Cambria Math"/>
                        </a:rPr>
                        <m:t>=</m:t>
                      </m:r>
                      <m:r>
                        <a:rPr lang="en-US" b="0" i="1" dirty="0" smtClean="0">
                          <a:latin typeface="Cambria Math"/>
                        </a:rPr>
                        <m:t>1</m:t>
                      </m:r>
                    </m:oMath>
                  </m:oMathPara>
                </a14:m>
                <a:endParaRPr lang="en-US" dirty="0"/>
              </a:p>
            </p:txBody>
          </p:sp>
        </mc:Choice>
        <mc:Fallback xmlns="">
          <p:sp>
            <p:nvSpPr>
              <p:cNvPr id="91" name="Text Box 44"/>
              <p:cNvSpPr txBox="1">
                <a:spLocks noRot="1" noChangeAspect="1" noMove="1" noResize="1" noEditPoints="1" noAdjustHandles="1" noChangeArrowheads="1" noChangeShapeType="1" noTextEdit="1"/>
              </p:cNvSpPr>
              <p:nvPr/>
            </p:nvSpPr>
            <p:spPr bwMode="auto">
              <a:xfrm>
                <a:off x="3733800" y="4724400"/>
                <a:ext cx="838200" cy="366713"/>
              </a:xfrm>
              <a:prstGeom prst="rect">
                <a:avLst/>
              </a:prstGeom>
              <a:blipFill rotWithShape="1">
                <a:blip r:embed="rId11"/>
                <a:stretch>
                  <a:fillRect b="-1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Text Box 43"/>
              <p:cNvSpPr txBox="1">
                <a:spLocks noChangeArrowheads="1"/>
              </p:cNvSpPr>
              <p:nvPr/>
            </p:nvSpPr>
            <p:spPr bwMode="auto">
              <a:xfrm>
                <a:off x="4800600" y="4724400"/>
                <a:ext cx="838200" cy="36671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a:latin typeface="Cambria Math"/>
                            </a:rPr>
                            <m:t>𝑥</m:t>
                          </m:r>
                        </m:e>
                        <m:sub>
                          <m:r>
                            <a:rPr lang="en-US" b="0" i="1" dirty="0" smtClean="0">
                              <a:latin typeface="Cambria Math"/>
                            </a:rPr>
                            <m:t>3</m:t>
                          </m:r>
                        </m:sub>
                      </m:sSub>
                      <m:r>
                        <a:rPr lang="en-US" i="1" dirty="0">
                          <a:latin typeface="Cambria Math"/>
                        </a:rPr>
                        <m:t>=0</m:t>
                      </m:r>
                    </m:oMath>
                  </m:oMathPara>
                </a14:m>
                <a:endParaRPr lang="en-US" dirty="0"/>
              </a:p>
            </p:txBody>
          </p:sp>
        </mc:Choice>
        <mc:Fallback xmlns="">
          <p:sp>
            <p:nvSpPr>
              <p:cNvPr id="92" name="Text Box 43"/>
              <p:cNvSpPr txBox="1">
                <a:spLocks noRot="1" noChangeAspect="1" noMove="1" noResize="1" noEditPoints="1" noAdjustHandles="1" noChangeArrowheads="1" noChangeShapeType="1" noTextEdit="1"/>
              </p:cNvSpPr>
              <p:nvPr/>
            </p:nvSpPr>
            <p:spPr bwMode="auto">
              <a:xfrm>
                <a:off x="4800600" y="4724400"/>
                <a:ext cx="838200" cy="366712"/>
              </a:xfrm>
              <a:prstGeom prst="rect">
                <a:avLst/>
              </a:prstGeom>
              <a:blipFill rotWithShape="1">
                <a:blip r:embed="rId12"/>
                <a:stretch>
                  <a:fillRect b="-1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Text Box 44"/>
              <p:cNvSpPr txBox="1">
                <a:spLocks noChangeArrowheads="1"/>
              </p:cNvSpPr>
              <p:nvPr/>
            </p:nvSpPr>
            <p:spPr bwMode="auto">
              <a:xfrm>
                <a:off x="6019800" y="4738687"/>
                <a:ext cx="838200" cy="36671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a:latin typeface="Cambria Math"/>
                            </a:rPr>
                            <m:t>𝑥</m:t>
                          </m:r>
                        </m:e>
                        <m:sub>
                          <m:r>
                            <a:rPr lang="en-US" i="1" dirty="0">
                              <a:latin typeface="Cambria Math"/>
                            </a:rPr>
                            <m:t>3</m:t>
                          </m:r>
                        </m:sub>
                      </m:sSub>
                      <m:r>
                        <a:rPr lang="en-US" i="1" dirty="0">
                          <a:latin typeface="Cambria Math"/>
                        </a:rPr>
                        <m:t>=</m:t>
                      </m:r>
                      <m:r>
                        <a:rPr lang="en-US" b="0" i="1" dirty="0" smtClean="0">
                          <a:latin typeface="Cambria Math"/>
                        </a:rPr>
                        <m:t>1</m:t>
                      </m:r>
                    </m:oMath>
                  </m:oMathPara>
                </a14:m>
                <a:endParaRPr lang="en-US" dirty="0"/>
              </a:p>
            </p:txBody>
          </p:sp>
        </mc:Choice>
        <mc:Fallback xmlns="">
          <p:sp>
            <p:nvSpPr>
              <p:cNvPr id="93" name="Text Box 44"/>
              <p:cNvSpPr txBox="1">
                <a:spLocks noRot="1" noChangeAspect="1" noMove="1" noResize="1" noEditPoints="1" noAdjustHandles="1" noChangeArrowheads="1" noChangeShapeType="1" noTextEdit="1"/>
              </p:cNvSpPr>
              <p:nvPr/>
            </p:nvSpPr>
            <p:spPr bwMode="auto">
              <a:xfrm>
                <a:off x="6019800" y="4738687"/>
                <a:ext cx="838200" cy="366713"/>
              </a:xfrm>
              <a:prstGeom prst="rect">
                <a:avLst/>
              </a:prstGeom>
              <a:blipFill rotWithShape="1">
                <a:blip r:embed="rId1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 Box 43"/>
              <p:cNvSpPr txBox="1">
                <a:spLocks noChangeArrowheads="1"/>
              </p:cNvSpPr>
              <p:nvPr/>
            </p:nvSpPr>
            <p:spPr bwMode="auto">
              <a:xfrm>
                <a:off x="6858000" y="4724400"/>
                <a:ext cx="838200" cy="36671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a:latin typeface="Cambria Math"/>
                            </a:rPr>
                            <m:t>𝑥</m:t>
                          </m:r>
                        </m:e>
                        <m:sub>
                          <m:r>
                            <a:rPr lang="en-US" b="0" i="1" dirty="0" smtClean="0">
                              <a:latin typeface="Cambria Math"/>
                            </a:rPr>
                            <m:t>3</m:t>
                          </m:r>
                        </m:sub>
                      </m:sSub>
                      <m:r>
                        <a:rPr lang="en-US" i="1" dirty="0">
                          <a:latin typeface="Cambria Math"/>
                        </a:rPr>
                        <m:t>=0</m:t>
                      </m:r>
                    </m:oMath>
                  </m:oMathPara>
                </a14:m>
                <a:endParaRPr lang="en-US" dirty="0"/>
              </a:p>
            </p:txBody>
          </p:sp>
        </mc:Choice>
        <mc:Fallback xmlns="">
          <p:sp>
            <p:nvSpPr>
              <p:cNvPr id="94" name="Text Box 43"/>
              <p:cNvSpPr txBox="1">
                <a:spLocks noRot="1" noChangeAspect="1" noMove="1" noResize="1" noEditPoints="1" noAdjustHandles="1" noChangeArrowheads="1" noChangeShapeType="1" noTextEdit="1"/>
              </p:cNvSpPr>
              <p:nvPr/>
            </p:nvSpPr>
            <p:spPr bwMode="auto">
              <a:xfrm>
                <a:off x="6858000" y="4724400"/>
                <a:ext cx="838200" cy="366712"/>
              </a:xfrm>
              <a:prstGeom prst="rect">
                <a:avLst/>
              </a:prstGeom>
              <a:blipFill rotWithShape="1">
                <a:blip r:embed="rId10"/>
                <a:stretch>
                  <a:fillRect b="-1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 Box 44"/>
              <p:cNvSpPr txBox="1">
                <a:spLocks noChangeArrowheads="1"/>
              </p:cNvSpPr>
              <p:nvPr/>
            </p:nvSpPr>
            <p:spPr bwMode="auto">
              <a:xfrm>
                <a:off x="8077200" y="4715774"/>
                <a:ext cx="838200" cy="36671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a:latin typeface="Cambria Math"/>
                            </a:rPr>
                            <m:t>𝑥</m:t>
                          </m:r>
                        </m:e>
                        <m:sub>
                          <m:r>
                            <a:rPr lang="en-US" i="1" dirty="0">
                              <a:latin typeface="Cambria Math"/>
                            </a:rPr>
                            <m:t>3</m:t>
                          </m:r>
                        </m:sub>
                      </m:sSub>
                      <m:r>
                        <a:rPr lang="en-US" i="1" dirty="0">
                          <a:latin typeface="Cambria Math"/>
                        </a:rPr>
                        <m:t>=</m:t>
                      </m:r>
                      <m:r>
                        <a:rPr lang="en-US" b="0" i="1" dirty="0" smtClean="0">
                          <a:latin typeface="Cambria Math"/>
                        </a:rPr>
                        <m:t>1</m:t>
                      </m:r>
                    </m:oMath>
                  </m:oMathPara>
                </a14:m>
                <a:endParaRPr lang="en-US" dirty="0"/>
              </a:p>
            </p:txBody>
          </p:sp>
        </mc:Choice>
        <mc:Fallback xmlns="">
          <p:sp>
            <p:nvSpPr>
              <p:cNvPr id="95" name="Text Box 44"/>
              <p:cNvSpPr txBox="1">
                <a:spLocks noRot="1" noChangeAspect="1" noMove="1" noResize="1" noEditPoints="1" noAdjustHandles="1" noChangeArrowheads="1" noChangeShapeType="1" noTextEdit="1"/>
              </p:cNvSpPr>
              <p:nvPr/>
            </p:nvSpPr>
            <p:spPr bwMode="auto">
              <a:xfrm>
                <a:off x="8077200" y="4715774"/>
                <a:ext cx="838200" cy="366713"/>
              </a:xfrm>
              <a:prstGeom prst="rect">
                <a:avLst/>
              </a:prstGeom>
              <a:blipFill rotWithShape="1">
                <a:blip r:embed="rId14"/>
                <a:stretch>
                  <a:fillRect b="-1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7382001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p:sp>
        <p:nvSpPr>
          <p:cNvPr id="5" name="Content Placeholder 4"/>
          <p:cNvSpPr>
            <a:spLocks noGrp="1"/>
          </p:cNvSpPr>
          <p:nvPr>
            <p:ph sz="quarter" idx="1"/>
          </p:nvPr>
        </p:nvSpPr>
        <p:spPr/>
        <p:txBody>
          <a:bodyPr/>
          <a:lstStyle/>
          <a:p>
            <a:r>
              <a:rPr lang="en-US" b="1" dirty="0"/>
              <a:t>Exercise 9</a:t>
            </a:r>
            <a:r>
              <a:rPr lang="en-US" dirty="0"/>
              <a:t>. Using backtracking algorithm, list all elements of set:</a:t>
            </a:r>
          </a:p>
        </p:txBody>
      </p:sp>
      <p:graphicFrame>
        <p:nvGraphicFramePr>
          <p:cNvPr id="6" name="Object 5"/>
          <p:cNvGraphicFramePr>
            <a:graphicFrameLocks noChangeAspect="1"/>
          </p:cNvGraphicFramePr>
          <p:nvPr>
            <p:extLst>
              <p:ext uri="{D42A27DB-BD31-4B8C-83A1-F6EECF244321}">
                <p14:modId xmlns:p14="http://schemas.microsoft.com/office/powerpoint/2010/main" val="41842662"/>
              </p:ext>
            </p:extLst>
          </p:nvPr>
        </p:nvGraphicFramePr>
        <p:xfrm>
          <a:off x="1295400" y="2133600"/>
          <a:ext cx="6381750" cy="1020763"/>
        </p:xfrm>
        <a:graphic>
          <a:graphicData uri="http://schemas.openxmlformats.org/presentationml/2006/ole">
            <mc:AlternateContent xmlns:mc="http://schemas.openxmlformats.org/markup-compatibility/2006">
              <mc:Choice xmlns:v="urn:schemas-microsoft-com:vml" Requires="v">
                <p:oleObj spid="_x0000_s1029" name="Equation" r:id="rId3" imgW="2857500" imgH="457200" progId="Equation.3">
                  <p:embed/>
                </p:oleObj>
              </mc:Choice>
              <mc:Fallback>
                <p:oleObj name="Equation" r:id="rId3" imgW="2857500" imgH="4572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2133600"/>
                        <a:ext cx="6381750" cy="1020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7" name="Rectangle 6"/>
              <p:cNvSpPr/>
              <p:nvPr/>
            </p:nvSpPr>
            <p:spPr>
              <a:xfrm>
                <a:off x="685800" y="3163669"/>
                <a:ext cx="7696200" cy="978729"/>
              </a:xfrm>
              <a:prstGeom prst="rect">
                <a:avLst/>
              </a:prstGeom>
            </p:spPr>
            <p:txBody>
              <a:bodyPr wrap="square">
                <a:spAutoFit/>
              </a:bodyPr>
              <a:lstStyle/>
              <a:p>
                <a:pPr>
                  <a:spcBef>
                    <a:spcPct val="40000"/>
                  </a:spcBef>
                </a:pPr>
                <a:r>
                  <a:rPr lang="en-US" sz="2400" dirty="0"/>
                  <a:t>Where, </a:t>
                </a:r>
                <a14:m>
                  <m:oMath xmlns:m="http://schemas.openxmlformats.org/officeDocument/2006/math">
                    <m:r>
                      <a:rPr lang="en-US" sz="2400" i="1" dirty="0" smtClean="0">
                        <a:latin typeface="Cambria Math"/>
                      </a:rPr>
                      <m:t>𝑥</m:t>
                    </m:r>
                    <m:r>
                      <a:rPr lang="en-US" sz="2400" i="1" baseline="-25000" dirty="0">
                        <a:latin typeface="Cambria Math"/>
                      </a:rPr>
                      <m:t>𝑖</m:t>
                    </m:r>
                    <m:r>
                      <a:rPr lang="en-US" sz="2400" i="1" dirty="0">
                        <a:latin typeface="Cambria Math"/>
                      </a:rPr>
                      <m:t>=0, 1</m:t>
                    </m:r>
                  </m:oMath>
                </a14:m>
                <a:r>
                  <a:rPr lang="en-US" sz="2400" dirty="0"/>
                  <a:t>; </a:t>
                </a:r>
                <a14:m>
                  <m:oMath xmlns:m="http://schemas.openxmlformats.org/officeDocument/2006/math">
                    <m:r>
                      <a:rPr lang="en-US" sz="2400" i="1" dirty="0" smtClean="0">
                        <a:latin typeface="Cambria Math"/>
                      </a:rPr>
                      <m:t>𝑐</m:t>
                    </m:r>
                    <m:r>
                      <a:rPr lang="en-US" sz="2400" i="1" baseline="-25000" dirty="0">
                        <a:latin typeface="Cambria Math"/>
                      </a:rPr>
                      <m:t>𝑖</m:t>
                    </m:r>
                    <m:r>
                      <a:rPr lang="en-US" sz="2400" i="1" dirty="0">
                        <a:latin typeface="Cambria Math"/>
                      </a:rPr>
                      <m:t>, </m:t>
                    </m:r>
                    <m:r>
                      <a:rPr lang="en-US" sz="2400" i="1" dirty="0" err="1">
                        <a:latin typeface="Cambria Math"/>
                      </a:rPr>
                      <m:t>𝑎</m:t>
                    </m:r>
                    <m:r>
                      <a:rPr lang="en-US" sz="2400" i="1" baseline="-25000" dirty="0" err="1">
                        <a:latin typeface="Cambria Math"/>
                      </a:rPr>
                      <m:t>𝑖</m:t>
                    </m:r>
                    <m:r>
                      <a:rPr lang="en-US" sz="2400" i="1" dirty="0" err="1">
                        <a:latin typeface="Cambria Math"/>
                        <a:sym typeface="Symbol" pitchFamily="18" charset="2"/>
                      </a:rPr>
                      <m:t></m:t>
                    </m:r>
                    <m:r>
                      <a:rPr lang="en-US" sz="2400" i="1" dirty="0" err="1">
                        <a:latin typeface="Cambria Math"/>
                        <a:sym typeface="Symbol" pitchFamily="18" charset="2"/>
                      </a:rPr>
                      <m:t>𝑍</m:t>
                    </m:r>
                    <m:r>
                      <a:rPr lang="en-US" sz="2400" i="1" baseline="30000" dirty="0">
                        <a:latin typeface="Cambria Math"/>
                        <a:sym typeface="Symbol" pitchFamily="18" charset="2"/>
                      </a:rPr>
                      <m:t>+</m:t>
                    </m:r>
                  </m:oMath>
                </a14:m>
                <a:r>
                  <a:rPr lang="en-US" sz="2400" dirty="0">
                    <a:sym typeface="Symbol" pitchFamily="18" charset="2"/>
                  </a:rPr>
                  <a:t>; </a:t>
                </a:r>
                <a:endParaRPr lang="en-US" sz="2400" i="1" dirty="0">
                  <a:latin typeface="Cambria Math"/>
                  <a:sym typeface="Symbol" pitchFamily="18" charset="2"/>
                </a:endParaRPr>
              </a:p>
              <a:p>
                <a:pPr>
                  <a:spcBef>
                    <a:spcPct val="40000"/>
                  </a:spcBef>
                </a:pPr>
                <a14:m>
                  <m:oMath xmlns:m="http://schemas.openxmlformats.org/officeDocument/2006/math">
                    <m:r>
                      <a:rPr lang="en-US" sz="2400" i="1" dirty="0" smtClean="0">
                        <a:latin typeface="Cambria Math"/>
                        <a:sym typeface="Symbol" pitchFamily="18" charset="2"/>
                      </a:rPr>
                      <m:t>𝑛</m:t>
                    </m:r>
                    <m:r>
                      <a:rPr lang="en-US" sz="2400" i="1" dirty="0" smtClean="0">
                        <a:latin typeface="Cambria Math"/>
                        <a:sym typeface="Symbol" pitchFamily="18" charset="2"/>
                      </a:rPr>
                      <m:t>≤100, </m:t>
                    </m:r>
                    <m:r>
                      <a:rPr lang="en-US" sz="2400" i="1" dirty="0" smtClean="0">
                        <a:latin typeface="Cambria Math"/>
                        <a:sym typeface="Symbol" pitchFamily="18" charset="2"/>
                      </a:rPr>
                      <m:t>𝑊</m:t>
                    </m:r>
                    <m:r>
                      <a:rPr lang="en-US" sz="2400" i="1" dirty="0" smtClean="0">
                        <a:latin typeface="Cambria Math"/>
                        <a:sym typeface="Symbol" pitchFamily="18" charset="2"/>
                      </a:rPr>
                      <m:t>≤32000; </m:t>
                    </m:r>
                    <m:r>
                      <a:rPr lang="en-US" sz="2400" i="1" dirty="0" smtClean="0">
                        <a:latin typeface="Cambria Math"/>
                        <a:sym typeface="Symbol" pitchFamily="18" charset="2"/>
                      </a:rPr>
                      <m:t>𝐾</m:t>
                    </m:r>
                    <m:r>
                      <a:rPr lang="en-US" sz="2400" i="1" dirty="0" smtClean="0">
                        <a:latin typeface="Cambria Math"/>
                        <a:sym typeface="Symbol" pitchFamily="18" charset="2"/>
                      </a:rPr>
                      <m:t> ≤32000</m:t>
                    </m:r>
                  </m:oMath>
                </a14:m>
                <a:r>
                  <a:rPr lang="en-US" sz="2400" dirty="0">
                    <a:sym typeface="Symbol" pitchFamily="18" charset="2"/>
                  </a:rPr>
                  <a:t>. </a:t>
                </a:r>
              </a:p>
            </p:txBody>
          </p:sp>
        </mc:Choice>
        <mc:Fallback xmlns="">
          <p:sp>
            <p:nvSpPr>
              <p:cNvPr id="7" name="Rectangle 6"/>
              <p:cNvSpPr>
                <a:spLocks noRot="1" noChangeAspect="1" noMove="1" noResize="1" noEditPoints="1" noAdjustHandles="1" noChangeArrowheads="1" noChangeShapeType="1" noTextEdit="1"/>
              </p:cNvSpPr>
              <p:nvPr/>
            </p:nvSpPr>
            <p:spPr>
              <a:xfrm>
                <a:off x="685800" y="3163669"/>
                <a:ext cx="7696200" cy="978729"/>
              </a:xfrm>
              <a:prstGeom prst="rect">
                <a:avLst/>
              </a:prstGeom>
              <a:blipFill>
                <a:blip r:embed="rId5"/>
                <a:stretch>
                  <a:fillRect l="-1268" t="-4969" b="-13043"/>
                </a:stretch>
              </a:blipFill>
            </p:spPr>
            <p:txBody>
              <a:bodyPr/>
              <a:lstStyle/>
              <a:p>
                <a:r>
                  <a:rPr lang="en-US">
                    <a:noFill/>
                  </a:rPr>
                  <a:t> </a:t>
                </a:r>
              </a:p>
            </p:txBody>
          </p:sp>
        </mc:Fallback>
      </mc:AlternateContent>
    </p:spTree>
    <p:extLst>
      <p:ext uri="{BB962C8B-B14F-4D97-AF65-F5344CB8AC3E}">
        <p14:creationId xmlns:p14="http://schemas.microsoft.com/office/powerpoint/2010/main" val="24314185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6</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dirty="0"/>
                  <a:t>List all combinations </a:t>
                </a:r>
                <a14:m>
                  <m:oMath xmlns:m="http://schemas.openxmlformats.org/officeDocument/2006/math">
                    <m:r>
                      <a:rPr lang="en-US" i="1" dirty="0">
                        <a:latin typeface="Cambria Math"/>
                      </a:rPr>
                      <m:t>𝑘</m:t>
                    </m:r>
                  </m:oMath>
                </a14:m>
                <a:r>
                  <a:rPr lang="en-US" dirty="0"/>
                  <a:t> of </a:t>
                </a:r>
                <a14:m>
                  <m:oMath xmlns:m="http://schemas.openxmlformats.org/officeDocument/2006/math">
                    <m:r>
                      <a:rPr lang="en-US" i="1" dirty="0">
                        <a:latin typeface="Cambria Math"/>
                      </a:rPr>
                      <m:t>1, 2,…, </m:t>
                    </m:r>
                    <m:r>
                      <a:rPr lang="en-US" i="1" dirty="0">
                        <a:latin typeface="Cambria Math"/>
                      </a:rPr>
                      <m:t>𝑛</m:t>
                    </m:r>
                  </m:oMath>
                </a14:m>
                <a:r>
                  <a:rPr lang="en-US" dirty="0"/>
                  <a:t>.</a:t>
                </a:r>
              </a:p>
              <a:p>
                <a:pPr marL="0" indent="0">
                  <a:buNone/>
                </a:pPr>
                <a:r>
                  <a:rPr lang="en-US" dirty="0"/>
                  <a:t>Each convolutional combinations </a:t>
                </a:r>
                <a14:m>
                  <m:oMath xmlns:m="http://schemas.openxmlformats.org/officeDocument/2006/math">
                    <m:r>
                      <a:rPr lang="en-US" i="1" dirty="0">
                        <a:latin typeface="Cambria Math"/>
                      </a:rPr>
                      <m:t>𝑘</m:t>
                    </m:r>
                  </m:oMath>
                </a14:m>
                <a:r>
                  <a:rPr lang="en-US" dirty="0"/>
                  <a:t> of </a:t>
                </a:r>
                <a14:m>
                  <m:oMath xmlns:m="http://schemas.openxmlformats.org/officeDocument/2006/math">
                    <m:r>
                      <a:rPr lang="en-US" i="1" dirty="0">
                        <a:latin typeface="Cambria Math"/>
                      </a:rPr>
                      <m:t>1, 2,…, </m:t>
                    </m:r>
                    <m:r>
                      <a:rPr lang="en-US" i="1" dirty="0">
                        <a:latin typeface="Cambria Math"/>
                      </a:rPr>
                      <m:t>𝑛</m:t>
                    </m:r>
                  </m:oMath>
                </a14:m>
                <a:r>
                  <a:rPr lang="en-US" dirty="0"/>
                  <a:t>  is a subset of </a:t>
                </a:r>
                <a14:m>
                  <m:oMath xmlns:m="http://schemas.openxmlformats.org/officeDocument/2006/math">
                    <m:r>
                      <a:rPr lang="en-US" i="1" dirty="0">
                        <a:latin typeface="Cambria Math"/>
                      </a:rPr>
                      <m:t>𝑘</m:t>
                    </m:r>
                  </m:oMath>
                </a14:m>
                <a:r>
                  <a:rPr lang="en-US" dirty="0"/>
                  <a:t> different elements of </a:t>
                </a:r>
                <a14:m>
                  <m:oMath xmlns:m="http://schemas.openxmlformats.org/officeDocument/2006/math">
                    <m:r>
                      <a:rPr lang="en-US" i="1" dirty="0">
                        <a:latin typeface="Cambria Math"/>
                      </a:rPr>
                      <m:t>1, 2,…, </m:t>
                    </m:r>
                    <m:r>
                      <a:rPr lang="en-US" i="1" dirty="0">
                        <a:latin typeface="Cambria Math"/>
                      </a:rPr>
                      <m:t>𝑛</m:t>
                    </m:r>
                  </m:oMath>
                </a14:m>
                <a:r>
                  <a:rPr lang="en-US" dirty="0"/>
                  <a:t>. </a:t>
                </a: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3"/>
                <a:stretch>
                  <a:fillRect l="-1111" t="-1111"/>
                </a:stretch>
              </a:blipFill>
            </p:spPr>
            <p:txBody>
              <a:bodyPr/>
              <a:lstStyle/>
              <a:p>
                <a:r>
                  <a:rPr lang="en-US">
                    <a:noFill/>
                  </a:rPr>
                  <a:t> </a:t>
                </a:r>
              </a:p>
            </p:txBody>
          </p:sp>
        </mc:Fallback>
      </mc:AlternateContent>
      <p:sp>
        <p:nvSpPr>
          <p:cNvPr id="6" name="Rectangle 5"/>
          <p:cNvSpPr/>
          <p:nvPr/>
        </p:nvSpPr>
        <p:spPr>
          <a:xfrm>
            <a:off x="612648" y="2409448"/>
            <a:ext cx="6019800" cy="3847207"/>
          </a:xfrm>
          <a:prstGeom prst="rect">
            <a:avLst/>
          </a:prstGeom>
        </p:spPr>
        <p:txBody>
          <a:bodyPr wrap="square">
            <a:spAutoFit/>
          </a:bodyPr>
          <a:lstStyle/>
          <a:p>
            <a:pPr>
              <a:spcBef>
                <a:spcPct val="40000"/>
              </a:spcBef>
            </a:pPr>
            <a:r>
              <a:rPr lang="en-US" sz="2000" dirty="0">
                <a:latin typeface="+mj-lt"/>
                <a:sym typeface="Symbol" pitchFamily="18" charset="2"/>
              </a:rPr>
              <a:t>void Try ( </a:t>
            </a:r>
            <a:r>
              <a:rPr lang="en-US" sz="2000" dirty="0" err="1">
                <a:latin typeface="+mj-lt"/>
                <a:sym typeface="Symbol" pitchFamily="18" charset="2"/>
              </a:rPr>
              <a:t>int</a:t>
            </a:r>
            <a:r>
              <a:rPr lang="en-US" sz="2000" dirty="0">
                <a:latin typeface="+mj-lt"/>
                <a:sym typeface="Symbol" pitchFamily="18" charset="2"/>
              </a:rPr>
              <a:t> i ) {</a:t>
            </a:r>
          </a:p>
          <a:p>
            <a:pPr>
              <a:spcBef>
                <a:spcPct val="40000"/>
              </a:spcBef>
            </a:pPr>
            <a:r>
              <a:rPr lang="en-US" sz="2000" dirty="0">
                <a:latin typeface="+mj-lt"/>
                <a:sym typeface="Symbol" pitchFamily="18" charset="2"/>
              </a:rPr>
              <a:t>	</a:t>
            </a:r>
            <a:r>
              <a:rPr lang="en-US" sz="2000" b="1" dirty="0">
                <a:latin typeface="+mj-lt"/>
                <a:sym typeface="Symbol" pitchFamily="18" charset="2"/>
              </a:rPr>
              <a:t>for</a:t>
            </a:r>
            <a:r>
              <a:rPr lang="en-US" sz="2000" dirty="0">
                <a:latin typeface="+mj-lt"/>
                <a:sym typeface="Symbol" pitchFamily="18" charset="2"/>
              </a:rPr>
              <a:t> (</a:t>
            </a:r>
            <a:r>
              <a:rPr lang="en-US" sz="2000" dirty="0" err="1">
                <a:latin typeface="+mj-lt"/>
                <a:sym typeface="Symbol" pitchFamily="18" charset="2"/>
              </a:rPr>
              <a:t>int</a:t>
            </a:r>
            <a:r>
              <a:rPr lang="en-US" sz="2000" dirty="0">
                <a:latin typeface="+mj-lt"/>
                <a:sym typeface="Symbol" pitchFamily="18" charset="2"/>
              </a:rPr>
              <a:t> j =X[i-1]+1; j&lt;=n-k+ i; j++){</a:t>
            </a:r>
          </a:p>
          <a:p>
            <a:pPr>
              <a:spcBef>
                <a:spcPct val="40000"/>
              </a:spcBef>
            </a:pPr>
            <a:r>
              <a:rPr lang="en-US" sz="2000" dirty="0">
                <a:latin typeface="+mj-lt"/>
                <a:sym typeface="Symbol" pitchFamily="18" charset="2"/>
              </a:rPr>
              <a:t>		X[i] = j;</a:t>
            </a:r>
          </a:p>
          <a:p>
            <a:pPr>
              <a:spcBef>
                <a:spcPct val="40000"/>
              </a:spcBef>
            </a:pPr>
            <a:r>
              <a:rPr lang="en-US" sz="2000" dirty="0">
                <a:latin typeface="+mj-lt"/>
                <a:sym typeface="Symbol" pitchFamily="18" charset="2"/>
              </a:rPr>
              <a:t>		</a:t>
            </a:r>
            <a:r>
              <a:rPr lang="en-US" sz="2000" b="1" dirty="0">
                <a:latin typeface="+mj-lt"/>
                <a:sym typeface="Symbol" pitchFamily="18" charset="2"/>
              </a:rPr>
              <a:t>if</a:t>
            </a:r>
            <a:r>
              <a:rPr lang="en-US" sz="2000" dirty="0">
                <a:latin typeface="+mj-lt"/>
                <a:sym typeface="Symbol" pitchFamily="18" charset="2"/>
              </a:rPr>
              <a:t> ( i ==k) </a:t>
            </a:r>
          </a:p>
          <a:p>
            <a:pPr>
              <a:spcBef>
                <a:spcPct val="40000"/>
              </a:spcBef>
            </a:pPr>
            <a:r>
              <a:rPr lang="en-US" sz="2000" dirty="0">
                <a:latin typeface="+mj-lt"/>
                <a:sym typeface="Symbol" pitchFamily="18" charset="2"/>
              </a:rPr>
              <a:t>			Result();</a:t>
            </a:r>
          </a:p>
          <a:p>
            <a:pPr>
              <a:spcBef>
                <a:spcPct val="40000"/>
              </a:spcBef>
            </a:pPr>
            <a:r>
              <a:rPr lang="en-US" sz="2000" dirty="0">
                <a:latin typeface="+mj-lt"/>
                <a:sym typeface="Symbol" pitchFamily="18" charset="2"/>
              </a:rPr>
              <a:t>		</a:t>
            </a:r>
            <a:r>
              <a:rPr lang="en-US" sz="2000" b="1" dirty="0">
                <a:latin typeface="+mj-lt"/>
                <a:sym typeface="Symbol" pitchFamily="18" charset="2"/>
              </a:rPr>
              <a:t>else</a:t>
            </a:r>
            <a:r>
              <a:rPr lang="en-US" sz="2000" dirty="0">
                <a:latin typeface="+mj-lt"/>
                <a:sym typeface="Symbol" pitchFamily="18" charset="2"/>
              </a:rPr>
              <a:t> </a:t>
            </a:r>
          </a:p>
          <a:p>
            <a:pPr>
              <a:spcBef>
                <a:spcPct val="40000"/>
              </a:spcBef>
            </a:pPr>
            <a:r>
              <a:rPr lang="en-US" sz="2000" dirty="0">
                <a:latin typeface="+mj-lt"/>
                <a:sym typeface="Symbol" pitchFamily="18" charset="2"/>
              </a:rPr>
              <a:t>			Try (i+1);</a:t>
            </a:r>
          </a:p>
          <a:p>
            <a:pPr>
              <a:spcBef>
                <a:spcPct val="40000"/>
              </a:spcBef>
            </a:pPr>
            <a:r>
              <a:rPr lang="en-US" sz="2000" dirty="0">
                <a:latin typeface="+mj-lt"/>
                <a:sym typeface="Symbol" pitchFamily="18" charset="2"/>
              </a:rPr>
              <a:t>	}</a:t>
            </a:r>
          </a:p>
          <a:p>
            <a:pPr>
              <a:spcBef>
                <a:spcPct val="40000"/>
              </a:spcBef>
            </a:pPr>
            <a:r>
              <a:rPr lang="en-US" sz="2000" dirty="0">
                <a:latin typeface="+mj-lt"/>
                <a:sym typeface="Symbol" pitchFamily="18" charset="2"/>
              </a:rPr>
              <a:t>}</a:t>
            </a:r>
          </a:p>
        </p:txBody>
      </p:sp>
      <mc:AlternateContent xmlns:mc="http://schemas.openxmlformats.org/markup-compatibility/2006" xmlns:a14="http://schemas.microsoft.com/office/drawing/2010/main">
        <mc:Choice Requires="a14">
          <p:sp>
            <p:nvSpPr>
              <p:cNvPr id="7" name="Rectangle 6"/>
              <p:cNvSpPr/>
              <p:nvPr/>
            </p:nvSpPr>
            <p:spPr>
              <a:xfrm>
                <a:off x="6400800" y="3581400"/>
                <a:ext cx="2514600" cy="1200329"/>
              </a:xfrm>
              <a:prstGeom prst="rect">
                <a:avLst/>
              </a:prstGeom>
            </p:spPr>
            <p:txBody>
              <a:bodyPr wrap="square">
                <a:spAutoFit/>
              </a:bodyPr>
              <a:lstStyle/>
              <a:p>
                <a:r>
                  <a:rPr lang="en-US" dirty="0">
                    <a:latin typeface="Tahoma" pitchFamily="34" charset="0"/>
                    <a:ea typeface="Tahoma" pitchFamily="34" charset="0"/>
                    <a:cs typeface="Tahoma" pitchFamily="34" charset="0"/>
                    <a:sym typeface="Symbol" pitchFamily="18" charset="2"/>
                  </a:rPr>
                  <a:t>Then, to list subsets of </a:t>
                </a:r>
                <a14:m>
                  <m:oMath xmlns:m="http://schemas.openxmlformats.org/officeDocument/2006/math">
                    <m:r>
                      <a:rPr lang="en-US" i="1" dirty="0" smtClean="0">
                        <a:latin typeface="Cambria Math"/>
                        <a:ea typeface="Tahoma" pitchFamily="34" charset="0"/>
                        <a:cs typeface="Tahoma" pitchFamily="34" charset="0"/>
                        <a:sym typeface="Symbol" pitchFamily="18" charset="2"/>
                      </a:rPr>
                      <m:t>𝑘</m:t>
                    </m:r>
                  </m:oMath>
                </a14:m>
                <a:r>
                  <a:rPr lang="en-US" dirty="0">
                    <a:latin typeface="Tahoma" pitchFamily="34" charset="0"/>
                    <a:ea typeface="Tahoma" pitchFamily="34" charset="0"/>
                    <a:cs typeface="Tahoma" pitchFamily="34" charset="0"/>
                    <a:sym typeface="Symbol" pitchFamily="18" charset="2"/>
                  </a:rPr>
                  <a:t> elements of </a:t>
                </a:r>
                <a14:m>
                  <m:oMath xmlns:m="http://schemas.openxmlformats.org/officeDocument/2006/math">
                    <m:r>
                      <a:rPr lang="en-US" i="1" dirty="0" smtClean="0">
                        <a:latin typeface="Cambria Math"/>
                        <a:ea typeface="Tahoma" pitchFamily="34" charset="0"/>
                        <a:cs typeface="Tahoma" pitchFamily="34" charset="0"/>
                        <a:sym typeface="Symbol" pitchFamily="18" charset="2"/>
                      </a:rPr>
                      <m:t>1, 2, …, </m:t>
                    </m:r>
                    <m:r>
                      <a:rPr lang="en-US" i="1" dirty="0" smtClean="0">
                        <a:latin typeface="Cambria Math"/>
                        <a:ea typeface="Tahoma" pitchFamily="34" charset="0"/>
                        <a:cs typeface="Tahoma" pitchFamily="34" charset="0"/>
                        <a:sym typeface="Symbol" pitchFamily="18" charset="2"/>
                      </a:rPr>
                      <m:t>𝑛</m:t>
                    </m:r>
                  </m:oMath>
                </a14:m>
                <a:r>
                  <a:rPr lang="en-US" dirty="0">
                    <a:latin typeface="Tahoma" pitchFamily="34" charset="0"/>
                    <a:ea typeface="Tahoma" pitchFamily="34" charset="0"/>
                    <a:cs typeface="Tahoma" pitchFamily="34" charset="0"/>
                    <a:sym typeface="Symbol" pitchFamily="18" charset="2"/>
                  </a:rPr>
                  <a:t> we just need call procedure Try(1). </a:t>
                </a:r>
                <a:endParaRPr lang="en-US" dirty="0">
                  <a:latin typeface="Tahoma" pitchFamily="34" charset="0"/>
                  <a:ea typeface="Tahoma" pitchFamily="34" charset="0"/>
                  <a:cs typeface="Tahoma" pitchFamily="34"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6400800" y="3581400"/>
                <a:ext cx="2514600" cy="1200329"/>
              </a:xfrm>
              <a:prstGeom prst="rect">
                <a:avLst/>
              </a:prstGeom>
              <a:blipFill>
                <a:blip r:embed="rId4"/>
                <a:stretch>
                  <a:fillRect l="-1937" t="-3061" r="-3390" b="-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ounded Rectangular Callout 8"/>
              <p:cNvSpPr/>
              <p:nvPr/>
            </p:nvSpPr>
            <p:spPr>
              <a:xfrm>
                <a:off x="612648" y="4179106"/>
                <a:ext cx="2359152" cy="990600"/>
              </a:xfrm>
              <a:prstGeom prst="wedgeRoundRectCallout">
                <a:avLst>
                  <a:gd name="adj1" fmla="val 87402"/>
                  <a:gd name="adj2" fmla="val -68025"/>
                  <a:gd name="adj3" fmla="val 16667"/>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dirty="0">
                    <a:solidFill>
                      <a:schemeClr val="tx1"/>
                    </a:solidFill>
                    <a:latin typeface="Tahoma" pitchFamily="34" charset="0"/>
                    <a:ea typeface="Tahoma" pitchFamily="34" charset="0"/>
                    <a:cs typeface="Tahoma" pitchFamily="34" charset="0"/>
                  </a:rPr>
                  <a:t>Consider </a:t>
                </a:r>
                <a14:m>
                  <m:oMath xmlns:m="http://schemas.openxmlformats.org/officeDocument/2006/math">
                    <m:r>
                      <a:rPr lang="en-US" i="1" dirty="0" smtClean="0">
                        <a:solidFill>
                          <a:schemeClr val="tx1"/>
                        </a:solidFill>
                        <a:latin typeface="Cambria Math"/>
                      </a:rPr>
                      <m:t>𝑋</m:t>
                    </m:r>
                    <m:r>
                      <a:rPr lang="en-US" i="1" dirty="0" smtClean="0">
                        <a:solidFill>
                          <a:schemeClr val="tx1"/>
                        </a:solidFill>
                        <a:latin typeface="Cambria Math"/>
                      </a:rPr>
                      <m:t>[0]=0</m:t>
                    </m:r>
                  </m:oMath>
                </a14:m>
                <a:r>
                  <a:rPr lang="en-US" dirty="0">
                    <a:solidFill>
                      <a:schemeClr val="tx1"/>
                    </a:solidFill>
                    <a:latin typeface="Tahoma" pitchFamily="34" charset="0"/>
                    <a:ea typeface="Tahoma" pitchFamily="34" charset="0"/>
                    <a:cs typeface="Tahoma" pitchFamily="34" charset="0"/>
                  </a:rPr>
                  <a:t>. </a:t>
                </a:r>
              </a:p>
              <a:p>
                <a:pPr algn="ctr"/>
                <a:r>
                  <a:rPr lang="en-US" dirty="0">
                    <a:solidFill>
                      <a:schemeClr val="tx1"/>
                    </a:solidFill>
                    <a:latin typeface="Tahoma" pitchFamily="34" charset="0"/>
                    <a:ea typeface="Tahoma" pitchFamily="34" charset="0"/>
                    <a:cs typeface="Tahoma" pitchFamily="34" charset="0"/>
                  </a:rPr>
                  <a:t>We need to assign values to </a:t>
                </a:r>
                <a14:m>
                  <m:oMath xmlns:m="http://schemas.openxmlformats.org/officeDocument/2006/math">
                    <m:r>
                      <a:rPr lang="en-US" i="1" dirty="0" smtClean="0">
                        <a:solidFill>
                          <a:schemeClr val="tx1"/>
                        </a:solidFill>
                        <a:latin typeface="Cambria Math"/>
                      </a:rPr>
                      <m:t>𝑋</m:t>
                    </m:r>
                    <m:r>
                      <a:rPr lang="en-US" i="1" dirty="0" smtClean="0">
                        <a:solidFill>
                          <a:schemeClr val="tx1"/>
                        </a:solidFill>
                        <a:latin typeface="Cambria Math"/>
                      </a:rPr>
                      <m:t>[1],…,</m:t>
                    </m:r>
                    <m:r>
                      <a:rPr lang="en-US" i="1" dirty="0" smtClean="0">
                        <a:solidFill>
                          <a:schemeClr val="tx1"/>
                        </a:solidFill>
                        <a:latin typeface="Cambria Math"/>
                      </a:rPr>
                      <m:t>𝑋</m:t>
                    </m:r>
                    <m:r>
                      <a:rPr lang="en-US" i="1" dirty="0" smtClean="0">
                        <a:solidFill>
                          <a:schemeClr val="tx1"/>
                        </a:solidFill>
                        <a:latin typeface="Cambria Math"/>
                      </a:rPr>
                      <m:t>[</m:t>
                    </m:r>
                    <m:r>
                      <a:rPr lang="en-US" i="1" dirty="0" smtClean="0">
                        <a:solidFill>
                          <a:schemeClr val="tx1"/>
                        </a:solidFill>
                        <a:latin typeface="Cambria Math"/>
                      </a:rPr>
                      <m:t>𝑘</m:t>
                    </m:r>
                    <m:r>
                      <a:rPr lang="en-US" i="1" dirty="0" smtClean="0">
                        <a:solidFill>
                          <a:schemeClr val="tx1"/>
                        </a:solidFill>
                        <a:latin typeface="Cambria Math"/>
                      </a:rPr>
                      <m:t>]</m:t>
                    </m:r>
                  </m:oMath>
                </a14:m>
                <a:endParaRPr lang="en-US" dirty="0">
                  <a:solidFill>
                    <a:schemeClr val="tx1"/>
                  </a:solidFill>
                  <a:latin typeface="Tahoma" pitchFamily="34" charset="0"/>
                  <a:ea typeface="Tahoma" pitchFamily="34" charset="0"/>
                  <a:cs typeface="Tahoma" pitchFamily="34" charset="0"/>
                </a:endParaRPr>
              </a:p>
            </p:txBody>
          </p:sp>
        </mc:Choice>
        <mc:Fallback xmlns="">
          <p:sp>
            <p:nvSpPr>
              <p:cNvPr id="9" name="Rounded Rectangular Callout 8"/>
              <p:cNvSpPr>
                <a:spLocks noRot="1" noChangeAspect="1" noMove="1" noResize="1" noEditPoints="1" noAdjustHandles="1" noChangeArrowheads="1" noChangeShapeType="1" noTextEdit="1"/>
              </p:cNvSpPr>
              <p:nvPr/>
            </p:nvSpPr>
            <p:spPr>
              <a:xfrm>
                <a:off x="612648" y="4179106"/>
                <a:ext cx="2359152" cy="990600"/>
              </a:xfrm>
              <a:prstGeom prst="wedgeRoundRectCallout">
                <a:avLst>
                  <a:gd name="adj1" fmla="val 87402"/>
                  <a:gd name="adj2" fmla="val -68025"/>
                  <a:gd name="adj3" fmla="val 16667"/>
                </a:avLst>
              </a:prstGeom>
              <a:blipFill>
                <a:blip r:embed="rId5"/>
                <a:stretch>
                  <a:fillRect l="-2430" b="-4103"/>
                </a:stretch>
              </a:blipFill>
              <a:ln>
                <a:solidFill>
                  <a:srgbClr val="00B0F0"/>
                </a:solidFill>
              </a:ln>
            </p:spPr>
            <p:txBody>
              <a:bodyPr/>
              <a:lstStyle/>
              <a:p>
                <a:r>
                  <a:rPr lang="en-US">
                    <a:noFill/>
                  </a:rPr>
                  <a:t> </a:t>
                </a:r>
              </a:p>
            </p:txBody>
          </p:sp>
        </mc:Fallback>
      </mc:AlternateContent>
    </p:spTree>
    <p:extLst>
      <p:ext uri="{BB962C8B-B14F-4D97-AF65-F5344CB8AC3E}">
        <p14:creationId xmlns:p14="http://schemas.microsoft.com/office/powerpoint/2010/main" val="33005711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6</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a:p>
        </p:txBody>
      </p:sp>
      <p:sp>
        <p:nvSpPr>
          <p:cNvPr id="6" name="Text Box 76"/>
          <p:cNvSpPr txBox="1">
            <a:spLocks noChangeArrowheads="1"/>
          </p:cNvSpPr>
          <p:nvPr/>
        </p:nvSpPr>
        <p:spPr bwMode="auto">
          <a:xfrm>
            <a:off x="7543800" y="32766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X2=4</a:t>
            </a:r>
          </a:p>
        </p:txBody>
      </p:sp>
      <p:sp>
        <p:nvSpPr>
          <p:cNvPr id="7" name="Text Box 75"/>
          <p:cNvSpPr txBox="1">
            <a:spLocks noChangeArrowheads="1"/>
          </p:cNvSpPr>
          <p:nvPr/>
        </p:nvSpPr>
        <p:spPr bwMode="auto">
          <a:xfrm>
            <a:off x="5105400" y="19812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X1=3</a:t>
            </a:r>
          </a:p>
        </p:txBody>
      </p:sp>
      <p:sp>
        <p:nvSpPr>
          <p:cNvPr id="8" name="Text Box 74"/>
          <p:cNvSpPr txBox="1">
            <a:spLocks noChangeArrowheads="1"/>
          </p:cNvSpPr>
          <p:nvPr/>
        </p:nvSpPr>
        <p:spPr bwMode="auto">
          <a:xfrm>
            <a:off x="8153400" y="45720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X3=5</a:t>
            </a:r>
          </a:p>
        </p:txBody>
      </p:sp>
      <p:sp>
        <p:nvSpPr>
          <p:cNvPr id="9" name="Text Box 73"/>
          <p:cNvSpPr txBox="1">
            <a:spLocks noChangeArrowheads="1"/>
          </p:cNvSpPr>
          <p:nvPr/>
        </p:nvSpPr>
        <p:spPr bwMode="auto">
          <a:xfrm>
            <a:off x="6019800" y="45720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X3=5</a:t>
            </a:r>
          </a:p>
        </p:txBody>
      </p:sp>
      <p:sp>
        <p:nvSpPr>
          <p:cNvPr id="10" name="Text Box 66"/>
          <p:cNvSpPr txBox="1">
            <a:spLocks noChangeArrowheads="1"/>
          </p:cNvSpPr>
          <p:nvPr/>
        </p:nvSpPr>
        <p:spPr bwMode="auto">
          <a:xfrm>
            <a:off x="5638800" y="34290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X2=4</a:t>
            </a:r>
          </a:p>
        </p:txBody>
      </p:sp>
      <p:sp>
        <p:nvSpPr>
          <p:cNvPr id="11" name="Text Box 63"/>
          <p:cNvSpPr txBox="1">
            <a:spLocks noChangeArrowheads="1"/>
          </p:cNvSpPr>
          <p:nvPr/>
        </p:nvSpPr>
        <p:spPr bwMode="auto">
          <a:xfrm>
            <a:off x="5257800" y="45720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X3=5</a:t>
            </a:r>
          </a:p>
        </p:txBody>
      </p:sp>
      <p:sp>
        <p:nvSpPr>
          <p:cNvPr id="12" name="Text Box 62"/>
          <p:cNvSpPr txBox="1">
            <a:spLocks noChangeArrowheads="1"/>
          </p:cNvSpPr>
          <p:nvPr/>
        </p:nvSpPr>
        <p:spPr bwMode="auto">
          <a:xfrm>
            <a:off x="4572000" y="45720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X3=4</a:t>
            </a:r>
          </a:p>
        </p:txBody>
      </p:sp>
      <p:sp>
        <p:nvSpPr>
          <p:cNvPr id="13" name="Text Box 61"/>
          <p:cNvSpPr txBox="1">
            <a:spLocks noChangeArrowheads="1"/>
          </p:cNvSpPr>
          <p:nvPr/>
        </p:nvSpPr>
        <p:spPr bwMode="auto">
          <a:xfrm>
            <a:off x="4495800" y="34290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X2=3</a:t>
            </a:r>
          </a:p>
        </p:txBody>
      </p:sp>
      <p:sp>
        <p:nvSpPr>
          <p:cNvPr id="14" name="Text Box 51"/>
          <p:cNvSpPr txBox="1">
            <a:spLocks noChangeArrowheads="1"/>
          </p:cNvSpPr>
          <p:nvPr/>
        </p:nvSpPr>
        <p:spPr bwMode="auto">
          <a:xfrm>
            <a:off x="4038600" y="214788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X1=2</a:t>
            </a:r>
          </a:p>
        </p:txBody>
      </p:sp>
      <p:sp>
        <p:nvSpPr>
          <p:cNvPr id="15" name="Text Box 56"/>
          <p:cNvSpPr txBox="1">
            <a:spLocks noChangeArrowheads="1"/>
          </p:cNvSpPr>
          <p:nvPr/>
        </p:nvSpPr>
        <p:spPr bwMode="auto">
          <a:xfrm>
            <a:off x="3657600" y="45720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X3=5</a:t>
            </a:r>
          </a:p>
        </p:txBody>
      </p:sp>
      <p:sp>
        <p:nvSpPr>
          <p:cNvPr id="16" name="Text Box 53"/>
          <p:cNvSpPr txBox="1">
            <a:spLocks noChangeArrowheads="1"/>
          </p:cNvSpPr>
          <p:nvPr/>
        </p:nvSpPr>
        <p:spPr bwMode="auto">
          <a:xfrm>
            <a:off x="3733800" y="34290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X2=4</a:t>
            </a:r>
          </a:p>
        </p:txBody>
      </p:sp>
      <p:sp>
        <p:nvSpPr>
          <p:cNvPr id="17" name="Text Box 6"/>
          <p:cNvSpPr txBox="1">
            <a:spLocks noChangeArrowheads="1"/>
          </p:cNvSpPr>
          <p:nvPr/>
        </p:nvSpPr>
        <p:spPr bwMode="auto">
          <a:xfrm>
            <a:off x="2286000" y="45720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X3=4</a:t>
            </a:r>
          </a:p>
        </p:txBody>
      </p:sp>
      <p:sp>
        <p:nvSpPr>
          <p:cNvPr id="18" name="Text Box 7"/>
          <p:cNvSpPr txBox="1">
            <a:spLocks noChangeArrowheads="1"/>
          </p:cNvSpPr>
          <p:nvPr/>
        </p:nvSpPr>
        <p:spPr bwMode="auto">
          <a:xfrm>
            <a:off x="1600200" y="458628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X3=5</a:t>
            </a:r>
          </a:p>
        </p:txBody>
      </p:sp>
      <p:sp>
        <p:nvSpPr>
          <p:cNvPr id="19" name="Text Box 8"/>
          <p:cNvSpPr txBox="1">
            <a:spLocks noChangeArrowheads="1"/>
          </p:cNvSpPr>
          <p:nvPr/>
        </p:nvSpPr>
        <p:spPr bwMode="auto">
          <a:xfrm>
            <a:off x="990600" y="45720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X3=4</a:t>
            </a:r>
          </a:p>
        </p:txBody>
      </p:sp>
      <p:sp>
        <p:nvSpPr>
          <p:cNvPr id="20" name="Text Box 11"/>
          <p:cNvSpPr txBox="1">
            <a:spLocks noChangeArrowheads="1"/>
          </p:cNvSpPr>
          <p:nvPr/>
        </p:nvSpPr>
        <p:spPr bwMode="auto">
          <a:xfrm>
            <a:off x="2438400" y="33528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X2=3</a:t>
            </a:r>
          </a:p>
        </p:txBody>
      </p:sp>
      <p:sp>
        <p:nvSpPr>
          <p:cNvPr id="21" name="Text Box 12"/>
          <p:cNvSpPr txBox="1">
            <a:spLocks noChangeArrowheads="1"/>
          </p:cNvSpPr>
          <p:nvPr/>
        </p:nvSpPr>
        <p:spPr bwMode="auto">
          <a:xfrm>
            <a:off x="1524000" y="336708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X2=2</a:t>
            </a:r>
          </a:p>
        </p:txBody>
      </p:sp>
      <p:sp>
        <p:nvSpPr>
          <p:cNvPr id="22" name="Text Box 14"/>
          <p:cNvSpPr txBox="1">
            <a:spLocks noChangeArrowheads="1"/>
          </p:cNvSpPr>
          <p:nvPr/>
        </p:nvSpPr>
        <p:spPr bwMode="auto">
          <a:xfrm>
            <a:off x="2895600" y="207168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dirty="0"/>
              <a:t>X1=1</a:t>
            </a:r>
          </a:p>
        </p:txBody>
      </p:sp>
      <p:sp>
        <p:nvSpPr>
          <p:cNvPr id="23" name="Oval 17"/>
          <p:cNvSpPr>
            <a:spLocks noChangeArrowheads="1"/>
          </p:cNvSpPr>
          <p:nvPr/>
        </p:nvSpPr>
        <p:spPr bwMode="auto">
          <a:xfrm>
            <a:off x="3733800" y="1524000"/>
            <a:ext cx="762000" cy="609600"/>
          </a:xfrm>
          <a:prstGeom prst="ellipse">
            <a:avLst/>
          </a:prstGeom>
          <a:solidFill>
            <a:schemeClr val="bg2"/>
          </a:solidFill>
          <a:ln w="9525">
            <a:solidFill>
              <a:schemeClr val="tx1"/>
            </a:solidFill>
            <a:round/>
            <a:headEnd/>
            <a:tailEnd/>
          </a:ln>
        </p:spPr>
        <p:txBody>
          <a:bodyPr wrap="none" anchor="ctr"/>
          <a:lstStyle/>
          <a:p>
            <a:pPr algn="ctr"/>
            <a:r>
              <a:rPr lang="en-US" dirty="0"/>
              <a:t>Try(</a:t>
            </a:r>
            <a:r>
              <a:rPr lang="en-US" dirty="0">
                <a:latin typeface="Tahoma" pitchFamily="34" charset="0"/>
                <a:ea typeface="Tahoma" pitchFamily="34" charset="0"/>
                <a:cs typeface="Tahoma" pitchFamily="34" charset="0"/>
              </a:rPr>
              <a:t>1</a:t>
            </a:r>
            <a:r>
              <a:rPr lang="en-US" dirty="0"/>
              <a:t>)</a:t>
            </a:r>
          </a:p>
        </p:txBody>
      </p:sp>
      <p:sp>
        <p:nvSpPr>
          <p:cNvPr id="24" name="Oval 18"/>
          <p:cNvSpPr>
            <a:spLocks noChangeArrowheads="1"/>
          </p:cNvSpPr>
          <p:nvPr/>
        </p:nvSpPr>
        <p:spPr bwMode="auto">
          <a:xfrm>
            <a:off x="2438400" y="2667000"/>
            <a:ext cx="762000" cy="609600"/>
          </a:xfrm>
          <a:prstGeom prst="ellipse">
            <a:avLst/>
          </a:prstGeom>
          <a:solidFill>
            <a:schemeClr val="bg2"/>
          </a:solidFill>
          <a:ln w="9525">
            <a:solidFill>
              <a:schemeClr val="tx1"/>
            </a:solidFill>
            <a:round/>
            <a:headEnd/>
            <a:tailEnd/>
          </a:ln>
        </p:spPr>
        <p:txBody>
          <a:bodyPr wrap="none" anchor="ctr"/>
          <a:lstStyle/>
          <a:p>
            <a:pPr algn="ctr"/>
            <a:r>
              <a:rPr lang="en-US"/>
              <a:t>Try(2)</a:t>
            </a:r>
          </a:p>
        </p:txBody>
      </p:sp>
      <p:sp>
        <p:nvSpPr>
          <p:cNvPr id="25" name="Oval 19"/>
          <p:cNvSpPr>
            <a:spLocks noChangeArrowheads="1"/>
          </p:cNvSpPr>
          <p:nvPr/>
        </p:nvSpPr>
        <p:spPr bwMode="auto">
          <a:xfrm>
            <a:off x="4800600" y="2590800"/>
            <a:ext cx="762000" cy="609600"/>
          </a:xfrm>
          <a:prstGeom prst="ellipse">
            <a:avLst/>
          </a:prstGeom>
          <a:solidFill>
            <a:schemeClr val="bg2"/>
          </a:solidFill>
          <a:ln w="9525">
            <a:solidFill>
              <a:schemeClr val="tx1"/>
            </a:solidFill>
            <a:round/>
            <a:headEnd/>
            <a:tailEnd/>
          </a:ln>
        </p:spPr>
        <p:txBody>
          <a:bodyPr wrap="none" anchor="ctr"/>
          <a:lstStyle/>
          <a:p>
            <a:pPr algn="ctr"/>
            <a:r>
              <a:rPr lang="en-US"/>
              <a:t>Try(2)</a:t>
            </a:r>
          </a:p>
        </p:txBody>
      </p:sp>
      <p:sp>
        <p:nvSpPr>
          <p:cNvPr id="26" name="Oval 20"/>
          <p:cNvSpPr>
            <a:spLocks noChangeArrowheads="1"/>
          </p:cNvSpPr>
          <p:nvPr/>
        </p:nvSpPr>
        <p:spPr bwMode="auto">
          <a:xfrm>
            <a:off x="1219200" y="3886200"/>
            <a:ext cx="762000" cy="609600"/>
          </a:xfrm>
          <a:prstGeom prst="ellipse">
            <a:avLst/>
          </a:prstGeom>
          <a:solidFill>
            <a:schemeClr val="bg2"/>
          </a:solidFill>
          <a:ln w="9525">
            <a:solidFill>
              <a:schemeClr val="tx1"/>
            </a:solidFill>
            <a:round/>
            <a:headEnd/>
            <a:tailEnd/>
          </a:ln>
        </p:spPr>
        <p:txBody>
          <a:bodyPr wrap="none" anchor="ctr"/>
          <a:lstStyle/>
          <a:p>
            <a:pPr algn="ctr"/>
            <a:r>
              <a:rPr lang="en-US"/>
              <a:t>Try(3)</a:t>
            </a:r>
          </a:p>
        </p:txBody>
      </p:sp>
      <p:sp>
        <p:nvSpPr>
          <p:cNvPr id="27" name="Oval 21"/>
          <p:cNvSpPr>
            <a:spLocks noChangeArrowheads="1"/>
          </p:cNvSpPr>
          <p:nvPr/>
        </p:nvSpPr>
        <p:spPr bwMode="auto">
          <a:xfrm>
            <a:off x="2590800" y="3886200"/>
            <a:ext cx="762000" cy="609600"/>
          </a:xfrm>
          <a:prstGeom prst="ellipse">
            <a:avLst/>
          </a:prstGeom>
          <a:solidFill>
            <a:schemeClr val="bg2"/>
          </a:solidFill>
          <a:ln w="9525">
            <a:solidFill>
              <a:schemeClr val="tx1"/>
            </a:solidFill>
            <a:round/>
            <a:headEnd/>
            <a:tailEnd/>
          </a:ln>
        </p:spPr>
        <p:txBody>
          <a:bodyPr wrap="none" anchor="ctr"/>
          <a:lstStyle/>
          <a:p>
            <a:pPr algn="ctr"/>
            <a:r>
              <a:rPr lang="en-US"/>
              <a:t>Try(3)</a:t>
            </a:r>
          </a:p>
        </p:txBody>
      </p:sp>
      <p:sp>
        <p:nvSpPr>
          <p:cNvPr id="28" name="Oval 22"/>
          <p:cNvSpPr>
            <a:spLocks noChangeArrowheads="1"/>
          </p:cNvSpPr>
          <p:nvPr/>
        </p:nvSpPr>
        <p:spPr bwMode="auto">
          <a:xfrm>
            <a:off x="3886200" y="3886200"/>
            <a:ext cx="762000" cy="609600"/>
          </a:xfrm>
          <a:prstGeom prst="ellipse">
            <a:avLst/>
          </a:prstGeom>
          <a:solidFill>
            <a:schemeClr val="bg2"/>
          </a:solidFill>
          <a:ln w="9525">
            <a:solidFill>
              <a:schemeClr val="tx1"/>
            </a:solidFill>
            <a:round/>
            <a:headEnd/>
            <a:tailEnd/>
          </a:ln>
        </p:spPr>
        <p:txBody>
          <a:bodyPr wrap="none" anchor="ctr"/>
          <a:lstStyle/>
          <a:p>
            <a:pPr algn="ctr"/>
            <a:r>
              <a:rPr lang="en-US"/>
              <a:t>Try(3)</a:t>
            </a:r>
          </a:p>
        </p:txBody>
      </p:sp>
      <p:sp>
        <p:nvSpPr>
          <p:cNvPr id="29" name="Oval 23"/>
          <p:cNvSpPr>
            <a:spLocks noChangeArrowheads="1"/>
          </p:cNvSpPr>
          <p:nvPr/>
        </p:nvSpPr>
        <p:spPr bwMode="auto">
          <a:xfrm>
            <a:off x="6553200" y="2514600"/>
            <a:ext cx="762000" cy="609600"/>
          </a:xfrm>
          <a:prstGeom prst="ellipse">
            <a:avLst/>
          </a:prstGeom>
          <a:solidFill>
            <a:schemeClr val="bg2"/>
          </a:solidFill>
          <a:ln w="9525">
            <a:solidFill>
              <a:schemeClr val="tx1"/>
            </a:solidFill>
            <a:round/>
            <a:headEnd/>
            <a:tailEnd/>
          </a:ln>
        </p:spPr>
        <p:txBody>
          <a:bodyPr wrap="none" anchor="ctr"/>
          <a:lstStyle/>
          <a:p>
            <a:pPr algn="ctr"/>
            <a:r>
              <a:rPr lang="en-US"/>
              <a:t>Try(2)</a:t>
            </a:r>
          </a:p>
        </p:txBody>
      </p:sp>
      <p:sp>
        <p:nvSpPr>
          <p:cNvPr id="30" name="Rectangle 24"/>
          <p:cNvSpPr>
            <a:spLocks noChangeArrowheads="1"/>
          </p:cNvSpPr>
          <p:nvPr/>
        </p:nvSpPr>
        <p:spPr bwMode="auto">
          <a:xfrm>
            <a:off x="152400" y="5181600"/>
            <a:ext cx="685800" cy="533400"/>
          </a:xfrm>
          <a:prstGeom prst="rect">
            <a:avLst/>
          </a:prstGeom>
          <a:solidFill>
            <a:schemeClr val="bg2"/>
          </a:solidFill>
          <a:ln w="9525">
            <a:solidFill>
              <a:schemeClr val="tx1"/>
            </a:solidFill>
            <a:miter lim="800000"/>
            <a:headEnd/>
            <a:tailEnd/>
          </a:ln>
        </p:spPr>
        <p:txBody>
          <a:bodyPr wrap="none" lIns="0" rIns="0" anchor="ctr"/>
          <a:lstStyle/>
          <a:p>
            <a:pPr algn="ctr"/>
            <a:r>
              <a:rPr lang="en-US" dirty="0">
                <a:latin typeface="Tahoma" pitchFamily="34" charset="0"/>
                <a:ea typeface="Tahoma" pitchFamily="34" charset="0"/>
                <a:cs typeface="Tahoma" pitchFamily="34" charset="0"/>
              </a:rPr>
              <a:t>1 2 3</a:t>
            </a:r>
          </a:p>
        </p:txBody>
      </p:sp>
      <p:sp>
        <p:nvSpPr>
          <p:cNvPr id="31" name="Rectangle 25"/>
          <p:cNvSpPr>
            <a:spLocks noChangeArrowheads="1"/>
          </p:cNvSpPr>
          <p:nvPr/>
        </p:nvSpPr>
        <p:spPr bwMode="auto">
          <a:xfrm>
            <a:off x="914400" y="5181600"/>
            <a:ext cx="609600" cy="533400"/>
          </a:xfrm>
          <a:prstGeom prst="rect">
            <a:avLst/>
          </a:prstGeom>
          <a:solidFill>
            <a:schemeClr val="bg2"/>
          </a:solidFill>
          <a:ln w="9525">
            <a:solidFill>
              <a:schemeClr val="tx1"/>
            </a:solidFill>
            <a:miter lim="800000"/>
            <a:headEnd/>
            <a:tailEnd/>
          </a:ln>
        </p:spPr>
        <p:txBody>
          <a:bodyPr wrap="none" lIns="0" rIns="0" anchor="ctr"/>
          <a:lstStyle/>
          <a:p>
            <a:pPr algn="ctr"/>
            <a:r>
              <a:rPr lang="en-US" dirty="0">
                <a:latin typeface="Tahoma" pitchFamily="34" charset="0"/>
                <a:ea typeface="Tahoma" pitchFamily="34" charset="0"/>
                <a:cs typeface="Tahoma" pitchFamily="34" charset="0"/>
              </a:rPr>
              <a:t>1 2 4</a:t>
            </a:r>
          </a:p>
        </p:txBody>
      </p:sp>
      <p:sp>
        <p:nvSpPr>
          <p:cNvPr id="32" name="Rectangle 26"/>
          <p:cNvSpPr>
            <a:spLocks noChangeArrowheads="1"/>
          </p:cNvSpPr>
          <p:nvPr/>
        </p:nvSpPr>
        <p:spPr bwMode="auto">
          <a:xfrm>
            <a:off x="1600200" y="5181600"/>
            <a:ext cx="685800" cy="533400"/>
          </a:xfrm>
          <a:prstGeom prst="rect">
            <a:avLst/>
          </a:prstGeom>
          <a:solidFill>
            <a:schemeClr val="bg2"/>
          </a:solidFill>
          <a:ln w="9525">
            <a:solidFill>
              <a:schemeClr val="tx1"/>
            </a:solidFill>
            <a:miter lim="800000"/>
            <a:headEnd/>
            <a:tailEnd/>
          </a:ln>
        </p:spPr>
        <p:txBody>
          <a:bodyPr wrap="none" lIns="0" rIns="0" anchor="ctr"/>
          <a:lstStyle/>
          <a:p>
            <a:pPr algn="ctr"/>
            <a:r>
              <a:rPr lang="en-US" dirty="0">
                <a:latin typeface="Tahoma" pitchFamily="34" charset="0"/>
                <a:ea typeface="Tahoma" pitchFamily="34" charset="0"/>
                <a:cs typeface="Tahoma" pitchFamily="34" charset="0"/>
              </a:rPr>
              <a:t>1 2 5</a:t>
            </a:r>
          </a:p>
        </p:txBody>
      </p:sp>
      <p:sp>
        <p:nvSpPr>
          <p:cNvPr id="33" name="Rectangle 27"/>
          <p:cNvSpPr>
            <a:spLocks noChangeArrowheads="1"/>
          </p:cNvSpPr>
          <p:nvPr/>
        </p:nvSpPr>
        <p:spPr bwMode="auto">
          <a:xfrm>
            <a:off x="2362200" y="5181600"/>
            <a:ext cx="609600" cy="533400"/>
          </a:xfrm>
          <a:prstGeom prst="rect">
            <a:avLst/>
          </a:prstGeom>
          <a:solidFill>
            <a:schemeClr val="bg2"/>
          </a:solidFill>
          <a:ln w="9525">
            <a:solidFill>
              <a:schemeClr val="tx1"/>
            </a:solidFill>
            <a:miter lim="800000"/>
            <a:headEnd/>
            <a:tailEnd/>
          </a:ln>
        </p:spPr>
        <p:txBody>
          <a:bodyPr wrap="none" lIns="0" rIns="0" anchor="ctr"/>
          <a:lstStyle/>
          <a:p>
            <a:pPr algn="ctr"/>
            <a:r>
              <a:rPr lang="en-US" dirty="0">
                <a:latin typeface="Tahoma" pitchFamily="34" charset="0"/>
                <a:ea typeface="Tahoma" pitchFamily="34" charset="0"/>
                <a:cs typeface="Tahoma" pitchFamily="34" charset="0"/>
              </a:rPr>
              <a:t>1 3 4</a:t>
            </a:r>
          </a:p>
        </p:txBody>
      </p:sp>
      <p:sp>
        <p:nvSpPr>
          <p:cNvPr id="34" name="Rectangle 28"/>
          <p:cNvSpPr>
            <a:spLocks noChangeArrowheads="1"/>
          </p:cNvSpPr>
          <p:nvPr/>
        </p:nvSpPr>
        <p:spPr bwMode="auto">
          <a:xfrm>
            <a:off x="3048000" y="5181600"/>
            <a:ext cx="685800" cy="533400"/>
          </a:xfrm>
          <a:prstGeom prst="rect">
            <a:avLst/>
          </a:prstGeom>
          <a:solidFill>
            <a:schemeClr val="bg2"/>
          </a:solidFill>
          <a:ln w="9525">
            <a:solidFill>
              <a:schemeClr val="tx1"/>
            </a:solidFill>
            <a:miter lim="800000"/>
            <a:headEnd/>
            <a:tailEnd/>
          </a:ln>
        </p:spPr>
        <p:txBody>
          <a:bodyPr wrap="none" lIns="0" rIns="0" anchor="ctr"/>
          <a:lstStyle/>
          <a:p>
            <a:pPr algn="ctr"/>
            <a:r>
              <a:rPr lang="en-US" dirty="0">
                <a:latin typeface="Tahoma" pitchFamily="34" charset="0"/>
                <a:ea typeface="Tahoma" pitchFamily="34" charset="0"/>
                <a:cs typeface="Tahoma" pitchFamily="34" charset="0"/>
              </a:rPr>
              <a:t>1 3 5</a:t>
            </a:r>
          </a:p>
        </p:txBody>
      </p:sp>
      <p:sp>
        <p:nvSpPr>
          <p:cNvPr id="35" name="Rectangle 29"/>
          <p:cNvSpPr>
            <a:spLocks noChangeArrowheads="1"/>
          </p:cNvSpPr>
          <p:nvPr/>
        </p:nvSpPr>
        <p:spPr bwMode="auto">
          <a:xfrm>
            <a:off x="4648200" y="5181600"/>
            <a:ext cx="838200" cy="533400"/>
          </a:xfrm>
          <a:prstGeom prst="rect">
            <a:avLst/>
          </a:prstGeom>
          <a:solidFill>
            <a:schemeClr val="bg2"/>
          </a:solidFill>
          <a:ln w="9525">
            <a:solidFill>
              <a:schemeClr val="tx1"/>
            </a:solidFill>
            <a:miter lim="800000"/>
            <a:headEnd/>
            <a:tailEnd/>
          </a:ln>
        </p:spPr>
        <p:txBody>
          <a:bodyPr wrap="none" lIns="0" rIns="0" anchor="ctr"/>
          <a:lstStyle/>
          <a:p>
            <a:pPr algn="ctr"/>
            <a:r>
              <a:rPr lang="en-US" dirty="0">
                <a:latin typeface="Tahoma" pitchFamily="34" charset="0"/>
                <a:ea typeface="Tahoma" pitchFamily="34" charset="0"/>
                <a:cs typeface="Tahoma" pitchFamily="34" charset="0"/>
              </a:rPr>
              <a:t>2 3 4</a:t>
            </a:r>
          </a:p>
        </p:txBody>
      </p:sp>
      <p:sp>
        <p:nvSpPr>
          <p:cNvPr id="36" name="Rectangle 30"/>
          <p:cNvSpPr>
            <a:spLocks noChangeArrowheads="1"/>
          </p:cNvSpPr>
          <p:nvPr/>
        </p:nvSpPr>
        <p:spPr bwMode="auto">
          <a:xfrm>
            <a:off x="5562600" y="5181600"/>
            <a:ext cx="838200" cy="533400"/>
          </a:xfrm>
          <a:prstGeom prst="rect">
            <a:avLst/>
          </a:prstGeom>
          <a:solidFill>
            <a:schemeClr val="bg2"/>
          </a:solidFill>
          <a:ln w="9525">
            <a:solidFill>
              <a:schemeClr val="tx1"/>
            </a:solidFill>
            <a:miter lim="800000"/>
            <a:headEnd/>
            <a:tailEnd/>
          </a:ln>
        </p:spPr>
        <p:txBody>
          <a:bodyPr wrap="none" lIns="0" rIns="0" anchor="ctr"/>
          <a:lstStyle/>
          <a:p>
            <a:pPr algn="ctr"/>
            <a:r>
              <a:rPr lang="en-US" dirty="0">
                <a:latin typeface="Tahoma" pitchFamily="34" charset="0"/>
                <a:ea typeface="Tahoma" pitchFamily="34" charset="0"/>
                <a:cs typeface="Tahoma" pitchFamily="34" charset="0"/>
              </a:rPr>
              <a:t>2 3 5</a:t>
            </a:r>
          </a:p>
        </p:txBody>
      </p:sp>
      <p:sp>
        <p:nvSpPr>
          <p:cNvPr id="37" name="Rectangle 31"/>
          <p:cNvSpPr>
            <a:spLocks noChangeArrowheads="1"/>
          </p:cNvSpPr>
          <p:nvPr/>
        </p:nvSpPr>
        <p:spPr bwMode="auto">
          <a:xfrm>
            <a:off x="6477000" y="5181600"/>
            <a:ext cx="838200" cy="533400"/>
          </a:xfrm>
          <a:prstGeom prst="rect">
            <a:avLst/>
          </a:prstGeom>
          <a:solidFill>
            <a:schemeClr val="bg2"/>
          </a:solidFill>
          <a:ln w="9525">
            <a:solidFill>
              <a:schemeClr val="tx1"/>
            </a:solidFill>
            <a:miter lim="800000"/>
            <a:headEnd/>
            <a:tailEnd/>
          </a:ln>
        </p:spPr>
        <p:txBody>
          <a:bodyPr wrap="none" lIns="0" rIns="0" anchor="ctr"/>
          <a:lstStyle/>
          <a:p>
            <a:pPr algn="ctr"/>
            <a:r>
              <a:rPr lang="en-US" dirty="0">
                <a:latin typeface="Tahoma" pitchFamily="34" charset="0"/>
                <a:ea typeface="Tahoma" pitchFamily="34" charset="0"/>
                <a:cs typeface="Tahoma" pitchFamily="34" charset="0"/>
              </a:rPr>
              <a:t>2 4 5</a:t>
            </a:r>
          </a:p>
        </p:txBody>
      </p:sp>
      <p:sp>
        <p:nvSpPr>
          <p:cNvPr id="38" name="Line 32"/>
          <p:cNvSpPr>
            <a:spLocks noChangeShapeType="1"/>
          </p:cNvSpPr>
          <p:nvPr/>
        </p:nvSpPr>
        <p:spPr bwMode="auto">
          <a:xfrm flipH="1">
            <a:off x="3048000" y="2057400"/>
            <a:ext cx="8382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9" name="Line 33"/>
          <p:cNvSpPr>
            <a:spLocks noChangeShapeType="1"/>
          </p:cNvSpPr>
          <p:nvPr/>
        </p:nvSpPr>
        <p:spPr bwMode="auto">
          <a:xfrm flipH="1">
            <a:off x="1828800" y="3200400"/>
            <a:ext cx="7620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 name="Line 34"/>
          <p:cNvSpPr>
            <a:spLocks noChangeShapeType="1"/>
          </p:cNvSpPr>
          <p:nvPr/>
        </p:nvSpPr>
        <p:spPr bwMode="auto">
          <a:xfrm>
            <a:off x="4267200" y="2133600"/>
            <a:ext cx="7620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 name="Line 36"/>
          <p:cNvSpPr>
            <a:spLocks noChangeShapeType="1"/>
          </p:cNvSpPr>
          <p:nvPr/>
        </p:nvSpPr>
        <p:spPr bwMode="auto">
          <a:xfrm>
            <a:off x="2819400" y="3276600"/>
            <a:ext cx="1524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 name="Line 38"/>
          <p:cNvSpPr>
            <a:spLocks noChangeShapeType="1"/>
          </p:cNvSpPr>
          <p:nvPr/>
        </p:nvSpPr>
        <p:spPr bwMode="auto">
          <a:xfrm flipH="1">
            <a:off x="533400" y="4495800"/>
            <a:ext cx="9144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 name="Line 39"/>
          <p:cNvSpPr>
            <a:spLocks noChangeShapeType="1"/>
          </p:cNvSpPr>
          <p:nvPr/>
        </p:nvSpPr>
        <p:spPr bwMode="auto">
          <a:xfrm>
            <a:off x="1447800" y="44958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4" name="Line 40"/>
          <p:cNvSpPr>
            <a:spLocks noChangeShapeType="1"/>
          </p:cNvSpPr>
          <p:nvPr/>
        </p:nvSpPr>
        <p:spPr bwMode="auto">
          <a:xfrm flipH="1">
            <a:off x="2590800" y="4495800"/>
            <a:ext cx="3048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5" name="Line 41"/>
          <p:cNvSpPr>
            <a:spLocks noChangeShapeType="1"/>
          </p:cNvSpPr>
          <p:nvPr/>
        </p:nvSpPr>
        <p:spPr bwMode="auto">
          <a:xfrm>
            <a:off x="2895600" y="4495800"/>
            <a:ext cx="4572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6" name="Text Box 46"/>
          <p:cNvSpPr txBox="1">
            <a:spLocks noChangeArrowheads="1"/>
          </p:cNvSpPr>
          <p:nvPr/>
        </p:nvSpPr>
        <p:spPr bwMode="auto">
          <a:xfrm>
            <a:off x="304800" y="458628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X3=3</a:t>
            </a:r>
          </a:p>
        </p:txBody>
      </p:sp>
      <p:sp>
        <p:nvSpPr>
          <p:cNvPr id="47" name="Line 47"/>
          <p:cNvSpPr>
            <a:spLocks noChangeShapeType="1"/>
          </p:cNvSpPr>
          <p:nvPr/>
        </p:nvSpPr>
        <p:spPr bwMode="auto">
          <a:xfrm>
            <a:off x="1447800" y="4495800"/>
            <a:ext cx="5334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8" name="Text Box 48"/>
          <p:cNvSpPr txBox="1">
            <a:spLocks noChangeArrowheads="1"/>
          </p:cNvSpPr>
          <p:nvPr/>
        </p:nvSpPr>
        <p:spPr bwMode="auto">
          <a:xfrm>
            <a:off x="2971800" y="45720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X3=5</a:t>
            </a:r>
          </a:p>
        </p:txBody>
      </p:sp>
      <p:sp>
        <p:nvSpPr>
          <p:cNvPr id="49" name="Line 52"/>
          <p:cNvSpPr>
            <a:spLocks noChangeShapeType="1"/>
          </p:cNvSpPr>
          <p:nvPr/>
        </p:nvSpPr>
        <p:spPr bwMode="auto">
          <a:xfrm>
            <a:off x="2895600" y="3276600"/>
            <a:ext cx="12192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0" name="Rectangle 54"/>
          <p:cNvSpPr>
            <a:spLocks noChangeArrowheads="1"/>
          </p:cNvSpPr>
          <p:nvPr/>
        </p:nvSpPr>
        <p:spPr bwMode="auto">
          <a:xfrm>
            <a:off x="3810000" y="5181600"/>
            <a:ext cx="762000" cy="533400"/>
          </a:xfrm>
          <a:prstGeom prst="rect">
            <a:avLst/>
          </a:prstGeom>
          <a:solidFill>
            <a:schemeClr val="bg2"/>
          </a:solidFill>
          <a:ln w="9525">
            <a:solidFill>
              <a:schemeClr val="tx1"/>
            </a:solidFill>
            <a:miter lim="800000"/>
            <a:headEnd/>
            <a:tailEnd/>
          </a:ln>
        </p:spPr>
        <p:txBody>
          <a:bodyPr wrap="none" lIns="0" rIns="0" anchor="ctr"/>
          <a:lstStyle/>
          <a:p>
            <a:pPr algn="ctr"/>
            <a:r>
              <a:rPr lang="en-US" dirty="0">
                <a:latin typeface="Tahoma" pitchFamily="34" charset="0"/>
                <a:ea typeface="Tahoma" pitchFamily="34" charset="0"/>
                <a:cs typeface="Tahoma" pitchFamily="34" charset="0"/>
              </a:rPr>
              <a:t>1 4 5</a:t>
            </a:r>
          </a:p>
        </p:txBody>
      </p:sp>
      <p:sp>
        <p:nvSpPr>
          <p:cNvPr id="51" name="Line 55"/>
          <p:cNvSpPr>
            <a:spLocks noChangeShapeType="1"/>
          </p:cNvSpPr>
          <p:nvPr/>
        </p:nvSpPr>
        <p:spPr bwMode="auto">
          <a:xfrm>
            <a:off x="4267200" y="44958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2" name="Rectangle 57"/>
          <p:cNvSpPr>
            <a:spLocks noChangeArrowheads="1"/>
          </p:cNvSpPr>
          <p:nvPr/>
        </p:nvSpPr>
        <p:spPr bwMode="auto">
          <a:xfrm>
            <a:off x="8229600" y="5181600"/>
            <a:ext cx="762000" cy="533400"/>
          </a:xfrm>
          <a:prstGeom prst="rect">
            <a:avLst/>
          </a:prstGeom>
          <a:solidFill>
            <a:schemeClr val="bg2"/>
          </a:solidFill>
          <a:ln w="9525">
            <a:solidFill>
              <a:schemeClr val="tx1"/>
            </a:solidFill>
            <a:miter lim="800000"/>
            <a:headEnd/>
            <a:tailEnd/>
          </a:ln>
        </p:spPr>
        <p:txBody>
          <a:bodyPr wrap="none" lIns="0" rIns="0" anchor="ctr"/>
          <a:lstStyle/>
          <a:p>
            <a:pPr algn="ctr"/>
            <a:r>
              <a:rPr lang="en-US">
                <a:latin typeface="Tahoma" pitchFamily="34" charset="0"/>
                <a:ea typeface="Tahoma" pitchFamily="34" charset="0"/>
                <a:cs typeface="Tahoma" pitchFamily="34" charset="0"/>
              </a:rPr>
              <a:t>3 4 5</a:t>
            </a:r>
          </a:p>
        </p:txBody>
      </p:sp>
      <p:sp>
        <p:nvSpPr>
          <p:cNvPr id="53" name="Oval 58"/>
          <p:cNvSpPr>
            <a:spLocks noChangeArrowheads="1"/>
          </p:cNvSpPr>
          <p:nvPr/>
        </p:nvSpPr>
        <p:spPr bwMode="auto">
          <a:xfrm>
            <a:off x="4724400" y="3886200"/>
            <a:ext cx="762000" cy="609600"/>
          </a:xfrm>
          <a:prstGeom prst="ellipse">
            <a:avLst/>
          </a:prstGeom>
          <a:solidFill>
            <a:schemeClr val="bg2"/>
          </a:solidFill>
          <a:ln w="9525">
            <a:solidFill>
              <a:schemeClr val="tx1"/>
            </a:solidFill>
            <a:round/>
            <a:headEnd/>
            <a:tailEnd/>
          </a:ln>
        </p:spPr>
        <p:txBody>
          <a:bodyPr wrap="none" anchor="ctr"/>
          <a:lstStyle/>
          <a:p>
            <a:pPr algn="ctr"/>
            <a:r>
              <a:rPr lang="en-US"/>
              <a:t>Try(3)</a:t>
            </a:r>
          </a:p>
        </p:txBody>
      </p:sp>
      <p:sp>
        <p:nvSpPr>
          <p:cNvPr id="54" name="Oval 59"/>
          <p:cNvSpPr>
            <a:spLocks noChangeArrowheads="1"/>
          </p:cNvSpPr>
          <p:nvPr/>
        </p:nvSpPr>
        <p:spPr bwMode="auto">
          <a:xfrm>
            <a:off x="5638800" y="3886200"/>
            <a:ext cx="762000" cy="609600"/>
          </a:xfrm>
          <a:prstGeom prst="ellipse">
            <a:avLst/>
          </a:prstGeom>
          <a:solidFill>
            <a:schemeClr val="bg2"/>
          </a:solidFill>
          <a:ln w="9525">
            <a:solidFill>
              <a:schemeClr val="tx1"/>
            </a:solidFill>
            <a:round/>
            <a:headEnd/>
            <a:tailEnd/>
          </a:ln>
        </p:spPr>
        <p:txBody>
          <a:bodyPr wrap="none" anchor="ctr"/>
          <a:lstStyle/>
          <a:p>
            <a:pPr algn="ctr"/>
            <a:r>
              <a:rPr lang="en-US"/>
              <a:t>Try(3)</a:t>
            </a:r>
          </a:p>
        </p:txBody>
      </p:sp>
      <p:sp>
        <p:nvSpPr>
          <p:cNvPr id="55" name="Line 60"/>
          <p:cNvSpPr>
            <a:spLocks noChangeShapeType="1"/>
          </p:cNvSpPr>
          <p:nvPr/>
        </p:nvSpPr>
        <p:spPr bwMode="auto">
          <a:xfrm flipH="1">
            <a:off x="5029200" y="3200400"/>
            <a:ext cx="2286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6" name="Line 64"/>
          <p:cNvSpPr>
            <a:spLocks noChangeShapeType="1"/>
          </p:cNvSpPr>
          <p:nvPr/>
        </p:nvSpPr>
        <p:spPr bwMode="auto">
          <a:xfrm>
            <a:off x="5029200" y="44958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 name="Line 65"/>
          <p:cNvSpPr>
            <a:spLocks noChangeShapeType="1"/>
          </p:cNvSpPr>
          <p:nvPr/>
        </p:nvSpPr>
        <p:spPr bwMode="auto">
          <a:xfrm>
            <a:off x="5105400" y="4495800"/>
            <a:ext cx="9906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8" name="Line 67"/>
          <p:cNvSpPr>
            <a:spLocks noChangeShapeType="1"/>
          </p:cNvSpPr>
          <p:nvPr/>
        </p:nvSpPr>
        <p:spPr bwMode="auto">
          <a:xfrm>
            <a:off x="5257800" y="3200400"/>
            <a:ext cx="7620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9" name="Line 68"/>
          <p:cNvSpPr>
            <a:spLocks noChangeShapeType="1"/>
          </p:cNvSpPr>
          <p:nvPr/>
        </p:nvSpPr>
        <p:spPr bwMode="auto">
          <a:xfrm>
            <a:off x="6096000" y="4495800"/>
            <a:ext cx="7620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0" name="Oval 69"/>
          <p:cNvSpPr>
            <a:spLocks noChangeArrowheads="1"/>
          </p:cNvSpPr>
          <p:nvPr/>
        </p:nvSpPr>
        <p:spPr bwMode="auto">
          <a:xfrm>
            <a:off x="8229600" y="3886200"/>
            <a:ext cx="762000" cy="609600"/>
          </a:xfrm>
          <a:prstGeom prst="ellipse">
            <a:avLst/>
          </a:prstGeom>
          <a:solidFill>
            <a:schemeClr val="bg2"/>
          </a:solidFill>
          <a:ln w="9525">
            <a:solidFill>
              <a:schemeClr val="tx1"/>
            </a:solidFill>
            <a:round/>
            <a:headEnd/>
            <a:tailEnd/>
          </a:ln>
        </p:spPr>
        <p:txBody>
          <a:bodyPr wrap="none" anchor="ctr"/>
          <a:lstStyle/>
          <a:p>
            <a:pPr algn="ctr"/>
            <a:r>
              <a:rPr lang="en-US"/>
              <a:t>Try(3)</a:t>
            </a:r>
          </a:p>
        </p:txBody>
      </p:sp>
      <p:sp>
        <p:nvSpPr>
          <p:cNvPr id="61" name="Line 70"/>
          <p:cNvSpPr>
            <a:spLocks noChangeShapeType="1"/>
          </p:cNvSpPr>
          <p:nvPr/>
        </p:nvSpPr>
        <p:spPr bwMode="auto">
          <a:xfrm>
            <a:off x="4343400" y="2057400"/>
            <a:ext cx="25908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2" name="Line 71"/>
          <p:cNvSpPr>
            <a:spLocks noChangeShapeType="1"/>
          </p:cNvSpPr>
          <p:nvPr/>
        </p:nvSpPr>
        <p:spPr bwMode="auto">
          <a:xfrm>
            <a:off x="7239000" y="2971800"/>
            <a:ext cx="1447800" cy="990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3" name="Line 72"/>
          <p:cNvSpPr>
            <a:spLocks noChangeShapeType="1"/>
          </p:cNvSpPr>
          <p:nvPr/>
        </p:nvSpPr>
        <p:spPr bwMode="auto">
          <a:xfrm>
            <a:off x="8610600" y="44958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351981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a:p>
        </p:txBody>
      </p:sp>
      <p:sp>
        <p:nvSpPr>
          <p:cNvPr id="5" name="Content Placeholder 4"/>
          <p:cNvSpPr>
            <a:spLocks noGrp="1"/>
          </p:cNvSpPr>
          <p:nvPr>
            <p:ph sz="quarter" idx="1"/>
          </p:nvPr>
        </p:nvSpPr>
        <p:spPr/>
        <p:txBody>
          <a:bodyPr/>
          <a:lstStyle/>
          <a:p>
            <a:r>
              <a:rPr lang="en-US" b="1" dirty="0"/>
              <a:t>Exercise 10</a:t>
            </a:r>
            <a:r>
              <a:rPr lang="en-US" dirty="0"/>
              <a:t>. Using backtracking algorithm, list all elements of set:</a:t>
            </a:r>
          </a:p>
          <a:p>
            <a:endParaRPr lang="en-US" dirty="0"/>
          </a:p>
        </p:txBody>
      </p:sp>
      <p:graphicFrame>
        <p:nvGraphicFramePr>
          <p:cNvPr id="6" name="Object 5"/>
          <p:cNvGraphicFramePr>
            <a:graphicFrameLocks noChangeAspect="1"/>
          </p:cNvGraphicFramePr>
          <p:nvPr>
            <p:extLst>
              <p:ext uri="{D42A27DB-BD31-4B8C-83A1-F6EECF244321}">
                <p14:modId xmlns:p14="http://schemas.microsoft.com/office/powerpoint/2010/main" val="3808809638"/>
              </p:ext>
            </p:extLst>
          </p:nvPr>
        </p:nvGraphicFramePr>
        <p:xfrm>
          <a:off x="1600200" y="2057400"/>
          <a:ext cx="6097587" cy="1020763"/>
        </p:xfrm>
        <a:graphic>
          <a:graphicData uri="http://schemas.openxmlformats.org/presentationml/2006/ole">
            <mc:AlternateContent xmlns:mc="http://schemas.openxmlformats.org/markup-compatibility/2006">
              <mc:Choice xmlns:v="urn:schemas-microsoft-com:vml" Requires="v">
                <p:oleObj spid="_x0000_s2053" name="Equation" r:id="rId3" imgW="2730500" imgH="457200" progId="Equation.3">
                  <p:embed/>
                </p:oleObj>
              </mc:Choice>
              <mc:Fallback>
                <p:oleObj name="Equation" r:id="rId3" imgW="2730500" imgH="4572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2057400"/>
                        <a:ext cx="6097587" cy="1020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7" name="Rectangle 6"/>
              <p:cNvSpPr/>
              <p:nvPr/>
            </p:nvSpPr>
            <p:spPr>
              <a:xfrm>
                <a:off x="914400" y="3136071"/>
                <a:ext cx="4572000" cy="978729"/>
              </a:xfrm>
              <a:prstGeom prst="rect">
                <a:avLst/>
              </a:prstGeom>
            </p:spPr>
            <p:txBody>
              <a:bodyPr wrap="square">
                <a:spAutoFit/>
              </a:bodyPr>
              <a:lstStyle/>
              <a:p>
                <a:pPr>
                  <a:spcBef>
                    <a:spcPct val="40000"/>
                  </a:spcBef>
                </a:pPr>
                <a:r>
                  <a:rPr lang="en-US" sz="2400" dirty="0">
                    <a:latin typeface="Tahoma" pitchFamily="34" charset="0"/>
                    <a:ea typeface="Tahoma" pitchFamily="34" charset="0"/>
                    <a:cs typeface="Tahoma" pitchFamily="34" charset="0"/>
                  </a:rPr>
                  <a:t>Where, </a:t>
                </a:r>
                <a14:m>
                  <m:oMath xmlns:m="http://schemas.openxmlformats.org/officeDocument/2006/math">
                    <m:r>
                      <a:rPr lang="en-US" sz="2400" i="1" dirty="0" smtClean="0">
                        <a:latin typeface="Cambria Math"/>
                        <a:ea typeface="Tahoma" pitchFamily="34" charset="0"/>
                        <a:cs typeface="Tahoma" pitchFamily="34" charset="0"/>
                      </a:rPr>
                      <m:t>𝑥</m:t>
                    </m:r>
                    <m:r>
                      <a:rPr lang="en-US" sz="2400" i="1" baseline="-25000" dirty="0">
                        <a:latin typeface="Cambria Math"/>
                        <a:ea typeface="Tahoma" pitchFamily="34" charset="0"/>
                        <a:cs typeface="Tahoma" pitchFamily="34" charset="0"/>
                      </a:rPr>
                      <m:t>𝑖</m:t>
                    </m:r>
                    <m:r>
                      <a:rPr lang="en-US" sz="2400" i="1" dirty="0">
                        <a:latin typeface="Cambria Math"/>
                        <a:ea typeface="Tahoma" pitchFamily="34" charset="0"/>
                        <a:cs typeface="Tahoma" pitchFamily="34" charset="0"/>
                      </a:rPr>
                      <m:t>=0, 1</m:t>
                    </m:r>
                  </m:oMath>
                </a14:m>
                <a:r>
                  <a:rPr lang="en-US" sz="2400" dirty="0">
                    <a:latin typeface="Tahoma" pitchFamily="34" charset="0"/>
                    <a:ea typeface="Tahoma" pitchFamily="34" charset="0"/>
                    <a:cs typeface="Tahoma" pitchFamily="34" charset="0"/>
                  </a:rPr>
                  <a:t>; </a:t>
                </a:r>
                <a14:m>
                  <m:oMath xmlns:m="http://schemas.openxmlformats.org/officeDocument/2006/math">
                    <m:r>
                      <a:rPr lang="en-US" sz="2400" i="1" dirty="0" smtClean="0">
                        <a:latin typeface="Cambria Math"/>
                        <a:ea typeface="Tahoma" pitchFamily="34" charset="0"/>
                        <a:cs typeface="Tahoma" pitchFamily="34" charset="0"/>
                      </a:rPr>
                      <m:t>𝑎</m:t>
                    </m:r>
                    <m:r>
                      <a:rPr lang="en-US" sz="2400" i="1" baseline="-25000" dirty="0" err="1">
                        <a:latin typeface="Cambria Math"/>
                        <a:ea typeface="Tahoma" pitchFamily="34" charset="0"/>
                        <a:cs typeface="Tahoma" pitchFamily="34" charset="0"/>
                      </a:rPr>
                      <m:t>𝑖</m:t>
                    </m:r>
                    <m:r>
                      <a:rPr lang="en-US" sz="2400" i="1" dirty="0" err="1">
                        <a:latin typeface="Cambria Math"/>
                        <a:ea typeface="Tahoma" pitchFamily="34" charset="0"/>
                        <a:cs typeface="Tahoma" pitchFamily="34" charset="0"/>
                        <a:sym typeface="Symbol" pitchFamily="18" charset="2"/>
                      </a:rPr>
                      <m:t></m:t>
                    </m:r>
                    <m:r>
                      <a:rPr lang="en-US" sz="2400" i="1" dirty="0" err="1">
                        <a:latin typeface="Cambria Math"/>
                        <a:ea typeface="Tahoma" pitchFamily="34" charset="0"/>
                        <a:cs typeface="Tahoma" pitchFamily="34" charset="0"/>
                        <a:sym typeface="Symbol" pitchFamily="18" charset="2"/>
                      </a:rPr>
                      <m:t>𝑍</m:t>
                    </m:r>
                    <m:r>
                      <a:rPr lang="en-US" sz="2400" i="1" baseline="30000" dirty="0">
                        <a:latin typeface="Cambria Math"/>
                        <a:ea typeface="Tahoma" pitchFamily="34" charset="0"/>
                        <a:cs typeface="Tahoma" pitchFamily="34" charset="0"/>
                        <a:sym typeface="Symbol" pitchFamily="18" charset="2"/>
                      </a:rPr>
                      <m:t>+</m:t>
                    </m:r>
                  </m:oMath>
                </a14:m>
                <a:r>
                  <a:rPr lang="en-US" sz="2400" dirty="0">
                    <a:latin typeface="Tahoma" pitchFamily="34" charset="0"/>
                    <a:ea typeface="Tahoma" pitchFamily="34" charset="0"/>
                    <a:cs typeface="Tahoma" pitchFamily="34" charset="0"/>
                    <a:sym typeface="Symbol" pitchFamily="18" charset="2"/>
                  </a:rPr>
                  <a:t>; </a:t>
                </a:r>
                <a:endParaRPr lang="en-US" sz="2400" i="1" dirty="0">
                  <a:latin typeface="Cambria Math"/>
                  <a:ea typeface="Tahoma" pitchFamily="34" charset="0"/>
                  <a:cs typeface="Tahoma" pitchFamily="34" charset="0"/>
                  <a:sym typeface="Symbol" pitchFamily="18" charset="2"/>
                </a:endParaRPr>
              </a:p>
              <a:p>
                <a:pPr>
                  <a:spcBef>
                    <a:spcPct val="40000"/>
                  </a:spcBef>
                </a:pPr>
                <a14:m>
                  <m:oMath xmlns:m="http://schemas.openxmlformats.org/officeDocument/2006/math">
                    <m:r>
                      <a:rPr lang="en-US" sz="2400" i="1" dirty="0" smtClean="0">
                        <a:latin typeface="Cambria Math"/>
                        <a:ea typeface="Tahoma" pitchFamily="34" charset="0"/>
                        <a:cs typeface="Tahoma" pitchFamily="34" charset="0"/>
                        <a:sym typeface="Symbol" pitchFamily="18" charset="2"/>
                      </a:rPr>
                      <m:t>𝑛</m:t>
                    </m:r>
                    <m:r>
                      <a:rPr lang="en-US" sz="2400" i="1" dirty="0" smtClean="0">
                        <a:latin typeface="Cambria Math"/>
                        <a:ea typeface="Tahoma" pitchFamily="34" charset="0"/>
                        <a:cs typeface="Tahoma" pitchFamily="34" charset="0"/>
                        <a:sym typeface="Symbol" pitchFamily="18" charset="2"/>
                      </a:rPr>
                      <m:t>≤100, </m:t>
                    </m:r>
                    <m:r>
                      <a:rPr lang="en-US" sz="2400" i="1" dirty="0" smtClean="0">
                        <a:latin typeface="Cambria Math"/>
                        <a:ea typeface="Tahoma" pitchFamily="34" charset="0"/>
                        <a:cs typeface="Tahoma" pitchFamily="34" charset="0"/>
                        <a:sym typeface="Symbol" pitchFamily="18" charset="2"/>
                      </a:rPr>
                      <m:t>𝐾</m:t>
                    </m:r>
                    <m:r>
                      <a:rPr lang="en-US" sz="2400" i="1" dirty="0" smtClean="0">
                        <a:latin typeface="Cambria Math"/>
                        <a:ea typeface="Tahoma" pitchFamily="34" charset="0"/>
                        <a:cs typeface="Tahoma" pitchFamily="34" charset="0"/>
                        <a:sym typeface="Symbol" pitchFamily="18" charset="2"/>
                      </a:rPr>
                      <m:t>≤100; </m:t>
                    </m:r>
                    <m:r>
                      <a:rPr lang="en-US" sz="2400" i="1" dirty="0" smtClean="0">
                        <a:latin typeface="Cambria Math"/>
                        <a:ea typeface="Tahoma" pitchFamily="34" charset="0"/>
                        <a:cs typeface="Tahoma" pitchFamily="34" charset="0"/>
                        <a:sym typeface="Symbol" pitchFamily="18" charset="2"/>
                      </a:rPr>
                      <m:t>𝑆</m:t>
                    </m:r>
                    <m:r>
                      <a:rPr lang="en-US" sz="2400" i="1" dirty="0" smtClean="0">
                        <a:latin typeface="Cambria Math"/>
                        <a:ea typeface="Tahoma" pitchFamily="34" charset="0"/>
                        <a:cs typeface="Tahoma" pitchFamily="34" charset="0"/>
                        <a:sym typeface="Symbol" pitchFamily="18" charset="2"/>
                      </a:rPr>
                      <m:t> ≤32000</m:t>
                    </m:r>
                  </m:oMath>
                </a14:m>
                <a:r>
                  <a:rPr lang="en-US" sz="2400" dirty="0">
                    <a:latin typeface="Tahoma" pitchFamily="34" charset="0"/>
                    <a:ea typeface="Tahoma" pitchFamily="34" charset="0"/>
                    <a:cs typeface="Tahoma" pitchFamily="34" charset="0"/>
                    <a:sym typeface="Symbol" pitchFamily="18" charset="2"/>
                  </a:rPr>
                  <a:t>. </a:t>
                </a:r>
              </a:p>
            </p:txBody>
          </p:sp>
        </mc:Choice>
        <mc:Fallback xmlns="">
          <p:sp>
            <p:nvSpPr>
              <p:cNvPr id="7" name="Rectangle 6"/>
              <p:cNvSpPr>
                <a:spLocks noRot="1" noChangeAspect="1" noMove="1" noResize="1" noEditPoints="1" noAdjustHandles="1" noChangeArrowheads="1" noChangeShapeType="1" noTextEdit="1"/>
              </p:cNvSpPr>
              <p:nvPr/>
            </p:nvSpPr>
            <p:spPr>
              <a:xfrm>
                <a:off x="914400" y="3136071"/>
                <a:ext cx="4572000" cy="978729"/>
              </a:xfrm>
              <a:prstGeom prst="rect">
                <a:avLst/>
              </a:prstGeom>
              <a:blipFill>
                <a:blip r:embed="rId5"/>
                <a:stretch>
                  <a:fillRect l="-2000" t="-5590" b="-12422"/>
                </a:stretch>
              </a:blipFill>
            </p:spPr>
            <p:txBody>
              <a:bodyPr/>
              <a:lstStyle/>
              <a:p>
                <a:r>
                  <a:rPr lang="en-US">
                    <a:noFill/>
                  </a:rPr>
                  <a:t> </a:t>
                </a:r>
              </a:p>
            </p:txBody>
          </p:sp>
        </mc:Fallback>
      </mc:AlternateContent>
    </p:spTree>
    <p:extLst>
      <p:ext uri="{BB962C8B-B14F-4D97-AF65-F5344CB8AC3E}">
        <p14:creationId xmlns:p14="http://schemas.microsoft.com/office/powerpoint/2010/main" val="36886898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7</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31</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304800" y="1219200"/>
                <a:ext cx="8534400" cy="4937760"/>
              </a:xfrm>
            </p:spPr>
            <p:txBody>
              <a:bodyPr>
                <a:normAutofit/>
              </a:bodyPr>
              <a:lstStyle/>
              <a:p>
                <a:r>
                  <a:rPr lang="en-US" dirty="0"/>
                  <a:t>Using backtracking method to list permutations </a:t>
                </a:r>
                <a:r>
                  <a:rPr lang="en-US" dirty="0" err="1"/>
                  <a:t>of</a:t>
                </a:r>
                <a:r>
                  <a:rPr lang="en-US" dirty="0"/>
                  <a:t> </a:t>
                </a:r>
                <a14:m>
                  <m:oMath xmlns:m="http://schemas.openxmlformats.org/officeDocument/2006/math">
                    <m:r>
                      <a:rPr lang="en-US" i="1" dirty="0">
                        <a:latin typeface="Cambria Math"/>
                      </a:rPr>
                      <m:t>1,2,…,</m:t>
                    </m:r>
                    <m:r>
                      <a:rPr lang="en-US" i="1" dirty="0">
                        <a:latin typeface="Cambria Math"/>
                      </a:rPr>
                      <m:t>𝑛</m:t>
                    </m:r>
                  </m:oMath>
                </a14:m>
                <a:r>
                  <a:rPr lang="en-US" dirty="0"/>
                  <a:t>.</a:t>
                </a:r>
              </a:p>
              <a:p>
                <a:pPr marL="0" indent="0" algn="just">
                  <a:buNone/>
                </a:pPr>
                <a:r>
                  <a:rPr lang="en-US" dirty="0"/>
                  <a:t>Each permutation </a:t>
                </a:r>
                <a14:m>
                  <m:oMath xmlns:m="http://schemas.openxmlformats.org/officeDocument/2006/math">
                    <m:r>
                      <a:rPr lang="en-US" i="1" dirty="0" smtClean="0">
                        <a:latin typeface="Cambria Math"/>
                      </a:rPr>
                      <m:t>𝑋</m:t>
                    </m:r>
                    <m:r>
                      <a:rPr lang="en-US" i="1" dirty="0" smtClean="0">
                        <a:latin typeface="Cambria Math"/>
                      </a:rPr>
                      <m:t>=(</m:t>
                    </m:r>
                    <m:r>
                      <a:rPr lang="en-US" i="1" dirty="0">
                        <a:latin typeface="Cambria Math"/>
                      </a:rPr>
                      <m:t>𝑥</m:t>
                    </m:r>
                    <m:r>
                      <a:rPr lang="en-US" i="1" baseline="-25000" dirty="0">
                        <a:latin typeface="Cambria Math"/>
                      </a:rPr>
                      <m:t>1</m:t>
                    </m:r>
                    <m:r>
                      <a:rPr lang="en-US" i="1" dirty="0">
                        <a:latin typeface="Cambria Math"/>
                      </a:rPr>
                      <m:t>, </m:t>
                    </m:r>
                    <m:r>
                      <a:rPr lang="en-US" i="1" dirty="0">
                        <a:latin typeface="Cambria Math"/>
                      </a:rPr>
                      <m:t>𝑥</m:t>
                    </m:r>
                    <m:r>
                      <a:rPr lang="en-US" i="1" baseline="-25000" dirty="0">
                        <a:latin typeface="Cambria Math"/>
                      </a:rPr>
                      <m:t>2</m:t>
                    </m:r>
                    <m:r>
                      <a:rPr lang="en-US" i="1" dirty="0">
                        <a:latin typeface="Cambria Math"/>
                      </a:rPr>
                      <m:t>,.</m:t>
                    </m:r>
                    <m:r>
                      <a:rPr lang="en-US" b="0" i="1" dirty="0" smtClean="0">
                        <a:latin typeface="Cambria Math"/>
                      </a:rPr>
                      <m:t>.</m:t>
                    </m:r>
                    <m:r>
                      <a:rPr lang="en-US" i="1" dirty="0">
                        <a:latin typeface="Cambria Math"/>
                      </a:rPr>
                      <m:t>.,</m:t>
                    </m:r>
                    <m:r>
                      <a:rPr lang="en-US" i="1" dirty="0">
                        <a:latin typeface="Cambria Math"/>
                      </a:rPr>
                      <m:t>𝑥𝑛</m:t>
                    </m:r>
                    <m:r>
                      <a:rPr lang="en-US" i="1" dirty="0">
                        <a:latin typeface="Cambria Math"/>
                      </a:rPr>
                      <m:t>)</m:t>
                    </m:r>
                  </m:oMath>
                </a14:m>
                <a:r>
                  <a:rPr lang="en-US" dirty="0"/>
                  <a:t> is the set that takes into account the order of</a:t>
                </a:r>
                <a14:m>
                  <m:oMath xmlns:m="http://schemas.openxmlformats.org/officeDocument/2006/math">
                    <m:r>
                      <a:rPr lang="en-US" b="0" i="0" dirty="0" smtClean="0">
                        <a:latin typeface="Cambria Math" panose="02040503050406030204" pitchFamily="18" charset="0"/>
                      </a:rPr>
                      <m:t> </m:t>
                    </m:r>
                    <m:r>
                      <a:rPr lang="en-US" i="1" dirty="0" smtClean="0">
                        <a:latin typeface="Cambria Math"/>
                      </a:rPr>
                      <m:t>1,2,…,</m:t>
                    </m:r>
                    <m:r>
                      <a:rPr lang="en-US" i="1" dirty="0" smtClean="0">
                        <a:latin typeface="Cambria Math"/>
                      </a:rPr>
                      <m:t>𝑛</m:t>
                    </m:r>
                  </m:oMath>
                </a14:m>
                <a:r>
                  <a:rPr lang="en-US" dirty="0"/>
                  <a:t>. Each </a:t>
                </a:r>
                <a14:m>
                  <m:oMath xmlns:m="http://schemas.openxmlformats.org/officeDocument/2006/math">
                    <m:r>
                      <a:rPr lang="en-US" i="1" dirty="0" smtClean="0">
                        <a:latin typeface="Cambria Math"/>
                      </a:rPr>
                      <m:t>𝑥</m:t>
                    </m:r>
                    <m:r>
                      <a:rPr lang="en-US" i="1" baseline="-25000" dirty="0" err="1">
                        <a:latin typeface="Cambria Math"/>
                      </a:rPr>
                      <m:t>𝑖</m:t>
                    </m:r>
                    <m:r>
                      <a:rPr lang="en-US" i="1" dirty="0" err="1">
                        <a:latin typeface="Cambria Math"/>
                        <a:sym typeface="Symbol" pitchFamily="18" charset="2"/>
                      </a:rPr>
                      <m:t></m:t>
                    </m:r>
                    <m:r>
                      <a:rPr lang="en-US" i="1" dirty="0" err="1">
                        <a:latin typeface="Cambria Math"/>
                        <a:sym typeface="Symbol" pitchFamily="18" charset="2"/>
                      </a:rPr>
                      <m:t>𝑋</m:t>
                    </m:r>
                  </m:oMath>
                </a14:m>
                <a:r>
                  <a:rPr lang="en-US" dirty="0">
                    <a:sym typeface="Symbol" pitchFamily="18" charset="2"/>
                  </a:rPr>
                  <a:t> has n choices. When </a:t>
                </a:r>
                <a14:m>
                  <m:oMath xmlns:m="http://schemas.openxmlformats.org/officeDocument/2006/math">
                    <m:r>
                      <a:rPr lang="en-US" i="1" dirty="0" smtClean="0">
                        <a:latin typeface="Cambria Math"/>
                        <a:sym typeface="Symbol" pitchFamily="18" charset="2"/>
                      </a:rPr>
                      <m:t>𝑥</m:t>
                    </m:r>
                    <m:r>
                      <a:rPr lang="en-US" i="1" baseline="-25000" dirty="0">
                        <a:latin typeface="Cambria Math"/>
                        <a:sym typeface="Symbol" pitchFamily="18" charset="2"/>
                      </a:rPr>
                      <m:t>𝑖</m:t>
                    </m:r>
                    <m:r>
                      <a:rPr lang="en-US" i="1" dirty="0">
                        <a:latin typeface="Cambria Math"/>
                        <a:sym typeface="Symbol" pitchFamily="18" charset="2"/>
                      </a:rPr>
                      <m:t>=</m:t>
                    </m:r>
                    <m:r>
                      <a:rPr lang="en-US" i="1" dirty="0">
                        <a:latin typeface="Cambria Math"/>
                        <a:sym typeface="Symbol" pitchFamily="18" charset="2"/>
                      </a:rPr>
                      <m:t>𝑗</m:t>
                    </m:r>
                    <m:r>
                      <a:rPr lang="en-US" i="1" dirty="0">
                        <a:latin typeface="Cambria Math"/>
                        <a:sym typeface="Symbol" pitchFamily="18" charset="2"/>
                      </a:rPr>
                      <m:t> </m:t>
                    </m:r>
                  </m:oMath>
                </a14:m>
                <a:r>
                  <a:rPr lang="en-US" dirty="0">
                    <a:sym typeface="Symbol" pitchFamily="18" charset="2"/>
                  </a:rPr>
                  <a:t>is selected, this value is not accepted for other components in permutation. </a:t>
                </a:r>
              </a:p>
              <a:p>
                <a:pPr marL="0" indent="0">
                  <a:buNone/>
                </a:pPr>
                <a:r>
                  <a:rPr lang="en-US" dirty="0">
                    <a:sym typeface="Symbol" pitchFamily="18" charset="2"/>
                  </a:rPr>
                  <a:t>To track this, we use </a:t>
                </a:r>
                <a:r>
                  <a:rPr lang="en-US" dirty="0" err="1">
                    <a:sym typeface="Symbol" pitchFamily="18" charset="2"/>
                  </a:rPr>
                  <a:t>array</a:t>
                </a:r>
                <a14:m>
                  <m:oMath xmlns:m="http://schemas.openxmlformats.org/officeDocument/2006/math">
                    <m:r>
                      <a:rPr lang="en-US" b="0" i="0" dirty="0" smtClean="0">
                        <a:latin typeface="Cambria Math" panose="02040503050406030204" pitchFamily="18" charset="0"/>
                        <a:sym typeface="Symbol" pitchFamily="18" charset="2"/>
                      </a:rPr>
                      <m:t> </m:t>
                    </m:r>
                    <m:r>
                      <a:rPr lang="en-US" i="1" dirty="0" smtClean="0">
                        <a:latin typeface="Cambria Math"/>
                        <a:sym typeface="Symbol" pitchFamily="18" charset="2"/>
                      </a:rPr>
                      <m:t>𝑢𝑛𝑢𝑠𝑒</m:t>
                    </m:r>
                    <m:r>
                      <a:rPr lang="en-US" b="0" i="1" dirty="0" smtClean="0">
                        <a:latin typeface="Cambria Math"/>
                        <a:sym typeface="Symbol" pitchFamily="18" charset="2"/>
                      </a:rPr>
                      <m:t>𝑑</m:t>
                    </m:r>
                    <m:r>
                      <a:rPr lang="en-US" i="1" dirty="0" smtClean="0">
                        <a:latin typeface="Cambria Math"/>
                        <a:sym typeface="Symbol" pitchFamily="18" charset="2"/>
                      </a:rPr>
                      <m:t>[]</m:t>
                    </m:r>
                  </m:oMath>
                </a14:m>
                <a:r>
                  <a:rPr lang="en-US" dirty="0">
                    <a:sym typeface="Symbol" pitchFamily="18" charset="2"/>
                  </a:rPr>
                  <a:t> including </a:t>
                </a:r>
                <a14:m>
                  <m:oMath xmlns:m="http://schemas.openxmlformats.org/officeDocument/2006/math">
                    <m:r>
                      <a:rPr lang="en-US" i="1" dirty="0" smtClean="0">
                        <a:latin typeface="Cambria Math"/>
                        <a:sym typeface="Symbol" pitchFamily="18" charset="2"/>
                      </a:rPr>
                      <m:t>𝑛</m:t>
                    </m:r>
                    <m:r>
                      <a:rPr lang="en-US" b="0" i="1" dirty="0" smtClean="0">
                        <a:latin typeface="Cambria Math" panose="02040503050406030204" pitchFamily="18" charset="0"/>
                        <a:sym typeface="Symbol" pitchFamily="18" charset="2"/>
                      </a:rPr>
                      <m:t> </m:t>
                    </m:r>
                  </m:oMath>
                </a14:m>
                <a:r>
                  <a:rPr lang="en-US" dirty="0">
                    <a:sym typeface="Symbol" pitchFamily="18" charset="2"/>
                  </a:rPr>
                  <a:t>elements. </a:t>
                </a:r>
              </a:p>
              <a:p>
                <a:pPr>
                  <a:buFont typeface="Courier New" pitchFamily="49" charset="0"/>
                  <a:buChar char="o"/>
                </a:pPr>
                <a:r>
                  <a:rPr lang="en-US" dirty="0">
                    <a:sym typeface="Symbol" pitchFamily="18" charset="2"/>
                  </a:rPr>
                  <a:t>If </a:t>
                </a:r>
                <a14:m>
                  <m:oMath xmlns:m="http://schemas.openxmlformats.org/officeDocument/2006/math">
                    <m:r>
                      <a:rPr lang="en-US" i="1" dirty="0" smtClean="0">
                        <a:latin typeface="Cambria Math"/>
                        <a:sym typeface="Symbol" pitchFamily="18" charset="2"/>
                      </a:rPr>
                      <m:t>𝑢𝑛𝑢𝑠𝑒</m:t>
                    </m:r>
                    <m:r>
                      <a:rPr lang="en-US" b="0" i="1" dirty="0" smtClean="0">
                        <a:latin typeface="Cambria Math"/>
                        <a:sym typeface="Symbol" pitchFamily="18" charset="2"/>
                      </a:rPr>
                      <m:t>𝑑</m:t>
                    </m:r>
                    <m:r>
                      <a:rPr lang="en-US" i="1" dirty="0" smtClean="0">
                        <a:latin typeface="Cambria Math"/>
                        <a:sym typeface="Symbol" pitchFamily="18" charset="2"/>
                      </a:rPr>
                      <m:t>[</m:t>
                    </m:r>
                    <m:r>
                      <a:rPr lang="en-US" i="1" dirty="0" smtClean="0">
                        <a:latin typeface="Cambria Math"/>
                        <a:sym typeface="Symbol" pitchFamily="18" charset="2"/>
                      </a:rPr>
                      <m:t>𝑖</m:t>
                    </m:r>
                    <m:r>
                      <a:rPr lang="en-US" i="1" dirty="0" smtClean="0">
                        <a:latin typeface="Cambria Math"/>
                        <a:sym typeface="Symbol" pitchFamily="18" charset="2"/>
                      </a:rPr>
                      <m:t>]=</m:t>
                    </m:r>
                    <m:r>
                      <a:rPr lang="en-US" i="1" dirty="0" smtClean="0">
                        <a:latin typeface="Cambria Math"/>
                        <a:sym typeface="Symbol" pitchFamily="18" charset="2"/>
                      </a:rPr>
                      <m:t>𝑇𝑟𝑢𝑒</m:t>
                    </m:r>
                  </m:oMath>
                </a14:m>
                <a:r>
                  <a:rPr lang="en-US" dirty="0">
                    <a:sym typeface="Symbol" pitchFamily="18" charset="2"/>
                  </a:rPr>
                  <a:t> then it means value </a:t>
                </a:r>
                <a14:m>
                  <m:oMath xmlns:m="http://schemas.openxmlformats.org/officeDocument/2006/math">
                    <m:r>
                      <a:rPr lang="en-US" i="1" dirty="0" smtClean="0">
                        <a:latin typeface="Cambria Math"/>
                        <a:sym typeface="Symbol" pitchFamily="18" charset="2"/>
                      </a:rPr>
                      <m:t>𝑖</m:t>
                    </m:r>
                  </m:oMath>
                </a14:m>
                <a:r>
                  <a:rPr lang="en-US" dirty="0">
                    <a:sym typeface="Symbol" pitchFamily="18" charset="2"/>
                  </a:rPr>
                  <a:t> is allowed.</a:t>
                </a:r>
              </a:p>
              <a:p>
                <a:pPr>
                  <a:buFont typeface="Courier New" pitchFamily="49" charset="0"/>
                  <a:buChar char="o"/>
                </a:pPr>
                <a:r>
                  <a:rPr lang="en-US" dirty="0">
                    <a:sym typeface="Symbol" pitchFamily="18" charset="2"/>
                  </a:rPr>
                  <a:t>If </a:t>
                </a:r>
                <a14:m>
                  <m:oMath xmlns:m="http://schemas.openxmlformats.org/officeDocument/2006/math">
                    <m:r>
                      <a:rPr lang="en-US" i="1" dirty="0" smtClean="0">
                        <a:latin typeface="Cambria Math"/>
                        <a:sym typeface="Symbol" pitchFamily="18" charset="2"/>
                      </a:rPr>
                      <m:t>𝑢𝑛𝑢𝑠𝑒</m:t>
                    </m:r>
                    <m:r>
                      <a:rPr lang="en-US" b="0" i="1" dirty="0" smtClean="0">
                        <a:latin typeface="Cambria Math"/>
                        <a:sym typeface="Symbol" pitchFamily="18" charset="2"/>
                      </a:rPr>
                      <m:t>𝑑</m:t>
                    </m:r>
                    <m:r>
                      <a:rPr lang="en-US" i="1" dirty="0" smtClean="0">
                        <a:latin typeface="Cambria Math"/>
                        <a:sym typeface="Symbol" pitchFamily="18" charset="2"/>
                      </a:rPr>
                      <m:t>[</m:t>
                    </m:r>
                    <m:r>
                      <a:rPr lang="en-US" i="1" dirty="0" smtClean="0">
                        <a:latin typeface="Cambria Math"/>
                        <a:sym typeface="Symbol" pitchFamily="18" charset="2"/>
                      </a:rPr>
                      <m:t>𝑖</m:t>
                    </m:r>
                    <m:r>
                      <a:rPr lang="en-US" i="1" dirty="0" smtClean="0">
                        <a:latin typeface="Cambria Math"/>
                        <a:sym typeface="Symbol" pitchFamily="18" charset="2"/>
                      </a:rPr>
                      <m:t>]=</m:t>
                    </m:r>
                    <m:r>
                      <a:rPr lang="en-US" i="1" dirty="0" smtClean="0">
                        <a:latin typeface="Cambria Math"/>
                        <a:sym typeface="Symbol" pitchFamily="18" charset="2"/>
                      </a:rPr>
                      <m:t>𝐹𝑎𝑙𝑠𝑒</m:t>
                    </m:r>
                  </m:oMath>
                </a14:m>
                <a:r>
                  <a:rPr lang="en-US" dirty="0">
                    <a:sym typeface="Symbol" pitchFamily="18" charset="2"/>
                  </a:rPr>
                  <a:t> then it means value </a:t>
                </a:r>
                <a14:m>
                  <m:oMath xmlns:m="http://schemas.openxmlformats.org/officeDocument/2006/math">
                    <m:r>
                      <a:rPr lang="en-US" i="1" dirty="0" smtClean="0">
                        <a:latin typeface="Cambria Math"/>
                        <a:sym typeface="Symbol" pitchFamily="18" charset="2"/>
                      </a:rPr>
                      <m:t>𝑖</m:t>
                    </m:r>
                    <m:r>
                      <a:rPr lang="en-US" b="0" i="1" dirty="0" smtClean="0">
                        <a:latin typeface="Cambria Math" panose="02040503050406030204" pitchFamily="18" charset="0"/>
                        <a:sym typeface="Symbol" pitchFamily="18" charset="2"/>
                      </a:rPr>
                      <m:t> </m:t>
                    </m:r>
                  </m:oMath>
                </a14:m>
                <a:r>
                  <a:rPr lang="en-US" dirty="0">
                    <a:sym typeface="Symbol" pitchFamily="18" charset="2"/>
                  </a:rPr>
                  <a:t>is not allowed.</a:t>
                </a:r>
              </a:p>
              <a:p>
                <a:endParaRPr lang="en-US"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304800" y="1219200"/>
                <a:ext cx="8534400" cy="4937760"/>
              </a:xfrm>
              <a:blipFill>
                <a:blip r:embed="rId2"/>
                <a:stretch>
                  <a:fillRect l="-1071" t="-1111" r="-1071"/>
                </a:stretch>
              </a:blipFill>
            </p:spPr>
            <p:txBody>
              <a:bodyPr/>
              <a:lstStyle/>
              <a:p>
                <a:r>
                  <a:rPr lang="en-US">
                    <a:noFill/>
                  </a:rPr>
                  <a:t> </a:t>
                </a:r>
              </a:p>
            </p:txBody>
          </p:sp>
        </mc:Fallback>
      </mc:AlternateContent>
    </p:spTree>
    <p:extLst>
      <p:ext uri="{BB962C8B-B14F-4D97-AF65-F5344CB8AC3E}">
        <p14:creationId xmlns:p14="http://schemas.microsoft.com/office/powerpoint/2010/main" val="27930667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7</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32</a:t>
            </a:fld>
            <a:endParaRPr lang="en-US"/>
          </a:p>
        </p:txBody>
      </p:sp>
      <p:sp>
        <p:nvSpPr>
          <p:cNvPr id="6" name="Rectangle 5"/>
          <p:cNvSpPr/>
          <p:nvPr/>
        </p:nvSpPr>
        <p:spPr>
          <a:xfrm>
            <a:off x="990600" y="1143000"/>
            <a:ext cx="6781800" cy="5570756"/>
          </a:xfrm>
          <a:prstGeom prst="rect">
            <a:avLst/>
          </a:prstGeom>
        </p:spPr>
        <p:txBody>
          <a:bodyPr wrap="square">
            <a:spAutoFit/>
          </a:bodyPr>
          <a:lstStyle/>
          <a:p>
            <a:pPr>
              <a:spcBef>
                <a:spcPct val="40000"/>
              </a:spcBef>
            </a:pPr>
            <a:r>
              <a:rPr lang="en-US" sz="2000" dirty="0">
                <a:latin typeface="+mj-lt"/>
                <a:sym typeface="Symbol" pitchFamily="18" charset="2"/>
              </a:rPr>
              <a:t>void Try ( </a:t>
            </a:r>
            <a:r>
              <a:rPr lang="en-US" sz="2000" dirty="0" err="1">
                <a:latin typeface="+mj-lt"/>
                <a:sym typeface="Symbol" pitchFamily="18" charset="2"/>
              </a:rPr>
              <a:t>int</a:t>
            </a:r>
            <a:r>
              <a:rPr lang="en-US" sz="2000" dirty="0">
                <a:latin typeface="+mj-lt"/>
                <a:sym typeface="Symbol" pitchFamily="18" charset="2"/>
              </a:rPr>
              <a:t> i ) {</a:t>
            </a:r>
          </a:p>
          <a:p>
            <a:pPr>
              <a:spcBef>
                <a:spcPct val="40000"/>
              </a:spcBef>
            </a:pPr>
            <a:r>
              <a:rPr lang="en-US" sz="2000" dirty="0">
                <a:latin typeface="+mj-lt"/>
                <a:sym typeface="Symbol" pitchFamily="18" charset="2"/>
              </a:rPr>
              <a:t>	</a:t>
            </a:r>
            <a:r>
              <a:rPr lang="en-US" sz="2000" b="1" dirty="0">
                <a:latin typeface="+mj-lt"/>
                <a:sym typeface="Symbol" pitchFamily="18" charset="2"/>
              </a:rPr>
              <a:t>for</a:t>
            </a:r>
            <a:r>
              <a:rPr lang="en-US" sz="2000" dirty="0">
                <a:latin typeface="+mj-lt"/>
                <a:sym typeface="Symbol" pitchFamily="18" charset="2"/>
              </a:rPr>
              <a:t> (</a:t>
            </a:r>
            <a:r>
              <a:rPr lang="en-US" sz="2000" dirty="0" err="1">
                <a:latin typeface="+mj-lt"/>
                <a:sym typeface="Symbol" pitchFamily="18" charset="2"/>
              </a:rPr>
              <a:t>int</a:t>
            </a:r>
            <a:r>
              <a:rPr lang="en-US" sz="2000" dirty="0">
                <a:latin typeface="+mj-lt"/>
                <a:sym typeface="Symbol" pitchFamily="18" charset="2"/>
              </a:rPr>
              <a:t> j =1; j&lt;=n; j++){</a:t>
            </a:r>
          </a:p>
          <a:p>
            <a:pPr>
              <a:spcBef>
                <a:spcPct val="40000"/>
              </a:spcBef>
            </a:pPr>
            <a:r>
              <a:rPr lang="en-US" sz="2000" dirty="0">
                <a:latin typeface="+mj-lt"/>
                <a:sym typeface="Symbol" pitchFamily="18" charset="2"/>
              </a:rPr>
              <a:t>		</a:t>
            </a:r>
            <a:r>
              <a:rPr lang="en-US" sz="2000" b="1" dirty="0">
                <a:latin typeface="+mj-lt"/>
                <a:sym typeface="Symbol" pitchFamily="18" charset="2"/>
              </a:rPr>
              <a:t>if</a:t>
            </a:r>
            <a:r>
              <a:rPr lang="en-US" sz="2000" dirty="0">
                <a:latin typeface="+mj-lt"/>
                <a:sym typeface="Symbol" pitchFamily="18" charset="2"/>
              </a:rPr>
              <a:t> (unused[j] ) {</a:t>
            </a:r>
          </a:p>
          <a:p>
            <a:pPr>
              <a:spcBef>
                <a:spcPct val="40000"/>
              </a:spcBef>
            </a:pPr>
            <a:r>
              <a:rPr lang="en-US" sz="2000" dirty="0">
                <a:latin typeface="+mj-lt"/>
                <a:sym typeface="Symbol" pitchFamily="18" charset="2"/>
              </a:rPr>
              <a:t>			X[i] = j;</a:t>
            </a:r>
          </a:p>
          <a:p>
            <a:pPr>
              <a:spcBef>
                <a:spcPct val="40000"/>
              </a:spcBef>
            </a:pPr>
            <a:r>
              <a:rPr lang="en-US" sz="2000" dirty="0">
                <a:latin typeface="+mj-lt"/>
                <a:sym typeface="Symbol" pitchFamily="18" charset="2"/>
              </a:rPr>
              <a:t>			unused[j] = </a:t>
            </a:r>
            <a:r>
              <a:rPr lang="en-US" sz="2000" b="1" dirty="0">
                <a:latin typeface="+mj-lt"/>
                <a:sym typeface="Symbol" pitchFamily="18" charset="2"/>
              </a:rPr>
              <a:t>false</a:t>
            </a:r>
            <a:r>
              <a:rPr lang="en-US" sz="2000" dirty="0">
                <a:latin typeface="+mj-lt"/>
                <a:sym typeface="Symbol" pitchFamily="18" charset="2"/>
              </a:rPr>
              <a:t>;</a:t>
            </a:r>
          </a:p>
          <a:p>
            <a:pPr>
              <a:spcBef>
                <a:spcPct val="40000"/>
              </a:spcBef>
            </a:pPr>
            <a:r>
              <a:rPr lang="en-US" sz="2000" dirty="0">
                <a:latin typeface="+mj-lt"/>
                <a:sym typeface="Symbol" pitchFamily="18" charset="2"/>
              </a:rPr>
              <a:t>			</a:t>
            </a:r>
            <a:r>
              <a:rPr lang="en-US" sz="2000" b="1" dirty="0">
                <a:latin typeface="+mj-lt"/>
                <a:sym typeface="Symbol" pitchFamily="18" charset="2"/>
              </a:rPr>
              <a:t>if</a:t>
            </a:r>
            <a:r>
              <a:rPr lang="en-US" sz="2000" dirty="0">
                <a:latin typeface="+mj-lt"/>
                <a:sym typeface="Symbol" pitchFamily="18" charset="2"/>
              </a:rPr>
              <a:t> ( i ==n) </a:t>
            </a:r>
          </a:p>
          <a:p>
            <a:pPr>
              <a:spcBef>
                <a:spcPct val="40000"/>
              </a:spcBef>
            </a:pPr>
            <a:r>
              <a:rPr lang="en-US" sz="2000" dirty="0">
                <a:latin typeface="+mj-lt"/>
                <a:sym typeface="Symbol" pitchFamily="18" charset="2"/>
              </a:rPr>
              <a:t>				Result();</a:t>
            </a:r>
          </a:p>
          <a:p>
            <a:pPr>
              <a:spcBef>
                <a:spcPct val="40000"/>
              </a:spcBef>
            </a:pPr>
            <a:r>
              <a:rPr lang="en-US" sz="2000" dirty="0">
                <a:latin typeface="+mj-lt"/>
                <a:sym typeface="Symbol" pitchFamily="18" charset="2"/>
              </a:rPr>
              <a:t>			</a:t>
            </a:r>
            <a:r>
              <a:rPr lang="en-US" sz="2000" b="1" dirty="0">
                <a:latin typeface="+mj-lt"/>
                <a:sym typeface="Symbol" pitchFamily="18" charset="2"/>
              </a:rPr>
              <a:t>else</a:t>
            </a:r>
            <a:r>
              <a:rPr lang="en-US" sz="2000" dirty="0">
                <a:latin typeface="+mj-lt"/>
                <a:sym typeface="Symbol" pitchFamily="18" charset="2"/>
              </a:rPr>
              <a:t> </a:t>
            </a:r>
          </a:p>
          <a:p>
            <a:pPr>
              <a:spcBef>
                <a:spcPct val="40000"/>
              </a:spcBef>
            </a:pPr>
            <a:r>
              <a:rPr lang="en-US" sz="2000" dirty="0">
                <a:latin typeface="+mj-lt"/>
                <a:sym typeface="Symbol" pitchFamily="18" charset="2"/>
              </a:rPr>
              <a:t>				Try (i+1);</a:t>
            </a:r>
          </a:p>
          <a:p>
            <a:pPr>
              <a:spcBef>
                <a:spcPct val="40000"/>
              </a:spcBef>
            </a:pPr>
            <a:r>
              <a:rPr lang="en-US" sz="2000" dirty="0">
                <a:latin typeface="+mj-lt"/>
                <a:sym typeface="Symbol" pitchFamily="18" charset="2"/>
              </a:rPr>
              <a:t>			unused[j] = </a:t>
            </a:r>
            <a:r>
              <a:rPr lang="en-US" sz="2000" b="1" dirty="0">
                <a:latin typeface="+mj-lt"/>
                <a:sym typeface="Symbol" pitchFamily="18" charset="2"/>
              </a:rPr>
              <a:t>true</a:t>
            </a:r>
            <a:r>
              <a:rPr lang="en-US" sz="2000" dirty="0">
                <a:latin typeface="+mj-lt"/>
                <a:sym typeface="Symbol" pitchFamily="18" charset="2"/>
              </a:rPr>
              <a:t>;</a:t>
            </a:r>
          </a:p>
          <a:p>
            <a:pPr>
              <a:spcBef>
                <a:spcPct val="40000"/>
              </a:spcBef>
            </a:pPr>
            <a:r>
              <a:rPr lang="en-US" sz="2000" dirty="0">
                <a:latin typeface="+mj-lt"/>
                <a:sym typeface="Symbol" pitchFamily="18" charset="2"/>
              </a:rPr>
              <a:t>		}</a:t>
            </a:r>
          </a:p>
          <a:p>
            <a:pPr>
              <a:spcBef>
                <a:spcPct val="40000"/>
              </a:spcBef>
            </a:pPr>
            <a:r>
              <a:rPr lang="en-US" sz="2000" dirty="0">
                <a:latin typeface="+mj-lt"/>
                <a:sym typeface="Symbol" pitchFamily="18" charset="2"/>
              </a:rPr>
              <a:t>	}</a:t>
            </a:r>
          </a:p>
          <a:p>
            <a:pPr>
              <a:spcBef>
                <a:spcPct val="40000"/>
              </a:spcBef>
            </a:pPr>
            <a:r>
              <a:rPr lang="en-US" sz="2000" dirty="0">
                <a:latin typeface="+mj-lt"/>
                <a:sym typeface="Symbol" pitchFamily="18" charset="2"/>
              </a:rPr>
              <a:t>}</a:t>
            </a:r>
          </a:p>
        </p:txBody>
      </p:sp>
      <mc:AlternateContent xmlns:mc="http://schemas.openxmlformats.org/markup-compatibility/2006" xmlns:a14="http://schemas.microsoft.com/office/drawing/2010/main">
        <mc:Choice Requires="a14">
          <p:sp>
            <p:nvSpPr>
              <p:cNvPr id="7" name="Rectangle 6"/>
              <p:cNvSpPr/>
              <p:nvPr/>
            </p:nvSpPr>
            <p:spPr>
              <a:xfrm>
                <a:off x="6400800" y="2704603"/>
                <a:ext cx="2286000" cy="1477328"/>
              </a:xfrm>
              <a:prstGeom prst="rect">
                <a:avLst/>
              </a:prstGeom>
            </p:spPr>
            <p:txBody>
              <a:bodyPr wrap="square">
                <a:spAutoFit/>
              </a:bodyPr>
              <a:lstStyle/>
              <a:p>
                <a:r>
                  <a:rPr lang="en-US" dirty="0">
                    <a:latin typeface="Tahoma" pitchFamily="34" charset="0"/>
                    <a:ea typeface="Tahoma" pitchFamily="34" charset="0"/>
                    <a:cs typeface="Tahoma" pitchFamily="34" charset="0"/>
                    <a:sym typeface="Symbol" pitchFamily="18" charset="2"/>
                  </a:rPr>
                  <a:t>Then, to list all permutations </a:t>
                </a:r>
                <a:r>
                  <a:rPr lang="en-US" dirty="0" err="1">
                    <a:latin typeface="Tahoma" pitchFamily="34" charset="0"/>
                    <a:ea typeface="Tahoma" pitchFamily="34" charset="0"/>
                    <a:cs typeface="Tahoma" pitchFamily="34" charset="0"/>
                    <a:sym typeface="Symbol" pitchFamily="18" charset="2"/>
                  </a:rPr>
                  <a:t>of</a:t>
                </a:r>
                <a:r>
                  <a:rPr lang="en-US" dirty="0">
                    <a:latin typeface="Tahoma" pitchFamily="34" charset="0"/>
                    <a:ea typeface="Tahoma" pitchFamily="34" charset="0"/>
                    <a:cs typeface="Tahoma" pitchFamily="34" charset="0"/>
                    <a:sym typeface="Symbol" pitchFamily="18" charset="2"/>
                  </a:rPr>
                  <a:t> </a:t>
                </a:r>
                <a14:m>
                  <m:oMath xmlns:m="http://schemas.openxmlformats.org/officeDocument/2006/math">
                    <m:r>
                      <a:rPr lang="en-US" i="1" dirty="0" smtClean="0">
                        <a:latin typeface="Cambria Math"/>
                        <a:ea typeface="Tahoma" pitchFamily="34" charset="0"/>
                        <a:cs typeface="Tahoma" pitchFamily="34" charset="0"/>
                        <a:sym typeface="Symbol" pitchFamily="18" charset="2"/>
                      </a:rPr>
                      <m:t>1, 2, …, </m:t>
                    </m:r>
                    <m:r>
                      <a:rPr lang="en-US" i="1" dirty="0" smtClean="0">
                        <a:latin typeface="Cambria Math"/>
                        <a:ea typeface="Tahoma" pitchFamily="34" charset="0"/>
                        <a:cs typeface="Tahoma" pitchFamily="34" charset="0"/>
                        <a:sym typeface="Symbol" pitchFamily="18" charset="2"/>
                      </a:rPr>
                      <m:t>𝑛</m:t>
                    </m:r>
                  </m:oMath>
                </a14:m>
                <a:r>
                  <a:rPr lang="en-US" dirty="0">
                    <a:latin typeface="Tahoma" pitchFamily="34" charset="0"/>
                    <a:ea typeface="Tahoma" pitchFamily="34" charset="0"/>
                    <a:cs typeface="Tahoma" pitchFamily="34" charset="0"/>
                    <a:sym typeface="Symbol" pitchFamily="18" charset="2"/>
                  </a:rPr>
                  <a:t> we just need call procedure Try(1). </a:t>
                </a:r>
                <a:endParaRPr lang="en-US" dirty="0">
                  <a:latin typeface="Tahoma" pitchFamily="34" charset="0"/>
                  <a:ea typeface="Tahoma" pitchFamily="34" charset="0"/>
                  <a:cs typeface="Tahoma" pitchFamily="34"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6400800" y="2704603"/>
                <a:ext cx="2286000" cy="1477328"/>
              </a:xfrm>
              <a:prstGeom prst="rect">
                <a:avLst/>
              </a:prstGeom>
              <a:blipFill>
                <a:blip r:embed="rId2"/>
                <a:stretch>
                  <a:fillRect l="-2133" t="-2479" b="-5785"/>
                </a:stretch>
              </a:blipFill>
            </p:spPr>
            <p:txBody>
              <a:bodyPr/>
              <a:lstStyle/>
              <a:p>
                <a:r>
                  <a:rPr lang="en-US">
                    <a:noFill/>
                  </a:rPr>
                  <a:t> </a:t>
                </a:r>
              </a:p>
            </p:txBody>
          </p:sp>
        </mc:Fallback>
      </mc:AlternateContent>
    </p:spTree>
    <p:extLst>
      <p:ext uri="{BB962C8B-B14F-4D97-AF65-F5344CB8AC3E}">
        <p14:creationId xmlns:p14="http://schemas.microsoft.com/office/powerpoint/2010/main" val="22968396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7</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sp>
        <p:nvSpPr>
          <p:cNvPr id="6" name="Text Box 80"/>
          <p:cNvSpPr txBox="1">
            <a:spLocks noChangeArrowheads="1"/>
          </p:cNvSpPr>
          <p:nvPr/>
        </p:nvSpPr>
        <p:spPr bwMode="auto">
          <a:xfrm>
            <a:off x="7467600" y="45720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X3=1</a:t>
            </a:r>
          </a:p>
        </p:txBody>
      </p:sp>
      <p:sp>
        <p:nvSpPr>
          <p:cNvPr id="7" name="Text Box 79"/>
          <p:cNvSpPr txBox="1">
            <a:spLocks noChangeArrowheads="1"/>
          </p:cNvSpPr>
          <p:nvPr/>
        </p:nvSpPr>
        <p:spPr bwMode="auto">
          <a:xfrm>
            <a:off x="5943600" y="45720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X3=2</a:t>
            </a:r>
          </a:p>
        </p:txBody>
      </p:sp>
      <p:sp>
        <p:nvSpPr>
          <p:cNvPr id="8" name="Text Box 72"/>
          <p:cNvSpPr txBox="1">
            <a:spLocks noChangeArrowheads="1"/>
          </p:cNvSpPr>
          <p:nvPr/>
        </p:nvSpPr>
        <p:spPr bwMode="auto">
          <a:xfrm>
            <a:off x="4876800" y="451008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X3=1</a:t>
            </a:r>
          </a:p>
        </p:txBody>
      </p:sp>
      <p:sp>
        <p:nvSpPr>
          <p:cNvPr id="9" name="Text Box 71"/>
          <p:cNvSpPr txBox="1">
            <a:spLocks noChangeArrowheads="1"/>
          </p:cNvSpPr>
          <p:nvPr/>
        </p:nvSpPr>
        <p:spPr bwMode="auto">
          <a:xfrm>
            <a:off x="3810000" y="45720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X3=3</a:t>
            </a:r>
          </a:p>
        </p:txBody>
      </p:sp>
      <p:sp>
        <p:nvSpPr>
          <p:cNvPr id="10" name="Text Box 65"/>
          <p:cNvSpPr txBox="1">
            <a:spLocks noChangeArrowheads="1"/>
          </p:cNvSpPr>
          <p:nvPr/>
        </p:nvSpPr>
        <p:spPr bwMode="auto">
          <a:xfrm>
            <a:off x="4953000" y="33528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X2=3</a:t>
            </a:r>
          </a:p>
        </p:txBody>
      </p:sp>
      <p:sp>
        <p:nvSpPr>
          <p:cNvPr id="11" name="Text Box 66"/>
          <p:cNvSpPr txBox="1">
            <a:spLocks noChangeArrowheads="1"/>
          </p:cNvSpPr>
          <p:nvPr/>
        </p:nvSpPr>
        <p:spPr bwMode="auto">
          <a:xfrm>
            <a:off x="4114800" y="336708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X2=1</a:t>
            </a:r>
          </a:p>
        </p:txBody>
      </p:sp>
      <p:sp>
        <p:nvSpPr>
          <p:cNvPr id="12" name="Text Box 50"/>
          <p:cNvSpPr txBox="1">
            <a:spLocks noChangeArrowheads="1"/>
          </p:cNvSpPr>
          <p:nvPr/>
        </p:nvSpPr>
        <p:spPr bwMode="auto">
          <a:xfrm>
            <a:off x="4191000" y="222408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X1=2</a:t>
            </a:r>
          </a:p>
        </p:txBody>
      </p:sp>
      <p:sp>
        <p:nvSpPr>
          <p:cNvPr id="13" name="Text Box 8"/>
          <p:cNvSpPr txBox="1">
            <a:spLocks noChangeArrowheads="1"/>
          </p:cNvSpPr>
          <p:nvPr/>
        </p:nvSpPr>
        <p:spPr bwMode="auto">
          <a:xfrm>
            <a:off x="2743200" y="45720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X3=2</a:t>
            </a:r>
          </a:p>
        </p:txBody>
      </p:sp>
      <p:sp>
        <p:nvSpPr>
          <p:cNvPr id="14" name="Text Box 11"/>
          <p:cNvSpPr txBox="1">
            <a:spLocks noChangeArrowheads="1"/>
          </p:cNvSpPr>
          <p:nvPr/>
        </p:nvSpPr>
        <p:spPr bwMode="auto">
          <a:xfrm>
            <a:off x="3276600" y="33528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X2=3</a:t>
            </a:r>
          </a:p>
        </p:txBody>
      </p:sp>
      <p:sp>
        <p:nvSpPr>
          <p:cNvPr id="15" name="Text Box 12"/>
          <p:cNvSpPr txBox="1">
            <a:spLocks noChangeArrowheads="1"/>
          </p:cNvSpPr>
          <p:nvPr/>
        </p:nvSpPr>
        <p:spPr bwMode="auto">
          <a:xfrm>
            <a:off x="1981200" y="336708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X2=2</a:t>
            </a:r>
          </a:p>
        </p:txBody>
      </p:sp>
      <p:sp>
        <p:nvSpPr>
          <p:cNvPr id="16" name="Text Box 13"/>
          <p:cNvSpPr txBox="1">
            <a:spLocks noChangeArrowheads="1"/>
          </p:cNvSpPr>
          <p:nvPr/>
        </p:nvSpPr>
        <p:spPr bwMode="auto">
          <a:xfrm>
            <a:off x="5486400" y="20574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X1=3</a:t>
            </a:r>
          </a:p>
        </p:txBody>
      </p:sp>
      <p:sp>
        <p:nvSpPr>
          <p:cNvPr id="17" name="Text Box 14"/>
          <p:cNvSpPr txBox="1">
            <a:spLocks noChangeArrowheads="1"/>
          </p:cNvSpPr>
          <p:nvPr/>
        </p:nvSpPr>
        <p:spPr bwMode="auto">
          <a:xfrm>
            <a:off x="3352800" y="207168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X1=1</a:t>
            </a:r>
          </a:p>
        </p:txBody>
      </p:sp>
      <p:sp>
        <p:nvSpPr>
          <p:cNvPr id="18" name="Oval 17"/>
          <p:cNvSpPr>
            <a:spLocks noChangeArrowheads="1"/>
          </p:cNvSpPr>
          <p:nvPr/>
        </p:nvSpPr>
        <p:spPr bwMode="auto">
          <a:xfrm>
            <a:off x="4191000" y="1524000"/>
            <a:ext cx="762000" cy="609600"/>
          </a:xfrm>
          <a:prstGeom prst="ellipse">
            <a:avLst/>
          </a:prstGeom>
          <a:solidFill>
            <a:schemeClr val="bg2"/>
          </a:solidFill>
          <a:ln w="9525">
            <a:solidFill>
              <a:schemeClr val="tx1"/>
            </a:solidFill>
            <a:round/>
            <a:headEnd/>
            <a:tailEnd/>
          </a:ln>
        </p:spPr>
        <p:txBody>
          <a:bodyPr wrap="none" anchor="ctr"/>
          <a:lstStyle/>
          <a:p>
            <a:pPr algn="ctr"/>
            <a:r>
              <a:rPr lang="en-US" dirty="0"/>
              <a:t>Try(</a:t>
            </a:r>
            <a:r>
              <a:rPr lang="en-US" dirty="0">
                <a:latin typeface="Tahoma" pitchFamily="34" charset="0"/>
                <a:ea typeface="Tahoma" pitchFamily="34" charset="0"/>
                <a:cs typeface="Tahoma" pitchFamily="34" charset="0"/>
              </a:rPr>
              <a:t>1</a:t>
            </a:r>
            <a:r>
              <a:rPr lang="en-US" dirty="0"/>
              <a:t>)</a:t>
            </a:r>
          </a:p>
        </p:txBody>
      </p:sp>
      <p:sp>
        <p:nvSpPr>
          <p:cNvPr id="19" name="Oval 18"/>
          <p:cNvSpPr>
            <a:spLocks noChangeArrowheads="1"/>
          </p:cNvSpPr>
          <p:nvPr/>
        </p:nvSpPr>
        <p:spPr bwMode="auto">
          <a:xfrm>
            <a:off x="2895600" y="2667000"/>
            <a:ext cx="762000" cy="609600"/>
          </a:xfrm>
          <a:prstGeom prst="ellipse">
            <a:avLst/>
          </a:prstGeom>
          <a:solidFill>
            <a:schemeClr val="bg2"/>
          </a:solidFill>
          <a:ln w="9525">
            <a:solidFill>
              <a:schemeClr val="tx1"/>
            </a:solidFill>
            <a:round/>
            <a:headEnd/>
            <a:tailEnd/>
          </a:ln>
        </p:spPr>
        <p:txBody>
          <a:bodyPr wrap="none" anchor="ctr"/>
          <a:lstStyle/>
          <a:p>
            <a:pPr algn="ctr"/>
            <a:r>
              <a:rPr lang="en-US"/>
              <a:t>Try(2)</a:t>
            </a:r>
          </a:p>
        </p:txBody>
      </p:sp>
      <p:sp>
        <p:nvSpPr>
          <p:cNvPr id="20" name="Oval 19"/>
          <p:cNvSpPr>
            <a:spLocks noChangeArrowheads="1"/>
          </p:cNvSpPr>
          <p:nvPr/>
        </p:nvSpPr>
        <p:spPr bwMode="auto">
          <a:xfrm>
            <a:off x="6096000" y="2590800"/>
            <a:ext cx="762000" cy="609600"/>
          </a:xfrm>
          <a:prstGeom prst="ellipse">
            <a:avLst/>
          </a:prstGeom>
          <a:solidFill>
            <a:schemeClr val="bg2"/>
          </a:solidFill>
          <a:ln w="9525">
            <a:solidFill>
              <a:schemeClr val="tx1"/>
            </a:solidFill>
            <a:round/>
            <a:headEnd/>
            <a:tailEnd/>
          </a:ln>
        </p:spPr>
        <p:txBody>
          <a:bodyPr wrap="none" anchor="ctr"/>
          <a:lstStyle/>
          <a:p>
            <a:pPr algn="ctr"/>
            <a:r>
              <a:rPr lang="en-US"/>
              <a:t>Try(2)</a:t>
            </a:r>
          </a:p>
        </p:txBody>
      </p:sp>
      <p:sp>
        <p:nvSpPr>
          <p:cNvPr id="21" name="Oval 20"/>
          <p:cNvSpPr>
            <a:spLocks noChangeArrowheads="1"/>
          </p:cNvSpPr>
          <p:nvPr/>
        </p:nvSpPr>
        <p:spPr bwMode="auto">
          <a:xfrm>
            <a:off x="1676400" y="3886200"/>
            <a:ext cx="762000" cy="609600"/>
          </a:xfrm>
          <a:prstGeom prst="ellipse">
            <a:avLst/>
          </a:prstGeom>
          <a:solidFill>
            <a:schemeClr val="bg2"/>
          </a:solidFill>
          <a:ln w="9525">
            <a:solidFill>
              <a:schemeClr val="tx1"/>
            </a:solidFill>
            <a:round/>
            <a:headEnd/>
            <a:tailEnd/>
          </a:ln>
        </p:spPr>
        <p:txBody>
          <a:bodyPr wrap="none" anchor="ctr"/>
          <a:lstStyle/>
          <a:p>
            <a:pPr algn="ctr"/>
            <a:r>
              <a:rPr lang="en-US"/>
              <a:t>Try(3)</a:t>
            </a:r>
          </a:p>
        </p:txBody>
      </p:sp>
      <p:sp>
        <p:nvSpPr>
          <p:cNvPr id="22" name="Oval 21"/>
          <p:cNvSpPr>
            <a:spLocks noChangeArrowheads="1"/>
          </p:cNvSpPr>
          <p:nvPr/>
        </p:nvSpPr>
        <p:spPr bwMode="auto">
          <a:xfrm>
            <a:off x="3048000" y="3886200"/>
            <a:ext cx="762000" cy="609600"/>
          </a:xfrm>
          <a:prstGeom prst="ellipse">
            <a:avLst/>
          </a:prstGeom>
          <a:solidFill>
            <a:schemeClr val="bg2"/>
          </a:solidFill>
          <a:ln w="9525">
            <a:solidFill>
              <a:schemeClr val="tx1"/>
            </a:solidFill>
            <a:round/>
            <a:headEnd/>
            <a:tailEnd/>
          </a:ln>
        </p:spPr>
        <p:txBody>
          <a:bodyPr wrap="none" anchor="ctr"/>
          <a:lstStyle/>
          <a:p>
            <a:pPr algn="ctr"/>
            <a:r>
              <a:rPr lang="en-US"/>
              <a:t>Try(3)</a:t>
            </a:r>
          </a:p>
        </p:txBody>
      </p:sp>
      <p:sp>
        <p:nvSpPr>
          <p:cNvPr id="23" name="Rectangle 24"/>
          <p:cNvSpPr>
            <a:spLocks noChangeArrowheads="1"/>
          </p:cNvSpPr>
          <p:nvPr/>
        </p:nvSpPr>
        <p:spPr bwMode="auto">
          <a:xfrm>
            <a:off x="685800" y="5181600"/>
            <a:ext cx="990600" cy="533400"/>
          </a:xfrm>
          <a:prstGeom prst="rect">
            <a:avLst/>
          </a:prstGeom>
          <a:solidFill>
            <a:schemeClr val="bg2"/>
          </a:solidFill>
          <a:ln w="9525">
            <a:solidFill>
              <a:schemeClr val="tx1"/>
            </a:solidFill>
            <a:miter lim="800000"/>
            <a:headEnd/>
            <a:tailEnd/>
          </a:ln>
        </p:spPr>
        <p:txBody>
          <a:bodyPr wrap="none" lIns="0" rIns="0" anchor="ctr"/>
          <a:lstStyle/>
          <a:p>
            <a:pPr algn="ctr"/>
            <a:r>
              <a:rPr lang="en-US"/>
              <a:t>1 2 3</a:t>
            </a:r>
          </a:p>
        </p:txBody>
      </p:sp>
      <p:sp>
        <p:nvSpPr>
          <p:cNvPr id="24" name="Rectangle 25"/>
          <p:cNvSpPr>
            <a:spLocks noChangeArrowheads="1"/>
          </p:cNvSpPr>
          <p:nvPr/>
        </p:nvSpPr>
        <p:spPr bwMode="auto">
          <a:xfrm>
            <a:off x="2667000" y="5181600"/>
            <a:ext cx="914400" cy="533400"/>
          </a:xfrm>
          <a:prstGeom prst="rect">
            <a:avLst/>
          </a:prstGeom>
          <a:solidFill>
            <a:schemeClr val="bg2"/>
          </a:solidFill>
          <a:ln w="9525">
            <a:solidFill>
              <a:schemeClr val="tx1"/>
            </a:solidFill>
            <a:miter lim="800000"/>
            <a:headEnd/>
            <a:tailEnd/>
          </a:ln>
        </p:spPr>
        <p:txBody>
          <a:bodyPr wrap="none" lIns="0" rIns="0" anchor="ctr"/>
          <a:lstStyle/>
          <a:p>
            <a:pPr algn="ctr"/>
            <a:r>
              <a:rPr lang="en-US"/>
              <a:t>1 3 2</a:t>
            </a:r>
          </a:p>
        </p:txBody>
      </p:sp>
      <p:sp>
        <p:nvSpPr>
          <p:cNvPr id="25" name="Rectangle 26"/>
          <p:cNvSpPr>
            <a:spLocks noChangeArrowheads="1"/>
          </p:cNvSpPr>
          <p:nvPr/>
        </p:nvSpPr>
        <p:spPr bwMode="auto">
          <a:xfrm>
            <a:off x="3810000" y="5181600"/>
            <a:ext cx="914400" cy="533400"/>
          </a:xfrm>
          <a:prstGeom prst="rect">
            <a:avLst/>
          </a:prstGeom>
          <a:solidFill>
            <a:schemeClr val="bg2"/>
          </a:solidFill>
          <a:ln w="9525">
            <a:solidFill>
              <a:schemeClr val="tx1"/>
            </a:solidFill>
            <a:miter lim="800000"/>
            <a:headEnd/>
            <a:tailEnd/>
          </a:ln>
        </p:spPr>
        <p:txBody>
          <a:bodyPr wrap="none" lIns="0" rIns="0" anchor="ctr"/>
          <a:lstStyle/>
          <a:p>
            <a:pPr algn="ctr"/>
            <a:r>
              <a:rPr lang="en-US"/>
              <a:t>2 1 3</a:t>
            </a:r>
          </a:p>
        </p:txBody>
      </p:sp>
      <p:sp>
        <p:nvSpPr>
          <p:cNvPr id="26" name="Rectangle 27"/>
          <p:cNvSpPr>
            <a:spLocks noChangeArrowheads="1"/>
          </p:cNvSpPr>
          <p:nvPr/>
        </p:nvSpPr>
        <p:spPr bwMode="auto">
          <a:xfrm>
            <a:off x="4876800" y="5181600"/>
            <a:ext cx="990600" cy="533400"/>
          </a:xfrm>
          <a:prstGeom prst="rect">
            <a:avLst/>
          </a:prstGeom>
          <a:solidFill>
            <a:schemeClr val="bg2"/>
          </a:solidFill>
          <a:ln w="9525">
            <a:solidFill>
              <a:schemeClr val="tx1"/>
            </a:solidFill>
            <a:miter lim="800000"/>
            <a:headEnd/>
            <a:tailEnd/>
          </a:ln>
        </p:spPr>
        <p:txBody>
          <a:bodyPr wrap="none" lIns="0" rIns="0" anchor="ctr"/>
          <a:lstStyle/>
          <a:p>
            <a:pPr algn="ctr"/>
            <a:r>
              <a:rPr lang="en-US"/>
              <a:t>2 3 1</a:t>
            </a:r>
          </a:p>
        </p:txBody>
      </p:sp>
      <p:sp>
        <p:nvSpPr>
          <p:cNvPr id="27" name="Rectangle 28"/>
          <p:cNvSpPr>
            <a:spLocks noChangeArrowheads="1"/>
          </p:cNvSpPr>
          <p:nvPr/>
        </p:nvSpPr>
        <p:spPr bwMode="auto">
          <a:xfrm>
            <a:off x="6096000" y="5181600"/>
            <a:ext cx="914400" cy="533400"/>
          </a:xfrm>
          <a:prstGeom prst="rect">
            <a:avLst/>
          </a:prstGeom>
          <a:solidFill>
            <a:schemeClr val="bg2"/>
          </a:solidFill>
          <a:ln w="9525">
            <a:solidFill>
              <a:schemeClr val="tx1"/>
            </a:solidFill>
            <a:miter lim="800000"/>
            <a:headEnd/>
            <a:tailEnd/>
          </a:ln>
        </p:spPr>
        <p:txBody>
          <a:bodyPr wrap="none" lIns="0" rIns="0" anchor="ctr"/>
          <a:lstStyle/>
          <a:p>
            <a:pPr algn="ctr"/>
            <a:r>
              <a:rPr lang="en-US"/>
              <a:t>3 1 2</a:t>
            </a:r>
          </a:p>
        </p:txBody>
      </p:sp>
      <p:sp>
        <p:nvSpPr>
          <p:cNvPr id="28" name="Rectangle 29"/>
          <p:cNvSpPr>
            <a:spLocks noChangeArrowheads="1"/>
          </p:cNvSpPr>
          <p:nvPr/>
        </p:nvSpPr>
        <p:spPr bwMode="auto">
          <a:xfrm>
            <a:off x="7543800" y="5181600"/>
            <a:ext cx="838200" cy="533400"/>
          </a:xfrm>
          <a:prstGeom prst="rect">
            <a:avLst/>
          </a:prstGeom>
          <a:solidFill>
            <a:schemeClr val="bg2"/>
          </a:solidFill>
          <a:ln w="9525">
            <a:solidFill>
              <a:schemeClr val="tx1"/>
            </a:solidFill>
            <a:miter lim="800000"/>
            <a:headEnd/>
            <a:tailEnd/>
          </a:ln>
        </p:spPr>
        <p:txBody>
          <a:bodyPr wrap="none" lIns="0" rIns="0" anchor="ctr"/>
          <a:lstStyle/>
          <a:p>
            <a:pPr algn="ctr"/>
            <a:r>
              <a:rPr lang="en-US"/>
              <a:t>3 2 1</a:t>
            </a:r>
          </a:p>
        </p:txBody>
      </p:sp>
      <p:sp>
        <p:nvSpPr>
          <p:cNvPr id="29" name="Line 32"/>
          <p:cNvSpPr>
            <a:spLocks noChangeShapeType="1"/>
          </p:cNvSpPr>
          <p:nvPr/>
        </p:nvSpPr>
        <p:spPr bwMode="auto">
          <a:xfrm flipH="1">
            <a:off x="3505200" y="2057400"/>
            <a:ext cx="8382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 name="Line 33"/>
          <p:cNvSpPr>
            <a:spLocks noChangeShapeType="1"/>
          </p:cNvSpPr>
          <p:nvPr/>
        </p:nvSpPr>
        <p:spPr bwMode="auto">
          <a:xfrm flipH="1">
            <a:off x="2286000" y="3200400"/>
            <a:ext cx="7620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 name="Line 34"/>
          <p:cNvSpPr>
            <a:spLocks noChangeShapeType="1"/>
          </p:cNvSpPr>
          <p:nvPr/>
        </p:nvSpPr>
        <p:spPr bwMode="auto">
          <a:xfrm>
            <a:off x="4876800" y="1981200"/>
            <a:ext cx="14478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 name="Line 36"/>
          <p:cNvSpPr>
            <a:spLocks noChangeShapeType="1"/>
          </p:cNvSpPr>
          <p:nvPr/>
        </p:nvSpPr>
        <p:spPr bwMode="auto">
          <a:xfrm>
            <a:off x="3276600" y="3276600"/>
            <a:ext cx="762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 name="Line 38"/>
          <p:cNvSpPr>
            <a:spLocks noChangeShapeType="1"/>
          </p:cNvSpPr>
          <p:nvPr/>
        </p:nvSpPr>
        <p:spPr bwMode="auto">
          <a:xfrm flipH="1">
            <a:off x="1219200" y="4495800"/>
            <a:ext cx="6858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 name="Text Box 46"/>
          <p:cNvSpPr txBox="1">
            <a:spLocks noChangeArrowheads="1"/>
          </p:cNvSpPr>
          <p:nvPr/>
        </p:nvSpPr>
        <p:spPr bwMode="auto">
          <a:xfrm>
            <a:off x="1066800" y="458628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X3=3</a:t>
            </a:r>
          </a:p>
        </p:txBody>
      </p:sp>
      <p:sp>
        <p:nvSpPr>
          <p:cNvPr id="35" name="Line 47"/>
          <p:cNvSpPr>
            <a:spLocks noChangeShapeType="1"/>
          </p:cNvSpPr>
          <p:nvPr/>
        </p:nvSpPr>
        <p:spPr bwMode="auto">
          <a:xfrm>
            <a:off x="3429000" y="44958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6" name="Oval 48"/>
          <p:cNvSpPr>
            <a:spLocks noChangeArrowheads="1"/>
          </p:cNvSpPr>
          <p:nvPr/>
        </p:nvSpPr>
        <p:spPr bwMode="auto">
          <a:xfrm>
            <a:off x="4419600" y="2667000"/>
            <a:ext cx="762000" cy="609600"/>
          </a:xfrm>
          <a:prstGeom prst="ellipse">
            <a:avLst/>
          </a:prstGeom>
          <a:solidFill>
            <a:schemeClr val="bg2"/>
          </a:solidFill>
          <a:ln w="9525">
            <a:solidFill>
              <a:schemeClr val="tx1"/>
            </a:solidFill>
            <a:round/>
            <a:headEnd/>
            <a:tailEnd/>
          </a:ln>
        </p:spPr>
        <p:txBody>
          <a:bodyPr wrap="none" anchor="ctr"/>
          <a:lstStyle/>
          <a:p>
            <a:pPr algn="ctr"/>
            <a:r>
              <a:rPr lang="en-US"/>
              <a:t>Try(2)</a:t>
            </a:r>
          </a:p>
        </p:txBody>
      </p:sp>
      <p:sp>
        <p:nvSpPr>
          <p:cNvPr id="37" name="Line 49"/>
          <p:cNvSpPr>
            <a:spLocks noChangeShapeType="1"/>
          </p:cNvSpPr>
          <p:nvPr/>
        </p:nvSpPr>
        <p:spPr bwMode="auto">
          <a:xfrm>
            <a:off x="4648200" y="2133600"/>
            <a:ext cx="762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 name="Oval 61"/>
          <p:cNvSpPr>
            <a:spLocks noChangeArrowheads="1"/>
          </p:cNvSpPr>
          <p:nvPr/>
        </p:nvSpPr>
        <p:spPr bwMode="auto">
          <a:xfrm>
            <a:off x="3962400" y="3886200"/>
            <a:ext cx="762000" cy="609600"/>
          </a:xfrm>
          <a:prstGeom prst="ellipse">
            <a:avLst/>
          </a:prstGeom>
          <a:solidFill>
            <a:schemeClr val="bg2"/>
          </a:solidFill>
          <a:ln w="9525">
            <a:solidFill>
              <a:schemeClr val="tx1"/>
            </a:solidFill>
            <a:round/>
            <a:headEnd/>
            <a:tailEnd/>
          </a:ln>
        </p:spPr>
        <p:txBody>
          <a:bodyPr wrap="none" anchor="ctr"/>
          <a:lstStyle/>
          <a:p>
            <a:pPr algn="ctr"/>
            <a:r>
              <a:rPr lang="en-US"/>
              <a:t>Try(3)</a:t>
            </a:r>
          </a:p>
        </p:txBody>
      </p:sp>
      <p:sp>
        <p:nvSpPr>
          <p:cNvPr id="39" name="Oval 62"/>
          <p:cNvSpPr>
            <a:spLocks noChangeArrowheads="1"/>
          </p:cNvSpPr>
          <p:nvPr/>
        </p:nvSpPr>
        <p:spPr bwMode="auto">
          <a:xfrm>
            <a:off x="4876800" y="3886200"/>
            <a:ext cx="762000" cy="609600"/>
          </a:xfrm>
          <a:prstGeom prst="ellipse">
            <a:avLst/>
          </a:prstGeom>
          <a:solidFill>
            <a:schemeClr val="bg2"/>
          </a:solidFill>
          <a:ln w="9525">
            <a:solidFill>
              <a:schemeClr val="tx1"/>
            </a:solidFill>
            <a:round/>
            <a:headEnd/>
            <a:tailEnd/>
          </a:ln>
        </p:spPr>
        <p:txBody>
          <a:bodyPr wrap="none" anchor="ctr"/>
          <a:lstStyle/>
          <a:p>
            <a:pPr algn="ctr"/>
            <a:r>
              <a:rPr lang="en-US"/>
              <a:t>Try(3)</a:t>
            </a:r>
          </a:p>
        </p:txBody>
      </p:sp>
      <p:sp>
        <p:nvSpPr>
          <p:cNvPr id="40" name="Oval 63"/>
          <p:cNvSpPr>
            <a:spLocks noChangeArrowheads="1"/>
          </p:cNvSpPr>
          <p:nvPr/>
        </p:nvSpPr>
        <p:spPr bwMode="auto">
          <a:xfrm>
            <a:off x="6019800" y="3886200"/>
            <a:ext cx="762000" cy="609600"/>
          </a:xfrm>
          <a:prstGeom prst="ellipse">
            <a:avLst/>
          </a:prstGeom>
          <a:solidFill>
            <a:schemeClr val="bg2"/>
          </a:solidFill>
          <a:ln w="9525">
            <a:solidFill>
              <a:schemeClr val="tx1"/>
            </a:solidFill>
            <a:round/>
            <a:headEnd/>
            <a:tailEnd/>
          </a:ln>
        </p:spPr>
        <p:txBody>
          <a:bodyPr wrap="none" anchor="ctr"/>
          <a:lstStyle/>
          <a:p>
            <a:pPr algn="ctr"/>
            <a:r>
              <a:rPr lang="en-US"/>
              <a:t>Try(3)</a:t>
            </a:r>
          </a:p>
        </p:txBody>
      </p:sp>
      <p:sp>
        <p:nvSpPr>
          <p:cNvPr id="41" name="Oval 64"/>
          <p:cNvSpPr>
            <a:spLocks noChangeArrowheads="1"/>
          </p:cNvSpPr>
          <p:nvPr/>
        </p:nvSpPr>
        <p:spPr bwMode="auto">
          <a:xfrm>
            <a:off x="7315200" y="3886200"/>
            <a:ext cx="762000" cy="609600"/>
          </a:xfrm>
          <a:prstGeom prst="ellipse">
            <a:avLst/>
          </a:prstGeom>
          <a:solidFill>
            <a:schemeClr val="bg2"/>
          </a:solidFill>
          <a:ln w="9525">
            <a:solidFill>
              <a:schemeClr val="tx1"/>
            </a:solidFill>
            <a:round/>
            <a:headEnd/>
            <a:tailEnd/>
          </a:ln>
        </p:spPr>
        <p:txBody>
          <a:bodyPr wrap="none" anchor="ctr"/>
          <a:lstStyle/>
          <a:p>
            <a:pPr algn="ctr"/>
            <a:r>
              <a:rPr lang="en-US"/>
              <a:t>Try(3)</a:t>
            </a:r>
          </a:p>
        </p:txBody>
      </p:sp>
      <p:sp>
        <p:nvSpPr>
          <p:cNvPr id="42" name="Line 67"/>
          <p:cNvSpPr>
            <a:spLocks noChangeShapeType="1"/>
          </p:cNvSpPr>
          <p:nvPr/>
        </p:nvSpPr>
        <p:spPr bwMode="auto">
          <a:xfrm flipH="1">
            <a:off x="4343400" y="3276600"/>
            <a:ext cx="4572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 name="Line 68"/>
          <p:cNvSpPr>
            <a:spLocks noChangeShapeType="1"/>
          </p:cNvSpPr>
          <p:nvPr/>
        </p:nvSpPr>
        <p:spPr bwMode="auto">
          <a:xfrm>
            <a:off x="4800600" y="3276600"/>
            <a:ext cx="4572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4" name="Line 69"/>
          <p:cNvSpPr>
            <a:spLocks noChangeShapeType="1"/>
          </p:cNvSpPr>
          <p:nvPr/>
        </p:nvSpPr>
        <p:spPr bwMode="auto">
          <a:xfrm>
            <a:off x="4343400" y="44958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5" name="Line 70"/>
          <p:cNvSpPr>
            <a:spLocks noChangeShapeType="1"/>
          </p:cNvSpPr>
          <p:nvPr/>
        </p:nvSpPr>
        <p:spPr bwMode="auto">
          <a:xfrm>
            <a:off x="5334000" y="44958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6" name="Text Box 73"/>
          <p:cNvSpPr txBox="1">
            <a:spLocks noChangeArrowheads="1"/>
          </p:cNvSpPr>
          <p:nvPr/>
        </p:nvSpPr>
        <p:spPr bwMode="auto">
          <a:xfrm>
            <a:off x="5791200" y="33528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X2=1</a:t>
            </a:r>
          </a:p>
        </p:txBody>
      </p:sp>
      <p:sp>
        <p:nvSpPr>
          <p:cNvPr id="47" name="Line 74"/>
          <p:cNvSpPr>
            <a:spLocks noChangeShapeType="1"/>
          </p:cNvSpPr>
          <p:nvPr/>
        </p:nvSpPr>
        <p:spPr bwMode="auto">
          <a:xfrm>
            <a:off x="6477000" y="32004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8" name="Line 75"/>
          <p:cNvSpPr>
            <a:spLocks noChangeShapeType="1"/>
          </p:cNvSpPr>
          <p:nvPr/>
        </p:nvSpPr>
        <p:spPr bwMode="auto">
          <a:xfrm>
            <a:off x="6477000" y="3200400"/>
            <a:ext cx="12192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 name="Text Box 76"/>
          <p:cNvSpPr txBox="1">
            <a:spLocks noChangeArrowheads="1"/>
          </p:cNvSpPr>
          <p:nvPr/>
        </p:nvSpPr>
        <p:spPr bwMode="auto">
          <a:xfrm>
            <a:off x="7010400" y="336708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X2=2</a:t>
            </a:r>
          </a:p>
        </p:txBody>
      </p:sp>
      <p:sp>
        <p:nvSpPr>
          <p:cNvPr id="50" name="Line 77"/>
          <p:cNvSpPr>
            <a:spLocks noChangeShapeType="1"/>
          </p:cNvSpPr>
          <p:nvPr/>
        </p:nvSpPr>
        <p:spPr bwMode="auto">
          <a:xfrm>
            <a:off x="6477000" y="44958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 name="Line 78"/>
          <p:cNvSpPr>
            <a:spLocks noChangeShapeType="1"/>
          </p:cNvSpPr>
          <p:nvPr/>
        </p:nvSpPr>
        <p:spPr bwMode="auto">
          <a:xfrm>
            <a:off x="7772400" y="4495800"/>
            <a:ext cx="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5774898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8</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mc:AlternateContent xmlns:mc="http://schemas.openxmlformats.org/markup-compatibility/2006">
        <mc:Choice xmlns:a14="http://schemas.microsoft.com/office/drawing/2010/main" Requires="a14">
          <p:sp>
            <p:nvSpPr>
              <p:cNvPr id="5" name="Content Placeholder 4"/>
              <p:cNvSpPr>
                <a:spLocks noGrp="1"/>
              </p:cNvSpPr>
              <p:nvPr>
                <p:ph sz="quarter" idx="1"/>
              </p:nvPr>
            </p:nvSpPr>
            <p:spPr/>
            <p:txBody>
              <a:bodyPr>
                <a:normAutofit/>
              </a:bodyPr>
              <a:lstStyle/>
              <a:p>
                <a:pPr algn="just"/>
                <a:r>
                  <a:rPr lang="en-US" b="1" dirty="0"/>
                  <a:t>N-Queens problem. </a:t>
                </a:r>
                <a:r>
                  <a:rPr lang="en-US" dirty="0"/>
                  <a:t>On a chess board with size </a:t>
                </a:r>
                <a14:m>
                  <m:oMath xmlns:m="http://schemas.openxmlformats.org/officeDocument/2006/math">
                    <m:r>
                      <a:rPr lang="en-US" b="0" i="1" dirty="0" smtClean="0">
                        <a:latin typeface="Cambria Math"/>
                      </a:rPr>
                      <m:t>𝑛</m:t>
                    </m:r>
                    <m:r>
                      <a:rPr lang="en-US" i="1" dirty="0">
                        <a:latin typeface="Cambria Math"/>
                        <a:sym typeface="Symbol" pitchFamily="18" charset="2"/>
                      </a:rPr>
                      <m:t></m:t>
                    </m:r>
                    <m:r>
                      <a:rPr lang="en-US" b="0" i="1" dirty="0" smtClean="0">
                        <a:latin typeface="Cambria Math"/>
                        <a:sym typeface="Symbol" pitchFamily="18" charset="2"/>
                      </a:rPr>
                      <m:t>𝑛</m:t>
                    </m:r>
                  </m:oMath>
                </a14:m>
                <a:r>
                  <a:rPr lang="en-US" dirty="0">
                    <a:sym typeface="Symbol" pitchFamily="18" charset="2"/>
                  </a:rPr>
                  <a:t>, place </a:t>
                </a:r>
                <a14:m>
                  <m:oMath xmlns:m="http://schemas.openxmlformats.org/officeDocument/2006/math">
                    <m:r>
                      <a:rPr lang="en-US" b="0" i="1" dirty="0" smtClean="0">
                        <a:latin typeface="Cambria Math"/>
                        <a:sym typeface="Symbol" pitchFamily="18" charset="2"/>
                      </a:rPr>
                      <m:t>𝑛</m:t>
                    </m:r>
                  </m:oMath>
                </a14:m>
                <a:r>
                  <a:rPr lang="en-US" dirty="0">
                    <a:sym typeface="Symbol" pitchFamily="18" charset="2"/>
                  </a:rPr>
                  <a:t> queens on each row so that all queens cannot kill each other.</a:t>
                </a:r>
              </a:p>
              <a:p>
                <a:pPr marL="0" indent="0" algn="just">
                  <a:spcBef>
                    <a:spcPct val="40000"/>
                  </a:spcBef>
                  <a:buNone/>
                </a:pPr>
                <a:r>
                  <a:rPr lang="en-US" dirty="0"/>
                  <a:t>Let </a:t>
                </a:r>
                <a14:m>
                  <m:oMath xmlns:m="http://schemas.openxmlformats.org/officeDocument/2006/math">
                    <m:r>
                      <a:rPr lang="en-US" i="1" dirty="0" smtClean="0">
                        <a:latin typeface="Cambria Math"/>
                      </a:rPr>
                      <m:t>𝑋</m:t>
                    </m:r>
                    <m:r>
                      <a:rPr lang="en-US" i="1" dirty="0" smtClean="0">
                        <a:latin typeface="Cambria Math"/>
                      </a:rPr>
                      <m:t>=(</m:t>
                    </m:r>
                    <m:r>
                      <a:rPr lang="en-US" i="1" dirty="0" smtClean="0">
                        <a:latin typeface="Cambria Math"/>
                      </a:rPr>
                      <m:t>𝑥</m:t>
                    </m:r>
                    <m:r>
                      <a:rPr lang="en-US" i="1" baseline="-25000" dirty="0">
                        <a:latin typeface="Cambria Math"/>
                      </a:rPr>
                      <m:t>1</m:t>
                    </m:r>
                    <m:r>
                      <a:rPr lang="en-US" i="1" dirty="0">
                        <a:latin typeface="Cambria Math"/>
                      </a:rPr>
                      <m:t>, </m:t>
                    </m:r>
                    <m:r>
                      <a:rPr lang="en-US" i="1" dirty="0">
                        <a:latin typeface="Cambria Math"/>
                      </a:rPr>
                      <m:t>𝑥</m:t>
                    </m:r>
                    <m:r>
                      <a:rPr lang="en-US" i="1" baseline="-25000" dirty="0">
                        <a:latin typeface="Cambria Math"/>
                      </a:rPr>
                      <m:t>2</m:t>
                    </m:r>
                    <m:r>
                      <a:rPr lang="en-US" i="1" dirty="0">
                        <a:latin typeface="Cambria Math"/>
                      </a:rPr>
                      <m:t>,.</m:t>
                    </m:r>
                    <m:r>
                      <a:rPr lang="en-US" b="0" i="1" dirty="0" smtClean="0">
                        <a:latin typeface="Cambria Math"/>
                      </a:rPr>
                      <m:t>.</m:t>
                    </m:r>
                    <m:r>
                      <a:rPr lang="en-US" i="1" dirty="0">
                        <a:latin typeface="Cambria Math"/>
                      </a:rPr>
                      <m:t>.,</m:t>
                    </m:r>
                    <m:r>
                      <a:rPr lang="en-US" i="1" dirty="0">
                        <a:latin typeface="Cambria Math"/>
                      </a:rPr>
                      <m:t>𝑥𝑛</m:t>
                    </m:r>
                    <m:r>
                      <a:rPr lang="en-US" i="1" dirty="0">
                        <a:latin typeface="Cambria Math"/>
                      </a:rPr>
                      <m:t>) </m:t>
                    </m:r>
                  </m:oMath>
                </a14:m>
                <a:r>
                  <a:rPr lang="en-US" dirty="0"/>
                  <a:t>be a root of problem. Then,</a:t>
                </a:r>
                <a14:m>
                  <m:oMath xmlns:m="http://schemas.openxmlformats.org/officeDocument/2006/math">
                    <m:r>
                      <a:rPr lang="en-US" i="1" dirty="0" smtClean="0">
                        <a:latin typeface="Cambria Math"/>
                      </a:rPr>
                      <m:t>𝑥</m:t>
                    </m:r>
                    <m:r>
                      <a:rPr lang="en-US" i="1" baseline="-25000" dirty="0">
                        <a:latin typeface="Cambria Math"/>
                      </a:rPr>
                      <m:t>𝑖</m:t>
                    </m:r>
                    <m:r>
                      <a:rPr lang="en-US" i="1" dirty="0">
                        <a:latin typeface="Cambria Math"/>
                      </a:rPr>
                      <m:t>=</m:t>
                    </m:r>
                    <m:r>
                      <a:rPr lang="en-US" i="1" dirty="0">
                        <a:latin typeface="Cambria Math"/>
                      </a:rPr>
                      <m:t>𝑗</m:t>
                    </m:r>
                    <m:r>
                      <a:rPr lang="en-US" i="1" dirty="0">
                        <a:latin typeface="Cambria Math"/>
                      </a:rPr>
                      <m:t> </m:t>
                    </m:r>
                  </m:oMath>
                </a14:m>
                <a:r>
                  <a:rPr lang="en-US" dirty="0"/>
                  <a:t>is understood to be </a:t>
                </a:r>
                <a:r>
                  <a:rPr lang="en-US" dirty="0" err="1"/>
                  <a:t>i</a:t>
                </a:r>
                <a:r>
                  <a:rPr lang="en-US" baseline="30000" dirty="0" err="1"/>
                  <a:t>th</a:t>
                </a:r>
                <a:r>
                  <a:rPr lang="en-US" baseline="30000" dirty="0"/>
                  <a:t> </a:t>
                </a:r>
                <a:r>
                  <a:rPr lang="en-US" dirty="0"/>
                  <a:t>–row queen is placed at </a:t>
                </a:r>
                <a:r>
                  <a:rPr lang="en-US" dirty="0" err="1"/>
                  <a:t>j</a:t>
                </a:r>
                <a:r>
                  <a:rPr lang="en-US" baseline="30000" dirty="0" err="1"/>
                  <a:t>th</a:t>
                </a:r>
                <a:r>
                  <a:rPr lang="en-US" baseline="30000" dirty="0"/>
                  <a:t> </a:t>
                </a:r>
                <a:r>
                  <a:rPr lang="en-US" dirty="0"/>
                  <a:t>column. To other queens cannot kill,  </a:t>
                </a:r>
                <a14:m>
                  <m:oMath xmlns:m="http://schemas.openxmlformats.org/officeDocument/2006/math">
                    <m:r>
                      <a:rPr lang="en-US" i="1" dirty="0" smtClean="0">
                        <a:latin typeface="Cambria Math"/>
                      </a:rPr>
                      <m:t>𝑖</m:t>
                    </m:r>
                    <m:r>
                      <a:rPr lang="en-US" b="0" i="1" baseline="30000" dirty="0" smtClean="0">
                        <a:latin typeface="Cambria Math" panose="02040503050406030204" pitchFamily="18" charset="0"/>
                      </a:rPr>
                      <m:t>𝑡h</m:t>
                    </m:r>
                    <m:r>
                      <a:rPr lang="en-US" b="0" i="1" baseline="30000" dirty="0" smtClean="0">
                        <a:latin typeface="Cambria Math" panose="02040503050406030204" pitchFamily="18" charset="0"/>
                      </a:rPr>
                      <m:t> </m:t>
                    </m:r>
                  </m:oMath>
                </a14:m>
                <a:r>
                  <a:rPr lang="en-US" dirty="0"/>
                  <a:t>must not to be on same any column, any main diagonal and any counter diagonal with other queens.</a:t>
                </a:r>
              </a:p>
              <a:p>
                <a:pPr marL="0" indent="0">
                  <a:spcBef>
                    <a:spcPct val="40000"/>
                  </a:spcBef>
                  <a:buNone/>
                </a:pPr>
                <a:r>
                  <a:rPr lang="en-US" dirty="0"/>
                  <a:t>We have </a:t>
                </a:r>
                <a14:m>
                  <m:oMath xmlns:m="http://schemas.openxmlformats.org/officeDocument/2006/math">
                    <m:r>
                      <a:rPr lang="en-US" i="1" dirty="0" smtClean="0">
                        <a:latin typeface="Cambria Math"/>
                      </a:rPr>
                      <m:t>𝑛</m:t>
                    </m:r>
                  </m:oMath>
                </a14:m>
                <a:r>
                  <a:rPr lang="en-US" dirty="0"/>
                  <a:t> columns </a:t>
                </a:r>
                <a14:m>
                  <m:oMath xmlns:m="http://schemas.openxmlformats.org/officeDocument/2006/math">
                    <m:r>
                      <a:rPr lang="en-US" i="1" dirty="0" smtClean="0">
                        <a:latin typeface="Cambria Math"/>
                      </a:rPr>
                      <m:t>𝐴</m:t>
                    </m:r>
                    <m:r>
                      <a:rPr lang="en-US" i="1" dirty="0" smtClean="0">
                        <a:latin typeface="Cambria Math"/>
                      </a:rPr>
                      <m:t>=(</m:t>
                    </m:r>
                    <m:sSub>
                      <m:sSubPr>
                        <m:ctrlPr>
                          <a:rPr lang="en-US" i="1" dirty="0" smtClean="0">
                            <a:latin typeface="Cambria Math" panose="02040503050406030204" pitchFamily="18" charset="0"/>
                          </a:rPr>
                        </m:ctrlPr>
                      </m:sSubPr>
                      <m:e>
                        <m:r>
                          <a:rPr lang="en-US" b="0" i="1" dirty="0" smtClean="0">
                            <a:latin typeface="Cambria Math"/>
                          </a:rPr>
                          <m:t>𝑎</m:t>
                        </m:r>
                      </m:e>
                      <m:sub>
                        <m:r>
                          <a:rPr lang="en-US" b="0" i="1" dirty="0" smtClean="0">
                            <a:latin typeface="Cambria Math"/>
                          </a:rPr>
                          <m:t>1</m:t>
                        </m:r>
                      </m:sub>
                    </m:sSub>
                    <m:r>
                      <a:rPr lang="en-US" i="1" dirty="0" smtClean="0">
                        <a:latin typeface="Cambria Math"/>
                      </a:rPr>
                      <m:t>,…,</m:t>
                    </m:r>
                    <m:sSub>
                      <m:sSubPr>
                        <m:ctrlPr>
                          <a:rPr lang="en-US" i="1" dirty="0" smtClean="0">
                            <a:latin typeface="Cambria Math" panose="02040503050406030204" pitchFamily="18" charset="0"/>
                          </a:rPr>
                        </m:ctrlPr>
                      </m:sSubPr>
                      <m:e>
                        <m:r>
                          <a:rPr lang="en-US" b="0" i="1" dirty="0" smtClean="0">
                            <a:latin typeface="Cambria Math"/>
                          </a:rPr>
                          <m:t>𝑎</m:t>
                        </m:r>
                      </m:e>
                      <m:sub>
                        <m:r>
                          <a:rPr lang="en-US" b="0" i="1" dirty="0" smtClean="0">
                            <a:latin typeface="Cambria Math"/>
                          </a:rPr>
                          <m:t>𝑛</m:t>
                        </m:r>
                      </m:sub>
                    </m:sSub>
                    <m:r>
                      <a:rPr lang="en-US" i="1" dirty="0" smtClean="0">
                        <a:latin typeface="Cambria Math"/>
                      </a:rPr>
                      <m:t>)</m:t>
                    </m:r>
                  </m:oMath>
                </a14:m>
                <a:r>
                  <a:rPr lang="en-US" dirty="0"/>
                  <a:t>, have </a:t>
                </a:r>
                <a14:m>
                  <m:oMath xmlns:m="http://schemas.openxmlformats.org/officeDocument/2006/math">
                    <m:r>
                      <a:rPr lang="en-US" i="1" dirty="0" smtClean="0">
                        <a:latin typeface="Cambria Math"/>
                      </a:rPr>
                      <m:t>𝑋𝑢𝑜𝑖</m:t>
                    </m:r>
                    <m:r>
                      <a:rPr lang="en-US" i="1" dirty="0">
                        <a:latin typeface="Cambria Math"/>
                      </a:rPr>
                      <m:t>[2∗</m:t>
                    </m:r>
                    <m:r>
                      <a:rPr lang="en-US" i="1" dirty="0">
                        <a:latin typeface="Cambria Math"/>
                      </a:rPr>
                      <m:t>𝑛</m:t>
                    </m:r>
                    <m:r>
                      <a:rPr lang="en-US" i="1" dirty="0">
                        <a:latin typeface="Cambria Math"/>
                      </a:rPr>
                      <m:t>−1]</m:t>
                    </m:r>
                  </m:oMath>
                </a14:m>
                <a:r>
                  <a:rPr lang="en-US" dirty="0"/>
                  <a:t> main diagonals, </a:t>
                </a:r>
                <a14:m>
                  <m:oMath xmlns:m="http://schemas.openxmlformats.org/officeDocument/2006/math">
                    <m:r>
                      <a:rPr lang="en-US" i="1" dirty="0" smtClean="0">
                        <a:latin typeface="Cambria Math"/>
                      </a:rPr>
                      <m:t>𝑁𝑔𝑢𝑜𝑐</m:t>
                    </m:r>
                    <m:r>
                      <a:rPr lang="en-US" i="1" dirty="0">
                        <a:latin typeface="Cambria Math"/>
                      </a:rPr>
                      <m:t>[2∗</m:t>
                    </m:r>
                    <m:r>
                      <a:rPr lang="en-US" i="1" dirty="0">
                        <a:latin typeface="Cambria Math"/>
                      </a:rPr>
                      <m:t>𝑛</m:t>
                    </m:r>
                    <m:r>
                      <a:rPr lang="en-US" i="1" dirty="0">
                        <a:latin typeface="Cambria Math"/>
                      </a:rPr>
                      <m:t>−1]</m:t>
                    </m:r>
                  </m:oMath>
                </a14:m>
                <a:r>
                  <a:rPr lang="en-US" dirty="0"/>
                  <a:t> counter diagonals. </a:t>
                </a:r>
              </a:p>
              <a:p>
                <a:pPr marL="0" indent="0">
                  <a:buNone/>
                </a:pPr>
                <a:endParaRPr lang="en-US" dirty="0"/>
              </a:p>
            </p:txBody>
          </p:sp>
        </mc:Choice>
        <mc:Fallback>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1111" t="-1111" r="-1111"/>
                </a:stretch>
              </a:blipFill>
            </p:spPr>
            <p:txBody>
              <a:bodyPr/>
              <a:lstStyle/>
              <a:p>
                <a:r>
                  <a:rPr lang="en-US">
                    <a:noFill/>
                  </a:rPr>
                  <a:t> </a:t>
                </a:r>
              </a:p>
            </p:txBody>
          </p:sp>
        </mc:Fallback>
      </mc:AlternateContent>
    </p:spTree>
    <p:extLst>
      <p:ext uri="{BB962C8B-B14F-4D97-AF65-F5344CB8AC3E}">
        <p14:creationId xmlns:p14="http://schemas.microsoft.com/office/powerpoint/2010/main" val="1467981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8</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graphicFrame>
        <p:nvGraphicFramePr>
          <p:cNvPr id="10" name="Group 125"/>
          <p:cNvGraphicFramePr>
            <a:graphicFrameLocks noGrp="1"/>
          </p:cNvGraphicFramePr>
          <p:nvPr>
            <p:extLst>
              <p:ext uri="{D42A27DB-BD31-4B8C-83A1-F6EECF244321}">
                <p14:modId xmlns:p14="http://schemas.microsoft.com/office/powerpoint/2010/main" val="1579195010"/>
              </p:ext>
            </p:extLst>
          </p:nvPr>
        </p:nvGraphicFramePr>
        <p:xfrm>
          <a:off x="152400" y="2286000"/>
          <a:ext cx="4343400" cy="3352800"/>
        </p:xfrm>
        <a:graphic>
          <a:graphicData uri="http://schemas.openxmlformats.org/drawingml/2006/table">
            <a:tbl>
              <a:tblPr/>
              <a:tblGrid>
                <a:gridCol w="542925">
                  <a:extLst>
                    <a:ext uri="{9D8B030D-6E8A-4147-A177-3AD203B41FA5}">
                      <a16:colId xmlns:a16="http://schemas.microsoft.com/office/drawing/2014/main" val="20000"/>
                    </a:ext>
                  </a:extLst>
                </a:gridCol>
                <a:gridCol w="542925">
                  <a:extLst>
                    <a:ext uri="{9D8B030D-6E8A-4147-A177-3AD203B41FA5}">
                      <a16:colId xmlns:a16="http://schemas.microsoft.com/office/drawing/2014/main" val="20001"/>
                    </a:ext>
                  </a:extLst>
                </a:gridCol>
                <a:gridCol w="542925">
                  <a:extLst>
                    <a:ext uri="{9D8B030D-6E8A-4147-A177-3AD203B41FA5}">
                      <a16:colId xmlns:a16="http://schemas.microsoft.com/office/drawing/2014/main" val="20002"/>
                    </a:ext>
                  </a:extLst>
                </a:gridCol>
                <a:gridCol w="542925">
                  <a:extLst>
                    <a:ext uri="{9D8B030D-6E8A-4147-A177-3AD203B41FA5}">
                      <a16:colId xmlns:a16="http://schemas.microsoft.com/office/drawing/2014/main" val="20003"/>
                    </a:ext>
                  </a:extLst>
                </a:gridCol>
                <a:gridCol w="542925">
                  <a:extLst>
                    <a:ext uri="{9D8B030D-6E8A-4147-A177-3AD203B41FA5}">
                      <a16:colId xmlns:a16="http://schemas.microsoft.com/office/drawing/2014/main" val="20004"/>
                    </a:ext>
                  </a:extLst>
                </a:gridCol>
                <a:gridCol w="542925">
                  <a:extLst>
                    <a:ext uri="{9D8B030D-6E8A-4147-A177-3AD203B41FA5}">
                      <a16:colId xmlns:a16="http://schemas.microsoft.com/office/drawing/2014/main" val="20005"/>
                    </a:ext>
                  </a:extLst>
                </a:gridCol>
                <a:gridCol w="542925">
                  <a:extLst>
                    <a:ext uri="{9D8B030D-6E8A-4147-A177-3AD203B41FA5}">
                      <a16:colId xmlns:a16="http://schemas.microsoft.com/office/drawing/2014/main" val="20006"/>
                    </a:ext>
                  </a:extLst>
                </a:gridCol>
                <a:gridCol w="542925">
                  <a:extLst>
                    <a:ext uri="{9D8B030D-6E8A-4147-A177-3AD203B41FA5}">
                      <a16:colId xmlns:a16="http://schemas.microsoft.com/office/drawing/2014/main" val="20007"/>
                    </a:ext>
                  </a:extLst>
                </a:gridCol>
              </a:tblGrid>
              <a:tr h="419100">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dirty="0">
                        <a:ln>
                          <a:noFill/>
                        </a:ln>
                        <a:solidFill>
                          <a:schemeClr val="tx1"/>
                        </a:solidFill>
                        <a:effectLst/>
                        <a:latin typeface="Trebuchet MS"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9100">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dirty="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extLst>
                  <a:ext uri="{0D108BD9-81ED-4DB2-BD59-A6C34878D82A}">
                    <a16:rowId xmlns:a16="http://schemas.microsoft.com/office/drawing/2014/main" val="10001"/>
                  </a:ext>
                </a:extLst>
              </a:tr>
              <a:tr h="419100">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9100">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extLst>
                  <a:ext uri="{0D108BD9-81ED-4DB2-BD59-A6C34878D82A}">
                    <a16:rowId xmlns:a16="http://schemas.microsoft.com/office/drawing/2014/main" val="10003"/>
                  </a:ext>
                </a:extLst>
              </a:tr>
              <a:tr h="419100">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9100">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extLst>
                  <a:ext uri="{0D108BD9-81ED-4DB2-BD59-A6C34878D82A}">
                    <a16:rowId xmlns:a16="http://schemas.microsoft.com/office/drawing/2014/main" val="10005"/>
                  </a:ext>
                </a:extLst>
              </a:tr>
              <a:tr h="419100">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E6713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9100">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67130"/>
                    </a:solidFill>
                  </a:tcPr>
                </a:tc>
                <a:extLst>
                  <a:ext uri="{0D108BD9-81ED-4DB2-BD59-A6C34878D82A}">
                    <a16:rowId xmlns:a16="http://schemas.microsoft.com/office/drawing/2014/main" val="10007"/>
                  </a:ext>
                </a:extLst>
              </a:tr>
            </a:tbl>
          </a:graphicData>
        </a:graphic>
      </p:graphicFrame>
      <p:graphicFrame>
        <p:nvGraphicFramePr>
          <p:cNvPr id="11" name="Group 126"/>
          <p:cNvGraphicFramePr>
            <a:graphicFrameLocks noGrp="1"/>
          </p:cNvGraphicFramePr>
          <p:nvPr>
            <p:extLst>
              <p:ext uri="{D42A27DB-BD31-4B8C-83A1-F6EECF244321}">
                <p14:modId xmlns:p14="http://schemas.microsoft.com/office/powerpoint/2010/main" val="3493961274"/>
              </p:ext>
            </p:extLst>
          </p:nvPr>
        </p:nvGraphicFramePr>
        <p:xfrm>
          <a:off x="4648200" y="2286000"/>
          <a:ext cx="4343400" cy="3352800"/>
        </p:xfrm>
        <a:graphic>
          <a:graphicData uri="http://schemas.openxmlformats.org/drawingml/2006/table">
            <a:tbl>
              <a:tblPr/>
              <a:tblGrid>
                <a:gridCol w="542925">
                  <a:extLst>
                    <a:ext uri="{9D8B030D-6E8A-4147-A177-3AD203B41FA5}">
                      <a16:colId xmlns:a16="http://schemas.microsoft.com/office/drawing/2014/main" val="20000"/>
                    </a:ext>
                  </a:extLst>
                </a:gridCol>
                <a:gridCol w="542925">
                  <a:extLst>
                    <a:ext uri="{9D8B030D-6E8A-4147-A177-3AD203B41FA5}">
                      <a16:colId xmlns:a16="http://schemas.microsoft.com/office/drawing/2014/main" val="20001"/>
                    </a:ext>
                  </a:extLst>
                </a:gridCol>
                <a:gridCol w="542925">
                  <a:extLst>
                    <a:ext uri="{9D8B030D-6E8A-4147-A177-3AD203B41FA5}">
                      <a16:colId xmlns:a16="http://schemas.microsoft.com/office/drawing/2014/main" val="20002"/>
                    </a:ext>
                  </a:extLst>
                </a:gridCol>
                <a:gridCol w="542925">
                  <a:extLst>
                    <a:ext uri="{9D8B030D-6E8A-4147-A177-3AD203B41FA5}">
                      <a16:colId xmlns:a16="http://schemas.microsoft.com/office/drawing/2014/main" val="20003"/>
                    </a:ext>
                  </a:extLst>
                </a:gridCol>
                <a:gridCol w="542925">
                  <a:extLst>
                    <a:ext uri="{9D8B030D-6E8A-4147-A177-3AD203B41FA5}">
                      <a16:colId xmlns:a16="http://schemas.microsoft.com/office/drawing/2014/main" val="20004"/>
                    </a:ext>
                  </a:extLst>
                </a:gridCol>
                <a:gridCol w="542925">
                  <a:extLst>
                    <a:ext uri="{9D8B030D-6E8A-4147-A177-3AD203B41FA5}">
                      <a16:colId xmlns:a16="http://schemas.microsoft.com/office/drawing/2014/main" val="20005"/>
                    </a:ext>
                  </a:extLst>
                </a:gridCol>
                <a:gridCol w="542925">
                  <a:extLst>
                    <a:ext uri="{9D8B030D-6E8A-4147-A177-3AD203B41FA5}">
                      <a16:colId xmlns:a16="http://schemas.microsoft.com/office/drawing/2014/main" val="20006"/>
                    </a:ext>
                  </a:extLst>
                </a:gridCol>
                <a:gridCol w="542925">
                  <a:extLst>
                    <a:ext uri="{9D8B030D-6E8A-4147-A177-3AD203B41FA5}">
                      <a16:colId xmlns:a16="http://schemas.microsoft.com/office/drawing/2014/main" val="20007"/>
                    </a:ext>
                  </a:extLst>
                </a:gridCol>
              </a:tblGrid>
              <a:tr h="419100">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chemeClr val="tx1"/>
                          </a:solidFill>
                          <a:effectLst/>
                          <a:latin typeface="Trebuchet MS" pitchFamily="34"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9100">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extLst>
                  <a:ext uri="{0D108BD9-81ED-4DB2-BD59-A6C34878D82A}">
                    <a16:rowId xmlns:a16="http://schemas.microsoft.com/office/drawing/2014/main" val="10001"/>
                  </a:ext>
                </a:extLst>
              </a:tr>
              <a:tr h="419100">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9100">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extLst>
                  <a:ext uri="{0D108BD9-81ED-4DB2-BD59-A6C34878D82A}">
                    <a16:rowId xmlns:a16="http://schemas.microsoft.com/office/drawing/2014/main" val="10003"/>
                  </a:ext>
                </a:extLst>
              </a:tr>
              <a:tr h="419100">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9100">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extLst>
                  <a:ext uri="{0D108BD9-81ED-4DB2-BD59-A6C34878D82A}">
                    <a16:rowId xmlns:a16="http://schemas.microsoft.com/office/drawing/2014/main" val="10005"/>
                  </a:ext>
                </a:extLst>
              </a:tr>
              <a:tr h="419100">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E6713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endParaRPr kumimoji="0" lang="en-US" sz="2000" b="0" i="0" u="none" strike="noStrike" cap="none" normalizeH="0" baseline="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9100">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67130"/>
                    </a:solid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l"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67130"/>
                    </a:solidFill>
                  </a:tcPr>
                </a:tc>
                <a:extLst>
                  <a:ext uri="{0D108BD9-81ED-4DB2-BD59-A6C34878D82A}">
                    <a16:rowId xmlns:a16="http://schemas.microsoft.com/office/drawing/2014/main" val="10007"/>
                  </a:ext>
                </a:extLst>
              </a:tr>
            </a:tbl>
          </a:graphicData>
        </a:graphic>
      </p:graphicFrame>
      <mc:AlternateContent xmlns:mc="http://schemas.openxmlformats.org/markup-compatibility/2006">
        <mc:Choice xmlns:a14="http://schemas.microsoft.com/office/drawing/2010/main" Requires="a14">
          <p:sp>
            <p:nvSpPr>
              <p:cNvPr id="12" name="Text Box 209"/>
              <p:cNvSpPr txBox="1">
                <a:spLocks noChangeArrowheads="1"/>
              </p:cNvSpPr>
              <p:nvPr/>
            </p:nvSpPr>
            <p:spPr bwMode="auto">
              <a:xfrm>
                <a:off x="381000" y="1752600"/>
                <a:ext cx="3962400" cy="36933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dirty="0"/>
                  <a:t>Diagonal forward </a:t>
                </a:r>
                <a:r>
                  <a:rPr lang="en-US" b="1" dirty="0"/>
                  <a:t>: </a:t>
                </a:r>
                <a14:m>
                  <m:oMath xmlns:m="http://schemas.openxmlformats.org/officeDocument/2006/math">
                    <m:r>
                      <a:rPr lang="en-US" b="1" i="1" dirty="0" smtClean="0">
                        <a:latin typeface="Cambria Math"/>
                      </a:rPr>
                      <m:t>𝑿𝒖𝒐𝒊</m:t>
                    </m:r>
                    <m:r>
                      <a:rPr lang="en-US" b="1" i="1" dirty="0">
                        <a:latin typeface="Cambria Math"/>
                      </a:rPr>
                      <m:t> [</m:t>
                    </m:r>
                    <m:r>
                      <a:rPr lang="en-US" b="1" i="1" dirty="0">
                        <a:latin typeface="Cambria Math"/>
                      </a:rPr>
                      <m:t>𝒊</m:t>
                    </m:r>
                    <m:r>
                      <a:rPr lang="en-US" b="1" i="1" dirty="0">
                        <a:latin typeface="Cambria Math"/>
                      </a:rPr>
                      <m:t> –</m:t>
                    </m:r>
                    <m:r>
                      <a:rPr lang="en-US" b="1" i="1" dirty="0">
                        <a:latin typeface="Cambria Math"/>
                      </a:rPr>
                      <m:t>𝒋</m:t>
                    </m:r>
                    <m:r>
                      <a:rPr lang="en-US" b="1" i="1" dirty="0">
                        <a:latin typeface="Cambria Math"/>
                      </a:rPr>
                      <m:t>+</m:t>
                    </m:r>
                    <m:r>
                      <a:rPr lang="en-US" b="1" i="1" dirty="0">
                        <a:latin typeface="Cambria Math"/>
                      </a:rPr>
                      <m:t>𝒏</m:t>
                    </m:r>
                    <m:r>
                      <a:rPr lang="en-US" b="1" i="1" dirty="0">
                        <a:latin typeface="Cambria Math"/>
                      </a:rPr>
                      <m:t>]</m:t>
                    </m:r>
                  </m:oMath>
                </a14:m>
                <a:endParaRPr lang="en-US" b="1" dirty="0"/>
              </a:p>
            </p:txBody>
          </p:sp>
        </mc:Choice>
        <mc:Fallback>
          <p:sp>
            <p:nvSpPr>
              <p:cNvPr id="12" name="Text Box 209"/>
              <p:cNvSpPr txBox="1">
                <a:spLocks noRot="1" noChangeAspect="1" noMove="1" noResize="1" noEditPoints="1" noAdjustHandles="1" noChangeArrowheads="1" noChangeShapeType="1" noTextEdit="1"/>
              </p:cNvSpPr>
              <p:nvPr/>
            </p:nvSpPr>
            <p:spPr bwMode="auto">
              <a:xfrm>
                <a:off x="381000" y="1752600"/>
                <a:ext cx="3962400" cy="369332"/>
              </a:xfrm>
              <a:prstGeom prst="rect">
                <a:avLst/>
              </a:prstGeom>
              <a:blipFill>
                <a:blip r:embed="rId2"/>
                <a:stretch>
                  <a:fillRect t="-10000" b="-25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 Box 210"/>
              <p:cNvSpPr txBox="1">
                <a:spLocks noChangeArrowheads="1"/>
              </p:cNvSpPr>
              <p:nvPr/>
            </p:nvSpPr>
            <p:spPr bwMode="auto">
              <a:xfrm>
                <a:off x="4648200" y="1752600"/>
                <a:ext cx="4343400" cy="36933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dirty="0"/>
                  <a:t>Reverse diagonal </a:t>
                </a:r>
                <a:r>
                  <a:rPr lang="en-US" b="1" dirty="0"/>
                  <a:t>: </a:t>
                </a:r>
                <a14:m>
                  <m:oMath xmlns:m="http://schemas.openxmlformats.org/officeDocument/2006/math">
                    <m:r>
                      <a:rPr lang="en-US" b="1" i="1" dirty="0" smtClean="0">
                        <a:latin typeface="Cambria Math"/>
                      </a:rPr>
                      <m:t>𝑵𝒈𝒖𝒐𝒄</m:t>
                    </m:r>
                    <m:r>
                      <a:rPr lang="en-US" b="1" i="1" dirty="0">
                        <a:latin typeface="Cambria Math"/>
                      </a:rPr>
                      <m:t> [</m:t>
                    </m:r>
                    <m:r>
                      <a:rPr lang="en-US" b="1" i="1" dirty="0">
                        <a:latin typeface="Cambria Math"/>
                      </a:rPr>
                      <m:t>𝒊</m:t>
                    </m:r>
                    <m:r>
                      <a:rPr lang="en-US" b="1" i="1" dirty="0">
                        <a:latin typeface="Cambria Math"/>
                      </a:rPr>
                      <m:t>+</m:t>
                    </m:r>
                    <m:r>
                      <a:rPr lang="en-US" b="1" i="1" dirty="0">
                        <a:latin typeface="Cambria Math"/>
                      </a:rPr>
                      <m:t>𝒋</m:t>
                    </m:r>
                    <m:r>
                      <a:rPr lang="en-US" b="1" i="1" dirty="0">
                        <a:latin typeface="Cambria Math"/>
                      </a:rPr>
                      <m:t>−</m:t>
                    </m:r>
                    <m:r>
                      <a:rPr lang="en-US" b="1" i="1" dirty="0">
                        <a:latin typeface="Cambria Math"/>
                      </a:rPr>
                      <m:t>𝟏</m:t>
                    </m:r>
                    <m:r>
                      <a:rPr lang="en-US" b="1" i="1" dirty="0">
                        <a:latin typeface="Cambria Math"/>
                      </a:rPr>
                      <m:t>]</m:t>
                    </m:r>
                  </m:oMath>
                </a14:m>
                <a:endParaRPr lang="en-US" b="1" dirty="0"/>
              </a:p>
            </p:txBody>
          </p:sp>
        </mc:Choice>
        <mc:Fallback>
          <p:sp>
            <p:nvSpPr>
              <p:cNvPr id="13" name="Text Box 210"/>
              <p:cNvSpPr txBox="1">
                <a:spLocks noRot="1" noChangeAspect="1" noMove="1" noResize="1" noEditPoints="1" noAdjustHandles="1" noChangeArrowheads="1" noChangeShapeType="1" noTextEdit="1"/>
              </p:cNvSpPr>
              <p:nvPr/>
            </p:nvSpPr>
            <p:spPr bwMode="auto">
              <a:xfrm>
                <a:off x="4648200" y="1752600"/>
                <a:ext cx="4343400" cy="369332"/>
              </a:xfrm>
              <a:prstGeom prst="rect">
                <a:avLst/>
              </a:prstGeom>
              <a:blipFill>
                <a:blip r:embed="rId3"/>
                <a:stretch>
                  <a:fillRect t="-10000" b="-25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4" name="Line 212"/>
          <p:cNvSpPr>
            <a:spLocks noChangeShapeType="1"/>
          </p:cNvSpPr>
          <p:nvPr/>
        </p:nvSpPr>
        <p:spPr bwMode="auto">
          <a:xfrm>
            <a:off x="152400" y="2286000"/>
            <a:ext cx="4267200" cy="3352800"/>
          </a:xfrm>
          <a:prstGeom prst="line">
            <a:avLst/>
          </a:prstGeom>
          <a:noFill/>
          <a:ln w="952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 name="Line 213"/>
          <p:cNvSpPr>
            <a:spLocks noChangeShapeType="1"/>
          </p:cNvSpPr>
          <p:nvPr/>
        </p:nvSpPr>
        <p:spPr bwMode="auto">
          <a:xfrm>
            <a:off x="152400" y="3962400"/>
            <a:ext cx="2133600" cy="1676400"/>
          </a:xfrm>
          <a:prstGeom prst="line">
            <a:avLst/>
          </a:prstGeom>
          <a:noFill/>
          <a:ln w="952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 name="Line 215"/>
          <p:cNvSpPr>
            <a:spLocks noChangeShapeType="1"/>
          </p:cNvSpPr>
          <p:nvPr/>
        </p:nvSpPr>
        <p:spPr bwMode="auto">
          <a:xfrm>
            <a:off x="2362200" y="2286000"/>
            <a:ext cx="2133600" cy="1676400"/>
          </a:xfrm>
          <a:prstGeom prst="line">
            <a:avLst/>
          </a:prstGeom>
          <a:noFill/>
          <a:ln w="952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 name="Line 216"/>
          <p:cNvSpPr>
            <a:spLocks noChangeShapeType="1"/>
          </p:cNvSpPr>
          <p:nvPr/>
        </p:nvSpPr>
        <p:spPr bwMode="auto">
          <a:xfrm flipH="1">
            <a:off x="4572000" y="2286000"/>
            <a:ext cx="2209800" cy="1676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 name="Line 217"/>
          <p:cNvSpPr>
            <a:spLocks noChangeShapeType="1"/>
          </p:cNvSpPr>
          <p:nvPr/>
        </p:nvSpPr>
        <p:spPr bwMode="auto">
          <a:xfrm flipH="1">
            <a:off x="4648200" y="2286000"/>
            <a:ext cx="4419600" cy="3276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 name="Line 219"/>
          <p:cNvSpPr>
            <a:spLocks noChangeShapeType="1"/>
          </p:cNvSpPr>
          <p:nvPr/>
        </p:nvSpPr>
        <p:spPr bwMode="auto">
          <a:xfrm flipH="1">
            <a:off x="6858000" y="3962400"/>
            <a:ext cx="2209800" cy="1676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2778177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8</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a:p>
        </p:txBody>
      </p:sp>
      <p:sp>
        <p:nvSpPr>
          <p:cNvPr id="6" name="Rectangle 5"/>
          <p:cNvSpPr/>
          <p:nvPr/>
        </p:nvSpPr>
        <p:spPr>
          <a:xfrm>
            <a:off x="609600" y="1419285"/>
            <a:ext cx="7772400" cy="4708981"/>
          </a:xfrm>
          <a:prstGeom prst="rect">
            <a:avLst/>
          </a:prstGeom>
        </p:spPr>
        <p:txBody>
          <a:bodyPr wrap="square">
            <a:spAutoFit/>
          </a:bodyPr>
          <a:lstStyle/>
          <a:p>
            <a:r>
              <a:rPr lang="en-US" sz="2000" dirty="0">
                <a:latin typeface="+mj-lt"/>
              </a:rPr>
              <a:t>void Try (</a:t>
            </a:r>
            <a:r>
              <a:rPr lang="en-US" sz="2000" dirty="0" err="1">
                <a:latin typeface="+mj-lt"/>
              </a:rPr>
              <a:t>int</a:t>
            </a:r>
            <a:r>
              <a:rPr lang="en-US" sz="2000" dirty="0">
                <a:latin typeface="+mj-lt"/>
              </a:rPr>
              <a:t> i){</a:t>
            </a:r>
          </a:p>
          <a:p>
            <a:r>
              <a:rPr lang="en-US" sz="2000" dirty="0">
                <a:latin typeface="+mj-lt"/>
              </a:rPr>
              <a:t>	</a:t>
            </a:r>
            <a:r>
              <a:rPr lang="en-US" sz="2000" b="1" dirty="0">
                <a:latin typeface="+mj-lt"/>
              </a:rPr>
              <a:t>for</a:t>
            </a:r>
            <a:r>
              <a:rPr lang="en-US" sz="2000" dirty="0">
                <a:latin typeface="+mj-lt"/>
              </a:rPr>
              <a:t>(</a:t>
            </a:r>
            <a:r>
              <a:rPr lang="en-US" sz="2000" dirty="0" err="1">
                <a:latin typeface="+mj-lt"/>
              </a:rPr>
              <a:t>int</a:t>
            </a:r>
            <a:r>
              <a:rPr lang="en-US" sz="2000" dirty="0">
                <a:latin typeface="+mj-lt"/>
              </a:rPr>
              <a:t> j=1; j&lt;=n; j++){</a:t>
            </a:r>
          </a:p>
          <a:p>
            <a:r>
              <a:rPr lang="en-US" sz="2000" dirty="0">
                <a:latin typeface="+mj-lt"/>
              </a:rPr>
              <a:t>		</a:t>
            </a:r>
            <a:r>
              <a:rPr lang="en-US" sz="2000" b="1" dirty="0">
                <a:latin typeface="+mj-lt"/>
              </a:rPr>
              <a:t>if</a:t>
            </a:r>
            <a:r>
              <a:rPr lang="en-US" sz="2000" dirty="0">
                <a:latin typeface="+mj-lt"/>
              </a:rPr>
              <a:t>( A[j] &amp;&amp; </a:t>
            </a:r>
            <a:r>
              <a:rPr lang="en-US" sz="2000" dirty="0" err="1">
                <a:latin typeface="+mj-lt"/>
              </a:rPr>
              <a:t>Xuoi</a:t>
            </a:r>
            <a:r>
              <a:rPr lang="en-US" sz="2000" dirty="0">
                <a:latin typeface="+mj-lt"/>
              </a:rPr>
              <a:t>[ </a:t>
            </a:r>
            <a:r>
              <a:rPr lang="en-US" sz="2000" dirty="0" err="1">
                <a:latin typeface="+mj-lt"/>
              </a:rPr>
              <a:t>i</a:t>
            </a:r>
            <a:r>
              <a:rPr lang="en-US" sz="2000" dirty="0">
                <a:latin typeface="+mj-lt"/>
              </a:rPr>
              <a:t> - j + n ] &amp;&amp; </a:t>
            </a:r>
            <a:r>
              <a:rPr lang="en-US" sz="2000" dirty="0" err="1">
                <a:latin typeface="+mj-lt"/>
              </a:rPr>
              <a:t>Nguoc</a:t>
            </a:r>
            <a:r>
              <a:rPr lang="en-US" sz="2000" dirty="0">
                <a:latin typeface="+mj-lt"/>
              </a:rPr>
              <a:t>[i + j -1]){</a:t>
            </a:r>
          </a:p>
          <a:p>
            <a:r>
              <a:rPr lang="en-US" sz="2000" dirty="0">
                <a:latin typeface="+mj-lt"/>
              </a:rPr>
              <a:t>			X[i] =j;</a:t>
            </a:r>
          </a:p>
          <a:p>
            <a:r>
              <a:rPr lang="en-US" sz="2000" dirty="0">
                <a:latin typeface="+mj-lt"/>
              </a:rPr>
              <a:t>			A[j]=</a:t>
            </a:r>
            <a:r>
              <a:rPr lang="en-US" sz="2000" b="1" dirty="0">
                <a:latin typeface="+mj-lt"/>
              </a:rPr>
              <a:t>false</a:t>
            </a:r>
            <a:r>
              <a:rPr lang="en-US" sz="2000" dirty="0">
                <a:latin typeface="+mj-lt"/>
              </a:rPr>
              <a:t>; </a:t>
            </a:r>
          </a:p>
          <a:p>
            <a:r>
              <a:rPr lang="en-US" sz="2000" dirty="0">
                <a:latin typeface="+mj-lt"/>
              </a:rPr>
              <a:t>			</a:t>
            </a:r>
            <a:r>
              <a:rPr lang="en-US" sz="2000" dirty="0" err="1">
                <a:latin typeface="+mj-lt"/>
              </a:rPr>
              <a:t>Xuoi</a:t>
            </a:r>
            <a:r>
              <a:rPr lang="en-US" sz="2000" dirty="0">
                <a:latin typeface="+mj-lt"/>
              </a:rPr>
              <a:t>[ i - j + n]=</a:t>
            </a:r>
            <a:r>
              <a:rPr lang="en-US" sz="2000" b="1" dirty="0">
                <a:latin typeface="+mj-lt"/>
              </a:rPr>
              <a:t>false</a:t>
            </a:r>
            <a:r>
              <a:rPr lang="en-US" sz="2000" dirty="0">
                <a:latin typeface="+mj-lt"/>
              </a:rPr>
              <a:t>; </a:t>
            </a:r>
          </a:p>
          <a:p>
            <a:r>
              <a:rPr lang="en-US" sz="2000" dirty="0">
                <a:latin typeface="+mj-lt"/>
              </a:rPr>
              <a:t>			</a:t>
            </a:r>
            <a:r>
              <a:rPr lang="en-US" sz="2000" dirty="0" err="1">
                <a:latin typeface="+mj-lt"/>
              </a:rPr>
              <a:t>Nguoc</a:t>
            </a:r>
            <a:r>
              <a:rPr lang="en-US" sz="2000" dirty="0">
                <a:latin typeface="+mj-lt"/>
              </a:rPr>
              <a:t>[ i + j - 1]=</a:t>
            </a:r>
            <a:r>
              <a:rPr lang="en-US" sz="2000" b="1" dirty="0">
                <a:latin typeface="+mj-lt"/>
              </a:rPr>
              <a:t>false</a:t>
            </a:r>
            <a:r>
              <a:rPr lang="en-US" sz="2000" dirty="0">
                <a:latin typeface="+mj-lt"/>
              </a:rPr>
              <a:t>;</a:t>
            </a:r>
          </a:p>
          <a:p>
            <a:r>
              <a:rPr lang="en-US" sz="2000" dirty="0">
                <a:latin typeface="+mj-lt"/>
              </a:rPr>
              <a:t>			</a:t>
            </a:r>
            <a:r>
              <a:rPr lang="en-US" sz="2000" b="1" dirty="0">
                <a:latin typeface="+mj-lt"/>
              </a:rPr>
              <a:t>if</a:t>
            </a:r>
            <a:r>
              <a:rPr lang="en-US" sz="2000" dirty="0">
                <a:latin typeface="+mj-lt"/>
              </a:rPr>
              <a:t>(i==n) Result();</a:t>
            </a:r>
          </a:p>
          <a:p>
            <a:r>
              <a:rPr lang="en-US" sz="2000" dirty="0">
                <a:latin typeface="+mj-lt"/>
              </a:rPr>
              <a:t>			</a:t>
            </a:r>
            <a:r>
              <a:rPr lang="en-US" sz="2000" b="1" dirty="0">
                <a:latin typeface="+mj-lt"/>
              </a:rPr>
              <a:t>else</a:t>
            </a:r>
            <a:r>
              <a:rPr lang="en-US" sz="2000" dirty="0">
                <a:latin typeface="+mj-lt"/>
              </a:rPr>
              <a:t> Try(i+1);</a:t>
            </a:r>
          </a:p>
          <a:p>
            <a:r>
              <a:rPr lang="en-US" sz="2000" dirty="0">
                <a:latin typeface="+mj-lt"/>
              </a:rPr>
              <a:t>			A[j] = </a:t>
            </a:r>
            <a:r>
              <a:rPr lang="en-US" sz="2000" b="1" dirty="0">
                <a:latin typeface="+mj-lt"/>
              </a:rPr>
              <a:t>true</a:t>
            </a:r>
            <a:r>
              <a:rPr lang="en-US" sz="2000" dirty="0">
                <a:latin typeface="+mj-lt"/>
              </a:rPr>
              <a:t>; </a:t>
            </a:r>
          </a:p>
          <a:p>
            <a:r>
              <a:rPr lang="en-US" sz="2000" dirty="0">
                <a:latin typeface="+mj-lt"/>
              </a:rPr>
              <a:t>			</a:t>
            </a:r>
            <a:r>
              <a:rPr lang="en-US" sz="2000" dirty="0" err="1">
                <a:latin typeface="+mj-lt"/>
              </a:rPr>
              <a:t>Xuoi</a:t>
            </a:r>
            <a:r>
              <a:rPr lang="en-US" sz="2000" dirty="0">
                <a:latin typeface="+mj-lt"/>
              </a:rPr>
              <a:t>[ i - j + n] = </a:t>
            </a:r>
            <a:r>
              <a:rPr lang="en-US" sz="2000" b="1" dirty="0">
                <a:latin typeface="+mj-lt"/>
              </a:rPr>
              <a:t>true</a:t>
            </a:r>
            <a:r>
              <a:rPr lang="en-US" sz="2000" dirty="0">
                <a:latin typeface="+mj-lt"/>
              </a:rPr>
              <a:t>; </a:t>
            </a:r>
          </a:p>
          <a:p>
            <a:r>
              <a:rPr lang="en-US" sz="2000" dirty="0">
                <a:latin typeface="+mj-lt"/>
              </a:rPr>
              <a:t>			</a:t>
            </a:r>
            <a:r>
              <a:rPr lang="en-US" sz="2000" dirty="0" err="1">
                <a:latin typeface="+mj-lt"/>
              </a:rPr>
              <a:t>Nguoc</a:t>
            </a:r>
            <a:r>
              <a:rPr lang="en-US" sz="2000" dirty="0">
                <a:latin typeface="+mj-lt"/>
              </a:rPr>
              <a:t>[ i + j - 1] = </a:t>
            </a:r>
            <a:r>
              <a:rPr lang="en-US" sz="2000" b="1" dirty="0">
                <a:latin typeface="+mj-lt"/>
              </a:rPr>
              <a:t>true</a:t>
            </a:r>
            <a:r>
              <a:rPr lang="en-US" sz="2000" dirty="0">
                <a:latin typeface="+mj-lt"/>
              </a:rPr>
              <a:t>;</a:t>
            </a:r>
          </a:p>
          <a:p>
            <a:r>
              <a:rPr lang="en-US" sz="2000" dirty="0">
                <a:latin typeface="+mj-lt"/>
              </a:rPr>
              <a:t>		}</a:t>
            </a:r>
          </a:p>
          <a:p>
            <a:r>
              <a:rPr lang="en-US" sz="2000" dirty="0">
                <a:latin typeface="+mj-lt"/>
              </a:rPr>
              <a:t>	}</a:t>
            </a:r>
          </a:p>
          <a:p>
            <a:r>
              <a:rPr lang="en-US" sz="2000" dirty="0">
                <a:latin typeface="+mj-lt"/>
              </a:rPr>
              <a:t>}</a:t>
            </a:r>
          </a:p>
        </p:txBody>
      </p:sp>
      <p:sp>
        <p:nvSpPr>
          <p:cNvPr id="7" name="Rectangle 6"/>
          <p:cNvSpPr/>
          <p:nvPr/>
        </p:nvSpPr>
        <p:spPr>
          <a:xfrm>
            <a:off x="6324600" y="3219271"/>
            <a:ext cx="2286000" cy="1200329"/>
          </a:xfrm>
          <a:prstGeom prst="rect">
            <a:avLst/>
          </a:prstGeom>
        </p:spPr>
        <p:txBody>
          <a:bodyPr wrap="square">
            <a:spAutoFit/>
          </a:bodyPr>
          <a:lstStyle/>
          <a:p>
            <a:r>
              <a:rPr lang="en-US" dirty="0">
                <a:latin typeface="Tahoma" pitchFamily="34" charset="0"/>
                <a:ea typeface="Tahoma" pitchFamily="34" charset="0"/>
                <a:cs typeface="Tahoma" pitchFamily="34" charset="0"/>
                <a:sym typeface="Symbol" pitchFamily="18" charset="2"/>
              </a:rPr>
              <a:t>Then, to solve the Queen problem, we just need to call the procedure Try(1). </a:t>
            </a:r>
            <a:endParaRPr lang="en-US" dirty="0">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val="301571567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3407</TotalTime>
  <Words>3852</Words>
  <Application>Microsoft Office PowerPoint</Application>
  <PresentationFormat>On-screen Show (4:3)</PresentationFormat>
  <Paragraphs>613</Paragraphs>
  <Slides>36</Slides>
  <Notes>2</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50" baseType="lpstr">
      <vt:lpstr>Arial</vt:lpstr>
      <vt:lpstr>Bookman Old Style</vt:lpstr>
      <vt:lpstr>Calibri</vt:lpstr>
      <vt:lpstr>Cambria Math</vt:lpstr>
      <vt:lpstr>Courier New</vt:lpstr>
      <vt:lpstr>Georgia</vt:lpstr>
      <vt:lpstr>Gill Sans MT</vt:lpstr>
      <vt:lpstr>Roboto</vt:lpstr>
      <vt:lpstr>Tahoma</vt:lpstr>
      <vt:lpstr>Trebuchet MS</vt:lpstr>
      <vt:lpstr>Wingdings</vt:lpstr>
      <vt:lpstr>Wingdings 3</vt:lpstr>
      <vt:lpstr>Origin</vt:lpstr>
      <vt:lpstr>Equation</vt:lpstr>
      <vt:lpstr>Listing problem</vt:lpstr>
      <vt:lpstr>Contents</vt:lpstr>
      <vt:lpstr>Introduce listing problem</vt:lpstr>
      <vt:lpstr>Example 1</vt:lpstr>
      <vt:lpstr>Example 1</vt:lpstr>
      <vt:lpstr>Example 1</vt:lpstr>
      <vt:lpstr>Contents</vt:lpstr>
      <vt:lpstr>Generation algorithm (1/2)</vt:lpstr>
      <vt:lpstr>Generation algorithm(2/2)</vt:lpstr>
      <vt:lpstr>Example 2</vt:lpstr>
      <vt:lpstr>Example 2</vt:lpstr>
      <vt:lpstr>Exercise</vt:lpstr>
      <vt:lpstr>Exercise</vt:lpstr>
      <vt:lpstr>Exercise</vt:lpstr>
      <vt:lpstr>Example 3</vt:lpstr>
      <vt:lpstr>Example 3</vt:lpstr>
      <vt:lpstr>Example 3</vt:lpstr>
      <vt:lpstr>Exercise</vt:lpstr>
      <vt:lpstr>Example 4</vt:lpstr>
      <vt:lpstr>Example 4</vt:lpstr>
      <vt:lpstr>Example 4</vt:lpstr>
      <vt:lpstr>Contents</vt:lpstr>
      <vt:lpstr>Backtracking algorithm (1/2)</vt:lpstr>
      <vt:lpstr>Backtracking algorithm (2/2)</vt:lpstr>
      <vt:lpstr>Exercise 5</vt:lpstr>
      <vt:lpstr>Example 5</vt:lpstr>
      <vt:lpstr>Exercise</vt:lpstr>
      <vt:lpstr>Example 6</vt:lpstr>
      <vt:lpstr>Example 6</vt:lpstr>
      <vt:lpstr>Exercise</vt:lpstr>
      <vt:lpstr>Example 7</vt:lpstr>
      <vt:lpstr>Example 7</vt:lpstr>
      <vt:lpstr>Example 7</vt:lpstr>
      <vt:lpstr>Example 8</vt:lpstr>
      <vt:lpstr>Example 8</vt:lpstr>
      <vt:lpstr>Example 8</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bachnx</dc:creator>
  <cp:lastModifiedBy>Thuy Quynh</cp:lastModifiedBy>
  <cp:revision>287</cp:revision>
  <dcterms:created xsi:type="dcterms:W3CDTF">2006-08-16T00:00:00Z</dcterms:created>
  <dcterms:modified xsi:type="dcterms:W3CDTF">2022-11-07T10:59:48Z</dcterms:modified>
</cp:coreProperties>
</file>